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801600" cy="90411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Regbus 全路径：现有互连 + 自有 IP 接入边界"/>
          <p:cNvSpPr txBox="1"/>
          <p:nvPr/>
        </p:nvSpPr>
        <p:spPr>
          <a:xfrm>
            <a:off x="213360" y="221041"/>
            <a:ext cx="43952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① Regbus 全路径：现有互连 + 自有 IP 接入边界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49606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933450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96140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CPU 等"/>
          <p:cNvSpPr txBox="1"/>
          <p:nvPr/>
        </p:nvSpPr>
        <p:spPr>
          <a:xfrm>
            <a:off x="1853565" y="1130808"/>
            <a:ext cx="6134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等</a:t>
            </a:r>
          </a:p>
        </p:txBody>
      </p:sp>
      <p:sp>
        <p:nvSpPr>
          <p:cNvPr id="7" name="text-007: AXI 发起端"/>
          <p:cNvSpPr txBox="1"/>
          <p:nvPr/>
        </p:nvSpPr>
        <p:spPr>
          <a:xfrm>
            <a:off x="1755419" y="1313017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发起端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161086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17442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↔ N02"/>
          <p:cNvSpPr txBox="1"/>
          <p:nvPr/>
        </p:nvSpPr>
        <p:spPr>
          <a:xfrm>
            <a:off x="2957170" y="16543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2154936"/>
            <a:ext cx="3893820" cy="155219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N04  内部工作逻辑"/>
          <p:cNvSpPr txBox="1"/>
          <p:nvPr/>
        </p:nvSpPr>
        <p:spPr>
          <a:xfrm>
            <a:off x="309372" y="218288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13" name="text-013: i_reg_demux"/>
          <p:cNvSpPr txBox="1"/>
          <p:nvPr/>
        </p:nvSpPr>
        <p:spPr>
          <a:xfrm>
            <a:off x="1616869" y="2352294"/>
            <a:ext cx="10868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i_reg_demux</a:t>
            </a:r>
          </a:p>
        </p:txBody>
      </p:sp>
      <p:sp>
        <p:nvSpPr>
          <p:cNvPr id="14" name="text-014: 请求分发"/>
          <p:cNvSpPr txBox="1"/>
          <p:nvPr/>
        </p:nvSpPr>
        <p:spPr>
          <a:xfrm>
            <a:off x="1853565" y="2534503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请求分发</a:t>
            </a:r>
          </a:p>
        </p:txBody>
      </p:sp>
      <p:sp>
        <p:nvSpPr>
          <p:cNvPr id="15" name="text-015: 响应选择"/>
          <p:cNvSpPr txBox="1"/>
          <p:nvPr/>
        </p:nvSpPr>
        <p:spPr>
          <a:xfrm>
            <a:off x="1853565" y="2705191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响应选择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300304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31363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↔ N03"/>
          <p:cNvSpPr txBox="1"/>
          <p:nvPr/>
        </p:nvSpPr>
        <p:spPr>
          <a:xfrm>
            <a:off x="474726" y="30465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N03</a:t>
            </a:r>
          </a:p>
        </p:txBody>
      </p:sp>
      <p:sp>
        <p:nvSpPr>
          <p:cNvPr id="19" name="E05-target"/>
          <p:cNvSpPr/>
          <p:nvPr/>
        </p:nvSpPr>
        <p:spPr>
          <a:xfrm>
            <a:off x="133350" y="33230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5 ← N05"/>
          <p:cNvSpPr txBox="1"/>
          <p:nvPr/>
        </p:nvSpPr>
        <p:spPr>
          <a:xfrm>
            <a:off x="474726" y="32332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N05</a:t>
            </a:r>
          </a:p>
        </p:txBody>
      </p:sp>
      <p:sp>
        <p:nvSpPr>
          <p:cNvPr id="21" name="E06-source"/>
          <p:cNvSpPr/>
          <p:nvPr/>
        </p:nvSpPr>
        <p:spPr>
          <a:xfrm>
            <a:off x="3915156" y="31363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6 ↔ N06"/>
          <p:cNvSpPr txBox="1"/>
          <p:nvPr/>
        </p:nvSpPr>
        <p:spPr>
          <a:xfrm>
            <a:off x="2957170" y="30465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23" name="E07-source"/>
          <p:cNvSpPr/>
          <p:nvPr/>
        </p:nvSpPr>
        <p:spPr>
          <a:xfrm>
            <a:off x="3915156" y="33230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7 ↔ N07"/>
          <p:cNvSpPr txBox="1"/>
          <p:nvPr/>
        </p:nvSpPr>
        <p:spPr>
          <a:xfrm>
            <a:off x="2957170" y="32332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N07</a:t>
            </a:r>
          </a:p>
        </p:txBody>
      </p:sp>
      <p:sp>
        <p:nvSpPr>
          <p:cNvPr id="25" name="E08-source"/>
          <p:cNvSpPr/>
          <p:nvPr/>
        </p:nvSpPr>
        <p:spPr>
          <a:xfrm>
            <a:off x="3915156" y="35097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8 ↔ N08"/>
          <p:cNvSpPr txBox="1"/>
          <p:nvPr/>
        </p:nvSpPr>
        <p:spPr>
          <a:xfrm>
            <a:off x="2957170" y="34199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N08</a:t>
            </a:r>
          </a:p>
        </p:txBody>
      </p:sp>
      <p:sp>
        <p:nvSpPr>
          <p:cNvPr id="27" name="rect-027"/>
          <p:cNvSpPr/>
          <p:nvPr/>
        </p:nvSpPr>
        <p:spPr>
          <a:xfrm>
            <a:off x="213360" y="3920490"/>
            <a:ext cx="3893820" cy="134950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8  接口与配置"/>
          <p:cNvSpPr txBox="1"/>
          <p:nvPr/>
        </p:nvSpPr>
        <p:spPr>
          <a:xfrm>
            <a:off x="309372" y="3948440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接口与配置</a:t>
            </a:r>
          </a:p>
        </p:txBody>
      </p:sp>
      <p:sp>
        <p:nvSpPr>
          <p:cNvPr id="29" name="text-029: 外部 Regbus 端口 [k]"/>
          <p:cNvSpPr txBox="1"/>
          <p:nvPr/>
        </p:nvSpPr>
        <p:spPr>
          <a:xfrm>
            <a:off x="1306830" y="4117848"/>
            <a:ext cx="17068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Regbus 端口 [k]</a:t>
            </a:r>
          </a:p>
        </p:txBody>
      </p:sp>
      <p:sp>
        <p:nvSpPr>
          <p:cNvPr id="30" name="text-030: reg_ext_slv_req_o[k]"/>
          <p:cNvSpPr txBox="1"/>
          <p:nvPr/>
        </p:nvSpPr>
        <p:spPr>
          <a:xfrm>
            <a:off x="1301496" y="4300057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31" name="text-031: reg_ext_slv_rsp_i[k]"/>
          <p:cNvSpPr txBox="1"/>
          <p:nvPr/>
        </p:nvSpPr>
        <p:spPr>
          <a:xfrm>
            <a:off x="1301496" y="4470745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32" name="text-032: 默认端口数为 0"/>
          <p:cNvSpPr txBox="1"/>
          <p:nvPr/>
        </p:nvSpPr>
        <p:spPr>
          <a:xfrm>
            <a:off x="1651140" y="4641433"/>
            <a:ext cx="10182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默认端口数为 0</a:t>
            </a:r>
          </a:p>
        </p:txBody>
      </p:sp>
      <p:sp>
        <p:nvSpPr>
          <p:cNvPr id="33" name="rect-033"/>
          <p:cNvSpPr/>
          <p:nvPr/>
        </p:nvSpPr>
        <p:spPr>
          <a:xfrm>
            <a:off x="293370" y="493928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8-target"/>
          <p:cNvSpPr/>
          <p:nvPr/>
        </p:nvSpPr>
        <p:spPr>
          <a:xfrm>
            <a:off x="133350" y="50726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8 ↔ N04"/>
          <p:cNvSpPr txBox="1"/>
          <p:nvPr/>
        </p:nvSpPr>
        <p:spPr>
          <a:xfrm>
            <a:off x="474726" y="49828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N04</a:t>
            </a:r>
          </a:p>
        </p:txBody>
      </p:sp>
      <p:sp>
        <p:nvSpPr>
          <p:cNvPr id="36" name="E09-source"/>
          <p:cNvSpPr/>
          <p:nvPr/>
        </p:nvSpPr>
        <p:spPr>
          <a:xfrm>
            <a:off x="3915156" y="50726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9 ↔ N09"/>
          <p:cNvSpPr txBox="1"/>
          <p:nvPr/>
        </p:nvSpPr>
        <p:spPr>
          <a:xfrm>
            <a:off x="2957170" y="49828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N09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933450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2  内部工作逻辑"/>
          <p:cNvSpPr txBox="1"/>
          <p:nvPr/>
        </p:nvSpPr>
        <p:spPr>
          <a:xfrm>
            <a:off x="4549902" y="96140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40" name="text-040: 主 AXI"/>
          <p:cNvSpPr txBox="1"/>
          <p:nvPr/>
        </p:nvSpPr>
        <p:spPr>
          <a:xfrm>
            <a:off x="6094095" y="1130808"/>
            <a:ext cx="6134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</a:t>
            </a:r>
          </a:p>
        </p:txBody>
      </p:sp>
      <p:sp>
        <p:nvSpPr>
          <p:cNvPr id="41" name="text-041: Crossbar"/>
          <p:cNvSpPr txBox="1"/>
          <p:nvPr/>
        </p:nvSpPr>
        <p:spPr>
          <a:xfrm>
            <a:off x="6020486" y="1313017"/>
            <a:ext cx="7606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Crossbar</a:t>
            </a:r>
          </a:p>
        </p:txBody>
      </p:sp>
      <p:sp>
        <p:nvSpPr>
          <p:cNvPr id="42" name="text-042: 第一级选路"/>
          <p:cNvSpPr txBox="1"/>
          <p:nvPr/>
        </p:nvSpPr>
        <p:spPr>
          <a:xfrm>
            <a:off x="6032754" y="1483705"/>
            <a:ext cx="7360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第一级选路</a:t>
            </a:r>
          </a:p>
        </p:txBody>
      </p:sp>
      <p:sp>
        <p:nvSpPr>
          <p:cNvPr id="43" name="rect-043"/>
          <p:cNvSpPr/>
          <p:nvPr/>
        </p:nvSpPr>
        <p:spPr>
          <a:xfrm>
            <a:off x="4533900" y="178155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1-target"/>
          <p:cNvSpPr/>
          <p:nvPr/>
        </p:nvSpPr>
        <p:spPr>
          <a:xfrm>
            <a:off x="4373880" y="19149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 ↔ N01"/>
          <p:cNvSpPr txBox="1"/>
          <p:nvPr/>
        </p:nvSpPr>
        <p:spPr>
          <a:xfrm>
            <a:off x="4715256" y="18250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46" name="E02-source"/>
          <p:cNvSpPr/>
          <p:nvPr/>
        </p:nvSpPr>
        <p:spPr>
          <a:xfrm>
            <a:off x="8155686" y="19149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 ↔ N03"/>
          <p:cNvSpPr txBox="1"/>
          <p:nvPr/>
        </p:nvSpPr>
        <p:spPr>
          <a:xfrm>
            <a:off x="7197700" y="18250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48" name="rect-048"/>
          <p:cNvSpPr/>
          <p:nvPr/>
        </p:nvSpPr>
        <p:spPr>
          <a:xfrm>
            <a:off x="4453890" y="2325624"/>
            <a:ext cx="3893820" cy="837438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N05  内部工作逻辑"/>
          <p:cNvSpPr txBox="1"/>
          <p:nvPr/>
        </p:nvSpPr>
        <p:spPr>
          <a:xfrm>
            <a:off x="4549902" y="235357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50" name="text-050: 地址解码 RegMap"/>
          <p:cNvSpPr txBox="1"/>
          <p:nvPr/>
        </p:nvSpPr>
        <p:spPr>
          <a:xfrm>
            <a:off x="5764054" y="2522982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地址解码 RegMap</a:t>
            </a:r>
          </a:p>
        </p:txBody>
      </p:sp>
      <p:sp>
        <p:nvSpPr>
          <p:cNvPr id="51" name="rect-051"/>
          <p:cNvSpPr/>
          <p:nvPr/>
        </p:nvSpPr>
        <p:spPr>
          <a:xfrm>
            <a:off x="4533900" y="283235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4-target"/>
          <p:cNvSpPr/>
          <p:nvPr/>
        </p:nvSpPr>
        <p:spPr>
          <a:xfrm>
            <a:off x="4373880" y="296570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4 ← N03"/>
          <p:cNvSpPr txBox="1"/>
          <p:nvPr/>
        </p:nvSpPr>
        <p:spPr>
          <a:xfrm>
            <a:off x="4715256" y="287587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54" name="E05-source"/>
          <p:cNvSpPr/>
          <p:nvPr/>
        </p:nvSpPr>
        <p:spPr>
          <a:xfrm>
            <a:off x="8155686" y="296570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5 → N04"/>
          <p:cNvSpPr txBox="1"/>
          <p:nvPr/>
        </p:nvSpPr>
        <p:spPr>
          <a:xfrm>
            <a:off x="7197700" y="287587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56" name="rect-056"/>
          <p:cNvSpPr/>
          <p:nvPr/>
        </p:nvSpPr>
        <p:spPr>
          <a:xfrm>
            <a:off x="4453890" y="3376422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N07  内部工作逻辑"/>
          <p:cNvSpPr txBox="1"/>
          <p:nvPr/>
        </p:nvSpPr>
        <p:spPr>
          <a:xfrm>
            <a:off x="4549902" y="340437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58" name="text-058: i_reg_err_slv"/>
          <p:cNvSpPr txBox="1"/>
          <p:nvPr/>
        </p:nvSpPr>
        <p:spPr>
          <a:xfrm>
            <a:off x="5770721" y="3573780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i_reg_err_slv</a:t>
            </a:r>
          </a:p>
        </p:txBody>
      </p:sp>
      <p:sp>
        <p:nvSpPr>
          <p:cNvPr id="59" name="text-059: 未命中：ready=1, error=1"/>
          <p:cNvSpPr txBox="1"/>
          <p:nvPr/>
        </p:nvSpPr>
        <p:spPr>
          <a:xfrm>
            <a:off x="5456149" y="3755989"/>
            <a:ext cx="188930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未命中：ready=1, error=1</a:t>
            </a:r>
          </a:p>
        </p:txBody>
      </p:sp>
      <p:sp>
        <p:nvSpPr>
          <p:cNvPr id="60" name="rect-060"/>
          <p:cNvSpPr/>
          <p:nvPr/>
        </p:nvSpPr>
        <p:spPr>
          <a:xfrm>
            <a:off x="4533900" y="405384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07-target"/>
          <p:cNvSpPr/>
          <p:nvPr/>
        </p:nvSpPr>
        <p:spPr>
          <a:xfrm>
            <a:off x="4373880" y="418719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7 ↔ N04"/>
          <p:cNvSpPr txBox="1"/>
          <p:nvPr/>
        </p:nvSpPr>
        <p:spPr>
          <a:xfrm>
            <a:off x="4715256" y="409736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N04</a:t>
            </a:r>
          </a:p>
        </p:txBody>
      </p:sp>
      <p:sp>
        <p:nvSpPr>
          <p:cNvPr id="63" name="rect-063"/>
          <p:cNvSpPr/>
          <p:nvPr/>
        </p:nvSpPr>
        <p:spPr>
          <a:xfrm>
            <a:off x="8694420" y="933450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N03  内部工作逻辑"/>
          <p:cNvSpPr txBox="1"/>
          <p:nvPr/>
        </p:nvSpPr>
        <p:spPr>
          <a:xfrm>
            <a:off x="8790432" y="96140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5" name="text-065: 现有 AXI → Regbus 通路"/>
          <p:cNvSpPr txBox="1"/>
          <p:nvPr/>
        </p:nvSpPr>
        <p:spPr>
          <a:xfrm>
            <a:off x="9677876" y="1130808"/>
            <a:ext cx="192690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AXI → Regbus 通路</a:t>
            </a:r>
          </a:p>
        </p:txBody>
      </p:sp>
      <p:sp>
        <p:nvSpPr>
          <p:cNvPr id="66" name="text-066: i_reg_atomics"/>
          <p:cNvSpPr txBox="1"/>
          <p:nvPr/>
        </p:nvSpPr>
        <p:spPr>
          <a:xfrm>
            <a:off x="10061658" y="1313017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i_reg_atomics</a:t>
            </a:r>
          </a:p>
        </p:txBody>
      </p:sp>
      <p:sp>
        <p:nvSpPr>
          <p:cNvPr id="67" name="text-067: → i_reg_atomics_cut"/>
          <p:cNvSpPr txBox="1"/>
          <p:nvPr/>
        </p:nvSpPr>
        <p:spPr>
          <a:xfrm>
            <a:off x="9800958" y="1483705"/>
            <a:ext cx="16807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i_reg_atomics_cut</a:t>
            </a:r>
          </a:p>
        </p:txBody>
      </p:sp>
      <p:sp>
        <p:nvSpPr>
          <p:cNvPr id="68" name="text-068: → i_axi_to_reg_v2"/>
          <p:cNvSpPr txBox="1"/>
          <p:nvPr/>
        </p:nvSpPr>
        <p:spPr>
          <a:xfrm>
            <a:off x="9880702" y="1654393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i_axi_to_reg_v2</a:t>
            </a:r>
          </a:p>
        </p:txBody>
      </p:sp>
      <p:sp>
        <p:nvSpPr>
          <p:cNvPr id="69" name="text-069: 64-bit AXI → 32-bit Reg"/>
          <p:cNvSpPr txBox="1"/>
          <p:nvPr/>
        </p:nvSpPr>
        <p:spPr>
          <a:xfrm>
            <a:off x="9641472" y="1825081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64-bit AXI → 32-bit Reg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212293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02-target"/>
          <p:cNvSpPr/>
          <p:nvPr/>
        </p:nvSpPr>
        <p:spPr>
          <a:xfrm>
            <a:off x="8614410" y="22562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2 ↔ N02"/>
          <p:cNvSpPr txBox="1"/>
          <p:nvPr/>
        </p:nvSpPr>
        <p:spPr>
          <a:xfrm>
            <a:off x="8955786" y="21664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73" name="E03-source"/>
          <p:cNvSpPr/>
          <p:nvPr/>
        </p:nvSpPr>
        <p:spPr>
          <a:xfrm>
            <a:off x="12396216" y="22562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3 ↔ N04"/>
          <p:cNvSpPr txBox="1"/>
          <p:nvPr/>
        </p:nvSpPr>
        <p:spPr>
          <a:xfrm>
            <a:off x="11438230" y="21664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75" name="E04-source"/>
          <p:cNvSpPr/>
          <p:nvPr/>
        </p:nvSpPr>
        <p:spPr>
          <a:xfrm>
            <a:off x="12396216" y="24429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4 → N05"/>
          <p:cNvSpPr txBox="1"/>
          <p:nvPr/>
        </p:nvSpPr>
        <p:spPr>
          <a:xfrm>
            <a:off x="11438230" y="23531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77" name="rect-077"/>
          <p:cNvSpPr/>
          <p:nvPr/>
        </p:nvSpPr>
        <p:spPr>
          <a:xfrm>
            <a:off x="8694420" y="2853690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N06  内部工作逻辑"/>
          <p:cNvSpPr txBox="1"/>
          <p:nvPr/>
        </p:nvSpPr>
        <p:spPr>
          <a:xfrm>
            <a:off x="8790432" y="288164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9" name="text-079: 片内寄存器目标"/>
          <p:cNvSpPr txBox="1"/>
          <p:nvPr/>
        </p:nvSpPr>
        <p:spPr>
          <a:xfrm>
            <a:off x="10107930" y="3051048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片内寄存器目标</a:t>
            </a:r>
          </a:p>
        </p:txBody>
      </p:sp>
      <p:sp>
        <p:nvSpPr>
          <p:cNvPr id="80" name="text-080: SoC / UART / GPIO / …"/>
          <p:cNvSpPr txBox="1"/>
          <p:nvPr/>
        </p:nvSpPr>
        <p:spPr>
          <a:xfrm>
            <a:off x="9721215" y="3233257"/>
            <a:ext cx="18402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/ UART / GPIO / …</a:t>
            </a:r>
          </a:p>
        </p:txBody>
      </p:sp>
      <p:sp>
        <p:nvSpPr>
          <p:cNvPr id="81" name="rect-081"/>
          <p:cNvSpPr/>
          <p:nvPr/>
        </p:nvSpPr>
        <p:spPr>
          <a:xfrm>
            <a:off x="8774430" y="353110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E06-target"/>
          <p:cNvSpPr/>
          <p:nvPr/>
        </p:nvSpPr>
        <p:spPr>
          <a:xfrm>
            <a:off x="8614410" y="36644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6 ↔ N04"/>
          <p:cNvSpPr txBox="1"/>
          <p:nvPr/>
        </p:nvSpPr>
        <p:spPr>
          <a:xfrm>
            <a:off x="8955786" y="35746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N04</a:t>
            </a:r>
          </a:p>
        </p:txBody>
      </p:sp>
      <p:sp>
        <p:nvSpPr>
          <p:cNvPr id="84" name="rect-084"/>
          <p:cNvSpPr/>
          <p:nvPr/>
        </p:nvSpPr>
        <p:spPr>
          <a:xfrm>
            <a:off x="8694420" y="4075176"/>
            <a:ext cx="3893820" cy="1178814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N09  接口与配置 · 规划/待确认"/>
          <p:cNvSpPr txBox="1"/>
          <p:nvPr/>
        </p:nvSpPr>
        <p:spPr>
          <a:xfrm>
            <a:off x="8790432" y="4103126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N09  接口与配置 · 规划/待确认</a:t>
            </a:r>
          </a:p>
        </p:txBody>
      </p:sp>
      <p:sp>
        <p:nvSpPr>
          <p:cNvPr id="86" name="text-086: 自有 IP 寄存器接口"/>
          <p:cNvSpPr txBox="1"/>
          <p:nvPr/>
        </p:nvSpPr>
        <p:spPr>
          <a:xfrm>
            <a:off x="9934575" y="4272534"/>
            <a:ext cx="14135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87" name="text-087: NPU / ISP / DMA / …"/>
          <p:cNvSpPr txBox="1"/>
          <p:nvPr/>
        </p:nvSpPr>
        <p:spPr>
          <a:xfrm>
            <a:off x="9800958" y="4454743"/>
            <a:ext cx="16807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88" name="text-088: 内部职责见图②"/>
          <p:cNvSpPr txBox="1"/>
          <p:nvPr/>
        </p:nvSpPr>
        <p:spPr>
          <a:xfrm>
            <a:off x="10150602" y="4625431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89" name="rect-089"/>
          <p:cNvSpPr/>
          <p:nvPr/>
        </p:nvSpPr>
        <p:spPr>
          <a:xfrm>
            <a:off x="8774430" y="492328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E09-target"/>
          <p:cNvSpPr/>
          <p:nvPr/>
        </p:nvSpPr>
        <p:spPr>
          <a:xfrm>
            <a:off x="8614410" y="505663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E09 ↔ N08"/>
          <p:cNvSpPr txBox="1"/>
          <p:nvPr/>
        </p:nvSpPr>
        <p:spPr>
          <a:xfrm>
            <a:off x="8955786" y="496680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N08</a:t>
            </a:r>
          </a:p>
        </p:txBody>
      </p:sp>
      <p:sp>
        <p:nvSpPr>
          <p:cNvPr id="92" name="text-092: 蓝色双向线 = 请求向右 / 响应返回；棕色虚线 = 地址与选择；虚线边框 = "/>
          <p:cNvSpPr txBox="1"/>
          <p:nvPr/>
        </p:nvSpPr>
        <p:spPr>
          <a:xfrm>
            <a:off x="213360" y="5404195"/>
            <a:ext cx="50054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蓝色双向线 = 请求向右 / 响应返回；棕色虚线 = 地址与选择；虚线边框 = 拟新增。</a:t>
            </a:r>
          </a:p>
        </p:txBody>
      </p:sp>
      <p:sp>
        <p:nvSpPr>
          <p:cNvPr id="93" name="text-093: Cheshire 内部互连与寄存器目标：clk_i / rst_ni"/>
          <p:cNvSpPr txBox="1"/>
          <p:nvPr/>
        </p:nvSpPr>
        <p:spPr>
          <a:xfrm>
            <a:off x="213360" y="5569549"/>
            <a:ext cx="330628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Cheshire 内部互连与寄存器目标：clk_i / rst_ni</a:t>
            </a:r>
          </a:p>
        </p:txBody>
      </p:sp>
      <p:sp>
        <p:nvSpPr>
          <p:cNvPr id="94" name="text-094: AxiOut.reg_demux"/>
          <p:cNvSpPr txBox="1"/>
          <p:nvPr/>
        </p:nvSpPr>
        <p:spPr>
          <a:xfrm>
            <a:off x="213360" y="5734903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AxiOut.reg_demux</a:t>
            </a:r>
          </a:p>
        </p:txBody>
      </p:sp>
      <p:sp>
        <p:nvSpPr>
          <p:cNvPr id="95" name="text-095: Regbus"/>
          <p:cNvSpPr txBox="1"/>
          <p:nvPr/>
        </p:nvSpPr>
        <p:spPr>
          <a:xfrm>
            <a:off x="213360" y="5900257"/>
            <a:ext cx="60114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</a:t>
            </a:r>
          </a:p>
        </p:txBody>
      </p:sp>
      <p:sp>
        <p:nvSpPr>
          <p:cNvPr id="96" name="text-096: addr"/>
          <p:cNvSpPr txBox="1"/>
          <p:nvPr/>
        </p:nvSpPr>
        <p:spPr>
          <a:xfrm>
            <a:off x="213360" y="6065611"/>
            <a:ext cx="441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addr</a:t>
            </a:r>
          </a:p>
        </p:txBody>
      </p:sp>
      <p:sp>
        <p:nvSpPr>
          <p:cNvPr id="97" name="text-097: reg_select"/>
          <p:cNvSpPr txBox="1"/>
          <p:nvPr/>
        </p:nvSpPr>
        <p:spPr>
          <a:xfrm>
            <a:off x="213360" y="6230965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reg_select</a:t>
            </a:r>
          </a:p>
        </p:txBody>
      </p:sp>
      <p:sp>
        <p:nvSpPr>
          <p:cNvPr id="98" name="text-098: 需要配置：RegExtNumSlv / RegExtNumRules"/>
          <p:cNvSpPr txBox="1"/>
          <p:nvPr/>
        </p:nvSpPr>
        <p:spPr>
          <a:xfrm>
            <a:off x="213360" y="6396319"/>
            <a:ext cx="30486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需要配置：RegExtNumSlv / RegExtNumRules</a:t>
            </a:r>
          </a:p>
        </p:txBody>
      </p:sp>
      <p:sp>
        <p:nvSpPr>
          <p:cNvPr id="99" name="text-099: RegExtRegionStart / End / Idx"/>
          <p:cNvSpPr txBox="1"/>
          <p:nvPr/>
        </p:nvSpPr>
        <p:spPr>
          <a:xfrm>
            <a:off x="213360" y="6561673"/>
            <a:ext cx="24352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RegExtRegionStart / End / Idx</a:t>
            </a:r>
          </a:p>
        </p:txBody>
      </p:sp>
      <p:sp>
        <p:nvSpPr>
          <p:cNvPr id="100" name="text-100: gen_axi_out + gen_reg_out 自动生成两级地址规则"/>
          <p:cNvSpPr txBox="1"/>
          <p:nvPr/>
        </p:nvSpPr>
        <p:spPr>
          <a:xfrm>
            <a:off x="213360" y="6727027"/>
            <a:ext cx="34228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gen_axi_out + gen_reg_out 自动生成两级地址规则</a:t>
            </a:r>
          </a:p>
        </p:txBody>
      </p:sp>
      <p:sp>
        <p:nvSpPr>
          <p:cNvPr id="101" name="text-101: 默认外部端口数为 0；打开端口后，还要在外层顶层接线。"/>
          <p:cNvSpPr txBox="1"/>
          <p:nvPr/>
        </p:nvSpPr>
        <p:spPr>
          <a:xfrm>
            <a:off x="213360" y="6892381"/>
            <a:ext cx="334921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默认外部端口数为 0；打开端口后，还要在外层顶层接线。</a:t>
            </a:r>
          </a:p>
        </p:txBody>
      </p:sp>
      <p:sp>
        <p:nvSpPr>
          <p:cNvPr id="102" name="text-102: 自有 IP 寄存器接口"/>
          <p:cNvSpPr txBox="1"/>
          <p:nvPr/>
        </p:nvSpPr>
        <p:spPr>
          <a:xfrm>
            <a:off x="213360" y="7057735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103" name="text-103: NPU / ISP / DMA / …"/>
          <p:cNvSpPr txBox="1"/>
          <p:nvPr/>
        </p:nvSpPr>
        <p:spPr>
          <a:xfrm>
            <a:off x="213360" y="7223089"/>
            <a:ext cx="16807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104" name="text-104: 内部职责见图②"/>
          <p:cNvSpPr txBox="1"/>
          <p:nvPr/>
        </p:nvSpPr>
        <p:spPr>
          <a:xfrm>
            <a:off x="213360" y="7388443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105" name="text-105: 同域直连；异域增加 reg_cdc"/>
          <p:cNvSpPr txBox="1"/>
          <p:nvPr/>
        </p:nvSpPr>
        <p:spPr>
          <a:xfrm>
            <a:off x="213360" y="7553797"/>
            <a:ext cx="18647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同域直连；异域增加 reg_cdc</a:t>
            </a:r>
          </a:p>
        </p:txBody>
      </p:sp>
      <p:sp>
        <p:nvSpPr>
          <p:cNvPr id="106" name="text-106: IP 收到：addr[47:0] / write / wdata[31:0] /"/>
          <p:cNvSpPr txBox="1"/>
          <p:nvPr/>
        </p:nvSpPr>
        <p:spPr>
          <a:xfrm>
            <a:off x="213360" y="7719151"/>
            <a:ext cx="495635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 收到：addr[47:0] / write / wdata[31:0] / wstrb[3:0] / valid</a:t>
            </a:r>
          </a:p>
        </p:txBody>
      </p:sp>
      <p:sp>
        <p:nvSpPr>
          <p:cNvPr id="107" name="text-107: IP 返回：rdata[31:0] / error / ready"/>
          <p:cNvSpPr txBox="1"/>
          <p:nvPr/>
        </p:nvSpPr>
        <p:spPr>
          <a:xfrm>
            <a:off x="213360" y="7884505"/>
            <a:ext cx="2883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 返回：rdata[31:0] / error / ready</a:t>
            </a:r>
          </a:p>
        </p:txBody>
      </p:sp>
      <p:sp>
        <p:nvSpPr>
          <p:cNvPr id="108" name="text-108: 配置走 Regbus；图像、权重、帧数据等批量搬运走独立的数据接口。"/>
          <p:cNvSpPr txBox="1"/>
          <p:nvPr/>
        </p:nvSpPr>
        <p:spPr>
          <a:xfrm>
            <a:off x="213360" y="8049859"/>
            <a:ext cx="399329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配置走 Regbus；图像、权重、帧数据等批量搬运走独立的数据接口。</a:t>
            </a:r>
          </a:p>
        </p:txBody>
      </p:sp>
      <p:sp>
        <p:nvSpPr>
          <p:cNvPr id="109" name="text-109: 配对端口表示图示连接；已有/规划状态见模块和连接表。方向与 A 版一致。虚线模块"/>
          <p:cNvSpPr txBox="1"/>
          <p:nvPr/>
        </p:nvSpPr>
        <p:spPr>
          <a:xfrm>
            <a:off x="213360" y="8598835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自有 IP：需要实现的寄存器接口（建议结构，尚未接入）"/>
          <p:cNvSpPr txBox="1"/>
          <p:nvPr/>
        </p:nvSpPr>
        <p:spPr>
          <a:xfrm>
            <a:off x="213360" y="61021"/>
            <a:ext cx="48816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② 自有 IP：需要实现的寄存器接口（建议结构，尚未接入）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33604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773430"/>
            <a:ext cx="3893820" cy="189357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 · 规划/待确认"/>
          <p:cNvSpPr txBox="1"/>
          <p:nvPr/>
        </p:nvSpPr>
        <p:spPr>
          <a:xfrm>
            <a:off x="309372" y="801380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 · 规划/待确认</a:t>
            </a:r>
          </a:p>
        </p:txBody>
      </p:sp>
      <p:sp>
        <p:nvSpPr>
          <p:cNvPr id="6" name="text-006: 地址译码与访问控制"/>
          <p:cNvSpPr txBox="1"/>
          <p:nvPr/>
        </p:nvSpPr>
        <p:spPr>
          <a:xfrm>
            <a:off x="1493520" y="970788"/>
            <a:ext cx="1333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地址译码与访问控制</a:t>
            </a:r>
          </a:p>
        </p:txBody>
      </p:sp>
      <p:sp>
        <p:nvSpPr>
          <p:cNvPr id="7" name="text-007: offset = addr - BASE"/>
          <p:cNvSpPr txBox="1"/>
          <p:nvPr/>
        </p:nvSpPr>
        <p:spPr>
          <a:xfrm>
            <a:off x="1301496" y="1152997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offset = addr - BASE</a:t>
            </a:r>
          </a:p>
        </p:txBody>
      </p:sp>
      <p:sp>
        <p:nvSpPr>
          <p:cNvPr id="8" name="text-008: fire = valid &amp; ready"/>
          <p:cNvSpPr txBox="1"/>
          <p:nvPr/>
        </p:nvSpPr>
        <p:spPr>
          <a:xfrm>
            <a:off x="1301496" y="1323685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fire = valid &amp; ready</a:t>
            </a:r>
          </a:p>
        </p:txBody>
      </p:sp>
      <p:sp>
        <p:nvSpPr>
          <p:cNvPr id="9" name="text-009: wr_en = fire &amp; write"/>
          <p:cNvSpPr txBox="1"/>
          <p:nvPr/>
        </p:nvSpPr>
        <p:spPr>
          <a:xfrm>
            <a:off x="1301496" y="1494373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wr_en = fire &amp; write</a:t>
            </a:r>
          </a:p>
        </p:txBody>
      </p:sp>
      <p:sp>
        <p:nvSpPr>
          <p:cNvPr id="10" name="text-010: 按译码 / wstrb 写入"/>
          <p:cNvSpPr txBox="1"/>
          <p:nvPr/>
        </p:nvSpPr>
        <p:spPr>
          <a:xfrm>
            <a:off x="1433379" y="1665061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按译码 / wstrb 写入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196291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target"/>
          <p:cNvSpPr/>
          <p:nvPr/>
        </p:nvSpPr>
        <p:spPr>
          <a:xfrm>
            <a:off x="133350" y="20962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← P01"/>
          <p:cNvSpPr txBox="1"/>
          <p:nvPr/>
        </p:nvSpPr>
        <p:spPr>
          <a:xfrm>
            <a:off x="474726" y="20064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P01</a:t>
            </a:r>
          </a:p>
        </p:txBody>
      </p:sp>
      <p:sp>
        <p:nvSpPr>
          <p:cNvPr id="14" name="E02-source"/>
          <p:cNvSpPr/>
          <p:nvPr/>
        </p:nvSpPr>
        <p:spPr>
          <a:xfrm>
            <a:off x="3915156" y="20962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E02 → N02"/>
          <p:cNvSpPr txBox="1"/>
          <p:nvPr/>
        </p:nvSpPr>
        <p:spPr>
          <a:xfrm>
            <a:off x="2957170" y="20064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N02</a:t>
            </a:r>
          </a:p>
        </p:txBody>
      </p:sp>
      <p:sp>
        <p:nvSpPr>
          <p:cNvPr id="16" name="E05-source"/>
          <p:cNvSpPr/>
          <p:nvPr/>
        </p:nvSpPr>
        <p:spPr>
          <a:xfrm>
            <a:off x="3915156" y="22829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5 → N04"/>
          <p:cNvSpPr txBox="1"/>
          <p:nvPr/>
        </p:nvSpPr>
        <p:spPr>
          <a:xfrm>
            <a:off x="2957170" y="21931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18" name="E08-source"/>
          <p:cNvSpPr/>
          <p:nvPr/>
        </p:nvSpPr>
        <p:spPr>
          <a:xfrm>
            <a:off x="3915156" y="24696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8 → N03"/>
          <p:cNvSpPr txBox="1"/>
          <p:nvPr/>
        </p:nvSpPr>
        <p:spPr>
          <a:xfrm>
            <a:off x="2957170" y="23798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N03</a:t>
            </a:r>
          </a:p>
        </p:txBody>
      </p:sp>
      <p:sp>
        <p:nvSpPr>
          <p:cNvPr id="20" name="rect-020"/>
          <p:cNvSpPr/>
          <p:nvPr/>
        </p:nvSpPr>
        <p:spPr>
          <a:xfrm>
            <a:off x="213360" y="288036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P01  外部/组边界"/>
          <p:cNvSpPr txBox="1"/>
          <p:nvPr/>
        </p:nvSpPr>
        <p:spPr>
          <a:xfrm>
            <a:off x="309372" y="290831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2" name="text-022: Regbus 请求"/>
          <p:cNvSpPr txBox="1"/>
          <p:nvPr/>
        </p:nvSpPr>
        <p:spPr>
          <a:xfrm>
            <a:off x="1656874" y="3077718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</a:t>
            </a:r>
          </a:p>
        </p:txBody>
      </p:sp>
      <p:sp>
        <p:nvSpPr>
          <p:cNvPr id="23" name="rect-023"/>
          <p:cNvSpPr/>
          <p:nvPr/>
        </p:nvSpPr>
        <p:spPr>
          <a:xfrm>
            <a:off x="293370" y="338709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01-source"/>
          <p:cNvSpPr/>
          <p:nvPr/>
        </p:nvSpPr>
        <p:spPr>
          <a:xfrm>
            <a:off x="3915156" y="35204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E01 → N01"/>
          <p:cNvSpPr txBox="1"/>
          <p:nvPr/>
        </p:nvSpPr>
        <p:spPr>
          <a:xfrm>
            <a:off x="2957170" y="343061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N01</a:t>
            </a:r>
          </a:p>
        </p:txBody>
      </p:sp>
      <p:sp>
        <p:nvSpPr>
          <p:cNvPr id="26" name="rect-026"/>
          <p:cNvSpPr/>
          <p:nvPr/>
        </p:nvSpPr>
        <p:spPr>
          <a:xfrm>
            <a:off x="213360" y="393115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P02  外部/组边界"/>
          <p:cNvSpPr txBox="1"/>
          <p:nvPr/>
        </p:nvSpPr>
        <p:spPr>
          <a:xfrm>
            <a:off x="309372" y="395910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28" name="text-028: Regbus 响应"/>
          <p:cNvSpPr txBox="1"/>
          <p:nvPr/>
        </p:nvSpPr>
        <p:spPr>
          <a:xfrm>
            <a:off x="1656874" y="4128516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响应</a:t>
            </a:r>
          </a:p>
        </p:txBody>
      </p:sp>
      <p:sp>
        <p:nvSpPr>
          <p:cNvPr id="29" name="rect-029"/>
          <p:cNvSpPr/>
          <p:nvPr/>
        </p:nvSpPr>
        <p:spPr>
          <a:xfrm>
            <a:off x="293370" y="443788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09-target"/>
          <p:cNvSpPr/>
          <p:nvPr/>
        </p:nvSpPr>
        <p:spPr>
          <a:xfrm>
            <a:off x="133350" y="45712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09 ← N04"/>
          <p:cNvSpPr txBox="1"/>
          <p:nvPr/>
        </p:nvSpPr>
        <p:spPr>
          <a:xfrm>
            <a:off x="474726" y="44814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N04</a:t>
            </a:r>
          </a:p>
        </p:txBody>
      </p:sp>
      <p:sp>
        <p:nvSpPr>
          <p:cNvPr id="32" name="rect-032"/>
          <p:cNvSpPr/>
          <p:nvPr/>
        </p:nvSpPr>
        <p:spPr>
          <a:xfrm>
            <a:off x="4453890" y="773430"/>
            <a:ext cx="3893820" cy="1365504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N02  接口与配置 · 规划/待确认"/>
          <p:cNvSpPr txBox="1"/>
          <p:nvPr/>
        </p:nvSpPr>
        <p:spPr>
          <a:xfrm>
            <a:off x="4549902" y="801380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接口与配置 · 规划/待确认</a:t>
            </a:r>
          </a:p>
        </p:txBody>
      </p:sp>
      <p:sp>
        <p:nvSpPr>
          <p:cNvPr id="34" name="text-034: 配置 / 命令寄存器"/>
          <p:cNvSpPr txBox="1"/>
          <p:nvPr/>
        </p:nvSpPr>
        <p:spPr>
          <a:xfrm>
            <a:off x="5737384" y="970788"/>
            <a:ext cx="13268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命令寄存器</a:t>
            </a:r>
          </a:p>
        </p:txBody>
      </p:sp>
      <p:sp>
        <p:nvSpPr>
          <p:cNvPr id="35" name="text-035: 参数、地址低位 / 高位"/>
          <p:cNvSpPr txBox="1"/>
          <p:nvPr/>
        </p:nvSpPr>
        <p:spPr>
          <a:xfrm>
            <a:off x="5667775" y="1152997"/>
            <a:ext cx="146605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参数、地址低位 / 高位</a:t>
            </a:r>
          </a:p>
        </p:txBody>
      </p:sp>
      <p:sp>
        <p:nvSpPr>
          <p:cNvPr id="36" name="text-036: 写 START 时提交命令"/>
          <p:cNvSpPr txBox="1"/>
          <p:nvPr/>
        </p:nvSpPr>
        <p:spPr>
          <a:xfrm>
            <a:off x="5692311" y="1323685"/>
            <a:ext cx="141697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 START 时提交命令</a:t>
            </a:r>
          </a:p>
        </p:txBody>
      </p:sp>
      <p:sp>
        <p:nvSpPr>
          <p:cNvPr id="37" name="rect-037"/>
          <p:cNvSpPr/>
          <p:nvPr/>
        </p:nvSpPr>
        <p:spPr>
          <a:xfrm>
            <a:off x="4533900" y="162153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2-target"/>
          <p:cNvSpPr/>
          <p:nvPr/>
        </p:nvSpPr>
        <p:spPr>
          <a:xfrm>
            <a:off x="4373880" y="17548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← N01"/>
          <p:cNvSpPr txBox="1"/>
          <p:nvPr/>
        </p:nvSpPr>
        <p:spPr>
          <a:xfrm>
            <a:off x="4715256" y="16650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N01</a:t>
            </a:r>
          </a:p>
        </p:txBody>
      </p:sp>
      <p:sp>
        <p:nvSpPr>
          <p:cNvPr id="40" name="E03-source"/>
          <p:cNvSpPr/>
          <p:nvPr/>
        </p:nvSpPr>
        <p:spPr>
          <a:xfrm>
            <a:off x="8155686" y="17548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3 → N05"/>
          <p:cNvSpPr txBox="1"/>
          <p:nvPr/>
        </p:nvSpPr>
        <p:spPr>
          <a:xfrm>
            <a:off x="7197700" y="16650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N05</a:t>
            </a:r>
          </a:p>
        </p:txBody>
      </p:sp>
      <p:sp>
        <p:nvSpPr>
          <p:cNvPr id="42" name="E06-source"/>
          <p:cNvSpPr/>
          <p:nvPr/>
        </p:nvSpPr>
        <p:spPr>
          <a:xfrm>
            <a:off x="8155686" y="194157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6 → N04"/>
          <p:cNvSpPr txBox="1"/>
          <p:nvPr/>
        </p:nvSpPr>
        <p:spPr>
          <a:xfrm>
            <a:off x="7197700" y="185175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N04</a:t>
            </a:r>
          </a:p>
        </p:txBody>
      </p:sp>
      <p:sp>
        <p:nvSpPr>
          <p:cNvPr id="44" name="rect-044"/>
          <p:cNvSpPr/>
          <p:nvPr/>
        </p:nvSpPr>
        <p:spPr>
          <a:xfrm>
            <a:off x="4453890" y="2352294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N04  内部工作逻辑 · 规划/待确认"/>
          <p:cNvSpPr txBox="1"/>
          <p:nvPr/>
        </p:nvSpPr>
        <p:spPr>
          <a:xfrm>
            <a:off x="4549902" y="2380244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 · 规划/待确认</a:t>
            </a:r>
          </a:p>
        </p:txBody>
      </p:sp>
      <p:sp>
        <p:nvSpPr>
          <p:cNvPr id="46" name="text-046: 读数据选择与访问响应"/>
          <p:cNvSpPr txBox="1"/>
          <p:nvPr/>
        </p:nvSpPr>
        <p:spPr>
          <a:xfrm>
            <a:off x="5667375" y="2549652"/>
            <a:ext cx="14668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读数据选择与访问响应</a:t>
            </a:r>
          </a:p>
        </p:txBody>
      </p:sp>
      <p:sp>
        <p:nvSpPr>
          <p:cNvPr id="47" name="text-047: rdata = 选中寄存器值"/>
          <p:cNvSpPr txBox="1"/>
          <p:nvPr/>
        </p:nvSpPr>
        <p:spPr>
          <a:xfrm>
            <a:off x="5652440" y="2731861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选中寄存器值</a:t>
            </a:r>
          </a:p>
        </p:txBody>
      </p:sp>
      <p:sp>
        <p:nvSpPr>
          <p:cNvPr id="48" name="text-048: ready = 本次访问可完成"/>
          <p:cNvSpPr txBox="1"/>
          <p:nvPr/>
        </p:nvSpPr>
        <p:spPr>
          <a:xfrm>
            <a:off x="5591099" y="2902549"/>
            <a:ext cx="1619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本次访问可完成</a:t>
            </a:r>
          </a:p>
        </p:txBody>
      </p:sp>
      <p:sp>
        <p:nvSpPr>
          <p:cNvPr id="49" name="text-049: error = 地址 / 权限等错误"/>
          <p:cNvSpPr txBox="1"/>
          <p:nvPr/>
        </p:nvSpPr>
        <p:spPr>
          <a:xfrm>
            <a:off x="5471484" y="3073237"/>
            <a:ext cx="18586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error = 地址 / 权限等错误</a:t>
            </a:r>
          </a:p>
        </p:txBody>
      </p:sp>
      <p:sp>
        <p:nvSpPr>
          <p:cNvPr id="50" name="rect-050"/>
          <p:cNvSpPr/>
          <p:nvPr/>
        </p:nvSpPr>
        <p:spPr>
          <a:xfrm>
            <a:off x="4533900" y="337108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5-target"/>
          <p:cNvSpPr/>
          <p:nvPr/>
        </p:nvSpPr>
        <p:spPr>
          <a:xfrm>
            <a:off x="4373880" y="35044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5 ← N01"/>
          <p:cNvSpPr txBox="1"/>
          <p:nvPr/>
        </p:nvSpPr>
        <p:spPr>
          <a:xfrm>
            <a:off x="4715256" y="34146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N01</a:t>
            </a:r>
          </a:p>
        </p:txBody>
      </p:sp>
      <p:sp>
        <p:nvSpPr>
          <p:cNvPr id="53" name="E06-target"/>
          <p:cNvSpPr/>
          <p:nvPr/>
        </p:nvSpPr>
        <p:spPr>
          <a:xfrm>
            <a:off x="4373880" y="36911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 ← N02"/>
          <p:cNvSpPr txBox="1"/>
          <p:nvPr/>
        </p:nvSpPr>
        <p:spPr>
          <a:xfrm>
            <a:off x="4715256" y="36013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N02</a:t>
            </a:r>
          </a:p>
        </p:txBody>
      </p:sp>
      <p:sp>
        <p:nvSpPr>
          <p:cNvPr id="55" name="E07-target"/>
          <p:cNvSpPr/>
          <p:nvPr/>
        </p:nvSpPr>
        <p:spPr>
          <a:xfrm>
            <a:off x="4373880" y="38778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7 ← N03"/>
          <p:cNvSpPr txBox="1"/>
          <p:nvPr/>
        </p:nvSpPr>
        <p:spPr>
          <a:xfrm>
            <a:off x="4715256" y="37879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N03</a:t>
            </a:r>
          </a:p>
        </p:txBody>
      </p:sp>
      <p:sp>
        <p:nvSpPr>
          <p:cNvPr id="57" name="E09-source"/>
          <p:cNvSpPr/>
          <p:nvPr/>
        </p:nvSpPr>
        <p:spPr>
          <a:xfrm>
            <a:off x="8155686" y="35044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9 → P02"/>
          <p:cNvSpPr txBox="1"/>
          <p:nvPr/>
        </p:nvSpPr>
        <p:spPr>
          <a:xfrm>
            <a:off x="7197700" y="34146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P02</a:t>
            </a:r>
          </a:p>
        </p:txBody>
      </p:sp>
      <p:sp>
        <p:nvSpPr>
          <p:cNvPr id="59" name="rect-059"/>
          <p:cNvSpPr/>
          <p:nvPr/>
        </p:nvSpPr>
        <p:spPr>
          <a:xfrm>
            <a:off x="8694420" y="773430"/>
            <a:ext cx="3893820" cy="1365504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N03  接口与配置 · 规划/待确认"/>
          <p:cNvSpPr txBox="1"/>
          <p:nvPr/>
        </p:nvSpPr>
        <p:spPr>
          <a:xfrm>
            <a:off x="8790432" y="801380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接口与配置 · 规划/待确认</a:t>
            </a:r>
          </a:p>
        </p:txBody>
      </p:sp>
      <p:sp>
        <p:nvSpPr>
          <p:cNvPr id="61" name="text-061: 状态 / 中断状态"/>
          <p:cNvSpPr txBox="1"/>
          <p:nvPr/>
        </p:nvSpPr>
        <p:spPr>
          <a:xfrm>
            <a:off x="10044589" y="970788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中断状态</a:t>
            </a:r>
          </a:p>
        </p:txBody>
      </p:sp>
      <p:sp>
        <p:nvSpPr>
          <p:cNvPr id="62" name="text-062: busy / done / error"/>
          <p:cNvSpPr txBox="1"/>
          <p:nvPr/>
        </p:nvSpPr>
        <p:spPr>
          <a:xfrm>
            <a:off x="9822428" y="1152997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busy / done / error</a:t>
            </a:r>
          </a:p>
        </p:txBody>
      </p:sp>
      <p:sp>
        <p:nvSpPr>
          <p:cNvPr id="63" name="text-063: 建议写 1 清除事件位"/>
          <p:cNvSpPr txBox="1"/>
          <p:nvPr/>
        </p:nvSpPr>
        <p:spPr>
          <a:xfrm>
            <a:off x="9969646" y="1323685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建议写 1 清除事件位</a:t>
            </a:r>
          </a:p>
        </p:txBody>
      </p:sp>
      <p:sp>
        <p:nvSpPr>
          <p:cNvPr id="64" name="rect-064"/>
          <p:cNvSpPr/>
          <p:nvPr/>
        </p:nvSpPr>
        <p:spPr>
          <a:xfrm>
            <a:off x="8774430" y="162153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04-target"/>
          <p:cNvSpPr/>
          <p:nvPr/>
        </p:nvSpPr>
        <p:spPr>
          <a:xfrm>
            <a:off x="8614410" y="17548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4 ← N05"/>
          <p:cNvSpPr txBox="1"/>
          <p:nvPr/>
        </p:nvSpPr>
        <p:spPr>
          <a:xfrm>
            <a:off x="8955786" y="16650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N05</a:t>
            </a:r>
          </a:p>
        </p:txBody>
      </p:sp>
      <p:sp>
        <p:nvSpPr>
          <p:cNvPr id="67" name="E08-target"/>
          <p:cNvSpPr/>
          <p:nvPr/>
        </p:nvSpPr>
        <p:spPr>
          <a:xfrm>
            <a:off x="8614410" y="194157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8 ← N01"/>
          <p:cNvSpPr txBox="1"/>
          <p:nvPr/>
        </p:nvSpPr>
        <p:spPr>
          <a:xfrm>
            <a:off x="8955786" y="185175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N01</a:t>
            </a:r>
          </a:p>
        </p:txBody>
      </p:sp>
      <p:sp>
        <p:nvSpPr>
          <p:cNvPr id="69" name="E07-source"/>
          <p:cNvSpPr/>
          <p:nvPr/>
        </p:nvSpPr>
        <p:spPr>
          <a:xfrm>
            <a:off x="12396216" y="17548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7 → N04"/>
          <p:cNvSpPr txBox="1"/>
          <p:nvPr/>
        </p:nvSpPr>
        <p:spPr>
          <a:xfrm>
            <a:off x="11438230" y="16650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71" name="rect-071"/>
          <p:cNvSpPr/>
          <p:nvPr/>
        </p:nvSpPr>
        <p:spPr>
          <a:xfrm>
            <a:off x="8694420" y="2352294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N05  内部工作逻辑 · 规划/待确认"/>
          <p:cNvSpPr txBox="1"/>
          <p:nvPr/>
        </p:nvSpPr>
        <p:spPr>
          <a:xfrm>
            <a:off x="8790432" y="2380244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 · 规划/待确认</a:t>
            </a:r>
          </a:p>
        </p:txBody>
      </p:sp>
      <p:sp>
        <p:nvSpPr>
          <p:cNvPr id="73" name="text-073: IP 工作逻辑"/>
          <p:cNvSpPr txBox="1"/>
          <p:nvPr/>
        </p:nvSpPr>
        <p:spPr>
          <a:xfrm>
            <a:off x="10177939" y="2549652"/>
            <a:ext cx="9267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74" name="text-074: 接受命令"/>
          <p:cNvSpPr txBox="1"/>
          <p:nvPr/>
        </p:nvSpPr>
        <p:spPr>
          <a:xfrm>
            <a:off x="10334625" y="2731861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75" name="text-075: 计算 / 搬运 / 接收"/>
          <p:cNvSpPr txBox="1"/>
          <p:nvPr/>
        </p:nvSpPr>
        <p:spPr>
          <a:xfrm>
            <a:off x="9972713" y="2902549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76" name="text-076: 维护 busy / done / error"/>
          <p:cNvSpPr txBox="1"/>
          <p:nvPr/>
        </p:nvSpPr>
        <p:spPr>
          <a:xfrm>
            <a:off x="9659874" y="3073237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77" name="text-077: 数据口另接 AXI / 流接口"/>
          <p:cNvSpPr txBox="1"/>
          <p:nvPr/>
        </p:nvSpPr>
        <p:spPr>
          <a:xfrm>
            <a:off x="9810159" y="3243925"/>
            <a:ext cx="166234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354177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3-target"/>
          <p:cNvSpPr/>
          <p:nvPr/>
        </p:nvSpPr>
        <p:spPr>
          <a:xfrm>
            <a:off x="8614410" y="36751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3 ← N02"/>
          <p:cNvSpPr txBox="1"/>
          <p:nvPr/>
        </p:nvSpPr>
        <p:spPr>
          <a:xfrm>
            <a:off x="8955786" y="35853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81" name="E04-source"/>
          <p:cNvSpPr/>
          <p:nvPr/>
        </p:nvSpPr>
        <p:spPr>
          <a:xfrm>
            <a:off x="12396216" y="36751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04 → N03"/>
          <p:cNvSpPr txBox="1"/>
          <p:nvPr/>
        </p:nvSpPr>
        <p:spPr>
          <a:xfrm>
            <a:off x="11438230" y="35853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N03</a:t>
            </a:r>
          </a:p>
        </p:txBody>
      </p:sp>
      <p:sp>
        <p:nvSpPr>
          <p:cNvPr id="83" name="text-083: 本图采用同 clk_i 域示例；配置访问完成与 IP 运算完成是两个事件。"/>
          <p:cNvSpPr txBox="1"/>
          <p:nvPr/>
        </p:nvSpPr>
        <p:spPr>
          <a:xfrm>
            <a:off x="213360" y="4902799"/>
            <a:ext cx="418959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本图采用同 clk_i 域示例；配置访问完成与 IP 运算完成是两个事件。</a:t>
            </a:r>
          </a:p>
        </p:txBody>
      </p:sp>
      <p:sp>
        <p:nvSpPr>
          <p:cNvPr id="84" name="text-084: IP 寄存器封装：可手写，或使用现有 reggen 生成"/>
          <p:cNvSpPr txBox="1"/>
          <p:nvPr/>
        </p:nvSpPr>
        <p:spPr>
          <a:xfrm>
            <a:off x="213360" y="5068153"/>
            <a:ext cx="30854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 寄存器封装：可手写，或使用现有 reggen 生成</a:t>
            </a:r>
          </a:p>
        </p:txBody>
      </p:sp>
      <p:sp>
        <p:nvSpPr>
          <p:cNvPr id="85" name="text-085: reg_ext_slv_req_o[k]"/>
          <p:cNvSpPr txBox="1"/>
          <p:nvPr/>
        </p:nvSpPr>
        <p:spPr>
          <a:xfrm>
            <a:off x="213360" y="5233507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86" name="text-086: addr / write / wdata"/>
          <p:cNvSpPr txBox="1"/>
          <p:nvPr/>
        </p:nvSpPr>
        <p:spPr>
          <a:xfrm>
            <a:off x="213360" y="5398861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addr / write / wdata</a:t>
            </a:r>
          </a:p>
        </p:txBody>
      </p:sp>
      <p:sp>
        <p:nvSpPr>
          <p:cNvPr id="87" name="text-087: wstrb / valid"/>
          <p:cNvSpPr txBox="1"/>
          <p:nvPr/>
        </p:nvSpPr>
        <p:spPr>
          <a:xfrm>
            <a:off x="213360" y="5564215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wstrb / valid</a:t>
            </a:r>
          </a:p>
        </p:txBody>
      </p:sp>
      <p:sp>
        <p:nvSpPr>
          <p:cNvPr id="88" name="text-088: 写使能 / 写数据"/>
          <p:cNvSpPr txBox="1"/>
          <p:nvPr/>
        </p:nvSpPr>
        <p:spPr>
          <a:xfrm>
            <a:off x="213360" y="5729569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写使能 / 写数据</a:t>
            </a:r>
          </a:p>
        </p:txBody>
      </p:sp>
      <p:sp>
        <p:nvSpPr>
          <p:cNvPr id="89" name="text-089: IP 工作逻辑"/>
          <p:cNvSpPr txBox="1"/>
          <p:nvPr/>
        </p:nvSpPr>
        <p:spPr>
          <a:xfrm>
            <a:off x="213360" y="5894923"/>
            <a:ext cx="8526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90" name="text-090: 接受命令"/>
          <p:cNvSpPr txBox="1"/>
          <p:nvPr/>
        </p:nvSpPr>
        <p:spPr>
          <a:xfrm>
            <a:off x="213360" y="6060277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91" name="text-091: 计算 / 搬运 / 接收"/>
          <p:cNvSpPr txBox="1"/>
          <p:nvPr/>
        </p:nvSpPr>
        <p:spPr>
          <a:xfrm>
            <a:off x="213360" y="6225631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92" name="text-092: 维护 busy / done / error"/>
          <p:cNvSpPr txBox="1"/>
          <p:nvPr/>
        </p:nvSpPr>
        <p:spPr>
          <a:xfrm>
            <a:off x="213360" y="6390985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93" name="text-093: 数据口另接 AXI / 流接口"/>
          <p:cNvSpPr txBox="1"/>
          <p:nvPr/>
        </p:nvSpPr>
        <p:spPr>
          <a:xfrm>
            <a:off x="213360" y="6556339"/>
            <a:ext cx="166234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94" name="text-094: 配置 / 启动"/>
          <p:cNvSpPr txBox="1"/>
          <p:nvPr/>
        </p:nvSpPr>
        <p:spPr>
          <a:xfrm>
            <a:off x="213360" y="6721693"/>
            <a:ext cx="8526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配置 / 启动</a:t>
            </a:r>
          </a:p>
        </p:txBody>
      </p:sp>
      <p:sp>
        <p:nvSpPr>
          <p:cNvPr id="95" name="text-095: 状态"/>
          <p:cNvSpPr txBox="1"/>
          <p:nvPr/>
        </p:nvSpPr>
        <p:spPr>
          <a:xfrm>
            <a:off x="213360" y="6887047"/>
            <a:ext cx="3680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状态</a:t>
            </a:r>
          </a:p>
        </p:txBody>
      </p:sp>
      <p:sp>
        <p:nvSpPr>
          <p:cNvPr id="96" name="text-096: offset / 访问属性"/>
          <p:cNvSpPr txBox="1"/>
          <p:nvPr/>
        </p:nvSpPr>
        <p:spPr>
          <a:xfrm>
            <a:off x="213360" y="7052401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offset / 访问属性</a:t>
            </a:r>
          </a:p>
        </p:txBody>
      </p:sp>
      <p:sp>
        <p:nvSpPr>
          <p:cNvPr id="97" name="text-097: 配置回读"/>
          <p:cNvSpPr txBox="1"/>
          <p:nvPr/>
        </p:nvSpPr>
        <p:spPr>
          <a:xfrm>
            <a:off x="213360" y="7217755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配置回读</a:t>
            </a:r>
          </a:p>
        </p:txBody>
      </p:sp>
      <p:sp>
        <p:nvSpPr>
          <p:cNvPr id="98" name="text-098: 状态回读"/>
          <p:cNvSpPr txBox="1"/>
          <p:nvPr/>
        </p:nvSpPr>
        <p:spPr>
          <a:xfrm>
            <a:off x="213360" y="7383109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状态回读</a:t>
            </a:r>
          </a:p>
        </p:txBody>
      </p:sp>
      <p:sp>
        <p:nvSpPr>
          <p:cNvPr id="99" name="text-099: 合法 W1C 写从访问译码生成清除使能"/>
          <p:cNvSpPr txBox="1"/>
          <p:nvPr/>
        </p:nvSpPr>
        <p:spPr>
          <a:xfrm>
            <a:off x="213360" y="7548463"/>
            <a:ext cx="22389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合法 W1C 写从访问译码生成清除使能</a:t>
            </a:r>
          </a:p>
        </p:txBody>
      </p:sp>
      <p:sp>
        <p:nvSpPr>
          <p:cNvPr id="100" name="text-100: reg_ext_slv_rsp_i[k]"/>
          <p:cNvSpPr txBox="1"/>
          <p:nvPr/>
        </p:nvSpPr>
        <p:spPr>
          <a:xfrm>
            <a:off x="213360" y="7713817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101" name="text-101: rdata / error / ready"/>
          <p:cNvSpPr txBox="1"/>
          <p:nvPr/>
        </p:nvSpPr>
        <p:spPr>
          <a:xfrm>
            <a:off x="213360" y="7879171"/>
            <a:ext cx="179729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102" name="text-102: 短寄存器访问及时应答；长任务用 busy / done 或中断报告，不让 rea"/>
          <p:cNvSpPr txBox="1"/>
          <p:nvPr/>
        </p:nvSpPr>
        <p:spPr>
          <a:xfrm>
            <a:off x="213360" y="8044525"/>
            <a:ext cx="5643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短寄存器访问及时应答；长任务用 busy / done 或中断报告，不让 ready 一直等到任务完成。</a:t>
            </a:r>
          </a:p>
        </p:txBody>
      </p:sp>
      <p:sp>
        <p:nvSpPr>
          <p:cNvPr id="103" name="text-103: 中断另接 SoC 中断输入；跨时钟时，事务或配置/状态传递必须有明确的 CDC "/>
          <p:cNvSpPr txBox="1"/>
          <p:nvPr/>
        </p:nvSpPr>
        <p:spPr>
          <a:xfrm>
            <a:off x="213360" y="8209879"/>
            <a:ext cx="52937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中断另接 SoC 中断输入；跨时钟时，事务或配置/状态传递必须有明确的 CDC 与复位方案。</a:t>
            </a:r>
          </a:p>
        </p:txBody>
      </p:sp>
      <p:sp>
        <p:nvSpPr>
          <p:cNvPr id="104" name="text-104: 配对端口表示图示连接；已有/规划状态见模块和连接表。方向与 A 版一致。虚线模块"/>
          <p:cNvSpPr txBox="1"/>
          <p:nvPr/>
        </p:nvSpPr>
        <p:spPr>
          <a:xfrm>
            <a:off x="213360" y="8758855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1  UART：寄存器访问与独立收发通路"/>
          <p:cNvSpPr txBox="1"/>
          <p:nvPr/>
        </p:nvSpPr>
        <p:spPr>
          <a:xfrm>
            <a:off x="213360" y="599755"/>
            <a:ext cx="32772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01  UART：寄存器访问与独立收发通路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874776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312164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34011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reg_uart_wrap"/>
          <p:cNvSpPr txBox="1"/>
          <p:nvPr/>
        </p:nvSpPr>
        <p:spPr>
          <a:xfrm>
            <a:off x="1400175" y="1509522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reg_uart_wrap</a:t>
            </a:r>
          </a:p>
        </p:txBody>
      </p:sp>
      <p:sp>
        <p:nvSpPr>
          <p:cNvPr id="7" name="text-007: reg_to_apb"/>
          <p:cNvSpPr txBox="1"/>
          <p:nvPr/>
        </p:nvSpPr>
        <p:spPr>
          <a:xfrm>
            <a:off x="1700212" y="1691731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reg_to_apb</a:t>
            </a:r>
          </a:p>
        </p:txBody>
      </p:sp>
      <p:sp>
        <p:nvSpPr>
          <p:cNvPr id="8" name="text-008: Regbus 32 → APB 32"/>
          <p:cNvSpPr txBox="1"/>
          <p:nvPr/>
        </p:nvSpPr>
        <p:spPr>
          <a:xfrm>
            <a:off x="1359770" y="1862419"/>
            <a:ext cx="16010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→ APB 32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216027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source"/>
          <p:cNvSpPr/>
          <p:nvPr/>
        </p:nvSpPr>
        <p:spPr>
          <a:xfrm>
            <a:off x="3915156" y="22936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↔ N02"/>
          <p:cNvSpPr txBox="1"/>
          <p:nvPr/>
        </p:nvSpPr>
        <p:spPr>
          <a:xfrm>
            <a:off x="2957170" y="22037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2" name="rect-012"/>
          <p:cNvSpPr/>
          <p:nvPr/>
        </p:nvSpPr>
        <p:spPr>
          <a:xfrm>
            <a:off x="213360" y="2704338"/>
            <a:ext cx="3893820" cy="119481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N04  状态/存储"/>
          <p:cNvSpPr txBox="1"/>
          <p:nvPr/>
        </p:nvSpPr>
        <p:spPr>
          <a:xfrm>
            <a:off x="309372" y="2732288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4" name="text-014: 4  TX FIFO"/>
          <p:cNvSpPr txBox="1"/>
          <p:nvPr/>
        </p:nvSpPr>
        <p:spPr>
          <a:xfrm>
            <a:off x="1660208" y="2901696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TX FIFO</a:t>
            </a:r>
          </a:p>
        </p:txBody>
      </p:sp>
      <p:sp>
        <p:nvSpPr>
          <p:cNvPr id="15" name="text-015: slib_fifo：字节队列"/>
          <p:cNvSpPr txBox="1"/>
          <p:nvPr/>
        </p:nvSpPr>
        <p:spPr>
          <a:xfrm>
            <a:off x="1433379" y="3083905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slib_fifo：字节队列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338175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35151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← N02"/>
          <p:cNvSpPr txBox="1"/>
          <p:nvPr/>
        </p:nvSpPr>
        <p:spPr>
          <a:xfrm>
            <a:off x="474726" y="34252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19" name="E04-source"/>
          <p:cNvSpPr/>
          <p:nvPr/>
        </p:nvSpPr>
        <p:spPr>
          <a:xfrm>
            <a:off x="3915156" y="35151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4 → N05"/>
          <p:cNvSpPr txBox="1"/>
          <p:nvPr/>
        </p:nvSpPr>
        <p:spPr>
          <a:xfrm>
            <a:off x="2957170" y="34252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21" name="E14-source"/>
          <p:cNvSpPr/>
          <p:nvPr/>
        </p:nvSpPr>
        <p:spPr>
          <a:xfrm>
            <a:off x="3915156" y="37017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14 → N08"/>
          <p:cNvSpPr txBox="1"/>
          <p:nvPr/>
        </p:nvSpPr>
        <p:spPr>
          <a:xfrm>
            <a:off x="2957170" y="36119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E14 → N08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4112514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N07  内部工作逻辑"/>
          <p:cNvSpPr txBox="1"/>
          <p:nvPr/>
        </p:nvSpPr>
        <p:spPr>
          <a:xfrm>
            <a:off x="309372" y="414046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25" name="text-025: 6  uart_receiver"/>
          <p:cNvSpPr txBox="1"/>
          <p:nvPr/>
        </p:nvSpPr>
        <p:spPr>
          <a:xfrm>
            <a:off x="1400175" y="4309872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uart_receiver</a:t>
            </a:r>
          </a:p>
        </p:txBody>
      </p:sp>
      <p:sp>
        <p:nvSpPr>
          <p:cNvPr id="26" name="text-026: 采样 / 组字节 / 校验"/>
          <p:cNvSpPr txBox="1"/>
          <p:nvPr/>
        </p:nvSpPr>
        <p:spPr>
          <a:xfrm>
            <a:off x="1430312" y="4492081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 / 组字节 / 校验</a:t>
            </a:r>
          </a:p>
        </p:txBody>
      </p:sp>
      <p:sp>
        <p:nvSpPr>
          <p:cNvPr id="27" name="rect-027"/>
          <p:cNvSpPr/>
          <p:nvPr/>
        </p:nvSpPr>
        <p:spPr>
          <a:xfrm>
            <a:off x="293370" y="478993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6-target"/>
          <p:cNvSpPr/>
          <p:nvPr/>
        </p:nvSpPr>
        <p:spPr>
          <a:xfrm>
            <a:off x="133350" y="49232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E06 ← P02"/>
          <p:cNvSpPr txBox="1"/>
          <p:nvPr/>
        </p:nvSpPr>
        <p:spPr>
          <a:xfrm>
            <a:off x="474726" y="48334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P02</a:t>
            </a:r>
          </a:p>
        </p:txBody>
      </p:sp>
      <p:sp>
        <p:nvSpPr>
          <p:cNvPr id="30" name="E10-target"/>
          <p:cNvSpPr/>
          <p:nvPr/>
        </p:nvSpPr>
        <p:spPr>
          <a:xfrm>
            <a:off x="133350" y="51099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10 ← N03"/>
          <p:cNvSpPr txBox="1"/>
          <p:nvPr/>
        </p:nvSpPr>
        <p:spPr>
          <a:xfrm>
            <a:off x="474726" y="50201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N03</a:t>
            </a:r>
          </a:p>
        </p:txBody>
      </p:sp>
      <p:sp>
        <p:nvSpPr>
          <p:cNvPr id="32" name="E07-source"/>
          <p:cNvSpPr/>
          <p:nvPr/>
        </p:nvSpPr>
        <p:spPr>
          <a:xfrm>
            <a:off x="3915156" y="49232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E07 → N06"/>
          <p:cNvSpPr txBox="1"/>
          <p:nvPr/>
        </p:nvSpPr>
        <p:spPr>
          <a:xfrm>
            <a:off x="2957170" y="48334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N06</a:t>
            </a:r>
          </a:p>
        </p:txBody>
      </p:sp>
      <p:sp>
        <p:nvSpPr>
          <p:cNvPr id="34" name="rect-034"/>
          <p:cNvSpPr/>
          <p:nvPr/>
        </p:nvSpPr>
        <p:spPr>
          <a:xfrm>
            <a:off x="213360" y="552069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P02  外部/组边界"/>
          <p:cNvSpPr txBox="1"/>
          <p:nvPr/>
        </p:nvSpPr>
        <p:spPr>
          <a:xfrm>
            <a:off x="309372" y="554864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36" name="text-036: UART RX 输入"/>
          <p:cNvSpPr txBox="1"/>
          <p:nvPr/>
        </p:nvSpPr>
        <p:spPr>
          <a:xfrm>
            <a:off x="1613535" y="5718048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UART RX 输入</a:t>
            </a:r>
          </a:p>
        </p:txBody>
      </p:sp>
      <p:sp>
        <p:nvSpPr>
          <p:cNvPr id="37" name="rect-037"/>
          <p:cNvSpPr/>
          <p:nvPr/>
        </p:nvSpPr>
        <p:spPr>
          <a:xfrm>
            <a:off x="293370" y="602742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6-source"/>
          <p:cNvSpPr/>
          <p:nvPr/>
        </p:nvSpPr>
        <p:spPr>
          <a:xfrm>
            <a:off x="3915156" y="61607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6 → N07"/>
          <p:cNvSpPr txBox="1"/>
          <p:nvPr/>
        </p:nvSpPr>
        <p:spPr>
          <a:xfrm>
            <a:off x="2957170" y="60709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N07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1312164"/>
            <a:ext cx="3893820" cy="172288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N02  接口与配置"/>
          <p:cNvSpPr txBox="1"/>
          <p:nvPr/>
        </p:nvSpPr>
        <p:spPr>
          <a:xfrm>
            <a:off x="4549902" y="1340114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接口与配置</a:t>
            </a:r>
          </a:p>
        </p:txBody>
      </p:sp>
      <p:sp>
        <p:nvSpPr>
          <p:cNvPr id="42" name="text-042: 2  APB 地址译码"/>
          <p:cNvSpPr txBox="1"/>
          <p:nvPr/>
        </p:nvSpPr>
        <p:spPr>
          <a:xfrm>
            <a:off x="5764054" y="1509522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APB 地址译码</a:t>
            </a:r>
          </a:p>
        </p:txBody>
      </p:sp>
      <p:sp>
        <p:nvSpPr>
          <p:cNvPr id="43" name="text-043: PADDR = addr[4:2]"/>
          <p:cNvSpPr txBox="1"/>
          <p:nvPr/>
        </p:nvSpPr>
        <p:spPr>
          <a:xfrm>
            <a:off x="5661641" y="1691731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PADDR = addr[4:2]</a:t>
            </a:r>
          </a:p>
        </p:txBody>
      </p:sp>
      <p:sp>
        <p:nvSpPr>
          <p:cNvPr id="44" name="text-044: DLAB / THR / RBR"/>
          <p:cNvSpPr txBox="1"/>
          <p:nvPr/>
        </p:nvSpPr>
        <p:spPr>
          <a:xfrm>
            <a:off x="5701513" y="1862419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DLAB / THR / RBR</a:t>
            </a:r>
          </a:p>
        </p:txBody>
      </p:sp>
      <p:sp>
        <p:nvSpPr>
          <p:cNvPr id="45" name="text-045: IER / IIR / LSR …"/>
          <p:cNvSpPr txBox="1"/>
          <p:nvPr/>
        </p:nvSpPr>
        <p:spPr>
          <a:xfrm>
            <a:off x="5640172" y="2033107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IER / IIR / LSR …</a:t>
            </a:r>
          </a:p>
        </p:txBody>
      </p:sp>
      <p:sp>
        <p:nvSpPr>
          <p:cNvPr id="46" name="rect-046"/>
          <p:cNvSpPr/>
          <p:nvPr/>
        </p:nvSpPr>
        <p:spPr>
          <a:xfrm>
            <a:off x="4533900" y="233095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1-target"/>
          <p:cNvSpPr/>
          <p:nvPr/>
        </p:nvSpPr>
        <p:spPr>
          <a:xfrm>
            <a:off x="4373880" y="24643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1 ↔ N01"/>
          <p:cNvSpPr txBox="1"/>
          <p:nvPr/>
        </p:nvSpPr>
        <p:spPr>
          <a:xfrm>
            <a:off x="4715256" y="23744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49" name="E08-target"/>
          <p:cNvSpPr/>
          <p:nvPr/>
        </p:nvSpPr>
        <p:spPr>
          <a:xfrm>
            <a:off x="4373880" y="26509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8 ← N06"/>
          <p:cNvSpPr txBox="1"/>
          <p:nvPr/>
        </p:nvSpPr>
        <p:spPr>
          <a:xfrm>
            <a:off x="4715256" y="25611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N06</a:t>
            </a:r>
          </a:p>
        </p:txBody>
      </p:sp>
      <p:sp>
        <p:nvSpPr>
          <p:cNvPr id="51" name="E02-source"/>
          <p:cNvSpPr/>
          <p:nvPr/>
        </p:nvSpPr>
        <p:spPr>
          <a:xfrm>
            <a:off x="8155686" y="24643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 → N03"/>
          <p:cNvSpPr txBox="1"/>
          <p:nvPr/>
        </p:nvSpPr>
        <p:spPr>
          <a:xfrm>
            <a:off x="7197700" y="23744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53" name="E03-source"/>
          <p:cNvSpPr/>
          <p:nvPr/>
        </p:nvSpPr>
        <p:spPr>
          <a:xfrm>
            <a:off x="8155686" y="26509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 → N04"/>
          <p:cNvSpPr txBox="1"/>
          <p:nvPr/>
        </p:nvSpPr>
        <p:spPr>
          <a:xfrm>
            <a:off x="7197700" y="25611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55" name="E12-source"/>
          <p:cNvSpPr/>
          <p:nvPr/>
        </p:nvSpPr>
        <p:spPr>
          <a:xfrm>
            <a:off x="8155686" y="283768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12 ↔ N08"/>
          <p:cNvSpPr txBox="1"/>
          <p:nvPr/>
        </p:nvSpPr>
        <p:spPr>
          <a:xfrm>
            <a:off x="7197700" y="274786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↔ N08</a:t>
            </a:r>
          </a:p>
        </p:txBody>
      </p:sp>
      <p:sp>
        <p:nvSpPr>
          <p:cNvPr id="57" name="rect-057"/>
          <p:cNvSpPr/>
          <p:nvPr/>
        </p:nvSpPr>
        <p:spPr>
          <a:xfrm>
            <a:off x="4453890" y="3248406"/>
            <a:ext cx="3893820" cy="119481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N06  状态/存储"/>
          <p:cNvSpPr txBox="1"/>
          <p:nvPr/>
        </p:nvSpPr>
        <p:spPr>
          <a:xfrm>
            <a:off x="4549902" y="3276356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59" name="text-059: 7  RX FIFO"/>
          <p:cNvSpPr txBox="1"/>
          <p:nvPr/>
        </p:nvSpPr>
        <p:spPr>
          <a:xfrm>
            <a:off x="5900738" y="3445764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RX FIFO</a:t>
            </a:r>
          </a:p>
        </p:txBody>
      </p:sp>
      <p:sp>
        <p:nvSpPr>
          <p:cNvPr id="60" name="text-060: 字节 + 接收错误位"/>
          <p:cNvSpPr txBox="1"/>
          <p:nvPr/>
        </p:nvSpPr>
        <p:spPr>
          <a:xfrm>
            <a:off x="5790457" y="3627973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 + 接收错误位</a:t>
            </a:r>
          </a:p>
        </p:txBody>
      </p:sp>
      <p:sp>
        <p:nvSpPr>
          <p:cNvPr id="61" name="rect-061"/>
          <p:cNvSpPr/>
          <p:nvPr/>
        </p:nvSpPr>
        <p:spPr>
          <a:xfrm>
            <a:off x="4533900" y="392582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E07-target"/>
          <p:cNvSpPr/>
          <p:nvPr/>
        </p:nvSpPr>
        <p:spPr>
          <a:xfrm>
            <a:off x="4373880" y="40591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7 ← N07"/>
          <p:cNvSpPr txBox="1"/>
          <p:nvPr/>
        </p:nvSpPr>
        <p:spPr>
          <a:xfrm>
            <a:off x="4715256" y="39693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N07</a:t>
            </a:r>
          </a:p>
        </p:txBody>
      </p:sp>
      <p:sp>
        <p:nvSpPr>
          <p:cNvPr id="64" name="E08-source"/>
          <p:cNvSpPr/>
          <p:nvPr/>
        </p:nvSpPr>
        <p:spPr>
          <a:xfrm>
            <a:off x="8155686" y="40591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8 → N02"/>
          <p:cNvSpPr txBox="1"/>
          <p:nvPr/>
        </p:nvSpPr>
        <p:spPr>
          <a:xfrm>
            <a:off x="7197700" y="39693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N02</a:t>
            </a:r>
          </a:p>
        </p:txBody>
      </p:sp>
      <p:sp>
        <p:nvSpPr>
          <p:cNvPr id="66" name="E11-source"/>
          <p:cNvSpPr/>
          <p:nvPr/>
        </p:nvSpPr>
        <p:spPr>
          <a:xfrm>
            <a:off x="8155686" y="424586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11 → N08"/>
          <p:cNvSpPr txBox="1"/>
          <p:nvPr/>
        </p:nvSpPr>
        <p:spPr>
          <a:xfrm>
            <a:off x="7197700" y="415603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→ N08</a:t>
            </a:r>
          </a:p>
        </p:txBody>
      </p:sp>
      <p:sp>
        <p:nvSpPr>
          <p:cNvPr id="68" name="rect-068"/>
          <p:cNvSpPr/>
          <p:nvPr/>
        </p:nvSpPr>
        <p:spPr>
          <a:xfrm>
            <a:off x="4453890" y="4656582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P01  外部/组边界"/>
          <p:cNvSpPr txBox="1"/>
          <p:nvPr/>
        </p:nvSpPr>
        <p:spPr>
          <a:xfrm>
            <a:off x="4549902" y="4684532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70" name="text-070: UART TX 输出"/>
          <p:cNvSpPr txBox="1"/>
          <p:nvPr/>
        </p:nvSpPr>
        <p:spPr>
          <a:xfrm>
            <a:off x="5854065" y="4853940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UART TX 输出</a:t>
            </a:r>
          </a:p>
        </p:txBody>
      </p:sp>
      <p:sp>
        <p:nvSpPr>
          <p:cNvPr id="71" name="rect-071"/>
          <p:cNvSpPr/>
          <p:nvPr/>
        </p:nvSpPr>
        <p:spPr>
          <a:xfrm>
            <a:off x="4533900" y="516331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E05-target"/>
          <p:cNvSpPr/>
          <p:nvPr/>
        </p:nvSpPr>
        <p:spPr>
          <a:xfrm>
            <a:off x="4373880" y="52966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5 ← N05"/>
          <p:cNvSpPr txBox="1"/>
          <p:nvPr/>
        </p:nvSpPr>
        <p:spPr>
          <a:xfrm>
            <a:off x="4715256" y="52068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N05</a:t>
            </a:r>
          </a:p>
        </p:txBody>
      </p:sp>
      <p:sp>
        <p:nvSpPr>
          <p:cNvPr id="74" name="rect-074"/>
          <p:cNvSpPr/>
          <p:nvPr/>
        </p:nvSpPr>
        <p:spPr>
          <a:xfrm>
            <a:off x="4453890" y="570738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P03  外部/组边界"/>
          <p:cNvSpPr txBox="1"/>
          <p:nvPr/>
        </p:nvSpPr>
        <p:spPr>
          <a:xfrm>
            <a:off x="4549902" y="573533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76" name="text-076: SoC UART IRQ"/>
          <p:cNvSpPr txBox="1"/>
          <p:nvPr/>
        </p:nvSpPr>
        <p:spPr>
          <a:xfrm>
            <a:off x="5814060" y="5904738"/>
            <a:ext cx="11734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UART IRQ</a:t>
            </a:r>
          </a:p>
        </p:txBody>
      </p:sp>
      <p:sp>
        <p:nvSpPr>
          <p:cNvPr id="77" name="rect-077"/>
          <p:cNvSpPr/>
          <p:nvPr/>
        </p:nvSpPr>
        <p:spPr>
          <a:xfrm>
            <a:off x="4533900" y="621411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13-target"/>
          <p:cNvSpPr/>
          <p:nvPr/>
        </p:nvSpPr>
        <p:spPr>
          <a:xfrm>
            <a:off x="4373880" y="63474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13 ← N08"/>
          <p:cNvSpPr txBox="1"/>
          <p:nvPr/>
        </p:nvSpPr>
        <p:spPr>
          <a:xfrm>
            <a:off x="4715256" y="62576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E13 ← N08</a:t>
            </a:r>
          </a:p>
        </p:txBody>
      </p:sp>
      <p:sp>
        <p:nvSpPr>
          <p:cNvPr id="80" name="rect-080"/>
          <p:cNvSpPr/>
          <p:nvPr/>
        </p:nvSpPr>
        <p:spPr>
          <a:xfrm>
            <a:off x="8694420" y="1312164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N03  内部工作逻辑"/>
          <p:cNvSpPr txBox="1"/>
          <p:nvPr/>
        </p:nvSpPr>
        <p:spPr>
          <a:xfrm>
            <a:off x="8790432" y="134011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82" name="text-082: 3  baudgen + 节拍逻辑"/>
          <p:cNvSpPr txBox="1"/>
          <p:nvPr/>
        </p:nvSpPr>
        <p:spPr>
          <a:xfrm>
            <a:off x="9744551" y="1509522"/>
            <a:ext cx="17935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baudgen + 节拍逻辑</a:t>
            </a:r>
          </a:p>
        </p:txBody>
      </p:sp>
      <p:sp>
        <p:nvSpPr>
          <p:cNvPr id="83" name="text-083: DLL / DLM → baud ticks"/>
          <p:cNvSpPr txBox="1"/>
          <p:nvPr/>
        </p:nvSpPr>
        <p:spPr>
          <a:xfrm>
            <a:off x="9681343" y="1691731"/>
            <a:ext cx="191997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DLL / DLM → baud ticks</a:t>
            </a:r>
          </a:p>
        </p:txBody>
      </p:sp>
      <p:sp>
        <p:nvSpPr>
          <p:cNvPr id="84" name="rect-084"/>
          <p:cNvSpPr/>
          <p:nvPr/>
        </p:nvSpPr>
        <p:spPr>
          <a:xfrm>
            <a:off x="8774430" y="198958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E02-target"/>
          <p:cNvSpPr/>
          <p:nvPr/>
        </p:nvSpPr>
        <p:spPr>
          <a:xfrm>
            <a:off x="8614410" y="212293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E02 ← N02"/>
          <p:cNvSpPr txBox="1"/>
          <p:nvPr/>
        </p:nvSpPr>
        <p:spPr>
          <a:xfrm>
            <a:off x="8955786" y="203310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7" name="E09-source"/>
          <p:cNvSpPr/>
          <p:nvPr/>
        </p:nvSpPr>
        <p:spPr>
          <a:xfrm>
            <a:off x="12396216" y="212293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09 → N05"/>
          <p:cNvSpPr txBox="1"/>
          <p:nvPr/>
        </p:nvSpPr>
        <p:spPr>
          <a:xfrm>
            <a:off x="11438230" y="203310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N05</a:t>
            </a:r>
          </a:p>
        </p:txBody>
      </p:sp>
      <p:sp>
        <p:nvSpPr>
          <p:cNvPr id="89" name="E10-source"/>
          <p:cNvSpPr/>
          <p:nvPr/>
        </p:nvSpPr>
        <p:spPr>
          <a:xfrm>
            <a:off x="12396216" y="23096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E10 → N07"/>
          <p:cNvSpPr txBox="1"/>
          <p:nvPr/>
        </p:nvSpPr>
        <p:spPr>
          <a:xfrm>
            <a:off x="11438230" y="22197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N07</a:t>
            </a:r>
          </a:p>
        </p:txBody>
      </p:sp>
      <p:sp>
        <p:nvSpPr>
          <p:cNvPr id="91" name="rect-091"/>
          <p:cNvSpPr/>
          <p:nvPr/>
        </p:nvSpPr>
        <p:spPr>
          <a:xfrm>
            <a:off x="8694420" y="2720340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N05  内部工作逻辑"/>
          <p:cNvSpPr txBox="1"/>
          <p:nvPr/>
        </p:nvSpPr>
        <p:spPr>
          <a:xfrm>
            <a:off x="8790432" y="274829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93" name="text-093: 5  TX 保持 / 发送逻辑"/>
          <p:cNvSpPr txBox="1"/>
          <p:nvPr/>
        </p:nvSpPr>
        <p:spPr>
          <a:xfrm>
            <a:off x="9784556" y="2917698"/>
            <a:ext cx="17135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TX 保持 / 发送逻辑</a:t>
            </a:r>
          </a:p>
        </p:txBody>
      </p:sp>
      <p:sp>
        <p:nvSpPr>
          <p:cNvPr id="94" name="text-094: iTSR + uart_transmitter"/>
          <p:cNvSpPr txBox="1"/>
          <p:nvPr/>
        </p:nvSpPr>
        <p:spPr>
          <a:xfrm>
            <a:off x="9662941" y="3099907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iTSR + uart_transmitter</a:t>
            </a:r>
          </a:p>
        </p:txBody>
      </p:sp>
      <p:sp>
        <p:nvSpPr>
          <p:cNvPr id="95" name="text-095: 起始 / 数据 / 校验 / 停止"/>
          <p:cNvSpPr txBox="1"/>
          <p:nvPr/>
        </p:nvSpPr>
        <p:spPr>
          <a:xfrm>
            <a:off x="9730416" y="3270595"/>
            <a:ext cx="18218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起始 / 数据 / 校验 / 停止</a:t>
            </a:r>
          </a:p>
        </p:txBody>
      </p:sp>
      <p:sp>
        <p:nvSpPr>
          <p:cNvPr id="96" name="rect-096"/>
          <p:cNvSpPr/>
          <p:nvPr/>
        </p:nvSpPr>
        <p:spPr>
          <a:xfrm>
            <a:off x="8774430" y="356844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E04-target"/>
          <p:cNvSpPr/>
          <p:nvPr/>
        </p:nvSpPr>
        <p:spPr>
          <a:xfrm>
            <a:off x="8614410" y="37017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E04 ← N04"/>
          <p:cNvSpPr txBox="1"/>
          <p:nvPr/>
        </p:nvSpPr>
        <p:spPr>
          <a:xfrm>
            <a:off x="8955786" y="36119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99" name="E09-target"/>
          <p:cNvSpPr/>
          <p:nvPr/>
        </p:nvSpPr>
        <p:spPr>
          <a:xfrm>
            <a:off x="8614410" y="38884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-100: E09 ← N03"/>
          <p:cNvSpPr txBox="1"/>
          <p:nvPr/>
        </p:nvSpPr>
        <p:spPr>
          <a:xfrm>
            <a:off x="8955786" y="37986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N03</a:t>
            </a:r>
          </a:p>
        </p:txBody>
      </p:sp>
      <p:sp>
        <p:nvSpPr>
          <p:cNvPr id="101" name="E05-source"/>
          <p:cNvSpPr/>
          <p:nvPr/>
        </p:nvSpPr>
        <p:spPr>
          <a:xfrm>
            <a:off x="12396216" y="37017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E05 → P01"/>
          <p:cNvSpPr txBox="1"/>
          <p:nvPr/>
        </p:nvSpPr>
        <p:spPr>
          <a:xfrm>
            <a:off x="11438230" y="36119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P01</a:t>
            </a:r>
          </a:p>
        </p:txBody>
      </p:sp>
      <p:sp>
        <p:nvSpPr>
          <p:cNvPr id="103" name="rect-103"/>
          <p:cNvSpPr/>
          <p:nvPr/>
        </p:nvSpPr>
        <p:spPr>
          <a:xfrm>
            <a:off x="8694420" y="4299204"/>
            <a:ext cx="3893820" cy="138150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N08  状态/存储"/>
          <p:cNvSpPr txBox="1"/>
          <p:nvPr/>
        </p:nvSpPr>
        <p:spPr>
          <a:xfrm>
            <a:off x="8790432" y="432715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状态/存储</a:t>
            </a:r>
          </a:p>
        </p:txBody>
      </p:sp>
      <p:sp>
        <p:nvSpPr>
          <p:cNvPr id="105" name="text-105: 8  uart_interrupt"/>
          <p:cNvSpPr txBox="1"/>
          <p:nvPr/>
        </p:nvSpPr>
        <p:spPr>
          <a:xfrm>
            <a:off x="9837896" y="4496562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uart_interrupt</a:t>
            </a:r>
          </a:p>
        </p:txBody>
      </p:sp>
      <p:sp>
        <p:nvSpPr>
          <p:cNvPr id="106" name="text-106: 状态 / IER → INT"/>
          <p:cNvSpPr txBox="1"/>
          <p:nvPr/>
        </p:nvSpPr>
        <p:spPr>
          <a:xfrm>
            <a:off x="9957378" y="4678771"/>
            <a:ext cx="1367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IER → INT</a:t>
            </a:r>
          </a:p>
        </p:txBody>
      </p:sp>
      <p:sp>
        <p:nvSpPr>
          <p:cNvPr id="107" name="rect-107"/>
          <p:cNvSpPr/>
          <p:nvPr/>
        </p:nvSpPr>
        <p:spPr>
          <a:xfrm>
            <a:off x="8774430" y="497662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E11-target"/>
          <p:cNvSpPr/>
          <p:nvPr/>
        </p:nvSpPr>
        <p:spPr>
          <a:xfrm>
            <a:off x="8614410" y="51099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-109: E11 ← N06"/>
          <p:cNvSpPr txBox="1"/>
          <p:nvPr/>
        </p:nvSpPr>
        <p:spPr>
          <a:xfrm>
            <a:off x="8955786" y="50201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← N06</a:t>
            </a:r>
          </a:p>
        </p:txBody>
      </p:sp>
      <p:sp>
        <p:nvSpPr>
          <p:cNvPr id="110" name="E12-target"/>
          <p:cNvSpPr/>
          <p:nvPr/>
        </p:nvSpPr>
        <p:spPr>
          <a:xfrm>
            <a:off x="8614410" y="52966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E12 ↔ N02"/>
          <p:cNvSpPr txBox="1"/>
          <p:nvPr/>
        </p:nvSpPr>
        <p:spPr>
          <a:xfrm>
            <a:off x="8955786" y="52068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↔ N02</a:t>
            </a:r>
          </a:p>
        </p:txBody>
      </p:sp>
      <p:sp>
        <p:nvSpPr>
          <p:cNvPr id="112" name="E14-target"/>
          <p:cNvSpPr/>
          <p:nvPr/>
        </p:nvSpPr>
        <p:spPr>
          <a:xfrm>
            <a:off x="8614410" y="54833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3: E14 ← N04"/>
          <p:cNvSpPr txBox="1"/>
          <p:nvPr/>
        </p:nvSpPr>
        <p:spPr>
          <a:xfrm>
            <a:off x="8955786" y="53935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E14 ← N04</a:t>
            </a:r>
          </a:p>
        </p:txBody>
      </p:sp>
      <p:sp>
        <p:nvSpPr>
          <p:cNvPr id="114" name="E13-source"/>
          <p:cNvSpPr/>
          <p:nvPr/>
        </p:nvSpPr>
        <p:spPr>
          <a:xfrm>
            <a:off x="12396216" y="51099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-115: E13 → P03"/>
          <p:cNvSpPr txBox="1"/>
          <p:nvPr/>
        </p:nvSpPr>
        <p:spPr>
          <a:xfrm>
            <a:off x="11438230" y="50201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E13 → P03</a:t>
            </a:r>
          </a:p>
        </p:txBody>
      </p:sp>
      <p:sp>
        <p:nvSpPr>
          <p:cNvPr id="116" name="text-116: apb_uart 内部展开：CLK = clk_i；收发节拍由波特率计数器产生"/>
          <p:cNvSpPr txBox="1"/>
          <p:nvPr/>
        </p:nvSpPr>
        <p:spPr>
          <a:xfrm>
            <a:off x="213360" y="6679021"/>
            <a:ext cx="404850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apb_uart 内部展开：CLK = clk_i；收发节拍由波特率计数器产生</a:t>
            </a:r>
          </a:p>
        </p:txBody>
      </p:sp>
      <p:sp>
        <p:nvSpPr>
          <p:cNvPr id="117" name="text-117: Regbus 请求 / 响应"/>
          <p:cNvSpPr txBox="1"/>
          <p:nvPr/>
        </p:nvSpPr>
        <p:spPr>
          <a:xfrm>
            <a:off x="213360" y="6844375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118" name="text-118: TX → 引脚"/>
          <p:cNvSpPr txBox="1"/>
          <p:nvPr/>
        </p:nvSpPr>
        <p:spPr>
          <a:xfrm>
            <a:off x="213360" y="7009729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TX → 引脚</a:t>
            </a:r>
          </a:p>
        </p:txBody>
      </p:sp>
      <p:sp>
        <p:nvSpPr>
          <p:cNvPr id="119" name="text-119: RX ← 引脚"/>
          <p:cNvSpPr txBox="1"/>
          <p:nvPr/>
        </p:nvSpPr>
        <p:spPr>
          <a:xfrm>
            <a:off x="213360" y="7175083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RX ← 引脚</a:t>
            </a:r>
          </a:p>
        </p:txBody>
      </p:sp>
      <p:sp>
        <p:nvSpPr>
          <p:cNvPr id="120" name="text-120: RBR 读出队头"/>
          <p:cNvSpPr txBox="1"/>
          <p:nvPr/>
        </p:nvSpPr>
        <p:spPr>
          <a:xfrm>
            <a:off x="213360" y="7340437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RBR 读出队头</a:t>
            </a:r>
          </a:p>
        </p:txBody>
      </p:sp>
      <p:sp>
        <p:nvSpPr>
          <p:cNvPr id="121" name="text-121: RX / 线路事件；TX 另有输入"/>
          <p:cNvSpPr txBox="1"/>
          <p:nvPr/>
        </p:nvSpPr>
        <p:spPr>
          <a:xfrm>
            <a:off x="213360" y="7505791"/>
            <a:ext cx="18647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RX / 线路事件；TX 另有输入</a:t>
            </a:r>
          </a:p>
        </p:txBody>
      </p:sp>
      <p:sp>
        <p:nvSpPr>
          <p:cNvPr id="122" name="text-122: IRQ → SoC 中断源"/>
          <p:cNvSpPr txBox="1"/>
          <p:nvPr/>
        </p:nvSpPr>
        <p:spPr>
          <a:xfrm>
            <a:off x="213360" y="7671145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 → SoC 中断源</a:t>
            </a:r>
          </a:p>
        </p:txBody>
      </p:sp>
      <p:sp>
        <p:nvSpPr>
          <p:cNvPr id="123" name="text-123: 配对端口表示图示连接；已有/规划状态见模块和连接表。方向与 A 版一致。虚线模块"/>
          <p:cNvSpPr txBox="1"/>
          <p:nvPr/>
        </p:nvSpPr>
        <p:spPr>
          <a:xfrm>
            <a:off x="213360" y="8220121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2  I²C：命令 FIFO 驱动总线时序，接收 FIFO 返回字节"/>
          <p:cNvSpPr txBox="1"/>
          <p:nvPr/>
        </p:nvSpPr>
        <p:spPr>
          <a:xfrm>
            <a:off x="213360" y="1109152"/>
            <a:ext cx="500969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02  I²C：命令 FIFO 驱动总线时序，接收 FIFO 返回字节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384173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821561"/>
            <a:ext cx="3893820" cy="190957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849511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i2c_reg_top"/>
          <p:cNvSpPr txBox="1"/>
          <p:nvPr/>
        </p:nvSpPr>
        <p:spPr>
          <a:xfrm>
            <a:off x="1486852" y="2018919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i2c_reg_top</a:t>
            </a:r>
          </a:p>
        </p:txBody>
      </p:sp>
      <p:sp>
        <p:nvSpPr>
          <p:cNvPr id="7" name="text-007: CONTROL / TIMING"/>
          <p:cNvSpPr txBox="1"/>
          <p:nvPr/>
        </p:nvSpPr>
        <p:spPr>
          <a:xfrm>
            <a:off x="1460983" y="2201128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TIMING</a:t>
            </a:r>
          </a:p>
        </p:txBody>
      </p:sp>
      <p:sp>
        <p:nvSpPr>
          <p:cNvPr id="8" name="text-008: FDATA / RDATA"/>
          <p:cNvSpPr txBox="1"/>
          <p:nvPr/>
        </p:nvSpPr>
        <p:spPr>
          <a:xfrm>
            <a:off x="1580598" y="2371816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FDATA / RDATA</a:t>
            </a:r>
          </a:p>
        </p:txBody>
      </p:sp>
      <p:sp>
        <p:nvSpPr>
          <p:cNvPr id="9" name="text-009: INTR_STATE / ENABLE"/>
          <p:cNvSpPr txBox="1"/>
          <p:nvPr/>
        </p:nvSpPr>
        <p:spPr>
          <a:xfrm>
            <a:off x="1341368" y="2542504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INTR_STATE / ENABLE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840355"/>
            <a:ext cx="3733800" cy="81610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4-target"/>
          <p:cNvSpPr/>
          <p:nvPr/>
        </p:nvSpPr>
        <p:spPr>
          <a:xfrm>
            <a:off x="133350" y="297370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4 ← N03"/>
          <p:cNvSpPr txBox="1"/>
          <p:nvPr/>
        </p:nvSpPr>
        <p:spPr>
          <a:xfrm>
            <a:off x="474726" y="288388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13" name="E12-target"/>
          <p:cNvSpPr/>
          <p:nvPr/>
        </p:nvSpPr>
        <p:spPr>
          <a:xfrm>
            <a:off x="133350" y="31603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12 ↔ N07"/>
          <p:cNvSpPr txBox="1"/>
          <p:nvPr/>
        </p:nvSpPr>
        <p:spPr>
          <a:xfrm>
            <a:off x="474726" y="30705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N07</a:t>
            </a:r>
          </a:p>
        </p:txBody>
      </p:sp>
      <p:sp>
        <p:nvSpPr>
          <p:cNvPr id="15" name="E01-source"/>
          <p:cNvSpPr/>
          <p:nvPr/>
        </p:nvSpPr>
        <p:spPr>
          <a:xfrm>
            <a:off x="3915156" y="297370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E01 → N02"/>
          <p:cNvSpPr txBox="1"/>
          <p:nvPr/>
        </p:nvSpPr>
        <p:spPr>
          <a:xfrm>
            <a:off x="2957170" y="288388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7" name="E08-source"/>
          <p:cNvSpPr/>
          <p:nvPr/>
        </p:nvSpPr>
        <p:spPr>
          <a:xfrm>
            <a:off x="3915156" y="31603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8 → N04"/>
          <p:cNvSpPr txBox="1"/>
          <p:nvPr/>
        </p:nvSpPr>
        <p:spPr>
          <a:xfrm>
            <a:off x="2957170" y="30705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N04</a:t>
            </a:r>
          </a:p>
        </p:txBody>
      </p:sp>
      <p:sp>
        <p:nvSpPr>
          <p:cNvPr id="19" name="E10-source"/>
          <p:cNvSpPr/>
          <p:nvPr/>
        </p:nvSpPr>
        <p:spPr>
          <a:xfrm>
            <a:off x="3915156" y="33470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10 ↔ N08"/>
          <p:cNvSpPr txBox="1"/>
          <p:nvPr/>
        </p:nvSpPr>
        <p:spPr>
          <a:xfrm>
            <a:off x="2957170" y="32572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N08</a:t>
            </a:r>
          </a:p>
        </p:txBody>
      </p:sp>
      <p:sp>
        <p:nvSpPr>
          <p:cNvPr id="21" name="E11-source"/>
          <p:cNvSpPr/>
          <p:nvPr/>
        </p:nvSpPr>
        <p:spPr>
          <a:xfrm>
            <a:off x="3915156" y="35337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11 → N06"/>
          <p:cNvSpPr txBox="1"/>
          <p:nvPr/>
        </p:nvSpPr>
        <p:spPr>
          <a:xfrm>
            <a:off x="2957170" y="34439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→ N06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3944493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N06  状态/存储"/>
          <p:cNvSpPr txBox="1"/>
          <p:nvPr/>
        </p:nvSpPr>
        <p:spPr>
          <a:xfrm>
            <a:off x="309372" y="3972443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25" name="text-025: 6  Target TX FIFO"/>
          <p:cNvSpPr txBox="1"/>
          <p:nvPr/>
        </p:nvSpPr>
        <p:spPr>
          <a:xfrm>
            <a:off x="1356836" y="4141851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Target TX FIFO</a:t>
            </a:r>
          </a:p>
        </p:txBody>
      </p:sp>
      <p:sp>
        <p:nvSpPr>
          <p:cNvPr id="26" name="text-026: 软件送字节 → 总线"/>
          <p:cNvSpPr txBox="1"/>
          <p:nvPr/>
        </p:nvSpPr>
        <p:spPr>
          <a:xfrm>
            <a:off x="1528458" y="4324060"/>
            <a:ext cx="1263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软件送字节 → 总线</a:t>
            </a:r>
          </a:p>
        </p:txBody>
      </p:sp>
      <p:sp>
        <p:nvSpPr>
          <p:cNvPr id="27" name="rect-027"/>
          <p:cNvSpPr/>
          <p:nvPr/>
        </p:nvSpPr>
        <p:spPr>
          <a:xfrm>
            <a:off x="293370" y="462191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11-target"/>
          <p:cNvSpPr/>
          <p:nvPr/>
        </p:nvSpPr>
        <p:spPr>
          <a:xfrm>
            <a:off x="133350" y="47552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E11 ← N01"/>
          <p:cNvSpPr txBox="1"/>
          <p:nvPr/>
        </p:nvSpPr>
        <p:spPr>
          <a:xfrm>
            <a:off x="474726" y="46654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← N01</a:t>
            </a:r>
          </a:p>
        </p:txBody>
      </p:sp>
      <p:sp>
        <p:nvSpPr>
          <p:cNvPr id="30" name="E06-source"/>
          <p:cNvSpPr/>
          <p:nvPr/>
        </p:nvSpPr>
        <p:spPr>
          <a:xfrm>
            <a:off x="3915156" y="47552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06 → N04"/>
          <p:cNvSpPr txBox="1"/>
          <p:nvPr/>
        </p:nvSpPr>
        <p:spPr>
          <a:xfrm>
            <a:off x="2957170" y="46654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N04</a:t>
            </a:r>
          </a:p>
        </p:txBody>
      </p:sp>
      <p:sp>
        <p:nvSpPr>
          <p:cNvPr id="32" name="rect-032"/>
          <p:cNvSpPr/>
          <p:nvPr/>
        </p:nvSpPr>
        <p:spPr>
          <a:xfrm>
            <a:off x="213360" y="5165979"/>
            <a:ext cx="3893820" cy="136550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N08  状态/存储"/>
          <p:cNvSpPr txBox="1"/>
          <p:nvPr/>
        </p:nvSpPr>
        <p:spPr>
          <a:xfrm>
            <a:off x="309372" y="5193929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状态/存储</a:t>
            </a:r>
          </a:p>
        </p:txBody>
      </p:sp>
      <p:sp>
        <p:nvSpPr>
          <p:cNvPr id="34" name="text-034: 8  事件整合 / prim_intr_hw"/>
          <p:cNvSpPr txBox="1"/>
          <p:nvPr/>
        </p:nvSpPr>
        <p:spPr>
          <a:xfrm>
            <a:off x="1046798" y="5363337"/>
            <a:ext cx="22269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事件整合 / prim_intr_hw</a:t>
            </a:r>
          </a:p>
        </p:txBody>
      </p:sp>
      <p:sp>
        <p:nvSpPr>
          <p:cNvPr id="35" name="text-035: FSM / FIFO 状态锁存"/>
          <p:cNvSpPr txBox="1"/>
          <p:nvPr/>
        </p:nvSpPr>
        <p:spPr>
          <a:xfrm>
            <a:off x="1414977" y="5545546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FSM / FIFO 状态锁存</a:t>
            </a:r>
          </a:p>
        </p:txBody>
      </p:sp>
      <p:sp>
        <p:nvSpPr>
          <p:cNvPr id="36" name="text-036: 15 路 IRQ → SoC"/>
          <p:cNvSpPr txBox="1"/>
          <p:nvPr/>
        </p:nvSpPr>
        <p:spPr>
          <a:xfrm>
            <a:off x="1497787" y="5716234"/>
            <a:ext cx="13249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路 IRQ → SoC</a:t>
            </a:r>
          </a:p>
        </p:txBody>
      </p:sp>
      <p:sp>
        <p:nvSpPr>
          <p:cNvPr id="37" name="rect-037"/>
          <p:cNvSpPr/>
          <p:nvPr/>
        </p:nvSpPr>
        <p:spPr>
          <a:xfrm>
            <a:off x="293370" y="6014085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9-target"/>
          <p:cNvSpPr/>
          <p:nvPr/>
        </p:nvSpPr>
        <p:spPr>
          <a:xfrm>
            <a:off x="133350" y="614743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9 ← N04"/>
          <p:cNvSpPr txBox="1"/>
          <p:nvPr/>
        </p:nvSpPr>
        <p:spPr>
          <a:xfrm>
            <a:off x="474726" y="605761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N04</a:t>
            </a:r>
          </a:p>
        </p:txBody>
      </p:sp>
      <p:sp>
        <p:nvSpPr>
          <p:cNvPr id="40" name="E10-target"/>
          <p:cNvSpPr/>
          <p:nvPr/>
        </p:nvSpPr>
        <p:spPr>
          <a:xfrm>
            <a:off x="133350" y="633412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10 ↔ N01"/>
          <p:cNvSpPr txBox="1"/>
          <p:nvPr/>
        </p:nvSpPr>
        <p:spPr>
          <a:xfrm>
            <a:off x="474726" y="624430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N01</a:t>
            </a:r>
          </a:p>
        </p:txBody>
      </p:sp>
      <p:sp>
        <p:nvSpPr>
          <p:cNvPr id="42" name="rect-042"/>
          <p:cNvSpPr/>
          <p:nvPr/>
        </p:nvSpPr>
        <p:spPr>
          <a:xfrm>
            <a:off x="4453890" y="1821561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N02  状态/存储"/>
          <p:cNvSpPr txBox="1"/>
          <p:nvPr/>
        </p:nvSpPr>
        <p:spPr>
          <a:xfrm>
            <a:off x="4549902" y="1849511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44" name="text-044: 2  Host FMT FIFO"/>
          <p:cNvSpPr txBox="1"/>
          <p:nvPr/>
        </p:nvSpPr>
        <p:spPr>
          <a:xfrm>
            <a:off x="5640705" y="2018919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Host FMT FIFO</a:t>
            </a:r>
          </a:p>
        </p:txBody>
      </p:sp>
      <p:sp>
        <p:nvSpPr>
          <p:cNvPr id="45" name="text-045: 8-bit 字节 + 5-bit 标志"/>
          <p:cNvSpPr txBox="1"/>
          <p:nvPr/>
        </p:nvSpPr>
        <p:spPr>
          <a:xfrm>
            <a:off x="5496020" y="2201128"/>
            <a:ext cx="18095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8-bit 字节 + 5-bit 标志</a:t>
            </a:r>
          </a:p>
        </p:txBody>
      </p:sp>
      <p:sp>
        <p:nvSpPr>
          <p:cNvPr id="46" name="text-046: START / STOP / READ …"/>
          <p:cNvSpPr txBox="1"/>
          <p:nvPr/>
        </p:nvSpPr>
        <p:spPr>
          <a:xfrm>
            <a:off x="5480685" y="2371816"/>
            <a:ext cx="18402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 / STOP / READ …</a:t>
            </a:r>
          </a:p>
        </p:txBody>
      </p:sp>
      <p:sp>
        <p:nvSpPr>
          <p:cNvPr id="47" name="rect-047"/>
          <p:cNvSpPr/>
          <p:nvPr/>
        </p:nvSpPr>
        <p:spPr>
          <a:xfrm>
            <a:off x="4533900" y="266966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1-target"/>
          <p:cNvSpPr/>
          <p:nvPr/>
        </p:nvSpPr>
        <p:spPr>
          <a:xfrm>
            <a:off x="4373880" y="28030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1 ← N01"/>
          <p:cNvSpPr txBox="1"/>
          <p:nvPr/>
        </p:nvSpPr>
        <p:spPr>
          <a:xfrm>
            <a:off x="4715256" y="27131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50" name="E02-source"/>
          <p:cNvSpPr/>
          <p:nvPr/>
        </p:nvSpPr>
        <p:spPr>
          <a:xfrm>
            <a:off x="8155686" y="28030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2 → N04"/>
          <p:cNvSpPr txBox="1"/>
          <p:nvPr/>
        </p:nvSpPr>
        <p:spPr>
          <a:xfrm>
            <a:off x="7197700" y="27131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N04</a:t>
            </a:r>
          </a:p>
        </p:txBody>
      </p:sp>
      <p:sp>
        <p:nvSpPr>
          <p:cNvPr id="52" name="rect-052"/>
          <p:cNvSpPr/>
          <p:nvPr/>
        </p:nvSpPr>
        <p:spPr>
          <a:xfrm>
            <a:off x="4453890" y="3213735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N05  内部工作逻辑"/>
          <p:cNvSpPr txBox="1"/>
          <p:nvPr/>
        </p:nvSpPr>
        <p:spPr>
          <a:xfrm>
            <a:off x="4549902" y="324168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54" name="text-054: 5  SCL / SDA 接口"/>
          <p:cNvSpPr txBox="1"/>
          <p:nvPr/>
        </p:nvSpPr>
        <p:spPr>
          <a:xfrm>
            <a:off x="5637371" y="3411093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SCL / SDA 接口</a:t>
            </a:r>
          </a:p>
        </p:txBody>
      </p:sp>
      <p:sp>
        <p:nvSpPr>
          <p:cNvPr id="55" name="text-055: 采样输入"/>
          <p:cNvSpPr txBox="1"/>
          <p:nvPr/>
        </p:nvSpPr>
        <p:spPr>
          <a:xfrm>
            <a:off x="6094095" y="3593302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采样输入</a:t>
            </a:r>
          </a:p>
        </p:txBody>
      </p:sp>
      <p:sp>
        <p:nvSpPr>
          <p:cNvPr id="56" name="text-056: 输出值 + 输出使能"/>
          <p:cNvSpPr txBox="1"/>
          <p:nvPr/>
        </p:nvSpPr>
        <p:spPr>
          <a:xfrm>
            <a:off x="5790457" y="3763990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+ 输出使能</a:t>
            </a:r>
          </a:p>
        </p:txBody>
      </p:sp>
      <p:sp>
        <p:nvSpPr>
          <p:cNvPr id="57" name="text-057: 外层 PAD / 上拉另接"/>
          <p:cNvSpPr txBox="1"/>
          <p:nvPr/>
        </p:nvSpPr>
        <p:spPr>
          <a:xfrm>
            <a:off x="5692311" y="3934678"/>
            <a:ext cx="141697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 PAD / 上拉另接</a:t>
            </a:r>
          </a:p>
        </p:txBody>
      </p:sp>
      <p:sp>
        <p:nvSpPr>
          <p:cNvPr id="58" name="rect-058"/>
          <p:cNvSpPr/>
          <p:nvPr/>
        </p:nvSpPr>
        <p:spPr>
          <a:xfrm>
            <a:off x="4533900" y="423252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E05-target"/>
          <p:cNvSpPr/>
          <p:nvPr/>
        </p:nvSpPr>
        <p:spPr>
          <a:xfrm>
            <a:off x="4373880" y="43658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 ↔ N04"/>
          <p:cNvSpPr txBox="1"/>
          <p:nvPr/>
        </p:nvSpPr>
        <p:spPr>
          <a:xfrm>
            <a:off x="4715256" y="427605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N04</a:t>
            </a:r>
          </a:p>
        </p:txBody>
      </p:sp>
      <p:sp>
        <p:nvSpPr>
          <p:cNvPr id="61" name="rect-061"/>
          <p:cNvSpPr/>
          <p:nvPr/>
        </p:nvSpPr>
        <p:spPr>
          <a:xfrm>
            <a:off x="4453890" y="4776597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N07  状态/存储"/>
          <p:cNvSpPr txBox="1"/>
          <p:nvPr/>
        </p:nvSpPr>
        <p:spPr>
          <a:xfrm>
            <a:off x="4549902" y="480454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63" name="text-063: 7  Target ACQ FIFO"/>
          <p:cNvSpPr txBox="1"/>
          <p:nvPr/>
        </p:nvSpPr>
        <p:spPr>
          <a:xfrm>
            <a:off x="5554028" y="4973955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Target ACQ FIFO</a:t>
            </a:r>
          </a:p>
        </p:txBody>
      </p:sp>
      <p:sp>
        <p:nvSpPr>
          <p:cNvPr id="64" name="text-064: 接收字节 + 事务标志"/>
          <p:cNvSpPr txBox="1"/>
          <p:nvPr/>
        </p:nvSpPr>
        <p:spPr>
          <a:xfrm>
            <a:off x="5729116" y="5156164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+ 事务标志</a:t>
            </a:r>
          </a:p>
        </p:txBody>
      </p:sp>
      <p:sp>
        <p:nvSpPr>
          <p:cNvPr id="65" name="rect-065"/>
          <p:cNvSpPr/>
          <p:nvPr/>
        </p:nvSpPr>
        <p:spPr>
          <a:xfrm>
            <a:off x="4533900" y="545401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07-target"/>
          <p:cNvSpPr/>
          <p:nvPr/>
        </p:nvSpPr>
        <p:spPr>
          <a:xfrm>
            <a:off x="4373880" y="55873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 ← N04"/>
          <p:cNvSpPr txBox="1"/>
          <p:nvPr/>
        </p:nvSpPr>
        <p:spPr>
          <a:xfrm>
            <a:off x="4715256" y="549754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N04</a:t>
            </a:r>
          </a:p>
        </p:txBody>
      </p:sp>
      <p:sp>
        <p:nvSpPr>
          <p:cNvPr id="68" name="E12-source"/>
          <p:cNvSpPr/>
          <p:nvPr/>
        </p:nvSpPr>
        <p:spPr>
          <a:xfrm>
            <a:off x="8155686" y="55873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12 ↔ N01"/>
          <p:cNvSpPr txBox="1"/>
          <p:nvPr/>
        </p:nvSpPr>
        <p:spPr>
          <a:xfrm>
            <a:off x="7197700" y="549754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N01</a:t>
            </a:r>
          </a:p>
        </p:txBody>
      </p:sp>
      <p:sp>
        <p:nvSpPr>
          <p:cNvPr id="70" name="rect-070"/>
          <p:cNvSpPr/>
          <p:nvPr/>
        </p:nvSpPr>
        <p:spPr>
          <a:xfrm>
            <a:off x="8694420" y="1821561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N03  状态/存储"/>
          <p:cNvSpPr txBox="1"/>
          <p:nvPr/>
        </p:nvSpPr>
        <p:spPr>
          <a:xfrm>
            <a:off x="8790432" y="1849511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状态/存储</a:t>
            </a:r>
          </a:p>
        </p:txBody>
      </p:sp>
      <p:sp>
        <p:nvSpPr>
          <p:cNvPr id="72" name="text-072: 4  Host RX FIFO"/>
          <p:cNvSpPr txBox="1"/>
          <p:nvPr/>
        </p:nvSpPr>
        <p:spPr>
          <a:xfrm>
            <a:off x="9924574" y="2018919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Host RX FIFO</a:t>
            </a:r>
          </a:p>
        </p:txBody>
      </p:sp>
      <p:sp>
        <p:nvSpPr>
          <p:cNvPr id="73" name="text-073: 接收字节 → RDATA"/>
          <p:cNvSpPr txBox="1"/>
          <p:nvPr/>
        </p:nvSpPr>
        <p:spPr>
          <a:xfrm>
            <a:off x="9994182" y="2201128"/>
            <a:ext cx="12942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RDATA</a:t>
            </a:r>
          </a:p>
        </p:txBody>
      </p:sp>
      <p:sp>
        <p:nvSpPr>
          <p:cNvPr id="74" name="rect-074"/>
          <p:cNvSpPr/>
          <p:nvPr/>
        </p:nvSpPr>
        <p:spPr>
          <a:xfrm>
            <a:off x="8774430" y="249897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E03-target"/>
          <p:cNvSpPr/>
          <p:nvPr/>
        </p:nvSpPr>
        <p:spPr>
          <a:xfrm>
            <a:off x="8614410" y="26323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3 ← N04"/>
          <p:cNvSpPr txBox="1"/>
          <p:nvPr/>
        </p:nvSpPr>
        <p:spPr>
          <a:xfrm>
            <a:off x="8955786" y="25425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N04</a:t>
            </a:r>
          </a:p>
        </p:txBody>
      </p:sp>
      <p:sp>
        <p:nvSpPr>
          <p:cNvPr id="77" name="E04-source"/>
          <p:cNvSpPr/>
          <p:nvPr/>
        </p:nvSpPr>
        <p:spPr>
          <a:xfrm>
            <a:off x="12396216" y="26323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4 → N01"/>
          <p:cNvSpPr txBox="1"/>
          <p:nvPr/>
        </p:nvSpPr>
        <p:spPr>
          <a:xfrm>
            <a:off x="11438230" y="25425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N01</a:t>
            </a:r>
          </a:p>
        </p:txBody>
      </p:sp>
      <p:sp>
        <p:nvSpPr>
          <p:cNvPr id="79" name="rect-079"/>
          <p:cNvSpPr/>
          <p:nvPr/>
        </p:nvSpPr>
        <p:spPr>
          <a:xfrm>
            <a:off x="8694420" y="3043047"/>
            <a:ext cx="3893820" cy="20802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N04  内部工作逻辑"/>
          <p:cNvSpPr txBox="1"/>
          <p:nvPr/>
        </p:nvSpPr>
        <p:spPr>
          <a:xfrm>
            <a:off x="8790432" y="307099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81" name="text-081: 3  i2c_fsm"/>
          <p:cNvSpPr txBox="1"/>
          <p:nvPr/>
        </p:nvSpPr>
        <p:spPr>
          <a:xfrm>
            <a:off x="10141268" y="3240405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i2c_fsm</a:t>
            </a:r>
          </a:p>
        </p:txBody>
      </p:sp>
      <p:sp>
        <p:nvSpPr>
          <p:cNvPr id="82" name="text-082: SCL / SDA 时序状态机"/>
          <p:cNvSpPr txBox="1"/>
          <p:nvPr/>
        </p:nvSpPr>
        <p:spPr>
          <a:xfrm>
            <a:off x="9874568" y="3422614"/>
            <a:ext cx="15335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SCL / SDA 时序状态机</a:t>
            </a:r>
          </a:p>
        </p:txBody>
      </p:sp>
      <p:sp>
        <p:nvSpPr>
          <p:cNvPr id="83" name="text-083: Host / Target 控制"/>
          <p:cNvSpPr txBox="1"/>
          <p:nvPr/>
        </p:nvSpPr>
        <p:spPr>
          <a:xfrm>
            <a:off x="9899104" y="3593302"/>
            <a:ext cx="14844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Host / Target 控制</a:t>
            </a:r>
          </a:p>
        </p:txBody>
      </p:sp>
      <p:sp>
        <p:nvSpPr>
          <p:cNvPr id="84" name="text-084: ACK / NAK / stretching"/>
          <p:cNvSpPr txBox="1"/>
          <p:nvPr/>
        </p:nvSpPr>
        <p:spPr>
          <a:xfrm>
            <a:off x="9702813" y="3763990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ACK / NAK / stretching</a:t>
            </a:r>
          </a:p>
        </p:txBody>
      </p:sp>
      <p:sp>
        <p:nvSpPr>
          <p:cNvPr id="85" name="text-085: 按 TIMING 寄存器计数"/>
          <p:cNvSpPr txBox="1"/>
          <p:nvPr/>
        </p:nvSpPr>
        <p:spPr>
          <a:xfrm>
            <a:off x="9892970" y="3934678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TIMING 寄存器计数</a:t>
            </a:r>
          </a:p>
        </p:txBody>
      </p:sp>
      <p:sp>
        <p:nvSpPr>
          <p:cNvPr id="86" name="rect-086"/>
          <p:cNvSpPr/>
          <p:nvPr/>
        </p:nvSpPr>
        <p:spPr>
          <a:xfrm>
            <a:off x="8774430" y="4232529"/>
            <a:ext cx="3733800" cy="81610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E02-target"/>
          <p:cNvSpPr/>
          <p:nvPr/>
        </p:nvSpPr>
        <p:spPr>
          <a:xfrm>
            <a:off x="8614410" y="43658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02 ← N02"/>
          <p:cNvSpPr txBox="1"/>
          <p:nvPr/>
        </p:nvSpPr>
        <p:spPr>
          <a:xfrm>
            <a:off x="8955786" y="427605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9" name="E06-target"/>
          <p:cNvSpPr/>
          <p:nvPr/>
        </p:nvSpPr>
        <p:spPr>
          <a:xfrm>
            <a:off x="8614410" y="45525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E06 ← N06"/>
          <p:cNvSpPr txBox="1"/>
          <p:nvPr/>
        </p:nvSpPr>
        <p:spPr>
          <a:xfrm>
            <a:off x="8955786" y="44627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N06</a:t>
            </a:r>
          </a:p>
        </p:txBody>
      </p:sp>
      <p:sp>
        <p:nvSpPr>
          <p:cNvPr id="91" name="E08-target"/>
          <p:cNvSpPr/>
          <p:nvPr/>
        </p:nvSpPr>
        <p:spPr>
          <a:xfrm>
            <a:off x="8614410" y="47392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E08 ← N01"/>
          <p:cNvSpPr txBox="1"/>
          <p:nvPr/>
        </p:nvSpPr>
        <p:spPr>
          <a:xfrm>
            <a:off x="8955786" y="46494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N01</a:t>
            </a:r>
          </a:p>
        </p:txBody>
      </p:sp>
      <p:sp>
        <p:nvSpPr>
          <p:cNvPr id="93" name="E03-source"/>
          <p:cNvSpPr/>
          <p:nvPr/>
        </p:nvSpPr>
        <p:spPr>
          <a:xfrm>
            <a:off x="12396216" y="43658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4: E03 → N03"/>
          <p:cNvSpPr txBox="1"/>
          <p:nvPr/>
        </p:nvSpPr>
        <p:spPr>
          <a:xfrm>
            <a:off x="11438230" y="427605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N03</a:t>
            </a:r>
          </a:p>
        </p:txBody>
      </p:sp>
      <p:sp>
        <p:nvSpPr>
          <p:cNvPr id="95" name="E05-source"/>
          <p:cNvSpPr/>
          <p:nvPr/>
        </p:nvSpPr>
        <p:spPr>
          <a:xfrm>
            <a:off x="12396216" y="45525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6: E05 ↔ N05"/>
          <p:cNvSpPr txBox="1"/>
          <p:nvPr/>
        </p:nvSpPr>
        <p:spPr>
          <a:xfrm>
            <a:off x="11438230" y="44627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97" name="E07-source"/>
          <p:cNvSpPr/>
          <p:nvPr/>
        </p:nvSpPr>
        <p:spPr>
          <a:xfrm>
            <a:off x="12396216" y="47392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E07 → N07"/>
          <p:cNvSpPr txBox="1"/>
          <p:nvPr/>
        </p:nvSpPr>
        <p:spPr>
          <a:xfrm>
            <a:off x="11438230" y="46494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N07</a:t>
            </a:r>
          </a:p>
        </p:txBody>
      </p:sp>
      <p:sp>
        <p:nvSpPr>
          <p:cNvPr id="99" name="E09-source"/>
          <p:cNvSpPr/>
          <p:nvPr/>
        </p:nvSpPr>
        <p:spPr>
          <a:xfrm>
            <a:off x="12396216" y="492594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-100: E09 → N08"/>
          <p:cNvSpPr txBox="1"/>
          <p:nvPr/>
        </p:nvSpPr>
        <p:spPr>
          <a:xfrm>
            <a:off x="11438230" y="483612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N08</a:t>
            </a:r>
          </a:p>
        </p:txBody>
      </p:sp>
      <p:sp>
        <p:nvSpPr>
          <p:cNvPr id="101" name="text-101: i2c_core：Host 与 Target 使用不同队列；当前整合使用 clk"/>
          <p:cNvSpPr txBox="1"/>
          <p:nvPr/>
        </p:nvSpPr>
        <p:spPr>
          <a:xfrm>
            <a:off x="213360" y="6665686"/>
            <a:ext cx="411598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i2c_core：Host 与 Target 使用不同队列；当前整合使用 clk_i</a:t>
            </a:r>
          </a:p>
        </p:txBody>
      </p:sp>
      <p:sp>
        <p:nvSpPr>
          <p:cNvPr id="102" name="text-102: Regbus 32"/>
          <p:cNvSpPr txBox="1"/>
          <p:nvPr/>
        </p:nvSpPr>
        <p:spPr>
          <a:xfrm>
            <a:off x="213360" y="6831040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03" name="text-103: CONTROL / TIMING → FSM"/>
          <p:cNvSpPr txBox="1"/>
          <p:nvPr/>
        </p:nvSpPr>
        <p:spPr>
          <a:xfrm>
            <a:off x="213360" y="6996394"/>
            <a:ext cx="191997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CONTROL / TIMING → FSM</a:t>
            </a:r>
          </a:p>
        </p:txBody>
      </p:sp>
      <p:sp>
        <p:nvSpPr>
          <p:cNvPr id="104" name="text-104: FIFO reset 由 reg_top 直接作用队列；N08 汇总 FSM/F"/>
          <p:cNvSpPr txBox="1"/>
          <p:nvPr/>
        </p:nvSpPr>
        <p:spPr>
          <a:xfrm>
            <a:off x="213360" y="7161748"/>
            <a:ext cx="4428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FIFO reset 由 reg_top 直接作用队列；N08 汇总 FSM/FIFO 事件。</a:t>
            </a:r>
          </a:p>
        </p:txBody>
      </p:sp>
      <p:sp>
        <p:nvSpPr>
          <p:cNvPr id="105" name="text-105: 配对端口表示图示连接；已有/规划状态见模块和连接表。方向与 A 版一致。虚线模块"/>
          <p:cNvSpPr txBox="1"/>
          <p:nvPr/>
        </p:nvSpPr>
        <p:spPr>
          <a:xfrm>
            <a:off x="213360" y="7710724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3  SPI Host：命令队列控制移位，数据窗口连接收发 FIFO"/>
          <p:cNvSpPr txBox="1"/>
          <p:nvPr/>
        </p:nvSpPr>
        <p:spPr>
          <a:xfrm>
            <a:off x="213360" y="866455"/>
            <a:ext cx="51291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03  SPI Host：命令队列控制移位，数据窗口连接收发 FIFO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141476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578864"/>
            <a:ext cx="3893820" cy="153619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606814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spi_host_reg_top"/>
          <p:cNvSpPr txBox="1"/>
          <p:nvPr/>
        </p:nvSpPr>
        <p:spPr>
          <a:xfrm>
            <a:off x="1270159" y="1776222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spi_host_reg_top</a:t>
            </a:r>
          </a:p>
        </p:txBody>
      </p:sp>
      <p:sp>
        <p:nvSpPr>
          <p:cNvPr id="7" name="text-007: CONTROL / CONFIGOPTS"/>
          <p:cNvSpPr txBox="1"/>
          <p:nvPr/>
        </p:nvSpPr>
        <p:spPr>
          <a:xfrm>
            <a:off x="1301496" y="1958431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CONFIGOPTS</a:t>
            </a:r>
          </a:p>
        </p:txBody>
      </p:sp>
      <p:sp>
        <p:nvSpPr>
          <p:cNvPr id="8" name="text-008: CSID / COMMAND"/>
          <p:cNvSpPr txBox="1"/>
          <p:nvPr/>
        </p:nvSpPr>
        <p:spPr>
          <a:xfrm>
            <a:off x="1540726" y="2129119"/>
            <a:ext cx="12390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CSID / COMMAND</a:t>
            </a:r>
          </a:p>
        </p:txBody>
      </p:sp>
      <p:sp>
        <p:nvSpPr>
          <p:cNvPr id="9" name="text-009: STATUS / INTR_*"/>
          <p:cNvSpPr txBox="1"/>
          <p:nvPr/>
        </p:nvSpPr>
        <p:spPr>
          <a:xfrm>
            <a:off x="1500854" y="2299807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STATUS / INTR_*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59765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7310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26411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E03-source"/>
          <p:cNvSpPr/>
          <p:nvPr/>
        </p:nvSpPr>
        <p:spPr>
          <a:xfrm>
            <a:off x="3915156" y="29176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3 ↔ N04"/>
          <p:cNvSpPr txBox="1"/>
          <p:nvPr/>
        </p:nvSpPr>
        <p:spPr>
          <a:xfrm>
            <a:off x="2957170" y="28278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15" name="rect-015"/>
          <p:cNvSpPr/>
          <p:nvPr/>
        </p:nvSpPr>
        <p:spPr>
          <a:xfrm>
            <a:off x="213360" y="3328416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N06  状态/存储"/>
          <p:cNvSpPr txBox="1"/>
          <p:nvPr/>
        </p:nvSpPr>
        <p:spPr>
          <a:xfrm>
            <a:off x="309372" y="3356366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17" name="text-017: 9  data_fifos：RX"/>
          <p:cNvSpPr txBox="1"/>
          <p:nvPr/>
        </p:nvSpPr>
        <p:spPr>
          <a:xfrm>
            <a:off x="1376839" y="3525774"/>
            <a:ext cx="156686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9  data_fifos：RX</a:t>
            </a:r>
          </a:p>
        </p:txBody>
      </p:sp>
      <p:sp>
        <p:nvSpPr>
          <p:cNvPr id="18" name="text-018: 32-bit 接收字队列"/>
          <p:cNvSpPr txBox="1"/>
          <p:nvPr/>
        </p:nvSpPr>
        <p:spPr>
          <a:xfrm>
            <a:off x="1513122" y="3707983"/>
            <a:ext cx="12942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接收字队列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400583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7-target"/>
          <p:cNvSpPr/>
          <p:nvPr/>
        </p:nvSpPr>
        <p:spPr>
          <a:xfrm>
            <a:off x="133350" y="41391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7 ← N08"/>
          <p:cNvSpPr txBox="1"/>
          <p:nvPr/>
        </p:nvSpPr>
        <p:spPr>
          <a:xfrm>
            <a:off x="474726" y="40493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N08</a:t>
            </a:r>
          </a:p>
        </p:txBody>
      </p:sp>
      <p:sp>
        <p:nvSpPr>
          <p:cNvPr id="22" name="E05-source"/>
          <p:cNvSpPr/>
          <p:nvPr/>
        </p:nvSpPr>
        <p:spPr>
          <a:xfrm>
            <a:off x="3915156" y="41391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5 → N04"/>
          <p:cNvSpPr txBox="1"/>
          <p:nvPr/>
        </p:nvSpPr>
        <p:spPr>
          <a:xfrm>
            <a:off x="2957170" y="40493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24" name="rect-024"/>
          <p:cNvSpPr/>
          <p:nvPr/>
        </p:nvSpPr>
        <p:spPr>
          <a:xfrm>
            <a:off x="213360" y="4549902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N08  内部工作逻辑"/>
          <p:cNvSpPr txBox="1"/>
          <p:nvPr/>
        </p:nvSpPr>
        <p:spPr>
          <a:xfrm>
            <a:off x="309372" y="457785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内部工作逻辑</a:t>
            </a:r>
          </a:p>
        </p:txBody>
      </p:sp>
      <p:sp>
        <p:nvSpPr>
          <p:cNvPr id="26" name="text-026: 8  byte_merge"/>
          <p:cNvSpPr txBox="1"/>
          <p:nvPr/>
        </p:nvSpPr>
        <p:spPr>
          <a:xfrm>
            <a:off x="1530191" y="4747260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byte_merge</a:t>
            </a:r>
          </a:p>
        </p:txBody>
      </p:sp>
      <p:sp>
        <p:nvSpPr>
          <p:cNvPr id="27" name="text-027: 接收字节 → 32-bit"/>
          <p:cNvSpPr txBox="1"/>
          <p:nvPr/>
        </p:nvSpPr>
        <p:spPr>
          <a:xfrm>
            <a:off x="1473251" y="4929469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32-bit</a:t>
            </a:r>
          </a:p>
        </p:txBody>
      </p:sp>
      <p:sp>
        <p:nvSpPr>
          <p:cNvPr id="28" name="rect-028"/>
          <p:cNvSpPr/>
          <p:nvPr/>
        </p:nvSpPr>
        <p:spPr>
          <a:xfrm>
            <a:off x="293370" y="522732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9-target"/>
          <p:cNvSpPr/>
          <p:nvPr/>
        </p:nvSpPr>
        <p:spPr>
          <a:xfrm>
            <a:off x="133350" y="53606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9 ← N09"/>
          <p:cNvSpPr txBox="1"/>
          <p:nvPr/>
        </p:nvSpPr>
        <p:spPr>
          <a:xfrm>
            <a:off x="474726" y="52708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N09</a:t>
            </a:r>
          </a:p>
        </p:txBody>
      </p:sp>
      <p:sp>
        <p:nvSpPr>
          <p:cNvPr id="31" name="E07-source"/>
          <p:cNvSpPr/>
          <p:nvPr/>
        </p:nvSpPr>
        <p:spPr>
          <a:xfrm>
            <a:off x="3915156" y="53606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7 → N06"/>
          <p:cNvSpPr txBox="1"/>
          <p:nvPr/>
        </p:nvSpPr>
        <p:spPr>
          <a:xfrm>
            <a:off x="2957170" y="52708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N06</a:t>
            </a:r>
          </a:p>
        </p:txBody>
      </p:sp>
      <p:sp>
        <p:nvSpPr>
          <p:cNvPr id="33" name="rect-033"/>
          <p:cNvSpPr/>
          <p:nvPr/>
        </p:nvSpPr>
        <p:spPr>
          <a:xfrm>
            <a:off x="213360" y="577138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P02  外部/组边界"/>
          <p:cNvSpPr txBox="1"/>
          <p:nvPr/>
        </p:nvSpPr>
        <p:spPr>
          <a:xfrm>
            <a:off x="309372" y="579933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35" name="text-035: SPI SD[3:0] 数据引脚"/>
          <p:cNvSpPr txBox="1"/>
          <p:nvPr/>
        </p:nvSpPr>
        <p:spPr>
          <a:xfrm>
            <a:off x="1306830" y="5968746"/>
            <a:ext cx="17068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SPI SD[3:0] 数据引脚</a:t>
            </a:r>
          </a:p>
        </p:txBody>
      </p:sp>
      <p:sp>
        <p:nvSpPr>
          <p:cNvPr id="36" name="rect-036"/>
          <p:cNvSpPr/>
          <p:nvPr/>
        </p:nvSpPr>
        <p:spPr>
          <a:xfrm>
            <a:off x="293370" y="627811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12-target"/>
          <p:cNvSpPr/>
          <p:nvPr/>
        </p:nvSpPr>
        <p:spPr>
          <a:xfrm>
            <a:off x="133350" y="64114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12 ↔ N09"/>
          <p:cNvSpPr txBox="1"/>
          <p:nvPr/>
        </p:nvSpPr>
        <p:spPr>
          <a:xfrm>
            <a:off x="474726" y="632164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N09</a:t>
            </a:r>
          </a:p>
        </p:txBody>
      </p:sp>
      <p:sp>
        <p:nvSpPr>
          <p:cNvPr id="39" name="rect-039"/>
          <p:cNvSpPr/>
          <p:nvPr/>
        </p:nvSpPr>
        <p:spPr>
          <a:xfrm>
            <a:off x="4453890" y="1578864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N02  状态/存储"/>
          <p:cNvSpPr txBox="1"/>
          <p:nvPr/>
        </p:nvSpPr>
        <p:spPr>
          <a:xfrm>
            <a:off x="4549902" y="160681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41" name="text-041: 2  command_queue"/>
          <p:cNvSpPr txBox="1"/>
          <p:nvPr/>
        </p:nvSpPr>
        <p:spPr>
          <a:xfrm>
            <a:off x="5640705" y="1776222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command_queue</a:t>
            </a:r>
          </a:p>
        </p:txBody>
      </p:sp>
      <p:sp>
        <p:nvSpPr>
          <p:cNvPr id="42" name="text-042: 方向 / 长度 / 速度"/>
          <p:cNvSpPr txBox="1"/>
          <p:nvPr/>
        </p:nvSpPr>
        <p:spPr>
          <a:xfrm>
            <a:off x="5732183" y="1958431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方向 / 长度 / 速度</a:t>
            </a:r>
          </a:p>
        </p:txBody>
      </p:sp>
      <p:sp>
        <p:nvSpPr>
          <p:cNvPr id="43" name="text-043: 片选与时序配置"/>
          <p:cNvSpPr txBox="1"/>
          <p:nvPr/>
        </p:nvSpPr>
        <p:spPr>
          <a:xfrm>
            <a:off x="5910072" y="2129119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片选与时序配置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242697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1-target"/>
          <p:cNvSpPr/>
          <p:nvPr/>
        </p:nvSpPr>
        <p:spPr>
          <a:xfrm>
            <a:off x="4373880" y="25603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 ← N01"/>
          <p:cNvSpPr txBox="1"/>
          <p:nvPr/>
        </p:nvSpPr>
        <p:spPr>
          <a:xfrm>
            <a:off x="4715256" y="24704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47" name="E02-source"/>
          <p:cNvSpPr/>
          <p:nvPr/>
        </p:nvSpPr>
        <p:spPr>
          <a:xfrm>
            <a:off x="8155686" y="25603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 → N03"/>
          <p:cNvSpPr txBox="1"/>
          <p:nvPr/>
        </p:nvSpPr>
        <p:spPr>
          <a:xfrm>
            <a:off x="7197700" y="24704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2971038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N04  内部工作逻辑"/>
          <p:cNvSpPr txBox="1"/>
          <p:nvPr/>
        </p:nvSpPr>
        <p:spPr>
          <a:xfrm>
            <a:off x="4549902" y="2998988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51" name="text-051: 4  spi_host_window"/>
          <p:cNvSpPr txBox="1"/>
          <p:nvPr/>
        </p:nvSpPr>
        <p:spPr>
          <a:xfrm>
            <a:off x="5554028" y="3168396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spi_host_window</a:t>
            </a:r>
          </a:p>
        </p:txBody>
      </p:sp>
      <p:sp>
        <p:nvSpPr>
          <p:cNvPr id="52" name="text-052: TX 写窗口 / RX 读窗口"/>
          <p:cNvSpPr txBox="1"/>
          <p:nvPr/>
        </p:nvSpPr>
        <p:spPr>
          <a:xfrm>
            <a:off x="5612568" y="3350605"/>
            <a:ext cx="15764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写窗口 / RX 读窗口</a:t>
            </a:r>
          </a:p>
        </p:txBody>
      </p:sp>
      <p:sp>
        <p:nvSpPr>
          <p:cNvPr id="53" name="text-053: 32-bit + byte enables"/>
          <p:cNvSpPr txBox="1"/>
          <p:nvPr/>
        </p:nvSpPr>
        <p:spPr>
          <a:xfrm>
            <a:off x="5502154" y="3521293"/>
            <a:ext cx="179729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+ byte enables</a:t>
            </a:r>
          </a:p>
        </p:txBody>
      </p:sp>
      <p:sp>
        <p:nvSpPr>
          <p:cNvPr id="54" name="text-054: FIFO 满空由软件检查"/>
          <p:cNvSpPr txBox="1"/>
          <p:nvPr/>
        </p:nvSpPr>
        <p:spPr>
          <a:xfrm>
            <a:off x="5710714" y="3691981"/>
            <a:ext cx="13801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满空由软件检查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398983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3-target"/>
          <p:cNvSpPr/>
          <p:nvPr/>
        </p:nvSpPr>
        <p:spPr>
          <a:xfrm>
            <a:off x="4373880" y="41231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3 ↔ N01"/>
          <p:cNvSpPr txBox="1"/>
          <p:nvPr/>
        </p:nvSpPr>
        <p:spPr>
          <a:xfrm>
            <a:off x="4715256" y="40333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N01</a:t>
            </a:r>
          </a:p>
        </p:txBody>
      </p:sp>
      <p:sp>
        <p:nvSpPr>
          <p:cNvPr id="58" name="E05-target"/>
          <p:cNvSpPr/>
          <p:nvPr/>
        </p:nvSpPr>
        <p:spPr>
          <a:xfrm>
            <a:off x="4373880" y="43098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5 ← N06"/>
          <p:cNvSpPr txBox="1"/>
          <p:nvPr/>
        </p:nvSpPr>
        <p:spPr>
          <a:xfrm>
            <a:off x="4715256" y="42200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N06</a:t>
            </a:r>
          </a:p>
        </p:txBody>
      </p:sp>
      <p:sp>
        <p:nvSpPr>
          <p:cNvPr id="60" name="E04-source"/>
          <p:cNvSpPr/>
          <p:nvPr/>
        </p:nvSpPr>
        <p:spPr>
          <a:xfrm>
            <a:off x="8155686" y="41231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 → N05"/>
          <p:cNvSpPr txBox="1"/>
          <p:nvPr/>
        </p:nvSpPr>
        <p:spPr>
          <a:xfrm>
            <a:off x="7197700" y="40333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62" name="rect-062"/>
          <p:cNvSpPr/>
          <p:nvPr/>
        </p:nvSpPr>
        <p:spPr>
          <a:xfrm>
            <a:off x="4453890" y="4720590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N09  内部工作逻辑"/>
          <p:cNvSpPr txBox="1"/>
          <p:nvPr/>
        </p:nvSpPr>
        <p:spPr>
          <a:xfrm>
            <a:off x="4549902" y="474854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N09  内部工作逻辑</a:t>
            </a:r>
          </a:p>
        </p:txBody>
      </p:sp>
      <p:sp>
        <p:nvSpPr>
          <p:cNvPr id="64" name="text-064: 7  shift_register"/>
          <p:cNvSpPr txBox="1"/>
          <p:nvPr/>
        </p:nvSpPr>
        <p:spPr>
          <a:xfrm>
            <a:off x="5597366" y="4917948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shift_register</a:t>
            </a:r>
          </a:p>
        </p:txBody>
      </p:sp>
      <p:sp>
        <p:nvSpPr>
          <p:cNvPr id="65" name="text-065: 串 / 并转换"/>
          <p:cNvSpPr txBox="1"/>
          <p:nvPr/>
        </p:nvSpPr>
        <p:spPr>
          <a:xfrm>
            <a:off x="5974480" y="5100157"/>
            <a:ext cx="8526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串 / 并转换</a:t>
            </a:r>
          </a:p>
        </p:txBody>
      </p:sp>
      <p:sp>
        <p:nvSpPr>
          <p:cNvPr id="66" name="text-066: 标准 / 双线 / 四线"/>
          <p:cNvSpPr txBox="1"/>
          <p:nvPr/>
        </p:nvSpPr>
        <p:spPr>
          <a:xfrm>
            <a:off x="5732183" y="5270845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标准 / 双线 / 四线</a:t>
            </a:r>
          </a:p>
        </p:txBody>
      </p:sp>
      <p:sp>
        <p:nvSpPr>
          <p:cNvPr id="67" name="text-067: SD[3:0] 输入 / 输出"/>
          <p:cNvSpPr txBox="1"/>
          <p:nvPr/>
        </p:nvSpPr>
        <p:spPr>
          <a:xfrm>
            <a:off x="5655507" y="5441533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SD[3:0] 输入 / 输出</a:t>
            </a:r>
          </a:p>
        </p:txBody>
      </p:sp>
      <p:sp>
        <p:nvSpPr>
          <p:cNvPr id="68" name="rect-068"/>
          <p:cNvSpPr/>
          <p:nvPr/>
        </p:nvSpPr>
        <p:spPr>
          <a:xfrm>
            <a:off x="4533900" y="573938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E08-target"/>
          <p:cNvSpPr/>
          <p:nvPr/>
        </p:nvSpPr>
        <p:spPr>
          <a:xfrm>
            <a:off x="4373880" y="58727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8 ← N07"/>
          <p:cNvSpPr txBox="1"/>
          <p:nvPr/>
        </p:nvSpPr>
        <p:spPr>
          <a:xfrm>
            <a:off x="4715256" y="57829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N07</a:t>
            </a:r>
          </a:p>
        </p:txBody>
      </p:sp>
      <p:sp>
        <p:nvSpPr>
          <p:cNvPr id="71" name="E10-target"/>
          <p:cNvSpPr/>
          <p:nvPr/>
        </p:nvSpPr>
        <p:spPr>
          <a:xfrm>
            <a:off x="4373880" y="60594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10 ↔ N03"/>
          <p:cNvSpPr txBox="1"/>
          <p:nvPr/>
        </p:nvSpPr>
        <p:spPr>
          <a:xfrm>
            <a:off x="4715256" y="59695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N03</a:t>
            </a:r>
          </a:p>
        </p:txBody>
      </p:sp>
      <p:sp>
        <p:nvSpPr>
          <p:cNvPr id="73" name="E09-source"/>
          <p:cNvSpPr/>
          <p:nvPr/>
        </p:nvSpPr>
        <p:spPr>
          <a:xfrm>
            <a:off x="8155686" y="58727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9 → N08"/>
          <p:cNvSpPr txBox="1"/>
          <p:nvPr/>
        </p:nvSpPr>
        <p:spPr>
          <a:xfrm>
            <a:off x="7197700" y="57829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N08</a:t>
            </a:r>
          </a:p>
        </p:txBody>
      </p:sp>
      <p:sp>
        <p:nvSpPr>
          <p:cNvPr id="75" name="E12-source"/>
          <p:cNvSpPr/>
          <p:nvPr/>
        </p:nvSpPr>
        <p:spPr>
          <a:xfrm>
            <a:off x="8155686" y="60594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12 ↔ P02"/>
          <p:cNvSpPr txBox="1"/>
          <p:nvPr/>
        </p:nvSpPr>
        <p:spPr>
          <a:xfrm>
            <a:off x="7197700" y="59695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P02</a:t>
            </a:r>
          </a:p>
        </p:txBody>
      </p:sp>
      <p:sp>
        <p:nvSpPr>
          <p:cNvPr id="77" name="rect-077"/>
          <p:cNvSpPr/>
          <p:nvPr/>
        </p:nvSpPr>
        <p:spPr>
          <a:xfrm>
            <a:off x="8694420" y="1578864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N03  内部工作逻辑"/>
          <p:cNvSpPr txBox="1"/>
          <p:nvPr/>
        </p:nvSpPr>
        <p:spPr>
          <a:xfrm>
            <a:off x="8790432" y="160681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79" name="text-079: 3  spi_host_fsm"/>
          <p:cNvSpPr txBox="1"/>
          <p:nvPr/>
        </p:nvSpPr>
        <p:spPr>
          <a:xfrm>
            <a:off x="9924574" y="1776222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spi_host_fsm</a:t>
            </a:r>
          </a:p>
        </p:txBody>
      </p:sp>
      <p:sp>
        <p:nvSpPr>
          <p:cNvPr id="80" name="text-080: SCK / CS / sample / shift"/>
          <p:cNvSpPr txBox="1"/>
          <p:nvPr/>
        </p:nvSpPr>
        <p:spPr>
          <a:xfrm>
            <a:off x="9583198" y="1958431"/>
            <a:ext cx="21162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SCK / CS / sample / shift</a:t>
            </a:r>
          </a:p>
        </p:txBody>
      </p:sp>
      <p:sp>
        <p:nvSpPr>
          <p:cNvPr id="81" name="text-081: CPOL / CPHA / 分频"/>
          <p:cNvSpPr txBox="1"/>
          <p:nvPr/>
        </p:nvSpPr>
        <p:spPr>
          <a:xfrm>
            <a:off x="9899104" y="2129119"/>
            <a:ext cx="14844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CPOL / CPHA / 分频</a:t>
            </a:r>
          </a:p>
        </p:txBody>
      </p:sp>
      <p:sp>
        <p:nvSpPr>
          <p:cNvPr id="82" name="rect-082"/>
          <p:cNvSpPr/>
          <p:nvPr/>
        </p:nvSpPr>
        <p:spPr>
          <a:xfrm>
            <a:off x="8774430" y="242697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E02-target"/>
          <p:cNvSpPr/>
          <p:nvPr/>
        </p:nvSpPr>
        <p:spPr>
          <a:xfrm>
            <a:off x="8614410" y="25603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E02 ← N02"/>
          <p:cNvSpPr txBox="1"/>
          <p:nvPr/>
        </p:nvSpPr>
        <p:spPr>
          <a:xfrm>
            <a:off x="8955786" y="24704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5" name="E10-source"/>
          <p:cNvSpPr/>
          <p:nvPr/>
        </p:nvSpPr>
        <p:spPr>
          <a:xfrm>
            <a:off x="12396216" y="25603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E10 ↔ N09"/>
          <p:cNvSpPr txBox="1"/>
          <p:nvPr/>
        </p:nvSpPr>
        <p:spPr>
          <a:xfrm>
            <a:off x="11438230" y="24704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N09</a:t>
            </a:r>
          </a:p>
        </p:txBody>
      </p:sp>
      <p:sp>
        <p:nvSpPr>
          <p:cNvPr id="87" name="E11-source"/>
          <p:cNvSpPr/>
          <p:nvPr/>
        </p:nvSpPr>
        <p:spPr>
          <a:xfrm>
            <a:off x="12396216" y="274701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11 → P01"/>
          <p:cNvSpPr txBox="1"/>
          <p:nvPr/>
        </p:nvSpPr>
        <p:spPr>
          <a:xfrm>
            <a:off x="11438230" y="265718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→ P01</a:t>
            </a:r>
          </a:p>
        </p:txBody>
      </p:sp>
      <p:sp>
        <p:nvSpPr>
          <p:cNvPr id="89" name="rect-089"/>
          <p:cNvSpPr/>
          <p:nvPr/>
        </p:nvSpPr>
        <p:spPr>
          <a:xfrm>
            <a:off x="8694420" y="3157728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N05  状态/存储"/>
          <p:cNvSpPr txBox="1"/>
          <p:nvPr/>
        </p:nvSpPr>
        <p:spPr>
          <a:xfrm>
            <a:off x="8790432" y="3185678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91" name="text-091: 5  data_fifos：TX"/>
          <p:cNvSpPr txBox="1"/>
          <p:nvPr/>
        </p:nvSpPr>
        <p:spPr>
          <a:xfrm>
            <a:off x="9857899" y="3355086"/>
            <a:ext cx="156686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data_fifos：TX</a:t>
            </a:r>
          </a:p>
        </p:txBody>
      </p:sp>
      <p:sp>
        <p:nvSpPr>
          <p:cNvPr id="92" name="text-092: 32-bit 数据队列"/>
          <p:cNvSpPr txBox="1"/>
          <p:nvPr/>
        </p:nvSpPr>
        <p:spPr>
          <a:xfrm>
            <a:off x="10055523" y="3537295"/>
            <a:ext cx="117161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数据队列</a:t>
            </a:r>
          </a:p>
        </p:txBody>
      </p:sp>
      <p:sp>
        <p:nvSpPr>
          <p:cNvPr id="93" name="rect-093"/>
          <p:cNvSpPr/>
          <p:nvPr/>
        </p:nvSpPr>
        <p:spPr>
          <a:xfrm>
            <a:off x="8774430" y="383514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E04-target"/>
          <p:cNvSpPr/>
          <p:nvPr/>
        </p:nvSpPr>
        <p:spPr>
          <a:xfrm>
            <a:off x="8614410" y="39684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E04 ← N04"/>
          <p:cNvSpPr txBox="1"/>
          <p:nvPr/>
        </p:nvSpPr>
        <p:spPr>
          <a:xfrm>
            <a:off x="8955786" y="38786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96" name="E06-source"/>
          <p:cNvSpPr/>
          <p:nvPr/>
        </p:nvSpPr>
        <p:spPr>
          <a:xfrm>
            <a:off x="12396216" y="39684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E06 → N07"/>
          <p:cNvSpPr txBox="1"/>
          <p:nvPr/>
        </p:nvSpPr>
        <p:spPr>
          <a:xfrm>
            <a:off x="11438230" y="38786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N07</a:t>
            </a:r>
          </a:p>
        </p:txBody>
      </p:sp>
      <p:sp>
        <p:nvSpPr>
          <p:cNvPr id="98" name="rect-098"/>
          <p:cNvSpPr/>
          <p:nvPr/>
        </p:nvSpPr>
        <p:spPr>
          <a:xfrm>
            <a:off x="8694420" y="4379214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9: N07  内部工作逻辑"/>
          <p:cNvSpPr txBox="1"/>
          <p:nvPr/>
        </p:nvSpPr>
        <p:spPr>
          <a:xfrm>
            <a:off x="8790432" y="440716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100" name="text-100: 6  byte_select"/>
          <p:cNvSpPr txBox="1"/>
          <p:nvPr/>
        </p:nvSpPr>
        <p:spPr>
          <a:xfrm>
            <a:off x="9967912" y="4576572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byte_select</a:t>
            </a:r>
          </a:p>
        </p:txBody>
      </p:sp>
      <p:sp>
        <p:nvSpPr>
          <p:cNvPr id="101" name="text-101: 32-bit → 有效发送字节"/>
          <p:cNvSpPr txBox="1"/>
          <p:nvPr/>
        </p:nvSpPr>
        <p:spPr>
          <a:xfrm>
            <a:off x="9831629" y="4758781"/>
            <a:ext cx="1619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→ 有效发送字节</a:t>
            </a:r>
          </a:p>
        </p:txBody>
      </p:sp>
      <p:sp>
        <p:nvSpPr>
          <p:cNvPr id="102" name="rect-102"/>
          <p:cNvSpPr/>
          <p:nvPr/>
        </p:nvSpPr>
        <p:spPr>
          <a:xfrm>
            <a:off x="8774430" y="505663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E06-target"/>
          <p:cNvSpPr/>
          <p:nvPr/>
        </p:nvSpPr>
        <p:spPr>
          <a:xfrm>
            <a:off x="8614410" y="51899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E06 ← N05"/>
          <p:cNvSpPr txBox="1"/>
          <p:nvPr/>
        </p:nvSpPr>
        <p:spPr>
          <a:xfrm>
            <a:off x="8955786" y="51001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105" name="E08-source"/>
          <p:cNvSpPr/>
          <p:nvPr/>
        </p:nvSpPr>
        <p:spPr>
          <a:xfrm>
            <a:off x="12396216" y="51899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6: E08 → N09"/>
          <p:cNvSpPr txBox="1"/>
          <p:nvPr/>
        </p:nvSpPr>
        <p:spPr>
          <a:xfrm>
            <a:off x="11438230" y="51001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N09</a:t>
            </a:r>
          </a:p>
        </p:txBody>
      </p:sp>
      <p:sp>
        <p:nvSpPr>
          <p:cNvPr id="107" name="rect-107"/>
          <p:cNvSpPr/>
          <p:nvPr/>
        </p:nvSpPr>
        <p:spPr>
          <a:xfrm>
            <a:off x="8694420" y="560070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8: P01  外部/组边界"/>
          <p:cNvSpPr txBox="1"/>
          <p:nvPr/>
        </p:nvSpPr>
        <p:spPr>
          <a:xfrm>
            <a:off x="8790432" y="562865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109" name="text-109: SPI SCK / CS / SD OE 引脚"/>
          <p:cNvSpPr txBox="1"/>
          <p:nvPr/>
        </p:nvSpPr>
        <p:spPr>
          <a:xfrm>
            <a:off x="9531191" y="5798058"/>
            <a:ext cx="222027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SPI SCK / CS / SD OE 引脚</a:t>
            </a:r>
          </a:p>
        </p:txBody>
      </p:sp>
      <p:sp>
        <p:nvSpPr>
          <p:cNvPr id="110" name="rect-110"/>
          <p:cNvSpPr/>
          <p:nvPr/>
        </p:nvSpPr>
        <p:spPr>
          <a:xfrm>
            <a:off x="8774430" y="610743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E11-target"/>
          <p:cNvSpPr/>
          <p:nvPr/>
        </p:nvSpPr>
        <p:spPr>
          <a:xfrm>
            <a:off x="8614410" y="624078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2: E11 ← N03"/>
          <p:cNvSpPr txBox="1"/>
          <p:nvPr/>
        </p:nvSpPr>
        <p:spPr>
          <a:xfrm>
            <a:off x="8955786" y="615095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← N03</a:t>
            </a:r>
          </a:p>
        </p:txBody>
      </p:sp>
      <p:sp>
        <p:nvSpPr>
          <p:cNvPr id="113" name="text-113: spi_host_core：一个命令可以包含多个串行数据拍"/>
          <p:cNvSpPr txBox="1"/>
          <p:nvPr/>
        </p:nvSpPr>
        <p:spPr>
          <a:xfrm>
            <a:off x="213360" y="6743029"/>
            <a:ext cx="3122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spi_host_core：一个命令可以包含多个串行数据拍</a:t>
            </a:r>
          </a:p>
        </p:txBody>
      </p:sp>
      <p:sp>
        <p:nvSpPr>
          <p:cNvPr id="114" name="text-114: Regbus 32"/>
          <p:cNvSpPr txBox="1"/>
          <p:nvPr/>
        </p:nvSpPr>
        <p:spPr>
          <a:xfrm>
            <a:off x="213360" y="6908383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5" name="text-115: 移位 / 采样及 ready 反馈"/>
          <p:cNvSpPr txBox="1"/>
          <p:nvPr/>
        </p:nvSpPr>
        <p:spPr>
          <a:xfrm>
            <a:off x="213360" y="7073737"/>
            <a:ext cx="17788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移位 / 采样及 ready 反馈</a:t>
            </a:r>
          </a:p>
        </p:txBody>
      </p:sp>
      <p:sp>
        <p:nvSpPr>
          <p:cNvPr id="116" name="text-116: IRQ：ERROR / SPI_EVENT；片选数量、FIFO 深度和字节顺序以"/>
          <p:cNvSpPr txBox="1"/>
          <p:nvPr/>
        </p:nvSpPr>
        <p:spPr>
          <a:xfrm>
            <a:off x="213360" y="7239091"/>
            <a:ext cx="48152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IRQ：ERROR / SPI_EVENT；片选数量、FIFO 深度和字节顺序以当前参数为准。</a:t>
            </a:r>
          </a:p>
        </p:txBody>
      </p:sp>
      <p:sp>
        <p:nvSpPr>
          <p:cNvPr id="117" name="text-117: SCK / CS / SD OE → 引脚"/>
          <p:cNvSpPr txBox="1"/>
          <p:nvPr/>
        </p:nvSpPr>
        <p:spPr>
          <a:xfrm>
            <a:off x="213360" y="7404445"/>
            <a:ext cx="192610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SCK / CS / SD OE → 引脚</a:t>
            </a:r>
          </a:p>
        </p:txBody>
      </p:sp>
      <p:sp>
        <p:nvSpPr>
          <p:cNvPr id="118" name="text-118: 配对端口表示图示连接；已有/规划状态见模块和连接表。方向与 A 版一致。虚线模块"/>
          <p:cNvSpPr txBox="1"/>
          <p:nvPr/>
        </p:nvSpPr>
        <p:spPr>
          <a:xfrm>
            <a:off x="213360" y="7953421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4  GPIO：输入滤波、边沿检测与独立的输出值 / 输出使能"/>
          <p:cNvSpPr txBox="1"/>
          <p:nvPr/>
        </p:nvSpPr>
        <p:spPr>
          <a:xfrm>
            <a:off x="213360" y="954466"/>
            <a:ext cx="497555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04  GPIO：输入滤波、边沿检测与独立的输出值 / 输出使能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229487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666875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1694825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GPIO 输入 32 路"/>
          <p:cNvSpPr txBox="1"/>
          <p:nvPr/>
        </p:nvSpPr>
        <p:spPr>
          <a:xfrm>
            <a:off x="1503521" y="1864233"/>
            <a:ext cx="13134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输入 32 路</a:t>
            </a:r>
          </a:p>
        </p:txBody>
      </p:sp>
      <p:sp>
        <p:nvSpPr>
          <p:cNvPr id="7" name="text-007: gpio_i[31:0]"/>
          <p:cNvSpPr txBox="1"/>
          <p:nvPr/>
        </p:nvSpPr>
        <p:spPr>
          <a:xfrm>
            <a:off x="1620469" y="2046442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gpio_i[31:0]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34429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47764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→ N02"/>
          <p:cNvSpPr txBox="1"/>
          <p:nvPr/>
        </p:nvSpPr>
        <p:spPr>
          <a:xfrm>
            <a:off x="2957170" y="238781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2888361"/>
            <a:ext cx="3893820" cy="136550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N04  状态/存储"/>
          <p:cNvSpPr txBox="1"/>
          <p:nvPr/>
        </p:nvSpPr>
        <p:spPr>
          <a:xfrm>
            <a:off x="309372" y="2916311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3" name="text-013: 3  prim_intr_hw"/>
          <p:cNvSpPr txBox="1"/>
          <p:nvPr/>
        </p:nvSpPr>
        <p:spPr>
          <a:xfrm>
            <a:off x="1443514" y="3085719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prim_intr_hw</a:t>
            </a:r>
          </a:p>
        </p:txBody>
      </p:sp>
      <p:sp>
        <p:nvSpPr>
          <p:cNvPr id="14" name="text-014: 事件状态 + enable/test"/>
          <p:cNvSpPr txBox="1"/>
          <p:nvPr/>
        </p:nvSpPr>
        <p:spPr>
          <a:xfrm>
            <a:off x="1295362" y="3267928"/>
            <a:ext cx="17298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事件状态 + enable/test</a:t>
            </a:r>
          </a:p>
        </p:txBody>
      </p:sp>
      <p:sp>
        <p:nvSpPr>
          <p:cNvPr id="15" name="text-015: 32 路 intr_gpio_o"/>
          <p:cNvSpPr txBox="1"/>
          <p:nvPr/>
        </p:nvSpPr>
        <p:spPr>
          <a:xfrm>
            <a:off x="1439513" y="3438616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 路 intr_gpio_o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373646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38698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← N03"/>
          <p:cNvSpPr txBox="1"/>
          <p:nvPr/>
        </p:nvSpPr>
        <p:spPr>
          <a:xfrm>
            <a:off x="474726" y="37799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19" name="E10-target"/>
          <p:cNvSpPr/>
          <p:nvPr/>
        </p:nvSpPr>
        <p:spPr>
          <a:xfrm>
            <a:off x="133350" y="40565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10 ↔ N05"/>
          <p:cNvSpPr txBox="1"/>
          <p:nvPr/>
        </p:nvSpPr>
        <p:spPr>
          <a:xfrm>
            <a:off x="474726" y="39666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N05</a:t>
            </a:r>
          </a:p>
        </p:txBody>
      </p:sp>
      <p:sp>
        <p:nvSpPr>
          <p:cNvPr id="21" name="E12-source"/>
          <p:cNvSpPr/>
          <p:nvPr/>
        </p:nvSpPr>
        <p:spPr>
          <a:xfrm>
            <a:off x="3915156" y="38698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12 → P03"/>
          <p:cNvSpPr txBox="1"/>
          <p:nvPr/>
        </p:nvSpPr>
        <p:spPr>
          <a:xfrm>
            <a:off x="2957170" y="37799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→ P03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4467225"/>
            <a:ext cx="3893820" cy="837438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N07  状态/存储"/>
          <p:cNvSpPr txBox="1"/>
          <p:nvPr/>
        </p:nvSpPr>
        <p:spPr>
          <a:xfrm>
            <a:off x="309372" y="4495175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25" name="text-025: 6  cio_gpio_en_q[31:0]"/>
          <p:cNvSpPr txBox="1"/>
          <p:nvPr/>
        </p:nvSpPr>
        <p:spPr>
          <a:xfrm>
            <a:off x="1140142" y="4664583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cio_gpio_en_q[31:0]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497395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05-target"/>
          <p:cNvSpPr/>
          <p:nvPr/>
        </p:nvSpPr>
        <p:spPr>
          <a:xfrm>
            <a:off x="133350" y="510730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5 ↔ N05"/>
          <p:cNvSpPr txBox="1"/>
          <p:nvPr/>
        </p:nvSpPr>
        <p:spPr>
          <a:xfrm>
            <a:off x="474726" y="501748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29" name="E07-source"/>
          <p:cNvSpPr/>
          <p:nvPr/>
        </p:nvSpPr>
        <p:spPr>
          <a:xfrm>
            <a:off x="3915156" y="510730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7 → P02"/>
          <p:cNvSpPr txBox="1"/>
          <p:nvPr/>
        </p:nvSpPr>
        <p:spPr>
          <a:xfrm>
            <a:off x="2957170" y="501748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P02</a:t>
            </a:r>
          </a:p>
        </p:txBody>
      </p:sp>
      <p:sp>
        <p:nvSpPr>
          <p:cNvPr id="31" name="rect-031"/>
          <p:cNvSpPr/>
          <p:nvPr/>
        </p:nvSpPr>
        <p:spPr>
          <a:xfrm>
            <a:off x="213360" y="5518023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P02  外部/组边界"/>
          <p:cNvSpPr txBox="1"/>
          <p:nvPr/>
        </p:nvSpPr>
        <p:spPr>
          <a:xfrm>
            <a:off x="309372" y="5545973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33" name="text-033: GPIO PAD 输出使能"/>
          <p:cNvSpPr txBox="1"/>
          <p:nvPr/>
        </p:nvSpPr>
        <p:spPr>
          <a:xfrm>
            <a:off x="1436846" y="5715381"/>
            <a:ext cx="14468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PAD 输出使能</a:t>
            </a:r>
          </a:p>
        </p:txBody>
      </p:sp>
      <p:sp>
        <p:nvSpPr>
          <p:cNvPr id="34" name="rect-034"/>
          <p:cNvSpPr/>
          <p:nvPr/>
        </p:nvSpPr>
        <p:spPr>
          <a:xfrm>
            <a:off x="293370" y="602475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7-target"/>
          <p:cNvSpPr/>
          <p:nvPr/>
        </p:nvSpPr>
        <p:spPr>
          <a:xfrm>
            <a:off x="133350" y="61581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7 ← N07"/>
          <p:cNvSpPr txBox="1"/>
          <p:nvPr/>
        </p:nvSpPr>
        <p:spPr>
          <a:xfrm>
            <a:off x="474726" y="60682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N07</a:t>
            </a:r>
          </a:p>
        </p:txBody>
      </p:sp>
      <p:sp>
        <p:nvSpPr>
          <p:cNvPr id="37" name="rect-037"/>
          <p:cNvSpPr/>
          <p:nvPr/>
        </p:nvSpPr>
        <p:spPr>
          <a:xfrm>
            <a:off x="4453890" y="1666875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N02  内部工作逻辑"/>
          <p:cNvSpPr txBox="1"/>
          <p:nvPr/>
        </p:nvSpPr>
        <p:spPr>
          <a:xfrm>
            <a:off x="4549902" y="169482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9" name="text-039: 1  prim_filter_ctr × 32"/>
          <p:cNvSpPr txBox="1"/>
          <p:nvPr/>
        </p:nvSpPr>
        <p:spPr>
          <a:xfrm>
            <a:off x="5337334" y="1864233"/>
            <a:ext cx="21269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prim_filter_ctr × 32</a:t>
            </a:r>
          </a:p>
        </p:txBody>
      </p:sp>
      <p:sp>
        <p:nvSpPr>
          <p:cNvPr id="40" name="text-040: 可选输入同步"/>
          <p:cNvSpPr txBox="1"/>
          <p:nvPr/>
        </p:nvSpPr>
        <p:spPr>
          <a:xfrm>
            <a:off x="5971413" y="2046442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可选输入同步</a:t>
            </a:r>
          </a:p>
        </p:txBody>
      </p:sp>
      <p:sp>
        <p:nvSpPr>
          <p:cNvPr id="41" name="text-041: 可选计数滤波"/>
          <p:cNvSpPr txBox="1"/>
          <p:nvPr/>
        </p:nvSpPr>
        <p:spPr>
          <a:xfrm>
            <a:off x="5971413" y="2217130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可选计数滤波</a:t>
            </a:r>
          </a:p>
        </p:txBody>
      </p:sp>
      <p:sp>
        <p:nvSpPr>
          <p:cNvPr id="42" name="text-042: DATA_IN → 软件"/>
          <p:cNvSpPr txBox="1"/>
          <p:nvPr/>
        </p:nvSpPr>
        <p:spPr>
          <a:xfrm>
            <a:off x="5796591" y="2387818"/>
            <a:ext cx="1208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DATA_IN → 软件</a:t>
            </a:r>
          </a:p>
        </p:txBody>
      </p:sp>
      <p:sp>
        <p:nvSpPr>
          <p:cNvPr id="43" name="rect-043"/>
          <p:cNvSpPr/>
          <p:nvPr/>
        </p:nvSpPr>
        <p:spPr>
          <a:xfrm>
            <a:off x="4533900" y="268566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1-target"/>
          <p:cNvSpPr/>
          <p:nvPr/>
        </p:nvSpPr>
        <p:spPr>
          <a:xfrm>
            <a:off x="4373880" y="28190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 ← N01"/>
          <p:cNvSpPr txBox="1"/>
          <p:nvPr/>
        </p:nvSpPr>
        <p:spPr>
          <a:xfrm>
            <a:off x="4715256" y="27291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46" name="E08-target"/>
          <p:cNvSpPr/>
          <p:nvPr/>
        </p:nvSpPr>
        <p:spPr>
          <a:xfrm>
            <a:off x="4373880" y="300570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8 ← N05"/>
          <p:cNvSpPr txBox="1"/>
          <p:nvPr/>
        </p:nvSpPr>
        <p:spPr>
          <a:xfrm>
            <a:off x="4715256" y="291588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N05</a:t>
            </a:r>
          </a:p>
        </p:txBody>
      </p:sp>
      <p:sp>
        <p:nvSpPr>
          <p:cNvPr id="48" name="E02-source"/>
          <p:cNvSpPr/>
          <p:nvPr/>
        </p:nvSpPr>
        <p:spPr>
          <a:xfrm>
            <a:off x="8155686" y="28190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2 → N03"/>
          <p:cNvSpPr txBox="1"/>
          <p:nvPr/>
        </p:nvSpPr>
        <p:spPr>
          <a:xfrm>
            <a:off x="7197700" y="27291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50" name="E11-source"/>
          <p:cNvSpPr/>
          <p:nvPr/>
        </p:nvSpPr>
        <p:spPr>
          <a:xfrm>
            <a:off x="8155686" y="300570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11 → N05"/>
          <p:cNvSpPr txBox="1"/>
          <p:nvPr/>
        </p:nvSpPr>
        <p:spPr>
          <a:xfrm>
            <a:off x="7197700" y="291588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→ N05</a:t>
            </a:r>
          </a:p>
        </p:txBody>
      </p:sp>
      <p:sp>
        <p:nvSpPr>
          <p:cNvPr id="52" name="rect-052"/>
          <p:cNvSpPr/>
          <p:nvPr/>
        </p:nvSpPr>
        <p:spPr>
          <a:xfrm>
            <a:off x="4453890" y="3416427"/>
            <a:ext cx="3893820" cy="837438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N06  状态/存储"/>
          <p:cNvSpPr txBox="1"/>
          <p:nvPr/>
        </p:nvSpPr>
        <p:spPr>
          <a:xfrm>
            <a:off x="4549902" y="344437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54" name="text-054: 5  cio_gpio_q[31:0]"/>
          <p:cNvSpPr txBox="1"/>
          <p:nvPr/>
        </p:nvSpPr>
        <p:spPr>
          <a:xfrm>
            <a:off x="5510689" y="3613785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cio_gpio_q[31:0]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392315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4-target"/>
          <p:cNvSpPr/>
          <p:nvPr/>
        </p:nvSpPr>
        <p:spPr>
          <a:xfrm>
            <a:off x="4373880" y="40565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4 ↔ N05"/>
          <p:cNvSpPr txBox="1"/>
          <p:nvPr/>
        </p:nvSpPr>
        <p:spPr>
          <a:xfrm>
            <a:off x="4715256" y="39666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58" name="E06-source"/>
          <p:cNvSpPr/>
          <p:nvPr/>
        </p:nvSpPr>
        <p:spPr>
          <a:xfrm>
            <a:off x="8155686" y="40565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6 → P01"/>
          <p:cNvSpPr txBox="1"/>
          <p:nvPr/>
        </p:nvSpPr>
        <p:spPr>
          <a:xfrm>
            <a:off x="7197700" y="39666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P01</a:t>
            </a:r>
          </a:p>
        </p:txBody>
      </p:sp>
      <p:sp>
        <p:nvSpPr>
          <p:cNvPr id="60" name="rect-060"/>
          <p:cNvSpPr/>
          <p:nvPr/>
        </p:nvSpPr>
        <p:spPr>
          <a:xfrm>
            <a:off x="4453890" y="4467225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P01  外部/组边界"/>
          <p:cNvSpPr txBox="1"/>
          <p:nvPr/>
        </p:nvSpPr>
        <p:spPr>
          <a:xfrm>
            <a:off x="4549902" y="4495175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62" name="text-062: GPIO PAD 输出值"/>
          <p:cNvSpPr txBox="1"/>
          <p:nvPr/>
        </p:nvSpPr>
        <p:spPr>
          <a:xfrm>
            <a:off x="5744051" y="4664583"/>
            <a:ext cx="13134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PAD 输出值</a:t>
            </a:r>
          </a:p>
        </p:txBody>
      </p:sp>
      <p:sp>
        <p:nvSpPr>
          <p:cNvPr id="63" name="rect-063"/>
          <p:cNvSpPr/>
          <p:nvPr/>
        </p:nvSpPr>
        <p:spPr>
          <a:xfrm>
            <a:off x="4533900" y="497395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06-target"/>
          <p:cNvSpPr/>
          <p:nvPr/>
        </p:nvSpPr>
        <p:spPr>
          <a:xfrm>
            <a:off x="4373880" y="510730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6 ← N06"/>
          <p:cNvSpPr txBox="1"/>
          <p:nvPr/>
        </p:nvSpPr>
        <p:spPr>
          <a:xfrm>
            <a:off x="4715256" y="501748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N06</a:t>
            </a:r>
          </a:p>
        </p:txBody>
      </p:sp>
      <p:sp>
        <p:nvSpPr>
          <p:cNvPr id="66" name="rect-066"/>
          <p:cNvSpPr/>
          <p:nvPr/>
        </p:nvSpPr>
        <p:spPr>
          <a:xfrm>
            <a:off x="4453890" y="5518023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P03  外部/组边界"/>
          <p:cNvSpPr txBox="1"/>
          <p:nvPr/>
        </p:nvSpPr>
        <p:spPr>
          <a:xfrm>
            <a:off x="4549902" y="5545973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68" name="text-068: SoC GPIO IRQ"/>
          <p:cNvSpPr txBox="1"/>
          <p:nvPr/>
        </p:nvSpPr>
        <p:spPr>
          <a:xfrm>
            <a:off x="5814060" y="5715381"/>
            <a:ext cx="11734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GPIO IRQ</a:t>
            </a:r>
          </a:p>
        </p:txBody>
      </p:sp>
      <p:sp>
        <p:nvSpPr>
          <p:cNvPr id="69" name="rect-069"/>
          <p:cNvSpPr/>
          <p:nvPr/>
        </p:nvSpPr>
        <p:spPr>
          <a:xfrm>
            <a:off x="4533900" y="602475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12-target"/>
          <p:cNvSpPr/>
          <p:nvPr/>
        </p:nvSpPr>
        <p:spPr>
          <a:xfrm>
            <a:off x="4373880" y="61581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12 ← N04"/>
          <p:cNvSpPr txBox="1"/>
          <p:nvPr/>
        </p:nvSpPr>
        <p:spPr>
          <a:xfrm>
            <a:off x="4715256" y="60682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← N04</a:t>
            </a:r>
          </a:p>
        </p:txBody>
      </p:sp>
      <p:sp>
        <p:nvSpPr>
          <p:cNvPr id="72" name="rect-072"/>
          <p:cNvSpPr/>
          <p:nvPr/>
        </p:nvSpPr>
        <p:spPr>
          <a:xfrm>
            <a:off x="8694420" y="1666875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N03  内部工作逻辑"/>
          <p:cNvSpPr txBox="1"/>
          <p:nvPr/>
        </p:nvSpPr>
        <p:spPr>
          <a:xfrm>
            <a:off x="8790432" y="169482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74" name="text-074: 2  data_in_q + 比较"/>
          <p:cNvSpPr txBox="1"/>
          <p:nvPr/>
        </p:nvSpPr>
        <p:spPr>
          <a:xfrm>
            <a:off x="9791224" y="1864233"/>
            <a:ext cx="17002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data_in_q + 比较</a:t>
            </a:r>
          </a:p>
        </p:txBody>
      </p:sp>
      <p:sp>
        <p:nvSpPr>
          <p:cNvPr id="75" name="text-075: 上升沿 / 下降沿"/>
          <p:cNvSpPr txBox="1"/>
          <p:nvPr/>
        </p:nvSpPr>
        <p:spPr>
          <a:xfrm>
            <a:off x="10092328" y="2046442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上升沿 / 下降沿</a:t>
            </a:r>
          </a:p>
        </p:txBody>
      </p:sp>
      <p:sp>
        <p:nvSpPr>
          <p:cNvPr id="76" name="text-076: 高电平 / 低电平"/>
          <p:cNvSpPr txBox="1"/>
          <p:nvPr/>
        </p:nvSpPr>
        <p:spPr>
          <a:xfrm>
            <a:off x="10092328" y="2217130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高电平 / 低电平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2514981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2-target"/>
          <p:cNvSpPr/>
          <p:nvPr/>
        </p:nvSpPr>
        <p:spPr>
          <a:xfrm>
            <a:off x="8614410" y="26483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2 ← N02"/>
          <p:cNvSpPr txBox="1"/>
          <p:nvPr/>
        </p:nvSpPr>
        <p:spPr>
          <a:xfrm>
            <a:off x="8955786" y="25585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0" name="E09-target"/>
          <p:cNvSpPr/>
          <p:nvPr/>
        </p:nvSpPr>
        <p:spPr>
          <a:xfrm>
            <a:off x="8614410" y="283502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9 ← N05"/>
          <p:cNvSpPr txBox="1"/>
          <p:nvPr/>
        </p:nvSpPr>
        <p:spPr>
          <a:xfrm>
            <a:off x="8955786" y="274519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N05</a:t>
            </a:r>
          </a:p>
        </p:txBody>
      </p:sp>
      <p:sp>
        <p:nvSpPr>
          <p:cNvPr id="82" name="E03-source"/>
          <p:cNvSpPr/>
          <p:nvPr/>
        </p:nvSpPr>
        <p:spPr>
          <a:xfrm>
            <a:off x="12396216" y="26483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3 → N04"/>
          <p:cNvSpPr txBox="1"/>
          <p:nvPr/>
        </p:nvSpPr>
        <p:spPr>
          <a:xfrm>
            <a:off x="11438230" y="25585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84" name="rect-084"/>
          <p:cNvSpPr/>
          <p:nvPr/>
        </p:nvSpPr>
        <p:spPr>
          <a:xfrm>
            <a:off x="8694420" y="3245739"/>
            <a:ext cx="3893820" cy="226695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N05  接口与配置"/>
          <p:cNvSpPr txBox="1"/>
          <p:nvPr/>
        </p:nvSpPr>
        <p:spPr>
          <a:xfrm>
            <a:off x="8790432" y="3273689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86" name="text-086: 4  gpio_reg_top"/>
          <p:cNvSpPr txBox="1"/>
          <p:nvPr/>
        </p:nvSpPr>
        <p:spPr>
          <a:xfrm>
            <a:off x="9924574" y="3443097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gpio_reg_top</a:t>
            </a:r>
          </a:p>
        </p:txBody>
      </p:sp>
      <p:sp>
        <p:nvSpPr>
          <p:cNvPr id="87" name="text-087: DIRECT_OUT / DIRECT_OE"/>
          <p:cNvSpPr txBox="1"/>
          <p:nvPr/>
        </p:nvSpPr>
        <p:spPr>
          <a:xfrm>
            <a:off x="9702813" y="3625306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DIRECT_OUT / DIRECT_OE</a:t>
            </a:r>
          </a:p>
        </p:txBody>
      </p:sp>
      <p:sp>
        <p:nvSpPr>
          <p:cNvPr id="88" name="text-088: MASKED_OUT / MASKED_OE"/>
          <p:cNvSpPr txBox="1"/>
          <p:nvPr/>
        </p:nvSpPr>
        <p:spPr>
          <a:xfrm>
            <a:off x="9702813" y="3795994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MASKED_OUT / MASKED_OE</a:t>
            </a:r>
          </a:p>
        </p:txBody>
      </p:sp>
      <p:sp>
        <p:nvSpPr>
          <p:cNvPr id="89" name="text-089: INTR_CTRL / STATE"/>
          <p:cNvSpPr txBox="1"/>
          <p:nvPr/>
        </p:nvSpPr>
        <p:spPr>
          <a:xfrm>
            <a:off x="9902171" y="3966682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INTR_CTRL / STATE</a:t>
            </a:r>
          </a:p>
        </p:txBody>
      </p:sp>
      <p:sp>
        <p:nvSpPr>
          <p:cNvPr id="90" name="text-090: INPUT_FILTER / DATA_IN"/>
          <p:cNvSpPr txBox="1"/>
          <p:nvPr/>
        </p:nvSpPr>
        <p:spPr>
          <a:xfrm>
            <a:off x="9702813" y="4137370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INPUT_FILTER / DATA_IN</a:t>
            </a:r>
          </a:p>
        </p:txBody>
      </p:sp>
      <p:sp>
        <p:nvSpPr>
          <p:cNvPr id="91" name="rect-091"/>
          <p:cNvSpPr/>
          <p:nvPr/>
        </p:nvSpPr>
        <p:spPr>
          <a:xfrm>
            <a:off x="8774430" y="4435221"/>
            <a:ext cx="3733800" cy="100279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11-target"/>
          <p:cNvSpPr/>
          <p:nvPr/>
        </p:nvSpPr>
        <p:spPr>
          <a:xfrm>
            <a:off x="8614410" y="45685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11 ← N02"/>
          <p:cNvSpPr txBox="1"/>
          <p:nvPr/>
        </p:nvSpPr>
        <p:spPr>
          <a:xfrm>
            <a:off x="8955786" y="44787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← N02</a:t>
            </a:r>
          </a:p>
        </p:txBody>
      </p:sp>
      <p:sp>
        <p:nvSpPr>
          <p:cNvPr id="94" name="E04-source"/>
          <p:cNvSpPr/>
          <p:nvPr/>
        </p:nvSpPr>
        <p:spPr>
          <a:xfrm>
            <a:off x="12396216" y="45685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E04 ↔ N06"/>
          <p:cNvSpPr txBox="1"/>
          <p:nvPr/>
        </p:nvSpPr>
        <p:spPr>
          <a:xfrm>
            <a:off x="11438230" y="44787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N06</a:t>
            </a:r>
          </a:p>
        </p:txBody>
      </p:sp>
      <p:sp>
        <p:nvSpPr>
          <p:cNvPr id="96" name="E05-source"/>
          <p:cNvSpPr/>
          <p:nvPr/>
        </p:nvSpPr>
        <p:spPr>
          <a:xfrm>
            <a:off x="12396216" y="47552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E05 ↔ N07"/>
          <p:cNvSpPr txBox="1"/>
          <p:nvPr/>
        </p:nvSpPr>
        <p:spPr>
          <a:xfrm>
            <a:off x="11438230" y="46654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N07</a:t>
            </a:r>
          </a:p>
        </p:txBody>
      </p:sp>
      <p:sp>
        <p:nvSpPr>
          <p:cNvPr id="98" name="E08-source"/>
          <p:cNvSpPr/>
          <p:nvPr/>
        </p:nvSpPr>
        <p:spPr>
          <a:xfrm>
            <a:off x="12396216" y="494195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9: E08 → N02"/>
          <p:cNvSpPr txBox="1"/>
          <p:nvPr/>
        </p:nvSpPr>
        <p:spPr>
          <a:xfrm>
            <a:off x="11438230" y="485212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N02</a:t>
            </a:r>
          </a:p>
        </p:txBody>
      </p:sp>
      <p:sp>
        <p:nvSpPr>
          <p:cNvPr id="100" name="E09-source"/>
          <p:cNvSpPr/>
          <p:nvPr/>
        </p:nvSpPr>
        <p:spPr>
          <a:xfrm>
            <a:off x="12396216" y="51286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1: E09 → N03"/>
          <p:cNvSpPr txBox="1"/>
          <p:nvPr/>
        </p:nvSpPr>
        <p:spPr>
          <a:xfrm>
            <a:off x="11438230" y="50388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102" name="E10-source"/>
          <p:cNvSpPr/>
          <p:nvPr/>
        </p:nvSpPr>
        <p:spPr>
          <a:xfrm>
            <a:off x="12396216" y="53153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03: E10 ↔ N04"/>
          <p:cNvSpPr txBox="1"/>
          <p:nvPr/>
        </p:nvSpPr>
        <p:spPr>
          <a:xfrm>
            <a:off x="11438230" y="52255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N04</a:t>
            </a:r>
          </a:p>
        </p:txBody>
      </p:sp>
      <p:sp>
        <p:nvSpPr>
          <p:cNvPr id="104" name="text-104: Regbus 请求 / 响应"/>
          <p:cNvSpPr txBox="1"/>
          <p:nvPr/>
        </p:nvSpPr>
        <p:spPr>
          <a:xfrm>
            <a:off x="213360" y="6489664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105" name="text-105: 输出值 → PAD"/>
          <p:cNvSpPr txBox="1"/>
          <p:nvPr/>
        </p:nvSpPr>
        <p:spPr>
          <a:xfrm>
            <a:off x="213360" y="6655018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输出值 → PAD</a:t>
            </a:r>
          </a:p>
        </p:txBody>
      </p:sp>
      <p:sp>
        <p:nvSpPr>
          <p:cNvPr id="106" name="text-106: 输出使能 → PAD"/>
          <p:cNvSpPr txBox="1"/>
          <p:nvPr/>
        </p:nvSpPr>
        <p:spPr>
          <a:xfrm>
            <a:off x="213360" y="6820372"/>
            <a:ext cx="113480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输出使能 → PAD</a:t>
            </a:r>
          </a:p>
        </p:txBody>
      </p:sp>
      <p:sp>
        <p:nvSpPr>
          <p:cNvPr id="107" name="text-107: 中断使能 / 清除 / 测试"/>
          <p:cNvSpPr txBox="1"/>
          <p:nvPr/>
        </p:nvSpPr>
        <p:spPr>
          <a:xfrm>
            <a:off x="213360" y="6985726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中断使能 / 清除 / 测试</a:t>
            </a:r>
          </a:p>
        </p:txBody>
      </p:sp>
      <p:sp>
        <p:nvSpPr>
          <p:cNvPr id="108" name="text-108: MASKED 写：掩码选中哪些位，只更新这些位；输入、输出值和输出使能是三条不同"/>
          <p:cNvSpPr txBox="1"/>
          <p:nvPr/>
        </p:nvSpPr>
        <p:spPr>
          <a:xfrm>
            <a:off x="213360" y="7151080"/>
            <a:ext cx="509743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MASKED 写：掩码选中哪些位，只更新这些位；输入、输出值和输出使能是三条不同路径。</a:t>
            </a:r>
          </a:p>
        </p:txBody>
      </p:sp>
      <p:sp>
        <p:nvSpPr>
          <p:cNvPr id="109" name="text-109: intr_gpio_o → SoC"/>
          <p:cNvSpPr txBox="1"/>
          <p:nvPr/>
        </p:nvSpPr>
        <p:spPr>
          <a:xfrm>
            <a:off x="213360" y="7316434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intr_gpio_o → SoC</a:t>
            </a:r>
          </a:p>
        </p:txBody>
      </p:sp>
      <p:sp>
        <p:nvSpPr>
          <p:cNvPr id="110" name="text-110: 配对端口表示图示连接；已有/规划状态见模块和连接表。方向与 A 版一致。虚线模块"/>
          <p:cNvSpPr txBox="1"/>
          <p:nvPr/>
        </p:nvSpPr>
        <p:spPr>
          <a:xfrm>
            <a:off x="213360" y="7865410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5  PLIC：源侧 pending / active 与目标侧优先级选择"/>
          <p:cNvSpPr txBox="1"/>
          <p:nvPr/>
        </p:nvSpPr>
        <p:spPr>
          <a:xfrm>
            <a:off x="213360" y="1834576"/>
            <a:ext cx="51035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05  PLIC：源侧 pending / active 与目标侧优先级选择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2109597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546985"/>
            <a:ext cx="3893820" cy="1178814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2574935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外设 IRQ 电平"/>
          <p:cNvSpPr txBox="1"/>
          <p:nvPr/>
        </p:nvSpPr>
        <p:spPr>
          <a:xfrm>
            <a:off x="1610201" y="2744343"/>
            <a:ext cx="11001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外设 IRQ 电平</a:t>
            </a:r>
          </a:p>
        </p:txBody>
      </p:sp>
      <p:sp>
        <p:nvSpPr>
          <p:cNvPr id="7" name="text-007: IRQ Router 或旁路"/>
          <p:cNvSpPr txBox="1"/>
          <p:nvPr/>
        </p:nvSpPr>
        <p:spPr>
          <a:xfrm>
            <a:off x="1476318" y="2926552"/>
            <a:ext cx="1367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或旁路</a:t>
            </a:r>
          </a:p>
        </p:txBody>
      </p:sp>
      <p:sp>
        <p:nvSpPr>
          <p:cNvPr id="8" name="text-008: PLIC 目标分支"/>
          <p:cNvSpPr txBox="1"/>
          <p:nvPr/>
        </p:nvSpPr>
        <p:spPr>
          <a:xfrm>
            <a:off x="1654207" y="3097240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 目标分支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339509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source"/>
          <p:cNvSpPr/>
          <p:nvPr/>
        </p:nvSpPr>
        <p:spPr>
          <a:xfrm>
            <a:off x="3915156" y="35284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→ N02"/>
          <p:cNvSpPr txBox="1"/>
          <p:nvPr/>
        </p:nvSpPr>
        <p:spPr>
          <a:xfrm>
            <a:off x="2957170" y="34386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2" name="rect-012"/>
          <p:cNvSpPr/>
          <p:nvPr/>
        </p:nvSpPr>
        <p:spPr>
          <a:xfrm>
            <a:off x="213360" y="3939159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N04  内部工作逻辑"/>
          <p:cNvSpPr txBox="1"/>
          <p:nvPr/>
        </p:nvSpPr>
        <p:spPr>
          <a:xfrm>
            <a:off x="309372" y="396710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14" name="text-014: 3  rv_plic_target × 目标"/>
          <p:cNvSpPr txBox="1"/>
          <p:nvPr/>
        </p:nvSpPr>
        <p:spPr>
          <a:xfrm>
            <a:off x="1093470" y="4136517"/>
            <a:ext cx="21336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rv_plic_target × 目标</a:t>
            </a:r>
          </a:p>
        </p:txBody>
      </p:sp>
      <p:sp>
        <p:nvSpPr>
          <p:cNvPr id="15" name="text-015: pending &amp; enable"/>
          <p:cNvSpPr txBox="1"/>
          <p:nvPr/>
        </p:nvSpPr>
        <p:spPr>
          <a:xfrm>
            <a:off x="1460983" y="4318726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&amp; enable</a:t>
            </a:r>
          </a:p>
        </p:txBody>
      </p:sp>
      <p:sp>
        <p:nvSpPr>
          <p:cNvPr id="16" name="text-016: priority &gt; threshold"/>
          <p:cNvSpPr txBox="1"/>
          <p:nvPr/>
        </p:nvSpPr>
        <p:spPr>
          <a:xfrm>
            <a:off x="1301496" y="4489414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priority &gt; threshold</a:t>
            </a:r>
          </a:p>
        </p:txBody>
      </p:sp>
      <p:sp>
        <p:nvSpPr>
          <p:cNvPr id="17" name="text-017: 选择获胜源 / 产生 IRQ"/>
          <p:cNvSpPr txBox="1"/>
          <p:nvPr/>
        </p:nvSpPr>
        <p:spPr>
          <a:xfrm>
            <a:off x="1390440" y="4660102"/>
            <a:ext cx="153965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选择获胜源 / 产生 IRQ</a:t>
            </a:r>
          </a:p>
        </p:txBody>
      </p:sp>
      <p:sp>
        <p:nvSpPr>
          <p:cNvPr id="18" name="rect-018"/>
          <p:cNvSpPr/>
          <p:nvPr/>
        </p:nvSpPr>
        <p:spPr>
          <a:xfrm>
            <a:off x="293370" y="495795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3-target"/>
          <p:cNvSpPr/>
          <p:nvPr/>
        </p:nvSpPr>
        <p:spPr>
          <a:xfrm>
            <a:off x="133350" y="50913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3 ← N03"/>
          <p:cNvSpPr txBox="1"/>
          <p:nvPr/>
        </p:nvSpPr>
        <p:spPr>
          <a:xfrm>
            <a:off x="474726" y="50014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1" name="E07-target"/>
          <p:cNvSpPr/>
          <p:nvPr/>
        </p:nvSpPr>
        <p:spPr>
          <a:xfrm>
            <a:off x="133350" y="52779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7 ← N05"/>
          <p:cNvSpPr txBox="1"/>
          <p:nvPr/>
        </p:nvSpPr>
        <p:spPr>
          <a:xfrm>
            <a:off x="474726" y="51881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N05</a:t>
            </a:r>
          </a:p>
        </p:txBody>
      </p:sp>
      <p:sp>
        <p:nvSpPr>
          <p:cNvPr id="23" name="E04-source"/>
          <p:cNvSpPr/>
          <p:nvPr/>
        </p:nvSpPr>
        <p:spPr>
          <a:xfrm>
            <a:off x="3915156" y="50913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4 → P01"/>
          <p:cNvSpPr txBox="1"/>
          <p:nvPr/>
        </p:nvSpPr>
        <p:spPr>
          <a:xfrm>
            <a:off x="2957170" y="50014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P01</a:t>
            </a:r>
          </a:p>
        </p:txBody>
      </p:sp>
      <p:sp>
        <p:nvSpPr>
          <p:cNvPr id="25" name="E06-source"/>
          <p:cNvSpPr/>
          <p:nvPr/>
        </p:nvSpPr>
        <p:spPr>
          <a:xfrm>
            <a:off x="3915156" y="52779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6 → N05"/>
          <p:cNvSpPr txBox="1"/>
          <p:nvPr/>
        </p:nvSpPr>
        <p:spPr>
          <a:xfrm>
            <a:off x="2957170" y="51881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N05</a:t>
            </a:r>
          </a:p>
        </p:txBody>
      </p:sp>
      <p:sp>
        <p:nvSpPr>
          <p:cNvPr id="27" name="rect-027"/>
          <p:cNvSpPr/>
          <p:nvPr/>
        </p:nvSpPr>
        <p:spPr>
          <a:xfrm>
            <a:off x="4453890" y="2546985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2  内部工作逻辑"/>
          <p:cNvSpPr txBox="1"/>
          <p:nvPr/>
        </p:nvSpPr>
        <p:spPr>
          <a:xfrm>
            <a:off x="4549902" y="25749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9" name="text-029: 1  prim_flop_2sync"/>
          <p:cNvSpPr txBox="1"/>
          <p:nvPr/>
        </p:nvSpPr>
        <p:spPr>
          <a:xfrm>
            <a:off x="5554028" y="2744343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prim_flop_2sync</a:t>
            </a:r>
          </a:p>
        </p:txBody>
      </p:sp>
      <p:sp>
        <p:nvSpPr>
          <p:cNvPr id="30" name="text-030: 同步输入"/>
          <p:cNvSpPr txBox="1"/>
          <p:nvPr/>
        </p:nvSpPr>
        <p:spPr>
          <a:xfrm>
            <a:off x="6094095" y="2926552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同步输入</a:t>
            </a:r>
          </a:p>
        </p:txBody>
      </p:sp>
      <p:sp>
        <p:nvSpPr>
          <p:cNvPr id="31" name="text-031: 本集成按电平触发"/>
          <p:cNvSpPr txBox="1"/>
          <p:nvPr/>
        </p:nvSpPr>
        <p:spPr>
          <a:xfrm>
            <a:off x="5848731" y="3097240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本集成按电平触发</a:t>
            </a:r>
          </a:p>
        </p:txBody>
      </p:sp>
      <p:sp>
        <p:nvSpPr>
          <p:cNvPr id="32" name="rect-032"/>
          <p:cNvSpPr/>
          <p:nvPr/>
        </p:nvSpPr>
        <p:spPr>
          <a:xfrm>
            <a:off x="4533900" y="339509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1-target"/>
          <p:cNvSpPr/>
          <p:nvPr/>
        </p:nvSpPr>
        <p:spPr>
          <a:xfrm>
            <a:off x="4373880" y="35284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1 ← N01"/>
          <p:cNvSpPr txBox="1"/>
          <p:nvPr/>
        </p:nvSpPr>
        <p:spPr>
          <a:xfrm>
            <a:off x="4715256" y="34386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5" name="E02-source"/>
          <p:cNvSpPr/>
          <p:nvPr/>
        </p:nvSpPr>
        <p:spPr>
          <a:xfrm>
            <a:off x="8155686" y="35284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2 → N03"/>
          <p:cNvSpPr txBox="1"/>
          <p:nvPr/>
        </p:nvSpPr>
        <p:spPr>
          <a:xfrm>
            <a:off x="7197700" y="34386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7" name="rect-037"/>
          <p:cNvSpPr/>
          <p:nvPr/>
        </p:nvSpPr>
        <p:spPr>
          <a:xfrm>
            <a:off x="4453890" y="3939159"/>
            <a:ext cx="3893820" cy="153619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N05  接口与配置"/>
          <p:cNvSpPr txBox="1"/>
          <p:nvPr/>
        </p:nvSpPr>
        <p:spPr>
          <a:xfrm>
            <a:off x="4549902" y="3967109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39" name="text-039: 4  rv_plic_reg_top"/>
          <p:cNvSpPr txBox="1"/>
          <p:nvPr/>
        </p:nvSpPr>
        <p:spPr>
          <a:xfrm>
            <a:off x="5554028" y="4136517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rv_plic_reg_top</a:t>
            </a:r>
          </a:p>
        </p:txBody>
      </p:sp>
      <p:sp>
        <p:nvSpPr>
          <p:cNvPr id="40" name="text-040: 源 priority；每目标 enable / threshold"/>
          <p:cNvSpPr txBox="1"/>
          <p:nvPr/>
        </p:nvSpPr>
        <p:spPr>
          <a:xfrm>
            <a:off x="4916348" y="4318726"/>
            <a:ext cx="2968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priority；每目标 enable / threshold</a:t>
            </a:r>
          </a:p>
        </p:txBody>
      </p:sp>
      <p:sp>
        <p:nvSpPr>
          <p:cNvPr id="41" name="text-041: 读 claim → 源 ID；写 complete ← 已处理 ID"/>
          <p:cNvSpPr txBox="1"/>
          <p:nvPr/>
        </p:nvSpPr>
        <p:spPr>
          <a:xfrm>
            <a:off x="4790599" y="4489414"/>
            <a:ext cx="3220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 claim → 源 ID；写 complete ← 已处理 ID</a:t>
            </a:r>
          </a:p>
        </p:txBody>
      </p:sp>
      <p:sp>
        <p:nvSpPr>
          <p:cNvPr id="42" name="text-042: 源 ID = 0 保留；设备自身状态需驱动清除"/>
          <p:cNvSpPr txBox="1"/>
          <p:nvPr/>
        </p:nvSpPr>
        <p:spPr>
          <a:xfrm>
            <a:off x="5100371" y="4660102"/>
            <a:ext cx="26008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ID = 0 保留；设备自身状态需驱动清除</a:t>
            </a:r>
          </a:p>
        </p:txBody>
      </p:sp>
      <p:sp>
        <p:nvSpPr>
          <p:cNvPr id="43" name="rect-043"/>
          <p:cNvSpPr/>
          <p:nvPr/>
        </p:nvSpPr>
        <p:spPr>
          <a:xfrm>
            <a:off x="4533900" y="495795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6-target"/>
          <p:cNvSpPr/>
          <p:nvPr/>
        </p:nvSpPr>
        <p:spPr>
          <a:xfrm>
            <a:off x="4373880" y="50913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6 ← N04"/>
          <p:cNvSpPr txBox="1"/>
          <p:nvPr/>
        </p:nvSpPr>
        <p:spPr>
          <a:xfrm>
            <a:off x="4715256" y="50014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N04</a:t>
            </a:r>
          </a:p>
        </p:txBody>
      </p:sp>
      <p:sp>
        <p:nvSpPr>
          <p:cNvPr id="46" name="E08-target"/>
          <p:cNvSpPr/>
          <p:nvPr/>
        </p:nvSpPr>
        <p:spPr>
          <a:xfrm>
            <a:off x="4373880" y="52779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8 ← N03"/>
          <p:cNvSpPr txBox="1"/>
          <p:nvPr/>
        </p:nvSpPr>
        <p:spPr>
          <a:xfrm>
            <a:off x="4715256" y="51881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N03</a:t>
            </a:r>
          </a:p>
        </p:txBody>
      </p:sp>
      <p:sp>
        <p:nvSpPr>
          <p:cNvPr id="48" name="E05-source"/>
          <p:cNvSpPr/>
          <p:nvPr/>
        </p:nvSpPr>
        <p:spPr>
          <a:xfrm>
            <a:off x="8155686" y="50913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5 → N03"/>
          <p:cNvSpPr txBox="1"/>
          <p:nvPr/>
        </p:nvSpPr>
        <p:spPr>
          <a:xfrm>
            <a:off x="7197700" y="50014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N03</a:t>
            </a:r>
          </a:p>
        </p:txBody>
      </p:sp>
      <p:sp>
        <p:nvSpPr>
          <p:cNvPr id="50" name="E07-source"/>
          <p:cNvSpPr/>
          <p:nvPr/>
        </p:nvSpPr>
        <p:spPr>
          <a:xfrm>
            <a:off x="8155686" y="52779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7 → N04"/>
          <p:cNvSpPr txBox="1"/>
          <p:nvPr/>
        </p:nvSpPr>
        <p:spPr>
          <a:xfrm>
            <a:off x="7197700" y="51881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52" name="rect-052"/>
          <p:cNvSpPr/>
          <p:nvPr/>
        </p:nvSpPr>
        <p:spPr>
          <a:xfrm>
            <a:off x="8694420" y="2546985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N03  内部工作逻辑"/>
          <p:cNvSpPr txBox="1"/>
          <p:nvPr/>
        </p:nvSpPr>
        <p:spPr>
          <a:xfrm>
            <a:off x="8790432" y="25749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4" name="text-054: 2  rv_plic_gateway"/>
          <p:cNvSpPr txBox="1"/>
          <p:nvPr/>
        </p:nvSpPr>
        <p:spPr>
          <a:xfrm>
            <a:off x="9794558" y="2744343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rv_plic_gateway</a:t>
            </a:r>
          </a:p>
        </p:txBody>
      </p:sp>
      <p:sp>
        <p:nvSpPr>
          <p:cNvPr id="55" name="text-055: 每源 pending：ip"/>
          <p:cNvSpPr txBox="1"/>
          <p:nvPr/>
        </p:nvSpPr>
        <p:spPr>
          <a:xfrm>
            <a:off x="9997250" y="2926552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pending：ip</a:t>
            </a:r>
          </a:p>
        </p:txBody>
      </p:sp>
      <p:sp>
        <p:nvSpPr>
          <p:cNvPr id="56" name="text-056: 每源 active：ia"/>
          <p:cNvSpPr txBox="1"/>
          <p:nvPr/>
        </p:nvSpPr>
        <p:spPr>
          <a:xfrm>
            <a:off x="10037121" y="3097240"/>
            <a:ext cx="1208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active：ia</a:t>
            </a:r>
          </a:p>
        </p:txBody>
      </p:sp>
      <p:sp>
        <p:nvSpPr>
          <p:cNvPr id="57" name="text-057: claim 清 pending"/>
          <p:cNvSpPr txBox="1"/>
          <p:nvPr/>
        </p:nvSpPr>
        <p:spPr>
          <a:xfrm>
            <a:off x="9960445" y="3267928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claim 清 pending</a:t>
            </a:r>
          </a:p>
        </p:txBody>
      </p:sp>
      <p:sp>
        <p:nvSpPr>
          <p:cNvPr id="58" name="text-058: complete 允许再触发"/>
          <p:cNvSpPr txBox="1"/>
          <p:nvPr/>
        </p:nvSpPr>
        <p:spPr>
          <a:xfrm>
            <a:off x="9914439" y="3438616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complete 允许再触发</a:t>
            </a:r>
          </a:p>
        </p:txBody>
      </p:sp>
      <p:sp>
        <p:nvSpPr>
          <p:cNvPr id="59" name="rect-059"/>
          <p:cNvSpPr/>
          <p:nvPr/>
        </p:nvSpPr>
        <p:spPr>
          <a:xfrm>
            <a:off x="8774430" y="373646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02-target"/>
          <p:cNvSpPr/>
          <p:nvPr/>
        </p:nvSpPr>
        <p:spPr>
          <a:xfrm>
            <a:off x="8614410" y="38698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2 ← N02"/>
          <p:cNvSpPr txBox="1"/>
          <p:nvPr/>
        </p:nvSpPr>
        <p:spPr>
          <a:xfrm>
            <a:off x="8955786" y="37799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62" name="E05-target"/>
          <p:cNvSpPr/>
          <p:nvPr/>
        </p:nvSpPr>
        <p:spPr>
          <a:xfrm>
            <a:off x="8614410" y="40565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5 ← N05"/>
          <p:cNvSpPr txBox="1"/>
          <p:nvPr/>
        </p:nvSpPr>
        <p:spPr>
          <a:xfrm>
            <a:off x="8955786" y="39666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N05</a:t>
            </a:r>
          </a:p>
        </p:txBody>
      </p:sp>
      <p:sp>
        <p:nvSpPr>
          <p:cNvPr id="64" name="E03-source"/>
          <p:cNvSpPr/>
          <p:nvPr/>
        </p:nvSpPr>
        <p:spPr>
          <a:xfrm>
            <a:off x="12396216" y="38698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3 → N04"/>
          <p:cNvSpPr txBox="1"/>
          <p:nvPr/>
        </p:nvSpPr>
        <p:spPr>
          <a:xfrm>
            <a:off x="11438230" y="37799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66" name="E08-source"/>
          <p:cNvSpPr/>
          <p:nvPr/>
        </p:nvSpPr>
        <p:spPr>
          <a:xfrm>
            <a:off x="12396216" y="40565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8 → N05"/>
          <p:cNvSpPr txBox="1"/>
          <p:nvPr/>
        </p:nvSpPr>
        <p:spPr>
          <a:xfrm>
            <a:off x="11438230" y="39666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N05</a:t>
            </a:r>
          </a:p>
        </p:txBody>
      </p:sp>
      <p:sp>
        <p:nvSpPr>
          <p:cNvPr id="68" name="rect-068"/>
          <p:cNvSpPr/>
          <p:nvPr/>
        </p:nvSpPr>
        <p:spPr>
          <a:xfrm>
            <a:off x="8694420" y="4467225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P01  外部/组边界"/>
          <p:cNvSpPr txBox="1"/>
          <p:nvPr/>
        </p:nvSpPr>
        <p:spPr>
          <a:xfrm>
            <a:off x="8790432" y="4495175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70" name="text-070: xeip → hart"/>
          <p:cNvSpPr txBox="1"/>
          <p:nvPr/>
        </p:nvSpPr>
        <p:spPr>
          <a:xfrm>
            <a:off x="10074592" y="4664583"/>
            <a:ext cx="113347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71" name="rect-071"/>
          <p:cNvSpPr/>
          <p:nvPr/>
        </p:nvSpPr>
        <p:spPr>
          <a:xfrm>
            <a:off x="8774430" y="497395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E04-target"/>
          <p:cNvSpPr/>
          <p:nvPr/>
        </p:nvSpPr>
        <p:spPr>
          <a:xfrm>
            <a:off x="8614410" y="510730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4 ← N04"/>
          <p:cNvSpPr txBox="1"/>
          <p:nvPr/>
        </p:nvSpPr>
        <p:spPr>
          <a:xfrm>
            <a:off x="8955786" y="501748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74" name="text-074: xeip → hart"/>
          <p:cNvSpPr txBox="1"/>
          <p:nvPr/>
        </p:nvSpPr>
        <p:spPr>
          <a:xfrm>
            <a:off x="213360" y="5609554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75" name="text-075: M / S 外部中断"/>
          <p:cNvSpPr txBox="1"/>
          <p:nvPr/>
        </p:nvSpPr>
        <p:spPr>
          <a:xfrm>
            <a:off x="213360" y="5774908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 / S 外部中断</a:t>
            </a:r>
          </a:p>
        </p:txBody>
      </p:sp>
      <p:sp>
        <p:nvSpPr>
          <p:cNvPr id="76" name="text-076: Regbus 请求 / 响应"/>
          <p:cNvSpPr txBox="1"/>
          <p:nvPr/>
        </p:nvSpPr>
        <p:spPr>
          <a:xfrm>
            <a:off x="213360" y="5940262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77" name="text-077: claim / complete"/>
          <p:cNvSpPr txBox="1"/>
          <p:nvPr/>
        </p:nvSpPr>
        <p:spPr>
          <a:xfrm>
            <a:off x="213360" y="6105616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78" name="text-078: 获胜源 ID"/>
          <p:cNvSpPr txBox="1"/>
          <p:nvPr/>
        </p:nvSpPr>
        <p:spPr>
          <a:xfrm>
            <a:off x="213360" y="6270970"/>
            <a:ext cx="7299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获胜源 ID</a:t>
            </a:r>
          </a:p>
        </p:txBody>
      </p:sp>
      <p:sp>
        <p:nvSpPr>
          <p:cNvPr id="79" name="text-079: priority / enable / threshold"/>
          <p:cNvSpPr txBox="1"/>
          <p:nvPr/>
        </p:nvSpPr>
        <p:spPr>
          <a:xfrm>
            <a:off x="213360" y="6436324"/>
            <a:ext cx="24352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priority / enable / threshold</a:t>
            </a:r>
          </a:p>
        </p:txBody>
      </p:sp>
      <p:sp>
        <p:nvSpPr>
          <p:cNvPr id="80" name="text-080: 配对端口表示图示连接；已有/规划状态见模块和连接表。方向与 A 版一致。虚线模块"/>
          <p:cNvSpPr txBox="1"/>
          <p:nvPr/>
        </p:nvSpPr>
        <p:spPr>
          <a:xfrm>
            <a:off x="213360" y="6985300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A  CLINT：RTC 边沿变为计数使能；比较器产生定时中断"/>
          <p:cNvSpPr txBox="1"/>
          <p:nvPr/>
        </p:nvSpPr>
        <p:spPr>
          <a:xfrm>
            <a:off x="213360" y="1047811"/>
            <a:ext cx="49670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06A  CLINT：RTC 边沿变为计数使能；比较器产生定时中断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32283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760220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78817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clint_sync_wedge"/>
          <p:cNvSpPr txBox="1"/>
          <p:nvPr/>
        </p:nvSpPr>
        <p:spPr>
          <a:xfrm>
            <a:off x="1270159" y="1957578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clint_sync_wedge</a:t>
            </a:r>
          </a:p>
        </p:txBody>
      </p:sp>
      <p:sp>
        <p:nvSpPr>
          <p:cNvPr id="7" name="text-007: 同步 + 上升沿检测"/>
          <p:cNvSpPr txBox="1"/>
          <p:nvPr/>
        </p:nvSpPr>
        <p:spPr>
          <a:xfrm>
            <a:off x="1549927" y="2139787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 + 上升沿检测</a:t>
            </a:r>
          </a:p>
        </p:txBody>
      </p:sp>
      <p:sp>
        <p:nvSpPr>
          <p:cNvPr id="8" name="text-008: increase_timer：一拍使能"/>
          <p:cNvSpPr txBox="1"/>
          <p:nvPr/>
        </p:nvSpPr>
        <p:spPr>
          <a:xfrm>
            <a:off x="1234021" y="2310475"/>
            <a:ext cx="18524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increase_timer：一拍使能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260832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target"/>
          <p:cNvSpPr/>
          <p:nvPr/>
        </p:nvSpPr>
        <p:spPr>
          <a:xfrm>
            <a:off x="133350" y="274167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← P01"/>
          <p:cNvSpPr txBox="1"/>
          <p:nvPr/>
        </p:nvSpPr>
        <p:spPr>
          <a:xfrm>
            <a:off x="474726" y="265185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P01</a:t>
            </a:r>
          </a:p>
        </p:txBody>
      </p:sp>
      <p:sp>
        <p:nvSpPr>
          <p:cNvPr id="12" name="E02-source"/>
          <p:cNvSpPr/>
          <p:nvPr/>
        </p:nvSpPr>
        <p:spPr>
          <a:xfrm>
            <a:off x="3915156" y="274167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2 → N02"/>
          <p:cNvSpPr txBox="1"/>
          <p:nvPr/>
        </p:nvSpPr>
        <p:spPr>
          <a:xfrm>
            <a:off x="2957170" y="265185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3152394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状态/存储"/>
          <p:cNvSpPr txBox="1"/>
          <p:nvPr/>
        </p:nvSpPr>
        <p:spPr>
          <a:xfrm>
            <a:off x="309372" y="318034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6" name="text-016: 4  MTIMECMP[63:0] 字段"/>
          <p:cNvSpPr txBox="1"/>
          <p:nvPr/>
        </p:nvSpPr>
        <p:spPr>
          <a:xfrm>
            <a:off x="1180148" y="3349752"/>
            <a:ext cx="19602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MTIMECMP[63:0] 字段</a:t>
            </a:r>
          </a:p>
        </p:txBody>
      </p:sp>
      <p:sp>
        <p:nvSpPr>
          <p:cNvPr id="17" name="text-017: reg_top 内的比较值"/>
          <p:cNvSpPr txBox="1"/>
          <p:nvPr/>
        </p:nvSpPr>
        <p:spPr>
          <a:xfrm>
            <a:off x="1473251" y="3531961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内的比较值</a:t>
            </a:r>
          </a:p>
        </p:txBody>
      </p:sp>
      <p:sp>
        <p:nvSpPr>
          <p:cNvPr id="18" name="rect-018"/>
          <p:cNvSpPr/>
          <p:nvPr/>
        </p:nvSpPr>
        <p:spPr>
          <a:xfrm>
            <a:off x="293370" y="382981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7-target"/>
          <p:cNvSpPr/>
          <p:nvPr/>
        </p:nvSpPr>
        <p:spPr>
          <a:xfrm>
            <a:off x="133350" y="39631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7 ← N05"/>
          <p:cNvSpPr txBox="1"/>
          <p:nvPr/>
        </p:nvSpPr>
        <p:spPr>
          <a:xfrm>
            <a:off x="474726" y="38733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N05</a:t>
            </a:r>
          </a:p>
        </p:txBody>
      </p:sp>
      <p:sp>
        <p:nvSpPr>
          <p:cNvPr id="21" name="E05-source"/>
          <p:cNvSpPr/>
          <p:nvPr/>
        </p:nvSpPr>
        <p:spPr>
          <a:xfrm>
            <a:off x="3915156" y="39631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5 → N03"/>
          <p:cNvSpPr txBox="1"/>
          <p:nvPr/>
        </p:nvSpPr>
        <p:spPr>
          <a:xfrm>
            <a:off x="2957170" y="38733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N03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437388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P01  外部/组边界"/>
          <p:cNvSpPr txBox="1"/>
          <p:nvPr/>
        </p:nvSpPr>
        <p:spPr>
          <a:xfrm>
            <a:off x="309372" y="440183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5" name="text-025: rtc_i"/>
          <p:cNvSpPr txBox="1"/>
          <p:nvPr/>
        </p:nvSpPr>
        <p:spPr>
          <a:xfrm>
            <a:off x="1876901" y="4571238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488061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01-source"/>
          <p:cNvSpPr/>
          <p:nvPr/>
        </p:nvSpPr>
        <p:spPr>
          <a:xfrm>
            <a:off x="3915156" y="50139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1 → N01"/>
          <p:cNvSpPr txBox="1"/>
          <p:nvPr/>
        </p:nvSpPr>
        <p:spPr>
          <a:xfrm>
            <a:off x="2957170" y="49241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N01</a:t>
            </a:r>
          </a:p>
        </p:txBody>
      </p:sp>
      <p:sp>
        <p:nvSpPr>
          <p:cNvPr id="29" name="rect-029"/>
          <p:cNvSpPr/>
          <p:nvPr/>
        </p:nvSpPr>
        <p:spPr>
          <a:xfrm>
            <a:off x="213360" y="542467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P04  外部/组边界"/>
          <p:cNvSpPr txBox="1"/>
          <p:nvPr/>
        </p:nvSpPr>
        <p:spPr>
          <a:xfrm>
            <a:off x="309372" y="545262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P04  外部/组边界</a:t>
            </a:r>
          </a:p>
        </p:txBody>
      </p:sp>
      <p:sp>
        <p:nvSpPr>
          <p:cNvPr id="31" name="text-031: MSIP / ipi_o"/>
          <p:cNvSpPr txBox="1"/>
          <p:nvPr/>
        </p:nvSpPr>
        <p:spPr>
          <a:xfrm>
            <a:off x="1573530" y="5622036"/>
            <a:ext cx="11734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 / ipi_o</a:t>
            </a:r>
          </a:p>
        </p:txBody>
      </p:sp>
      <p:sp>
        <p:nvSpPr>
          <p:cNvPr id="32" name="rect-032"/>
          <p:cNvSpPr/>
          <p:nvPr/>
        </p:nvSpPr>
        <p:spPr>
          <a:xfrm>
            <a:off x="293370" y="593140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10-target"/>
          <p:cNvSpPr/>
          <p:nvPr/>
        </p:nvSpPr>
        <p:spPr>
          <a:xfrm>
            <a:off x="133350" y="60647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10 ← N06"/>
          <p:cNvSpPr txBox="1"/>
          <p:nvPr/>
        </p:nvSpPr>
        <p:spPr>
          <a:xfrm>
            <a:off x="474726" y="59749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N06</a:t>
            </a:r>
          </a:p>
        </p:txBody>
      </p:sp>
      <p:sp>
        <p:nvSpPr>
          <p:cNvPr id="35" name="rect-035"/>
          <p:cNvSpPr/>
          <p:nvPr/>
        </p:nvSpPr>
        <p:spPr>
          <a:xfrm>
            <a:off x="4453890" y="1760220"/>
            <a:ext cx="3893820" cy="136550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N02  状态/存储"/>
          <p:cNvSpPr txBox="1"/>
          <p:nvPr/>
        </p:nvSpPr>
        <p:spPr>
          <a:xfrm>
            <a:off x="4549902" y="178817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37" name="text-037: 2  MTIME[63:0] 字段"/>
          <p:cNvSpPr txBox="1"/>
          <p:nvPr/>
        </p:nvSpPr>
        <p:spPr>
          <a:xfrm>
            <a:off x="5550694" y="1957578"/>
            <a:ext cx="17002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MTIME[63:0] 字段</a:t>
            </a:r>
          </a:p>
        </p:txBody>
      </p:sp>
      <p:sp>
        <p:nvSpPr>
          <p:cNvPr id="38" name="text-038: reg_top 存储；可由软件写"/>
          <p:cNvSpPr txBox="1"/>
          <p:nvPr/>
        </p:nvSpPr>
        <p:spPr>
          <a:xfrm>
            <a:off x="5529758" y="2139787"/>
            <a:ext cx="17420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存储；可由软件写</a:t>
            </a:r>
          </a:p>
        </p:txBody>
      </p:sp>
      <p:sp>
        <p:nvSpPr>
          <p:cNvPr id="39" name="text-039: RTC 沿使能自动加 1"/>
          <p:cNvSpPr txBox="1"/>
          <p:nvPr/>
        </p:nvSpPr>
        <p:spPr>
          <a:xfrm>
            <a:off x="5732183" y="2310475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 沿使能自动加 1</a:t>
            </a:r>
          </a:p>
        </p:txBody>
      </p:sp>
      <p:sp>
        <p:nvSpPr>
          <p:cNvPr id="40" name="rect-040"/>
          <p:cNvSpPr/>
          <p:nvPr/>
        </p:nvSpPr>
        <p:spPr>
          <a:xfrm>
            <a:off x="4533900" y="260832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2-target"/>
          <p:cNvSpPr/>
          <p:nvPr/>
        </p:nvSpPr>
        <p:spPr>
          <a:xfrm>
            <a:off x="4373880" y="274167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2 ← N01"/>
          <p:cNvSpPr txBox="1"/>
          <p:nvPr/>
        </p:nvSpPr>
        <p:spPr>
          <a:xfrm>
            <a:off x="4715256" y="265185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N01</a:t>
            </a:r>
          </a:p>
        </p:txBody>
      </p:sp>
      <p:sp>
        <p:nvSpPr>
          <p:cNvPr id="43" name="E08-target"/>
          <p:cNvSpPr/>
          <p:nvPr/>
        </p:nvSpPr>
        <p:spPr>
          <a:xfrm>
            <a:off x="4373880" y="292836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8 ↔ N05"/>
          <p:cNvSpPr txBox="1"/>
          <p:nvPr/>
        </p:nvSpPr>
        <p:spPr>
          <a:xfrm>
            <a:off x="4715256" y="283854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N05</a:t>
            </a:r>
          </a:p>
        </p:txBody>
      </p:sp>
      <p:sp>
        <p:nvSpPr>
          <p:cNvPr id="45" name="E03-source"/>
          <p:cNvSpPr/>
          <p:nvPr/>
        </p:nvSpPr>
        <p:spPr>
          <a:xfrm>
            <a:off x="8155686" y="274167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→ N03"/>
          <p:cNvSpPr txBox="1"/>
          <p:nvPr/>
        </p:nvSpPr>
        <p:spPr>
          <a:xfrm>
            <a:off x="7197700" y="265185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N03</a:t>
            </a:r>
          </a:p>
        </p:txBody>
      </p:sp>
      <p:sp>
        <p:nvSpPr>
          <p:cNvPr id="47" name="rect-047"/>
          <p:cNvSpPr/>
          <p:nvPr/>
        </p:nvSpPr>
        <p:spPr>
          <a:xfrm>
            <a:off x="4453890" y="3339084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N06  状态/存储"/>
          <p:cNvSpPr txBox="1"/>
          <p:nvPr/>
        </p:nvSpPr>
        <p:spPr>
          <a:xfrm>
            <a:off x="4549902" y="336703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49" name="text-049: 6  MSIP 字段"/>
          <p:cNvSpPr txBox="1"/>
          <p:nvPr/>
        </p:nvSpPr>
        <p:spPr>
          <a:xfrm>
            <a:off x="5854065" y="3536442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MSIP 字段</a:t>
            </a:r>
          </a:p>
        </p:txBody>
      </p:sp>
      <p:sp>
        <p:nvSpPr>
          <p:cNvPr id="50" name="text-050: reg_top 内；软件写"/>
          <p:cNvSpPr txBox="1"/>
          <p:nvPr/>
        </p:nvSpPr>
        <p:spPr>
          <a:xfrm>
            <a:off x="5713781" y="3718651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内；软件写</a:t>
            </a:r>
          </a:p>
        </p:txBody>
      </p:sp>
      <p:sp>
        <p:nvSpPr>
          <p:cNvPr id="51" name="rect-051"/>
          <p:cNvSpPr/>
          <p:nvPr/>
        </p:nvSpPr>
        <p:spPr>
          <a:xfrm>
            <a:off x="4533900" y="401650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9-target"/>
          <p:cNvSpPr/>
          <p:nvPr/>
        </p:nvSpPr>
        <p:spPr>
          <a:xfrm>
            <a:off x="4373880" y="41498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9 ← N05"/>
          <p:cNvSpPr txBox="1"/>
          <p:nvPr/>
        </p:nvSpPr>
        <p:spPr>
          <a:xfrm>
            <a:off x="4715256" y="40600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N05</a:t>
            </a:r>
          </a:p>
        </p:txBody>
      </p:sp>
      <p:sp>
        <p:nvSpPr>
          <p:cNvPr id="54" name="E10-source"/>
          <p:cNvSpPr/>
          <p:nvPr/>
        </p:nvSpPr>
        <p:spPr>
          <a:xfrm>
            <a:off x="8155686" y="41498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10 → P04"/>
          <p:cNvSpPr txBox="1"/>
          <p:nvPr/>
        </p:nvSpPr>
        <p:spPr>
          <a:xfrm>
            <a:off x="7197700" y="40600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P04</a:t>
            </a:r>
          </a:p>
        </p:txBody>
      </p:sp>
      <p:sp>
        <p:nvSpPr>
          <p:cNvPr id="56" name="rect-056"/>
          <p:cNvSpPr/>
          <p:nvPr/>
        </p:nvSpPr>
        <p:spPr>
          <a:xfrm>
            <a:off x="4453890" y="456057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P02  外部/组边界"/>
          <p:cNvSpPr txBox="1"/>
          <p:nvPr/>
        </p:nvSpPr>
        <p:spPr>
          <a:xfrm>
            <a:off x="4549902" y="458852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58" name="text-058: MTIP / timer_irq_o"/>
          <p:cNvSpPr txBox="1"/>
          <p:nvPr/>
        </p:nvSpPr>
        <p:spPr>
          <a:xfrm>
            <a:off x="5554028" y="4757928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timer_irq_o</a:t>
            </a:r>
          </a:p>
        </p:txBody>
      </p:sp>
      <p:sp>
        <p:nvSpPr>
          <p:cNvPr id="59" name="rect-059"/>
          <p:cNvSpPr/>
          <p:nvPr/>
        </p:nvSpPr>
        <p:spPr>
          <a:xfrm>
            <a:off x="4533900" y="506730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04-target"/>
          <p:cNvSpPr/>
          <p:nvPr/>
        </p:nvSpPr>
        <p:spPr>
          <a:xfrm>
            <a:off x="4373880" y="52006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 ← N03"/>
          <p:cNvSpPr txBox="1"/>
          <p:nvPr/>
        </p:nvSpPr>
        <p:spPr>
          <a:xfrm>
            <a:off x="4715256" y="511082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62" name="rect-062"/>
          <p:cNvSpPr/>
          <p:nvPr/>
        </p:nvSpPr>
        <p:spPr>
          <a:xfrm>
            <a:off x="8694420" y="1760220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N03  内部工作逻辑"/>
          <p:cNvSpPr txBox="1"/>
          <p:nvPr/>
        </p:nvSpPr>
        <p:spPr>
          <a:xfrm>
            <a:off x="8790432" y="178817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4" name="text-064: 3  ≥ 比较"/>
          <p:cNvSpPr txBox="1"/>
          <p:nvPr/>
        </p:nvSpPr>
        <p:spPr>
          <a:xfrm>
            <a:off x="10201275" y="1957578"/>
            <a:ext cx="8801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≥ 比较</a:t>
            </a:r>
          </a:p>
        </p:txBody>
      </p:sp>
      <p:sp>
        <p:nvSpPr>
          <p:cNvPr id="65" name="text-065: 无条件保持比较"/>
          <p:cNvSpPr txBox="1"/>
          <p:nvPr/>
        </p:nvSpPr>
        <p:spPr>
          <a:xfrm>
            <a:off x="10150602" y="2139787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无条件保持比较</a:t>
            </a:r>
          </a:p>
        </p:txBody>
      </p:sp>
      <p:sp>
        <p:nvSpPr>
          <p:cNvPr id="66" name="rect-066"/>
          <p:cNvSpPr/>
          <p:nvPr/>
        </p:nvSpPr>
        <p:spPr>
          <a:xfrm>
            <a:off x="8774430" y="243763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E03-target"/>
          <p:cNvSpPr/>
          <p:nvPr/>
        </p:nvSpPr>
        <p:spPr>
          <a:xfrm>
            <a:off x="8614410" y="257098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3 ← N02"/>
          <p:cNvSpPr txBox="1"/>
          <p:nvPr/>
        </p:nvSpPr>
        <p:spPr>
          <a:xfrm>
            <a:off x="8955786" y="248116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69" name="E05-target"/>
          <p:cNvSpPr/>
          <p:nvPr/>
        </p:nvSpPr>
        <p:spPr>
          <a:xfrm>
            <a:off x="8614410" y="275767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5 ← N04"/>
          <p:cNvSpPr txBox="1"/>
          <p:nvPr/>
        </p:nvSpPr>
        <p:spPr>
          <a:xfrm>
            <a:off x="8955786" y="266785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N04</a:t>
            </a:r>
          </a:p>
        </p:txBody>
      </p:sp>
      <p:sp>
        <p:nvSpPr>
          <p:cNvPr id="71" name="E04-source"/>
          <p:cNvSpPr/>
          <p:nvPr/>
        </p:nvSpPr>
        <p:spPr>
          <a:xfrm>
            <a:off x="12396216" y="257098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4 → P02"/>
          <p:cNvSpPr txBox="1"/>
          <p:nvPr/>
        </p:nvSpPr>
        <p:spPr>
          <a:xfrm>
            <a:off x="11438230" y="248116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P02</a:t>
            </a:r>
          </a:p>
        </p:txBody>
      </p:sp>
      <p:sp>
        <p:nvSpPr>
          <p:cNvPr id="73" name="rect-073"/>
          <p:cNvSpPr/>
          <p:nvPr/>
        </p:nvSpPr>
        <p:spPr>
          <a:xfrm>
            <a:off x="8694420" y="3168396"/>
            <a:ext cx="3893820" cy="172288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N05  接口与配置"/>
          <p:cNvSpPr txBox="1"/>
          <p:nvPr/>
        </p:nvSpPr>
        <p:spPr>
          <a:xfrm>
            <a:off x="8790432" y="3196346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75" name="text-075: 5  clint_reg_top 访问控制"/>
          <p:cNvSpPr txBox="1"/>
          <p:nvPr/>
        </p:nvSpPr>
        <p:spPr>
          <a:xfrm>
            <a:off x="9571196" y="3365754"/>
            <a:ext cx="21402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clint_reg_top 访问控制</a:t>
            </a:r>
          </a:p>
        </p:txBody>
      </p:sp>
      <p:sp>
        <p:nvSpPr>
          <p:cNvPr id="76" name="text-076: MTIME_LO / HI"/>
          <p:cNvSpPr txBox="1"/>
          <p:nvPr/>
        </p:nvSpPr>
        <p:spPr>
          <a:xfrm>
            <a:off x="10061658" y="3547963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MTIME_LO / HI</a:t>
            </a:r>
          </a:p>
        </p:txBody>
      </p:sp>
      <p:sp>
        <p:nvSpPr>
          <p:cNvPr id="77" name="text-077: MTIMECMP_LO / HI"/>
          <p:cNvSpPr txBox="1"/>
          <p:nvPr/>
        </p:nvSpPr>
        <p:spPr>
          <a:xfrm>
            <a:off x="9942043" y="3718651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MTIMECMP_LO / HI</a:t>
            </a:r>
          </a:p>
        </p:txBody>
      </p:sp>
      <p:sp>
        <p:nvSpPr>
          <p:cNvPr id="78" name="text-078: MSIP"/>
          <p:cNvSpPr txBox="1"/>
          <p:nvPr/>
        </p:nvSpPr>
        <p:spPr>
          <a:xfrm>
            <a:off x="10420502" y="3889339"/>
            <a:ext cx="441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</a:t>
            </a:r>
          </a:p>
        </p:txBody>
      </p:sp>
      <p:sp>
        <p:nvSpPr>
          <p:cNvPr id="79" name="rect-079"/>
          <p:cNvSpPr/>
          <p:nvPr/>
        </p:nvSpPr>
        <p:spPr>
          <a:xfrm>
            <a:off x="8774430" y="4187190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E06-target"/>
          <p:cNvSpPr/>
          <p:nvPr/>
        </p:nvSpPr>
        <p:spPr>
          <a:xfrm>
            <a:off x="8614410" y="43205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6 ↔ P03"/>
          <p:cNvSpPr txBox="1"/>
          <p:nvPr/>
        </p:nvSpPr>
        <p:spPr>
          <a:xfrm>
            <a:off x="8955786" y="423071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P03</a:t>
            </a:r>
          </a:p>
        </p:txBody>
      </p:sp>
      <p:sp>
        <p:nvSpPr>
          <p:cNvPr id="82" name="E07-source"/>
          <p:cNvSpPr/>
          <p:nvPr/>
        </p:nvSpPr>
        <p:spPr>
          <a:xfrm>
            <a:off x="12396216" y="43205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7 → N04"/>
          <p:cNvSpPr txBox="1"/>
          <p:nvPr/>
        </p:nvSpPr>
        <p:spPr>
          <a:xfrm>
            <a:off x="11438230" y="423071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84" name="E08-source"/>
          <p:cNvSpPr/>
          <p:nvPr/>
        </p:nvSpPr>
        <p:spPr>
          <a:xfrm>
            <a:off x="12396216" y="450723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8 ↔ N02"/>
          <p:cNvSpPr txBox="1"/>
          <p:nvPr/>
        </p:nvSpPr>
        <p:spPr>
          <a:xfrm>
            <a:off x="11438230" y="441740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N02</a:t>
            </a:r>
          </a:p>
        </p:txBody>
      </p:sp>
      <p:sp>
        <p:nvSpPr>
          <p:cNvPr id="86" name="E09-source"/>
          <p:cNvSpPr/>
          <p:nvPr/>
        </p:nvSpPr>
        <p:spPr>
          <a:xfrm>
            <a:off x="12396216" y="46939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9 → N06"/>
          <p:cNvSpPr txBox="1"/>
          <p:nvPr/>
        </p:nvSpPr>
        <p:spPr>
          <a:xfrm>
            <a:off x="11438230" y="46040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N06</a:t>
            </a:r>
          </a:p>
        </p:txBody>
      </p:sp>
      <p:sp>
        <p:nvSpPr>
          <p:cNvPr id="88" name="rect-088"/>
          <p:cNvSpPr/>
          <p:nvPr/>
        </p:nvSpPr>
        <p:spPr>
          <a:xfrm>
            <a:off x="8694420" y="510463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P03  外部/组边界"/>
          <p:cNvSpPr txBox="1"/>
          <p:nvPr/>
        </p:nvSpPr>
        <p:spPr>
          <a:xfrm>
            <a:off x="8790432" y="513258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90" name="text-090: Regbus 32"/>
          <p:cNvSpPr txBox="1"/>
          <p:nvPr/>
        </p:nvSpPr>
        <p:spPr>
          <a:xfrm>
            <a:off x="10184606" y="5301996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91" name="rect-091"/>
          <p:cNvSpPr/>
          <p:nvPr/>
        </p:nvSpPr>
        <p:spPr>
          <a:xfrm>
            <a:off x="8774430" y="561136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06-source"/>
          <p:cNvSpPr/>
          <p:nvPr/>
        </p:nvSpPr>
        <p:spPr>
          <a:xfrm>
            <a:off x="12396216" y="57447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06 ↔ N05"/>
          <p:cNvSpPr txBox="1"/>
          <p:nvPr/>
        </p:nvSpPr>
        <p:spPr>
          <a:xfrm>
            <a:off x="11438230" y="56548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N05</a:t>
            </a:r>
          </a:p>
        </p:txBody>
      </p:sp>
      <p:sp>
        <p:nvSpPr>
          <p:cNvPr id="94" name="text-094: clint：寄存器、计数器和比较器均在 clk_i / rst_ni 域"/>
          <p:cNvSpPr txBox="1"/>
          <p:nvPr/>
        </p:nvSpPr>
        <p:spPr>
          <a:xfrm>
            <a:off x="213360" y="6396319"/>
            <a:ext cx="36375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clint：寄存器、计数器和比较器均在 clk_i / rst_ni 域</a:t>
            </a:r>
          </a:p>
        </p:txBody>
      </p:sp>
      <p:sp>
        <p:nvSpPr>
          <p:cNvPr id="95" name="text-095: rtc_i"/>
          <p:cNvSpPr txBox="1"/>
          <p:nvPr/>
        </p:nvSpPr>
        <p:spPr>
          <a:xfrm>
            <a:off x="213360" y="6561673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96" name="text-096: MTIP → hart"/>
          <p:cNvSpPr txBox="1"/>
          <p:nvPr/>
        </p:nvSpPr>
        <p:spPr>
          <a:xfrm>
            <a:off x="213360" y="6727027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MTIP → hart</a:t>
            </a:r>
          </a:p>
        </p:txBody>
      </p:sp>
      <p:sp>
        <p:nvSpPr>
          <p:cNvPr id="97" name="text-097: Regbus 32"/>
          <p:cNvSpPr txBox="1"/>
          <p:nvPr/>
        </p:nvSpPr>
        <p:spPr>
          <a:xfrm>
            <a:off x="213360" y="6892381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98" name="text-098: MSIP → hart"/>
          <p:cNvSpPr txBox="1"/>
          <p:nvPr/>
        </p:nvSpPr>
        <p:spPr>
          <a:xfrm>
            <a:off x="213360" y="7057735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MSIP → hart</a:t>
            </a:r>
          </a:p>
        </p:txBody>
      </p:sp>
      <p:sp>
        <p:nvSpPr>
          <p:cNvPr id="99" name="text-099: MTIP 的清除方法是让 MTIMECMP 大于 MTIME；这里没有 PLIC"/>
          <p:cNvSpPr txBox="1"/>
          <p:nvPr/>
        </p:nvSpPr>
        <p:spPr>
          <a:xfrm>
            <a:off x="213360" y="7223089"/>
            <a:ext cx="53918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MTIP 的清除方法是让 MTIMECMP 大于 MTIME；这里没有 PLIC claim / complete。</a:t>
            </a:r>
          </a:p>
        </p:txBody>
      </p:sp>
      <p:sp>
        <p:nvSpPr>
          <p:cNvPr id="100" name="text-100: 配对端口表示图示连接；已有/规划状态见模块和连接表。方向与 A 版一致。虚线模块"/>
          <p:cNvSpPr txBox="1"/>
          <p:nvPr/>
        </p:nvSpPr>
        <p:spPr>
          <a:xfrm>
            <a:off x="213360" y="7772065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B  CLIC：每个 hart 的中断选择器与 CPU 握手接口"/>
          <p:cNvSpPr txBox="1"/>
          <p:nvPr/>
        </p:nvSpPr>
        <p:spPr>
          <a:xfrm>
            <a:off x="213360" y="1903918"/>
            <a:ext cx="47792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06B  CLIC：每个 hart 的中断选择器与 CPU 握手接口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2178939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616327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264427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clic_intr 输入拼装"/>
          <p:cNvSpPr txBox="1"/>
          <p:nvPr/>
        </p:nvSpPr>
        <p:spPr>
          <a:xfrm>
            <a:off x="1263491" y="2813685"/>
            <a:ext cx="17935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clic_intr 输入拼装</a:t>
            </a:r>
          </a:p>
        </p:txBody>
      </p:sp>
      <p:sp>
        <p:nvSpPr>
          <p:cNvPr id="7" name="text-007: IRQ Router 的本 hart 分支"/>
          <p:cNvSpPr txBox="1"/>
          <p:nvPr/>
        </p:nvSpPr>
        <p:spPr>
          <a:xfrm>
            <a:off x="1175747" y="2995894"/>
            <a:ext cx="19690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的本 hart 分支</a:t>
            </a:r>
          </a:p>
        </p:txBody>
      </p:sp>
      <p:sp>
        <p:nvSpPr>
          <p:cNvPr id="8" name="text-008: MEIP / SEIP（来自 PLIC）"/>
          <p:cNvSpPr txBox="1"/>
          <p:nvPr/>
        </p:nvSpPr>
        <p:spPr>
          <a:xfrm>
            <a:off x="1215619" y="3166582"/>
            <a:ext cx="188930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MEIP / SEIP（来自 PLIC）</a:t>
            </a:r>
          </a:p>
        </p:txBody>
      </p:sp>
      <p:sp>
        <p:nvSpPr>
          <p:cNvPr id="9" name="text-009: MTIP / MSIP（来自 CLINT）"/>
          <p:cNvSpPr txBox="1"/>
          <p:nvPr/>
        </p:nvSpPr>
        <p:spPr>
          <a:xfrm>
            <a:off x="1175747" y="3337270"/>
            <a:ext cx="19690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MSIP（来自 CLINT）</a:t>
            </a:r>
          </a:p>
        </p:txBody>
      </p:sp>
      <p:sp>
        <p:nvSpPr>
          <p:cNvPr id="10" name="text-010: 保留源按 SoC 定义连接"/>
          <p:cNvSpPr txBox="1"/>
          <p:nvPr/>
        </p:nvSpPr>
        <p:spPr>
          <a:xfrm>
            <a:off x="1408843" y="3507958"/>
            <a:ext cx="15028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保留源按 SoC 定义连接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380580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39391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→ N02"/>
          <p:cNvSpPr txBox="1"/>
          <p:nvPr/>
        </p:nvSpPr>
        <p:spPr>
          <a:xfrm>
            <a:off x="2957170" y="38493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4349877"/>
            <a:ext cx="3893820" cy="152019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外部/组边界"/>
          <p:cNvSpPr txBox="1"/>
          <p:nvPr/>
        </p:nvSpPr>
        <p:spPr>
          <a:xfrm>
            <a:off x="309372" y="4377827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外部/组边界</a:t>
            </a:r>
          </a:p>
        </p:txBody>
      </p:sp>
      <p:sp>
        <p:nvSpPr>
          <p:cNvPr id="16" name="text-016: 4  CVA6 CLIC 接口"/>
          <p:cNvSpPr txBox="1"/>
          <p:nvPr/>
        </p:nvSpPr>
        <p:spPr>
          <a:xfrm>
            <a:off x="1396841" y="4547235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CVA6 CLIC 接口</a:t>
            </a:r>
          </a:p>
        </p:txBody>
      </p:sp>
      <p:sp>
        <p:nvSpPr>
          <p:cNvPr id="17" name="text-017: valid / ready"/>
          <p:cNvSpPr txBox="1"/>
          <p:nvPr/>
        </p:nvSpPr>
        <p:spPr>
          <a:xfrm>
            <a:off x="1580598" y="4729444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valid / ready</a:t>
            </a:r>
          </a:p>
        </p:txBody>
      </p:sp>
      <p:sp>
        <p:nvSpPr>
          <p:cNvPr id="18" name="text-018: id / level"/>
          <p:cNvSpPr txBox="1"/>
          <p:nvPr/>
        </p:nvSpPr>
        <p:spPr>
          <a:xfrm>
            <a:off x="1700212" y="4900132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id / level</a:t>
            </a:r>
          </a:p>
        </p:txBody>
      </p:sp>
      <p:sp>
        <p:nvSpPr>
          <p:cNvPr id="19" name="text-019: shv / priv"/>
          <p:cNvSpPr txBox="1"/>
          <p:nvPr/>
        </p:nvSpPr>
        <p:spPr>
          <a:xfrm>
            <a:off x="1700212" y="5070820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shv / priv</a:t>
            </a:r>
          </a:p>
        </p:txBody>
      </p:sp>
      <p:sp>
        <p:nvSpPr>
          <p:cNvPr id="20" name="text-020: kill_req / kill_ack"/>
          <p:cNvSpPr txBox="1"/>
          <p:nvPr/>
        </p:nvSpPr>
        <p:spPr>
          <a:xfrm>
            <a:off x="1341368" y="5241508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kill_req / kill_ack</a:t>
            </a:r>
          </a:p>
        </p:txBody>
      </p:sp>
      <p:sp>
        <p:nvSpPr>
          <p:cNvPr id="21" name="rect-021"/>
          <p:cNvSpPr/>
          <p:nvPr/>
        </p:nvSpPr>
        <p:spPr>
          <a:xfrm>
            <a:off x="293370" y="553935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04-target"/>
          <p:cNvSpPr/>
          <p:nvPr/>
        </p:nvSpPr>
        <p:spPr>
          <a:xfrm>
            <a:off x="133350" y="567270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4 ↔ N03"/>
          <p:cNvSpPr txBox="1"/>
          <p:nvPr/>
        </p:nvSpPr>
        <p:spPr>
          <a:xfrm>
            <a:off x="474726" y="558288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N03</a:t>
            </a:r>
          </a:p>
        </p:txBody>
      </p:sp>
      <p:sp>
        <p:nvSpPr>
          <p:cNvPr id="24" name="rect-024"/>
          <p:cNvSpPr/>
          <p:nvPr/>
        </p:nvSpPr>
        <p:spPr>
          <a:xfrm>
            <a:off x="4453890" y="2616327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N02  内部工作逻辑"/>
          <p:cNvSpPr txBox="1"/>
          <p:nvPr/>
        </p:nvSpPr>
        <p:spPr>
          <a:xfrm>
            <a:off x="4549902" y="264427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6" name="text-026: 2  clic_gateway"/>
          <p:cNvSpPr txBox="1"/>
          <p:nvPr/>
        </p:nvSpPr>
        <p:spPr>
          <a:xfrm>
            <a:off x="5684044" y="2813685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clic_gateway</a:t>
            </a:r>
          </a:p>
        </p:txBody>
      </p:sp>
      <p:sp>
        <p:nvSpPr>
          <p:cNvPr id="27" name="text-027: 电平 / 边沿 pending"/>
          <p:cNvSpPr txBox="1"/>
          <p:nvPr/>
        </p:nvSpPr>
        <p:spPr>
          <a:xfrm>
            <a:off x="5655507" y="2995894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电平 / 边沿 pending</a:t>
            </a:r>
          </a:p>
        </p:txBody>
      </p:sp>
      <p:sp>
        <p:nvSpPr>
          <p:cNvPr id="28" name="text-028: 软件置 pending"/>
          <p:cNvSpPr txBox="1"/>
          <p:nvPr/>
        </p:nvSpPr>
        <p:spPr>
          <a:xfrm>
            <a:off x="5836463" y="3166582"/>
            <a:ext cx="11286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软件置 pending</a:t>
            </a:r>
          </a:p>
        </p:txBody>
      </p:sp>
      <p:sp>
        <p:nvSpPr>
          <p:cNvPr id="29" name="text-029: 来自 target 的 claim"/>
          <p:cNvSpPr txBox="1"/>
          <p:nvPr/>
        </p:nvSpPr>
        <p:spPr>
          <a:xfrm>
            <a:off x="5597233" y="3337270"/>
            <a:ext cx="16071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target 的 claim</a:t>
            </a:r>
          </a:p>
        </p:txBody>
      </p:sp>
      <p:sp>
        <p:nvSpPr>
          <p:cNvPr id="30" name="rect-030"/>
          <p:cNvSpPr/>
          <p:nvPr/>
        </p:nvSpPr>
        <p:spPr>
          <a:xfrm>
            <a:off x="4533900" y="3635121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1-target"/>
          <p:cNvSpPr/>
          <p:nvPr/>
        </p:nvSpPr>
        <p:spPr>
          <a:xfrm>
            <a:off x="4373880" y="37684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1 ← N01"/>
          <p:cNvSpPr txBox="1"/>
          <p:nvPr/>
        </p:nvSpPr>
        <p:spPr>
          <a:xfrm>
            <a:off x="4715256" y="36786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3" name="E03-target"/>
          <p:cNvSpPr/>
          <p:nvPr/>
        </p:nvSpPr>
        <p:spPr>
          <a:xfrm>
            <a:off x="4373880" y="39551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3 ← N03"/>
          <p:cNvSpPr txBox="1"/>
          <p:nvPr/>
        </p:nvSpPr>
        <p:spPr>
          <a:xfrm>
            <a:off x="4715256" y="38653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35" name="E05-target"/>
          <p:cNvSpPr/>
          <p:nvPr/>
        </p:nvSpPr>
        <p:spPr>
          <a:xfrm>
            <a:off x="4373880" y="414185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5 ↔ N05"/>
          <p:cNvSpPr txBox="1"/>
          <p:nvPr/>
        </p:nvSpPr>
        <p:spPr>
          <a:xfrm>
            <a:off x="4715256" y="405202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37" name="E02-source"/>
          <p:cNvSpPr/>
          <p:nvPr/>
        </p:nvSpPr>
        <p:spPr>
          <a:xfrm>
            <a:off x="8155686" y="37684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2 → N03"/>
          <p:cNvSpPr txBox="1"/>
          <p:nvPr/>
        </p:nvSpPr>
        <p:spPr>
          <a:xfrm>
            <a:off x="7197700" y="36786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9" name="rect-039"/>
          <p:cNvSpPr/>
          <p:nvPr/>
        </p:nvSpPr>
        <p:spPr>
          <a:xfrm>
            <a:off x="8694420" y="2616327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N03  内部工作逻辑"/>
          <p:cNvSpPr txBox="1"/>
          <p:nvPr/>
        </p:nvSpPr>
        <p:spPr>
          <a:xfrm>
            <a:off x="8790432" y="264427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41" name="text-041: 3  clic_target + 顶层整理"/>
          <p:cNvSpPr txBox="1"/>
          <p:nvPr/>
        </p:nvSpPr>
        <p:spPr>
          <a:xfrm>
            <a:off x="9571196" y="2813685"/>
            <a:ext cx="21402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clic_target + 顶层整理</a:t>
            </a:r>
          </a:p>
        </p:txBody>
      </p:sp>
      <p:sp>
        <p:nvSpPr>
          <p:cNvPr id="42" name="text-042: pending / enable"/>
          <p:cNvSpPr txBox="1"/>
          <p:nvPr/>
        </p:nvSpPr>
        <p:spPr>
          <a:xfrm>
            <a:off x="9942043" y="2995894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</a:t>
            </a:r>
          </a:p>
        </p:txBody>
      </p:sp>
      <p:sp>
        <p:nvSpPr>
          <p:cNvPr id="43" name="text-043: level / priority / mode"/>
          <p:cNvSpPr txBox="1"/>
          <p:nvPr/>
        </p:nvSpPr>
        <p:spPr>
          <a:xfrm>
            <a:off x="9662941" y="3166582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level / priority / mode</a:t>
            </a:r>
          </a:p>
        </p:txBody>
      </p:sp>
      <p:sp>
        <p:nvSpPr>
          <p:cNvPr id="44" name="text-044: 获胜源与 SHV / level 格式化"/>
          <p:cNvSpPr txBox="1"/>
          <p:nvPr/>
        </p:nvSpPr>
        <p:spPr>
          <a:xfrm>
            <a:off x="9632271" y="3337270"/>
            <a:ext cx="201811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获胜源与 SHV / level 格式化</a:t>
            </a:r>
          </a:p>
        </p:txBody>
      </p:sp>
      <p:sp>
        <p:nvSpPr>
          <p:cNvPr id="45" name="rect-045"/>
          <p:cNvSpPr/>
          <p:nvPr/>
        </p:nvSpPr>
        <p:spPr>
          <a:xfrm>
            <a:off x="8774430" y="3635121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2-target"/>
          <p:cNvSpPr/>
          <p:nvPr/>
        </p:nvSpPr>
        <p:spPr>
          <a:xfrm>
            <a:off x="8614410" y="37684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 ← N02"/>
          <p:cNvSpPr txBox="1"/>
          <p:nvPr/>
        </p:nvSpPr>
        <p:spPr>
          <a:xfrm>
            <a:off x="8955786" y="36786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48" name="E06-target"/>
          <p:cNvSpPr/>
          <p:nvPr/>
        </p:nvSpPr>
        <p:spPr>
          <a:xfrm>
            <a:off x="8614410" y="39551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6 ← N05"/>
          <p:cNvSpPr txBox="1"/>
          <p:nvPr/>
        </p:nvSpPr>
        <p:spPr>
          <a:xfrm>
            <a:off x="8955786" y="38653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50" name="E03-source"/>
          <p:cNvSpPr/>
          <p:nvPr/>
        </p:nvSpPr>
        <p:spPr>
          <a:xfrm>
            <a:off x="12396216" y="37684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3 → N02"/>
          <p:cNvSpPr txBox="1"/>
          <p:nvPr/>
        </p:nvSpPr>
        <p:spPr>
          <a:xfrm>
            <a:off x="11438230" y="36786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N02</a:t>
            </a:r>
          </a:p>
        </p:txBody>
      </p:sp>
      <p:sp>
        <p:nvSpPr>
          <p:cNvPr id="52" name="E04-source"/>
          <p:cNvSpPr/>
          <p:nvPr/>
        </p:nvSpPr>
        <p:spPr>
          <a:xfrm>
            <a:off x="12396216" y="39551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4 ↔ N04"/>
          <p:cNvSpPr txBox="1"/>
          <p:nvPr/>
        </p:nvSpPr>
        <p:spPr>
          <a:xfrm>
            <a:off x="11438230" y="38653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54" name="rect-054"/>
          <p:cNvSpPr/>
          <p:nvPr/>
        </p:nvSpPr>
        <p:spPr>
          <a:xfrm>
            <a:off x="8694420" y="4365879"/>
            <a:ext cx="3893820" cy="153619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N05  接口与配置"/>
          <p:cNvSpPr txBox="1"/>
          <p:nvPr/>
        </p:nvSpPr>
        <p:spPr>
          <a:xfrm>
            <a:off x="8790432" y="4393829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56" name="text-056: 5  mclic_reg_top + clicint_reg_top × 源"/>
          <p:cNvSpPr txBox="1"/>
          <p:nvPr/>
        </p:nvSpPr>
        <p:spPr>
          <a:xfrm>
            <a:off x="8904446" y="4563237"/>
            <a:ext cx="34737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mclic_reg_top + clicint_reg_top × 源</a:t>
            </a:r>
          </a:p>
        </p:txBody>
      </p:sp>
      <p:sp>
        <p:nvSpPr>
          <p:cNvPr id="57" name="text-057: Regbus 地址译码 → 对应寄存器"/>
          <p:cNvSpPr txBox="1"/>
          <p:nvPr/>
        </p:nvSpPr>
        <p:spPr>
          <a:xfrm>
            <a:off x="9607734" y="4745446"/>
            <a:ext cx="20671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地址译码 → 对应寄存器</a:t>
            </a:r>
          </a:p>
        </p:txBody>
      </p:sp>
      <p:sp>
        <p:nvSpPr>
          <p:cNvPr id="58" name="text-058: reg_adapter：整理 reg2hw / hw2reg 字段"/>
          <p:cNvSpPr txBox="1"/>
          <p:nvPr/>
        </p:nvSpPr>
        <p:spPr>
          <a:xfrm>
            <a:off x="9156878" y="4916134"/>
            <a:ext cx="2968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reg_adapter：整理 reg2hw / hw2reg 字段</a:t>
            </a:r>
          </a:p>
        </p:txBody>
      </p:sp>
      <p:sp>
        <p:nvSpPr>
          <p:cNvPr id="59" name="text-059: 全局 level 划分；每源 pending / enable / attr /"/>
          <p:cNvSpPr txBox="1"/>
          <p:nvPr/>
        </p:nvSpPr>
        <p:spPr>
          <a:xfrm>
            <a:off x="8675351" y="5086822"/>
            <a:ext cx="39319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全局 level 划分；每源 pending / enable / attr / ctl</a:t>
            </a:r>
          </a:p>
        </p:txBody>
      </p:sp>
      <p:sp>
        <p:nvSpPr>
          <p:cNvPr id="60" name="rect-060"/>
          <p:cNvSpPr/>
          <p:nvPr/>
        </p:nvSpPr>
        <p:spPr>
          <a:xfrm>
            <a:off x="8774430" y="538467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05-source"/>
          <p:cNvSpPr/>
          <p:nvPr/>
        </p:nvSpPr>
        <p:spPr>
          <a:xfrm>
            <a:off x="12396216" y="551802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5 ↔ N02"/>
          <p:cNvSpPr txBox="1"/>
          <p:nvPr/>
        </p:nvSpPr>
        <p:spPr>
          <a:xfrm>
            <a:off x="11438230" y="542819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↔ N02</a:t>
            </a:r>
          </a:p>
        </p:txBody>
      </p:sp>
      <p:sp>
        <p:nvSpPr>
          <p:cNvPr id="63" name="E06-source"/>
          <p:cNvSpPr/>
          <p:nvPr/>
        </p:nvSpPr>
        <p:spPr>
          <a:xfrm>
            <a:off x="12396216" y="57047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6 → N03"/>
          <p:cNvSpPr txBox="1"/>
          <p:nvPr/>
        </p:nvSpPr>
        <p:spPr>
          <a:xfrm>
            <a:off x="11438230" y="561488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N03</a:t>
            </a:r>
          </a:p>
        </p:txBody>
      </p:sp>
      <p:sp>
        <p:nvSpPr>
          <p:cNvPr id="65" name="text-065: claim"/>
          <p:cNvSpPr txBox="1"/>
          <p:nvPr/>
        </p:nvSpPr>
        <p:spPr>
          <a:xfrm>
            <a:off x="213360" y="6036274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claim</a:t>
            </a:r>
          </a:p>
        </p:txBody>
      </p:sp>
      <p:sp>
        <p:nvSpPr>
          <p:cNvPr id="66" name="text-066: 当前默认 / FPGA：Cfg.Clic = 0"/>
          <p:cNvSpPr txBox="1"/>
          <p:nvPr/>
        </p:nvSpPr>
        <p:spPr>
          <a:xfrm>
            <a:off x="213360" y="6201628"/>
            <a:ext cx="22512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当前默认 / FPGA：Cfg.Clic = 0</a:t>
            </a:r>
          </a:p>
        </p:txBody>
      </p:sp>
      <p:sp>
        <p:nvSpPr>
          <p:cNvPr id="67" name="text-067: CLIC 不产生 RTC 计数；CPU 接受中断的握手也不等于清除了外设事件。"/>
          <p:cNvSpPr txBox="1"/>
          <p:nvPr/>
        </p:nvSpPr>
        <p:spPr>
          <a:xfrm>
            <a:off x="213360" y="6366982"/>
            <a:ext cx="4306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CLIC 不产生 RTC 计数；CPU 接受中断的握手也不等于清除了外设事件。</a:t>
            </a:r>
          </a:p>
        </p:txBody>
      </p:sp>
      <p:sp>
        <p:nvSpPr>
          <p:cNvPr id="68" name="text-068: 配对端口表示图示连接；已有/规划状态见模块和连接表。方向与 A 版一致。虚线模块"/>
          <p:cNvSpPr txBox="1"/>
          <p:nvPr/>
        </p:nvSpPr>
        <p:spPr>
          <a:xfrm>
            <a:off x="213360" y="6915958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7  IRQ Router：每条源中断对应一个目标位掩码"/>
          <p:cNvSpPr txBox="1"/>
          <p:nvPr/>
        </p:nvSpPr>
        <p:spPr>
          <a:xfrm>
            <a:off x="213360" y="1573210"/>
            <a:ext cx="42842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07  IRQ Router：每条源中断对应一个目标位掩码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848231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285619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231356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intr 源向量"/>
          <p:cNvSpPr txBox="1"/>
          <p:nvPr/>
        </p:nvSpPr>
        <p:spPr>
          <a:xfrm>
            <a:off x="1546860" y="2482977"/>
            <a:ext cx="122682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intr 源向量</a:t>
            </a:r>
          </a:p>
        </p:txBody>
      </p:sp>
      <p:sp>
        <p:nvSpPr>
          <p:cNvPr id="7" name="text-007: 片内外设 IRQ"/>
          <p:cNvSpPr txBox="1"/>
          <p:nvPr/>
        </p:nvSpPr>
        <p:spPr>
          <a:xfrm>
            <a:off x="1694078" y="2665186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片内外设 IRQ</a:t>
            </a:r>
          </a:p>
        </p:txBody>
      </p:sp>
      <p:sp>
        <p:nvSpPr>
          <p:cNvPr id="8" name="text-008: 外部 IRQ 经 sync"/>
          <p:cNvSpPr txBox="1"/>
          <p:nvPr/>
        </p:nvSpPr>
        <p:spPr>
          <a:xfrm>
            <a:off x="1516190" y="2835874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经 sync</a:t>
            </a:r>
          </a:p>
        </p:txBody>
      </p:sp>
      <p:sp>
        <p:nvSpPr>
          <p:cNvPr id="9" name="text-009: 源 0 固定为 0"/>
          <p:cNvSpPr txBox="1"/>
          <p:nvPr/>
        </p:nvSpPr>
        <p:spPr>
          <a:xfrm>
            <a:off x="1654207" y="3006562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0 固定为 0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330441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34377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33479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rect-013"/>
          <p:cNvSpPr/>
          <p:nvPr/>
        </p:nvSpPr>
        <p:spPr>
          <a:xfrm>
            <a:off x="213360" y="3848481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P01  外部/组边界"/>
          <p:cNvSpPr txBox="1"/>
          <p:nvPr/>
        </p:nvSpPr>
        <p:spPr>
          <a:xfrm>
            <a:off x="309372" y="387643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15" name="text-015: target 0 → PLIC"/>
          <p:cNvSpPr txBox="1"/>
          <p:nvPr/>
        </p:nvSpPr>
        <p:spPr>
          <a:xfrm>
            <a:off x="1420178" y="4045839"/>
            <a:ext cx="148018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435521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44885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← N03"/>
          <p:cNvSpPr txBox="1"/>
          <p:nvPr/>
        </p:nvSpPr>
        <p:spPr>
          <a:xfrm>
            <a:off x="474726" y="43987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19" name="rect-019"/>
          <p:cNvSpPr/>
          <p:nvPr/>
        </p:nvSpPr>
        <p:spPr>
          <a:xfrm>
            <a:off x="213360" y="4899279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P03  外部/组边界"/>
          <p:cNvSpPr txBox="1"/>
          <p:nvPr/>
        </p:nvSpPr>
        <p:spPr>
          <a:xfrm>
            <a:off x="309372" y="4927229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21" name="text-021: 后续 target → 外部 IRQ"/>
          <p:cNvSpPr txBox="1"/>
          <p:nvPr/>
        </p:nvSpPr>
        <p:spPr>
          <a:xfrm>
            <a:off x="1196816" y="5096637"/>
            <a:ext cx="192690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后续 target → 外部 IRQ</a:t>
            </a:r>
          </a:p>
        </p:txBody>
      </p:sp>
      <p:sp>
        <p:nvSpPr>
          <p:cNvPr id="22" name="rect-022"/>
          <p:cNvSpPr/>
          <p:nvPr/>
        </p:nvSpPr>
        <p:spPr>
          <a:xfrm>
            <a:off x="293370" y="540600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05-target"/>
          <p:cNvSpPr/>
          <p:nvPr/>
        </p:nvSpPr>
        <p:spPr>
          <a:xfrm>
            <a:off x="133350" y="55393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5 ← N03"/>
          <p:cNvSpPr txBox="1"/>
          <p:nvPr/>
        </p:nvSpPr>
        <p:spPr>
          <a:xfrm>
            <a:off x="474726" y="54495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N03</a:t>
            </a:r>
          </a:p>
        </p:txBody>
      </p:sp>
      <p:sp>
        <p:nvSpPr>
          <p:cNvPr id="25" name="rect-025"/>
          <p:cNvSpPr/>
          <p:nvPr/>
        </p:nvSpPr>
        <p:spPr>
          <a:xfrm>
            <a:off x="4453890" y="2285619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N02  内部工作逻辑"/>
          <p:cNvSpPr txBox="1"/>
          <p:nvPr/>
        </p:nvSpPr>
        <p:spPr>
          <a:xfrm>
            <a:off x="4549902" y="231356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7" name="text-027: 2  irqs_cloned"/>
          <p:cNvSpPr txBox="1"/>
          <p:nvPr/>
        </p:nvSpPr>
        <p:spPr>
          <a:xfrm>
            <a:off x="5727382" y="2482977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irqs_cloned</a:t>
            </a:r>
          </a:p>
        </p:txBody>
      </p:sp>
      <p:sp>
        <p:nvSpPr>
          <p:cNvPr id="28" name="text-028: 每个目标一份源向量"/>
          <p:cNvSpPr txBox="1"/>
          <p:nvPr/>
        </p:nvSpPr>
        <p:spPr>
          <a:xfrm>
            <a:off x="5787390" y="2665186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每个目标一份源向量</a:t>
            </a:r>
          </a:p>
        </p:txBody>
      </p:sp>
      <p:sp>
        <p:nvSpPr>
          <p:cNvPr id="29" name="text-029: 组合逻辑复制"/>
          <p:cNvSpPr txBox="1"/>
          <p:nvPr/>
        </p:nvSpPr>
        <p:spPr>
          <a:xfrm>
            <a:off x="5971413" y="2835874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组合逻辑复制</a:t>
            </a:r>
          </a:p>
        </p:txBody>
      </p:sp>
      <p:sp>
        <p:nvSpPr>
          <p:cNvPr id="30" name="rect-030"/>
          <p:cNvSpPr/>
          <p:nvPr/>
        </p:nvSpPr>
        <p:spPr>
          <a:xfrm>
            <a:off x="4533900" y="313372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1-target"/>
          <p:cNvSpPr/>
          <p:nvPr/>
        </p:nvSpPr>
        <p:spPr>
          <a:xfrm>
            <a:off x="4373880" y="32670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1 ← N01"/>
          <p:cNvSpPr txBox="1"/>
          <p:nvPr/>
        </p:nvSpPr>
        <p:spPr>
          <a:xfrm>
            <a:off x="4715256" y="31772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3" name="E02-source"/>
          <p:cNvSpPr/>
          <p:nvPr/>
        </p:nvSpPr>
        <p:spPr>
          <a:xfrm>
            <a:off x="8155686" y="32670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2 → N03"/>
          <p:cNvSpPr txBox="1"/>
          <p:nvPr/>
        </p:nvSpPr>
        <p:spPr>
          <a:xfrm>
            <a:off x="7197700" y="31772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5" name="rect-035"/>
          <p:cNvSpPr/>
          <p:nvPr/>
        </p:nvSpPr>
        <p:spPr>
          <a:xfrm>
            <a:off x="4453890" y="3677793"/>
            <a:ext cx="3893820" cy="134950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N04  接口与配置"/>
          <p:cNvSpPr txBox="1"/>
          <p:nvPr/>
        </p:nvSpPr>
        <p:spPr>
          <a:xfrm>
            <a:off x="4549902" y="3705743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接口与配置</a:t>
            </a:r>
          </a:p>
        </p:txBody>
      </p:sp>
      <p:sp>
        <p:nvSpPr>
          <p:cNvPr id="37" name="text-037: 4  irq_router_reg_top × 源"/>
          <p:cNvSpPr txBox="1"/>
          <p:nvPr/>
        </p:nvSpPr>
        <p:spPr>
          <a:xfrm>
            <a:off x="5227320" y="3875151"/>
            <a:ext cx="234696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irq_router_reg_top × 源</a:t>
            </a:r>
          </a:p>
        </p:txBody>
      </p:sp>
      <p:sp>
        <p:nvSpPr>
          <p:cNvPr id="38" name="text-038: 每源一个 IRQ_TARGET_MASK"/>
          <p:cNvSpPr txBox="1"/>
          <p:nvPr/>
        </p:nvSpPr>
        <p:spPr>
          <a:xfrm>
            <a:off x="5456149" y="4057360"/>
            <a:ext cx="188930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每源一个 IRQ_TARGET_MASK</a:t>
            </a:r>
          </a:p>
        </p:txBody>
      </p:sp>
      <p:sp>
        <p:nvSpPr>
          <p:cNvPr id="39" name="text-039: 地址低位 addr[15:2] 选择源"/>
          <p:cNvSpPr txBox="1"/>
          <p:nvPr/>
        </p:nvSpPr>
        <p:spPr>
          <a:xfrm>
            <a:off x="5431612" y="4228048"/>
            <a:ext cx="193837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地址低位 addr[15:2] 选择源</a:t>
            </a:r>
          </a:p>
        </p:txBody>
      </p:sp>
      <p:sp>
        <p:nvSpPr>
          <p:cNvPr id="40" name="text-040: 复位 mask = 1：仅 target 0"/>
          <p:cNvSpPr txBox="1"/>
          <p:nvPr/>
        </p:nvSpPr>
        <p:spPr>
          <a:xfrm>
            <a:off x="5376405" y="4398736"/>
            <a:ext cx="20487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复位 mask = 1：仅 target 0</a:t>
            </a:r>
          </a:p>
        </p:txBody>
      </p:sp>
      <p:sp>
        <p:nvSpPr>
          <p:cNvPr id="41" name="rect-041"/>
          <p:cNvSpPr/>
          <p:nvPr/>
        </p:nvSpPr>
        <p:spPr>
          <a:xfrm>
            <a:off x="4533900" y="469658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6-source"/>
          <p:cNvSpPr/>
          <p:nvPr/>
        </p:nvSpPr>
        <p:spPr>
          <a:xfrm>
            <a:off x="8155686" y="48299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6 → N03"/>
          <p:cNvSpPr txBox="1"/>
          <p:nvPr/>
        </p:nvSpPr>
        <p:spPr>
          <a:xfrm>
            <a:off x="7197700" y="47401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N03</a:t>
            </a:r>
          </a:p>
        </p:txBody>
      </p:sp>
      <p:sp>
        <p:nvSpPr>
          <p:cNvPr id="44" name="rect-044"/>
          <p:cNvSpPr/>
          <p:nvPr/>
        </p:nvSpPr>
        <p:spPr>
          <a:xfrm>
            <a:off x="8694420" y="2285619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N03  内部工作逻辑"/>
          <p:cNvSpPr txBox="1"/>
          <p:nvPr/>
        </p:nvSpPr>
        <p:spPr>
          <a:xfrm>
            <a:off x="8790432" y="231356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46" name="text-046: 3  按位 AND"/>
          <p:cNvSpPr txBox="1"/>
          <p:nvPr/>
        </p:nvSpPr>
        <p:spPr>
          <a:xfrm>
            <a:off x="10137934" y="2482977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按位 AND</a:t>
            </a:r>
          </a:p>
        </p:txBody>
      </p:sp>
      <p:sp>
        <p:nvSpPr>
          <p:cNvPr id="47" name="text-047: out[target][source]"/>
          <p:cNvSpPr txBox="1"/>
          <p:nvPr/>
        </p:nvSpPr>
        <p:spPr>
          <a:xfrm>
            <a:off x="9822428" y="2665186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out[target][source]</a:t>
            </a:r>
          </a:p>
        </p:txBody>
      </p:sp>
      <p:sp>
        <p:nvSpPr>
          <p:cNvPr id="48" name="text-048: = src[source]"/>
          <p:cNvSpPr txBox="1"/>
          <p:nvPr/>
        </p:nvSpPr>
        <p:spPr>
          <a:xfrm>
            <a:off x="10061658" y="2835874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= src[source]</a:t>
            </a:r>
          </a:p>
        </p:txBody>
      </p:sp>
      <p:sp>
        <p:nvSpPr>
          <p:cNvPr id="49" name="text-049: &amp; mask[source][target]"/>
          <p:cNvSpPr txBox="1"/>
          <p:nvPr/>
        </p:nvSpPr>
        <p:spPr>
          <a:xfrm>
            <a:off x="9702813" y="3006562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&amp; mask[source][target]</a:t>
            </a:r>
          </a:p>
        </p:txBody>
      </p:sp>
      <p:sp>
        <p:nvSpPr>
          <p:cNvPr id="50" name="rect-050"/>
          <p:cNvSpPr/>
          <p:nvPr/>
        </p:nvSpPr>
        <p:spPr>
          <a:xfrm>
            <a:off x="8774430" y="3304413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2-target"/>
          <p:cNvSpPr/>
          <p:nvPr/>
        </p:nvSpPr>
        <p:spPr>
          <a:xfrm>
            <a:off x="8614410" y="34377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 ← N02"/>
          <p:cNvSpPr txBox="1"/>
          <p:nvPr/>
        </p:nvSpPr>
        <p:spPr>
          <a:xfrm>
            <a:off x="8955786" y="33479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53" name="E06-target"/>
          <p:cNvSpPr/>
          <p:nvPr/>
        </p:nvSpPr>
        <p:spPr>
          <a:xfrm>
            <a:off x="8614410" y="362445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 ← N04"/>
          <p:cNvSpPr txBox="1"/>
          <p:nvPr/>
        </p:nvSpPr>
        <p:spPr>
          <a:xfrm>
            <a:off x="8955786" y="353462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N04</a:t>
            </a:r>
          </a:p>
        </p:txBody>
      </p:sp>
      <p:sp>
        <p:nvSpPr>
          <p:cNvPr id="55" name="E03-source"/>
          <p:cNvSpPr/>
          <p:nvPr/>
        </p:nvSpPr>
        <p:spPr>
          <a:xfrm>
            <a:off x="12396216" y="34377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 → P01"/>
          <p:cNvSpPr txBox="1"/>
          <p:nvPr/>
        </p:nvSpPr>
        <p:spPr>
          <a:xfrm>
            <a:off x="11438230" y="33479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P01</a:t>
            </a:r>
          </a:p>
        </p:txBody>
      </p:sp>
      <p:sp>
        <p:nvSpPr>
          <p:cNvPr id="57" name="E04-source"/>
          <p:cNvSpPr/>
          <p:nvPr/>
        </p:nvSpPr>
        <p:spPr>
          <a:xfrm>
            <a:off x="12396216" y="362445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 → P02"/>
          <p:cNvSpPr txBox="1"/>
          <p:nvPr/>
        </p:nvSpPr>
        <p:spPr>
          <a:xfrm>
            <a:off x="11438230" y="353462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P02</a:t>
            </a:r>
          </a:p>
        </p:txBody>
      </p:sp>
      <p:sp>
        <p:nvSpPr>
          <p:cNvPr id="59" name="E05-source"/>
          <p:cNvSpPr/>
          <p:nvPr/>
        </p:nvSpPr>
        <p:spPr>
          <a:xfrm>
            <a:off x="12396216" y="381114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 → P03"/>
          <p:cNvSpPr txBox="1"/>
          <p:nvPr/>
        </p:nvSpPr>
        <p:spPr>
          <a:xfrm>
            <a:off x="11438230" y="372131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P03</a:t>
            </a:r>
          </a:p>
        </p:txBody>
      </p:sp>
      <p:sp>
        <p:nvSpPr>
          <p:cNvPr id="61" name="rect-061"/>
          <p:cNvSpPr/>
          <p:nvPr/>
        </p:nvSpPr>
        <p:spPr>
          <a:xfrm>
            <a:off x="8694420" y="4221861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P02  外部/组边界"/>
          <p:cNvSpPr txBox="1"/>
          <p:nvPr/>
        </p:nvSpPr>
        <p:spPr>
          <a:xfrm>
            <a:off x="8790432" y="424981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63" name="text-063: target 1… → hart CLIC"/>
          <p:cNvSpPr txBox="1"/>
          <p:nvPr/>
        </p:nvSpPr>
        <p:spPr>
          <a:xfrm>
            <a:off x="9617869" y="4419219"/>
            <a:ext cx="20469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1… → hart CLIC</a:t>
            </a:r>
          </a:p>
        </p:txBody>
      </p:sp>
      <p:sp>
        <p:nvSpPr>
          <p:cNvPr id="64" name="rect-064"/>
          <p:cNvSpPr/>
          <p:nvPr/>
        </p:nvSpPr>
        <p:spPr>
          <a:xfrm>
            <a:off x="8774430" y="472859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04-target"/>
          <p:cNvSpPr/>
          <p:nvPr/>
        </p:nvSpPr>
        <p:spPr>
          <a:xfrm>
            <a:off x="8614410" y="48619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4 ← N03"/>
          <p:cNvSpPr txBox="1"/>
          <p:nvPr/>
        </p:nvSpPr>
        <p:spPr>
          <a:xfrm>
            <a:off x="8955786" y="47721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67" name="text-067: target 0 → PLIC"/>
          <p:cNvSpPr txBox="1"/>
          <p:nvPr/>
        </p:nvSpPr>
        <p:spPr>
          <a:xfrm>
            <a:off x="213360" y="5870920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68" name="text-068: target 1… → 各 hart CLIC"/>
          <p:cNvSpPr txBox="1"/>
          <p:nvPr/>
        </p:nvSpPr>
        <p:spPr>
          <a:xfrm>
            <a:off x="213360" y="6036274"/>
            <a:ext cx="208559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target 1… → 各 hart CLIC</a:t>
            </a:r>
          </a:p>
        </p:txBody>
      </p:sp>
      <p:sp>
        <p:nvSpPr>
          <p:cNvPr id="69" name="text-069: 后续 target → 外部输出"/>
          <p:cNvSpPr txBox="1"/>
          <p:nvPr/>
        </p:nvSpPr>
        <p:spPr>
          <a:xfrm>
            <a:off x="213360" y="6201628"/>
            <a:ext cx="16991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后续 target → 外部输出</a:t>
            </a:r>
          </a:p>
        </p:txBody>
      </p:sp>
      <p:sp>
        <p:nvSpPr>
          <p:cNvPr id="70" name="text-070: Regbus 请求 / 响应"/>
          <p:cNvSpPr txBox="1"/>
          <p:nvPr/>
        </p:nvSpPr>
        <p:spPr>
          <a:xfrm>
            <a:off x="213360" y="6366982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71" name="text-071: 掩码重排为目标 × 源"/>
          <p:cNvSpPr txBox="1"/>
          <p:nvPr/>
        </p:nvSpPr>
        <p:spPr>
          <a:xfrm>
            <a:off x="213360" y="6532336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掩码重排为目标 × 源</a:t>
            </a:r>
          </a:p>
        </p:txBody>
      </p:sp>
      <p:sp>
        <p:nvSpPr>
          <p:cNvPr id="72" name="text-072: 当前默认 / FPGA 为 0；Cfg.IrqRouter = 0 时：绕过掩码"/>
          <p:cNvSpPr txBox="1"/>
          <p:nvPr/>
        </p:nvSpPr>
        <p:spPr>
          <a:xfrm>
            <a:off x="213360" y="6697690"/>
            <a:ext cx="748973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当前默认 / FPGA 为 0；Cfg.IrqRouter = 0 时：绕过掩码，原始源向量复制给各目标；模块没有 pending 或优先级队列。</a:t>
            </a:r>
          </a:p>
        </p:txBody>
      </p:sp>
      <p:sp>
        <p:nvSpPr>
          <p:cNvPr id="73" name="text-073: 配对端口表示图示连接；已有/规划状态见模块和连接表。方向与 A 版一致。虚线模块"/>
          <p:cNvSpPr txBox="1"/>
          <p:nvPr/>
        </p:nvSpPr>
        <p:spPr>
          <a:xfrm>
            <a:off x="213360" y="7246666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8  BootROM：组合 ROM 内容与 Regbus 应答延迟"/>
          <p:cNvSpPr txBox="1"/>
          <p:nvPr/>
        </p:nvSpPr>
        <p:spPr>
          <a:xfrm>
            <a:off x="213360" y="2013265"/>
            <a:ext cx="45403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08  BootROM：组合 ROM 内容与 Regbus 应答延迟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2288286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725674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275362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reg_to_mem"/>
          <p:cNvSpPr txBox="1"/>
          <p:nvPr/>
        </p:nvSpPr>
        <p:spPr>
          <a:xfrm>
            <a:off x="1530191" y="2923032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reg_to_mem</a:t>
            </a:r>
          </a:p>
        </p:txBody>
      </p:sp>
      <p:sp>
        <p:nvSpPr>
          <p:cNvPr id="7" name="text-007: 地址截为 16-bit"/>
          <p:cNvSpPr txBox="1"/>
          <p:nvPr/>
        </p:nvSpPr>
        <p:spPr>
          <a:xfrm>
            <a:off x="1574463" y="3105241"/>
            <a:ext cx="117161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地址截为 16-bit</a:t>
            </a:r>
          </a:p>
        </p:txBody>
      </p:sp>
      <p:sp>
        <p:nvSpPr>
          <p:cNvPr id="8" name="text-008: req / we / addr"/>
          <p:cNvSpPr txBox="1"/>
          <p:nvPr/>
        </p:nvSpPr>
        <p:spPr>
          <a:xfrm>
            <a:off x="1500854" y="3275929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 / we / addr</a:t>
            </a:r>
          </a:p>
        </p:txBody>
      </p:sp>
      <p:sp>
        <p:nvSpPr>
          <p:cNvPr id="9" name="text-009: gnt = req"/>
          <p:cNvSpPr txBox="1"/>
          <p:nvPr/>
        </p:nvSpPr>
        <p:spPr>
          <a:xfrm>
            <a:off x="1740084" y="3446617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gnt = req</a:t>
            </a:r>
          </a:p>
        </p:txBody>
      </p:sp>
      <p:sp>
        <p:nvSpPr>
          <p:cNvPr id="10" name="text-010: rvalid / rerror 返回"/>
          <p:cNvSpPr txBox="1"/>
          <p:nvPr/>
        </p:nvSpPr>
        <p:spPr>
          <a:xfrm>
            <a:off x="1338301" y="3617305"/>
            <a:ext cx="164393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rvalid / rerror 返回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391515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target"/>
          <p:cNvSpPr/>
          <p:nvPr/>
        </p:nvSpPr>
        <p:spPr>
          <a:xfrm>
            <a:off x="133350" y="40485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↔ P01"/>
          <p:cNvSpPr txBox="1"/>
          <p:nvPr/>
        </p:nvSpPr>
        <p:spPr>
          <a:xfrm>
            <a:off x="474726" y="39586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P01</a:t>
            </a:r>
          </a:p>
        </p:txBody>
      </p:sp>
      <p:sp>
        <p:nvSpPr>
          <p:cNvPr id="14" name="E05-target"/>
          <p:cNvSpPr/>
          <p:nvPr/>
        </p:nvSpPr>
        <p:spPr>
          <a:xfrm>
            <a:off x="133350" y="42351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E05 ← N03"/>
          <p:cNvSpPr txBox="1"/>
          <p:nvPr/>
        </p:nvSpPr>
        <p:spPr>
          <a:xfrm>
            <a:off x="474726" y="41453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N03</a:t>
            </a:r>
          </a:p>
        </p:txBody>
      </p:sp>
      <p:sp>
        <p:nvSpPr>
          <p:cNvPr id="16" name="E02-source"/>
          <p:cNvSpPr/>
          <p:nvPr/>
        </p:nvSpPr>
        <p:spPr>
          <a:xfrm>
            <a:off x="3915156" y="40485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2 → N02"/>
          <p:cNvSpPr txBox="1"/>
          <p:nvPr/>
        </p:nvSpPr>
        <p:spPr>
          <a:xfrm>
            <a:off x="2957170" y="39586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N02</a:t>
            </a:r>
          </a:p>
        </p:txBody>
      </p:sp>
      <p:sp>
        <p:nvSpPr>
          <p:cNvPr id="18" name="E04-source"/>
          <p:cNvSpPr/>
          <p:nvPr/>
        </p:nvSpPr>
        <p:spPr>
          <a:xfrm>
            <a:off x="3915156" y="42351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4 → N03"/>
          <p:cNvSpPr txBox="1"/>
          <p:nvPr/>
        </p:nvSpPr>
        <p:spPr>
          <a:xfrm>
            <a:off x="2957170" y="41453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N03</a:t>
            </a:r>
          </a:p>
        </p:txBody>
      </p:sp>
      <p:sp>
        <p:nvSpPr>
          <p:cNvPr id="20" name="rect-020"/>
          <p:cNvSpPr/>
          <p:nvPr/>
        </p:nvSpPr>
        <p:spPr>
          <a:xfrm>
            <a:off x="4453890" y="2725674"/>
            <a:ext cx="3893820" cy="152019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02  状态/存储"/>
          <p:cNvSpPr txBox="1"/>
          <p:nvPr/>
        </p:nvSpPr>
        <p:spPr>
          <a:xfrm>
            <a:off x="4549902" y="275362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22" name="text-022: 2  cheshire_bootrom"/>
          <p:cNvSpPr txBox="1"/>
          <p:nvPr/>
        </p:nvSpPr>
        <p:spPr>
          <a:xfrm>
            <a:off x="5510689" y="2923032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cheshire_bootrom</a:t>
            </a:r>
          </a:p>
        </p:txBody>
      </p:sp>
      <p:sp>
        <p:nvSpPr>
          <p:cNvPr id="23" name="text-023: word = addr / 4"/>
          <p:cNvSpPr txBox="1"/>
          <p:nvPr/>
        </p:nvSpPr>
        <p:spPr>
          <a:xfrm>
            <a:off x="5741384" y="3105241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word = addr / 4</a:t>
            </a:r>
          </a:p>
        </p:txBody>
      </p:sp>
      <p:sp>
        <p:nvSpPr>
          <p:cNvPr id="24" name="text-024: case(word) → data[31:0]"/>
          <p:cNvSpPr txBox="1"/>
          <p:nvPr/>
        </p:nvSpPr>
        <p:spPr>
          <a:xfrm>
            <a:off x="5400942" y="3275929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case(word) → data[31:0]</a:t>
            </a:r>
          </a:p>
        </p:txBody>
      </p:sp>
      <p:sp>
        <p:nvSpPr>
          <p:cNvPr id="25" name="text-025: 当前生成内容：2048 words"/>
          <p:cNvSpPr txBox="1"/>
          <p:nvPr/>
        </p:nvSpPr>
        <p:spPr>
          <a:xfrm>
            <a:off x="5511356" y="3446617"/>
            <a:ext cx="17788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当前生成内容：2048 words</a:t>
            </a:r>
          </a:p>
        </p:txBody>
      </p:sp>
      <p:sp>
        <p:nvSpPr>
          <p:cNvPr id="26" name="text-026: 组合查表；clk / rst 未用"/>
          <p:cNvSpPr txBox="1"/>
          <p:nvPr/>
        </p:nvSpPr>
        <p:spPr>
          <a:xfrm>
            <a:off x="5511356" y="3617305"/>
            <a:ext cx="17788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组合查表；clk / rst 未用</a:t>
            </a:r>
          </a:p>
        </p:txBody>
      </p:sp>
      <p:sp>
        <p:nvSpPr>
          <p:cNvPr id="27" name="rect-027"/>
          <p:cNvSpPr/>
          <p:nvPr/>
        </p:nvSpPr>
        <p:spPr>
          <a:xfrm>
            <a:off x="4533900" y="391515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2-target"/>
          <p:cNvSpPr/>
          <p:nvPr/>
        </p:nvSpPr>
        <p:spPr>
          <a:xfrm>
            <a:off x="4373880" y="40485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E02 ← N01"/>
          <p:cNvSpPr txBox="1"/>
          <p:nvPr/>
        </p:nvSpPr>
        <p:spPr>
          <a:xfrm>
            <a:off x="4715256" y="39586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N01</a:t>
            </a:r>
          </a:p>
        </p:txBody>
      </p:sp>
      <p:sp>
        <p:nvSpPr>
          <p:cNvPr id="30" name="E03-source"/>
          <p:cNvSpPr/>
          <p:nvPr/>
        </p:nvSpPr>
        <p:spPr>
          <a:xfrm>
            <a:off x="8155686" y="40485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03 → N03"/>
          <p:cNvSpPr txBox="1"/>
          <p:nvPr/>
        </p:nvSpPr>
        <p:spPr>
          <a:xfrm>
            <a:off x="7197700" y="39586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N03</a:t>
            </a:r>
          </a:p>
        </p:txBody>
      </p:sp>
      <p:sp>
        <p:nvSpPr>
          <p:cNvPr id="32" name="rect-032"/>
          <p:cNvSpPr/>
          <p:nvPr/>
        </p:nvSpPr>
        <p:spPr>
          <a:xfrm>
            <a:off x="4453890" y="4459224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P01  外部/组边界"/>
          <p:cNvSpPr txBox="1"/>
          <p:nvPr/>
        </p:nvSpPr>
        <p:spPr>
          <a:xfrm>
            <a:off x="4549902" y="4487174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34" name="text-034: Regbus 32"/>
          <p:cNvSpPr txBox="1"/>
          <p:nvPr/>
        </p:nvSpPr>
        <p:spPr>
          <a:xfrm>
            <a:off x="5944076" y="4656582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496595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source"/>
          <p:cNvSpPr/>
          <p:nvPr/>
        </p:nvSpPr>
        <p:spPr>
          <a:xfrm>
            <a:off x="8155686" y="509930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↔ N01"/>
          <p:cNvSpPr txBox="1"/>
          <p:nvPr/>
        </p:nvSpPr>
        <p:spPr>
          <a:xfrm>
            <a:off x="7197700" y="500947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8" name="rect-038"/>
          <p:cNvSpPr/>
          <p:nvPr/>
        </p:nvSpPr>
        <p:spPr>
          <a:xfrm>
            <a:off x="8694420" y="2725674"/>
            <a:ext cx="3893820" cy="153619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3  状态/存储"/>
          <p:cNvSpPr txBox="1"/>
          <p:nvPr/>
        </p:nvSpPr>
        <p:spPr>
          <a:xfrm>
            <a:off x="8790432" y="275362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状态/存储</a:t>
            </a:r>
          </a:p>
        </p:txBody>
      </p:sp>
      <p:sp>
        <p:nvSpPr>
          <p:cNvPr id="40" name="text-040: 3  FF 延迟对齐"/>
          <p:cNvSpPr txBox="1"/>
          <p:nvPr/>
        </p:nvSpPr>
        <p:spPr>
          <a:xfrm>
            <a:off x="10047922" y="2923032"/>
            <a:ext cx="11868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FF 延迟对齐</a:t>
            </a:r>
          </a:p>
        </p:txBody>
      </p:sp>
      <p:sp>
        <p:nvSpPr>
          <p:cNvPr id="41" name="text-041: data_q ← data"/>
          <p:cNvSpPr txBox="1"/>
          <p:nvPr/>
        </p:nvSpPr>
        <p:spPr>
          <a:xfrm>
            <a:off x="10040188" y="3105241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data_q ← data</a:t>
            </a:r>
          </a:p>
        </p:txBody>
      </p:sp>
      <p:sp>
        <p:nvSpPr>
          <p:cNvPr id="42" name="text-042: req_q ← req"/>
          <p:cNvSpPr txBox="1"/>
          <p:nvPr/>
        </p:nvSpPr>
        <p:spPr>
          <a:xfrm>
            <a:off x="10119932" y="3275929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req_q ← req</a:t>
            </a:r>
          </a:p>
        </p:txBody>
      </p:sp>
      <p:sp>
        <p:nvSpPr>
          <p:cNvPr id="43" name="text-043: we_q ← we"/>
          <p:cNvSpPr txBox="1"/>
          <p:nvPr/>
        </p:nvSpPr>
        <p:spPr>
          <a:xfrm>
            <a:off x="10199675" y="34466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we_q ← we</a:t>
            </a:r>
          </a:p>
        </p:txBody>
      </p:sp>
      <p:sp>
        <p:nvSpPr>
          <p:cNvPr id="44" name="rect-044"/>
          <p:cNvSpPr/>
          <p:nvPr/>
        </p:nvSpPr>
        <p:spPr>
          <a:xfrm>
            <a:off x="8774430" y="374446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3-target"/>
          <p:cNvSpPr/>
          <p:nvPr/>
        </p:nvSpPr>
        <p:spPr>
          <a:xfrm>
            <a:off x="8614410" y="38778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← N02"/>
          <p:cNvSpPr txBox="1"/>
          <p:nvPr/>
        </p:nvSpPr>
        <p:spPr>
          <a:xfrm>
            <a:off x="8955786" y="37879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47" name="E04-target"/>
          <p:cNvSpPr/>
          <p:nvPr/>
        </p:nvSpPr>
        <p:spPr>
          <a:xfrm>
            <a:off x="8614410" y="40645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 ← N01"/>
          <p:cNvSpPr txBox="1"/>
          <p:nvPr/>
        </p:nvSpPr>
        <p:spPr>
          <a:xfrm>
            <a:off x="8955786" y="39746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N01</a:t>
            </a:r>
          </a:p>
        </p:txBody>
      </p:sp>
      <p:sp>
        <p:nvSpPr>
          <p:cNvPr id="49" name="E05-source"/>
          <p:cNvSpPr/>
          <p:nvPr/>
        </p:nvSpPr>
        <p:spPr>
          <a:xfrm>
            <a:off x="12396216" y="38778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5 → N01"/>
          <p:cNvSpPr txBox="1"/>
          <p:nvPr/>
        </p:nvSpPr>
        <p:spPr>
          <a:xfrm>
            <a:off x="11438230" y="37879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N01</a:t>
            </a:r>
          </a:p>
        </p:txBody>
      </p:sp>
      <p:sp>
        <p:nvSpPr>
          <p:cNvPr id="51" name="text-051: Cfg.Bootrom 生成分支；clk_i / rst_ni"/>
          <p:cNvSpPr txBox="1"/>
          <p:nvPr/>
        </p:nvSpPr>
        <p:spPr>
          <a:xfrm>
            <a:off x="213360" y="5430865"/>
            <a:ext cx="2809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Cfg.Bootrom 生成分支；clk_i / rst_ni</a:t>
            </a:r>
          </a:p>
        </p:txBody>
      </p:sp>
      <p:sp>
        <p:nvSpPr>
          <p:cNvPr id="52" name="text-052: Regbus 32"/>
          <p:cNvSpPr txBox="1"/>
          <p:nvPr/>
        </p:nvSpPr>
        <p:spPr>
          <a:xfrm>
            <a:off x="213360" y="5596219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53" name="text-053: req / we 同步延迟"/>
          <p:cNvSpPr txBox="1"/>
          <p:nvPr/>
        </p:nvSpPr>
        <p:spPr>
          <a:xfrm>
            <a:off x="213360" y="5761573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req / we 同步延迟</a:t>
            </a:r>
          </a:p>
        </p:txBody>
      </p:sp>
      <p:sp>
        <p:nvSpPr>
          <p:cNvPr id="54" name="text-054: rdata = data_q；rvalid = req_q；rerror = w"/>
          <p:cNvSpPr txBox="1"/>
          <p:nvPr/>
        </p:nvSpPr>
        <p:spPr>
          <a:xfrm>
            <a:off x="213360" y="5926927"/>
            <a:ext cx="36375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rdata = data_q；rvalid = req_q；rerror = we_q</a:t>
            </a:r>
          </a:p>
        </p:txBody>
      </p:sp>
      <p:sp>
        <p:nvSpPr>
          <p:cNvPr id="55" name="text-055: 软件源 .S / .c → 链接与 ROM 生成脚本 → cheshire_bo"/>
          <p:cNvSpPr txBox="1"/>
          <p:nvPr/>
        </p:nvSpPr>
        <p:spPr>
          <a:xfrm>
            <a:off x="213360" y="6092281"/>
            <a:ext cx="50360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软件源 .S / .c → 链接与 ROM 生成脚本 → cheshire_bootrom.sv 常量内容</a:t>
            </a:r>
          </a:p>
        </p:txBody>
      </p:sp>
      <p:sp>
        <p:nvSpPr>
          <p:cNvPr id="56" name="text-056: 写访问返回错误；16-bit 接口窗口不等于 64 KiB 唯一 ROM 内容。"/>
          <p:cNvSpPr txBox="1"/>
          <p:nvPr/>
        </p:nvSpPr>
        <p:spPr>
          <a:xfrm>
            <a:off x="213360" y="6257635"/>
            <a:ext cx="41711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写访问返回错误；16-bit 接口窗口不等于 64 KiB 唯一 ROM 内容。</a:t>
            </a:r>
          </a:p>
        </p:txBody>
      </p:sp>
      <p:sp>
        <p:nvSpPr>
          <p:cNvPr id="57" name="text-057: 配对端口表示图示连接；已有/规划状态见模块和连接表。方向与 A 版一致。虚线模块"/>
          <p:cNvSpPr txBox="1"/>
          <p:nvPr/>
        </p:nvSpPr>
        <p:spPr>
          <a:xfrm>
            <a:off x="213360" y="6806611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9  SoC Regs：软件 scratch 与只读硬件能力信息"/>
          <p:cNvSpPr txBox="1"/>
          <p:nvPr/>
        </p:nvSpPr>
        <p:spPr>
          <a:xfrm>
            <a:off x="213360" y="2157283"/>
            <a:ext cx="45488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09  SoC Regs：软件 scratch 与只读硬件能力信息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2432304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869692"/>
            <a:ext cx="3893820" cy="1178814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2897642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Regbus 32 请求"/>
          <p:cNvSpPr txBox="1"/>
          <p:nvPr/>
        </p:nvSpPr>
        <p:spPr>
          <a:xfrm>
            <a:off x="1526858" y="3067050"/>
            <a:ext cx="12668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请求</a:t>
            </a:r>
          </a:p>
        </p:txBody>
      </p:sp>
      <p:sp>
        <p:nvSpPr>
          <p:cNvPr id="7" name="text-007: addr / write / wstrb"/>
          <p:cNvSpPr txBox="1"/>
          <p:nvPr/>
        </p:nvSpPr>
        <p:spPr>
          <a:xfrm>
            <a:off x="1301496" y="3249259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wstrb</a:t>
            </a:r>
          </a:p>
        </p:txBody>
      </p:sp>
      <p:sp>
        <p:nvSpPr>
          <p:cNvPr id="8" name="text-008: wdata / valid"/>
          <p:cNvSpPr txBox="1"/>
          <p:nvPr/>
        </p:nvSpPr>
        <p:spPr>
          <a:xfrm>
            <a:off x="1580598" y="3419947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wdata / valid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371779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6-target"/>
          <p:cNvSpPr/>
          <p:nvPr/>
        </p:nvSpPr>
        <p:spPr>
          <a:xfrm>
            <a:off x="133350" y="38511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6 ← N05"/>
          <p:cNvSpPr txBox="1"/>
          <p:nvPr/>
        </p:nvSpPr>
        <p:spPr>
          <a:xfrm>
            <a:off x="474726" y="37613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12" name="E01-source"/>
          <p:cNvSpPr/>
          <p:nvPr/>
        </p:nvSpPr>
        <p:spPr>
          <a:xfrm>
            <a:off x="3915156" y="38511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→ N02"/>
          <p:cNvSpPr txBox="1"/>
          <p:nvPr/>
        </p:nvSpPr>
        <p:spPr>
          <a:xfrm>
            <a:off x="2957170" y="37613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4261866"/>
            <a:ext cx="3893820" cy="152019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接口与配置"/>
          <p:cNvSpPr txBox="1"/>
          <p:nvPr/>
        </p:nvSpPr>
        <p:spPr>
          <a:xfrm>
            <a:off x="309372" y="4289816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接口与配置</a:t>
            </a:r>
          </a:p>
        </p:txBody>
      </p:sp>
      <p:sp>
        <p:nvSpPr>
          <p:cNvPr id="16" name="text-016: 3  硬件只读字段"/>
          <p:cNvSpPr txBox="1"/>
          <p:nvPr/>
        </p:nvSpPr>
        <p:spPr>
          <a:xfrm>
            <a:off x="1563529" y="4459224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硬件只读字段</a:t>
            </a:r>
          </a:p>
        </p:txBody>
      </p:sp>
      <p:sp>
        <p:nvSpPr>
          <p:cNvPr id="17" name="text-017: boot_mode_i；RtcFreq；PlatformRom"/>
          <p:cNvSpPr txBox="1"/>
          <p:nvPr/>
        </p:nvSpPr>
        <p:spPr>
          <a:xfrm>
            <a:off x="819969" y="4641433"/>
            <a:ext cx="2680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boot_mode_i；RtcFreq；PlatformRom</a:t>
            </a:r>
          </a:p>
        </p:txBody>
      </p:sp>
      <p:sp>
        <p:nvSpPr>
          <p:cNvPr id="18" name="text-018: NumIntHarts；HW_FEATURES；LLC_SIZE"/>
          <p:cNvSpPr txBox="1"/>
          <p:nvPr/>
        </p:nvSpPr>
        <p:spPr>
          <a:xfrm>
            <a:off x="780098" y="4812121"/>
            <a:ext cx="2760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NumIntHarts；HW_FEATURES；LLC_SIZE</a:t>
            </a:r>
          </a:p>
        </p:txBody>
      </p:sp>
      <p:sp>
        <p:nvSpPr>
          <p:cNvPr id="19" name="text-019: VGA RGB 位宽"/>
          <p:cNvSpPr txBox="1"/>
          <p:nvPr/>
        </p:nvSpPr>
        <p:spPr>
          <a:xfrm>
            <a:off x="1657274" y="4982809"/>
            <a:ext cx="10059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VGA RGB 位宽</a:t>
            </a:r>
          </a:p>
        </p:txBody>
      </p:sp>
      <p:sp>
        <p:nvSpPr>
          <p:cNvPr id="20" name="text-020: 来自 SoC 的 hw2reg 连线"/>
          <p:cNvSpPr txBox="1"/>
          <p:nvPr/>
        </p:nvSpPr>
        <p:spPr>
          <a:xfrm>
            <a:off x="1273893" y="5153497"/>
            <a:ext cx="17727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SoC 的 hw2reg 连线</a:t>
            </a:r>
          </a:p>
        </p:txBody>
      </p:sp>
      <p:sp>
        <p:nvSpPr>
          <p:cNvPr id="21" name="rect-021"/>
          <p:cNvSpPr/>
          <p:nvPr/>
        </p:nvSpPr>
        <p:spPr>
          <a:xfrm>
            <a:off x="293370" y="545134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04-source"/>
          <p:cNvSpPr/>
          <p:nvPr/>
        </p:nvSpPr>
        <p:spPr>
          <a:xfrm>
            <a:off x="3915156" y="55846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4 → N05"/>
          <p:cNvSpPr txBox="1"/>
          <p:nvPr/>
        </p:nvSpPr>
        <p:spPr>
          <a:xfrm>
            <a:off x="2957170" y="54948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24" name="rect-024"/>
          <p:cNvSpPr/>
          <p:nvPr/>
        </p:nvSpPr>
        <p:spPr>
          <a:xfrm>
            <a:off x="4453890" y="2869692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N02  内部工作逻辑"/>
          <p:cNvSpPr txBox="1"/>
          <p:nvPr/>
        </p:nvSpPr>
        <p:spPr>
          <a:xfrm>
            <a:off x="4549902" y="289764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6" name="text-026: 1  地址与访问译码"/>
          <p:cNvSpPr txBox="1"/>
          <p:nvPr/>
        </p:nvSpPr>
        <p:spPr>
          <a:xfrm>
            <a:off x="5737384" y="3067050"/>
            <a:ext cx="13268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地址与访问译码</a:t>
            </a:r>
          </a:p>
        </p:txBody>
      </p:sp>
      <p:sp>
        <p:nvSpPr>
          <p:cNvPr id="27" name="text-027: cheshire_reg_top"/>
          <p:cNvSpPr txBox="1"/>
          <p:nvPr/>
        </p:nvSpPr>
        <p:spPr>
          <a:xfrm>
            <a:off x="5701513" y="3249259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cheshire_reg_top</a:t>
            </a:r>
          </a:p>
        </p:txBody>
      </p:sp>
      <p:sp>
        <p:nvSpPr>
          <p:cNvPr id="28" name="text-028: reg_we / reg_re"/>
          <p:cNvSpPr txBox="1"/>
          <p:nvPr/>
        </p:nvSpPr>
        <p:spPr>
          <a:xfrm>
            <a:off x="5741384" y="3419947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reg_we / reg_re</a:t>
            </a:r>
          </a:p>
        </p:txBody>
      </p:sp>
      <p:sp>
        <p:nvSpPr>
          <p:cNvPr id="29" name="text-029: 字节写使能 / 未命中错误"/>
          <p:cNvSpPr txBox="1"/>
          <p:nvPr/>
        </p:nvSpPr>
        <p:spPr>
          <a:xfrm>
            <a:off x="5606434" y="3590635"/>
            <a:ext cx="15887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字节写使能 / 未命中错误</a:t>
            </a:r>
          </a:p>
        </p:txBody>
      </p:sp>
      <p:sp>
        <p:nvSpPr>
          <p:cNvPr id="30" name="rect-030"/>
          <p:cNvSpPr/>
          <p:nvPr/>
        </p:nvSpPr>
        <p:spPr>
          <a:xfrm>
            <a:off x="4533900" y="388848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1-target"/>
          <p:cNvSpPr/>
          <p:nvPr/>
        </p:nvSpPr>
        <p:spPr>
          <a:xfrm>
            <a:off x="4373880" y="40218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1 ← N01"/>
          <p:cNvSpPr txBox="1"/>
          <p:nvPr/>
        </p:nvSpPr>
        <p:spPr>
          <a:xfrm>
            <a:off x="4715256" y="39320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3" name="E02-source"/>
          <p:cNvSpPr/>
          <p:nvPr/>
        </p:nvSpPr>
        <p:spPr>
          <a:xfrm>
            <a:off x="8155686" y="40218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2 → N03"/>
          <p:cNvSpPr txBox="1"/>
          <p:nvPr/>
        </p:nvSpPr>
        <p:spPr>
          <a:xfrm>
            <a:off x="7197700" y="39320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5" name="E05-source"/>
          <p:cNvSpPr/>
          <p:nvPr/>
        </p:nvSpPr>
        <p:spPr>
          <a:xfrm>
            <a:off x="8155686" y="42085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5 → N05"/>
          <p:cNvSpPr txBox="1"/>
          <p:nvPr/>
        </p:nvSpPr>
        <p:spPr>
          <a:xfrm>
            <a:off x="7197700" y="41187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N05</a:t>
            </a:r>
          </a:p>
        </p:txBody>
      </p:sp>
      <p:sp>
        <p:nvSpPr>
          <p:cNvPr id="37" name="rect-037"/>
          <p:cNvSpPr/>
          <p:nvPr/>
        </p:nvSpPr>
        <p:spPr>
          <a:xfrm>
            <a:off x="8694420" y="2869692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N03  状态/存储"/>
          <p:cNvSpPr txBox="1"/>
          <p:nvPr/>
        </p:nvSpPr>
        <p:spPr>
          <a:xfrm>
            <a:off x="8790432" y="2897642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状态/存储</a:t>
            </a:r>
          </a:p>
        </p:txBody>
      </p:sp>
      <p:sp>
        <p:nvSpPr>
          <p:cNvPr id="39" name="text-039: 2  scratch[0…15]"/>
          <p:cNvSpPr txBox="1"/>
          <p:nvPr/>
        </p:nvSpPr>
        <p:spPr>
          <a:xfrm>
            <a:off x="9857899" y="3067050"/>
            <a:ext cx="156686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scratch[0…15]</a:t>
            </a:r>
          </a:p>
        </p:txBody>
      </p:sp>
      <p:sp>
        <p:nvSpPr>
          <p:cNvPr id="40" name="text-040: prim_subreg：16 × 32-bit RW"/>
          <p:cNvSpPr txBox="1"/>
          <p:nvPr/>
        </p:nvSpPr>
        <p:spPr>
          <a:xfrm>
            <a:off x="9521857" y="3249259"/>
            <a:ext cx="22389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prim_subreg：16 × 32-bit RW</a:t>
            </a:r>
          </a:p>
        </p:txBody>
      </p:sp>
      <p:sp>
        <p:nvSpPr>
          <p:cNvPr id="41" name="text-041: 保存软件数据；复位为 0；不是 SRAM"/>
          <p:cNvSpPr txBox="1"/>
          <p:nvPr/>
        </p:nvSpPr>
        <p:spPr>
          <a:xfrm>
            <a:off x="9503454" y="3419947"/>
            <a:ext cx="227575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保存软件数据；复位为 0；不是 SRAM</a:t>
            </a:r>
          </a:p>
        </p:txBody>
      </p:sp>
      <p:sp>
        <p:nvSpPr>
          <p:cNvPr id="42" name="rect-042"/>
          <p:cNvSpPr/>
          <p:nvPr/>
        </p:nvSpPr>
        <p:spPr>
          <a:xfrm>
            <a:off x="8774430" y="371779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2-target"/>
          <p:cNvSpPr/>
          <p:nvPr/>
        </p:nvSpPr>
        <p:spPr>
          <a:xfrm>
            <a:off x="8614410" y="38511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2 ← N02"/>
          <p:cNvSpPr txBox="1"/>
          <p:nvPr/>
        </p:nvSpPr>
        <p:spPr>
          <a:xfrm>
            <a:off x="8955786" y="37613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45" name="E03-source"/>
          <p:cNvSpPr/>
          <p:nvPr/>
        </p:nvSpPr>
        <p:spPr>
          <a:xfrm>
            <a:off x="12396216" y="38511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→ N05"/>
          <p:cNvSpPr txBox="1"/>
          <p:nvPr/>
        </p:nvSpPr>
        <p:spPr>
          <a:xfrm>
            <a:off x="11438230" y="37613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N05</a:t>
            </a:r>
          </a:p>
        </p:txBody>
      </p:sp>
      <p:sp>
        <p:nvSpPr>
          <p:cNvPr id="47" name="rect-047"/>
          <p:cNvSpPr/>
          <p:nvPr/>
        </p:nvSpPr>
        <p:spPr>
          <a:xfrm>
            <a:off x="8694420" y="4261866"/>
            <a:ext cx="3893820" cy="155219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N05  内部工作逻辑"/>
          <p:cNvSpPr txBox="1"/>
          <p:nvPr/>
        </p:nvSpPr>
        <p:spPr>
          <a:xfrm>
            <a:off x="8790432" y="428981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49" name="text-049: 4  读回选择 / 响应"/>
          <p:cNvSpPr txBox="1"/>
          <p:nvPr/>
        </p:nvSpPr>
        <p:spPr>
          <a:xfrm>
            <a:off x="9914572" y="4459224"/>
            <a:ext cx="14535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读回选择 / 响应</a:t>
            </a:r>
          </a:p>
        </p:txBody>
      </p:sp>
      <p:sp>
        <p:nvSpPr>
          <p:cNvPr id="50" name="text-050: rdata = 地址选中值"/>
          <p:cNvSpPr txBox="1"/>
          <p:nvPr/>
        </p:nvSpPr>
        <p:spPr>
          <a:xfrm>
            <a:off x="9954311" y="4641433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地址选中值</a:t>
            </a:r>
          </a:p>
        </p:txBody>
      </p:sp>
      <p:sp>
        <p:nvSpPr>
          <p:cNvPr id="51" name="text-051: ready = 1；error = 非法访问"/>
          <p:cNvSpPr txBox="1"/>
          <p:nvPr/>
        </p:nvSpPr>
        <p:spPr>
          <a:xfrm>
            <a:off x="9595466" y="4812121"/>
            <a:ext cx="20917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1；error = 非法访问</a:t>
            </a:r>
          </a:p>
        </p:txBody>
      </p:sp>
      <p:sp>
        <p:nvSpPr>
          <p:cNvPr id="52" name="rect-052"/>
          <p:cNvSpPr/>
          <p:nvPr/>
        </p:nvSpPr>
        <p:spPr>
          <a:xfrm>
            <a:off x="8774430" y="510997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3-target"/>
          <p:cNvSpPr/>
          <p:nvPr/>
        </p:nvSpPr>
        <p:spPr>
          <a:xfrm>
            <a:off x="8614410" y="52433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 ← N03"/>
          <p:cNvSpPr txBox="1"/>
          <p:nvPr/>
        </p:nvSpPr>
        <p:spPr>
          <a:xfrm>
            <a:off x="8955786" y="51534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55" name="E04-target"/>
          <p:cNvSpPr/>
          <p:nvPr/>
        </p:nvSpPr>
        <p:spPr>
          <a:xfrm>
            <a:off x="8614410" y="543001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4 ← N04"/>
          <p:cNvSpPr txBox="1"/>
          <p:nvPr/>
        </p:nvSpPr>
        <p:spPr>
          <a:xfrm>
            <a:off x="8955786" y="534018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57" name="E05-target"/>
          <p:cNvSpPr/>
          <p:nvPr/>
        </p:nvSpPr>
        <p:spPr>
          <a:xfrm>
            <a:off x="8614410" y="561670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5 ← N02"/>
          <p:cNvSpPr txBox="1"/>
          <p:nvPr/>
        </p:nvSpPr>
        <p:spPr>
          <a:xfrm>
            <a:off x="8955786" y="552687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N02</a:t>
            </a:r>
          </a:p>
        </p:txBody>
      </p:sp>
      <p:sp>
        <p:nvSpPr>
          <p:cNvPr id="59" name="E06-source"/>
          <p:cNvSpPr/>
          <p:nvPr/>
        </p:nvSpPr>
        <p:spPr>
          <a:xfrm>
            <a:off x="12396216" y="52433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 → N01"/>
          <p:cNvSpPr txBox="1"/>
          <p:nvPr/>
        </p:nvSpPr>
        <p:spPr>
          <a:xfrm>
            <a:off x="11438230" y="51534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N01</a:t>
            </a:r>
          </a:p>
        </p:txBody>
      </p:sp>
      <p:sp>
        <p:nvSpPr>
          <p:cNvPr id="61" name="text-061: rdata / error / ready"/>
          <p:cNvSpPr txBox="1"/>
          <p:nvPr/>
        </p:nvSpPr>
        <p:spPr>
          <a:xfrm>
            <a:off x="213360" y="5948263"/>
            <a:ext cx="179729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62" name="text-062: 功能位描述当前综合配置，不是动态电源开关，也不是 PLL 或 DDR 初始化控制"/>
          <p:cNvSpPr txBox="1"/>
          <p:nvPr/>
        </p:nvSpPr>
        <p:spPr>
          <a:xfrm>
            <a:off x="213360" y="6113617"/>
            <a:ext cx="484593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功能位描述当前综合配置，不是动态电源开关，也不是 PLL 或 DDR 初始化控制器。</a:t>
            </a:r>
          </a:p>
        </p:txBody>
      </p:sp>
      <p:sp>
        <p:nvSpPr>
          <p:cNvPr id="63" name="text-063: 配对端口表示图示连接；已有/规划状态见模块和连接表。方向与 A 版一致。虚线模块"/>
          <p:cNvSpPr txBox="1"/>
          <p:nvPr/>
        </p:nvSpPr>
        <p:spPr>
          <a:xfrm>
            <a:off x="213360" y="6662593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0  JTAG Debug：DMI 控制、hart 调试与系统总线访问"/>
          <p:cNvSpPr txBox="1"/>
          <p:nvPr/>
        </p:nvSpPr>
        <p:spPr>
          <a:xfrm>
            <a:off x="213360" y="1482532"/>
            <a:ext cx="49414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10  JTAG Debug：DMI 控制、hart 调试与系统总线访问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757553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194941"/>
            <a:ext cx="3893820" cy="1178814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222289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JTAG 引脚"/>
          <p:cNvSpPr txBox="1"/>
          <p:nvPr/>
        </p:nvSpPr>
        <p:spPr>
          <a:xfrm>
            <a:off x="1743551" y="2392299"/>
            <a:ext cx="8334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引脚</a:t>
            </a:r>
          </a:p>
        </p:txBody>
      </p:sp>
      <p:sp>
        <p:nvSpPr>
          <p:cNvPr id="7" name="text-007: TCK / TMS / TDI"/>
          <p:cNvSpPr txBox="1"/>
          <p:nvPr/>
        </p:nvSpPr>
        <p:spPr>
          <a:xfrm>
            <a:off x="1500854" y="2574508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/ TMS / TDI</a:t>
            </a:r>
          </a:p>
        </p:txBody>
      </p:sp>
      <p:sp>
        <p:nvSpPr>
          <p:cNvPr id="8" name="text-008: TDO / TRSTn"/>
          <p:cNvSpPr txBox="1"/>
          <p:nvPr/>
        </p:nvSpPr>
        <p:spPr>
          <a:xfrm>
            <a:off x="1660341" y="2745196"/>
            <a:ext cx="9998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TDO / TRSTn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304304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source"/>
          <p:cNvSpPr/>
          <p:nvPr/>
        </p:nvSpPr>
        <p:spPr>
          <a:xfrm>
            <a:off x="3915156" y="31763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↔ N02"/>
          <p:cNvSpPr txBox="1"/>
          <p:nvPr/>
        </p:nvSpPr>
        <p:spPr>
          <a:xfrm>
            <a:off x="2957170" y="30865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2" name="rect-012"/>
          <p:cNvSpPr/>
          <p:nvPr/>
        </p:nvSpPr>
        <p:spPr>
          <a:xfrm>
            <a:off x="213360" y="3587115"/>
            <a:ext cx="3893820" cy="134950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N04  状态/存储"/>
          <p:cNvSpPr txBox="1"/>
          <p:nvPr/>
        </p:nvSpPr>
        <p:spPr>
          <a:xfrm>
            <a:off x="309372" y="3615065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4" name="text-014: 3  hart 调试入口"/>
          <p:cNvSpPr txBox="1"/>
          <p:nvPr/>
        </p:nvSpPr>
        <p:spPr>
          <a:xfrm>
            <a:off x="1480185" y="3784473"/>
            <a:ext cx="13601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hart 调试入口</a:t>
            </a:r>
          </a:p>
        </p:txBody>
      </p:sp>
      <p:sp>
        <p:nvSpPr>
          <p:cNvPr id="15" name="text-015: debug_req"/>
          <p:cNvSpPr txBox="1"/>
          <p:nvPr/>
        </p:nvSpPr>
        <p:spPr>
          <a:xfrm>
            <a:off x="1740084" y="3966682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debug_req</a:t>
            </a:r>
          </a:p>
        </p:txBody>
      </p:sp>
      <p:sp>
        <p:nvSpPr>
          <p:cNvPr id="16" name="text-016: 执行 debug ROM"/>
          <p:cNvSpPr txBox="1"/>
          <p:nvPr/>
        </p:nvSpPr>
        <p:spPr>
          <a:xfrm>
            <a:off x="1577530" y="4137370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debug ROM</a:t>
            </a:r>
          </a:p>
        </p:txBody>
      </p:sp>
      <p:sp>
        <p:nvSpPr>
          <p:cNvPr id="17" name="text-017: 访问程序缓冲区"/>
          <p:cNvSpPr txBox="1"/>
          <p:nvPr/>
        </p:nvSpPr>
        <p:spPr>
          <a:xfrm>
            <a:off x="1669542" y="4308058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访问程序缓冲区</a:t>
            </a:r>
          </a:p>
        </p:txBody>
      </p:sp>
      <p:sp>
        <p:nvSpPr>
          <p:cNvPr id="18" name="rect-018"/>
          <p:cNvSpPr/>
          <p:nvPr/>
        </p:nvSpPr>
        <p:spPr>
          <a:xfrm>
            <a:off x="293370" y="460590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3-target"/>
          <p:cNvSpPr/>
          <p:nvPr/>
        </p:nvSpPr>
        <p:spPr>
          <a:xfrm>
            <a:off x="133350" y="47392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3 ← N03"/>
          <p:cNvSpPr txBox="1"/>
          <p:nvPr/>
        </p:nvSpPr>
        <p:spPr>
          <a:xfrm>
            <a:off x="474726" y="46494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1" name="rect-021"/>
          <p:cNvSpPr/>
          <p:nvPr/>
        </p:nvSpPr>
        <p:spPr>
          <a:xfrm>
            <a:off x="213360" y="5149977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P01  外部/组边界"/>
          <p:cNvSpPr txBox="1"/>
          <p:nvPr/>
        </p:nvSpPr>
        <p:spPr>
          <a:xfrm>
            <a:off x="309372" y="5177927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3" name="text-023: 主 AXI：AxiIn.dbg"/>
          <p:cNvSpPr txBox="1"/>
          <p:nvPr/>
        </p:nvSpPr>
        <p:spPr>
          <a:xfrm>
            <a:off x="1396841" y="5347335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AXI：AxiIn.dbg</a:t>
            </a:r>
          </a:p>
        </p:txBody>
      </p:sp>
      <p:sp>
        <p:nvSpPr>
          <p:cNvPr id="24" name="rect-024"/>
          <p:cNvSpPr/>
          <p:nvPr/>
        </p:nvSpPr>
        <p:spPr>
          <a:xfrm>
            <a:off x="293370" y="565670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05-target"/>
          <p:cNvSpPr/>
          <p:nvPr/>
        </p:nvSpPr>
        <p:spPr>
          <a:xfrm>
            <a:off x="133350" y="579005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5 ↔ N05"/>
          <p:cNvSpPr txBox="1"/>
          <p:nvPr/>
        </p:nvSpPr>
        <p:spPr>
          <a:xfrm>
            <a:off x="474726" y="570023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27" name="rect-027"/>
          <p:cNvSpPr/>
          <p:nvPr/>
        </p:nvSpPr>
        <p:spPr>
          <a:xfrm>
            <a:off x="4453890" y="2194941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2  内部工作逻辑"/>
          <p:cNvSpPr txBox="1"/>
          <p:nvPr/>
        </p:nvSpPr>
        <p:spPr>
          <a:xfrm>
            <a:off x="4549902" y="222289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9" name="text-029: 1  dmi_jtag"/>
          <p:cNvSpPr txBox="1"/>
          <p:nvPr/>
        </p:nvSpPr>
        <p:spPr>
          <a:xfrm>
            <a:off x="5857399" y="2392299"/>
            <a:ext cx="10868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dmi_jtag</a:t>
            </a:r>
          </a:p>
        </p:txBody>
      </p:sp>
      <p:sp>
        <p:nvSpPr>
          <p:cNvPr id="30" name="text-030: JTAG TAP / DTM"/>
          <p:cNvSpPr txBox="1"/>
          <p:nvPr/>
        </p:nvSpPr>
        <p:spPr>
          <a:xfrm>
            <a:off x="5781256" y="2574508"/>
            <a:ext cx="12390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TAP / DTM</a:t>
            </a:r>
          </a:p>
        </p:txBody>
      </p:sp>
      <p:sp>
        <p:nvSpPr>
          <p:cNvPr id="31" name="text-031: DMI 请求 / 响应跨域"/>
          <p:cNvSpPr txBox="1"/>
          <p:nvPr/>
        </p:nvSpPr>
        <p:spPr>
          <a:xfrm>
            <a:off x="5692311" y="2745196"/>
            <a:ext cx="141697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 请求 / 响应跨域</a:t>
            </a:r>
          </a:p>
        </p:txBody>
      </p:sp>
      <p:sp>
        <p:nvSpPr>
          <p:cNvPr id="32" name="text-032: TCK 域 ↔ clk_i 域"/>
          <p:cNvSpPr txBox="1"/>
          <p:nvPr/>
        </p:nvSpPr>
        <p:spPr>
          <a:xfrm>
            <a:off x="5676976" y="2915884"/>
            <a:ext cx="14476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域 ↔ clk_i 域</a:t>
            </a:r>
          </a:p>
        </p:txBody>
      </p:sp>
      <p:sp>
        <p:nvSpPr>
          <p:cNvPr id="33" name="rect-033"/>
          <p:cNvSpPr/>
          <p:nvPr/>
        </p:nvSpPr>
        <p:spPr>
          <a:xfrm>
            <a:off x="4533900" y="321373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1-target"/>
          <p:cNvSpPr/>
          <p:nvPr/>
        </p:nvSpPr>
        <p:spPr>
          <a:xfrm>
            <a:off x="4373880" y="33470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 ↔ N01"/>
          <p:cNvSpPr txBox="1"/>
          <p:nvPr/>
        </p:nvSpPr>
        <p:spPr>
          <a:xfrm>
            <a:off x="4715256" y="32572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6" name="E02-source"/>
          <p:cNvSpPr/>
          <p:nvPr/>
        </p:nvSpPr>
        <p:spPr>
          <a:xfrm>
            <a:off x="8155686" y="33470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 ↔ N03"/>
          <p:cNvSpPr txBox="1"/>
          <p:nvPr/>
        </p:nvSpPr>
        <p:spPr>
          <a:xfrm>
            <a:off x="7197700" y="32572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3757803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5  内部工作逻辑"/>
          <p:cNvSpPr txBox="1"/>
          <p:nvPr/>
        </p:nvSpPr>
        <p:spPr>
          <a:xfrm>
            <a:off x="4549902" y="378575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40" name="text-040: 4  axi_from_mem"/>
          <p:cNvSpPr txBox="1"/>
          <p:nvPr/>
        </p:nvSpPr>
        <p:spPr>
          <a:xfrm>
            <a:off x="5684044" y="3955161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axi_from_mem</a:t>
            </a:r>
          </a:p>
        </p:txBody>
      </p:sp>
      <p:sp>
        <p:nvSpPr>
          <p:cNvPr id="41" name="text-041: SBA req / gnt / rvalid"/>
          <p:cNvSpPr txBox="1"/>
          <p:nvPr/>
        </p:nvSpPr>
        <p:spPr>
          <a:xfrm>
            <a:off x="5462283" y="4137370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SBA req / gnt / rvalid</a:t>
            </a:r>
          </a:p>
        </p:txBody>
      </p:sp>
      <p:sp>
        <p:nvSpPr>
          <p:cNvPr id="42" name="text-042: → AXI master"/>
          <p:cNvSpPr txBox="1"/>
          <p:nvPr/>
        </p:nvSpPr>
        <p:spPr>
          <a:xfrm>
            <a:off x="5839530" y="4308058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AXI master</a:t>
            </a:r>
          </a:p>
        </p:txBody>
      </p:sp>
      <p:sp>
        <p:nvSpPr>
          <p:cNvPr id="43" name="text-043: AxiIn.dbg"/>
          <p:cNvSpPr txBox="1"/>
          <p:nvPr/>
        </p:nvSpPr>
        <p:spPr>
          <a:xfrm>
            <a:off x="5980614" y="4478746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AxiIn.dbg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477659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4-target"/>
          <p:cNvSpPr/>
          <p:nvPr/>
        </p:nvSpPr>
        <p:spPr>
          <a:xfrm>
            <a:off x="4373880" y="490994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 ↔ N03"/>
          <p:cNvSpPr txBox="1"/>
          <p:nvPr/>
        </p:nvSpPr>
        <p:spPr>
          <a:xfrm>
            <a:off x="4715256" y="482012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N03</a:t>
            </a:r>
          </a:p>
        </p:txBody>
      </p:sp>
      <p:sp>
        <p:nvSpPr>
          <p:cNvPr id="47" name="E05-source"/>
          <p:cNvSpPr/>
          <p:nvPr/>
        </p:nvSpPr>
        <p:spPr>
          <a:xfrm>
            <a:off x="8155686" y="490994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5 ↔ P01"/>
          <p:cNvSpPr txBox="1"/>
          <p:nvPr/>
        </p:nvSpPr>
        <p:spPr>
          <a:xfrm>
            <a:off x="7197700" y="482012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P01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5320665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P02  外部/组边界"/>
          <p:cNvSpPr txBox="1"/>
          <p:nvPr/>
        </p:nvSpPr>
        <p:spPr>
          <a:xfrm>
            <a:off x="4549902" y="5348615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51" name="text-051: 主 AXI：AxiOut.dbg"/>
          <p:cNvSpPr txBox="1"/>
          <p:nvPr/>
        </p:nvSpPr>
        <p:spPr>
          <a:xfrm>
            <a:off x="5594032" y="5518023"/>
            <a:ext cx="16135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AXI：AxiOut.dbg</a:t>
            </a:r>
          </a:p>
        </p:txBody>
      </p:sp>
      <p:sp>
        <p:nvSpPr>
          <p:cNvPr id="52" name="rect-052"/>
          <p:cNvSpPr/>
          <p:nvPr/>
        </p:nvSpPr>
        <p:spPr>
          <a:xfrm>
            <a:off x="4533900" y="582739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6-source"/>
          <p:cNvSpPr/>
          <p:nvPr/>
        </p:nvSpPr>
        <p:spPr>
          <a:xfrm>
            <a:off x="8155686" y="596074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 ↔ N06"/>
          <p:cNvSpPr txBox="1"/>
          <p:nvPr/>
        </p:nvSpPr>
        <p:spPr>
          <a:xfrm>
            <a:off x="7197700" y="587092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55" name="rect-055"/>
          <p:cNvSpPr/>
          <p:nvPr/>
        </p:nvSpPr>
        <p:spPr>
          <a:xfrm>
            <a:off x="8694420" y="2194941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N03  接口与配置"/>
          <p:cNvSpPr txBox="1"/>
          <p:nvPr/>
        </p:nvSpPr>
        <p:spPr>
          <a:xfrm>
            <a:off x="8790432" y="2222891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接口与配置</a:t>
            </a:r>
          </a:p>
        </p:txBody>
      </p:sp>
      <p:sp>
        <p:nvSpPr>
          <p:cNvPr id="57" name="text-057: 2  dm_top"/>
          <p:cNvSpPr txBox="1"/>
          <p:nvPr/>
        </p:nvSpPr>
        <p:spPr>
          <a:xfrm>
            <a:off x="10184606" y="2392299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dm_top</a:t>
            </a:r>
          </a:p>
        </p:txBody>
      </p:sp>
      <p:sp>
        <p:nvSpPr>
          <p:cNvPr id="58" name="text-058: dm_csrs：DMI 配置"/>
          <p:cNvSpPr txBox="1"/>
          <p:nvPr/>
        </p:nvSpPr>
        <p:spPr>
          <a:xfrm>
            <a:off x="9957378" y="2574508"/>
            <a:ext cx="1367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dm_csrs：DMI 配置</a:t>
            </a:r>
          </a:p>
        </p:txBody>
      </p:sp>
      <p:sp>
        <p:nvSpPr>
          <p:cNvPr id="59" name="text-059: dm_mem：调试执行存储窗"/>
          <p:cNvSpPr txBox="1"/>
          <p:nvPr/>
        </p:nvSpPr>
        <p:spPr>
          <a:xfrm>
            <a:off x="9850031" y="2745196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dm_mem：调试执行存储窗</a:t>
            </a:r>
          </a:p>
        </p:txBody>
      </p:sp>
      <p:sp>
        <p:nvSpPr>
          <p:cNvPr id="60" name="text-060: dm_sba：系统总线访问"/>
          <p:cNvSpPr txBox="1"/>
          <p:nvPr/>
        </p:nvSpPr>
        <p:spPr>
          <a:xfrm>
            <a:off x="9911372" y="2915884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dm_sba：系统总线访问</a:t>
            </a:r>
          </a:p>
        </p:txBody>
      </p:sp>
      <p:sp>
        <p:nvSpPr>
          <p:cNvPr id="61" name="text-061: dmactive → dbg_active_o"/>
          <p:cNvSpPr txBox="1"/>
          <p:nvPr/>
        </p:nvSpPr>
        <p:spPr>
          <a:xfrm>
            <a:off x="9641472" y="3086572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dmactive → dbg_active_o</a:t>
            </a:r>
          </a:p>
        </p:txBody>
      </p:sp>
      <p:sp>
        <p:nvSpPr>
          <p:cNvPr id="62" name="rect-062"/>
          <p:cNvSpPr/>
          <p:nvPr/>
        </p:nvSpPr>
        <p:spPr>
          <a:xfrm>
            <a:off x="8774430" y="338442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02-target"/>
          <p:cNvSpPr/>
          <p:nvPr/>
        </p:nvSpPr>
        <p:spPr>
          <a:xfrm>
            <a:off x="8614410" y="35177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2 ↔ N02"/>
          <p:cNvSpPr txBox="1"/>
          <p:nvPr/>
        </p:nvSpPr>
        <p:spPr>
          <a:xfrm>
            <a:off x="8955786" y="34279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65" name="E07-target"/>
          <p:cNvSpPr/>
          <p:nvPr/>
        </p:nvSpPr>
        <p:spPr>
          <a:xfrm>
            <a:off x="8614410" y="37044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7 ↔ N06"/>
          <p:cNvSpPr txBox="1"/>
          <p:nvPr/>
        </p:nvSpPr>
        <p:spPr>
          <a:xfrm>
            <a:off x="8955786" y="36146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N06</a:t>
            </a:r>
          </a:p>
        </p:txBody>
      </p:sp>
      <p:sp>
        <p:nvSpPr>
          <p:cNvPr id="67" name="E03-source"/>
          <p:cNvSpPr/>
          <p:nvPr/>
        </p:nvSpPr>
        <p:spPr>
          <a:xfrm>
            <a:off x="12396216" y="35177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3 → N04"/>
          <p:cNvSpPr txBox="1"/>
          <p:nvPr/>
        </p:nvSpPr>
        <p:spPr>
          <a:xfrm>
            <a:off x="11438230" y="34279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69" name="E04-source"/>
          <p:cNvSpPr/>
          <p:nvPr/>
        </p:nvSpPr>
        <p:spPr>
          <a:xfrm>
            <a:off x="12396216" y="37044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4 ↔ N05"/>
          <p:cNvSpPr txBox="1"/>
          <p:nvPr/>
        </p:nvSpPr>
        <p:spPr>
          <a:xfrm>
            <a:off x="11438230" y="36146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71" name="rect-071"/>
          <p:cNvSpPr/>
          <p:nvPr/>
        </p:nvSpPr>
        <p:spPr>
          <a:xfrm>
            <a:off x="8694420" y="4115181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N06  内部工作逻辑"/>
          <p:cNvSpPr txBox="1"/>
          <p:nvPr/>
        </p:nvSpPr>
        <p:spPr>
          <a:xfrm>
            <a:off x="8790432" y="414313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3" name="text-073: 5  调试存储窗适配"/>
          <p:cNvSpPr txBox="1"/>
          <p:nvPr/>
        </p:nvSpPr>
        <p:spPr>
          <a:xfrm>
            <a:off x="9977914" y="4312539"/>
            <a:ext cx="13268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调试存储窗适配</a:t>
            </a:r>
          </a:p>
        </p:txBody>
      </p:sp>
      <p:sp>
        <p:nvSpPr>
          <p:cNvPr id="74" name="text-074: AXI atomics / cut"/>
          <p:cNvSpPr txBox="1"/>
          <p:nvPr/>
        </p:nvSpPr>
        <p:spPr>
          <a:xfrm>
            <a:off x="9902171" y="4494748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atomics / cut</a:t>
            </a:r>
          </a:p>
        </p:txBody>
      </p:sp>
      <p:sp>
        <p:nvSpPr>
          <p:cNvPr id="75" name="text-075: axi_to_mem_interleaved"/>
          <p:cNvSpPr txBox="1"/>
          <p:nvPr/>
        </p:nvSpPr>
        <p:spPr>
          <a:xfrm>
            <a:off x="9702813" y="4665436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axi_to_mem_interleaved</a:t>
            </a:r>
          </a:p>
        </p:txBody>
      </p:sp>
      <p:sp>
        <p:nvSpPr>
          <p:cNvPr id="76" name="text-076: → dm_top.slave_*"/>
          <p:cNvSpPr txBox="1"/>
          <p:nvPr/>
        </p:nvSpPr>
        <p:spPr>
          <a:xfrm>
            <a:off x="9920573" y="4836124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dm_top.slave_*</a:t>
            </a:r>
          </a:p>
        </p:txBody>
      </p:sp>
      <p:sp>
        <p:nvSpPr>
          <p:cNvPr id="77" name="text-077: 供 hart 执行调试代码"/>
          <p:cNvSpPr txBox="1"/>
          <p:nvPr/>
        </p:nvSpPr>
        <p:spPr>
          <a:xfrm>
            <a:off x="9911372" y="5006812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供 hart 执行调试代码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530466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6-target"/>
          <p:cNvSpPr/>
          <p:nvPr/>
        </p:nvSpPr>
        <p:spPr>
          <a:xfrm>
            <a:off x="8614410" y="54380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6 ↔ P02"/>
          <p:cNvSpPr txBox="1"/>
          <p:nvPr/>
        </p:nvSpPr>
        <p:spPr>
          <a:xfrm>
            <a:off x="8955786" y="534818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P02</a:t>
            </a:r>
          </a:p>
        </p:txBody>
      </p:sp>
      <p:sp>
        <p:nvSpPr>
          <p:cNvPr id="81" name="E07-source"/>
          <p:cNvSpPr/>
          <p:nvPr/>
        </p:nvSpPr>
        <p:spPr>
          <a:xfrm>
            <a:off x="12396216" y="54380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07 ↔ N03"/>
          <p:cNvSpPr txBox="1"/>
          <p:nvPr/>
        </p:nvSpPr>
        <p:spPr>
          <a:xfrm>
            <a:off x="11438230" y="534818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N03</a:t>
            </a:r>
          </a:p>
        </p:txBody>
      </p:sp>
      <p:sp>
        <p:nvSpPr>
          <p:cNvPr id="83" name="text-083: DMI"/>
          <p:cNvSpPr txBox="1"/>
          <p:nvPr/>
        </p:nvSpPr>
        <p:spPr>
          <a:xfrm>
            <a:off x="213360" y="6292306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DMI</a:t>
            </a:r>
          </a:p>
        </p:txBody>
      </p:sp>
      <p:sp>
        <p:nvSpPr>
          <p:cNvPr id="84" name="text-084: 访问系统地址空间"/>
          <p:cNvSpPr txBox="1"/>
          <p:nvPr/>
        </p:nvSpPr>
        <p:spPr>
          <a:xfrm>
            <a:off x="213360" y="6457660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访问系统地址空间</a:t>
            </a:r>
          </a:p>
        </p:txBody>
      </p:sp>
      <p:sp>
        <p:nvSpPr>
          <p:cNvPr id="85" name="text-085: AxiOut.dbg"/>
          <p:cNvSpPr txBox="1"/>
          <p:nvPr/>
        </p:nvSpPr>
        <p:spPr>
          <a:xfrm>
            <a:off x="213360" y="6623014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AxiOut.dbg</a:t>
            </a:r>
          </a:p>
        </p:txBody>
      </p:sp>
      <p:sp>
        <p:nvSpPr>
          <p:cNvPr id="86" name="text-086: 当前 ndmreset_o 未接出；不能由 DMI 寄存器存在就推断 SoC 复"/>
          <p:cNvSpPr txBox="1"/>
          <p:nvPr/>
        </p:nvSpPr>
        <p:spPr>
          <a:xfrm>
            <a:off x="213360" y="6788368"/>
            <a:ext cx="46987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当前 ndmreset_o 未接出；不能由 DMI 寄存器存在就推断 SoC 复位已实现。</a:t>
            </a:r>
          </a:p>
        </p:txBody>
      </p:sp>
      <p:sp>
        <p:nvSpPr>
          <p:cNvPr id="87" name="text-087: 配对端口表示图示连接；已有/规划状态见模块和连接表。方向与 A 版一致。虚线模块"/>
          <p:cNvSpPr txBox="1"/>
          <p:nvPr/>
        </p:nvSpPr>
        <p:spPr>
          <a:xfrm>
            <a:off x="213360" y="7337344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1  Serial Link：AXI 通道编码、流控与源同步物理传输"/>
          <p:cNvSpPr txBox="1"/>
          <p:nvPr/>
        </p:nvSpPr>
        <p:spPr>
          <a:xfrm>
            <a:off x="213360" y="1554541"/>
            <a:ext cx="500969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11  Serial Link：AXI 通道编码、流控与源同步物理传输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82956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266950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229490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SoC 外层适配"/>
          <p:cNvSpPr txBox="1"/>
          <p:nvPr/>
        </p:nvSpPr>
        <p:spPr>
          <a:xfrm>
            <a:off x="1523524" y="2464308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SoC 外层适配</a:t>
            </a:r>
          </a:p>
        </p:txBody>
      </p:sp>
      <p:sp>
        <p:nvSpPr>
          <p:cNvPr id="7" name="text-007: 出站地址 domain / mask"/>
          <p:cNvSpPr txBox="1"/>
          <p:nvPr/>
        </p:nvSpPr>
        <p:spPr>
          <a:xfrm>
            <a:off x="1295362" y="2646517"/>
            <a:ext cx="17298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出站地址 domain / mask</a:t>
            </a:r>
          </a:p>
        </p:txBody>
      </p:sp>
      <p:sp>
        <p:nvSpPr>
          <p:cNvPr id="8" name="text-008: axi_id_remap"/>
          <p:cNvSpPr txBox="1"/>
          <p:nvPr/>
        </p:nvSpPr>
        <p:spPr>
          <a:xfrm>
            <a:off x="1620469" y="2817205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axi_id_remap</a:t>
            </a:r>
          </a:p>
        </p:txBody>
      </p:sp>
      <p:sp>
        <p:nvSpPr>
          <p:cNvPr id="9" name="text-009: AMO 标记适配"/>
          <p:cNvSpPr txBox="1"/>
          <p:nvPr/>
        </p:nvSpPr>
        <p:spPr>
          <a:xfrm>
            <a:off x="1694078" y="2987893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AMO 标记适配</a:t>
            </a:r>
          </a:p>
        </p:txBody>
      </p:sp>
      <p:sp>
        <p:nvSpPr>
          <p:cNvPr id="10" name="text-010: 对端入站 → 本地 AXI"/>
          <p:cNvSpPr txBox="1"/>
          <p:nvPr/>
        </p:nvSpPr>
        <p:spPr>
          <a:xfrm>
            <a:off x="1430312" y="3158581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对端入站 → 本地 AXI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345643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35897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↔ N02"/>
          <p:cNvSpPr txBox="1"/>
          <p:nvPr/>
        </p:nvSpPr>
        <p:spPr>
          <a:xfrm>
            <a:off x="2957170" y="34999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4000500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5  内部工作逻辑"/>
          <p:cNvSpPr txBox="1"/>
          <p:nvPr/>
        </p:nvSpPr>
        <p:spPr>
          <a:xfrm>
            <a:off x="309372" y="402845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16" name="text-016: 5  serial_link_physical × 通道"/>
          <p:cNvSpPr txBox="1"/>
          <p:nvPr/>
        </p:nvSpPr>
        <p:spPr>
          <a:xfrm>
            <a:off x="833438" y="4197858"/>
            <a:ext cx="265366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serial_link_physical × 通道</a:t>
            </a:r>
          </a:p>
        </p:txBody>
      </p:sp>
      <p:sp>
        <p:nvSpPr>
          <p:cNvPr id="17" name="text-017: 发送时钟分频 / 相位控制"/>
          <p:cNvSpPr txBox="1"/>
          <p:nvPr/>
        </p:nvSpPr>
        <p:spPr>
          <a:xfrm>
            <a:off x="1365904" y="4380067"/>
            <a:ext cx="15887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发送时钟分频 / 相位控制</a:t>
            </a:r>
          </a:p>
        </p:txBody>
      </p:sp>
      <p:sp>
        <p:nvSpPr>
          <p:cNvPr id="18" name="text-018: DDR 引脚收发 / 接收跨域"/>
          <p:cNvSpPr txBox="1"/>
          <p:nvPr/>
        </p:nvSpPr>
        <p:spPr>
          <a:xfrm>
            <a:off x="1329099" y="4550755"/>
            <a:ext cx="166234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引脚收发 / 接收跨域</a:t>
            </a:r>
          </a:p>
        </p:txBody>
      </p:sp>
      <p:sp>
        <p:nvSpPr>
          <p:cNvPr id="19" name="text-019: ddr_rcv_clk + ddr 数据 lanes"/>
          <p:cNvSpPr txBox="1"/>
          <p:nvPr/>
        </p:nvSpPr>
        <p:spPr>
          <a:xfrm>
            <a:off x="1019327" y="4721443"/>
            <a:ext cx="228188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ddr_rcv_clk + ddr 数据 lanes</a:t>
            </a:r>
          </a:p>
        </p:txBody>
      </p:sp>
      <p:sp>
        <p:nvSpPr>
          <p:cNvPr id="20" name="rect-020"/>
          <p:cNvSpPr/>
          <p:nvPr/>
        </p:nvSpPr>
        <p:spPr>
          <a:xfrm>
            <a:off x="293370" y="501929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4-target"/>
          <p:cNvSpPr/>
          <p:nvPr/>
        </p:nvSpPr>
        <p:spPr>
          <a:xfrm>
            <a:off x="133350" y="51526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4 ↔ N04"/>
          <p:cNvSpPr txBox="1"/>
          <p:nvPr/>
        </p:nvSpPr>
        <p:spPr>
          <a:xfrm>
            <a:off x="474726" y="506281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23" name="E06-target"/>
          <p:cNvSpPr/>
          <p:nvPr/>
        </p:nvSpPr>
        <p:spPr>
          <a:xfrm>
            <a:off x="133350" y="53393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6 ← N06"/>
          <p:cNvSpPr txBox="1"/>
          <p:nvPr/>
        </p:nvSpPr>
        <p:spPr>
          <a:xfrm>
            <a:off x="474726" y="52495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N06</a:t>
            </a:r>
          </a:p>
        </p:txBody>
      </p:sp>
      <p:sp>
        <p:nvSpPr>
          <p:cNvPr id="25" name="E05-source"/>
          <p:cNvSpPr/>
          <p:nvPr/>
        </p:nvSpPr>
        <p:spPr>
          <a:xfrm>
            <a:off x="3915156" y="51526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5 ↔ P01"/>
          <p:cNvSpPr txBox="1"/>
          <p:nvPr/>
        </p:nvSpPr>
        <p:spPr>
          <a:xfrm>
            <a:off x="2957170" y="506281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P01</a:t>
            </a:r>
          </a:p>
        </p:txBody>
      </p:sp>
      <p:sp>
        <p:nvSpPr>
          <p:cNvPr id="27" name="rect-027"/>
          <p:cNvSpPr/>
          <p:nvPr/>
        </p:nvSpPr>
        <p:spPr>
          <a:xfrm>
            <a:off x="4453890" y="2266950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2  内部工作逻辑"/>
          <p:cNvSpPr txBox="1"/>
          <p:nvPr/>
        </p:nvSpPr>
        <p:spPr>
          <a:xfrm>
            <a:off x="4549902" y="229490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9" name="text-029: 2  serial_link_network"/>
          <p:cNvSpPr txBox="1"/>
          <p:nvPr/>
        </p:nvSpPr>
        <p:spPr>
          <a:xfrm>
            <a:off x="5380672" y="2464308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serial_link_network</a:t>
            </a:r>
          </a:p>
        </p:txBody>
      </p:sp>
      <p:sp>
        <p:nvSpPr>
          <p:cNvPr id="30" name="text-030: AXI AW / W / B / AR / R"/>
          <p:cNvSpPr txBox="1"/>
          <p:nvPr/>
        </p:nvSpPr>
        <p:spPr>
          <a:xfrm>
            <a:off x="5422411" y="2646517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AW / W / B / AR / R</a:t>
            </a:r>
          </a:p>
        </p:txBody>
      </p:sp>
      <p:sp>
        <p:nvSpPr>
          <p:cNvPr id="31" name="text-031: 通道仲裁 / 封装 / 还原"/>
          <p:cNvSpPr txBox="1"/>
          <p:nvPr/>
        </p:nvSpPr>
        <p:spPr>
          <a:xfrm>
            <a:off x="5609501" y="2817205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通道仲裁 / 封装 / 还原</a:t>
            </a:r>
          </a:p>
        </p:txBody>
      </p:sp>
      <p:sp>
        <p:nvSpPr>
          <p:cNvPr id="32" name="text-032: AXI ↔ payload stream"/>
          <p:cNvSpPr txBox="1"/>
          <p:nvPr/>
        </p:nvSpPr>
        <p:spPr>
          <a:xfrm>
            <a:off x="5520557" y="2987893"/>
            <a:ext cx="176048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payload stream</a:t>
            </a:r>
          </a:p>
        </p:txBody>
      </p:sp>
      <p:sp>
        <p:nvSpPr>
          <p:cNvPr id="33" name="rect-033"/>
          <p:cNvSpPr/>
          <p:nvPr/>
        </p:nvSpPr>
        <p:spPr>
          <a:xfrm>
            <a:off x="4533900" y="328574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1-target"/>
          <p:cNvSpPr/>
          <p:nvPr/>
        </p:nvSpPr>
        <p:spPr>
          <a:xfrm>
            <a:off x="4373880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 ↔ N01"/>
          <p:cNvSpPr txBox="1"/>
          <p:nvPr/>
        </p:nvSpPr>
        <p:spPr>
          <a:xfrm>
            <a:off x="4715256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6" name="E02-source"/>
          <p:cNvSpPr/>
          <p:nvPr/>
        </p:nvSpPr>
        <p:spPr>
          <a:xfrm>
            <a:off x="8155686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 ↔ N03"/>
          <p:cNvSpPr txBox="1"/>
          <p:nvPr/>
        </p:nvSpPr>
        <p:spPr>
          <a:xfrm>
            <a:off x="7197700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3829812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4  内部工作逻辑"/>
          <p:cNvSpPr txBox="1"/>
          <p:nvPr/>
        </p:nvSpPr>
        <p:spPr>
          <a:xfrm>
            <a:off x="4549902" y="385776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40" name="text-040: 4  channel_allocator"/>
          <p:cNvSpPr txBox="1"/>
          <p:nvPr/>
        </p:nvSpPr>
        <p:spPr>
          <a:xfrm>
            <a:off x="5467350" y="4027170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channel_allocator</a:t>
            </a:r>
          </a:p>
        </p:txBody>
      </p:sp>
      <p:sp>
        <p:nvSpPr>
          <p:cNvPr id="41" name="text-041: NumChannels &gt; 1 时"/>
          <p:cNvSpPr txBox="1"/>
          <p:nvPr/>
        </p:nvSpPr>
        <p:spPr>
          <a:xfrm>
            <a:off x="5640172" y="4209379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NumChannels &gt; 1 时</a:t>
            </a:r>
          </a:p>
        </p:txBody>
      </p:sp>
      <p:sp>
        <p:nvSpPr>
          <p:cNvPr id="42" name="text-042: 分配与还原通道"/>
          <p:cNvSpPr txBox="1"/>
          <p:nvPr/>
        </p:nvSpPr>
        <p:spPr>
          <a:xfrm>
            <a:off x="5910072" y="4380067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分配与还原通道</a:t>
            </a:r>
          </a:p>
        </p:txBody>
      </p:sp>
      <p:sp>
        <p:nvSpPr>
          <p:cNvPr id="43" name="text-043: 单通道直接连接"/>
          <p:cNvSpPr txBox="1"/>
          <p:nvPr/>
        </p:nvSpPr>
        <p:spPr>
          <a:xfrm>
            <a:off x="5910072" y="4550755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单通道直接连接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484860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3-target"/>
          <p:cNvSpPr/>
          <p:nvPr/>
        </p:nvSpPr>
        <p:spPr>
          <a:xfrm>
            <a:off x="4373880" y="498195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↔ N03"/>
          <p:cNvSpPr txBox="1"/>
          <p:nvPr/>
        </p:nvSpPr>
        <p:spPr>
          <a:xfrm>
            <a:off x="4715256" y="489213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N03</a:t>
            </a:r>
          </a:p>
        </p:txBody>
      </p:sp>
      <p:sp>
        <p:nvSpPr>
          <p:cNvPr id="47" name="E08-target"/>
          <p:cNvSpPr/>
          <p:nvPr/>
        </p:nvSpPr>
        <p:spPr>
          <a:xfrm>
            <a:off x="4373880" y="51686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8 ← N06"/>
          <p:cNvSpPr txBox="1"/>
          <p:nvPr/>
        </p:nvSpPr>
        <p:spPr>
          <a:xfrm>
            <a:off x="4715256" y="507882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N06</a:t>
            </a:r>
          </a:p>
        </p:txBody>
      </p:sp>
      <p:sp>
        <p:nvSpPr>
          <p:cNvPr id="49" name="E04-source"/>
          <p:cNvSpPr/>
          <p:nvPr/>
        </p:nvSpPr>
        <p:spPr>
          <a:xfrm>
            <a:off x="8155686" y="498195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4 ↔ N05"/>
          <p:cNvSpPr txBox="1"/>
          <p:nvPr/>
        </p:nvSpPr>
        <p:spPr>
          <a:xfrm>
            <a:off x="7197700" y="489213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5579364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P01  外部/组边界"/>
          <p:cNvSpPr txBox="1"/>
          <p:nvPr/>
        </p:nvSpPr>
        <p:spPr>
          <a:xfrm>
            <a:off x="4549902" y="5607314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53" name="text-053: 链路 DDR 引脚"/>
          <p:cNvSpPr txBox="1"/>
          <p:nvPr/>
        </p:nvSpPr>
        <p:spPr>
          <a:xfrm>
            <a:off x="5850731" y="5776722"/>
            <a:ext cx="11001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链路 DDR 引脚</a:t>
            </a:r>
          </a:p>
        </p:txBody>
      </p:sp>
      <p:sp>
        <p:nvSpPr>
          <p:cNvPr id="54" name="rect-054"/>
          <p:cNvSpPr/>
          <p:nvPr/>
        </p:nvSpPr>
        <p:spPr>
          <a:xfrm>
            <a:off x="4533900" y="608609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05-target"/>
          <p:cNvSpPr/>
          <p:nvPr/>
        </p:nvSpPr>
        <p:spPr>
          <a:xfrm>
            <a:off x="4373880" y="62194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5 ↔ N05"/>
          <p:cNvSpPr txBox="1"/>
          <p:nvPr/>
        </p:nvSpPr>
        <p:spPr>
          <a:xfrm>
            <a:off x="4715256" y="612961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57" name="rect-057"/>
          <p:cNvSpPr/>
          <p:nvPr/>
        </p:nvSpPr>
        <p:spPr>
          <a:xfrm>
            <a:off x="8694420" y="2266950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N03  内部工作逻辑"/>
          <p:cNvSpPr txBox="1"/>
          <p:nvPr/>
        </p:nvSpPr>
        <p:spPr>
          <a:xfrm>
            <a:off x="8790432" y="229490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9" name="text-059: 3  serial_link_data_link"/>
          <p:cNvSpPr txBox="1"/>
          <p:nvPr/>
        </p:nvSpPr>
        <p:spPr>
          <a:xfrm>
            <a:off x="9534525" y="2464308"/>
            <a:ext cx="22136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serial_link_data_link</a:t>
            </a:r>
          </a:p>
        </p:txBody>
      </p:sp>
      <p:sp>
        <p:nvSpPr>
          <p:cNvPr id="60" name="text-060: 接收缓冲 / 流控"/>
          <p:cNvSpPr txBox="1"/>
          <p:nvPr/>
        </p:nvSpPr>
        <p:spPr>
          <a:xfrm>
            <a:off x="10092328" y="2646517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接收缓冲 / 流控</a:t>
            </a:r>
          </a:p>
        </p:txBody>
      </p:sp>
      <p:sp>
        <p:nvSpPr>
          <p:cNvPr id="61" name="text-061: payload 拆分 / 重组"/>
          <p:cNvSpPr txBox="1"/>
          <p:nvPr/>
        </p:nvSpPr>
        <p:spPr>
          <a:xfrm>
            <a:off x="9896037" y="2817205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payload 拆分 / 重组</a:t>
            </a:r>
          </a:p>
        </p:txBody>
      </p:sp>
      <p:sp>
        <p:nvSpPr>
          <p:cNvPr id="62" name="text-062: raw mode 支路"/>
          <p:cNvSpPr txBox="1"/>
          <p:nvPr/>
        </p:nvSpPr>
        <p:spPr>
          <a:xfrm>
            <a:off x="10098462" y="2987893"/>
            <a:ext cx="108573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raw mode 支路</a:t>
            </a:r>
          </a:p>
        </p:txBody>
      </p:sp>
      <p:sp>
        <p:nvSpPr>
          <p:cNvPr id="63" name="rect-063"/>
          <p:cNvSpPr/>
          <p:nvPr/>
        </p:nvSpPr>
        <p:spPr>
          <a:xfrm>
            <a:off x="8774430" y="328574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02-target"/>
          <p:cNvSpPr/>
          <p:nvPr/>
        </p:nvSpPr>
        <p:spPr>
          <a:xfrm>
            <a:off x="8614410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2 ↔ N02"/>
          <p:cNvSpPr txBox="1"/>
          <p:nvPr/>
        </p:nvSpPr>
        <p:spPr>
          <a:xfrm>
            <a:off x="8955786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66" name="E07-target"/>
          <p:cNvSpPr/>
          <p:nvPr/>
        </p:nvSpPr>
        <p:spPr>
          <a:xfrm>
            <a:off x="8614410" y="36057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 ↔ N06"/>
          <p:cNvSpPr txBox="1"/>
          <p:nvPr/>
        </p:nvSpPr>
        <p:spPr>
          <a:xfrm>
            <a:off x="8955786" y="35159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N06</a:t>
            </a:r>
          </a:p>
        </p:txBody>
      </p:sp>
      <p:sp>
        <p:nvSpPr>
          <p:cNvPr id="68" name="E03-source"/>
          <p:cNvSpPr/>
          <p:nvPr/>
        </p:nvSpPr>
        <p:spPr>
          <a:xfrm>
            <a:off x="12396216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3 ↔ N04"/>
          <p:cNvSpPr txBox="1"/>
          <p:nvPr/>
        </p:nvSpPr>
        <p:spPr>
          <a:xfrm>
            <a:off x="11438230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70" name="rect-070"/>
          <p:cNvSpPr/>
          <p:nvPr/>
        </p:nvSpPr>
        <p:spPr>
          <a:xfrm>
            <a:off x="8694420" y="4016502"/>
            <a:ext cx="3893820" cy="172288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N06  接口与配置"/>
          <p:cNvSpPr txBox="1"/>
          <p:nvPr/>
        </p:nvSpPr>
        <p:spPr>
          <a:xfrm>
            <a:off x="8790432" y="4044452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接口与配置</a:t>
            </a:r>
          </a:p>
        </p:txBody>
      </p:sp>
      <p:sp>
        <p:nvSpPr>
          <p:cNvPr id="72" name="text-072: 6  serial_link_reg_top"/>
          <p:cNvSpPr txBox="1"/>
          <p:nvPr/>
        </p:nvSpPr>
        <p:spPr>
          <a:xfrm>
            <a:off x="9621202" y="4213860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serial_link_reg_top</a:t>
            </a:r>
          </a:p>
        </p:txBody>
      </p:sp>
      <p:sp>
        <p:nvSpPr>
          <p:cNvPr id="73" name="text-073: Regbus → 可选 reg_cdc → 配置"/>
          <p:cNvSpPr txBox="1"/>
          <p:nvPr/>
        </p:nvSpPr>
        <p:spPr>
          <a:xfrm>
            <a:off x="9494253" y="4396069"/>
            <a:ext cx="229415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→ 可选 reg_cdc → 配置</a:t>
            </a:r>
          </a:p>
        </p:txBody>
      </p:sp>
      <p:sp>
        <p:nvSpPr>
          <p:cNvPr id="74" name="text-074: TX clk_div / raw mode / FIFO 控制"/>
          <p:cNvSpPr txBox="1"/>
          <p:nvPr/>
        </p:nvSpPr>
        <p:spPr>
          <a:xfrm>
            <a:off x="9301029" y="4566757"/>
            <a:ext cx="2680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clk_div / raw mode / FIFO 控制</a:t>
            </a:r>
          </a:p>
        </p:txBody>
      </p:sp>
      <p:sp>
        <p:nvSpPr>
          <p:cNvPr id="75" name="text-075: 当前 SoC 的三路逻辑时钟都接 clk_i"/>
          <p:cNvSpPr txBox="1"/>
          <p:nvPr/>
        </p:nvSpPr>
        <p:spPr>
          <a:xfrm>
            <a:off x="9466650" y="4737445"/>
            <a:ext cx="23493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SoC 的三路逻辑时钟都接 clk_i</a:t>
            </a:r>
          </a:p>
        </p:txBody>
      </p:sp>
      <p:sp>
        <p:nvSpPr>
          <p:cNvPr id="76" name="rect-076"/>
          <p:cNvSpPr/>
          <p:nvPr/>
        </p:nvSpPr>
        <p:spPr>
          <a:xfrm>
            <a:off x="8774430" y="5035296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E06-source"/>
          <p:cNvSpPr/>
          <p:nvPr/>
        </p:nvSpPr>
        <p:spPr>
          <a:xfrm>
            <a:off x="12396216" y="51686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6 → N05"/>
          <p:cNvSpPr txBox="1"/>
          <p:nvPr/>
        </p:nvSpPr>
        <p:spPr>
          <a:xfrm>
            <a:off x="11438230" y="507882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N05</a:t>
            </a:r>
          </a:p>
        </p:txBody>
      </p:sp>
      <p:sp>
        <p:nvSpPr>
          <p:cNvPr id="79" name="E07-source"/>
          <p:cNvSpPr/>
          <p:nvPr/>
        </p:nvSpPr>
        <p:spPr>
          <a:xfrm>
            <a:off x="12396216" y="53553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7 ↔ N03"/>
          <p:cNvSpPr txBox="1"/>
          <p:nvPr/>
        </p:nvSpPr>
        <p:spPr>
          <a:xfrm>
            <a:off x="11438230" y="52655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N03</a:t>
            </a:r>
          </a:p>
        </p:txBody>
      </p:sp>
      <p:sp>
        <p:nvSpPr>
          <p:cNvPr id="81" name="E08-source"/>
          <p:cNvSpPr/>
          <p:nvPr/>
        </p:nvSpPr>
        <p:spPr>
          <a:xfrm>
            <a:off x="12396216" y="55420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08 → N04"/>
          <p:cNvSpPr txBox="1"/>
          <p:nvPr/>
        </p:nvSpPr>
        <p:spPr>
          <a:xfrm>
            <a:off x="11438230" y="54522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N04</a:t>
            </a:r>
          </a:p>
        </p:txBody>
      </p:sp>
      <p:sp>
        <p:nvSpPr>
          <p:cNvPr id="83" name="text-083: 外部串行链路；此处 DDR 指双边沿传输"/>
          <p:cNvSpPr txBox="1"/>
          <p:nvPr/>
        </p:nvSpPr>
        <p:spPr>
          <a:xfrm>
            <a:off x="213360" y="6551005"/>
            <a:ext cx="23616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外部串行链路；此处 DDR 指双边沿传输</a:t>
            </a:r>
          </a:p>
        </p:txBody>
      </p:sp>
      <p:sp>
        <p:nvSpPr>
          <p:cNvPr id="84" name="text-084: AXI 事务跨芯片传输，不是 UART，也不自动提供缓存一致性。"/>
          <p:cNvSpPr txBox="1"/>
          <p:nvPr/>
        </p:nvSpPr>
        <p:spPr>
          <a:xfrm>
            <a:off x="213360" y="6716359"/>
            <a:ext cx="36620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 事务跨芯片传输，不是 UART，也不自动提供缓存一致性。</a:t>
            </a:r>
          </a:p>
        </p:txBody>
      </p:sp>
      <p:sp>
        <p:nvSpPr>
          <p:cNvPr id="85" name="text-085: 配对端口表示图示连接；已有/规划状态见模块和连接表。方向与 A 版一致。虚线模块"/>
          <p:cNvSpPr txBox="1"/>
          <p:nvPr/>
        </p:nvSpPr>
        <p:spPr>
          <a:xfrm>
            <a:off x="213360" y="7265335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2  VGA：AXI 读取帧缓冲，再按像素节拍消耗数据"/>
          <p:cNvSpPr txBox="1"/>
          <p:nvPr/>
        </p:nvSpPr>
        <p:spPr>
          <a:xfrm>
            <a:off x="213360" y="1061146"/>
            <a:ext cx="429280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12  VGA：AXI 读取帧缓冲，再按像素节拍消耗数据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336167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773555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801505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axi_vga_reg_top"/>
          <p:cNvSpPr txBox="1"/>
          <p:nvPr/>
        </p:nvSpPr>
        <p:spPr>
          <a:xfrm>
            <a:off x="1313498" y="1970913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axi_vga_reg_top</a:t>
            </a:r>
          </a:p>
        </p:txBody>
      </p:sp>
      <p:sp>
        <p:nvSpPr>
          <p:cNvPr id="7" name="text-007: START_ADDR / FRAME_SIZE"/>
          <p:cNvSpPr txBox="1"/>
          <p:nvPr/>
        </p:nvSpPr>
        <p:spPr>
          <a:xfrm>
            <a:off x="1181881" y="2153122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START_ADDR / FRAME_SIZE</a:t>
            </a:r>
          </a:p>
        </p:txBody>
      </p:sp>
      <p:sp>
        <p:nvSpPr>
          <p:cNvPr id="8" name="text-008: BURST_LEN / ENABLE"/>
          <p:cNvSpPr txBox="1"/>
          <p:nvPr/>
        </p:nvSpPr>
        <p:spPr>
          <a:xfrm>
            <a:off x="1381239" y="2323810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BURST_LEN / ENABLE</a:t>
            </a:r>
          </a:p>
        </p:txBody>
      </p:sp>
      <p:sp>
        <p:nvSpPr>
          <p:cNvPr id="9" name="text-009: 水平 / 垂直时序"/>
          <p:cNvSpPr txBox="1"/>
          <p:nvPr/>
        </p:nvSpPr>
        <p:spPr>
          <a:xfrm>
            <a:off x="1611268" y="2494498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垂直时序</a:t>
            </a:r>
          </a:p>
        </p:txBody>
      </p:sp>
      <p:sp>
        <p:nvSpPr>
          <p:cNvPr id="10" name="text-010: CLK_DIV"/>
          <p:cNvSpPr txBox="1"/>
          <p:nvPr/>
        </p:nvSpPr>
        <p:spPr>
          <a:xfrm>
            <a:off x="1819827" y="2665186"/>
            <a:ext cx="68088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CLK_DIV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296303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309638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→ N02"/>
          <p:cNvSpPr txBox="1"/>
          <p:nvPr/>
        </p:nvSpPr>
        <p:spPr>
          <a:xfrm>
            <a:off x="2957170" y="300656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4" name="E09-source"/>
          <p:cNvSpPr/>
          <p:nvPr/>
        </p:nvSpPr>
        <p:spPr>
          <a:xfrm>
            <a:off x="3915156" y="328307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E09 → N03"/>
          <p:cNvSpPr txBox="1"/>
          <p:nvPr/>
        </p:nvSpPr>
        <p:spPr>
          <a:xfrm>
            <a:off x="2957170" y="319325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16" name="rect-016"/>
          <p:cNvSpPr/>
          <p:nvPr/>
        </p:nvSpPr>
        <p:spPr>
          <a:xfrm>
            <a:off x="213360" y="3693795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P01  外部/组边界"/>
          <p:cNvSpPr txBox="1"/>
          <p:nvPr/>
        </p:nvSpPr>
        <p:spPr>
          <a:xfrm>
            <a:off x="309372" y="3721745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18" name="text-018: RGB / HS / VS 引脚"/>
          <p:cNvSpPr txBox="1"/>
          <p:nvPr/>
        </p:nvSpPr>
        <p:spPr>
          <a:xfrm>
            <a:off x="1353502" y="3891153"/>
            <a:ext cx="16135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 / HS / VS 引脚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420052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3-target"/>
          <p:cNvSpPr/>
          <p:nvPr/>
        </p:nvSpPr>
        <p:spPr>
          <a:xfrm>
            <a:off x="133350" y="43338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3 ← N03"/>
          <p:cNvSpPr txBox="1"/>
          <p:nvPr/>
        </p:nvSpPr>
        <p:spPr>
          <a:xfrm>
            <a:off x="474726" y="42440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2" name="rect-022"/>
          <p:cNvSpPr/>
          <p:nvPr/>
        </p:nvSpPr>
        <p:spPr>
          <a:xfrm>
            <a:off x="213360" y="4744593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P02  外部/组边界"/>
          <p:cNvSpPr txBox="1"/>
          <p:nvPr/>
        </p:nvSpPr>
        <p:spPr>
          <a:xfrm>
            <a:off x="309372" y="4772543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24" name="text-024: 系统 AXI AR"/>
          <p:cNvSpPr txBox="1"/>
          <p:nvPr/>
        </p:nvSpPr>
        <p:spPr>
          <a:xfrm>
            <a:off x="1656874" y="4941951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系统 AXI AR</a:t>
            </a:r>
          </a:p>
        </p:txBody>
      </p:sp>
      <p:sp>
        <p:nvSpPr>
          <p:cNvPr id="25" name="rect-025"/>
          <p:cNvSpPr/>
          <p:nvPr/>
        </p:nvSpPr>
        <p:spPr>
          <a:xfrm>
            <a:off x="293370" y="525132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5-target"/>
          <p:cNvSpPr/>
          <p:nvPr/>
        </p:nvSpPr>
        <p:spPr>
          <a:xfrm>
            <a:off x="133350" y="53846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5 ← N04"/>
          <p:cNvSpPr txBox="1"/>
          <p:nvPr/>
        </p:nvSpPr>
        <p:spPr>
          <a:xfrm>
            <a:off x="474726" y="52948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N04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1773555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180150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2  axi_vga_fetcher"/>
          <p:cNvSpPr txBox="1"/>
          <p:nvPr/>
        </p:nvSpPr>
        <p:spPr>
          <a:xfrm>
            <a:off x="5554028" y="1970913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axi_vga_fetcher</a:t>
            </a:r>
          </a:p>
        </p:txBody>
      </p:sp>
      <p:sp>
        <p:nvSpPr>
          <p:cNvPr id="31" name="text-031: 地址 / 长度状态机"/>
          <p:cNvSpPr txBox="1"/>
          <p:nvPr/>
        </p:nvSpPr>
        <p:spPr>
          <a:xfrm>
            <a:off x="5790457" y="2153122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长度状态机</a:t>
            </a:r>
          </a:p>
        </p:txBody>
      </p:sp>
      <p:sp>
        <p:nvSpPr>
          <p:cNvPr id="32" name="text-032: 拆取 RGB 像素"/>
          <p:cNvSpPr txBox="1"/>
          <p:nvPr/>
        </p:nvSpPr>
        <p:spPr>
          <a:xfrm>
            <a:off x="5894737" y="2323810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拆取 RGB 像素</a:t>
            </a:r>
          </a:p>
        </p:txBody>
      </p:sp>
      <p:sp>
        <p:nvSpPr>
          <p:cNvPr id="33" name="text-033: 保持 beat / pixel offset"/>
          <p:cNvSpPr txBox="1"/>
          <p:nvPr/>
        </p:nvSpPr>
        <p:spPr>
          <a:xfrm>
            <a:off x="5419344" y="2494498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保持 beat / pixel offset</a:t>
            </a:r>
          </a:p>
        </p:txBody>
      </p:sp>
      <p:sp>
        <p:nvSpPr>
          <p:cNvPr id="34" name="rect-034"/>
          <p:cNvSpPr/>
          <p:nvPr/>
        </p:nvSpPr>
        <p:spPr>
          <a:xfrm>
            <a:off x="4533900" y="279234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1-target"/>
          <p:cNvSpPr/>
          <p:nvPr/>
        </p:nvSpPr>
        <p:spPr>
          <a:xfrm>
            <a:off x="4373880" y="292569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1 ← N01"/>
          <p:cNvSpPr txBox="1"/>
          <p:nvPr/>
        </p:nvSpPr>
        <p:spPr>
          <a:xfrm>
            <a:off x="4715256" y="283587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7" name="E08-target"/>
          <p:cNvSpPr/>
          <p:nvPr/>
        </p:nvSpPr>
        <p:spPr>
          <a:xfrm>
            <a:off x="4373880" y="31123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8 ← N04"/>
          <p:cNvSpPr txBox="1"/>
          <p:nvPr/>
        </p:nvSpPr>
        <p:spPr>
          <a:xfrm>
            <a:off x="4715256" y="302256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N04</a:t>
            </a:r>
          </a:p>
        </p:txBody>
      </p:sp>
      <p:sp>
        <p:nvSpPr>
          <p:cNvPr id="39" name="E02-source"/>
          <p:cNvSpPr/>
          <p:nvPr/>
        </p:nvSpPr>
        <p:spPr>
          <a:xfrm>
            <a:off x="8155686" y="292569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E02 → N03"/>
          <p:cNvSpPr txBox="1"/>
          <p:nvPr/>
        </p:nvSpPr>
        <p:spPr>
          <a:xfrm>
            <a:off x="7197700" y="283587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1" name="E04-source"/>
          <p:cNvSpPr/>
          <p:nvPr/>
        </p:nvSpPr>
        <p:spPr>
          <a:xfrm>
            <a:off x="8155686" y="31123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4 → N04"/>
          <p:cNvSpPr txBox="1"/>
          <p:nvPr/>
        </p:nvSpPr>
        <p:spPr>
          <a:xfrm>
            <a:off x="7197700" y="302256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N04</a:t>
            </a:r>
          </a:p>
        </p:txBody>
      </p:sp>
      <p:sp>
        <p:nvSpPr>
          <p:cNvPr id="43" name="rect-043"/>
          <p:cNvSpPr/>
          <p:nvPr/>
        </p:nvSpPr>
        <p:spPr>
          <a:xfrm>
            <a:off x="4453890" y="3523107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N04  内部工作逻辑"/>
          <p:cNvSpPr txBox="1"/>
          <p:nvPr/>
        </p:nvSpPr>
        <p:spPr>
          <a:xfrm>
            <a:off x="4549902" y="355105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45" name="text-045: 4  splitter + 信用门控"/>
          <p:cNvSpPr txBox="1"/>
          <p:nvPr/>
        </p:nvSpPr>
        <p:spPr>
          <a:xfrm>
            <a:off x="5460682" y="3720465"/>
            <a:ext cx="18802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splitter + 信用门控</a:t>
            </a:r>
          </a:p>
        </p:txBody>
      </p:sp>
      <p:sp>
        <p:nvSpPr>
          <p:cNvPr id="46" name="text-046: axi_burst_splitter"/>
          <p:cNvSpPr txBox="1"/>
          <p:nvPr/>
        </p:nvSpPr>
        <p:spPr>
          <a:xfrm>
            <a:off x="5621769" y="3902674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axi_burst_splitter</a:t>
            </a:r>
          </a:p>
        </p:txBody>
      </p:sp>
      <p:sp>
        <p:nvSpPr>
          <p:cNvPr id="47" name="text-047: 顶层 credit / stream_join"/>
          <p:cNvSpPr txBox="1"/>
          <p:nvPr/>
        </p:nvSpPr>
        <p:spPr>
          <a:xfrm>
            <a:off x="5379472" y="4073362"/>
            <a:ext cx="2042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顶层 credit / stream_join</a:t>
            </a:r>
          </a:p>
        </p:txBody>
      </p:sp>
      <p:sp>
        <p:nvSpPr>
          <p:cNvPr id="48" name="rect-048"/>
          <p:cNvSpPr/>
          <p:nvPr/>
        </p:nvSpPr>
        <p:spPr>
          <a:xfrm>
            <a:off x="4533900" y="437121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E04-target"/>
          <p:cNvSpPr/>
          <p:nvPr/>
        </p:nvSpPr>
        <p:spPr>
          <a:xfrm>
            <a:off x="4373880" y="45045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4 ← N02"/>
          <p:cNvSpPr txBox="1"/>
          <p:nvPr/>
        </p:nvSpPr>
        <p:spPr>
          <a:xfrm>
            <a:off x="4715256" y="44147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N02</a:t>
            </a:r>
          </a:p>
        </p:txBody>
      </p:sp>
      <p:sp>
        <p:nvSpPr>
          <p:cNvPr id="51" name="E07-target"/>
          <p:cNvSpPr/>
          <p:nvPr/>
        </p:nvSpPr>
        <p:spPr>
          <a:xfrm>
            <a:off x="4373880" y="469125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7 ← N05"/>
          <p:cNvSpPr txBox="1"/>
          <p:nvPr/>
        </p:nvSpPr>
        <p:spPr>
          <a:xfrm>
            <a:off x="4715256" y="460142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N05</a:t>
            </a:r>
          </a:p>
        </p:txBody>
      </p:sp>
      <p:sp>
        <p:nvSpPr>
          <p:cNvPr id="53" name="E05-source"/>
          <p:cNvSpPr/>
          <p:nvPr/>
        </p:nvSpPr>
        <p:spPr>
          <a:xfrm>
            <a:off x="8155686" y="45045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 → P02"/>
          <p:cNvSpPr txBox="1"/>
          <p:nvPr/>
        </p:nvSpPr>
        <p:spPr>
          <a:xfrm>
            <a:off x="7197700" y="44147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P02</a:t>
            </a:r>
          </a:p>
        </p:txBody>
      </p:sp>
      <p:sp>
        <p:nvSpPr>
          <p:cNvPr id="55" name="E08-source"/>
          <p:cNvSpPr/>
          <p:nvPr/>
        </p:nvSpPr>
        <p:spPr>
          <a:xfrm>
            <a:off x="8155686" y="469125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8 → N02"/>
          <p:cNvSpPr txBox="1"/>
          <p:nvPr/>
        </p:nvSpPr>
        <p:spPr>
          <a:xfrm>
            <a:off x="7197700" y="460142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N02</a:t>
            </a:r>
          </a:p>
        </p:txBody>
      </p:sp>
      <p:sp>
        <p:nvSpPr>
          <p:cNvPr id="57" name="rect-057"/>
          <p:cNvSpPr/>
          <p:nvPr/>
        </p:nvSpPr>
        <p:spPr>
          <a:xfrm>
            <a:off x="8694420" y="1773555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N03  内部工作逻辑"/>
          <p:cNvSpPr txBox="1"/>
          <p:nvPr/>
        </p:nvSpPr>
        <p:spPr>
          <a:xfrm>
            <a:off x="8790432" y="180150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9" name="text-059: 3  timing_fsm"/>
          <p:cNvSpPr txBox="1"/>
          <p:nvPr/>
        </p:nvSpPr>
        <p:spPr>
          <a:xfrm>
            <a:off x="10011251" y="1970913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timing_fsm</a:t>
            </a:r>
          </a:p>
        </p:txBody>
      </p:sp>
      <p:sp>
        <p:nvSpPr>
          <p:cNvPr id="60" name="text-060: 水平 / 垂直计数"/>
          <p:cNvSpPr txBox="1"/>
          <p:nvPr/>
        </p:nvSpPr>
        <p:spPr>
          <a:xfrm>
            <a:off x="10092328" y="2153122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垂直计数</a:t>
            </a:r>
          </a:p>
        </p:txBody>
      </p:sp>
      <p:sp>
        <p:nvSpPr>
          <p:cNvPr id="61" name="text-061: 可见区与消隐区"/>
          <p:cNvSpPr txBox="1"/>
          <p:nvPr/>
        </p:nvSpPr>
        <p:spPr>
          <a:xfrm>
            <a:off x="10150602" y="2323810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可见区与消隐区</a:t>
            </a:r>
          </a:p>
        </p:txBody>
      </p:sp>
      <p:sp>
        <p:nvSpPr>
          <p:cNvPr id="62" name="text-062: 消费像素 valid / ready"/>
          <p:cNvSpPr txBox="1"/>
          <p:nvPr/>
        </p:nvSpPr>
        <p:spPr>
          <a:xfrm>
            <a:off x="9776422" y="2494498"/>
            <a:ext cx="17298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消费像素 valid / ready</a:t>
            </a:r>
          </a:p>
        </p:txBody>
      </p:sp>
      <p:sp>
        <p:nvSpPr>
          <p:cNvPr id="63" name="rect-063"/>
          <p:cNvSpPr/>
          <p:nvPr/>
        </p:nvSpPr>
        <p:spPr>
          <a:xfrm>
            <a:off x="8774430" y="279234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02-target"/>
          <p:cNvSpPr/>
          <p:nvPr/>
        </p:nvSpPr>
        <p:spPr>
          <a:xfrm>
            <a:off x="8614410" y="292569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2 ← N02"/>
          <p:cNvSpPr txBox="1"/>
          <p:nvPr/>
        </p:nvSpPr>
        <p:spPr>
          <a:xfrm>
            <a:off x="8955786" y="283587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66" name="E09-target"/>
          <p:cNvSpPr/>
          <p:nvPr/>
        </p:nvSpPr>
        <p:spPr>
          <a:xfrm>
            <a:off x="8614410" y="31123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9 ← N01"/>
          <p:cNvSpPr txBox="1"/>
          <p:nvPr/>
        </p:nvSpPr>
        <p:spPr>
          <a:xfrm>
            <a:off x="8955786" y="302256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N01</a:t>
            </a:r>
          </a:p>
        </p:txBody>
      </p:sp>
      <p:sp>
        <p:nvSpPr>
          <p:cNvPr id="68" name="E03-source"/>
          <p:cNvSpPr/>
          <p:nvPr/>
        </p:nvSpPr>
        <p:spPr>
          <a:xfrm>
            <a:off x="12396216" y="292569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3 → P01"/>
          <p:cNvSpPr txBox="1"/>
          <p:nvPr/>
        </p:nvSpPr>
        <p:spPr>
          <a:xfrm>
            <a:off x="11438230" y="283587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P01</a:t>
            </a:r>
          </a:p>
        </p:txBody>
      </p:sp>
      <p:sp>
        <p:nvSpPr>
          <p:cNvPr id="70" name="rect-070"/>
          <p:cNvSpPr/>
          <p:nvPr/>
        </p:nvSpPr>
        <p:spPr>
          <a:xfrm>
            <a:off x="8694420" y="3523107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N05  状态/存储"/>
          <p:cNvSpPr txBox="1"/>
          <p:nvPr/>
        </p:nvSpPr>
        <p:spPr>
          <a:xfrm>
            <a:off x="8790432" y="355105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72" name="text-072: 5  R 通道 FIFO"/>
          <p:cNvSpPr txBox="1"/>
          <p:nvPr/>
        </p:nvSpPr>
        <p:spPr>
          <a:xfrm>
            <a:off x="10007918" y="3720465"/>
            <a:ext cx="12668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 通道 FIFO</a:t>
            </a:r>
          </a:p>
        </p:txBody>
      </p:sp>
      <p:sp>
        <p:nvSpPr>
          <p:cNvPr id="73" name="text-073: BufferDepth + 1"/>
          <p:cNvSpPr txBox="1"/>
          <p:nvPr/>
        </p:nvSpPr>
        <p:spPr>
          <a:xfrm>
            <a:off x="9981914" y="3902674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BufferDepth + 1</a:t>
            </a:r>
          </a:p>
        </p:txBody>
      </p:sp>
      <p:sp>
        <p:nvSpPr>
          <p:cNvPr id="74" name="text-074: 缓冲存储器返回数据"/>
          <p:cNvSpPr txBox="1"/>
          <p:nvPr/>
        </p:nvSpPr>
        <p:spPr>
          <a:xfrm>
            <a:off x="10027920" y="4073362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缓冲存储器返回数据</a:t>
            </a:r>
          </a:p>
        </p:txBody>
      </p:sp>
      <p:sp>
        <p:nvSpPr>
          <p:cNvPr id="75" name="rect-075"/>
          <p:cNvSpPr/>
          <p:nvPr/>
        </p:nvSpPr>
        <p:spPr>
          <a:xfrm>
            <a:off x="8774430" y="437121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E06-target"/>
          <p:cNvSpPr/>
          <p:nvPr/>
        </p:nvSpPr>
        <p:spPr>
          <a:xfrm>
            <a:off x="8614410" y="45045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06 ← P03"/>
          <p:cNvSpPr txBox="1"/>
          <p:nvPr/>
        </p:nvSpPr>
        <p:spPr>
          <a:xfrm>
            <a:off x="8955786" y="44147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P03</a:t>
            </a:r>
          </a:p>
        </p:txBody>
      </p:sp>
      <p:sp>
        <p:nvSpPr>
          <p:cNvPr id="78" name="E07-source"/>
          <p:cNvSpPr/>
          <p:nvPr/>
        </p:nvSpPr>
        <p:spPr>
          <a:xfrm>
            <a:off x="12396216" y="45045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7 → N04"/>
          <p:cNvSpPr txBox="1"/>
          <p:nvPr/>
        </p:nvSpPr>
        <p:spPr>
          <a:xfrm>
            <a:off x="11438230" y="44147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80" name="rect-080"/>
          <p:cNvSpPr/>
          <p:nvPr/>
        </p:nvSpPr>
        <p:spPr>
          <a:xfrm>
            <a:off x="8694420" y="4915281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P03  外部/组边界"/>
          <p:cNvSpPr txBox="1"/>
          <p:nvPr/>
        </p:nvSpPr>
        <p:spPr>
          <a:xfrm>
            <a:off x="8790432" y="494323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82" name="text-082: 系统 AXI R"/>
          <p:cNvSpPr txBox="1"/>
          <p:nvPr/>
        </p:nvSpPr>
        <p:spPr>
          <a:xfrm>
            <a:off x="10181272" y="5112639"/>
            <a:ext cx="9201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系统 AXI R</a:t>
            </a:r>
          </a:p>
        </p:txBody>
      </p:sp>
      <p:sp>
        <p:nvSpPr>
          <p:cNvPr id="83" name="rect-083"/>
          <p:cNvSpPr/>
          <p:nvPr/>
        </p:nvSpPr>
        <p:spPr>
          <a:xfrm>
            <a:off x="8774430" y="542201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E06-source"/>
          <p:cNvSpPr/>
          <p:nvPr/>
        </p:nvSpPr>
        <p:spPr>
          <a:xfrm>
            <a:off x="12396216" y="55553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6 → N05"/>
          <p:cNvSpPr txBox="1"/>
          <p:nvPr/>
        </p:nvSpPr>
        <p:spPr>
          <a:xfrm>
            <a:off x="11438230" y="54655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N05</a:t>
            </a:r>
          </a:p>
        </p:txBody>
      </p:sp>
      <p:sp>
        <p:nvSpPr>
          <p:cNvPr id="86" name="text-086: Regbus 32"/>
          <p:cNvSpPr txBox="1"/>
          <p:nvPr/>
        </p:nvSpPr>
        <p:spPr>
          <a:xfrm>
            <a:off x="213360" y="5886922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87" name="text-087: RGB"/>
          <p:cNvSpPr txBox="1"/>
          <p:nvPr/>
        </p:nvSpPr>
        <p:spPr>
          <a:xfrm>
            <a:off x="213360" y="6052276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RGB</a:t>
            </a:r>
          </a:p>
        </p:txBody>
      </p:sp>
      <p:sp>
        <p:nvSpPr>
          <p:cNvPr id="88" name="text-088: RGB / HS / VS"/>
          <p:cNvSpPr txBox="1"/>
          <p:nvPr/>
        </p:nvSpPr>
        <p:spPr>
          <a:xfrm>
            <a:off x="213360" y="6217630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RGB / HS / VS</a:t>
            </a:r>
          </a:p>
        </p:txBody>
      </p:sp>
      <p:sp>
        <p:nvSpPr>
          <p:cNvPr id="89" name="text-089: AR 请求"/>
          <p:cNvSpPr txBox="1"/>
          <p:nvPr/>
        </p:nvSpPr>
        <p:spPr>
          <a:xfrm>
            <a:off x="213360" y="6382984"/>
            <a:ext cx="60727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AR 请求</a:t>
            </a:r>
          </a:p>
        </p:txBody>
      </p:sp>
      <p:sp>
        <p:nvSpPr>
          <p:cNvPr id="90" name="text-090: AR → 内存"/>
          <p:cNvSpPr txBox="1"/>
          <p:nvPr/>
        </p:nvSpPr>
        <p:spPr>
          <a:xfrm>
            <a:off x="213360" y="6548338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AR → 内存</a:t>
            </a:r>
          </a:p>
        </p:txBody>
      </p:sp>
      <p:sp>
        <p:nvSpPr>
          <p:cNvPr id="91" name="text-091: R ← 内存"/>
          <p:cNvSpPr txBox="1"/>
          <p:nvPr/>
        </p:nvSpPr>
        <p:spPr>
          <a:xfrm>
            <a:off x="213360" y="6713692"/>
            <a:ext cx="7299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 ← 内存</a:t>
            </a:r>
          </a:p>
        </p:txBody>
      </p:sp>
      <p:sp>
        <p:nvSpPr>
          <p:cNvPr id="92" name="text-092: 返回 beat"/>
          <p:cNvSpPr txBox="1"/>
          <p:nvPr/>
        </p:nvSpPr>
        <p:spPr>
          <a:xfrm>
            <a:off x="213360" y="6879046"/>
            <a:ext cx="76676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返回 beat</a:t>
            </a:r>
          </a:p>
        </p:txBody>
      </p:sp>
      <p:sp>
        <p:nvSpPr>
          <p:cNvPr id="93" name="text-093: clk_cnt_q == 0 → fsm_en"/>
          <p:cNvSpPr txBox="1"/>
          <p:nvPr/>
        </p:nvSpPr>
        <p:spPr>
          <a:xfrm>
            <a:off x="213360" y="7044400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clk_cnt_q == 0 → fsm_en</a:t>
            </a:r>
          </a:p>
        </p:txBody>
      </p:sp>
      <p:sp>
        <p:nvSpPr>
          <p:cNvPr id="94" name="text-094: 同一个 clk_i 域；CLK_DIV 控制像素状态机使能。"/>
          <p:cNvSpPr txBox="1"/>
          <p:nvPr/>
        </p:nvSpPr>
        <p:spPr>
          <a:xfrm>
            <a:off x="213360" y="7209754"/>
            <a:ext cx="315906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同一个 clk_i 域；CLK_DIV 控制像素状态机使能。</a:t>
            </a:r>
          </a:p>
        </p:txBody>
      </p:sp>
      <p:sp>
        <p:nvSpPr>
          <p:cNvPr id="95" name="text-095: 配对端口表示图示连接；已有/规划状态见模块和连接表。方向与 A 版一致。虚线模块"/>
          <p:cNvSpPr txBox="1"/>
          <p:nvPr/>
        </p:nvSpPr>
        <p:spPr>
          <a:xfrm>
            <a:off x="213360" y="7758730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3  USB OHCI：控制适配、描述符 DMA 与独立 PHY 时钟域"/>
          <p:cNvSpPr txBox="1"/>
          <p:nvPr/>
        </p:nvSpPr>
        <p:spPr>
          <a:xfrm>
            <a:off x="213360" y="1127821"/>
            <a:ext cx="51718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13  USB OHCI：控制适配、描述符 DMA 与独立 PHY 时钟域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40284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840230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186818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Regbus 32"/>
          <p:cNvSpPr txBox="1"/>
          <p:nvPr/>
        </p:nvSpPr>
        <p:spPr>
          <a:xfrm>
            <a:off x="1703546" y="2037588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7" name="text-007: ctrl_req / ctrl_rsp"/>
          <p:cNvSpPr txBox="1"/>
          <p:nvPr/>
        </p:nvSpPr>
        <p:spPr>
          <a:xfrm>
            <a:off x="1341368" y="2219797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ctrl_req / ctrl_rsp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51764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6509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↔ N02"/>
          <p:cNvSpPr txBox="1"/>
          <p:nvPr/>
        </p:nvSpPr>
        <p:spPr>
          <a:xfrm>
            <a:off x="2957170" y="25611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3061716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N04  内部工作逻辑"/>
          <p:cNvSpPr txBox="1"/>
          <p:nvPr/>
        </p:nvSpPr>
        <p:spPr>
          <a:xfrm>
            <a:off x="309372" y="308966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13" name="text-013: 5  AXI DMA 适配"/>
          <p:cNvSpPr txBox="1"/>
          <p:nvPr/>
        </p:nvSpPr>
        <p:spPr>
          <a:xfrm>
            <a:off x="1483519" y="3259074"/>
            <a:ext cx="13535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 DMA 适配</a:t>
            </a:r>
          </a:p>
        </p:txBody>
      </p:sp>
      <p:sp>
        <p:nvSpPr>
          <p:cNvPr id="14" name="text-014: axi_dw_converter：32 → 系统"/>
          <p:cNvSpPr txBox="1"/>
          <p:nvPr/>
        </p:nvSpPr>
        <p:spPr>
          <a:xfrm>
            <a:off x="1056132" y="3441283"/>
            <a:ext cx="220827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axi_dw_converter：32 → 系统</a:t>
            </a:r>
          </a:p>
        </p:txBody>
      </p:sp>
      <p:sp>
        <p:nvSpPr>
          <p:cNvPr id="15" name="text-015: axi_modify_address"/>
          <p:cNvSpPr txBox="1"/>
          <p:nvPr/>
        </p:nvSpPr>
        <p:spPr>
          <a:xfrm>
            <a:off x="1381239" y="3611971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axi_modify_address</a:t>
            </a:r>
          </a:p>
        </p:txBody>
      </p:sp>
      <p:sp>
        <p:nvSpPr>
          <p:cNvPr id="16" name="text-016: 32-bit 地址 domain / mask"/>
          <p:cNvSpPr txBox="1"/>
          <p:nvPr/>
        </p:nvSpPr>
        <p:spPr>
          <a:xfrm>
            <a:off x="1138942" y="3782659"/>
            <a:ext cx="2042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地址 domain / mask</a:t>
            </a:r>
          </a:p>
        </p:txBody>
      </p:sp>
      <p:sp>
        <p:nvSpPr>
          <p:cNvPr id="17" name="rect-017"/>
          <p:cNvSpPr/>
          <p:nvPr/>
        </p:nvSpPr>
        <p:spPr>
          <a:xfrm>
            <a:off x="293370" y="408051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03-target"/>
          <p:cNvSpPr/>
          <p:nvPr/>
        </p:nvSpPr>
        <p:spPr>
          <a:xfrm>
            <a:off x="133350" y="42138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3 ↔ N03"/>
          <p:cNvSpPr txBox="1"/>
          <p:nvPr/>
        </p:nvSpPr>
        <p:spPr>
          <a:xfrm>
            <a:off x="474726" y="41240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N03</a:t>
            </a:r>
          </a:p>
        </p:txBody>
      </p:sp>
      <p:sp>
        <p:nvSpPr>
          <p:cNvPr id="20" name="E04-source"/>
          <p:cNvSpPr/>
          <p:nvPr/>
        </p:nvSpPr>
        <p:spPr>
          <a:xfrm>
            <a:off x="3915156" y="42138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4 ↔ P01"/>
          <p:cNvSpPr txBox="1"/>
          <p:nvPr/>
        </p:nvSpPr>
        <p:spPr>
          <a:xfrm>
            <a:off x="2957170" y="41240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P01</a:t>
            </a:r>
          </a:p>
        </p:txBody>
      </p:sp>
      <p:sp>
        <p:nvSpPr>
          <p:cNvPr id="22" name="rect-022"/>
          <p:cNvSpPr/>
          <p:nvPr/>
        </p:nvSpPr>
        <p:spPr>
          <a:xfrm>
            <a:off x="213360" y="462457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P01  外部/组边界"/>
          <p:cNvSpPr txBox="1"/>
          <p:nvPr/>
        </p:nvSpPr>
        <p:spPr>
          <a:xfrm>
            <a:off x="309372" y="465252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4" name="text-024: 主 AXI：AxiIn.usb"/>
          <p:cNvSpPr txBox="1"/>
          <p:nvPr/>
        </p:nvSpPr>
        <p:spPr>
          <a:xfrm>
            <a:off x="1396841" y="4821936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AXI：AxiIn.usb</a:t>
            </a:r>
          </a:p>
        </p:txBody>
      </p:sp>
      <p:sp>
        <p:nvSpPr>
          <p:cNvPr id="25" name="rect-025"/>
          <p:cNvSpPr/>
          <p:nvPr/>
        </p:nvSpPr>
        <p:spPr>
          <a:xfrm>
            <a:off x="293370" y="513130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4-target"/>
          <p:cNvSpPr/>
          <p:nvPr/>
        </p:nvSpPr>
        <p:spPr>
          <a:xfrm>
            <a:off x="133350" y="52646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4 ↔ N04"/>
          <p:cNvSpPr txBox="1"/>
          <p:nvPr/>
        </p:nvSpPr>
        <p:spPr>
          <a:xfrm>
            <a:off x="474726" y="51748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1840230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186818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1  reg_to_axi"/>
          <p:cNvSpPr txBox="1"/>
          <p:nvPr/>
        </p:nvSpPr>
        <p:spPr>
          <a:xfrm>
            <a:off x="5770721" y="2037588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reg_to_axi</a:t>
            </a:r>
          </a:p>
        </p:txBody>
      </p:sp>
      <p:sp>
        <p:nvSpPr>
          <p:cNvPr id="31" name="text-031: 32-bit Reg → AXI32"/>
          <p:cNvSpPr txBox="1"/>
          <p:nvPr/>
        </p:nvSpPr>
        <p:spPr>
          <a:xfrm>
            <a:off x="5600300" y="2219797"/>
            <a:ext cx="16010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Reg → AXI32</a:t>
            </a:r>
          </a:p>
        </p:txBody>
      </p:sp>
      <p:sp>
        <p:nvSpPr>
          <p:cNvPr id="32" name="text-032: 控制地址取低 12 位"/>
          <p:cNvSpPr txBox="1"/>
          <p:nvPr/>
        </p:nvSpPr>
        <p:spPr>
          <a:xfrm>
            <a:off x="5750585" y="2390485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控制地址取低 12 位</a:t>
            </a:r>
          </a:p>
        </p:txBody>
      </p:sp>
      <p:sp>
        <p:nvSpPr>
          <p:cNvPr id="33" name="rect-033"/>
          <p:cNvSpPr/>
          <p:nvPr/>
        </p:nvSpPr>
        <p:spPr>
          <a:xfrm>
            <a:off x="4533900" y="268833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1-target"/>
          <p:cNvSpPr/>
          <p:nvPr/>
        </p:nvSpPr>
        <p:spPr>
          <a:xfrm>
            <a:off x="4373880" y="28216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 ↔ N01"/>
          <p:cNvSpPr txBox="1"/>
          <p:nvPr/>
        </p:nvSpPr>
        <p:spPr>
          <a:xfrm>
            <a:off x="4715256" y="27318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6" name="E02-source"/>
          <p:cNvSpPr/>
          <p:nvPr/>
        </p:nvSpPr>
        <p:spPr>
          <a:xfrm>
            <a:off x="8155686" y="28216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 ↔ N03"/>
          <p:cNvSpPr txBox="1"/>
          <p:nvPr/>
        </p:nvSpPr>
        <p:spPr>
          <a:xfrm>
            <a:off x="7197700" y="27318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3232404"/>
            <a:ext cx="3893820" cy="134950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5  状态/存储"/>
          <p:cNvSpPr txBox="1"/>
          <p:nvPr/>
        </p:nvSpPr>
        <p:spPr>
          <a:xfrm>
            <a:off x="4549902" y="326035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40" name="text-040: 3  CtrlCc"/>
          <p:cNvSpPr txBox="1"/>
          <p:nvPr/>
        </p:nvSpPr>
        <p:spPr>
          <a:xfrm>
            <a:off x="5944076" y="3429762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CtrlCc</a:t>
            </a:r>
          </a:p>
        </p:txBody>
      </p:sp>
      <p:sp>
        <p:nvSpPr>
          <p:cNvPr id="41" name="text-041: 命令 / 数据 / 状态跨域"/>
          <p:cNvSpPr txBox="1"/>
          <p:nvPr/>
        </p:nvSpPr>
        <p:spPr>
          <a:xfrm>
            <a:off x="5609501" y="3611971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数据 / 状态跨域</a:t>
            </a:r>
          </a:p>
        </p:txBody>
      </p:sp>
      <p:sp>
        <p:nvSpPr>
          <p:cNvPr id="42" name="text-042: 生成 RTL 的握手同步"/>
          <p:cNvSpPr txBox="1"/>
          <p:nvPr/>
        </p:nvSpPr>
        <p:spPr>
          <a:xfrm>
            <a:off x="5710714" y="3782659"/>
            <a:ext cx="13801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生成 RTL 的握手同步</a:t>
            </a:r>
          </a:p>
        </p:txBody>
      </p:sp>
      <p:sp>
        <p:nvSpPr>
          <p:cNvPr id="43" name="text-043: 两域分别复位"/>
          <p:cNvSpPr txBox="1"/>
          <p:nvPr/>
        </p:nvSpPr>
        <p:spPr>
          <a:xfrm>
            <a:off x="5971413" y="3953347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两域分别复位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425119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5-target"/>
          <p:cNvSpPr/>
          <p:nvPr/>
        </p:nvSpPr>
        <p:spPr>
          <a:xfrm>
            <a:off x="4373880" y="43845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5 ↔ N03"/>
          <p:cNvSpPr txBox="1"/>
          <p:nvPr/>
        </p:nvSpPr>
        <p:spPr>
          <a:xfrm>
            <a:off x="4715256" y="42947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N03</a:t>
            </a:r>
          </a:p>
        </p:txBody>
      </p:sp>
      <p:sp>
        <p:nvSpPr>
          <p:cNvPr id="47" name="E06-source"/>
          <p:cNvSpPr/>
          <p:nvPr/>
        </p:nvSpPr>
        <p:spPr>
          <a:xfrm>
            <a:off x="8155686" y="43845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6 ↔ N06"/>
          <p:cNvSpPr txBox="1"/>
          <p:nvPr/>
        </p:nvSpPr>
        <p:spPr>
          <a:xfrm>
            <a:off x="7197700" y="42947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479526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P02  外部/组边界"/>
          <p:cNvSpPr txBox="1"/>
          <p:nvPr/>
        </p:nvSpPr>
        <p:spPr>
          <a:xfrm>
            <a:off x="4549902" y="482321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51" name="text-051: SoC USB IRQ"/>
          <p:cNvSpPr txBox="1"/>
          <p:nvPr/>
        </p:nvSpPr>
        <p:spPr>
          <a:xfrm>
            <a:off x="5857399" y="4992624"/>
            <a:ext cx="10868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USB IRQ</a:t>
            </a:r>
          </a:p>
        </p:txBody>
      </p:sp>
      <p:sp>
        <p:nvSpPr>
          <p:cNvPr id="52" name="rect-052"/>
          <p:cNvSpPr/>
          <p:nvPr/>
        </p:nvSpPr>
        <p:spPr>
          <a:xfrm>
            <a:off x="4533900" y="530199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7-target"/>
          <p:cNvSpPr/>
          <p:nvPr/>
        </p:nvSpPr>
        <p:spPr>
          <a:xfrm>
            <a:off x="4373880" y="54353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7 ← N03"/>
          <p:cNvSpPr txBox="1"/>
          <p:nvPr/>
        </p:nvSpPr>
        <p:spPr>
          <a:xfrm>
            <a:off x="4715256" y="534552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N03</a:t>
            </a:r>
          </a:p>
        </p:txBody>
      </p:sp>
      <p:sp>
        <p:nvSpPr>
          <p:cNvPr id="55" name="rect-055"/>
          <p:cNvSpPr/>
          <p:nvPr/>
        </p:nvSpPr>
        <p:spPr>
          <a:xfrm>
            <a:off x="8694420" y="1840230"/>
            <a:ext cx="3893820" cy="189357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N03  内部工作逻辑"/>
          <p:cNvSpPr txBox="1"/>
          <p:nvPr/>
        </p:nvSpPr>
        <p:spPr>
          <a:xfrm>
            <a:off x="8790432" y="186818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7" name="text-057: 2  UsbOhciAxi4：前端"/>
          <p:cNvSpPr txBox="1"/>
          <p:nvPr/>
        </p:nvSpPr>
        <p:spPr>
          <a:xfrm>
            <a:off x="9767888" y="2037588"/>
            <a:ext cx="174688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UsbOhciAxi4：前端</a:t>
            </a:r>
          </a:p>
        </p:txBody>
      </p:sp>
      <p:sp>
        <p:nvSpPr>
          <p:cNvPr id="58" name="text-058: ctrlBridge → front_ohci"/>
          <p:cNvSpPr txBox="1"/>
          <p:nvPr/>
        </p:nvSpPr>
        <p:spPr>
          <a:xfrm>
            <a:off x="9641472" y="2219797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ctrlBridge → front_ohci</a:t>
            </a:r>
          </a:p>
        </p:txBody>
      </p:sp>
      <p:sp>
        <p:nvSpPr>
          <p:cNvPr id="59" name="text-059: OHCI 寄存器 / 帧调度"/>
          <p:cNvSpPr txBox="1"/>
          <p:nvPr/>
        </p:nvSpPr>
        <p:spPr>
          <a:xfrm>
            <a:off x="9892970" y="2390485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OHCI 寄存器 / 帧调度</a:t>
            </a:r>
          </a:p>
        </p:txBody>
      </p:sp>
      <p:sp>
        <p:nvSpPr>
          <p:cNvPr id="60" name="text-060: 读取 ED / TD、搬运数据"/>
          <p:cNvSpPr txBox="1"/>
          <p:nvPr/>
        </p:nvSpPr>
        <p:spPr>
          <a:xfrm>
            <a:off x="9831629" y="2561173"/>
            <a:ext cx="1619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读取 ED / TD、搬运数据</a:t>
            </a:r>
          </a:p>
        </p:txBody>
      </p:sp>
      <p:sp>
        <p:nvSpPr>
          <p:cNvPr id="61" name="text-061: 完成状态 / IRQ"/>
          <p:cNvSpPr txBox="1"/>
          <p:nvPr/>
        </p:nvSpPr>
        <p:spPr>
          <a:xfrm>
            <a:off x="10095395" y="2731861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完成状态 / IRQ</a:t>
            </a:r>
          </a:p>
        </p:txBody>
      </p:sp>
      <p:sp>
        <p:nvSpPr>
          <p:cNvPr id="62" name="rect-062"/>
          <p:cNvSpPr/>
          <p:nvPr/>
        </p:nvSpPr>
        <p:spPr>
          <a:xfrm>
            <a:off x="8774430" y="302971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02-target"/>
          <p:cNvSpPr/>
          <p:nvPr/>
        </p:nvSpPr>
        <p:spPr>
          <a:xfrm>
            <a:off x="8614410" y="31630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2 ↔ N02"/>
          <p:cNvSpPr txBox="1"/>
          <p:nvPr/>
        </p:nvSpPr>
        <p:spPr>
          <a:xfrm>
            <a:off x="8955786" y="30732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65" name="E03-source"/>
          <p:cNvSpPr/>
          <p:nvPr/>
        </p:nvSpPr>
        <p:spPr>
          <a:xfrm>
            <a:off x="12396216" y="31630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3 ↔ N04"/>
          <p:cNvSpPr txBox="1"/>
          <p:nvPr/>
        </p:nvSpPr>
        <p:spPr>
          <a:xfrm>
            <a:off x="11438230" y="30732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67" name="E05-source"/>
          <p:cNvSpPr/>
          <p:nvPr/>
        </p:nvSpPr>
        <p:spPr>
          <a:xfrm>
            <a:off x="12396216" y="33497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5 ↔ N05"/>
          <p:cNvSpPr txBox="1"/>
          <p:nvPr/>
        </p:nvSpPr>
        <p:spPr>
          <a:xfrm>
            <a:off x="11438230" y="32599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69" name="E07-source"/>
          <p:cNvSpPr/>
          <p:nvPr/>
        </p:nvSpPr>
        <p:spPr>
          <a:xfrm>
            <a:off x="12396216" y="35364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7 → P02"/>
          <p:cNvSpPr txBox="1"/>
          <p:nvPr/>
        </p:nvSpPr>
        <p:spPr>
          <a:xfrm>
            <a:off x="11438230" y="34466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P02</a:t>
            </a:r>
          </a:p>
        </p:txBody>
      </p:sp>
      <p:sp>
        <p:nvSpPr>
          <p:cNvPr id="71" name="rect-071"/>
          <p:cNvSpPr/>
          <p:nvPr/>
        </p:nvSpPr>
        <p:spPr>
          <a:xfrm>
            <a:off x="8694420" y="3947160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N06  内部工作逻辑"/>
          <p:cNvSpPr txBox="1"/>
          <p:nvPr/>
        </p:nvSpPr>
        <p:spPr>
          <a:xfrm>
            <a:off x="8790432" y="397511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3" name="text-073: 4  UsbLsFsPhy"/>
          <p:cNvSpPr txBox="1"/>
          <p:nvPr/>
        </p:nvSpPr>
        <p:spPr>
          <a:xfrm>
            <a:off x="10011251" y="4144518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UsbLsFsPhy</a:t>
            </a:r>
          </a:p>
        </p:txBody>
      </p:sp>
      <p:sp>
        <p:nvSpPr>
          <p:cNvPr id="74" name="text-074: 数字收发逻辑"/>
          <p:cNvSpPr txBox="1"/>
          <p:nvPr/>
        </p:nvSpPr>
        <p:spPr>
          <a:xfrm>
            <a:off x="10211943" y="4326727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数字收发逻辑</a:t>
            </a:r>
          </a:p>
        </p:txBody>
      </p:sp>
      <p:sp>
        <p:nvSpPr>
          <p:cNvPr id="75" name="text-075: LS / FS；4 个端口"/>
          <p:cNvSpPr txBox="1"/>
          <p:nvPr/>
        </p:nvSpPr>
        <p:spPr>
          <a:xfrm>
            <a:off x="9975780" y="4497415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LS / FS；4 个端口</a:t>
            </a:r>
          </a:p>
        </p:txBody>
      </p:sp>
      <p:sp>
        <p:nvSpPr>
          <p:cNvPr id="76" name="text-076: DP / DM + OE"/>
          <p:cNvSpPr txBox="1"/>
          <p:nvPr/>
        </p:nvSpPr>
        <p:spPr>
          <a:xfrm>
            <a:off x="10101529" y="4668103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+ OE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496595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6-target"/>
          <p:cNvSpPr/>
          <p:nvPr/>
        </p:nvSpPr>
        <p:spPr>
          <a:xfrm>
            <a:off x="8614410" y="509930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6 ↔ N05"/>
          <p:cNvSpPr txBox="1"/>
          <p:nvPr/>
        </p:nvSpPr>
        <p:spPr>
          <a:xfrm>
            <a:off x="8955786" y="500947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N05</a:t>
            </a:r>
          </a:p>
        </p:txBody>
      </p:sp>
      <p:sp>
        <p:nvSpPr>
          <p:cNvPr id="80" name="E08-source"/>
          <p:cNvSpPr/>
          <p:nvPr/>
        </p:nvSpPr>
        <p:spPr>
          <a:xfrm>
            <a:off x="12396216" y="509930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8 ↔ P03"/>
          <p:cNvSpPr txBox="1"/>
          <p:nvPr/>
        </p:nvSpPr>
        <p:spPr>
          <a:xfrm>
            <a:off x="11438230" y="500947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P03</a:t>
            </a:r>
          </a:p>
        </p:txBody>
      </p:sp>
      <p:sp>
        <p:nvSpPr>
          <p:cNvPr id="82" name="rect-082"/>
          <p:cNvSpPr/>
          <p:nvPr/>
        </p:nvSpPr>
        <p:spPr>
          <a:xfrm>
            <a:off x="8694420" y="5510022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P03  外部/组边界"/>
          <p:cNvSpPr txBox="1"/>
          <p:nvPr/>
        </p:nvSpPr>
        <p:spPr>
          <a:xfrm>
            <a:off x="8790432" y="5537972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84" name="text-084: DP / DM / OE 引脚"/>
          <p:cNvSpPr txBox="1"/>
          <p:nvPr/>
        </p:nvSpPr>
        <p:spPr>
          <a:xfrm>
            <a:off x="9877901" y="5707380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/ OE 引脚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601675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8-target"/>
          <p:cNvSpPr/>
          <p:nvPr/>
        </p:nvSpPr>
        <p:spPr>
          <a:xfrm>
            <a:off x="8614410" y="615010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8 ↔ N06"/>
          <p:cNvSpPr txBox="1"/>
          <p:nvPr/>
        </p:nvSpPr>
        <p:spPr>
          <a:xfrm>
            <a:off x="8955786" y="606027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N06</a:t>
            </a:r>
          </a:p>
        </p:txBody>
      </p:sp>
      <p:sp>
        <p:nvSpPr>
          <p:cNvPr id="88" name="text-088: spinal_usb_ohci：控制 / DMA 在 soc_clk_i；PHY"/>
          <p:cNvSpPr txBox="1"/>
          <p:nvPr/>
        </p:nvSpPr>
        <p:spPr>
          <a:xfrm>
            <a:off x="213360" y="6481663"/>
            <a:ext cx="46496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spinal_usb_ohci：控制 / DMA 在 soc_clk_i；PHY 使用 phy_clk_i</a:t>
            </a:r>
          </a:p>
        </p:txBody>
      </p:sp>
      <p:sp>
        <p:nvSpPr>
          <p:cNvPr id="89" name="text-089: AXI DMA ↔ 内存"/>
          <p:cNvSpPr txBox="1"/>
          <p:nvPr/>
        </p:nvSpPr>
        <p:spPr>
          <a:xfrm>
            <a:off x="213360" y="6647017"/>
            <a:ext cx="1208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 DMA ↔ 内存</a:t>
            </a:r>
          </a:p>
        </p:txBody>
      </p:sp>
      <p:sp>
        <p:nvSpPr>
          <p:cNvPr id="90" name="text-090: intr_o → SoC"/>
          <p:cNvSpPr txBox="1"/>
          <p:nvPr/>
        </p:nvSpPr>
        <p:spPr>
          <a:xfrm>
            <a:off x="213360" y="6812371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intr_o → SoC</a:t>
            </a:r>
          </a:p>
        </p:txBody>
      </p:sp>
      <p:sp>
        <p:nvSpPr>
          <p:cNvPr id="91" name="text-091: PAD / 电气 / VBUS 由平台实现"/>
          <p:cNvSpPr txBox="1"/>
          <p:nvPr/>
        </p:nvSpPr>
        <p:spPr>
          <a:xfrm>
            <a:off x="213360" y="6977725"/>
            <a:ext cx="209786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PAD / 电气 / VBUS 由平台实现</a:t>
            </a:r>
          </a:p>
        </p:txBody>
      </p:sp>
      <p:sp>
        <p:nvSpPr>
          <p:cNvPr id="92" name="text-092: DMA 内核地址为 32-bit；系统 AXI 更宽不会自动解除这一限制。"/>
          <p:cNvSpPr txBox="1"/>
          <p:nvPr/>
        </p:nvSpPr>
        <p:spPr>
          <a:xfrm>
            <a:off x="213360" y="7143079"/>
            <a:ext cx="39748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DMA 内核地址为 32-bit；系统 AXI 更宽不会自动解除这一限制。</a:t>
            </a:r>
          </a:p>
        </p:txBody>
      </p:sp>
      <p:sp>
        <p:nvSpPr>
          <p:cNvPr id="93" name="text-093: 配对端口表示图示连接；已有/规划状态见模块和连接表。方向与 A 版一致。虚线模块"/>
          <p:cNvSpPr txBox="1"/>
          <p:nvPr/>
        </p:nvSpPr>
        <p:spPr>
          <a:xfrm>
            <a:off x="213360" y="7692055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4  iDMA：AXI 控制入口、任务前端与独立搬运后端"/>
          <p:cNvSpPr txBox="1"/>
          <p:nvPr/>
        </p:nvSpPr>
        <p:spPr>
          <a:xfrm>
            <a:off x="213360" y="1383853"/>
            <a:ext cx="44037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14  iDMA：AXI 控制入口、任务前端与独立搬运后端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658874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096262"/>
            <a:ext cx="3893820" cy="1349502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2124212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AXI slave 控制口"/>
          <p:cNvSpPr txBox="1"/>
          <p:nvPr/>
        </p:nvSpPr>
        <p:spPr>
          <a:xfrm>
            <a:off x="1460182" y="2293620"/>
            <a:ext cx="140017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slave 控制口</a:t>
            </a:r>
          </a:p>
        </p:txBody>
      </p:sp>
      <p:sp>
        <p:nvSpPr>
          <p:cNvPr id="7" name="text-007: AxiOut.dma"/>
          <p:cNvSpPr txBox="1"/>
          <p:nvPr/>
        </p:nvSpPr>
        <p:spPr>
          <a:xfrm>
            <a:off x="1700212" y="2475829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AxiOut.dma</a:t>
            </a:r>
          </a:p>
        </p:txBody>
      </p:sp>
      <p:sp>
        <p:nvSpPr>
          <p:cNvPr id="8" name="text-008: atomics / cut"/>
          <p:cNvSpPr txBox="1"/>
          <p:nvPr/>
        </p:nvSpPr>
        <p:spPr>
          <a:xfrm>
            <a:off x="1580598" y="2646517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atomics / cut</a:t>
            </a:r>
          </a:p>
        </p:txBody>
      </p:sp>
      <p:sp>
        <p:nvSpPr>
          <p:cNvPr id="9" name="text-009: CPU 发起配置访问"/>
          <p:cNvSpPr txBox="1"/>
          <p:nvPr/>
        </p:nvSpPr>
        <p:spPr>
          <a:xfrm>
            <a:off x="1571396" y="2817205"/>
            <a:ext cx="117774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发起配置访问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311505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32484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↔ N02"/>
          <p:cNvSpPr txBox="1"/>
          <p:nvPr/>
        </p:nvSpPr>
        <p:spPr>
          <a:xfrm>
            <a:off x="2957170" y="31585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3" name="rect-013"/>
          <p:cNvSpPr/>
          <p:nvPr/>
        </p:nvSpPr>
        <p:spPr>
          <a:xfrm>
            <a:off x="213360" y="3659124"/>
            <a:ext cx="3893820" cy="172288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N04  状态/存储"/>
          <p:cNvSpPr txBox="1"/>
          <p:nvPr/>
        </p:nvSpPr>
        <p:spPr>
          <a:xfrm>
            <a:off x="309372" y="368707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5" name="text-015: 3  Job FIFO + midend"/>
          <p:cNvSpPr txBox="1"/>
          <p:nvPr/>
        </p:nvSpPr>
        <p:spPr>
          <a:xfrm>
            <a:off x="1226820" y="3856482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Job FIFO + midend</a:t>
            </a:r>
          </a:p>
        </p:txBody>
      </p:sp>
      <p:sp>
        <p:nvSpPr>
          <p:cNvPr id="16" name="text-016: 入口握手 issue ID"/>
          <p:cNvSpPr txBox="1"/>
          <p:nvPr/>
        </p:nvSpPr>
        <p:spPr>
          <a:xfrm>
            <a:off x="1494720" y="4038691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入口握手 issue ID</a:t>
            </a:r>
          </a:p>
        </p:txBody>
      </p:sp>
      <p:sp>
        <p:nvSpPr>
          <p:cNvPr id="17" name="text-017: 2D：展开并汇总完成"/>
          <p:cNvSpPr txBox="1"/>
          <p:nvPr/>
        </p:nvSpPr>
        <p:spPr>
          <a:xfrm>
            <a:off x="1528458" y="4209379"/>
            <a:ext cx="1263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2D：展开并汇总完成</a:t>
            </a:r>
          </a:p>
        </p:txBody>
      </p:sp>
      <p:sp>
        <p:nvSpPr>
          <p:cNvPr id="18" name="text-018: 1D：不生成 midend"/>
          <p:cNvSpPr txBox="1"/>
          <p:nvPr/>
        </p:nvSpPr>
        <p:spPr>
          <a:xfrm>
            <a:off x="1494720" y="4380067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1D：不生成 midend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467791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3-target"/>
          <p:cNvSpPr/>
          <p:nvPr/>
        </p:nvSpPr>
        <p:spPr>
          <a:xfrm>
            <a:off x="133350" y="48112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3 ← N03"/>
          <p:cNvSpPr txBox="1"/>
          <p:nvPr/>
        </p:nvSpPr>
        <p:spPr>
          <a:xfrm>
            <a:off x="474726" y="472144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2" name="E04-source"/>
          <p:cNvSpPr/>
          <p:nvPr/>
        </p:nvSpPr>
        <p:spPr>
          <a:xfrm>
            <a:off x="3915156" y="48112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4 ↔ N05"/>
          <p:cNvSpPr txBox="1"/>
          <p:nvPr/>
        </p:nvSpPr>
        <p:spPr>
          <a:xfrm>
            <a:off x="2957170" y="472144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24" name="E07-source"/>
          <p:cNvSpPr/>
          <p:nvPr/>
        </p:nvSpPr>
        <p:spPr>
          <a:xfrm>
            <a:off x="3915156" y="49979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E07 → N07"/>
          <p:cNvSpPr txBox="1"/>
          <p:nvPr/>
        </p:nvSpPr>
        <p:spPr>
          <a:xfrm>
            <a:off x="2957170" y="49081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N07</a:t>
            </a:r>
          </a:p>
        </p:txBody>
      </p:sp>
      <p:sp>
        <p:nvSpPr>
          <p:cNvPr id="26" name="E08-source"/>
          <p:cNvSpPr/>
          <p:nvPr/>
        </p:nvSpPr>
        <p:spPr>
          <a:xfrm>
            <a:off x="3915156" y="51846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8 → N07"/>
          <p:cNvSpPr txBox="1"/>
          <p:nvPr/>
        </p:nvSpPr>
        <p:spPr>
          <a:xfrm>
            <a:off x="2957170" y="50948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N07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2096262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212421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1  axi_to_reg"/>
          <p:cNvSpPr txBox="1"/>
          <p:nvPr/>
        </p:nvSpPr>
        <p:spPr>
          <a:xfrm>
            <a:off x="5770721" y="2293620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axi_to_reg</a:t>
            </a:r>
          </a:p>
        </p:txBody>
      </p:sp>
      <p:sp>
        <p:nvSpPr>
          <p:cNvPr id="31" name="text-031: i_axi_translate"/>
          <p:cNvSpPr txBox="1"/>
          <p:nvPr/>
        </p:nvSpPr>
        <p:spPr>
          <a:xfrm>
            <a:off x="5741384" y="2475829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i_axi_translate</a:t>
            </a:r>
          </a:p>
        </p:txBody>
      </p:sp>
      <p:sp>
        <p:nvSpPr>
          <p:cNvPr id="32" name="text-032: 内部 Reg 数据宽度"/>
          <p:cNvSpPr txBox="1"/>
          <p:nvPr/>
        </p:nvSpPr>
        <p:spPr>
          <a:xfrm>
            <a:off x="5772055" y="2646517"/>
            <a:ext cx="125749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 Reg 数据宽度</a:t>
            </a:r>
          </a:p>
        </p:txBody>
      </p:sp>
      <p:sp>
        <p:nvSpPr>
          <p:cNvPr id="33" name="text-033: 随 AxiDataWidth"/>
          <p:cNvSpPr txBox="1"/>
          <p:nvPr/>
        </p:nvSpPr>
        <p:spPr>
          <a:xfrm>
            <a:off x="5759787" y="2817205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随 AxiDataWidth</a:t>
            </a:r>
          </a:p>
        </p:txBody>
      </p:sp>
      <p:sp>
        <p:nvSpPr>
          <p:cNvPr id="34" name="rect-034"/>
          <p:cNvSpPr/>
          <p:nvPr/>
        </p:nvSpPr>
        <p:spPr>
          <a:xfrm>
            <a:off x="4533900" y="311505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1-target"/>
          <p:cNvSpPr/>
          <p:nvPr/>
        </p:nvSpPr>
        <p:spPr>
          <a:xfrm>
            <a:off x="4373880" y="32484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1 ↔ N01"/>
          <p:cNvSpPr txBox="1"/>
          <p:nvPr/>
        </p:nvSpPr>
        <p:spPr>
          <a:xfrm>
            <a:off x="4715256" y="31585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7" name="E02-source"/>
          <p:cNvSpPr/>
          <p:nvPr/>
        </p:nvSpPr>
        <p:spPr>
          <a:xfrm>
            <a:off x="8155686" y="32484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2 ↔ N03"/>
          <p:cNvSpPr txBox="1"/>
          <p:nvPr/>
        </p:nvSpPr>
        <p:spPr>
          <a:xfrm>
            <a:off x="7197700" y="31585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9" name="rect-039"/>
          <p:cNvSpPr/>
          <p:nvPr/>
        </p:nvSpPr>
        <p:spPr>
          <a:xfrm>
            <a:off x="4453890" y="3659124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N05  内部工作逻辑"/>
          <p:cNvSpPr txBox="1"/>
          <p:nvPr/>
        </p:nvSpPr>
        <p:spPr>
          <a:xfrm>
            <a:off x="4549902" y="368707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41" name="text-041: 4  idma_backend_rw_axi"/>
          <p:cNvSpPr txBox="1"/>
          <p:nvPr/>
        </p:nvSpPr>
        <p:spPr>
          <a:xfrm>
            <a:off x="5380672" y="3856482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idma_backend_rw_axi</a:t>
            </a:r>
          </a:p>
        </p:txBody>
      </p:sp>
      <p:sp>
        <p:nvSpPr>
          <p:cNvPr id="42" name="text-042: legalizer：长度 / 地址 / burst 合法化"/>
          <p:cNvSpPr txBox="1"/>
          <p:nvPr/>
        </p:nvSpPr>
        <p:spPr>
          <a:xfrm>
            <a:off x="5011426" y="4038691"/>
            <a:ext cx="277874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legalizer：长度 / 地址 / burst 合法化</a:t>
            </a:r>
          </a:p>
        </p:txBody>
      </p:sp>
      <p:sp>
        <p:nvSpPr>
          <p:cNvPr id="43" name="text-043: transport：读数据、移位 / 缓冲、写数据"/>
          <p:cNvSpPr txBox="1"/>
          <p:nvPr/>
        </p:nvSpPr>
        <p:spPr>
          <a:xfrm>
            <a:off x="5063566" y="4209379"/>
            <a:ext cx="26744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transport：读数据、移位 / 缓冲、写数据</a:t>
            </a:r>
          </a:p>
        </p:txBody>
      </p:sp>
      <p:sp>
        <p:nvSpPr>
          <p:cNvPr id="44" name="text-044: 独立 AXI read / write 通道"/>
          <p:cNvSpPr txBox="1"/>
          <p:nvPr/>
        </p:nvSpPr>
        <p:spPr>
          <a:xfrm>
            <a:off x="5376405" y="4380067"/>
            <a:ext cx="20487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AXI read / write 通道</a:t>
            </a:r>
          </a:p>
        </p:txBody>
      </p:sp>
      <p:sp>
        <p:nvSpPr>
          <p:cNvPr id="45" name="text-045: 当前 ErrorCap = NO_ERROR_HANDLING"/>
          <p:cNvSpPr txBox="1"/>
          <p:nvPr/>
        </p:nvSpPr>
        <p:spPr>
          <a:xfrm>
            <a:off x="5060499" y="4550755"/>
            <a:ext cx="2680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ErrorCap = NO_ERROR_HANDLING</a:t>
            </a:r>
          </a:p>
        </p:txBody>
      </p:sp>
      <p:sp>
        <p:nvSpPr>
          <p:cNvPr id="46" name="rect-046"/>
          <p:cNvSpPr/>
          <p:nvPr/>
        </p:nvSpPr>
        <p:spPr>
          <a:xfrm>
            <a:off x="4533900" y="484860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4-target"/>
          <p:cNvSpPr/>
          <p:nvPr/>
        </p:nvSpPr>
        <p:spPr>
          <a:xfrm>
            <a:off x="4373880" y="498195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 ↔ N04"/>
          <p:cNvSpPr txBox="1"/>
          <p:nvPr/>
        </p:nvSpPr>
        <p:spPr>
          <a:xfrm>
            <a:off x="4715256" y="489213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49" name="E05-source"/>
          <p:cNvSpPr/>
          <p:nvPr/>
        </p:nvSpPr>
        <p:spPr>
          <a:xfrm>
            <a:off x="8155686" y="498195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5 ↔ N06"/>
          <p:cNvSpPr txBox="1"/>
          <p:nvPr/>
        </p:nvSpPr>
        <p:spPr>
          <a:xfrm>
            <a:off x="7197700" y="489213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N06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5392674"/>
            <a:ext cx="3893820" cy="119481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N07  状态/存储"/>
          <p:cNvSpPr txBox="1"/>
          <p:nvPr/>
        </p:nvSpPr>
        <p:spPr>
          <a:xfrm>
            <a:off x="4549902" y="542062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53" name="text-053: 6  transfer_id_gen"/>
          <p:cNvSpPr txBox="1"/>
          <p:nvPr/>
        </p:nvSpPr>
        <p:spPr>
          <a:xfrm>
            <a:off x="5554028" y="5590032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transfer_id_gen</a:t>
            </a:r>
          </a:p>
        </p:txBody>
      </p:sp>
      <p:sp>
        <p:nvSpPr>
          <p:cNvPr id="54" name="text-054: issue / retire → ID"/>
          <p:cNvSpPr txBox="1"/>
          <p:nvPr/>
        </p:nvSpPr>
        <p:spPr>
          <a:xfrm>
            <a:off x="5560428" y="5772241"/>
            <a:ext cx="16807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issue / retire → ID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607009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7-target"/>
          <p:cNvSpPr/>
          <p:nvPr/>
        </p:nvSpPr>
        <p:spPr>
          <a:xfrm>
            <a:off x="4373880" y="62034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 ← N04"/>
          <p:cNvSpPr txBox="1"/>
          <p:nvPr/>
        </p:nvSpPr>
        <p:spPr>
          <a:xfrm>
            <a:off x="4715256" y="61136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N04</a:t>
            </a:r>
          </a:p>
        </p:txBody>
      </p:sp>
      <p:sp>
        <p:nvSpPr>
          <p:cNvPr id="58" name="E08-target"/>
          <p:cNvSpPr/>
          <p:nvPr/>
        </p:nvSpPr>
        <p:spPr>
          <a:xfrm>
            <a:off x="4373880" y="639013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 ← N04"/>
          <p:cNvSpPr txBox="1"/>
          <p:nvPr/>
        </p:nvSpPr>
        <p:spPr>
          <a:xfrm>
            <a:off x="4715256" y="630030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N04</a:t>
            </a:r>
          </a:p>
        </p:txBody>
      </p:sp>
      <p:sp>
        <p:nvSpPr>
          <p:cNvPr id="60" name="E09-source"/>
          <p:cNvSpPr/>
          <p:nvPr/>
        </p:nvSpPr>
        <p:spPr>
          <a:xfrm>
            <a:off x="8155686" y="62034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9 → N03"/>
          <p:cNvSpPr txBox="1"/>
          <p:nvPr/>
        </p:nvSpPr>
        <p:spPr>
          <a:xfrm>
            <a:off x="7197700" y="61136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62" name="rect-062"/>
          <p:cNvSpPr/>
          <p:nvPr/>
        </p:nvSpPr>
        <p:spPr>
          <a:xfrm>
            <a:off x="8694420" y="2096262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N03  接口与配置"/>
          <p:cNvSpPr txBox="1"/>
          <p:nvPr/>
        </p:nvSpPr>
        <p:spPr>
          <a:xfrm>
            <a:off x="8790432" y="2124212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接口与配置</a:t>
            </a:r>
          </a:p>
        </p:txBody>
      </p:sp>
      <p:sp>
        <p:nvSpPr>
          <p:cNvPr id="64" name="text-064: 2  idma_reg64_1d / 2d"/>
          <p:cNvSpPr txBox="1"/>
          <p:nvPr/>
        </p:nvSpPr>
        <p:spPr>
          <a:xfrm>
            <a:off x="9664541" y="2293620"/>
            <a:ext cx="195357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idma_reg64_1d / 2d</a:t>
            </a:r>
          </a:p>
        </p:txBody>
      </p:sp>
      <p:sp>
        <p:nvSpPr>
          <p:cNvPr id="65" name="text-065: SRC / DST / LENGTH"/>
          <p:cNvSpPr txBox="1"/>
          <p:nvPr/>
        </p:nvSpPr>
        <p:spPr>
          <a:xfrm>
            <a:off x="9862299" y="2475829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SRC / DST / LENGTH</a:t>
            </a:r>
          </a:p>
        </p:txBody>
      </p:sp>
      <p:sp>
        <p:nvSpPr>
          <p:cNvPr id="66" name="text-066: STRIDE / REPS（2D）"/>
          <p:cNvSpPr txBox="1"/>
          <p:nvPr/>
        </p:nvSpPr>
        <p:spPr>
          <a:xfrm>
            <a:off x="9859232" y="2646517"/>
            <a:ext cx="15641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STRIDE / REPS（2D）</a:t>
            </a:r>
          </a:p>
        </p:txBody>
      </p:sp>
      <p:sp>
        <p:nvSpPr>
          <p:cNvPr id="67" name="text-067: NEXT_ID / DONE_ID"/>
          <p:cNvSpPr txBox="1"/>
          <p:nvPr/>
        </p:nvSpPr>
        <p:spPr>
          <a:xfrm>
            <a:off x="9902171" y="2817205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NEXT_ID / DONE_ID</a:t>
            </a:r>
          </a:p>
        </p:txBody>
      </p:sp>
      <p:sp>
        <p:nvSpPr>
          <p:cNvPr id="68" name="text-068: 访问触发任务提交"/>
          <p:cNvSpPr txBox="1"/>
          <p:nvPr/>
        </p:nvSpPr>
        <p:spPr>
          <a:xfrm>
            <a:off x="10089261" y="2987893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访问触发任务提交</a:t>
            </a:r>
          </a:p>
        </p:txBody>
      </p:sp>
      <p:sp>
        <p:nvSpPr>
          <p:cNvPr id="69" name="rect-069"/>
          <p:cNvSpPr/>
          <p:nvPr/>
        </p:nvSpPr>
        <p:spPr>
          <a:xfrm>
            <a:off x="8774430" y="328574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02-target"/>
          <p:cNvSpPr/>
          <p:nvPr/>
        </p:nvSpPr>
        <p:spPr>
          <a:xfrm>
            <a:off x="8614410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2 ↔ N02"/>
          <p:cNvSpPr txBox="1"/>
          <p:nvPr/>
        </p:nvSpPr>
        <p:spPr>
          <a:xfrm>
            <a:off x="8955786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72" name="E09-target"/>
          <p:cNvSpPr/>
          <p:nvPr/>
        </p:nvSpPr>
        <p:spPr>
          <a:xfrm>
            <a:off x="8614410" y="36057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9 ← N07"/>
          <p:cNvSpPr txBox="1"/>
          <p:nvPr/>
        </p:nvSpPr>
        <p:spPr>
          <a:xfrm>
            <a:off x="8955786" y="35159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N07</a:t>
            </a:r>
          </a:p>
        </p:txBody>
      </p:sp>
      <p:sp>
        <p:nvSpPr>
          <p:cNvPr id="74" name="E03-source"/>
          <p:cNvSpPr/>
          <p:nvPr/>
        </p:nvSpPr>
        <p:spPr>
          <a:xfrm>
            <a:off x="12396216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3 → N04"/>
          <p:cNvSpPr txBox="1"/>
          <p:nvPr/>
        </p:nvSpPr>
        <p:spPr>
          <a:xfrm>
            <a:off x="11438230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76" name="rect-076"/>
          <p:cNvSpPr/>
          <p:nvPr/>
        </p:nvSpPr>
        <p:spPr>
          <a:xfrm>
            <a:off x="8694420" y="4016502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N06  内部工作逻辑"/>
          <p:cNvSpPr txBox="1"/>
          <p:nvPr/>
        </p:nvSpPr>
        <p:spPr>
          <a:xfrm>
            <a:off x="8790432" y="404445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8" name="text-078: 5  axi_rw_join"/>
          <p:cNvSpPr txBox="1"/>
          <p:nvPr/>
        </p:nvSpPr>
        <p:spPr>
          <a:xfrm>
            <a:off x="9967912" y="4213860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axi_rw_join</a:t>
            </a:r>
          </a:p>
        </p:txBody>
      </p:sp>
      <p:sp>
        <p:nvSpPr>
          <p:cNvPr id="79" name="text-079: 合并 AXI 读写端口"/>
          <p:cNvSpPr txBox="1"/>
          <p:nvPr/>
        </p:nvSpPr>
        <p:spPr>
          <a:xfrm>
            <a:off x="10012585" y="4396069"/>
            <a:ext cx="125749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合并 AXI 读写端口</a:t>
            </a:r>
          </a:p>
        </p:txBody>
      </p:sp>
      <p:sp>
        <p:nvSpPr>
          <p:cNvPr id="80" name="text-080: AXI master → AxiIn.dma"/>
          <p:cNvSpPr txBox="1"/>
          <p:nvPr/>
        </p:nvSpPr>
        <p:spPr>
          <a:xfrm>
            <a:off x="9681343" y="4566757"/>
            <a:ext cx="191997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master → AxiIn.dma</a:t>
            </a:r>
          </a:p>
        </p:txBody>
      </p:sp>
      <p:sp>
        <p:nvSpPr>
          <p:cNvPr id="81" name="rect-081"/>
          <p:cNvSpPr/>
          <p:nvPr/>
        </p:nvSpPr>
        <p:spPr>
          <a:xfrm>
            <a:off x="8774430" y="486460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E05-target"/>
          <p:cNvSpPr/>
          <p:nvPr/>
        </p:nvSpPr>
        <p:spPr>
          <a:xfrm>
            <a:off x="8614410" y="49979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5 ↔ N05"/>
          <p:cNvSpPr txBox="1"/>
          <p:nvPr/>
        </p:nvSpPr>
        <p:spPr>
          <a:xfrm>
            <a:off x="8955786" y="49081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84" name="E06-source"/>
          <p:cNvSpPr/>
          <p:nvPr/>
        </p:nvSpPr>
        <p:spPr>
          <a:xfrm>
            <a:off x="12396216" y="49979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6 ↔ P01"/>
          <p:cNvSpPr txBox="1"/>
          <p:nvPr/>
        </p:nvSpPr>
        <p:spPr>
          <a:xfrm>
            <a:off x="11438230" y="49081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P01</a:t>
            </a:r>
          </a:p>
        </p:txBody>
      </p:sp>
      <p:sp>
        <p:nvSpPr>
          <p:cNvPr id="86" name="rect-086"/>
          <p:cNvSpPr/>
          <p:nvPr/>
        </p:nvSpPr>
        <p:spPr>
          <a:xfrm>
            <a:off x="8694420" y="540867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P01  外部/组边界"/>
          <p:cNvSpPr txBox="1"/>
          <p:nvPr/>
        </p:nvSpPr>
        <p:spPr>
          <a:xfrm>
            <a:off x="8790432" y="543662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88" name="text-088: 主 AXI：AxiIn.dma"/>
          <p:cNvSpPr txBox="1"/>
          <p:nvPr/>
        </p:nvSpPr>
        <p:spPr>
          <a:xfrm>
            <a:off x="9877901" y="5606034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AXI：AxiIn.dma</a:t>
            </a:r>
          </a:p>
        </p:txBody>
      </p:sp>
      <p:sp>
        <p:nvSpPr>
          <p:cNvPr id="89" name="rect-089"/>
          <p:cNvSpPr/>
          <p:nvPr/>
        </p:nvSpPr>
        <p:spPr>
          <a:xfrm>
            <a:off x="8774430" y="591540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E06-target"/>
          <p:cNvSpPr/>
          <p:nvPr/>
        </p:nvSpPr>
        <p:spPr>
          <a:xfrm>
            <a:off x="8614410" y="604875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E06 ↔ N06"/>
          <p:cNvSpPr txBox="1"/>
          <p:nvPr/>
        </p:nvSpPr>
        <p:spPr>
          <a:xfrm>
            <a:off x="8955786" y="595893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92" name="text-092: AXI ↔ SRC / DST 内存"/>
          <p:cNvSpPr txBox="1"/>
          <p:nvPr/>
        </p:nvSpPr>
        <p:spPr>
          <a:xfrm>
            <a:off x="213360" y="6721693"/>
            <a:ext cx="16868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 ↔ SRC / DST 内存</a:t>
            </a:r>
          </a:p>
        </p:txBody>
      </p:sp>
      <p:sp>
        <p:nvSpPr>
          <p:cNvPr id="93" name="text-093: 既有控制宽度缺口未关闭；wrapper 未导出任务完成 IRQ；总线错误 IRQ"/>
          <p:cNvSpPr txBox="1"/>
          <p:nvPr/>
        </p:nvSpPr>
        <p:spPr>
          <a:xfrm>
            <a:off x="213360" y="6887047"/>
            <a:ext cx="50360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既有控制宽度缺口未关闭；wrapper 未导出任务完成 IRQ；总线错误 IRQ 是另一路。</a:t>
            </a:r>
          </a:p>
        </p:txBody>
      </p:sp>
      <p:sp>
        <p:nvSpPr>
          <p:cNvPr id="94" name="text-094: 配对端口表示图示连接；已有/规划状态见模块和连接表。方向与 A 版一致。虚线模块"/>
          <p:cNvSpPr txBox="1"/>
          <p:nvPr/>
        </p:nvSpPr>
        <p:spPr>
          <a:xfrm>
            <a:off x="213360" y="7436023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5  CVA6 Trap：异步中断与同步异常在提交路径汇合"/>
          <p:cNvSpPr txBox="1"/>
          <p:nvPr/>
        </p:nvSpPr>
        <p:spPr>
          <a:xfrm>
            <a:off x="213360" y="1122487"/>
            <a:ext cx="45146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 CVA6 Trap：异步中断与同步异常在提交路径汇合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397508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834896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86284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平台中断输入"/>
          <p:cNvSpPr txBox="1"/>
          <p:nvPr/>
        </p:nvSpPr>
        <p:spPr>
          <a:xfrm>
            <a:off x="1563529" y="2032254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平台中断输入</a:t>
            </a:r>
          </a:p>
        </p:txBody>
      </p:sp>
      <p:sp>
        <p:nvSpPr>
          <p:cNvPr id="7" name="text-007: PLIC：irq_i（M / S）"/>
          <p:cNvSpPr txBox="1"/>
          <p:nvPr/>
        </p:nvSpPr>
        <p:spPr>
          <a:xfrm>
            <a:off x="1356703" y="2214463"/>
            <a:ext cx="16071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PLIC：irq_i（M / S）</a:t>
            </a:r>
          </a:p>
        </p:txBody>
      </p:sp>
      <p:sp>
        <p:nvSpPr>
          <p:cNvPr id="8" name="text-008: CLINT：time_irq_i / ipi_i"/>
          <p:cNvSpPr txBox="1"/>
          <p:nvPr/>
        </p:nvSpPr>
        <p:spPr>
          <a:xfrm>
            <a:off x="1120540" y="2385151"/>
            <a:ext cx="20794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CLINT：time_irq_i / ipi_i</a:t>
            </a:r>
          </a:p>
        </p:txBody>
      </p:sp>
      <p:sp>
        <p:nvSpPr>
          <p:cNvPr id="9" name="text-009: 可选 CLIC 握手"/>
          <p:cNvSpPr txBox="1"/>
          <p:nvPr/>
        </p:nvSpPr>
        <p:spPr>
          <a:xfrm>
            <a:off x="1614335" y="2555839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 CLIC 握手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85369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9870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289721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E09-source"/>
          <p:cNvSpPr/>
          <p:nvPr/>
        </p:nvSpPr>
        <p:spPr>
          <a:xfrm>
            <a:off x="3915156" y="317373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9 → N03"/>
          <p:cNvSpPr txBox="1"/>
          <p:nvPr/>
        </p:nvSpPr>
        <p:spPr>
          <a:xfrm>
            <a:off x="2957170" y="308390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15" name="rect-015"/>
          <p:cNvSpPr/>
          <p:nvPr/>
        </p:nvSpPr>
        <p:spPr>
          <a:xfrm>
            <a:off x="213360" y="3584448"/>
            <a:ext cx="3893820" cy="153619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N04  状态/存储"/>
          <p:cNvSpPr txBox="1"/>
          <p:nvPr/>
        </p:nvSpPr>
        <p:spPr>
          <a:xfrm>
            <a:off x="309372" y="3612398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7" name="text-017: 4  issue_stage"/>
          <p:cNvSpPr txBox="1"/>
          <p:nvPr/>
        </p:nvSpPr>
        <p:spPr>
          <a:xfrm>
            <a:off x="1486852" y="3781806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issue_stage</a:t>
            </a:r>
          </a:p>
        </p:txBody>
      </p:sp>
      <p:sp>
        <p:nvSpPr>
          <p:cNvPr id="18" name="text-018: / scoreboard"/>
          <p:cNvSpPr txBox="1"/>
          <p:nvPr/>
        </p:nvSpPr>
        <p:spPr>
          <a:xfrm>
            <a:off x="1620469" y="3964015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/ scoreboard</a:t>
            </a:r>
          </a:p>
        </p:txBody>
      </p:sp>
      <p:sp>
        <p:nvSpPr>
          <p:cNvPr id="19" name="text-019: 指令与结果关联"/>
          <p:cNvSpPr txBox="1"/>
          <p:nvPr/>
        </p:nvSpPr>
        <p:spPr>
          <a:xfrm>
            <a:off x="1669542" y="4134703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指令与结果关联</a:t>
            </a:r>
          </a:p>
        </p:txBody>
      </p:sp>
      <p:sp>
        <p:nvSpPr>
          <p:cNvPr id="20" name="text-020: ex 随指令保存"/>
          <p:cNvSpPr txBox="1"/>
          <p:nvPr/>
        </p:nvSpPr>
        <p:spPr>
          <a:xfrm>
            <a:off x="1672609" y="4305391"/>
            <a:ext cx="97532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 随指令保存</a:t>
            </a:r>
          </a:p>
        </p:txBody>
      </p:sp>
      <p:sp>
        <p:nvSpPr>
          <p:cNvPr id="21" name="rect-021"/>
          <p:cNvSpPr/>
          <p:nvPr/>
        </p:nvSpPr>
        <p:spPr>
          <a:xfrm>
            <a:off x="293370" y="460324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03-target"/>
          <p:cNvSpPr/>
          <p:nvPr/>
        </p:nvSpPr>
        <p:spPr>
          <a:xfrm>
            <a:off x="133350" y="47365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3 ← N03"/>
          <p:cNvSpPr txBox="1"/>
          <p:nvPr/>
        </p:nvSpPr>
        <p:spPr>
          <a:xfrm>
            <a:off x="474726" y="46467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4" name="E05-target"/>
          <p:cNvSpPr/>
          <p:nvPr/>
        </p:nvSpPr>
        <p:spPr>
          <a:xfrm>
            <a:off x="133350" y="49232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E05 ← N06"/>
          <p:cNvSpPr txBox="1"/>
          <p:nvPr/>
        </p:nvSpPr>
        <p:spPr>
          <a:xfrm>
            <a:off x="474726" y="48334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N06</a:t>
            </a:r>
          </a:p>
        </p:txBody>
      </p:sp>
      <p:sp>
        <p:nvSpPr>
          <p:cNvPr id="26" name="E04-source"/>
          <p:cNvSpPr/>
          <p:nvPr/>
        </p:nvSpPr>
        <p:spPr>
          <a:xfrm>
            <a:off x="3915156" y="47365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4 → N05"/>
          <p:cNvSpPr txBox="1"/>
          <p:nvPr/>
        </p:nvSpPr>
        <p:spPr>
          <a:xfrm>
            <a:off x="2957170" y="46467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28" name="rect-028"/>
          <p:cNvSpPr/>
          <p:nvPr/>
        </p:nvSpPr>
        <p:spPr>
          <a:xfrm>
            <a:off x="213360" y="533400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P01  外部/组边界"/>
          <p:cNvSpPr txBox="1"/>
          <p:nvPr/>
        </p:nvSpPr>
        <p:spPr>
          <a:xfrm>
            <a:off x="309372" y="536195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30" name="text-030: 处理程序取指（逻辑结果）"/>
          <p:cNvSpPr txBox="1"/>
          <p:nvPr/>
        </p:nvSpPr>
        <p:spPr>
          <a:xfrm>
            <a:off x="1293495" y="5531358"/>
            <a:ext cx="17335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处理程序取指（逻辑结果）</a:t>
            </a:r>
          </a:p>
        </p:txBody>
      </p:sp>
      <p:sp>
        <p:nvSpPr>
          <p:cNvPr id="31" name="rect-031"/>
          <p:cNvSpPr/>
          <p:nvPr/>
        </p:nvSpPr>
        <p:spPr>
          <a:xfrm>
            <a:off x="293370" y="584073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08-target"/>
          <p:cNvSpPr/>
          <p:nvPr/>
        </p:nvSpPr>
        <p:spPr>
          <a:xfrm>
            <a:off x="133350" y="597408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E08 ← N07"/>
          <p:cNvSpPr txBox="1"/>
          <p:nvPr/>
        </p:nvSpPr>
        <p:spPr>
          <a:xfrm>
            <a:off x="474726" y="588425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N07</a:t>
            </a:r>
          </a:p>
        </p:txBody>
      </p:sp>
      <p:sp>
        <p:nvSpPr>
          <p:cNvPr id="34" name="rect-034"/>
          <p:cNvSpPr/>
          <p:nvPr/>
        </p:nvSpPr>
        <p:spPr>
          <a:xfrm>
            <a:off x="4453890" y="1834896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N02  接口与配置"/>
          <p:cNvSpPr txBox="1"/>
          <p:nvPr/>
        </p:nvSpPr>
        <p:spPr>
          <a:xfrm>
            <a:off x="4549902" y="1862846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接口与配置</a:t>
            </a:r>
          </a:p>
        </p:txBody>
      </p:sp>
      <p:sp>
        <p:nvSpPr>
          <p:cNvPr id="36" name="text-036: 2  csr_regfile"/>
          <p:cNvSpPr txBox="1"/>
          <p:nvPr/>
        </p:nvSpPr>
        <p:spPr>
          <a:xfrm>
            <a:off x="5727382" y="2032254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csr_regfile</a:t>
            </a:r>
          </a:p>
        </p:txBody>
      </p:sp>
      <p:sp>
        <p:nvSpPr>
          <p:cNvPr id="37" name="text-037: pending / enable / 委托"/>
          <p:cNvSpPr txBox="1"/>
          <p:nvPr/>
        </p:nvSpPr>
        <p:spPr>
          <a:xfrm>
            <a:off x="5459216" y="2214463"/>
            <a:ext cx="188316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 / 委托</a:t>
            </a:r>
          </a:p>
        </p:txBody>
      </p:sp>
      <p:sp>
        <p:nvSpPr>
          <p:cNvPr id="38" name="text-038: mip / mie / mstatus …"/>
          <p:cNvSpPr txBox="1"/>
          <p:nvPr/>
        </p:nvSpPr>
        <p:spPr>
          <a:xfrm>
            <a:off x="5480685" y="2385151"/>
            <a:ext cx="18402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mip / mie / mstatus …</a:t>
            </a:r>
          </a:p>
        </p:txBody>
      </p:sp>
      <p:sp>
        <p:nvSpPr>
          <p:cNvPr id="39" name="text-039: trap 状态：epc / cause / tval"/>
          <p:cNvSpPr txBox="1"/>
          <p:nvPr/>
        </p:nvSpPr>
        <p:spPr>
          <a:xfrm>
            <a:off x="5238388" y="2555839"/>
            <a:ext cx="232482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 状态：epc / cause / tval</a:t>
            </a:r>
          </a:p>
        </p:txBody>
      </p:sp>
      <p:sp>
        <p:nvSpPr>
          <p:cNvPr id="40" name="text-040: trap_vector_base / eret"/>
          <p:cNvSpPr txBox="1"/>
          <p:nvPr/>
        </p:nvSpPr>
        <p:spPr>
          <a:xfrm>
            <a:off x="5422411" y="2726527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trap_vector_base / eret</a:t>
            </a:r>
          </a:p>
        </p:txBody>
      </p:sp>
      <p:sp>
        <p:nvSpPr>
          <p:cNvPr id="41" name="rect-041"/>
          <p:cNvSpPr/>
          <p:nvPr/>
        </p:nvSpPr>
        <p:spPr>
          <a:xfrm>
            <a:off x="4533900" y="302437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1-target"/>
          <p:cNvSpPr/>
          <p:nvPr/>
        </p:nvSpPr>
        <p:spPr>
          <a:xfrm>
            <a:off x="4373880" y="31577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1 ← N01"/>
          <p:cNvSpPr txBox="1"/>
          <p:nvPr/>
        </p:nvSpPr>
        <p:spPr>
          <a:xfrm>
            <a:off x="4715256" y="30679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44" name="E06-target"/>
          <p:cNvSpPr/>
          <p:nvPr/>
        </p:nvSpPr>
        <p:spPr>
          <a:xfrm>
            <a:off x="4373880" y="33444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6 ← N05"/>
          <p:cNvSpPr txBox="1"/>
          <p:nvPr/>
        </p:nvSpPr>
        <p:spPr>
          <a:xfrm>
            <a:off x="4715256" y="32545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46" name="E02-source"/>
          <p:cNvSpPr/>
          <p:nvPr/>
        </p:nvSpPr>
        <p:spPr>
          <a:xfrm>
            <a:off x="8155686" y="31577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 → N03"/>
          <p:cNvSpPr txBox="1"/>
          <p:nvPr/>
        </p:nvSpPr>
        <p:spPr>
          <a:xfrm>
            <a:off x="7197700" y="30679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8" name="E07-source"/>
          <p:cNvSpPr/>
          <p:nvPr/>
        </p:nvSpPr>
        <p:spPr>
          <a:xfrm>
            <a:off x="8155686" y="33444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7 → N07"/>
          <p:cNvSpPr txBox="1"/>
          <p:nvPr/>
        </p:nvSpPr>
        <p:spPr>
          <a:xfrm>
            <a:off x="7197700" y="32545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N07</a:t>
            </a:r>
          </a:p>
        </p:txBody>
      </p:sp>
      <p:sp>
        <p:nvSpPr>
          <p:cNvPr id="50" name="rect-050"/>
          <p:cNvSpPr/>
          <p:nvPr/>
        </p:nvSpPr>
        <p:spPr>
          <a:xfrm>
            <a:off x="4453890" y="3755136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N05  内部工作逻辑"/>
          <p:cNvSpPr txBox="1"/>
          <p:nvPr/>
        </p:nvSpPr>
        <p:spPr>
          <a:xfrm>
            <a:off x="4549902" y="378308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52" name="text-052: 5  commit_stage"/>
          <p:cNvSpPr txBox="1"/>
          <p:nvPr/>
        </p:nvSpPr>
        <p:spPr>
          <a:xfrm>
            <a:off x="5684044" y="3952494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commit_stage</a:t>
            </a:r>
          </a:p>
        </p:txBody>
      </p:sp>
      <p:sp>
        <p:nvSpPr>
          <p:cNvPr id="53" name="text-053: 按提交顺序选异常"/>
          <p:cNvSpPr txBox="1"/>
          <p:nvPr/>
        </p:nvSpPr>
        <p:spPr>
          <a:xfrm>
            <a:off x="5848731" y="4134703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按提交顺序选异常</a:t>
            </a:r>
          </a:p>
        </p:txBody>
      </p:sp>
      <p:sp>
        <p:nvSpPr>
          <p:cNvPr id="54" name="text-054: 阻止错误指令提交"/>
          <p:cNvSpPr txBox="1"/>
          <p:nvPr/>
        </p:nvSpPr>
        <p:spPr>
          <a:xfrm>
            <a:off x="5848731" y="4305391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阻止错误指令提交</a:t>
            </a:r>
          </a:p>
        </p:txBody>
      </p:sp>
      <p:sp>
        <p:nvSpPr>
          <p:cNvPr id="55" name="text-055: ex_commit → CSR"/>
          <p:cNvSpPr txBox="1"/>
          <p:nvPr/>
        </p:nvSpPr>
        <p:spPr>
          <a:xfrm>
            <a:off x="5719915" y="4476079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→ CSR</a:t>
            </a:r>
          </a:p>
        </p:txBody>
      </p:sp>
      <p:sp>
        <p:nvSpPr>
          <p:cNvPr id="56" name="rect-056"/>
          <p:cNvSpPr/>
          <p:nvPr/>
        </p:nvSpPr>
        <p:spPr>
          <a:xfrm>
            <a:off x="4533900" y="477393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E04-target"/>
          <p:cNvSpPr/>
          <p:nvPr/>
        </p:nvSpPr>
        <p:spPr>
          <a:xfrm>
            <a:off x="4373880" y="490728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 ← N04"/>
          <p:cNvSpPr txBox="1"/>
          <p:nvPr/>
        </p:nvSpPr>
        <p:spPr>
          <a:xfrm>
            <a:off x="4715256" y="481745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59" name="E06-source"/>
          <p:cNvSpPr/>
          <p:nvPr/>
        </p:nvSpPr>
        <p:spPr>
          <a:xfrm>
            <a:off x="8155686" y="490728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 → N02"/>
          <p:cNvSpPr txBox="1"/>
          <p:nvPr/>
        </p:nvSpPr>
        <p:spPr>
          <a:xfrm>
            <a:off x="7197700" y="481745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N02</a:t>
            </a:r>
          </a:p>
        </p:txBody>
      </p:sp>
      <p:sp>
        <p:nvSpPr>
          <p:cNvPr id="61" name="E10-source"/>
          <p:cNvSpPr/>
          <p:nvPr/>
        </p:nvSpPr>
        <p:spPr>
          <a:xfrm>
            <a:off x="8155686" y="50939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10 → N07"/>
          <p:cNvSpPr txBox="1"/>
          <p:nvPr/>
        </p:nvSpPr>
        <p:spPr>
          <a:xfrm>
            <a:off x="7197700" y="50041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N07</a:t>
            </a:r>
          </a:p>
        </p:txBody>
      </p:sp>
      <p:sp>
        <p:nvSpPr>
          <p:cNvPr id="63" name="rect-063"/>
          <p:cNvSpPr/>
          <p:nvPr/>
        </p:nvSpPr>
        <p:spPr>
          <a:xfrm>
            <a:off x="8694420" y="1834896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N03  内部工作逻辑"/>
          <p:cNvSpPr txBox="1"/>
          <p:nvPr/>
        </p:nvSpPr>
        <p:spPr>
          <a:xfrm>
            <a:off x="8790432" y="186284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5" name="text-065: 3  decoder / id_stage"/>
          <p:cNvSpPr txBox="1"/>
          <p:nvPr/>
        </p:nvSpPr>
        <p:spPr>
          <a:xfrm>
            <a:off x="9664541" y="2032254"/>
            <a:ext cx="195357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decoder / id_stage</a:t>
            </a:r>
          </a:p>
        </p:txBody>
      </p:sp>
      <p:sp>
        <p:nvSpPr>
          <p:cNvPr id="66" name="text-066: 结合特权级与 IRQ 控制"/>
          <p:cNvSpPr txBox="1"/>
          <p:nvPr/>
        </p:nvSpPr>
        <p:spPr>
          <a:xfrm>
            <a:off x="9889903" y="2214463"/>
            <a:ext cx="15028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结合特权级与 IRQ 控制</a:t>
            </a:r>
          </a:p>
        </p:txBody>
      </p:sp>
      <p:sp>
        <p:nvSpPr>
          <p:cNvPr id="67" name="text-067: 选出可接受的中断"/>
          <p:cNvSpPr txBox="1"/>
          <p:nvPr/>
        </p:nvSpPr>
        <p:spPr>
          <a:xfrm>
            <a:off x="10089261" y="2385151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选出可接受的中断</a:t>
            </a:r>
          </a:p>
        </p:txBody>
      </p:sp>
      <p:sp>
        <p:nvSpPr>
          <p:cNvPr id="68" name="text-068: 或生成译码异常"/>
          <p:cNvSpPr txBox="1"/>
          <p:nvPr/>
        </p:nvSpPr>
        <p:spPr>
          <a:xfrm>
            <a:off x="10150602" y="2555839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或生成译码异常</a:t>
            </a:r>
          </a:p>
        </p:txBody>
      </p:sp>
      <p:sp>
        <p:nvSpPr>
          <p:cNvPr id="69" name="text-069: 写入指令的 ex 信息"/>
          <p:cNvSpPr txBox="1"/>
          <p:nvPr/>
        </p:nvSpPr>
        <p:spPr>
          <a:xfrm>
            <a:off x="9991115" y="2726527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写入指令的 ex 信息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302437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02-target"/>
          <p:cNvSpPr/>
          <p:nvPr/>
        </p:nvSpPr>
        <p:spPr>
          <a:xfrm>
            <a:off x="8614410" y="31577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2 ← N02"/>
          <p:cNvSpPr txBox="1"/>
          <p:nvPr/>
        </p:nvSpPr>
        <p:spPr>
          <a:xfrm>
            <a:off x="8955786" y="30679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73" name="E09-target"/>
          <p:cNvSpPr/>
          <p:nvPr/>
        </p:nvSpPr>
        <p:spPr>
          <a:xfrm>
            <a:off x="8614410" y="33444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9 ← N01"/>
          <p:cNvSpPr txBox="1"/>
          <p:nvPr/>
        </p:nvSpPr>
        <p:spPr>
          <a:xfrm>
            <a:off x="8955786" y="32545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N01</a:t>
            </a:r>
          </a:p>
        </p:txBody>
      </p:sp>
      <p:sp>
        <p:nvSpPr>
          <p:cNvPr id="75" name="E03-source"/>
          <p:cNvSpPr/>
          <p:nvPr/>
        </p:nvSpPr>
        <p:spPr>
          <a:xfrm>
            <a:off x="12396216" y="31577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3 → N04"/>
          <p:cNvSpPr txBox="1"/>
          <p:nvPr/>
        </p:nvSpPr>
        <p:spPr>
          <a:xfrm>
            <a:off x="11438230" y="30679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77" name="rect-077"/>
          <p:cNvSpPr/>
          <p:nvPr/>
        </p:nvSpPr>
        <p:spPr>
          <a:xfrm>
            <a:off x="8694420" y="3755136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N06  内部工作逻辑"/>
          <p:cNvSpPr txBox="1"/>
          <p:nvPr/>
        </p:nvSpPr>
        <p:spPr>
          <a:xfrm>
            <a:off x="8790432" y="378308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9" name="text-079: 执行 / 访存异常"/>
          <p:cNvSpPr txBox="1"/>
          <p:nvPr/>
        </p:nvSpPr>
        <p:spPr>
          <a:xfrm>
            <a:off x="10044589" y="3952494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/ 访存异常</a:t>
            </a:r>
          </a:p>
        </p:txBody>
      </p:sp>
      <p:sp>
        <p:nvSpPr>
          <p:cNvPr id="80" name="text-080: 非法操作 / 访问故障等"/>
          <p:cNvSpPr txBox="1"/>
          <p:nvPr/>
        </p:nvSpPr>
        <p:spPr>
          <a:xfrm>
            <a:off x="9908305" y="4134703"/>
            <a:ext cx="146605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非法操作 / 访问故障等</a:t>
            </a:r>
          </a:p>
        </p:txBody>
      </p:sp>
      <p:sp>
        <p:nvSpPr>
          <p:cNvPr id="81" name="text-081: 结果携带 exception_t"/>
          <p:cNvSpPr txBox="1"/>
          <p:nvPr/>
        </p:nvSpPr>
        <p:spPr>
          <a:xfrm>
            <a:off x="9856165" y="4305391"/>
            <a:ext cx="15703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结果携带 exception_t</a:t>
            </a:r>
          </a:p>
        </p:txBody>
      </p:sp>
      <p:sp>
        <p:nvSpPr>
          <p:cNvPr id="82" name="rect-082"/>
          <p:cNvSpPr/>
          <p:nvPr/>
        </p:nvSpPr>
        <p:spPr>
          <a:xfrm>
            <a:off x="8774430" y="460324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E05-source"/>
          <p:cNvSpPr/>
          <p:nvPr/>
        </p:nvSpPr>
        <p:spPr>
          <a:xfrm>
            <a:off x="12396216" y="47365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E05 → N04"/>
          <p:cNvSpPr txBox="1"/>
          <p:nvPr/>
        </p:nvSpPr>
        <p:spPr>
          <a:xfrm>
            <a:off x="11438230" y="46467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85" name="rect-085"/>
          <p:cNvSpPr/>
          <p:nvPr/>
        </p:nvSpPr>
        <p:spPr>
          <a:xfrm>
            <a:off x="8694420" y="5147310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N07  内部工作逻辑"/>
          <p:cNvSpPr txBox="1"/>
          <p:nvPr/>
        </p:nvSpPr>
        <p:spPr>
          <a:xfrm>
            <a:off x="8790432" y="517526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87" name="text-087: 6  controller + frontend"/>
          <p:cNvSpPr txBox="1"/>
          <p:nvPr/>
        </p:nvSpPr>
        <p:spPr>
          <a:xfrm>
            <a:off x="9534525" y="5344668"/>
            <a:ext cx="22136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controller + frontend</a:t>
            </a:r>
          </a:p>
        </p:txBody>
      </p:sp>
      <p:sp>
        <p:nvSpPr>
          <p:cNvPr id="88" name="text-088: flush 错误路径流水线"/>
          <p:cNvSpPr txBox="1"/>
          <p:nvPr/>
        </p:nvSpPr>
        <p:spPr>
          <a:xfrm>
            <a:off x="9911372" y="5526877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flush 错误路径流水线</a:t>
            </a:r>
          </a:p>
        </p:txBody>
      </p:sp>
      <p:sp>
        <p:nvSpPr>
          <p:cNvPr id="89" name="text-089: PC 转向 trap 入口"/>
          <p:cNvSpPr txBox="1"/>
          <p:nvPr/>
        </p:nvSpPr>
        <p:spPr>
          <a:xfrm>
            <a:off x="9975780" y="5697565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PC 转向 trap 入口</a:t>
            </a:r>
          </a:p>
        </p:txBody>
      </p:sp>
      <p:sp>
        <p:nvSpPr>
          <p:cNvPr id="90" name="text-090: xRET 恢复返回 PC"/>
          <p:cNvSpPr txBox="1"/>
          <p:nvPr/>
        </p:nvSpPr>
        <p:spPr>
          <a:xfrm>
            <a:off x="10015652" y="5868253"/>
            <a:ext cx="12513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xRET 恢复返回 PC</a:t>
            </a:r>
          </a:p>
        </p:txBody>
      </p:sp>
      <p:sp>
        <p:nvSpPr>
          <p:cNvPr id="91" name="rect-091"/>
          <p:cNvSpPr/>
          <p:nvPr/>
        </p:nvSpPr>
        <p:spPr>
          <a:xfrm>
            <a:off x="8774430" y="616610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07-target"/>
          <p:cNvSpPr/>
          <p:nvPr/>
        </p:nvSpPr>
        <p:spPr>
          <a:xfrm>
            <a:off x="8614410" y="629945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07 ← N02"/>
          <p:cNvSpPr txBox="1"/>
          <p:nvPr/>
        </p:nvSpPr>
        <p:spPr>
          <a:xfrm>
            <a:off x="8955786" y="620962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N02</a:t>
            </a:r>
          </a:p>
        </p:txBody>
      </p:sp>
      <p:sp>
        <p:nvSpPr>
          <p:cNvPr id="94" name="E10-target"/>
          <p:cNvSpPr/>
          <p:nvPr/>
        </p:nvSpPr>
        <p:spPr>
          <a:xfrm>
            <a:off x="8614410" y="64861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E10 ← N05"/>
          <p:cNvSpPr txBox="1"/>
          <p:nvPr/>
        </p:nvSpPr>
        <p:spPr>
          <a:xfrm>
            <a:off x="8955786" y="639631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N05</a:t>
            </a:r>
          </a:p>
        </p:txBody>
      </p:sp>
      <p:sp>
        <p:nvSpPr>
          <p:cNvPr id="96" name="E08-source"/>
          <p:cNvSpPr/>
          <p:nvPr/>
        </p:nvSpPr>
        <p:spPr>
          <a:xfrm>
            <a:off x="12396216" y="629945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E08 → P01"/>
          <p:cNvSpPr txBox="1"/>
          <p:nvPr/>
        </p:nvSpPr>
        <p:spPr>
          <a:xfrm>
            <a:off x="11438230" y="620962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P01</a:t>
            </a:r>
          </a:p>
        </p:txBody>
      </p:sp>
      <p:sp>
        <p:nvSpPr>
          <p:cNvPr id="98" name="text-098: ex_commit / PC"/>
          <p:cNvSpPr txBox="1"/>
          <p:nvPr/>
        </p:nvSpPr>
        <p:spPr>
          <a:xfrm>
            <a:off x="213360" y="6817705"/>
            <a:ext cx="12390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ex_commit / PC</a:t>
            </a:r>
          </a:p>
        </p:txBody>
      </p:sp>
      <p:sp>
        <p:nvSpPr>
          <p:cNvPr id="99" name="text-099: CPU 开始执行处理程序"/>
          <p:cNvSpPr txBox="1"/>
          <p:nvPr/>
        </p:nvSpPr>
        <p:spPr>
          <a:xfrm>
            <a:off x="213360" y="6983059"/>
            <a:ext cx="142311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CPU 开始执行处理程序</a:t>
            </a:r>
          </a:p>
        </p:txBody>
      </p:sp>
      <p:sp>
        <p:nvSpPr>
          <p:cNvPr id="100" name="text-100: 图中软件处理程序不在硬件中：保存现场、处理设备 / 控制器、恢复现场，再执行返回"/>
          <p:cNvSpPr txBox="1"/>
          <p:nvPr/>
        </p:nvSpPr>
        <p:spPr>
          <a:xfrm>
            <a:off x="213360" y="7148413"/>
            <a:ext cx="52691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图中软件处理程序不在硬件中：保存现场、处理设备 / 控制器、恢复现场，再执行返回指令。</a:t>
            </a:r>
          </a:p>
        </p:txBody>
      </p:sp>
      <p:sp>
        <p:nvSpPr>
          <p:cNvPr id="101" name="text-101: 配对端口表示图示连接；已有/规划状态见模块和连接表。方向与 A 版一致。虚线模块"/>
          <p:cNvSpPr txBox="1"/>
          <p:nvPr/>
        </p:nvSpPr>
        <p:spPr>
          <a:xfrm>
            <a:off x="213360" y="7697389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A  LLC：描述符命中 / 缺失路径与共享数据 SRAM"/>
          <p:cNvSpPr txBox="1"/>
          <p:nvPr/>
        </p:nvSpPr>
        <p:spPr>
          <a:xfrm>
            <a:off x="213360" y="1034476"/>
            <a:ext cx="450616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16A  LLC：描述符命中 / 缺失路径与共享数据 SRAM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309497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746885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7748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isolate / demux"/>
          <p:cNvSpPr txBox="1"/>
          <p:nvPr/>
        </p:nvSpPr>
        <p:spPr>
          <a:xfrm>
            <a:off x="1313498" y="1944243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isolate / demux</a:t>
            </a:r>
          </a:p>
        </p:txBody>
      </p:sp>
      <p:sp>
        <p:nvSpPr>
          <p:cNvPr id="7" name="text-007: 入口隔离与 bypass"/>
          <p:cNvSpPr txBox="1"/>
          <p:nvPr/>
        </p:nvSpPr>
        <p:spPr>
          <a:xfrm>
            <a:off x="1513122" y="2126452"/>
            <a:ext cx="12942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入口隔离与 bypass</a:t>
            </a:r>
          </a:p>
        </p:txBody>
      </p:sp>
      <p:sp>
        <p:nvSpPr>
          <p:cNvPr id="8" name="text-008: chan_splitter / 仲裁"/>
          <p:cNvSpPr txBox="1"/>
          <p:nvPr/>
        </p:nvSpPr>
        <p:spPr>
          <a:xfrm>
            <a:off x="1338301" y="2297140"/>
            <a:ext cx="164393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chan_splitter / 仲裁</a:t>
            </a:r>
          </a:p>
        </p:txBody>
      </p:sp>
      <p:sp>
        <p:nvSpPr>
          <p:cNvPr id="9" name="text-009: AW / AR → 描述符"/>
          <p:cNvSpPr txBox="1"/>
          <p:nvPr/>
        </p:nvSpPr>
        <p:spPr>
          <a:xfrm>
            <a:off x="1494720" y="2467828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/ AR → 描述符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765679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E08-source"/>
          <p:cNvSpPr/>
          <p:nvPr/>
        </p:nvSpPr>
        <p:spPr>
          <a:xfrm>
            <a:off x="3915156" y="30857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8 ↔ N07"/>
          <p:cNvSpPr txBox="1"/>
          <p:nvPr/>
        </p:nvSpPr>
        <p:spPr>
          <a:xfrm>
            <a:off x="2957170" y="29958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N07</a:t>
            </a:r>
          </a:p>
        </p:txBody>
      </p:sp>
      <p:sp>
        <p:nvSpPr>
          <p:cNvPr id="15" name="E10-source"/>
          <p:cNvSpPr/>
          <p:nvPr/>
        </p:nvSpPr>
        <p:spPr>
          <a:xfrm>
            <a:off x="3915156" y="327240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E10 ↔ N05"/>
          <p:cNvSpPr txBox="1"/>
          <p:nvPr/>
        </p:nvSpPr>
        <p:spPr>
          <a:xfrm>
            <a:off x="2957170" y="318258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N05</a:t>
            </a:r>
          </a:p>
        </p:txBody>
      </p:sp>
      <p:sp>
        <p:nvSpPr>
          <p:cNvPr id="17" name="rect-017"/>
          <p:cNvSpPr/>
          <p:nvPr/>
        </p:nvSpPr>
        <p:spPr>
          <a:xfrm>
            <a:off x="213360" y="3683127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N05  内部工作逻辑"/>
          <p:cNvSpPr txBox="1"/>
          <p:nvPr/>
        </p:nvSpPr>
        <p:spPr>
          <a:xfrm>
            <a:off x="309372" y="371107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19" name="text-019: 5  read_unit / write_unit"/>
          <p:cNvSpPr txBox="1"/>
          <p:nvPr/>
        </p:nvSpPr>
        <p:spPr>
          <a:xfrm>
            <a:off x="1010126" y="3880485"/>
            <a:ext cx="230028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read_unit / write_unit</a:t>
            </a:r>
          </a:p>
        </p:txBody>
      </p:sp>
      <p:sp>
        <p:nvSpPr>
          <p:cNvPr id="20" name="text-020: 连接 AXI R / W / B"/>
          <p:cNvSpPr txBox="1"/>
          <p:nvPr/>
        </p:nvSpPr>
        <p:spPr>
          <a:xfrm>
            <a:off x="1418044" y="4062694"/>
            <a:ext cx="14844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连接 AXI R / W / B</a:t>
            </a:r>
          </a:p>
        </p:txBody>
      </p:sp>
      <p:sp>
        <p:nvSpPr>
          <p:cNvPr id="21" name="text-021: 访问选定的数据 way"/>
          <p:cNvSpPr txBox="1"/>
          <p:nvPr/>
        </p:nvSpPr>
        <p:spPr>
          <a:xfrm>
            <a:off x="1510055" y="4233382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访问选定的数据 way</a:t>
            </a:r>
          </a:p>
        </p:txBody>
      </p:sp>
      <p:sp>
        <p:nvSpPr>
          <p:cNvPr id="22" name="rect-022"/>
          <p:cNvSpPr/>
          <p:nvPr/>
        </p:nvSpPr>
        <p:spPr>
          <a:xfrm>
            <a:off x="293370" y="453123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05-target"/>
          <p:cNvSpPr/>
          <p:nvPr/>
        </p:nvSpPr>
        <p:spPr>
          <a:xfrm>
            <a:off x="133350" y="46645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5 ← N04"/>
          <p:cNvSpPr txBox="1"/>
          <p:nvPr/>
        </p:nvSpPr>
        <p:spPr>
          <a:xfrm>
            <a:off x="474726" y="45747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N04</a:t>
            </a:r>
          </a:p>
        </p:txBody>
      </p:sp>
      <p:sp>
        <p:nvSpPr>
          <p:cNvPr id="25" name="E10-target"/>
          <p:cNvSpPr/>
          <p:nvPr/>
        </p:nvSpPr>
        <p:spPr>
          <a:xfrm>
            <a:off x="133350" y="48512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10 ↔ N01"/>
          <p:cNvSpPr txBox="1"/>
          <p:nvPr/>
        </p:nvSpPr>
        <p:spPr>
          <a:xfrm>
            <a:off x="474726" y="47614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N01</a:t>
            </a:r>
          </a:p>
        </p:txBody>
      </p:sp>
      <p:sp>
        <p:nvSpPr>
          <p:cNvPr id="27" name="E06-source"/>
          <p:cNvSpPr/>
          <p:nvPr/>
        </p:nvSpPr>
        <p:spPr>
          <a:xfrm>
            <a:off x="3915156" y="46645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6 ↔ N06"/>
          <p:cNvSpPr txBox="1"/>
          <p:nvPr/>
        </p:nvSpPr>
        <p:spPr>
          <a:xfrm>
            <a:off x="2957170" y="45747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29" name="rect-029"/>
          <p:cNvSpPr/>
          <p:nvPr/>
        </p:nvSpPr>
        <p:spPr>
          <a:xfrm>
            <a:off x="4453890" y="1746885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N02  内部工作逻辑"/>
          <p:cNvSpPr txBox="1"/>
          <p:nvPr/>
        </p:nvSpPr>
        <p:spPr>
          <a:xfrm>
            <a:off x="4549902" y="17748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1" name="text-031: 2  axi_llc_hit_miss"/>
          <p:cNvSpPr txBox="1"/>
          <p:nvPr/>
        </p:nvSpPr>
        <p:spPr>
          <a:xfrm>
            <a:off x="5510689" y="1944243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axi_llc_hit_miss</a:t>
            </a:r>
          </a:p>
        </p:txBody>
      </p:sp>
      <p:sp>
        <p:nvSpPr>
          <p:cNvPr id="32" name="text-032: tag_store / valid / dirty"/>
          <p:cNvSpPr txBox="1"/>
          <p:nvPr/>
        </p:nvSpPr>
        <p:spPr>
          <a:xfrm>
            <a:off x="5342668" y="2126452"/>
            <a:ext cx="21162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tag_store / valid / dirty</a:t>
            </a:r>
          </a:p>
        </p:txBody>
      </p:sp>
      <p:sp>
        <p:nvSpPr>
          <p:cNvPr id="33" name="text-033: 锁定与同 ID 顺序约束"/>
          <p:cNvSpPr txBox="1"/>
          <p:nvPr/>
        </p:nvSpPr>
        <p:spPr>
          <a:xfrm>
            <a:off x="5689244" y="2297140"/>
            <a:ext cx="142311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锁定与同 ID 顺序约束</a:t>
            </a:r>
          </a:p>
        </p:txBody>
      </p:sp>
      <p:sp>
        <p:nvSpPr>
          <p:cNvPr id="34" name="text-034: cache 或 SPM 地址判定"/>
          <p:cNvSpPr txBox="1"/>
          <p:nvPr/>
        </p:nvSpPr>
        <p:spPr>
          <a:xfrm>
            <a:off x="5594166" y="2467828"/>
            <a:ext cx="16132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或 SPM 地址判定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276567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← N01"/>
          <p:cNvSpPr txBox="1"/>
          <p:nvPr/>
        </p:nvSpPr>
        <p:spPr>
          <a:xfrm>
            <a:off x="4715256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→ N03"/>
          <p:cNvSpPr txBox="1"/>
          <p:nvPr/>
        </p:nvSpPr>
        <p:spPr>
          <a:xfrm>
            <a:off x="7197700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0" name="E04-source"/>
          <p:cNvSpPr/>
          <p:nvPr/>
        </p:nvSpPr>
        <p:spPr>
          <a:xfrm>
            <a:off x="8155686" y="30857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4 → N04"/>
          <p:cNvSpPr txBox="1"/>
          <p:nvPr/>
        </p:nvSpPr>
        <p:spPr>
          <a:xfrm>
            <a:off x="7197700" y="29958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N04</a:t>
            </a:r>
          </a:p>
        </p:txBody>
      </p:sp>
      <p:sp>
        <p:nvSpPr>
          <p:cNvPr id="42" name="rect-042"/>
          <p:cNvSpPr/>
          <p:nvPr/>
        </p:nvSpPr>
        <p:spPr>
          <a:xfrm>
            <a:off x="4453890" y="3496437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N04  内部工作逻辑"/>
          <p:cNvSpPr txBox="1"/>
          <p:nvPr/>
        </p:nvSpPr>
        <p:spPr>
          <a:xfrm>
            <a:off x="4549902" y="352438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44" name="text-044: 4  merge_unit"/>
          <p:cNvSpPr txBox="1"/>
          <p:nvPr/>
        </p:nvSpPr>
        <p:spPr>
          <a:xfrm>
            <a:off x="5770721" y="3693795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merge_unit</a:t>
            </a:r>
          </a:p>
        </p:txBody>
      </p:sp>
      <p:sp>
        <p:nvSpPr>
          <p:cNvPr id="45" name="text-045: 汇合命中 / 补入路径"/>
          <p:cNvSpPr txBox="1"/>
          <p:nvPr/>
        </p:nvSpPr>
        <p:spPr>
          <a:xfrm>
            <a:off x="5729116" y="3876004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汇合命中 / 补入路径</a:t>
            </a:r>
          </a:p>
        </p:txBody>
      </p:sp>
      <p:sp>
        <p:nvSpPr>
          <p:cNvPr id="46" name="text-046: 分发 read / write"/>
          <p:cNvSpPr txBox="1"/>
          <p:nvPr/>
        </p:nvSpPr>
        <p:spPr>
          <a:xfrm>
            <a:off x="5698446" y="4046692"/>
            <a:ext cx="140470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分发 read / write</a:t>
            </a:r>
          </a:p>
        </p:txBody>
      </p:sp>
      <p:sp>
        <p:nvSpPr>
          <p:cNvPr id="47" name="rect-047"/>
          <p:cNvSpPr/>
          <p:nvPr/>
        </p:nvSpPr>
        <p:spPr>
          <a:xfrm>
            <a:off x="4533900" y="434454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3-target"/>
          <p:cNvSpPr/>
          <p:nvPr/>
        </p:nvSpPr>
        <p:spPr>
          <a:xfrm>
            <a:off x="4373880" y="44778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3 ← N03"/>
          <p:cNvSpPr txBox="1"/>
          <p:nvPr/>
        </p:nvSpPr>
        <p:spPr>
          <a:xfrm>
            <a:off x="4715256" y="43880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50" name="E04-target"/>
          <p:cNvSpPr/>
          <p:nvPr/>
        </p:nvSpPr>
        <p:spPr>
          <a:xfrm>
            <a:off x="4373880" y="46645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 ← N02"/>
          <p:cNvSpPr txBox="1"/>
          <p:nvPr/>
        </p:nvSpPr>
        <p:spPr>
          <a:xfrm>
            <a:off x="4715256" y="45747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N02</a:t>
            </a:r>
          </a:p>
        </p:txBody>
      </p:sp>
      <p:sp>
        <p:nvSpPr>
          <p:cNvPr id="52" name="E05-source"/>
          <p:cNvSpPr/>
          <p:nvPr/>
        </p:nvSpPr>
        <p:spPr>
          <a:xfrm>
            <a:off x="8155686" y="44778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 → N05"/>
          <p:cNvSpPr txBox="1"/>
          <p:nvPr/>
        </p:nvSpPr>
        <p:spPr>
          <a:xfrm>
            <a:off x="7197700" y="43880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N05</a:t>
            </a:r>
          </a:p>
        </p:txBody>
      </p:sp>
      <p:sp>
        <p:nvSpPr>
          <p:cNvPr id="54" name="rect-054"/>
          <p:cNvSpPr/>
          <p:nvPr/>
        </p:nvSpPr>
        <p:spPr>
          <a:xfrm>
            <a:off x="4453890" y="5075301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N07  内部工作逻辑"/>
          <p:cNvSpPr txBox="1"/>
          <p:nvPr/>
        </p:nvSpPr>
        <p:spPr>
          <a:xfrm>
            <a:off x="4549902" y="510325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56" name="text-056: 7  AXI 外存出口"/>
          <p:cNvSpPr txBox="1"/>
          <p:nvPr/>
        </p:nvSpPr>
        <p:spPr>
          <a:xfrm>
            <a:off x="5764054" y="5272659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AXI 外存出口</a:t>
            </a:r>
          </a:p>
        </p:txBody>
      </p:sp>
      <p:sp>
        <p:nvSpPr>
          <p:cNvPr id="57" name="text-057: bypass 与 refill / evict"/>
          <p:cNvSpPr txBox="1"/>
          <p:nvPr/>
        </p:nvSpPr>
        <p:spPr>
          <a:xfrm>
            <a:off x="5400942" y="5454868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 与 refill / evict</a:t>
            </a:r>
          </a:p>
        </p:txBody>
      </p:sp>
      <p:sp>
        <p:nvSpPr>
          <p:cNvPr id="58" name="text-058: 经 axi_bypass_mux 汇合"/>
          <p:cNvSpPr txBox="1"/>
          <p:nvPr/>
        </p:nvSpPr>
        <p:spPr>
          <a:xfrm>
            <a:off x="5517490" y="5625556"/>
            <a:ext cx="17666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经 axi_bypass_mux 汇合</a:t>
            </a:r>
          </a:p>
        </p:txBody>
      </p:sp>
      <p:sp>
        <p:nvSpPr>
          <p:cNvPr id="59" name="rect-059"/>
          <p:cNvSpPr/>
          <p:nvPr/>
        </p:nvSpPr>
        <p:spPr>
          <a:xfrm>
            <a:off x="4533900" y="592340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08-target"/>
          <p:cNvSpPr/>
          <p:nvPr/>
        </p:nvSpPr>
        <p:spPr>
          <a:xfrm>
            <a:off x="4373880" y="605675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8 ↔ N01"/>
          <p:cNvSpPr txBox="1"/>
          <p:nvPr/>
        </p:nvSpPr>
        <p:spPr>
          <a:xfrm>
            <a:off x="4715256" y="596693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N01</a:t>
            </a:r>
          </a:p>
        </p:txBody>
      </p:sp>
      <p:sp>
        <p:nvSpPr>
          <p:cNvPr id="62" name="E09-target"/>
          <p:cNvSpPr/>
          <p:nvPr/>
        </p:nvSpPr>
        <p:spPr>
          <a:xfrm>
            <a:off x="4373880" y="624344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9 ↔ N03"/>
          <p:cNvSpPr txBox="1"/>
          <p:nvPr/>
        </p:nvSpPr>
        <p:spPr>
          <a:xfrm>
            <a:off x="4715256" y="615362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N03</a:t>
            </a:r>
          </a:p>
        </p:txBody>
      </p:sp>
      <p:sp>
        <p:nvSpPr>
          <p:cNvPr id="64" name="rect-064"/>
          <p:cNvSpPr/>
          <p:nvPr/>
        </p:nvSpPr>
        <p:spPr>
          <a:xfrm>
            <a:off x="8694420" y="1746885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N03  内部工作逻辑"/>
          <p:cNvSpPr txBox="1"/>
          <p:nvPr/>
        </p:nvSpPr>
        <p:spPr>
          <a:xfrm>
            <a:off x="8790432" y="17748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6" name="text-066: 3  evict → refill"/>
          <p:cNvSpPr txBox="1"/>
          <p:nvPr/>
        </p:nvSpPr>
        <p:spPr>
          <a:xfrm>
            <a:off x="9814560" y="1944243"/>
            <a:ext cx="16535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evict → refill</a:t>
            </a:r>
          </a:p>
        </p:txBody>
      </p:sp>
      <p:sp>
        <p:nvSpPr>
          <p:cNvPr id="67" name="text-067: 必要时写回脏行"/>
          <p:cNvSpPr txBox="1"/>
          <p:nvPr/>
        </p:nvSpPr>
        <p:spPr>
          <a:xfrm>
            <a:off x="10150602" y="2126452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68" name="text-068: 从外存补入 cache line"/>
          <p:cNvSpPr txBox="1"/>
          <p:nvPr/>
        </p:nvSpPr>
        <p:spPr>
          <a:xfrm>
            <a:off x="9834696" y="2297140"/>
            <a:ext cx="16132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从外存补入 cache line</a:t>
            </a:r>
          </a:p>
        </p:txBody>
      </p:sp>
      <p:sp>
        <p:nvSpPr>
          <p:cNvPr id="69" name="text-069: 完成后传递描述符"/>
          <p:cNvSpPr txBox="1"/>
          <p:nvPr/>
        </p:nvSpPr>
        <p:spPr>
          <a:xfrm>
            <a:off x="10089261" y="2467828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完成后传递描述符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2765679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02-target"/>
          <p:cNvSpPr/>
          <p:nvPr/>
        </p:nvSpPr>
        <p:spPr>
          <a:xfrm>
            <a:off x="8614410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2 ← N02"/>
          <p:cNvSpPr txBox="1"/>
          <p:nvPr/>
        </p:nvSpPr>
        <p:spPr>
          <a:xfrm>
            <a:off x="8955786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73" name="E03-source"/>
          <p:cNvSpPr/>
          <p:nvPr/>
        </p:nvSpPr>
        <p:spPr>
          <a:xfrm>
            <a:off x="1239621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3 → N04"/>
          <p:cNvSpPr txBox="1"/>
          <p:nvPr/>
        </p:nvSpPr>
        <p:spPr>
          <a:xfrm>
            <a:off x="11438230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75" name="E07-source"/>
          <p:cNvSpPr/>
          <p:nvPr/>
        </p:nvSpPr>
        <p:spPr>
          <a:xfrm>
            <a:off x="12396216" y="30857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7 ↔ N06"/>
          <p:cNvSpPr txBox="1"/>
          <p:nvPr/>
        </p:nvSpPr>
        <p:spPr>
          <a:xfrm>
            <a:off x="11438230" y="29958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N06</a:t>
            </a:r>
          </a:p>
        </p:txBody>
      </p:sp>
      <p:sp>
        <p:nvSpPr>
          <p:cNvPr id="77" name="E09-source"/>
          <p:cNvSpPr/>
          <p:nvPr/>
        </p:nvSpPr>
        <p:spPr>
          <a:xfrm>
            <a:off x="12396216" y="327240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9 ↔ N07"/>
          <p:cNvSpPr txBox="1"/>
          <p:nvPr/>
        </p:nvSpPr>
        <p:spPr>
          <a:xfrm>
            <a:off x="11438230" y="318258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N07</a:t>
            </a:r>
          </a:p>
        </p:txBody>
      </p:sp>
      <p:sp>
        <p:nvSpPr>
          <p:cNvPr id="79" name="rect-079"/>
          <p:cNvSpPr/>
          <p:nvPr/>
        </p:nvSpPr>
        <p:spPr>
          <a:xfrm>
            <a:off x="8694420" y="3683127"/>
            <a:ext cx="3893820" cy="153619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N06  状态/存储"/>
          <p:cNvSpPr txBox="1"/>
          <p:nvPr/>
        </p:nvSpPr>
        <p:spPr>
          <a:xfrm>
            <a:off x="8790432" y="371107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81" name="text-081: 6  axi_llc_ways"/>
          <p:cNvSpPr txBox="1"/>
          <p:nvPr/>
        </p:nvSpPr>
        <p:spPr>
          <a:xfrm>
            <a:off x="9924574" y="3880485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axi_llc_ways</a:t>
            </a:r>
          </a:p>
        </p:txBody>
      </p:sp>
      <p:sp>
        <p:nvSpPr>
          <p:cNvPr id="82" name="text-082: read / write / evict / refill 仲裁"/>
          <p:cNvSpPr txBox="1"/>
          <p:nvPr/>
        </p:nvSpPr>
        <p:spPr>
          <a:xfrm>
            <a:off x="9261158" y="4062694"/>
            <a:ext cx="2760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 / write / evict / refill 仲裁</a:t>
            </a:r>
          </a:p>
        </p:txBody>
      </p:sp>
      <p:sp>
        <p:nvSpPr>
          <p:cNvPr id="83" name="text-083: 每个 way 的 SRAM"/>
          <p:cNvSpPr txBox="1"/>
          <p:nvPr/>
        </p:nvSpPr>
        <p:spPr>
          <a:xfrm>
            <a:off x="9997250" y="4233382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 way 的 SRAM</a:t>
            </a:r>
          </a:p>
        </p:txBody>
      </p:sp>
      <p:sp>
        <p:nvSpPr>
          <p:cNvPr id="84" name="text-084: 按地址、way、byte strobe 访问"/>
          <p:cNvSpPr txBox="1"/>
          <p:nvPr/>
        </p:nvSpPr>
        <p:spPr>
          <a:xfrm>
            <a:off x="9552527" y="4404070"/>
            <a:ext cx="217760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按地址、way、byte strobe 访问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4701921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6-target"/>
          <p:cNvSpPr/>
          <p:nvPr/>
        </p:nvSpPr>
        <p:spPr>
          <a:xfrm>
            <a:off x="8614410" y="48352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6 ↔ N05"/>
          <p:cNvSpPr txBox="1"/>
          <p:nvPr/>
        </p:nvSpPr>
        <p:spPr>
          <a:xfrm>
            <a:off x="8955786" y="47454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N05</a:t>
            </a:r>
          </a:p>
        </p:txBody>
      </p:sp>
      <p:sp>
        <p:nvSpPr>
          <p:cNvPr id="88" name="E07-target"/>
          <p:cNvSpPr/>
          <p:nvPr/>
        </p:nvSpPr>
        <p:spPr>
          <a:xfrm>
            <a:off x="8614410" y="50219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E07 ↔ N03"/>
          <p:cNvSpPr txBox="1"/>
          <p:nvPr/>
        </p:nvSpPr>
        <p:spPr>
          <a:xfrm>
            <a:off x="8955786" y="49321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N03</a:t>
            </a:r>
          </a:p>
        </p:txBody>
      </p:sp>
      <p:sp>
        <p:nvSpPr>
          <p:cNvPr id="90" name="text-090: miss"/>
          <p:cNvSpPr txBox="1"/>
          <p:nvPr/>
        </p:nvSpPr>
        <p:spPr>
          <a:xfrm>
            <a:off x="213360" y="6575008"/>
            <a:ext cx="441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miss</a:t>
            </a:r>
          </a:p>
        </p:txBody>
      </p:sp>
      <p:sp>
        <p:nvSpPr>
          <p:cNvPr id="91" name="text-091: hit / SPM 快路径（仍受顺序约束）"/>
          <p:cNvSpPr txBox="1"/>
          <p:nvPr/>
        </p:nvSpPr>
        <p:spPr>
          <a:xfrm>
            <a:off x="213360" y="6740362"/>
            <a:ext cx="22696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hit / SPM 快路径（仍受顺序约束）</a:t>
            </a:r>
          </a:p>
        </p:txBody>
      </p:sp>
      <p:sp>
        <p:nvSpPr>
          <p:cNvPr id="92" name="text-092: bypass"/>
          <p:cNvSpPr txBox="1"/>
          <p:nvPr/>
        </p:nvSpPr>
        <p:spPr>
          <a:xfrm>
            <a:off x="213360" y="6905716"/>
            <a:ext cx="60114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bypass</a:t>
            </a:r>
          </a:p>
        </p:txBody>
      </p:sp>
      <p:sp>
        <p:nvSpPr>
          <p:cNvPr id="93" name="text-093: 外存读 / 写"/>
          <p:cNvSpPr txBox="1"/>
          <p:nvPr/>
        </p:nvSpPr>
        <p:spPr>
          <a:xfrm>
            <a:off x="213360" y="7071070"/>
            <a:ext cx="8526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外存读 / 写</a:t>
            </a:r>
          </a:p>
        </p:txBody>
      </p:sp>
      <p:sp>
        <p:nvSpPr>
          <p:cNvPr id="94" name="text-094: 实线表示描述符或数据路径，标签区分；图中省略返回 ID 队列与逐通道握手。"/>
          <p:cNvSpPr txBox="1"/>
          <p:nvPr/>
        </p:nvSpPr>
        <p:spPr>
          <a:xfrm>
            <a:off x="213360" y="7236424"/>
            <a:ext cx="4490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实线表示描述符或数据路径，标签区分；图中省略返回 ID 队列与逐通道握手。</a:t>
            </a:r>
          </a:p>
        </p:txBody>
      </p:sp>
      <p:sp>
        <p:nvSpPr>
          <p:cNvPr id="95" name="text-095: 配对端口表示图示连接；已有/规划状态见模块和连接表。方向与 A 版一致。虚线模块"/>
          <p:cNvSpPr txBox="1"/>
          <p:nvPr/>
        </p:nvSpPr>
        <p:spPr>
          <a:xfrm>
            <a:off x="213360" y="7785400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B  LLC / SPM：相同 SRAM 的 way 分配与配置提交"/>
          <p:cNvSpPr txBox="1"/>
          <p:nvPr/>
        </p:nvSpPr>
        <p:spPr>
          <a:xfrm>
            <a:off x="213360" y="1146490"/>
            <a:ext cx="48219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16B  LLC / SPM：相同 SRAM 的 way 分配与配置提交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421511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858899"/>
            <a:ext cx="3893820" cy="152019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886849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axi_llc_reg_top"/>
          <p:cNvSpPr txBox="1"/>
          <p:nvPr/>
        </p:nvSpPr>
        <p:spPr>
          <a:xfrm>
            <a:off x="1313498" y="2056257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axi_llc_reg_top</a:t>
            </a:r>
          </a:p>
        </p:txBody>
      </p:sp>
      <p:sp>
        <p:nvSpPr>
          <p:cNvPr id="7" name="text-007: CFG_SPM / CFG_FLUSH"/>
          <p:cNvSpPr txBox="1"/>
          <p:nvPr/>
        </p:nvSpPr>
        <p:spPr>
          <a:xfrm>
            <a:off x="1341368" y="2238466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CFG_SPM / CFG_FLUSH</a:t>
            </a:r>
          </a:p>
        </p:txBody>
      </p:sp>
      <p:sp>
        <p:nvSpPr>
          <p:cNvPr id="8" name="text-008: COMMIT_CFG / FLUSHED"/>
          <p:cNvSpPr txBox="1"/>
          <p:nvPr/>
        </p:nvSpPr>
        <p:spPr>
          <a:xfrm>
            <a:off x="1301496" y="2409154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COMMIT_CFG / FLUSHED</a:t>
            </a:r>
          </a:p>
        </p:txBody>
      </p:sp>
      <p:sp>
        <p:nvSpPr>
          <p:cNvPr id="9" name="text-009: BIST / 容量 / 版本"/>
          <p:cNvSpPr txBox="1"/>
          <p:nvPr/>
        </p:nvSpPr>
        <p:spPr>
          <a:xfrm>
            <a:off x="1454848" y="2579842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BIST / 容量 / 版本</a:t>
            </a:r>
          </a:p>
        </p:txBody>
      </p:sp>
      <p:sp>
        <p:nvSpPr>
          <p:cNvPr id="10" name="text-010: 当前控制接口：Regbus"/>
          <p:cNvSpPr txBox="1"/>
          <p:nvPr/>
        </p:nvSpPr>
        <p:spPr>
          <a:xfrm>
            <a:off x="1430312" y="2750530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当前控制接口：Regbus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304838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31817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↔ N02"/>
          <p:cNvSpPr txBox="1"/>
          <p:nvPr/>
        </p:nvSpPr>
        <p:spPr>
          <a:xfrm>
            <a:off x="2957170" y="30919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3592449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状态/存储"/>
          <p:cNvSpPr txBox="1"/>
          <p:nvPr/>
        </p:nvSpPr>
        <p:spPr>
          <a:xfrm>
            <a:off x="309372" y="3620399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6" name="text-016: way 0"/>
          <p:cNvSpPr txBox="1"/>
          <p:nvPr/>
        </p:nvSpPr>
        <p:spPr>
          <a:xfrm>
            <a:off x="1876901" y="3789807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17" name="text-017: SPM"/>
          <p:cNvSpPr txBox="1"/>
          <p:nvPr/>
        </p:nvSpPr>
        <p:spPr>
          <a:xfrm>
            <a:off x="1979314" y="3972016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18" name="text-018: 相同 data SRAM"/>
          <p:cNvSpPr txBox="1"/>
          <p:nvPr/>
        </p:nvSpPr>
        <p:spPr>
          <a:xfrm>
            <a:off x="1577530" y="4142704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444055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存储分区示意；包含关系见所属组"/>
          <p:cNvSpPr txBox="1"/>
          <p:nvPr/>
        </p:nvSpPr>
        <p:spPr>
          <a:xfrm>
            <a:off x="1178814" y="4484080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21" name="rect-021"/>
          <p:cNvSpPr/>
          <p:nvPr/>
        </p:nvSpPr>
        <p:spPr>
          <a:xfrm>
            <a:off x="213360" y="4984623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N07  状态/存储"/>
          <p:cNvSpPr txBox="1"/>
          <p:nvPr/>
        </p:nvSpPr>
        <p:spPr>
          <a:xfrm>
            <a:off x="309372" y="5012573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23" name="text-023: way 3"/>
          <p:cNvSpPr txBox="1"/>
          <p:nvPr/>
        </p:nvSpPr>
        <p:spPr>
          <a:xfrm>
            <a:off x="1876901" y="5181981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24" name="text-024: Cache"/>
          <p:cNvSpPr txBox="1"/>
          <p:nvPr/>
        </p:nvSpPr>
        <p:spPr>
          <a:xfrm>
            <a:off x="1899571" y="5364190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25" name="text-025: 相同 data SRAM"/>
          <p:cNvSpPr txBox="1"/>
          <p:nvPr/>
        </p:nvSpPr>
        <p:spPr>
          <a:xfrm>
            <a:off x="1577530" y="5534878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583272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存储分区示意；包含关系见所属组"/>
          <p:cNvSpPr txBox="1"/>
          <p:nvPr/>
        </p:nvSpPr>
        <p:spPr>
          <a:xfrm>
            <a:off x="1178814" y="5876254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1858899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188684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2  axi_llc_config"/>
          <p:cNvSpPr txBox="1"/>
          <p:nvPr/>
        </p:nvSpPr>
        <p:spPr>
          <a:xfrm>
            <a:off x="5597366" y="2056257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axi_llc_config</a:t>
            </a:r>
          </a:p>
        </p:txBody>
      </p:sp>
      <p:sp>
        <p:nvSpPr>
          <p:cNvPr id="31" name="text-031: 提交新配置 / 停止接收新事务"/>
          <p:cNvSpPr txBox="1"/>
          <p:nvPr/>
        </p:nvSpPr>
        <p:spPr>
          <a:xfrm>
            <a:off x="5483752" y="2238466"/>
            <a:ext cx="18340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提交新配置 / 停止接收新事务</a:t>
            </a:r>
          </a:p>
        </p:txBody>
      </p:sp>
      <p:sp>
        <p:nvSpPr>
          <p:cNvPr id="32" name="text-032: 等待在途工作 / 发 flush 描述符"/>
          <p:cNvSpPr txBox="1"/>
          <p:nvPr/>
        </p:nvSpPr>
        <p:spPr>
          <a:xfrm>
            <a:off x="5327332" y="2409154"/>
            <a:ext cx="21469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等待在途工作 / 发 flush 描述符</a:t>
            </a:r>
          </a:p>
        </p:txBody>
      </p:sp>
      <p:sp>
        <p:nvSpPr>
          <p:cNvPr id="33" name="text-033: 必要时写回脏行"/>
          <p:cNvSpPr txBox="1"/>
          <p:nvPr/>
        </p:nvSpPr>
        <p:spPr>
          <a:xfrm>
            <a:off x="5910072" y="2579842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34" name="text-034: 更新 spm_lock / flushed"/>
          <p:cNvSpPr txBox="1"/>
          <p:nvPr/>
        </p:nvSpPr>
        <p:spPr>
          <a:xfrm>
            <a:off x="5459216" y="2750530"/>
            <a:ext cx="188316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更新 spm_lock / flushed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304838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31817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↔ N01"/>
          <p:cNvSpPr txBox="1"/>
          <p:nvPr/>
        </p:nvSpPr>
        <p:spPr>
          <a:xfrm>
            <a:off x="4715256" y="30919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31817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→ N03"/>
          <p:cNvSpPr txBox="1"/>
          <p:nvPr/>
        </p:nvSpPr>
        <p:spPr>
          <a:xfrm>
            <a:off x="7197700" y="30919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3592449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N05  状态/存储"/>
          <p:cNvSpPr txBox="1"/>
          <p:nvPr/>
        </p:nvSpPr>
        <p:spPr>
          <a:xfrm>
            <a:off x="4549902" y="3620399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42" name="text-042: way 1"/>
          <p:cNvSpPr txBox="1"/>
          <p:nvPr/>
        </p:nvSpPr>
        <p:spPr>
          <a:xfrm>
            <a:off x="6117431" y="3789807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43" name="text-043: SPM"/>
          <p:cNvSpPr txBox="1"/>
          <p:nvPr/>
        </p:nvSpPr>
        <p:spPr>
          <a:xfrm>
            <a:off x="6219844" y="3972016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44" name="text-044: 相同 data SRAM"/>
          <p:cNvSpPr txBox="1"/>
          <p:nvPr/>
        </p:nvSpPr>
        <p:spPr>
          <a:xfrm>
            <a:off x="5818060" y="4142704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5" name="rect-045"/>
          <p:cNvSpPr/>
          <p:nvPr/>
        </p:nvSpPr>
        <p:spPr>
          <a:xfrm>
            <a:off x="4533900" y="444055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存储分区示意；包含关系见所属组"/>
          <p:cNvSpPr txBox="1"/>
          <p:nvPr/>
        </p:nvSpPr>
        <p:spPr>
          <a:xfrm>
            <a:off x="5419344" y="4484080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47" name="rect-047"/>
          <p:cNvSpPr/>
          <p:nvPr/>
        </p:nvSpPr>
        <p:spPr>
          <a:xfrm>
            <a:off x="4453890" y="4984623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P01  外部/组边界"/>
          <p:cNvSpPr txBox="1"/>
          <p:nvPr/>
        </p:nvSpPr>
        <p:spPr>
          <a:xfrm>
            <a:off x="4549902" y="5012573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49" name="text-049: 同一组 data SRAM（way 0…3 示例）"/>
          <p:cNvSpPr txBox="1"/>
          <p:nvPr/>
        </p:nvSpPr>
        <p:spPr>
          <a:xfrm>
            <a:off x="5063966" y="5181981"/>
            <a:ext cx="26736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同一组 data SRAM（way 0…3 示例）</a:t>
            </a:r>
          </a:p>
        </p:txBody>
      </p:sp>
      <p:sp>
        <p:nvSpPr>
          <p:cNvPr id="50" name="rect-050"/>
          <p:cNvSpPr/>
          <p:nvPr/>
        </p:nvSpPr>
        <p:spPr>
          <a:xfrm>
            <a:off x="4533900" y="549135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3-target"/>
          <p:cNvSpPr/>
          <p:nvPr/>
        </p:nvSpPr>
        <p:spPr>
          <a:xfrm>
            <a:off x="4373880" y="56247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3 ← N03"/>
          <p:cNvSpPr txBox="1"/>
          <p:nvPr/>
        </p:nvSpPr>
        <p:spPr>
          <a:xfrm>
            <a:off x="4715256" y="55348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53" name="rect-053"/>
          <p:cNvSpPr/>
          <p:nvPr/>
        </p:nvSpPr>
        <p:spPr>
          <a:xfrm>
            <a:off x="8694420" y="1858899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N03  内部工作逻辑"/>
          <p:cNvSpPr txBox="1"/>
          <p:nvPr/>
        </p:nvSpPr>
        <p:spPr>
          <a:xfrm>
            <a:off x="8790432" y="188684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5" name="text-055: 3  地址与 way 选择"/>
          <p:cNvSpPr txBox="1"/>
          <p:nvPr/>
        </p:nvSpPr>
        <p:spPr>
          <a:xfrm>
            <a:off x="9894570" y="2056257"/>
            <a:ext cx="149352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地址与 way 选择</a:t>
            </a:r>
          </a:p>
        </p:txBody>
      </p:sp>
      <p:sp>
        <p:nvSpPr>
          <p:cNvPr id="56" name="text-056: cache 地址：tag lookup → cache way"/>
          <p:cNvSpPr txBox="1"/>
          <p:nvPr/>
        </p:nvSpPr>
        <p:spPr>
          <a:xfrm>
            <a:off x="9258090" y="2238466"/>
            <a:ext cx="2766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地址：tag lookup → cache way</a:t>
            </a:r>
          </a:p>
        </p:txBody>
      </p:sp>
      <p:sp>
        <p:nvSpPr>
          <p:cNvPr id="57" name="text-057: SPM 地址：直接选择被锁定的 way"/>
          <p:cNvSpPr txBox="1"/>
          <p:nvPr/>
        </p:nvSpPr>
        <p:spPr>
          <a:xfrm>
            <a:off x="9586265" y="2409154"/>
            <a:ext cx="21101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地址：直接选择被锁定的 way</a:t>
            </a:r>
          </a:p>
        </p:txBody>
      </p:sp>
      <p:sp>
        <p:nvSpPr>
          <p:cNvPr id="58" name="text-058: 未配置为 SPM 的对应 way 不可当 RAM 用"/>
          <p:cNvSpPr txBox="1"/>
          <p:nvPr/>
        </p:nvSpPr>
        <p:spPr>
          <a:xfrm>
            <a:off x="9307163" y="2579842"/>
            <a:ext cx="26683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未配置为 SPM 的对应 way 不可当 RAM 用</a:t>
            </a:r>
          </a:p>
        </p:txBody>
      </p:sp>
      <p:sp>
        <p:nvSpPr>
          <p:cNvPr id="59" name="text-059: SPM 访问不进行外存 refill"/>
          <p:cNvSpPr txBox="1"/>
          <p:nvPr/>
        </p:nvSpPr>
        <p:spPr>
          <a:xfrm>
            <a:off x="9712014" y="2750530"/>
            <a:ext cx="18586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访问不进行外存 refill</a:t>
            </a:r>
          </a:p>
        </p:txBody>
      </p:sp>
      <p:sp>
        <p:nvSpPr>
          <p:cNvPr id="60" name="rect-060"/>
          <p:cNvSpPr/>
          <p:nvPr/>
        </p:nvSpPr>
        <p:spPr>
          <a:xfrm>
            <a:off x="8774430" y="304838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02-target"/>
          <p:cNvSpPr/>
          <p:nvPr/>
        </p:nvSpPr>
        <p:spPr>
          <a:xfrm>
            <a:off x="8614410" y="31817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2 ← N02"/>
          <p:cNvSpPr txBox="1"/>
          <p:nvPr/>
        </p:nvSpPr>
        <p:spPr>
          <a:xfrm>
            <a:off x="8955786" y="30919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63" name="E03-source"/>
          <p:cNvSpPr/>
          <p:nvPr/>
        </p:nvSpPr>
        <p:spPr>
          <a:xfrm>
            <a:off x="12396216" y="31817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3 → P01"/>
          <p:cNvSpPr txBox="1"/>
          <p:nvPr/>
        </p:nvSpPr>
        <p:spPr>
          <a:xfrm>
            <a:off x="11438230" y="30919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P01</a:t>
            </a:r>
          </a:p>
        </p:txBody>
      </p:sp>
      <p:sp>
        <p:nvSpPr>
          <p:cNvPr id="65" name="rect-065"/>
          <p:cNvSpPr/>
          <p:nvPr/>
        </p:nvSpPr>
        <p:spPr>
          <a:xfrm>
            <a:off x="8694420" y="3592449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N06  状态/存储"/>
          <p:cNvSpPr txBox="1"/>
          <p:nvPr/>
        </p:nvSpPr>
        <p:spPr>
          <a:xfrm>
            <a:off x="8790432" y="3620399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67" name="text-067: way 2"/>
          <p:cNvSpPr txBox="1"/>
          <p:nvPr/>
        </p:nvSpPr>
        <p:spPr>
          <a:xfrm>
            <a:off x="10357961" y="3789807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68" name="text-068: Cache"/>
          <p:cNvSpPr txBox="1"/>
          <p:nvPr/>
        </p:nvSpPr>
        <p:spPr>
          <a:xfrm>
            <a:off x="10380631" y="3972016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69" name="text-069: 相同 data SRAM"/>
          <p:cNvSpPr txBox="1"/>
          <p:nvPr/>
        </p:nvSpPr>
        <p:spPr>
          <a:xfrm>
            <a:off x="10058590" y="4142704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444055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存储分区示意；包含关系见所属组"/>
          <p:cNvSpPr txBox="1"/>
          <p:nvPr/>
        </p:nvSpPr>
        <p:spPr>
          <a:xfrm>
            <a:off x="9659874" y="4484080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72" name="text-072: 4  同一组数据 SRAM：下图仅为分区示例，不代表当前运行配置"/>
          <p:cNvSpPr txBox="1"/>
          <p:nvPr/>
        </p:nvSpPr>
        <p:spPr>
          <a:xfrm>
            <a:off x="213360" y="6297640"/>
            <a:ext cx="37049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4  同一组数据 SRAM：下图仅为分区示例，不代表当前运行配置</a:t>
            </a:r>
          </a:p>
        </p:txBody>
      </p:sp>
      <p:sp>
        <p:nvSpPr>
          <p:cNvPr id="73" name="text-073: SoC 的 SPM 地址别名"/>
          <p:cNvSpPr txBox="1"/>
          <p:nvPr/>
        </p:nvSpPr>
        <p:spPr>
          <a:xfrm>
            <a:off x="213360" y="6462994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SoC 的 SPM 地址别名</a:t>
            </a:r>
          </a:p>
        </p:txBody>
      </p:sp>
      <p:sp>
        <p:nvSpPr>
          <p:cNvPr id="74" name="text-074: AmSpm / AmSpmBaseUncached"/>
          <p:cNvSpPr txBox="1"/>
          <p:nvPr/>
        </p:nvSpPr>
        <p:spPr>
          <a:xfrm>
            <a:off x="213360" y="6628348"/>
            <a:ext cx="21162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AmSpm / AmSpmBaseUncached</a:t>
            </a:r>
          </a:p>
        </p:txBody>
      </p:sp>
      <p:sp>
        <p:nvSpPr>
          <p:cNvPr id="75" name="text-075: 外层地址重映射到同一存储"/>
          <p:cNvSpPr txBox="1"/>
          <p:nvPr/>
        </p:nvSpPr>
        <p:spPr>
          <a:xfrm>
            <a:off x="213360" y="6793702"/>
            <a:ext cx="15948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外层地址重映射到同一存储</a:t>
            </a:r>
          </a:p>
        </p:txBody>
      </p:sp>
      <p:sp>
        <p:nvSpPr>
          <p:cNvPr id="76" name="text-076: CPU 缓存属性需另外匹配"/>
          <p:cNvSpPr txBox="1"/>
          <p:nvPr/>
        </p:nvSpPr>
        <p:spPr>
          <a:xfrm>
            <a:off x="213360" y="6959056"/>
            <a:ext cx="154579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CPU 缓存属性需另外匹配</a:t>
            </a:r>
          </a:p>
        </p:txBody>
      </p:sp>
      <p:sp>
        <p:nvSpPr>
          <p:cNvPr id="77" name="text-077: LLC/SPM 不是独立 Global Buffer；DDR 旁路 master"/>
          <p:cNvSpPr txBox="1"/>
          <p:nvPr/>
        </p:nvSpPr>
        <p:spPr>
          <a:xfrm>
            <a:off x="213360" y="7124410"/>
            <a:ext cx="6164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LLC/SPM 不是独立 Global Buffer；DDR 旁路 master 也不会自动窥探 CPU / LLC 中的脏数据。</a:t>
            </a:r>
          </a:p>
        </p:txBody>
      </p:sp>
      <p:sp>
        <p:nvSpPr>
          <p:cNvPr id="78" name="text-078: 配对端口表示图示连接；已有/规划状态见模块和连接表。方向与 A 版一致。虚线模块"/>
          <p:cNvSpPr txBox="1"/>
          <p:nvPr/>
        </p:nvSpPr>
        <p:spPr>
          <a:xfrm>
            <a:off x="213360" y="7673386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外部 IP 的 AXI 数据口与 Reg 控制口"/>
          <p:cNvSpPr txBox="1"/>
          <p:nvPr/>
        </p:nvSpPr>
        <p:spPr>
          <a:xfrm>
            <a:off x="213360" y="1375852"/>
            <a:ext cx="34308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IP 的 AXI 数据口与 Reg 控制口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650873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088261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ip_mst  内部工作逻辑 · 规划/待确认"/>
          <p:cNvSpPr txBox="1"/>
          <p:nvPr/>
        </p:nvSpPr>
        <p:spPr>
          <a:xfrm>
            <a:off x="309372" y="2116211"/>
            <a:ext cx="232349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ip_mst  内部工作逻辑 · 规划/待确认</a:t>
            </a:r>
          </a:p>
        </p:txBody>
      </p:sp>
      <p:sp>
        <p:nvSpPr>
          <p:cNvPr id="6" name="text-006: 新增数据 master"/>
          <p:cNvSpPr txBox="1"/>
          <p:nvPr/>
        </p:nvSpPr>
        <p:spPr>
          <a:xfrm>
            <a:off x="1523524" y="2285619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新增数据 master</a:t>
            </a:r>
          </a:p>
        </p:txBody>
      </p:sp>
      <p:sp>
        <p:nvSpPr>
          <p:cNvPr id="7" name="text-007: NPU / DMA（规划）"/>
          <p:cNvSpPr txBox="1"/>
          <p:nvPr/>
        </p:nvSpPr>
        <p:spPr>
          <a:xfrm>
            <a:off x="1494720" y="2467828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DMA（规划）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76567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↔ adapter"/>
          <p:cNvSpPr txBox="1"/>
          <p:nvPr/>
        </p:nvSpPr>
        <p:spPr>
          <a:xfrm>
            <a:off x="2638196" y="2809204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adapter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3309747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xbar  内部工作逻辑"/>
          <p:cNvSpPr txBox="1"/>
          <p:nvPr/>
        </p:nvSpPr>
        <p:spPr>
          <a:xfrm>
            <a:off x="309372" y="3337697"/>
            <a:ext cx="1279093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xbar  内部工作逻辑</a:t>
            </a:r>
          </a:p>
        </p:txBody>
      </p:sp>
      <p:sp>
        <p:nvSpPr>
          <p:cNvPr id="13" name="text-013: i_axi_xbar"/>
          <p:cNvSpPr txBox="1"/>
          <p:nvPr/>
        </p:nvSpPr>
        <p:spPr>
          <a:xfrm>
            <a:off x="1660208" y="3507105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i_axi_xbar</a:t>
            </a:r>
          </a:p>
        </p:txBody>
      </p:sp>
      <p:sp>
        <p:nvSpPr>
          <p:cNvPr id="14" name="text-014: 规则选择目标"/>
          <p:cNvSpPr txBox="1"/>
          <p:nvPr/>
        </p:nvSpPr>
        <p:spPr>
          <a:xfrm>
            <a:off x="1730883" y="3689314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规则选择目标</a:t>
            </a:r>
          </a:p>
        </p:txBody>
      </p:sp>
      <p:sp>
        <p:nvSpPr>
          <p:cNvPr id="15" name="rect-015"/>
          <p:cNvSpPr/>
          <p:nvPr/>
        </p:nvSpPr>
        <p:spPr>
          <a:xfrm>
            <a:off x="293370" y="3987165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03-target"/>
          <p:cNvSpPr/>
          <p:nvPr/>
        </p:nvSpPr>
        <p:spPr>
          <a:xfrm>
            <a:off x="133350" y="412051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3 ↔ rt"/>
          <p:cNvSpPr txBox="1"/>
          <p:nvPr/>
        </p:nvSpPr>
        <p:spPr>
          <a:xfrm>
            <a:off x="474726" y="4030690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rt</a:t>
            </a:r>
          </a:p>
        </p:txBody>
      </p:sp>
      <p:sp>
        <p:nvSpPr>
          <p:cNvPr id="18" name="E04-source"/>
          <p:cNvSpPr/>
          <p:nvPr/>
        </p:nvSpPr>
        <p:spPr>
          <a:xfrm>
            <a:off x="3915156" y="412051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4 ↔ axi_out"/>
          <p:cNvSpPr txBox="1"/>
          <p:nvPr/>
        </p:nvSpPr>
        <p:spPr>
          <a:xfrm>
            <a:off x="2638196" y="4030690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axi_out</a:t>
            </a:r>
          </a:p>
        </p:txBody>
      </p:sp>
      <p:sp>
        <p:nvSpPr>
          <p:cNvPr id="20" name="E06-source"/>
          <p:cNvSpPr/>
          <p:nvPr/>
        </p:nvSpPr>
        <p:spPr>
          <a:xfrm>
            <a:off x="3915156" y="430720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6 ↔ reg_bridge"/>
          <p:cNvSpPr txBox="1"/>
          <p:nvPr/>
        </p:nvSpPr>
        <p:spPr>
          <a:xfrm>
            <a:off x="2398966" y="4217380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↔ reg_bridge</a:t>
            </a:r>
          </a:p>
        </p:txBody>
      </p:sp>
      <p:sp>
        <p:nvSpPr>
          <p:cNvPr id="22" name="rect-022"/>
          <p:cNvSpPr/>
          <p:nvPr/>
        </p:nvSpPr>
        <p:spPr>
          <a:xfrm>
            <a:off x="213360" y="4717923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reg_out  外部/组边界"/>
          <p:cNvSpPr txBox="1"/>
          <p:nvPr/>
        </p:nvSpPr>
        <p:spPr>
          <a:xfrm>
            <a:off x="309372" y="4745873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reg_out  外部/组边界</a:t>
            </a:r>
          </a:p>
        </p:txBody>
      </p:sp>
      <p:sp>
        <p:nvSpPr>
          <p:cNvPr id="24" name="text-024: Reg 外部 slave 口"/>
          <p:cNvSpPr txBox="1"/>
          <p:nvPr/>
        </p:nvSpPr>
        <p:spPr>
          <a:xfrm>
            <a:off x="1416844" y="4915281"/>
            <a:ext cx="148685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外部 slave 口</a:t>
            </a:r>
          </a:p>
        </p:txBody>
      </p:sp>
      <p:sp>
        <p:nvSpPr>
          <p:cNvPr id="25" name="text-025: 默认数量 0"/>
          <p:cNvSpPr txBox="1"/>
          <p:nvPr/>
        </p:nvSpPr>
        <p:spPr>
          <a:xfrm>
            <a:off x="1773822" y="5097490"/>
            <a:ext cx="7728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539534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08-target"/>
          <p:cNvSpPr/>
          <p:nvPr/>
        </p:nvSpPr>
        <p:spPr>
          <a:xfrm>
            <a:off x="133350" y="552869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8 ↔ reg_demux"/>
          <p:cNvSpPr txBox="1"/>
          <p:nvPr/>
        </p:nvSpPr>
        <p:spPr>
          <a:xfrm>
            <a:off x="474726" y="5438866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reg_demux</a:t>
            </a:r>
          </a:p>
        </p:txBody>
      </p:sp>
      <p:sp>
        <p:nvSpPr>
          <p:cNvPr id="29" name="E09-source"/>
          <p:cNvSpPr/>
          <p:nvPr/>
        </p:nvSpPr>
        <p:spPr>
          <a:xfrm>
            <a:off x="3915156" y="552869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9 ↔ reg_ip"/>
          <p:cNvSpPr txBox="1"/>
          <p:nvPr/>
        </p:nvSpPr>
        <p:spPr>
          <a:xfrm>
            <a:off x="2717940" y="5438866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↔ reg_ip</a:t>
            </a:r>
          </a:p>
        </p:txBody>
      </p:sp>
      <p:sp>
        <p:nvSpPr>
          <p:cNvPr id="31" name="rect-031"/>
          <p:cNvSpPr/>
          <p:nvPr/>
        </p:nvSpPr>
        <p:spPr>
          <a:xfrm>
            <a:off x="4453890" y="2088261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adapter  内部工作逻辑 · 规划/待确认"/>
          <p:cNvSpPr txBox="1"/>
          <p:nvPr/>
        </p:nvSpPr>
        <p:spPr>
          <a:xfrm>
            <a:off x="4549902" y="2116211"/>
            <a:ext cx="239976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adapter  内部工作逻辑 · 规划/待确认</a:t>
            </a:r>
          </a:p>
        </p:txBody>
      </p:sp>
      <p:sp>
        <p:nvSpPr>
          <p:cNvPr id="33" name="text-033: DW / ID / CDC"/>
          <p:cNvSpPr txBox="1"/>
          <p:nvPr/>
        </p:nvSpPr>
        <p:spPr>
          <a:xfrm>
            <a:off x="5770721" y="2285619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DW / ID / CDC</a:t>
            </a:r>
          </a:p>
        </p:txBody>
      </p:sp>
      <p:sp>
        <p:nvSpPr>
          <p:cNvPr id="34" name="text-034: 按接口差异选配"/>
          <p:cNvSpPr txBox="1"/>
          <p:nvPr/>
        </p:nvSpPr>
        <p:spPr>
          <a:xfrm>
            <a:off x="5910072" y="2467828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按接口差异选配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276567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↔ ip_mst"/>
          <p:cNvSpPr txBox="1"/>
          <p:nvPr/>
        </p:nvSpPr>
        <p:spPr>
          <a:xfrm>
            <a:off x="4715256" y="2809204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ip_mst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↔ rt"/>
          <p:cNvSpPr txBox="1"/>
          <p:nvPr/>
        </p:nvSpPr>
        <p:spPr>
          <a:xfrm>
            <a:off x="7277443" y="2809204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rt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3309747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axi_out  外部/组边界"/>
          <p:cNvSpPr txBox="1"/>
          <p:nvPr/>
        </p:nvSpPr>
        <p:spPr>
          <a:xfrm>
            <a:off x="4549902" y="3337697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axi_out  外部/组边界</a:t>
            </a:r>
          </a:p>
        </p:txBody>
      </p:sp>
      <p:sp>
        <p:nvSpPr>
          <p:cNvPr id="42" name="text-042: AXI 外部 slave 口"/>
          <p:cNvSpPr txBox="1"/>
          <p:nvPr/>
        </p:nvSpPr>
        <p:spPr>
          <a:xfrm>
            <a:off x="5657374" y="3507105"/>
            <a:ext cx="148685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外部 slave 口</a:t>
            </a:r>
          </a:p>
        </p:txBody>
      </p:sp>
      <p:sp>
        <p:nvSpPr>
          <p:cNvPr id="43" name="text-043: 默认数量 0"/>
          <p:cNvSpPr txBox="1"/>
          <p:nvPr/>
        </p:nvSpPr>
        <p:spPr>
          <a:xfrm>
            <a:off x="6014352" y="3689314"/>
            <a:ext cx="7728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398716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4-target"/>
          <p:cNvSpPr/>
          <p:nvPr/>
        </p:nvSpPr>
        <p:spPr>
          <a:xfrm>
            <a:off x="4373880" y="412051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 ↔ xbar"/>
          <p:cNvSpPr txBox="1"/>
          <p:nvPr/>
        </p:nvSpPr>
        <p:spPr>
          <a:xfrm>
            <a:off x="4715256" y="4030690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xbar</a:t>
            </a:r>
          </a:p>
        </p:txBody>
      </p:sp>
      <p:sp>
        <p:nvSpPr>
          <p:cNvPr id="47" name="E05-source"/>
          <p:cNvSpPr/>
          <p:nvPr/>
        </p:nvSpPr>
        <p:spPr>
          <a:xfrm>
            <a:off x="8155686" y="412051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5 ↔ axi_ip"/>
          <p:cNvSpPr txBox="1"/>
          <p:nvPr/>
        </p:nvSpPr>
        <p:spPr>
          <a:xfrm>
            <a:off x="6958470" y="4030690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axi_ip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4531233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reg_bridge  接口与配置"/>
          <p:cNvSpPr txBox="1"/>
          <p:nvPr/>
        </p:nvSpPr>
        <p:spPr>
          <a:xfrm>
            <a:off x="4549902" y="4559183"/>
            <a:ext cx="161940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reg_bridge  接口与配置</a:t>
            </a:r>
          </a:p>
        </p:txBody>
      </p:sp>
      <p:sp>
        <p:nvSpPr>
          <p:cNvPr id="51" name="text-051: axi_to_reg_v2"/>
          <p:cNvSpPr txBox="1"/>
          <p:nvPr/>
        </p:nvSpPr>
        <p:spPr>
          <a:xfrm>
            <a:off x="5770721" y="4728591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axi_to_reg_v2</a:t>
            </a:r>
          </a:p>
        </p:txBody>
      </p:sp>
      <p:sp>
        <p:nvSpPr>
          <p:cNvPr id="52" name="text-052: 64 → 32（默认）"/>
          <p:cNvSpPr txBox="1"/>
          <p:nvPr/>
        </p:nvSpPr>
        <p:spPr>
          <a:xfrm>
            <a:off x="5793524" y="4910800"/>
            <a:ext cx="12145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 → 32（默认）</a:t>
            </a:r>
          </a:p>
        </p:txBody>
      </p:sp>
      <p:sp>
        <p:nvSpPr>
          <p:cNvPr id="53" name="rect-053"/>
          <p:cNvSpPr/>
          <p:nvPr/>
        </p:nvSpPr>
        <p:spPr>
          <a:xfrm>
            <a:off x="4533900" y="520865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E06-target"/>
          <p:cNvSpPr/>
          <p:nvPr/>
        </p:nvSpPr>
        <p:spPr>
          <a:xfrm>
            <a:off x="4373880" y="534200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 ↔ xbar"/>
          <p:cNvSpPr txBox="1"/>
          <p:nvPr/>
        </p:nvSpPr>
        <p:spPr>
          <a:xfrm>
            <a:off x="4715256" y="5252176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↔ xbar</a:t>
            </a:r>
          </a:p>
        </p:txBody>
      </p:sp>
      <p:sp>
        <p:nvSpPr>
          <p:cNvPr id="56" name="E07-source"/>
          <p:cNvSpPr/>
          <p:nvPr/>
        </p:nvSpPr>
        <p:spPr>
          <a:xfrm>
            <a:off x="8155686" y="534200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 ↔ reg_demux"/>
          <p:cNvSpPr txBox="1"/>
          <p:nvPr/>
        </p:nvSpPr>
        <p:spPr>
          <a:xfrm>
            <a:off x="6719240" y="5252176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reg_demux</a:t>
            </a:r>
          </a:p>
        </p:txBody>
      </p:sp>
      <p:sp>
        <p:nvSpPr>
          <p:cNvPr id="58" name="rect-058"/>
          <p:cNvSpPr/>
          <p:nvPr/>
        </p:nvSpPr>
        <p:spPr>
          <a:xfrm>
            <a:off x="4453890" y="5752719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reg_ip  接口与配置 · 规划/待确认"/>
          <p:cNvSpPr txBox="1"/>
          <p:nvPr/>
        </p:nvSpPr>
        <p:spPr>
          <a:xfrm>
            <a:off x="4549902" y="5780669"/>
            <a:ext cx="220614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reg_ip  接口与配置 · 规划/待确认</a:t>
            </a:r>
          </a:p>
        </p:txBody>
      </p:sp>
      <p:sp>
        <p:nvSpPr>
          <p:cNvPr id="60" name="text-060: 新增配置寄存器"/>
          <p:cNvSpPr txBox="1"/>
          <p:nvPr/>
        </p:nvSpPr>
        <p:spPr>
          <a:xfrm>
            <a:off x="5867400" y="5950077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新增配置寄存器</a:t>
            </a:r>
          </a:p>
        </p:txBody>
      </p:sp>
      <p:sp>
        <p:nvSpPr>
          <p:cNvPr id="61" name="text-061: IP 控制 / 状态"/>
          <p:cNvSpPr txBox="1"/>
          <p:nvPr/>
        </p:nvSpPr>
        <p:spPr>
          <a:xfrm>
            <a:off x="5854865" y="6132286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控制 / 状态</a:t>
            </a:r>
          </a:p>
        </p:txBody>
      </p:sp>
      <p:sp>
        <p:nvSpPr>
          <p:cNvPr id="62" name="rect-062"/>
          <p:cNvSpPr/>
          <p:nvPr/>
        </p:nvSpPr>
        <p:spPr>
          <a:xfrm>
            <a:off x="4533900" y="643013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09-target"/>
          <p:cNvSpPr/>
          <p:nvPr/>
        </p:nvSpPr>
        <p:spPr>
          <a:xfrm>
            <a:off x="4373880" y="656348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9 ↔ reg_out"/>
          <p:cNvSpPr txBox="1"/>
          <p:nvPr/>
        </p:nvSpPr>
        <p:spPr>
          <a:xfrm>
            <a:off x="4715256" y="6473662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↔ reg_out</a:t>
            </a:r>
          </a:p>
        </p:txBody>
      </p:sp>
      <p:sp>
        <p:nvSpPr>
          <p:cNvPr id="65" name="rect-065"/>
          <p:cNvSpPr/>
          <p:nvPr/>
        </p:nvSpPr>
        <p:spPr>
          <a:xfrm>
            <a:off x="8694420" y="2088261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rt  接口与配置"/>
          <p:cNvSpPr txBox="1"/>
          <p:nvPr/>
        </p:nvSpPr>
        <p:spPr>
          <a:xfrm>
            <a:off x="8790432" y="2116211"/>
            <a:ext cx="1009193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rt  接口与配置</a:t>
            </a:r>
          </a:p>
        </p:txBody>
      </p:sp>
      <p:sp>
        <p:nvSpPr>
          <p:cNvPr id="67" name="text-067: AXI RT / 直连"/>
          <p:cNvSpPr txBox="1"/>
          <p:nvPr/>
        </p:nvSpPr>
        <p:spPr>
          <a:xfrm>
            <a:off x="10051256" y="2285619"/>
            <a:ext cx="11801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RT / 直连</a:t>
            </a:r>
          </a:p>
        </p:txBody>
      </p:sp>
      <p:sp>
        <p:nvSpPr>
          <p:cNvPr id="68" name="text-068: 已有；默认 RT 关闭"/>
          <p:cNvSpPr txBox="1"/>
          <p:nvPr/>
        </p:nvSpPr>
        <p:spPr>
          <a:xfrm>
            <a:off x="9991115" y="2467828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已有；默认 RT 关闭</a:t>
            </a:r>
          </a:p>
        </p:txBody>
      </p:sp>
      <p:sp>
        <p:nvSpPr>
          <p:cNvPr id="69" name="rect-069"/>
          <p:cNvSpPr/>
          <p:nvPr/>
        </p:nvSpPr>
        <p:spPr>
          <a:xfrm>
            <a:off x="8774430" y="276567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02-target"/>
          <p:cNvSpPr/>
          <p:nvPr/>
        </p:nvSpPr>
        <p:spPr>
          <a:xfrm>
            <a:off x="8614410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2 ↔ adapter"/>
          <p:cNvSpPr txBox="1"/>
          <p:nvPr/>
        </p:nvSpPr>
        <p:spPr>
          <a:xfrm>
            <a:off x="8955786" y="2809204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adapter</a:t>
            </a:r>
          </a:p>
        </p:txBody>
      </p:sp>
      <p:sp>
        <p:nvSpPr>
          <p:cNvPr id="72" name="E03-source"/>
          <p:cNvSpPr/>
          <p:nvPr/>
        </p:nvSpPr>
        <p:spPr>
          <a:xfrm>
            <a:off x="1239621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3 ↔ xbar"/>
          <p:cNvSpPr txBox="1"/>
          <p:nvPr/>
        </p:nvSpPr>
        <p:spPr>
          <a:xfrm>
            <a:off x="11358486" y="2809204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xbar</a:t>
            </a:r>
          </a:p>
        </p:txBody>
      </p:sp>
      <p:sp>
        <p:nvSpPr>
          <p:cNvPr id="74" name="rect-074"/>
          <p:cNvSpPr/>
          <p:nvPr/>
        </p:nvSpPr>
        <p:spPr>
          <a:xfrm>
            <a:off x="8694420" y="3309747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axi_ip  状态/存储 · 规划/待确认"/>
          <p:cNvSpPr txBox="1"/>
          <p:nvPr/>
        </p:nvSpPr>
        <p:spPr>
          <a:xfrm>
            <a:off x="8790432" y="3337697"/>
            <a:ext cx="216507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axi_ip  状态/存储 · 规划/待确认</a:t>
            </a:r>
          </a:p>
        </p:txBody>
      </p:sp>
      <p:sp>
        <p:nvSpPr>
          <p:cNvPr id="76" name="text-076: 新增 AXI slave"/>
          <p:cNvSpPr txBox="1"/>
          <p:nvPr/>
        </p:nvSpPr>
        <p:spPr>
          <a:xfrm>
            <a:off x="10007918" y="3507105"/>
            <a:ext cx="12668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 AXI slave</a:t>
            </a:r>
          </a:p>
        </p:txBody>
      </p:sp>
      <p:sp>
        <p:nvSpPr>
          <p:cNvPr id="77" name="text-077: 存储 / IP 窗口"/>
          <p:cNvSpPr txBox="1"/>
          <p:nvPr/>
        </p:nvSpPr>
        <p:spPr>
          <a:xfrm>
            <a:off x="10095395" y="3689314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存储 / IP 窗口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398716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5-target"/>
          <p:cNvSpPr/>
          <p:nvPr/>
        </p:nvSpPr>
        <p:spPr>
          <a:xfrm>
            <a:off x="8614410" y="412051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5 ↔ axi_out"/>
          <p:cNvSpPr txBox="1"/>
          <p:nvPr/>
        </p:nvSpPr>
        <p:spPr>
          <a:xfrm>
            <a:off x="8955786" y="4030690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axi_out</a:t>
            </a:r>
          </a:p>
        </p:txBody>
      </p:sp>
      <p:sp>
        <p:nvSpPr>
          <p:cNvPr id="81" name="rect-081"/>
          <p:cNvSpPr/>
          <p:nvPr/>
        </p:nvSpPr>
        <p:spPr>
          <a:xfrm>
            <a:off x="8694420" y="4531233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reg_demux  接口与配置"/>
          <p:cNvSpPr txBox="1"/>
          <p:nvPr/>
        </p:nvSpPr>
        <p:spPr>
          <a:xfrm>
            <a:off x="8790432" y="4559183"/>
            <a:ext cx="1543126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reg_demux  接口与配置</a:t>
            </a:r>
          </a:p>
        </p:txBody>
      </p:sp>
      <p:sp>
        <p:nvSpPr>
          <p:cNvPr id="83" name="text-083: Reg decode / demux"/>
          <p:cNvSpPr txBox="1"/>
          <p:nvPr/>
        </p:nvSpPr>
        <p:spPr>
          <a:xfrm>
            <a:off x="9794558" y="4728591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decode / demux</a:t>
            </a:r>
          </a:p>
        </p:txBody>
      </p:sp>
      <p:sp>
        <p:nvSpPr>
          <p:cNvPr id="84" name="text-084: 第二级地址选择"/>
          <p:cNvSpPr txBox="1"/>
          <p:nvPr/>
        </p:nvSpPr>
        <p:spPr>
          <a:xfrm>
            <a:off x="10150602" y="4910800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第二级地址选择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520865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7-target"/>
          <p:cNvSpPr/>
          <p:nvPr/>
        </p:nvSpPr>
        <p:spPr>
          <a:xfrm>
            <a:off x="8614410" y="534200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7 ↔ reg_bridge"/>
          <p:cNvSpPr txBox="1"/>
          <p:nvPr/>
        </p:nvSpPr>
        <p:spPr>
          <a:xfrm>
            <a:off x="8955786" y="5252176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reg_bridge</a:t>
            </a:r>
          </a:p>
        </p:txBody>
      </p:sp>
      <p:sp>
        <p:nvSpPr>
          <p:cNvPr id="88" name="E08-source"/>
          <p:cNvSpPr/>
          <p:nvPr/>
        </p:nvSpPr>
        <p:spPr>
          <a:xfrm>
            <a:off x="12396216" y="534200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E08 ↔ reg_out"/>
          <p:cNvSpPr txBox="1"/>
          <p:nvPr/>
        </p:nvSpPr>
        <p:spPr>
          <a:xfrm>
            <a:off x="11119256" y="5252176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reg_out</a:t>
            </a:r>
          </a:p>
        </p:txBody>
      </p:sp>
      <p:sp>
        <p:nvSpPr>
          <p:cNvPr id="90" name="text-090: 已有扩展逻辑默认端口数为 0。规划模块尚未接入；AXI 双箭头概括请求和响应，m"/>
          <p:cNvSpPr txBox="1"/>
          <p:nvPr/>
        </p:nvSpPr>
        <p:spPr>
          <a:xfrm>
            <a:off x="213360" y="6895048"/>
            <a:ext cx="6066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已有扩展逻辑默认端口数为 0。规划模块尚未接入；AXI 双箭头概括请求和响应，master 由边说明指定。</a:t>
            </a:r>
          </a:p>
        </p:txBody>
      </p:sp>
      <p:sp>
        <p:nvSpPr>
          <p:cNvPr id="91" name="text-091: 配对端口表示图示连接；已有/规划状态见模块和连接表。方向与 A 版一致。虚线模块"/>
          <p:cNvSpPr txBox="1"/>
          <p:nvPr/>
        </p:nvSpPr>
        <p:spPr>
          <a:xfrm>
            <a:off x="213360" y="7444024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异域 IP 的配置、时钟复位与 IRQ 边界"/>
          <p:cNvSpPr txBox="1"/>
          <p:nvPr/>
        </p:nvSpPr>
        <p:spPr>
          <a:xfrm>
            <a:off x="213360" y="1613215"/>
            <a:ext cx="33881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异域 IP 的配置、时钟复位与 IRQ 边界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888236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325624"/>
            <a:ext cx="3893820" cy="119481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soc_clock  外部/组边界"/>
          <p:cNvSpPr txBox="1"/>
          <p:nvPr/>
        </p:nvSpPr>
        <p:spPr>
          <a:xfrm>
            <a:off x="309372" y="2353574"/>
            <a:ext cx="161940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soc_clock  外部/组边界</a:t>
            </a:r>
          </a:p>
        </p:txBody>
      </p:sp>
      <p:sp>
        <p:nvSpPr>
          <p:cNvPr id="6" name="text-006: clk_i / rst_ni"/>
          <p:cNvSpPr txBox="1"/>
          <p:nvPr/>
        </p:nvSpPr>
        <p:spPr>
          <a:xfrm>
            <a:off x="1486852" y="2522982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clk_i / rst_ni</a:t>
            </a:r>
          </a:p>
        </p:txBody>
      </p:sp>
      <p:sp>
        <p:nvSpPr>
          <p:cNvPr id="7" name="text-007: SoC 外部输入"/>
          <p:cNvSpPr txBox="1"/>
          <p:nvPr/>
        </p:nvSpPr>
        <p:spPr>
          <a:xfrm>
            <a:off x="1694078" y="2705191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外部输入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300304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31363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→ regbus"/>
          <p:cNvSpPr txBox="1"/>
          <p:nvPr/>
        </p:nvSpPr>
        <p:spPr>
          <a:xfrm>
            <a:off x="2717940" y="3046567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→ regbus</a:t>
            </a:r>
          </a:p>
        </p:txBody>
      </p:sp>
      <p:sp>
        <p:nvSpPr>
          <p:cNvPr id="11" name="E03-source"/>
          <p:cNvSpPr/>
          <p:nvPr/>
        </p:nvSpPr>
        <p:spPr>
          <a:xfrm>
            <a:off x="3915156" y="33230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3 → cdc"/>
          <p:cNvSpPr txBox="1"/>
          <p:nvPr/>
        </p:nvSpPr>
        <p:spPr>
          <a:xfrm>
            <a:off x="2957170" y="32332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cdc</a:t>
            </a:r>
          </a:p>
        </p:txBody>
      </p:sp>
      <p:sp>
        <p:nvSpPr>
          <p:cNvPr id="13" name="rect-013"/>
          <p:cNvSpPr/>
          <p:nvPr/>
        </p:nvSpPr>
        <p:spPr>
          <a:xfrm>
            <a:off x="213360" y="3733800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ip_engine  内部工作逻辑 · 规划/待确认"/>
          <p:cNvSpPr txBox="1"/>
          <p:nvPr/>
        </p:nvSpPr>
        <p:spPr>
          <a:xfrm>
            <a:off x="309372" y="3761750"/>
            <a:ext cx="255231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ip_engine  内部工作逻辑 · 规划/待确认</a:t>
            </a:r>
          </a:p>
        </p:txBody>
      </p:sp>
      <p:sp>
        <p:nvSpPr>
          <p:cNvPr id="15" name="text-015: IP 工作逻辑"/>
          <p:cNvSpPr txBox="1"/>
          <p:nvPr/>
        </p:nvSpPr>
        <p:spPr>
          <a:xfrm>
            <a:off x="1696879" y="3931158"/>
            <a:ext cx="9267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16" name="text-016: 计算 / 搬运（规划）"/>
          <p:cNvSpPr txBox="1"/>
          <p:nvPr/>
        </p:nvSpPr>
        <p:spPr>
          <a:xfrm>
            <a:off x="1488586" y="4113367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搬运（规划）</a:t>
            </a:r>
          </a:p>
        </p:txBody>
      </p:sp>
      <p:sp>
        <p:nvSpPr>
          <p:cNvPr id="17" name="rect-017"/>
          <p:cNvSpPr/>
          <p:nvPr/>
        </p:nvSpPr>
        <p:spPr>
          <a:xfrm>
            <a:off x="293370" y="441121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07-target"/>
          <p:cNvSpPr/>
          <p:nvPr/>
        </p:nvSpPr>
        <p:spPr>
          <a:xfrm>
            <a:off x="133350" y="45445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7 ← ip_clock"/>
          <p:cNvSpPr txBox="1"/>
          <p:nvPr/>
        </p:nvSpPr>
        <p:spPr>
          <a:xfrm>
            <a:off x="474726" y="4454743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ip_clock</a:t>
            </a:r>
          </a:p>
        </p:txBody>
      </p:sp>
      <p:sp>
        <p:nvSpPr>
          <p:cNvPr id="20" name="E08-target"/>
          <p:cNvSpPr/>
          <p:nvPr/>
        </p:nvSpPr>
        <p:spPr>
          <a:xfrm>
            <a:off x="133350" y="47312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8 ↔ ip_regs"/>
          <p:cNvSpPr txBox="1"/>
          <p:nvPr/>
        </p:nvSpPr>
        <p:spPr>
          <a:xfrm>
            <a:off x="474726" y="4641433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ip_regs</a:t>
            </a:r>
          </a:p>
        </p:txBody>
      </p:sp>
      <p:sp>
        <p:nvSpPr>
          <p:cNvPr id="22" name="E09-source"/>
          <p:cNvSpPr/>
          <p:nvPr/>
        </p:nvSpPr>
        <p:spPr>
          <a:xfrm>
            <a:off x="3915156" y="45445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9 → irq_state"/>
          <p:cNvSpPr txBox="1"/>
          <p:nvPr/>
        </p:nvSpPr>
        <p:spPr>
          <a:xfrm>
            <a:off x="2478710" y="4454743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irq_state</a:t>
            </a:r>
          </a:p>
        </p:txBody>
      </p:sp>
      <p:sp>
        <p:nvSpPr>
          <p:cNvPr id="24" name="rect-024"/>
          <p:cNvSpPr/>
          <p:nvPr/>
        </p:nvSpPr>
        <p:spPr>
          <a:xfrm>
            <a:off x="213360" y="5141976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irq_target  接口与配置"/>
          <p:cNvSpPr txBox="1"/>
          <p:nvPr/>
        </p:nvSpPr>
        <p:spPr>
          <a:xfrm>
            <a:off x="309372" y="5169926"/>
            <a:ext cx="161940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irq_target  接口与配置</a:t>
            </a:r>
          </a:p>
        </p:txBody>
      </p:sp>
      <p:sp>
        <p:nvSpPr>
          <p:cNvPr id="26" name="text-026: Router / PLIC / CLIC"/>
          <p:cNvSpPr txBox="1"/>
          <p:nvPr/>
        </p:nvSpPr>
        <p:spPr>
          <a:xfrm>
            <a:off x="1226820" y="5339334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Router / PLIC / CLIC</a:t>
            </a:r>
          </a:p>
        </p:txBody>
      </p:sp>
      <p:sp>
        <p:nvSpPr>
          <p:cNvPr id="27" name="text-027: 按 Cfg 选择目标"/>
          <p:cNvSpPr txBox="1"/>
          <p:nvPr/>
        </p:nvSpPr>
        <p:spPr>
          <a:xfrm>
            <a:off x="1592866" y="5521543"/>
            <a:ext cx="113480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Cfg 选择目标</a:t>
            </a:r>
          </a:p>
        </p:txBody>
      </p:sp>
      <p:sp>
        <p:nvSpPr>
          <p:cNvPr id="28" name="rect-028"/>
          <p:cNvSpPr/>
          <p:nvPr/>
        </p:nvSpPr>
        <p:spPr>
          <a:xfrm>
            <a:off x="293370" y="581939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11-target"/>
          <p:cNvSpPr/>
          <p:nvPr/>
        </p:nvSpPr>
        <p:spPr>
          <a:xfrm>
            <a:off x="133350" y="59527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11 ← irq_sync"/>
          <p:cNvSpPr txBox="1"/>
          <p:nvPr/>
        </p:nvSpPr>
        <p:spPr>
          <a:xfrm>
            <a:off x="474726" y="5862919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← irq_sync</a:t>
            </a:r>
          </a:p>
        </p:txBody>
      </p:sp>
      <p:sp>
        <p:nvSpPr>
          <p:cNvPr id="31" name="rect-031"/>
          <p:cNvSpPr/>
          <p:nvPr/>
        </p:nvSpPr>
        <p:spPr>
          <a:xfrm>
            <a:off x="4453890" y="2325624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regbus  接口与配置"/>
          <p:cNvSpPr txBox="1"/>
          <p:nvPr/>
        </p:nvSpPr>
        <p:spPr>
          <a:xfrm>
            <a:off x="4549902" y="2353574"/>
            <a:ext cx="131429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 接口与配置</a:t>
            </a:r>
          </a:p>
        </p:txBody>
      </p:sp>
      <p:sp>
        <p:nvSpPr>
          <p:cNvPr id="33" name="text-033: AXI → Reg / demux"/>
          <p:cNvSpPr txBox="1"/>
          <p:nvPr/>
        </p:nvSpPr>
        <p:spPr>
          <a:xfrm>
            <a:off x="5574030" y="2522982"/>
            <a:ext cx="16535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→ Reg / demux</a:t>
            </a:r>
          </a:p>
        </p:txBody>
      </p:sp>
      <p:sp>
        <p:nvSpPr>
          <p:cNvPr id="34" name="text-034: 现有配置通路"/>
          <p:cNvSpPr txBox="1"/>
          <p:nvPr/>
        </p:nvSpPr>
        <p:spPr>
          <a:xfrm>
            <a:off x="5971413" y="2705191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现有配置通路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300304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31363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← soc_clock"/>
          <p:cNvSpPr txBox="1"/>
          <p:nvPr/>
        </p:nvSpPr>
        <p:spPr>
          <a:xfrm>
            <a:off x="4715256" y="3046567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← soc_clock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31363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↔ cdc"/>
          <p:cNvSpPr txBox="1"/>
          <p:nvPr/>
        </p:nvSpPr>
        <p:spPr>
          <a:xfrm>
            <a:off x="7197700" y="30465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↔ cdc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3547110"/>
            <a:ext cx="3893820" cy="119481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ip_regs  接口与配置 · 规划/待确认"/>
          <p:cNvSpPr txBox="1"/>
          <p:nvPr/>
        </p:nvSpPr>
        <p:spPr>
          <a:xfrm>
            <a:off x="4549902" y="3575060"/>
            <a:ext cx="228241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ip_regs  接口与配置 · 规划/待确认</a:t>
            </a:r>
          </a:p>
        </p:txBody>
      </p:sp>
      <p:sp>
        <p:nvSpPr>
          <p:cNvPr id="42" name="text-042: IP 配置寄存器"/>
          <p:cNvSpPr txBox="1"/>
          <p:nvPr/>
        </p:nvSpPr>
        <p:spPr>
          <a:xfrm>
            <a:off x="5870734" y="3744468"/>
            <a:ext cx="10601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配置寄存器</a:t>
            </a:r>
          </a:p>
        </p:txBody>
      </p:sp>
      <p:sp>
        <p:nvSpPr>
          <p:cNvPr id="43" name="text-043: 命令 / 状态（规划）"/>
          <p:cNvSpPr txBox="1"/>
          <p:nvPr/>
        </p:nvSpPr>
        <p:spPr>
          <a:xfrm>
            <a:off x="5729116" y="3926677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状态（规划）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422452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4-target"/>
          <p:cNvSpPr/>
          <p:nvPr/>
        </p:nvSpPr>
        <p:spPr>
          <a:xfrm>
            <a:off x="4373880" y="435787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 ↔ cdc"/>
          <p:cNvSpPr txBox="1"/>
          <p:nvPr/>
        </p:nvSpPr>
        <p:spPr>
          <a:xfrm>
            <a:off x="4715256" y="426805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cdc</a:t>
            </a:r>
          </a:p>
        </p:txBody>
      </p:sp>
      <p:sp>
        <p:nvSpPr>
          <p:cNvPr id="47" name="E06-target"/>
          <p:cNvSpPr/>
          <p:nvPr/>
        </p:nvSpPr>
        <p:spPr>
          <a:xfrm>
            <a:off x="4373880" y="45445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6 ← ip_clock"/>
          <p:cNvSpPr txBox="1"/>
          <p:nvPr/>
        </p:nvSpPr>
        <p:spPr>
          <a:xfrm>
            <a:off x="4715256" y="4454743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ip_clock</a:t>
            </a:r>
          </a:p>
        </p:txBody>
      </p:sp>
      <p:sp>
        <p:nvSpPr>
          <p:cNvPr id="49" name="E08-source"/>
          <p:cNvSpPr/>
          <p:nvPr/>
        </p:nvSpPr>
        <p:spPr>
          <a:xfrm>
            <a:off x="8155686" y="435787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8 ↔ ip_engine"/>
          <p:cNvSpPr txBox="1"/>
          <p:nvPr/>
        </p:nvSpPr>
        <p:spPr>
          <a:xfrm>
            <a:off x="6719240" y="4268053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ip_engine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4955286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irq_sync  接口与配置"/>
          <p:cNvSpPr txBox="1"/>
          <p:nvPr/>
        </p:nvSpPr>
        <p:spPr>
          <a:xfrm>
            <a:off x="4549902" y="4983236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irq_sync  接口与配置</a:t>
            </a:r>
          </a:p>
        </p:txBody>
      </p:sp>
      <p:sp>
        <p:nvSpPr>
          <p:cNvPr id="53" name="text-053: i_ext_intr_sync"/>
          <p:cNvSpPr txBox="1"/>
          <p:nvPr/>
        </p:nvSpPr>
        <p:spPr>
          <a:xfrm>
            <a:off x="5684044" y="5152644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i_ext_intr_sync</a:t>
            </a:r>
          </a:p>
        </p:txBody>
      </p:sp>
      <p:sp>
        <p:nvSpPr>
          <p:cNvPr id="54" name="text-054: 外部 IRQ 同步"/>
          <p:cNvSpPr txBox="1"/>
          <p:nvPr/>
        </p:nvSpPr>
        <p:spPr>
          <a:xfrm>
            <a:off x="5894737" y="5334853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同步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563270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10-target"/>
          <p:cNvSpPr/>
          <p:nvPr/>
        </p:nvSpPr>
        <p:spPr>
          <a:xfrm>
            <a:off x="4373880" y="576605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10 ← irq_state"/>
          <p:cNvSpPr txBox="1"/>
          <p:nvPr/>
        </p:nvSpPr>
        <p:spPr>
          <a:xfrm>
            <a:off x="4715256" y="5676229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irq_state</a:t>
            </a:r>
          </a:p>
        </p:txBody>
      </p:sp>
      <p:sp>
        <p:nvSpPr>
          <p:cNvPr id="58" name="E11-source"/>
          <p:cNvSpPr/>
          <p:nvPr/>
        </p:nvSpPr>
        <p:spPr>
          <a:xfrm>
            <a:off x="8155686" y="576605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11 → irq_target"/>
          <p:cNvSpPr txBox="1"/>
          <p:nvPr/>
        </p:nvSpPr>
        <p:spPr>
          <a:xfrm>
            <a:off x="6639496" y="5676229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→ irq_target</a:t>
            </a:r>
          </a:p>
        </p:txBody>
      </p:sp>
      <p:sp>
        <p:nvSpPr>
          <p:cNvPr id="60" name="rect-060"/>
          <p:cNvSpPr/>
          <p:nvPr/>
        </p:nvSpPr>
        <p:spPr>
          <a:xfrm>
            <a:off x="8694420" y="2325624"/>
            <a:ext cx="3893820" cy="138150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cdc  接口与配置 · 规划/待确认"/>
          <p:cNvSpPr txBox="1"/>
          <p:nvPr/>
        </p:nvSpPr>
        <p:spPr>
          <a:xfrm>
            <a:off x="8790432" y="2353574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cdc  接口与配置 · 规划/待确认</a:t>
            </a:r>
          </a:p>
        </p:txBody>
      </p:sp>
      <p:sp>
        <p:nvSpPr>
          <p:cNvPr id="62" name="text-062: reg_cdc（拟增实例）"/>
          <p:cNvSpPr txBox="1"/>
          <p:nvPr/>
        </p:nvSpPr>
        <p:spPr>
          <a:xfrm>
            <a:off x="9871234" y="2522982"/>
            <a:ext cx="15401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reg_cdc（拟增实例）</a:t>
            </a:r>
          </a:p>
        </p:txBody>
      </p:sp>
      <p:sp>
        <p:nvSpPr>
          <p:cNvPr id="63" name="text-063: 请求与响应成组跨域"/>
          <p:cNvSpPr txBox="1"/>
          <p:nvPr/>
        </p:nvSpPr>
        <p:spPr>
          <a:xfrm>
            <a:off x="10027920" y="2705191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请求与响应成组跨域</a:t>
            </a:r>
          </a:p>
        </p:txBody>
      </p:sp>
      <p:sp>
        <p:nvSpPr>
          <p:cNvPr id="64" name="rect-064"/>
          <p:cNvSpPr/>
          <p:nvPr/>
        </p:nvSpPr>
        <p:spPr>
          <a:xfrm>
            <a:off x="8774430" y="300304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02-target"/>
          <p:cNvSpPr/>
          <p:nvPr/>
        </p:nvSpPr>
        <p:spPr>
          <a:xfrm>
            <a:off x="8614410" y="31363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2 ↔ regbus"/>
          <p:cNvSpPr txBox="1"/>
          <p:nvPr/>
        </p:nvSpPr>
        <p:spPr>
          <a:xfrm>
            <a:off x="8955786" y="3046567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↔ regbus</a:t>
            </a:r>
          </a:p>
        </p:txBody>
      </p:sp>
      <p:sp>
        <p:nvSpPr>
          <p:cNvPr id="67" name="E03-target"/>
          <p:cNvSpPr/>
          <p:nvPr/>
        </p:nvSpPr>
        <p:spPr>
          <a:xfrm>
            <a:off x="8614410" y="33230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3 ← soc_clock"/>
          <p:cNvSpPr txBox="1"/>
          <p:nvPr/>
        </p:nvSpPr>
        <p:spPr>
          <a:xfrm>
            <a:off x="8955786" y="3233257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soc_clock</a:t>
            </a:r>
          </a:p>
        </p:txBody>
      </p:sp>
      <p:sp>
        <p:nvSpPr>
          <p:cNvPr id="69" name="E05-target"/>
          <p:cNvSpPr/>
          <p:nvPr/>
        </p:nvSpPr>
        <p:spPr>
          <a:xfrm>
            <a:off x="8614410" y="35097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5 ← ip_clock"/>
          <p:cNvSpPr txBox="1"/>
          <p:nvPr/>
        </p:nvSpPr>
        <p:spPr>
          <a:xfrm>
            <a:off x="8955786" y="3419947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ip_clock</a:t>
            </a:r>
          </a:p>
        </p:txBody>
      </p:sp>
      <p:sp>
        <p:nvSpPr>
          <p:cNvPr id="71" name="E04-source"/>
          <p:cNvSpPr/>
          <p:nvPr/>
        </p:nvSpPr>
        <p:spPr>
          <a:xfrm>
            <a:off x="12396216" y="31363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4 ↔ ip_regs"/>
          <p:cNvSpPr txBox="1"/>
          <p:nvPr/>
        </p:nvSpPr>
        <p:spPr>
          <a:xfrm>
            <a:off x="11119256" y="3046567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ip_regs</a:t>
            </a:r>
          </a:p>
        </p:txBody>
      </p:sp>
      <p:sp>
        <p:nvSpPr>
          <p:cNvPr id="73" name="rect-073"/>
          <p:cNvSpPr/>
          <p:nvPr/>
        </p:nvSpPr>
        <p:spPr>
          <a:xfrm>
            <a:off x="8694420" y="3920490"/>
            <a:ext cx="3893820" cy="138150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ip_clock  外部/组边界 · 规划/待确认"/>
          <p:cNvSpPr txBox="1"/>
          <p:nvPr/>
        </p:nvSpPr>
        <p:spPr>
          <a:xfrm>
            <a:off x="8790432" y="3948440"/>
            <a:ext cx="243497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ip_clock  外部/组边界 · 规划/待确认</a:t>
            </a:r>
          </a:p>
        </p:txBody>
      </p:sp>
      <p:sp>
        <p:nvSpPr>
          <p:cNvPr id="75" name="text-075: IP 时钟 / 复位"/>
          <p:cNvSpPr txBox="1"/>
          <p:nvPr/>
        </p:nvSpPr>
        <p:spPr>
          <a:xfrm>
            <a:off x="10047922" y="4117848"/>
            <a:ext cx="11868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时钟 / 复位</a:t>
            </a:r>
          </a:p>
        </p:txBody>
      </p:sp>
      <p:sp>
        <p:nvSpPr>
          <p:cNvPr id="76" name="text-076: 平台域划分待定"/>
          <p:cNvSpPr txBox="1"/>
          <p:nvPr/>
        </p:nvSpPr>
        <p:spPr>
          <a:xfrm>
            <a:off x="10150602" y="4300057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平台域划分待定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459790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5-source"/>
          <p:cNvSpPr/>
          <p:nvPr/>
        </p:nvSpPr>
        <p:spPr>
          <a:xfrm>
            <a:off x="12396216" y="47312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5 → cdc"/>
          <p:cNvSpPr txBox="1"/>
          <p:nvPr/>
        </p:nvSpPr>
        <p:spPr>
          <a:xfrm>
            <a:off x="11438230" y="46414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cdc</a:t>
            </a:r>
          </a:p>
        </p:txBody>
      </p:sp>
      <p:sp>
        <p:nvSpPr>
          <p:cNvPr id="80" name="E06-source"/>
          <p:cNvSpPr/>
          <p:nvPr/>
        </p:nvSpPr>
        <p:spPr>
          <a:xfrm>
            <a:off x="12396216" y="49179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6 → ip_regs"/>
          <p:cNvSpPr txBox="1"/>
          <p:nvPr/>
        </p:nvSpPr>
        <p:spPr>
          <a:xfrm>
            <a:off x="11119256" y="4828123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ip_regs</a:t>
            </a:r>
          </a:p>
        </p:txBody>
      </p:sp>
      <p:sp>
        <p:nvSpPr>
          <p:cNvPr id="82" name="E07-source"/>
          <p:cNvSpPr/>
          <p:nvPr/>
        </p:nvSpPr>
        <p:spPr>
          <a:xfrm>
            <a:off x="12396216" y="51046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7 → ip_engine"/>
          <p:cNvSpPr txBox="1"/>
          <p:nvPr/>
        </p:nvSpPr>
        <p:spPr>
          <a:xfrm>
            <a:off x="10959770" y="5014813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ip_engine</a:t>
            </a:r>
          </a:p>
        </p:txBody>
      </p:sp>
      <p:sp>
        <p:nvSpPr>
          <p:cNvPr id="84" name="rect-084"/>
          <p:cNvSpPr/>
          <p:nvPr/>
        </p:nvSpPr>
        <p:spPr>
          <a:xfrm>
            <a:off x="8694420" y="5515356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irq_state  接口与配置 · 规划/待确认"/>
          <p:cNvSpPr txBox="1"/>
          <p:nvPr/>
        </p:nvSpPr>
        <p:spPr>
          <a:xfrm>
            <a:off x="8790432" y="5543306"/>
            <a:ext cx="243497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irq_state  接口与配置 · 规划/待确认</a:t>
            </a:r>
          </a:p>
        </p:txBody>
      </p:sp>
      <p:sp>
        <p:nvSpPr>
          <p:cNvPr id="86" name="text-086: IP IRQ 状态保持"/>
          <p:cNvSpPr txBox="1"/>
          <p:nvPr/>
        </p:nvSpPr>
        <p:spPr>
          <a:xfrm>
            <a:off x="10004584" y="5712714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IRQ 状态保持</a:t>
            </a:r>
          </a:p>
        </p:txBody>
      </p:sp>
      <p:sp>
        <p:nvSpPr>
          <p:cNvPr id="87" name="text-087: 原因记录 / 软件清除"/>
          <p:cNvSpPr txBox="1"/>
          <p:nvPr/>
        </p:nvSpPr>
        <p:spPr>
          <a:xfrm>
            <a:off x="9969646" y="5894923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原因记录 / 软件清除</a:t>
            </a:r>
          </a:p>
        </p:txBody>
      </p:sp>
      <p:sp>
        <p:nvSpPr>
          <p:cNvPr id="88" name="rect-088"/>
          <p:cNvSpPr/>
          <p:nvPr/>
        </p:nvSpPr>
        <p:spPr>
          <a:xfrm>
            <a:off x="8774430" y="619277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E09-target"/>
          <p:cNvSpPr/>
          <p:nvPr/>
        </p:nvSpPr>
        <p:spPr>
          <a:xfrm>
            <a:off x="8614410" y="63261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E09 ← ip_engine"/>
          <p:cNvSpPr txBox="1"/>
          <p:nvPr/>
        </p:nvSpPr>
        <p:spPr>
          <a:xfrm>
            <a:off x="8955786" y="6236299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ip_engine</a:t>
            </a:r>
          </a:p>
        </p:txBody>
      </p:sp>
      <p:sp>
        <p:nvSpPr>
          <p:cNvPr id="91" name="E10-source"/>
          <p:cNvSpPr/>
          <p:nvPr/>
        </p:nvSpPr>
        <p:spPr>
          <a:xfrm>
            <a:off x="12396216" y="63261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E10 → irq_sync"/>
          <p:cNvSpPr txBox="1"/>
          <p:nvPr/>
        </p:nvSpPr>
        <p:spPr>
          <a:xfrm>
            <a:off x="11039513" y="6236299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irq_sync</a:t>
            </a:r>
          </a:p>
        </p:txBody>
      </p:sp>
      <p:sp>
        <p:nvSpPr>
          <p:cNvPr id="93" name="text-093: 候选接法：寄存器银行位于 IP 域。reg_cdc 源码已有，图中接入实例未实现"/>
          <p:cNvSpPr txBox="1"/>
          <p:nvPr/>
        </p:nvSpPr>
        <p:spPr>
          <a:xfrm>
            <a:off x="213360" y="6657685"/>
            <a:ext cx="650828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候选接法：寄存器银行位于 IP 域。reg_cdc 源码已有，图中接入实例未实现；本图不规定 PLL 频率或域划分。</a:t>
            </a:r>
          </a:p>
        </p:txBody>
      </p:sp>
      <p:sp>
        <p:nvSpPr>
          <p:cNvPr id="94" name="text-094: 配对端口表示图示连接；已有/规划状态见模块和连接表。方向与 A 版一致。虚线模块"/>
          <p:cNvSpPr txBox="1"/>
          <p:nvPr/>
        </p:nvSpPr>
        <p:spPr>
          <a:xfrm>
            <a:off x="213360" y="7206661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规划图像链与 DDR / GB 搬运职责"/>
          <p:cNvSpPr txBox="1"/>
          <p:nvPr/>
        </p:nvSpPr>
        <p:spPr>
          <a:xfrm>
            <a:off x="213360" y="1282507"/>
            <a:ext cx="29870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规划图像链与 DDR / GB 搬运职责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557528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994916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lvds  内部工作逻辑 · 规划/待确认"/>
          <p:cNvSpPr txBox="1"/>
          <p:nvPr/>
        </p:nvSpPr>
        <p:spPr>
          <a:xfrm>
            <a:off x="309372" y="2022866"/>
            <a:ext cx="217093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lvds  内部工作逻辑 · 规划/待确认</a:t>
            </a:r>
          </a:p>
        </p:txBody>
      </p:sp>
      <p:sp>
        <p:nvSpPr>
          <p:cNvPr id="6" name="text-006: LVDS 接收前端"/>
          <p:cNvSpPr txBox="1"/>
          <p:nvPr/>
        </p:nvSpPr>
        <p:spPr>
          <a:xfrm>
            <a:off x="1610201" y="2192274"/>
            <a:ext cx="11001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LVDS 接收前端</a:t>
            </a:r>
          </a:p>
        </p:txBody>
      </p:sp>
      <p:sp>
        <p:nvSpPr>
          <p:cNvPr id="7" name="text-007: 解串 / 字行帧对齐"/>
          <p:cNvSpPr txBox="1"/>
          <p:nvPr/>
        </p:nvSpPr>
        <p:spPr>
          <a:xfrm>
            <a:off x="1549927" y="2374483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解串 / 字行帧对齐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67233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→ fifo"/>
          <p:cNvSpPr txBox="1"/>
          <p:nvPr/>
        </p:nvSpPr>
        <p:spPr>
          <a:xfrm>
            <a:off x="2877426" y="2715859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fifo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3216402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frame_dma  内部工作逻辑 · 规划/待确认"/>
          <p:cNvSpPr txBox="1"/>
          <p:nvPr/>
        </p:nvSpPr>
        <p:spPr>
          <a:xfrm>
            <a:off x="309372" y="3244352"/>
            <a:ext cx="255231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frame_dma  内部工作逻辑 · 规划/待确认</a:t>
            </a:r>
          </a:p>
        </p:txBody>
      </p:sp>
      <p:sp>
        <p:nvSpPr>
          <p:cNvPr id="13" name="text-013: 帧写入 DMA"/>
          <p:cNvSpPr txBox="1"/>
          <p:nvPr/>
        </p:nvSpPr>
        <p:spPr>
          <a:xfrm>
            <a:off x="1720215" y="3413760"/>
            <a:ext cx="8801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帧写入 DMA</a:t>
            </a:r>
          </a:p>
        </p:txBody>
      </p:sp>
      <p:sp>
        <p:nvSpPr>
          <p:cNvPr id="14" name="text-014: 地址 / W打包 / B计数"/>
          <p:cNvSpPr txBox="1"/>
          <p:nvPr/>
        </p:nvSpPr>
        <p:spPr>
          <a:xfrm>
            <a:off x="1411910" y="3595969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W打包 / B计数</a:t>
            </a:r>
          </a:p>
        </p:txBody>
      </p:sp>
      <p:sp>
        <p:nvSpPr>
          <p:cNvPr id="15" name="rect-015"/>
          <p:cNvSpPr/>
          <p:nvPr/>
        </p:nvSpPr>
        <p:spPr>
          <a:xfrm>
            <a:off x="293370" y="389382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03-target"/>
          <p:cNvSpPr/>
          <p:nvPr/>
        </p:nvSpPr>
        <p:spPr>
          <a:xfrm>
            <a:off x="133350" y="40271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3 ← isp"/>
          <p:cNvSpPr txBox="1"/>
          <p:nvPr/>
        </p:nvSpPr>
        <p:spPr>
          <a:xfrm>
            <a:off x="474726" y="39373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isp</a:t>
            </a:r>
          </a:p>
        </p:txBody>
      </p:sp>
      <p:sp>
        <p:nvSpPr>
          <p:cNvPr id="18" name="E04-source"/>
          <p:cNvSpPr/>
          <p:nvPr/>
        </p:nvSpPr>
        <p:spPr>
          <a:xfrm>
            <a:off x="3915156" y="40271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4 ↔ ddr"/>
          <p:cNvSpPr txBox="1"/>
          <p:nvPr/>
        </p:nvSpPr>
        <p:spPr>
          <a:xfrm>
            <a:off x="2957170" y="39373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ddr</a:t>
            </a:r>
          </a:p>
        </p:txBody>
      </p:sp>
      <p:sp>
        <p:nvSpPr>
          <p:cNvPr id="20" name="rect-020"/>
          <p:cNvSpPr/>
          <p:nvPr/>
        </p:nvSpPr>
        <p:spPr>
          <a:xfrm>
            <a:off x="213360" y="4437888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move  内部工作逻辑 · 规划/待确认"/>
          <p:cNvSpPr txBox="1"/>
          <p:nvPr/>
        </p:nvSpPr>
        <p:spPr>
          <a:xfrm>
            <a:off x="309372" y="4465838"/>
            <a:ext cx="217093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move  内部工作逻辑 · 规划/待确认</a:t>
            </a:r>
          </a:p>
        </p:txBody>
      </p:sp>
      <p:sp>
        <p:nvSpPr>
          <p:cNvPr id="22" name="text-022: NPU / GB 搬运器"/>
          <p:cNvSpPr txBox="1"/>
          <p:nvPr/>
        </p:nvSpPr>
        <p:spPr>
          <a:xfrm>
            <a:off x="1503521" y="4635246"/>
            <a:ext cx="13134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GB 搬运器</a:t>
            </a:r>
          </a:p>
        </p:txBody>
      </p:sp>
      <p:sp>
        <p:nvSpPr>
          <p:cNvPr id="23" name="text-023: DDR ↔ GB 显式搬运"/>
          <p:cNvSpPr txBox="1"/>
          <p:nvPr/>
        </p:nvSpPr>
        <p:spPr>
          <a:xfrm>
            <a:off x="1473251" y="4817455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↔ GB 显式搬运</a:t>
            </a:r>
          </a:p>
        </p:txBody>
      </p:sp>
      <p:sp>
        <p:nvSpPr>
          <p:cNvPr id="24" name="rect-024"/>
          <p:cNvSpPr/>
          <p:nvPr/>
        </p:nvSpPr>
        <p:spPr>
          <a:xfrm>
            <a:off x="293370" y="511530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06-source"/>
          <p:cNvSpPr/>
          <p:nvPr/>
        </p:nvSpPr>
        <p:spPr>
          <a:xfrm>
            <a:off x="3915156" y="524865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6 ↔ ddr"/>
          <p:cNvSpPr txBox="1"/>
          <p:nvPr/>
        </p:nvSpPr>
        <p:spPr>
          <a:xfrm>
            <a:off x="2957170" y="515883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ddr</a:t>
            </a:r>
          </a:p>
        </p:txBody>
      </p:sp>
      <p:sp>
        <p:nvSpPr>
          <p:cNvPr id="27" name="E07-source"/>
          <p:cNvSpPr/>
          <p:nvPr/>
        </p:nvSpPr>
        <p:spPr>
          <a:xfrm>
            <a:off x="3915156" y="54353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7 ↔ gb_adapt"/>
          <p:cNvSpPr txBox="1"/>
          <p:nvPr/>
        </p:nvSpPr>
        <p:spPr>
          <a:xfrm>
            <a:off x="2558453" y="5345521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gb_adapt</a:t>
            </a:r>
          </a:p>
        </p:txBody>
      </p:sp>
      <p:sp>
        <p:nvSpPr>
          <p:cNvPr id="29" name="rect-029"/>
          <p:cNvSpPr/>
          <p:nvPr/>
        </p:nvSpPr>
        <p:spPr>
          <a:xfrm>
            <a:off x="213360" y="5846064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npu  内部工作逻辑 · 规划/待确认"/>
          <p:cNvSpPr txBox="1"/>
          <p:nvPr/>
        </p:nvSpPr>
        <p:spPr>
          <a:xfrm>
            <a:off x="309372" y="5874014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npu  内部工作逻辑 · 规划/待确认</a:t>
            </a:r>
          </a:p>
        </p:txBody>
      </p:sp>
      <p:sp>
        <p:nvSpPr>
          <p:cNvPr id="31" name="text-031: NPU 计算引擎"/>
          <p:cNvSpPr txBox="1"/>
          <p:nvPr/>
        </p:nvSpPr>
        <p:spPr>
          <a:xfrm>
            <a:off x="1653540" y="6043422"/>
            <a:ext cx="101346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计算引擎</a:t>
            </a:r>
          </a:p>
        </p:txBody>
      </p:sp>
      <p:sp>
        <p:nvSpPr>
          <p:cNvPr id="32" name="text-032: 消费 / 产生局部数据"/>
          <p:cNvSpPr txBox="1"/>
          <p:nvPr/>
        </p:nvSpPr>
        <p:spPr>
          <a:xfrm>
            <a:off x="1488586" y="6225631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 / 产生局部数据</a:t>
            </a:r>
          </a:p>
        </p:txBody>
      </p:sp>
      <p:sp>
        <p:nvSpPr>
          <p:cNvPr id="33" name="rect-033"/>
          <p:cNvSpPr/>
          <p:nvPr/>
        </p:nvSpPr>
        <p:spPr>
          <a:xfrm>
            <a:off x="293370" y="652348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8-source"/>
          <p:cNvSpPr/>
          <p:nvPr/>
        </p:nvSpPr>
        <p:spPr>
          <a:xfrm>
            <a:off x="3915156" y="665683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8 ↔ gb_adapt"/>
          <p:cNvSpPr txBox="1"/>
          <p:nvPr/>
        </p:nvSpPr>
        <p:spPr>
          <a:xfrm>
            <a:off x="2558453" y="6567007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gb_adapt</a:t>
            </a:r>
          </a:p>
        </p:txBody>
      </p:sp>
      <p:sp>
        <p:nvSpPr>
          <p:cNvPr id="36" name="rect-036"/>
          <p:cNvSpPr/>
          <p:nvPr/>
        </p:nvSpPr>
        <p:spPr>
          <a:xfrm>
            <a:off x="4453890" y="1994916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fifo  内部工作逻辑 · 规划/待确认"/>
          <p:cNvSpPr txBox="1"/>
          <p:nvPr/>
        </p:nvSpPr>
        <p:spPr>
          <a:xfrm>
            <a:off x="4549902" y="2022866"/>
            <a:ext cx="217093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fifo  内部工作逻辑 · 规划/待确认</a:t>
            </a:r>
          </a:p>
        </p:txBody>
      </p:sp>
      <p:sp>
        <p:nvSpPr>
          <p:cNvPr id="38" name="text-038: 打包 / CDC FIFO"/>
          <p:cNvSpPr txBox="1"/>
          <p:nvPr/>
        </p:nvSpPr>
        <p:spPr>
          <a:xfrm>
            <a:off x="5724049" y="2192274"/>
            <a:ext cx="13535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打包 / CDC FIFO</a:t>
            </a:r>
          </a:p>
        </p:txBody>
      </p:sp>
      <p:sp>
        <p:nvSpPr>
          <p:cNvPr id="39" name="text-039: 像素与同步标志配对"/>
          <p:cNvSpPr txBox="1"/>
          <p:nvPr/>
        </p:nvSpPr>
        <p:spPr>
          <a:xfrm>
            <a:off x="5787390" y="2374483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像素与同步标志配对</a:t>
            </a:r>
          </a:p>
        </p:txBody>
      </p:sp>
      <p:sp>
        <p:nvSpPr>
          <p:cNvPr id="40" name="rect-040"/>
          <p:cNvSpPr/>
          <p:nvPr/>
        </p:nvSpPr>
        <p:spPr>
          <a:xfrm>
            <a:off x="4533900" y="267233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1-target"/>
          <p:cNvSpPr/>
          <p:nvPr/>
        </p:nvSpPr>
        <p:spPr>
          <a:xfrm>
            <a:off x="4373880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1 ← lvds"/>
          <p:cNvSpPr txBox="1"/>
          <p:nvPr/>
        </p:nvSpPr>
        <p:spPr>
          <a:xfrm>
            <a:off x="4715256" y="2715859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lvds</a:t>
            </a:r>
          </a:p>
        </p:txBody>
      </p:sp>
      <p:sp>
        <p:nvSpPr>
          <p:cNvPr id="43" name="E02-source"/>
          <p:cNvSpPr/>
          <p:nvPr/>
        </p:nvSpPr>
        <p:spPr>
          <a:xfrm>
            <a:off x="8155686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2 → isp"/>
          <p:cNvSpPr txBox="1"/>
          <p:nvPr/>
        </p:nvSpPr>
        <p:spPr>
          <a:xfrm>
            <a:off x="7197700" y="27158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isp</a:t>
            </a:r>
          </a:p>
        </p:txBody>
      </p:sp>
      <p:sp>
        <p:nvSpPr>
          <p:cNvPr id="45" name="rect-045"/>
          <p:cNvSpPr/>
          <p:nvPr/>
        </p:nvSpPr>
        <p:spPr>
          <a:xfrm>
            <a:off x="4453890" y="3216402"/>
            <a:ext cx="3893820" cy="138150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ddr  外部/组边界 · 规划/待确认"/>
          <p:cNvSpPr txBox="1"/>
          <p:nvPr/>
        </p:nvSpPr>
        <p:spPr>
          <a:xfrm>
            <a:off x="4549902" y="3244352"/>
            <a:ext cx="205359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ddr  外部/组边界 · 规划/待确认</a:t>
            </a:r>
          </a:p>
        </p:txBody>
      </p:sp>
      <p:sp>
        <p:nvSpPr>
          <p:cNvPr id="47" name="text-047: DDR Controller / PHY"/>
          <p:cNvSpPr txBox="1"/>
          <p:nvPr/>
        </p:nvSpPr>
        <p:spPr>
          <a:xfrm>
            <a:off x="5467350" y="3413760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Controller / PHY</a:t>
            </a:r>
          </a:p>
        </p:txBody>
      </p:sp>
      <p:sp>
        <p:nvSpPr>
          <p:cNvPr id="48" name="text-048: 端口 / 训练 / 仲裁待定"/>
          <p:cNvSpPr txBox="1"/>
          <p:nvPr/>
        </p:nvSpPr>
        <p:spPr>
          <a:xfrm>
            <a:off x="5609501" y="3595969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端口 / 训练 / 仲裁待定</a:t>
            </a:r>
          </a:p>
        </p:txBody>
      </p:sp>
      <p:sp>
        <p:nvSpPr>
          <p:cNvPr id="49" name="rect-049"/>
          <p:cNvSpPr/>
          <p:nvPr/>
        </p:nvSpPr>
        <p:spPr>
          <a:xfrm>
            <a:off x="4533900" y="3893820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04-target"/>
          <p:cNvSpPr/>
          <p:nvPr/>
        </p:nvSpPr>
        <p:spPr>
          <a:xfrm>
            <a:off x="4373880" y="40271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 ↔ frame_dma"/>
          <p:cNvSpPr txBox="1"/>
          <p:nvPr/>
        </p:nvSpPr>
        <p:spPr>
          <a:xfrm>
            <a:off x="4715256" y="3937345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frame_dma</a:t>
            </a:r>
          </a:p>
        </p:txBody>
      </p:sp>
      <p:sp>
        <p:nvSpPr>
          <p:cNvPr id="52" name="E05-target"/>
          <p:cNvSpPr/>
          <p:nvPr/>
        </p:nvSpPr>
        <p:spPr>
          <a:xfrm>
            <a:off x="4373880" y="42138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 ↔ llc_out"/>
          <p:cNvSpPr txBox="1"/>
          <p:nvPr/>
        </p:nvSpPr>
        <p:spPr>
          <a:xfrm>
            <a:off x="4715256" y="4124035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llc_out</a:t>
            </a:r>
          </a:p>
        </p:txBody>
      </p:sp>
      <p:sp>
        <p:nvSpPr>
          <p:cNvPr id="54" name="E06-target"/>
          <p:cNvSpPr/>
          <p:nvPr/>
        </p:nvSpPr>
        <p:spPr>
          <a:xfrm>
            <a:off x="4373880" y="44005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 ↔ move"/>
          <p:cNvSpPr txBox="1"/>
          <p:nvPr/>
        </p:nvSpPr>
        <p:spPr>
          <a:xfrm>
            <a:off x="4715256" y="4310725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move</a:t>
            </a:r>
          </a:p>
        </p:txBody>
      </p:sp>
      <p:sp>
        <p:nvSpPr>
          <p:cNvPr id="56" name="rect-056"/>
          <p:cNvSpPr/>
          <p:nvPr/>
        </p:nvSpPr>
        <p:spPr>
          <a:xfrm>
            <a:off x="4453890" y="4811268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gb  状态/存储 · 规划/待确认"/>
          <p:cNvSpPr txBox="1"/>
          <p:nvPr/>
        </p:nvSpPr>
        <p:spPr>
          <a:xfrm>
            <a:off x="4549902" y="4839218"/>
            <a:ext cx="1859966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gb  状态/存储 · 规划/待确认</a:t>
            </a:r>
          </a:p>
        </p:txBody>
      </p:sp>
      <p:sp>
        <p:nvSpPr>
          <p:cNvPr id="58" name="text-058: Global Buffer"/>
          <p:cNvSpPr txBox="1"/>
          <p:nvPr/>
        </p:nvSpPr>
        <p:spPr>
          <a:xfrm>
            <a:off x="5770721" y="5008626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Global Buffer</a:t>
            </a:r>
          </a:p>
        </p:txBody>
      </p:sp>
      <p:sp>
        <p:nvSpPr>
          <p:cNvPr id="59" name="text-059: 独立 SRAM；容量待定"/>
          <p:cNvSpPr txBox="1"/>
          <p:nvPr/>
        </p:nvSpPr>
        <p:spPr>
          <a:xfrm>
            <a:off x="5710714" y="5190835"/>
            <a:ext cx="13801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SRAM；容量待定</a:t>
            </a:r>
          </a:p>
        </p:txBody>
      </p:sp>
      <p:sp>
        <p:nvSpPr>
          <p:cNvPr id="60" name="rect-060"/>
          <p:cNvSpPr/>
          <p:nvPr/>
        </p:nvSpPr>
        <p:spPr>
          <a:xfrm>
            <a:off x="4533900" y="548868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10-target"/>
          <p:cNvSpPr/>
          <p:nvPr/>
        </p:nvSpPr>
        <p:spPr>
          <a:xfrm>
            <a:off x="4373880" y="56220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10 ↔ gb_adapt"/>
          <p:cNvSpPr txBox="1"/>
          <p:nvPr/>
        </p:nvSpPr>
        <p:spPr>
          <a:xfrm>
            <a:off x="4715256" y="5532211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gb_adapt</a:t>
            </a:r>
          </a:p>
        </p:txBody>
      </p:sp>
      <p:sp>
        <p:nvSpPr>
          <p:cNvPr id="63" name="rect-063"/>
          <p:cNvSpPr/>
          <p:nvPr/>
        </p:nvSpPr>
        <p:spPr>
          <a:xfrm>
            <a:off x="8694420" y="1994916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isp  内部工作逻辑 · 规划/待确认"/>
          <p:cNvSpPr txBox="1"/>
          <p:nvPr/>
        </p:nvSpPr>
        <p:spPr>
          <a:xfrm>
            <a:off x="8790432" y="2022866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isp  内部工作逻辑 · 规划/待确认</a:t>
            </a:r>
          </a:p>
        </p:txBody>
      </p:sp>
      <p:sp>
        <p:nvSpPr>
          <p:cNvPr id="65" name="text-065: ISP / RAW 选择组"/>
          <p:cNvSpPr txBox="1"/>
          <p:nvPr/>
        </p:nvSpPr>
        <p:spPr>
          <a:xfrm>
            <a:off x="9941242" y="2192274"/>
            <a:ext cx="140017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ISP / RAW 选择组</a:t>
            </a:r>
          </a:p>
        </p:txBody>
      </p:sp>
      <p:sp>
        <p:nvSpPr>
          <p:cNvPr id="66" name="text-066: 帧边界选择一路输出"/>
          <p:cNvSpPr txBox="1"/>
          <p:nvPr/>
        </p:nvSpPr>
        <p:spPr>
          <a:xfrm>
            <a:off x="10027920" y="2374483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帧边界选择一路输出</a:t>
            </a:r>
          </a:p>
        </p:txBody>
      </p:sp>
      <p:sp>
        <p:nvSpPr>
          <p:cNvPr id="67" name="rect-067"/>
          <p:cNvSpPr/>
          <p:nvPr/>
        </p:nvSpPr>
        <p:spPr>
          <a:xfrm>
            <a:off x="8774430" y="267233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E02-target"/>
          <p:cNvSpPr/>
          <p:nvPr/>
        </p:nvSpPr>
        <p:spPr>
          <a:xfrm>
            <a:off x="8614410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2 ← fifo"/>
          <p:cNvSpPr txBox="1"/>
          <p:nvPr/>
        </p:nvSpPr>
        <p:spPr>
          <a:xfrm>
            <a:off x="8955786" y="2715859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fifo</a:t>
            </a:r>
          </a:p>
        </p:txBody>
      </p:sp>
      <p:sp>
        <p:nvSpPr>
          <p:cNvPr id="70" name="E03-source"/>
          <p:cNvSpPr/>
          <p:nvPr/>
        </p:nvSpPr>
        <p:spPr>
          <a:xfrm>
            <a:off x="12396216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3 → frame_dma"/>
          <p:cNvSpPr txBox="1"/>
          <p:nvPr/>
        </p:nvSpPr>
        <p:spPr>
          <a:xfrm>
            <a:off x="10959770" y="2715859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frame_dma</a:t>
            </a:r>
          </a:p>
        </p:txBody>
      </p:sp>
      <p:sp>
        <p:nvSpPr>
          <p:cNvPr id="72" name="E09-source"/>
          <p:cNvSpPr/>
          <p:nvPr/>
        </p:nvSpPr>
        <p:spPr>
          <a:xfrm>
            <a:off x="12396216" y="29923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9 ↔ gb_adapt"/>
          <p:cNvSpPr txBox="1"/>
          <p:nvPr/>
        </p:nvSpPr>
        <p:spPr>
          <a:xfrm>
            <a:off x="11039513" y="2902549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gb_adapt</a:t>
            </a:r>
          </a:p>
        </p:txBody>
      </p:sp>
      <p:sp>
        <p:nvSpPr>
          <p:cNvPr id="74" name="rect-074"/>
          <p:cNvSpPr/>
          <p:nvPr/>
        </p:nvSpPr>
        <p:spPr>
          <a:xfrm>
            <a:off x="8694420" y="3403092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llc_out  外部/组边界"/>
          <p:cNvSpPr txBox="1"/>
          <p:nvPr/>
        </p:nvSpPr>
        <p:spPr>
          <a:xfrm>
            <a:off x="8790432" y="3431042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llc_out  外部/组边界</a:t>
            </a:r>
          </a:p>
        </p:txBody>
      </p:sp>
      <p:sp>
        <p:nvSpPr>
          <p:cNvPr id="76" name="text-076: 现有 LLC 外存出口"/>
          <p:cNvSpPr txBox="1"/>
          <p:nvPr/>
        </p:nvSpPr>
        <p:spPr>
          <a:xfrm>
            <a:off x="9957911" y="3600450"/>
            <a:ext cx="13668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LLC 外存出口</a:t>
            </a:r>
          </a:p>
        </p:txBody>
      </p:sp>
      <p:sp>
        <p:nvSpPr>
          <p:cNvPr id="77" name="text-077: axi_llc_mst_*"/>
          <p:cNvSpPr txBox="1"/>
          <p:nvPr/>
        </p:nvSpPr>
        <p:spPr>
          <a:xfrm>
            <a:off x="10061658" y="3782659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408051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5-source"/>
          <p:cNvSpPr/>
          <p:nvPr/>
        </p:nvSpPr>
        <p:spPr>
          <a:xfrm>
            <a:off x="12396216" y="42138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5 ↔ ddr"/>
          <p:cNvSpPr txBox="1"/>
          <p:nvPr/>
        </p:nvSpPr>
        <p:spPr>
          <a:xfrm>
            <a:off x="11438230" y="41240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ddr</a:t>
            </a:r>
          </a:p>
        </p:txBody>
      </p:sp>
      <p:sp>
        <p:nvSpPr>
          <p:cNvPr id="81" name="rect-081"/>
          <p:cNvSpPr/>
          <p:nvPr/>
        </p:nvSpPr>
        <p:spPr>
          <a:xfrm>
            <a:off x="8694420" y="4624578"/>
            <a:ext cx="3893820" cy="138150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gb_adapt  内部工作逻辑 · 规划/待确认"/>
          <p:cNvSpPr txBox="1"/>
          <p:nvPr/>
        </p:nvSpPr>
        <p:spPr>
          <a:xfrm>
            <a:off x="8790432" y="4652528"/>
            <a:ext cx="2476043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gb_adapt  内部工作逻辑 · 规划/待确认</a:t>
            </a:r>
          </a:p>
        </p:txBody>
      </p:sp>
      <p:sp>
        <p:nvSpPr>
          <p:cNvPr id="83" name="text-083: GB 访问适配"/>
          <p:cNvSpPr txBox="1"/>
          <p:nvPr/>
        </p:nvSpPr>
        <p:spPr>
          <a:xfrm>
            <a:off x="10177939" y="4821936"/>
            <a:ext cx="9267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GB 访问适配</a:t>
            </a:r>
          </a:p>
        </p:txBody>
      </p:sp>
      <p:sp>
        <p:nvSpPr>
          <p:cNvPr id="84" name="text-084: 局部仲裁 / bank 路由"/>
          <p:cNvSpPr txBox="1"/>
          <p:nvPr/>
        </p:nvSpPr>
        <p:spPr>
          <a:xfrm>
            <a:off x="9892970" y="5004145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局部仲裁 / bank 路由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5301996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7-target"/>
          <p:cNvSpPr/>
          <p:nvPr/>
        </p:nvSpPr>
        <p:spPr>
          <a:xfrm>
            <a:off x="8614410" y="54353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7 ↔ move"/>
          <p:cNvSpPr txBox="1"/>
          <p:nvPr/>
        </p:nvSpPr>
        <p:spPr>
          <a:xfrm>
            <a:off x="8955786" y="5345521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move</a:t>
            </a:r>
          </a:p>
        </p:txBody>
      </p:sp>
      <p:sp>
        <p:nvSpPr>
          <p:cNvPr id="88" name="E08-target"/>
          <p:cNvSpPr/>
          <p:nvPr/>
        </p:nvSpPr>
        <p:spPr>
          <a:xfrm>
            <a:off x="8614410" y="56220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E08 ↔ npu"/>
          <p:cNvSpPr txBox="1"/>
          <p:nvPr/>
        </p:nvSpPr>
        <p:spPr>
          <a:xfrm>
            <a:off x="8955786" y="55322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npu</a:t>
            </a:r>
          </a:p>
        </p:txBody>
      </p:sp>
      <p:sp>
        <p:nvSpPr>
          <p:cNvPr id="90" name="E09-target"/>
          <p:cNvSpPr/>
          <p:nvPr/>
        </p:nvSpPr>
        <p:spPr>
          <a:xfrm>
            <a:off x="8614410" y="58087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E09 ↔ isp"/>
          <p:cNvSpPr txBox="1"/>
          <p:nvPr/>
        </p:nvSpPr>
        <p:spPr>
          <a:xfrm>
            <a:off x="8955786" y="57189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isp</a:t>
            </a:r>
          </a:p>
        </p:txBody>
      </p:sp>
      <p:sp>
        <p:nvSpPr>
          <p:cNvPr id="92" name="E10-source"/>
          <p:cNvSpPr/>
          <p:nvPr/>
        </p:nvSpPr>
        <p:spPr>
          <a:xfrm>
            <a:off x="12396216" y="54353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10 ↔ gb"/>
          <p:cNvSpPr txBox="1"/>
          <p:nvPr/>
        </p:nvSpPr>
        <p:spPr>
          <a:xfrm>
            <a:off x="11517973" y="5345521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gb</a:t>
            </a:r>
          </a:p>
        </p:txBody>
      </p:sp>
      <p:sp>
        <p:nvSpPr>
          <p:cNvPr id="94" name="text-094: 除 LLC 出口外均为规划或待确认边界；像素流向与 AXI 事务方向分别标注。端"/>
          <p:cNvSpPr txBox="1"/>
          <p:nvPr/>
        </p:nvSpPr>
        <p:spPr>
          <a:xfrm>
            <a:off x="213360" y="6988393"/>
            <a:ext cx="65941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除 LLC 出口外均为规划或待确认边界；像素流向与 AXI 事务方向分别标注。端口数、宽度、地址和 IRQ 未冻结。</a:t>
            </a:r>
          </a:p>
        </p:txBody>
      </p:sp>
      <p:sp>
        <p:nvSpPr>
          <p:cNvPr id="95" name="text-095: 配对端口表示图示连接；已有/规划状态见模块和连接表。方向与 A 版一致。虚线模块"/>
          <p:cNvSpPr txBox="1"/>
          <p:nvPr/>
        </p:nvSpPr>
        <p:spPr>
          <a:xfrm>
            <a:off x="213360" y="7537369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Ara 访存和 CPU 失效请求的实际边界"/>
          <p:cNvSpPr txBox="1"/>
          <p:nvPr/>
        </p:nvSpPr>
        <p:spPr>
          <a:xfrm>
            <a:off x="213360" y="1893250"/>
            <a:ext cx="32174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访存和 CPU 失效请求的实际边界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2168271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605659"/>
            <a:ext cx="3893820" cy="119481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dispatch  接口与配置"/>
          <p:cNvSpPr txBox="1"/>
          <p:nvPr/>
        </p:nvSpPr>
        <p:spPr>
          <a:xfrm>
            <a:off x="309372" y="2633609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dispatch  接口与配置</a:t>
            </a:r>
          </a:p>
        </p:txBody>
      </p:sp>
      <p:sp>
        <p:nvSpPr>
          <p:cNvPr id="6" name="text-006: CVA6 acc_dispatcher"/>
          <p:cNvSpPr txBox="1"/>
          <p:nvPr/>
        </p:nvSpPr>
        <p:spPr>
          <a:xfrm>
            <a:off x="1270159" y="2803017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acc_dispatcher</a:t>
            </a:r>
          </a:p>
        </p:txBody>
      </p:sp>
      <p:sp>
        <p:nvSpPr>
          <p:cNvPr id="7" name="text-007: 指令 / MMU / 状态"/>
          <p:cNvSpPr txBox="1"/>
          <p:nvPr/>
        </p:nvSpPr>
        <p:spPr>
          <a:xfrm>
            <a:off x="1494720" y="2985226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 / MMU / 状态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328307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3-target"/>
          <p:cNvSpPr/>
          <p:nvPr/>
        </p:nvSpPr>
        <p:spPr>
          <a:xfrm>
            <a:off x="133350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3 ↔ filter"/>
          <p:cNvSpPr txBox="1"/>
          <p:nvPr/>
        </p:nvSpPr>
        <p:spPr>
          <a:xfrm>
            <a:off x="474726" y="3326602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↔ filter</a:t>
            </a:r>
          </a:p>
        </p:txBody>
      </p:sp>
      <p:sp>
        <p:nvSpPr>
          <p:cNvPr id="11" name="E01-source"/>
          <p:cNvSpPr/>
          <p:nvPr/>
        </p:nvSpPr>
        <p:spPr>
          <a:xfrm>
            <a:off x="3915156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↔ ara"/>
          <p:cNvSpPr txBox="1"/>
          <p:nvPr/>
        </p:nvSpPr>
        <p:spPr>
          <a:xfrm>
            <a:off x="2957170" y="33266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↔ ara</a:t>
            </a:r>
          </a:p>
        </p:txBody>
      </p:sp>
      <p:sp>
        <p:nvSpPr>
          <p:cNvPr id="13" name="E04-source"/>
          <p:cNvSpPr/>
          <p:nvPr/>
        </p:nvSpPr>
        <p:spPr>
          <a:xfrm>
            <a:off x="3915156" y="36031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4 ↔ cache"/>
          <p:cNvSpPr txBox="1"/>
          <p:nvPr/>
        </p:nvSpPr>
        <p:spPr>
          <a:xfrm>
            <a:off x="2797683" y="3513292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cache</a:t>
            </a:r>
          </a:p>
        </p:txBody>
      </p:sp>
      <p:sp>
        <p:nvSpPr>
          <p:cNvPr id="15" name="rect-015"/>
          <p:cNvSpPr/>
          <p:nvPr/>
        </p:nvSpPr>
        <p:spPr>
          <a:xfrm>
            <a:off x="213360" y="4013835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dw  内部工作逻辑"/>
          <p:cNvSpPr txBox="1"/>
          <p:nvPr/>
        </p:nvSpPr>
        <p:spPr>
          <a:xfrm>
            <a:off x="309372" y="4041785"/>
            <a:ext cx="112654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dw  内部工作逻辑</a:t>
            </a:r>
          </a:p>
        </p:txBody>
      </p:sp>
      <p:sp>
        <p:nvSpPr>
          <p:cNvPr id="17" name="text-017: axi_dw_converter"/>
          <p:cNvSpPr txBox="1"/>
          <p:nvPr/>
        </p:nvSpPr>
        <p:spPr>
          <a:xfrm>
            <a:off x="1400175" y="4211193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</a:t>
            </a:r>
          </a:p>
        </p:txBody>
      </p:sp>
      <p:sp>
        <p:nvSpPr>
          <p:cNvPr id="18" name="text-018: Ara 宽度 → 系统宽度"/>
          <p:cNvSpPr txBox="1"/>
          <p:nvPr/>
        </p:nvSpPr>
        <p:spPr>
          <a:xfrm>
            <a:off x="1430312" y="4393402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宽度 → 系统宽度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469125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5-target"/>
          <p:cNvSpPr/>
          <p:nvPr/>
        </p:nvSpPr>
        <p:spPr>
          <a:xfrm>
            <a:off x="133350" y="48246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5 ↔ filter"/>
          <p:cNvSpPr txBox="1"/>
          <p:nvPr/>
        </p:nvSpPr>
        <p:spPr>
          <a:xfrm>
            <a:off x="474726" y="4734778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filter</a:t>
            </a:r>
          </a:p>
        </p:txBody>
      </p:sp>
      <p:sp>
        <p:nvSpPr>
          <p:cNvPr id="22" name="E06-source"/>
          <p:cNvSpPr/>
          <p:nvPr/>
        </p:nvSpPr>
        <p:spPr>
          <a:xfrm>
            <a:off x="3915156" y="48246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6 ↔ xbar"/>
          <p:cNvSpPr txBox="1"/>
          <p:nvPr/>
        </p:nvSpPr>
        <p:spPr>
          <a:xfrm>
            <a:off x="2877426" y="4734778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xbar</a:t>
            </a:r>
          </a:p>
        </p:txBody>
      </p:sp>
      <p:sp>
        <p:nvSpPr>
          <p:cNvPr id="24" name="rect-024"/>
          <p:cNvSpPr/>
          <p:nvPr/>
        </p:nvSpPr>
        <p:spPr>
          <a:xfrm>
            <a:off x="213360" y="5235321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lc  状态/存储"/>
          <p:cNvSpPr txBox="1"/>
          <p:nvPr/>
        </p:nvSpPr>
        <p:spPr>
          <a:xfrm>
            <a:off x="309372" y="5263271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llc  状态/存储</a:t>
            </a:r>
          </a:p>
        </p:txBody>
      </p:sp>
      <p:sp>
        <p:nvSpPr>
          <p:cNvPr id="26" name="text-026: 原子适配 → LLC"/>
          <p:cNvSpPr txBox="1"/>
          <p:nvPr/>
        </p:nvSpPr>
        <p:spPr>
          <a:xfrm>
            <a:off x="1543526" y="5432679"/>
            <a:ext cx="123348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原子适配 → LLC</a:t>
            </a:r>
          </a:p>
        </p:txBody>
      </p:sp>
      <p:sp>
        <p:nvSpPr>
          <p:cNvPr id="27" name="text-027: 当前普通主存路径"/>
          <p:cNvSpPr txBox="1"/>
          <p:nvPr/>
        </p:nvSpPr>
        <p:spPr>
          <a:xfrm>
            <a:off x="1608201" y="5614888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当前普通主存路径</a:t>
            </a:r>
          </a:p>
        </p:txBody>
      </p:sp>
      <p:sp>
        <p:nvSpPr>
          <p:cNvPr id="28" name="rect-028"/>
          <p:cNvSpPr/>
          <p:nvPr/>
        </p:nvSpPr>
        <p:spPr>
          <a:xfrm>
            <a:off x="293370" y="591273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9-target"/>
          <p:cNvSpPr/>
          <p:nvPr/>
        </p:nvSpPr>
        <p:spPr>
          <a:xfrm>
            <a:off x="133350" y="60460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9 ↔ xbar"/>
          <p:cNvSpPr txBox="1"/>
          <p:nvPr/>
        </p:nvSpPr>
        <p:spPr>
          <a:xfrm>
            <a:off x="474726" y="5956264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xbar</a:t>
            </a:r>
          </a:p>
        </p:txBody>
      </p:sp>
      <p:sp>
        <p:nvSpPr>
          <p:cNvPr id="31" name="E10-source"/>
          <p:cNvSpPr/>
          <p:nvPr/>
        </p:nvSpPr>
        <p:spPr>
          <a:xfrm>
            <a:off x="3915156" y="60460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10 ↔ out"/>
          <p:cNvSpPr txBox="1"/>
          <p:nvPr/>
        </p:nvSpPr>
        <p:spPr>
          <a:xfrm>
            <a:off x="2957170" y="595626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out</a:t>
            </a:r>
          </a:p>
        </p:txBody>
      </p:sp>
      <p:sp>
        <p:nvSpPr>
          <p:cNvPr id="33" name="rect-033"/>
          <p:cNvSpPr/>
          <p:nvPr/>
        </p:nvSpPr>
        <p:spPr>
          <a:xfrm>
            <a:off x="4453890" y="2605659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ara  内部工作逻辑"/>
          <p:cNvSpPr txBox="1"/>
          <p:nvPr/>
        </p:nvSpPr>
        <p:spPr>
          <a:xfrm>
            <a:off x="4549902" y="263360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ara  内部工作逻辑</a:t>
            </a:r>
          </a:p>
        </p:txBody>
      </p:sp>
      <p:sp>
        <p:nvSpPr>
          <p:cNvPr id="35" name="text-035: i_ara"/>
          <p:cNvSpPr txBox="1"/>
          <p:nvPr/>
        </p:nvSpPr>
        <p:spPr>
          <a:xfrm>
            <a:off x="6117431" y="2803017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i_ara</a:t>
            </a:r>
          </a:p>
        </p:txBody>
      </p:sp>
      <p:sp>
        <p:nvSpPr>
          <p:cNvPr id="36" name="text-036: RVV 执行与访存"/>
          <p:cNvSpPr txBox="1"/>
          <p:nvPr/>
        </p:nvSpPr>
        <p:spPr>
          <a:xfrm>
            <a:off x="5873267" y="2985226"/>
            <a:ext cx="105506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RVV 执行与访存</a:t>
            </a:r>
          </a:p>
        </p:txBody>
      </p:sp>
      <p:sp>
        <p:nvSpPr>
          <p:cNvPr id="37" name="rect-037"/>
          <p:cNvSpPr/>
          <p:nvPr/>
        </p:nvSpPr>
        <p:spPr>
          <a:xfrm>
            <a:off x="4533900" y="328307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1-target"/>
          <p:cNvSpPr/>
          <p:nvPr/>
        </p:nvSpPr>
        <p:spPr>
          <a:xfrm>
            <a:off x="4373880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1 ↔ dispatch"/>
          <p:cNvSpPr txBox="1"/>
          <p:nvPr/>
        </p:nvSpPr>
        <p:spPr>
          <a:xfrm>
            <a:off x="4715256" y="3326602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↔ dispatch</a:t>
            </a:r>
          </a:p>
        </p:txBody>
      </p:sp>
      <p:sp>
        <p:nvSpPr>
          <p:cNvPr id="40" name="E02-source"/>
          <p:cNvSpPr/>
          <p:nvPr/>
        </p:nvSpPr>
        <p:spPr>
          <a:xfrm>
            <a:off x="8155686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2 ↔ filter"/>
          <p:cNvSpPr txBox="1"/>
          <p:nvPr/>
        </p:nvSpPr>
        <p:spPr>
          <a:xfrm>
            <a:off x="6958470" y="3326602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filter</a:t>
            </a:r>
          </a:p>
        </p:txBody>
      </p:sp>
      <p:sp>
        <p:nvSpPr>
          <p:cNvPr id="42" name="rect-042"/>
          <p:cNvSpPr/>
          <p:nvPr/>
        </p:nvSpPr>
        <p:spPr>
          <a:xfrm>
            <a:off x="4453890" y="3827145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ache  状态/存储"/>
          <p:cNvSpPr txBox="1"/>
          <p:nvPr/>
        </p:nvSpPr>
        <p:spPr>
          <a:xfrm>
            <a:off x="4549902" y="3855095"/>
            <a:ext cx="11969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cache  状态/存储</a:t>
            </a:r>
          </a:p>
        </p:txBody>
      </p:sp>
      <p:sp>
        <p:nvSpPr>
          <p:cNvPr id="44" name="text-044: CVA6 L1D 路径"/>
          <p:cNvSpPr txBox="1"/>
          <p:nvPr/>
        </p:nvSpPr>
        <p:spPr>
          <a:xfrm>
            <a:off x="5810726" y="4024503"/>
            <a:ext cx="11801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L1D 路径</a:t>
            </a:r>
          </a:p>
        </p:txBody>
      </p:sp>
      <p:sp>
        <p:nvSpPr>
          <p:cNvPr id="45" name="text-045: 当前向量 profile：WT"/>
          <p:cNvSpPr txBox="1"/>
          <p:nvPr/>
        </p:nvSpPr>
        <p:spPr>
          <a:xfrm>
            <a:off x="5634038" y="4206712"/>
            <a:ext cx="15335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当前向量 profile：WT</a:t>
            </a:r>
          </a:p>
        </p:txBody>
      </p:sp>
      <p:sp>
        <p:nvSpPr>
          <p:cNvPr id="46" name="rect-046"/>
          <p:cNvSpPr/>
          <p:nvPr/>
        </p:nvSpPr>
        <p:spPr>
          <a:xfrm>
            <a:off x="4533900" y="450456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4-target"/>
          <p:cNvSpPr/>
          <p:nvPr/>
        </p:nvSpPr>
        <p:spPr>
          <a:xfrm>
            <a:off x="4373880" y="46379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 ↔ dispatch"/>
          <p:cNvSpPr txBox="1"/>
          <p:nvPr/>
        </p:nvSpPr>
        <p:spPr>
          <a:xfrm>
            <a:off x="4715256" y="4548088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dispatch</a:t>
            </a:r>
          </a:p>
        </p:txBody>
      </p:sp>
      <p:sp>
        <p:nvSpPr>
          <p:cNvPr id="49" name="E07-source"/>
          <p:cNvSpPr/>
          <p:nvPr/>
        </p:nvSpPr>
        <p:spPr>
          <a:xfrm>
            <a:off x="8155686" y="46379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7 ↔ cpu_axi"/>
          <p:cNvSpPr txBox="1"/>
          <p:nvPr/>
        </p:nvSpPr>
        <p:spPr>
          <a:xfrm>
            <a:off x="6878726" y="4548088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cpu_axi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5048631"/>
            <a:ext cx="3893820" cy="119481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xbar  外部/组边界"/>
          <p:cNvSpPr txBox="1"/>
          <p:nvPr/>
        </p:nvSpPr>
        <p:spPr>
          <a:xfrm>
            <a:off x="4549902" y="5076581"/>
            <a:ext cx="123802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xbar  外部/组边界</a:t>
            </a:r>
          </a:p>
        </p:txBody>
      </p:sp>
      <p:sp>
        <p:nvSpPr>
          <p:cNvPr id="53" name="text-053: 主 AXI Xbar"/>
          <p:cNvSpPr txBox="1"/>
          <p:nvPr/>
        </p:nvSpPr>
        <p:spPr>
          <a:xfrm>
            <a:off x="5877401" y="5245989"/>
            <a:ext cx="10467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 Xbar</a:t>
            </a:r>
          </a:p>
        </p:txBody>
      </p:sp>
      <p:sp>
        <p:nvSpPr>
          <p:cNvPr id="54" name="text-054: 普通数据访问"/>
          <p:cNvSpPr txBox="1"/>
          <p:nvPr/>
        </p:nvSpPr>
        <p:spPr>
          <a:xfrm>
            <a:off x="5971413" y="5428198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普通数据访问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572604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6-target"/>
          <p:cNvSpPr/>
          <p:nvPr/>
        </p:nvSpPr>
        <p:spPr>
          <a:xfrm>
            <a:off x="4373880" y="585939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6 ↔ dw"/>
          <p:cNvSpPr txBox="1"/>
          <p:nvPr/>
        </p:nvSpPr>
        <p:spPr>
          <a:xfrm>
            <a:off x="4715256" y="5769574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dw</a:t>
            </a:r>
          </a:p>
        </p:txBody>
      </p:sp>
      <p:sp>
        <p:nvSpPr>
          <p:cNvPr id="58" name="E08-target"/>
          <p:cNvSpPr/>
          <p:nvPr/>
        </p:nvSpPr>
        <p:spPr>
          <a:xfrm>
            <a:off x="4373880" y="60460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 ↔ cpu_axi"/>
          <p:cNvSpPr txBox="1"/>
          <p:nvPr/>
        </p:nvSpPr>
        <p:spPr>
          <a:xfrm>
            <a:off x="4715256" y="5956264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cpu_axi</a:t>
            </a:r>
          </a:p>
        </p:txBody>
      </p:sp>
      <p:sp>
        <p:nvSpPr>
          <p:cNvPr id="60" name="E09-source"/>
          <p:cNvSpPr/>
          <p:nvPr/>
        </p:nvSpPr>
        <p:spPr>
          <a:xfrm>
            <a:off x="8155686" y="585939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9 ↔ llc"/>
          <p:cNvSpPr txBox="1"/>
          <p:nvPr/>
        </p:nvSpPr>
        <p:spPr>
          <a:xfrm>
            <a:off x="7197700" y="576957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llc</a:t>
            </a:r>
          </a:p>
        </p:txBody>
      </p:sp>
      <p:sp>
        <p:nvSpPr>
          <p:cNvPr id="62" name="rect-062"/>
          <p:cNvSpPr/>
          <p:nvPr/>
        </p:nvSpPr>
        <p:spPr>
          <a:xfrm>
            <a:off x="8694420" y="2605659"/>
            <a:ext cx="3893820" cy="119481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filter  接口与配置"/>
          <p:cNvSpPr txBox="1"/>
          <p:nvPr/>
        </p:nvSpPr>
        <p:spPr>
          <a:xfrm>
            <a:off x="8790432" y="2633609"/>
            <a:ext cx="131429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filter  接口与配置</a:t>
            </a:r>
          </a:p>
        </p:txBody>
      </p:sp>
      <p:sp>
        <p:nvSpPr>
          <p:cNvPr id="64" name="text-064: axi_inval_filter"/>
          <p:cNvSpPr txBox="1"/>
          <p:nvPr/>
        </p:nvSpPr>
        <p:spPr>
          <a:xfrm>
            <a:off x="9881235" y="2803017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axi_inval_filter</a:t>
            </a:r>
          </a:p>
        </p:txBody>
      </p:sp>
      <p:sp>
        <p:nvSpPr>
          <p:cNvPr id="65" name="text-065: AW FIFO / 行失效"/>
          <p:cNvSpPr txBox="1"/>
          <p:nvPr/>
        </p:nvSpPr>
        <p:spPr>
          <a:xfrm>
            <a:off x="9997250" y="2985226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FIFO / 行失效</a:t>
            </a:r>
          </a:p>
        </p:txBody>
      </p:sp>
      <p:sp>
        <p:nvSpPr>
          <p:cNvPr id="66" name="rect-066"/>
          <p:cNvSpPr/>
          <p:nvPr/>
        </p:nvSpPr>
        <p:spPr>
          <a:xfrm>
            <a:off x="8774430" y="328307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E02-target"/>
          <p:cNvSpPr/>
          <p:nvPr/>
        </p:nvSpPr>
        <p:spPr>
          <a:xfrm>
            <a:off x="8614410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2 ↔ ara"/>
          <p:cNvSpPr txBox="1"/>
          <p:nvPr/>
        </p:nvSpPr>
        <p:spPr>
          <a:xfrm>
            <a:off x="8955786" y="33266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ara</a:t>
            </a:r>
          </a:p>
        </p:txBody>
      </p:sp>
      <p:sp>
        <p:nvSpPr>
          <p:cNvPr id="69" name="E03-source"/>
          <p:cNvSpPr/>
          <p:nvPr/>
        </p:nvSpPr>
        <p:spPr>
          <a:xfrm>
            <a:off x="12396216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3 ↔ dispatch"/>
          <p:cNvSpPr txBox="1"/>
          <p:nvPr/>
        </p:nvSpPr>
        <p:spPr>
          <a:xfrm>
            <a:off x="11039513" y="3326602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↔ dispatch</a:t>
            </a:r>
          </a:p>
        </p:txBody>
      </p:sp>
      <p:sp>
        <p:nvSpPr>
          <p:cNvPr id="71" name="E05-source"/>
          <p:cNvSpPr/>
          <p:nvPr/>
        </p:nvSpPr>
        <p:spPr>
          <a:xfrm>
            <a:off x="12396216" y="36031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5 ↔ dw"/>
          <p:cNvSpPr txBox="1"/>
          <p:nvPr/>
        </p:nvSpPr>
        <p:spPr>
          <a:xfrm>
            <a:off x="11517973" y="3513292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dw</a:t>
            </a:r>
          </a:p>
        </p:txBody>
      </p:sp>
      <p:sp>
        <p:nvSpPr>
          <p:cNvPr id="73" name="rect-073"/>
          <p:cNvSpPr/>
          <p:nvPr/>
        </p:nvSpPr>
        <p:spPr>
          <a:xfrm>
            <a:off x="8694420" y="4013835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cpu_axi  内部工作逻辑"/>
          <p:cNvSpPr txBox="1"/>
          <p:nvPr/>
        </p:nvSpPr>
        <p:spPr>
          <a:xfrm>
            <a:off x="8790432" y="4041785"/>
            <a:ext cx="150792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cpu_axi  内部工作逻辑</a:t>
            </a:r>
          </a:p>
        </p:txBody>
      </p:sp>
      <p:sp>
        <p:nvSpPr>
          <p:cNvPr id="75" name="text-075: CPU AXI / ID 适配"/>
          <p:cNvSpPr txBox="1"/>
          <p:nvPr/>
        </p:nvSpPr>
        <p:spPr>
          <a:xfrm>
            <a:off x="9877901" y="4211193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AXI / ID 适配</a:t>
            </a:r>
          </a:p>
        </p:txBody>
      </p:sp>
      <p:sp>
        <p:nvSpPr>
          <p:cNvPr id="76" name="text-076: i_axi_id_serialize"/>
          <p:cNvSpPr txBox="1"/>
          <p:nvPr/>
        </p:nvSpPr>
        <p:spPr>
          <a:xfrm>
            <a:off x="9862299" y="4393402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i_axi_id_serialize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469125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7-target"/>
          <p:cNvSpPr/>
          <p:nvPr/>
        </p:nvSpPr>
        <p:spPr>
          <a:xfrm>
            <a:off x="8614410" y="48246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7 ↔ cache"/>
          <p:cNvSpPr txBox="1"/>
          <p:nvPr/>
        </p:nvSpPr>
        <p:spPr>
          <a:xfrm>
            <a:off x="8955786" y="4734778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cache</a:t>
            </a:r>
          </a:p>
        </p:txBody>
      </p:sp>
      <p:sp>
        <p:nvSpPr>
          <p:cNvPr id="80" name="E08-source"/>
          <p:cNvSpPr/>
          <p:nvPr/>
        </p:nvSpPr>
        <p:spPr>
          <a:xfrm>
            <a:off x="12396216" y="48246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8 ↔ xbar"/>
          <p:cNvSpPr txBox="1"/>
          <p:nvPr/>
        </p:nvSpPr>
        <p:spPr>
          <a:xfrm>
            <a:off x="11358486" y="4734778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xbar</a:t>
            </a:r>
          </a:p>
        </p:txBody>
      </p:sp>
      <p:sp>
        <p:nvSpPr>
          <p:cNvPr id="82" name="rect-082"/>
          <p:cNvSpPr/>
          <p:nvPr/>
        </p:nvSpPr>
        <p:spPr>
          <a:xfrm>
            <a:off x="8694420" y="5235321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out  外部/组边界"/>
          <p:cNvSpPr txBox="1"/>
          <p:nvPr/>
        </p:nvSpPr>
        <p:spPr>
          <a:xfrm>
            <a:off x="8790432" y="526327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out  外部/组边界</a:t>
            </a:r>
          </a:p>
        </p:txBody>
      </p:sp>
      <p:sp>
        <p:nvSpPr>
          <p:cNvPr id="84" name="text-084: LLC 外存 AXI"/>
          <p:cNvSpPr txBox="1"/>
          <p:nvPr/>
        </p:nvSpPr>
        <p:spPr>
          <a:xfrm>
            <a:off x="10094595" y="5432679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 外存 AXI</a:t>
            </a:r>
          </a:p>
        </p:txBody>
      </p:sp>
      <p:sp>
        <p:nvSpPr>
          <p:cNvPr id="85" name="text-085: axi_llc_mst_*"/>
          <p:cNvSpPr txBox="1"/>
          <p:nvPr/>
        </p:nvSpPr>
        <p:spPr>
          <a:xfrm>
            <a:off x="10061658" y="5614888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86" name="rect-086"/>
          <p:cNvSpPr/>
          <p:nvPr/>
        </p:nvSpPr>
        <p:spPr>
          <a:xfrm>
            <a:off x="8774430" y="591273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E10-target"/>
          <p:cNvSpPr/>
          <p:nvPr/>
        </p:nvSpPr>
        <p:spPr>
          <a:xfrm>
            <a:off x="8614410" y="60460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10 ↔ llc"/>
          <p:cNvSpPr txBox="1"/>
          <p:nvPr/>
        </p:nvSpPr>
        <p:spPr>
          <a:xfrm>
            <a:off x="8955786" y="595626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llc</a:t>
            </a:r>
          </a:p>
        </p:txBody>
      </p:sp>
      <p:sp>
        <p:nvSpPr>
          <p:cNvPr id="89" name="text-089: 表示 Cfg.Ara=1 分支；默认配置未启用 Ara。失效反馈经 acc_re"/>
          <p:cNvSpPr txBox="1"/>
          <p:nvPr/>
        </p:nvSpPr>
        <p:spPr>
          <a:xfrm>
            <a:off x="213360" y="6377650"/>
            <a:ext cx="79436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表示 Cfg.Ara=1 分支；默认配置未启用 Ara。失效反馈经 acc_resp_pack 与 CVA6 dispatcher；不覆盖新 NPU/ISP 旁路写。</a:t>
            </a:r>
          </a:p>
        </p:txBody>
      </p:sp>
      <p:sp>
        <p:nvSpPr>
          <p:cNvPr id="90" name="text-090: 配对端口表示图示连接；已有/规划状态见模块和连接表。方向与 A 版一致。虚线模块"/>
          <p:cNvSpPr txBox="1"/>
          <p:nvPr/>
        </p:nvSpPr>
        <p:spPr>
          <a:xfrm>
            <a:off x="213360" y="6926626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