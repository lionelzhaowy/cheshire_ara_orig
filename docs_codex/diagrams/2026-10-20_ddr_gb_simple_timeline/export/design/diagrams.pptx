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DDR–GB 数据路径与范围维护"/>
          <p:cNvSpPr txBox="1"/>
          <p:nvPr/>
        </p:nvSpPr>
        <p:spPr>
          <a:xfrm>
            <a:off x="200025" y="60488"/>
            <a:ext cx="26193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v1：DDR–GB 数据路径与范围维护</a:t>
            </a:r>
          </a:p>
        </p:txBody>
      </p:sp>
      <p:sp>
        <p:nvSpPr>
          <p:cNvPr id="3" name="text-003: CPU / Ara2 共享 M5；F0–F3 共享压缩前端；控制箭头表示逻辑职责"/>
          <p:cNvSpPr txBox="1"/>
          <p:nvPr/>
        </p:nvSpPr>
        <p:spPr>
          <a:xfrm>
            <a:off x="200025" y="280355"/>
            <a:ext cx="383926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/ Ara2 共享 M5；F0–F3 共享压缩前端；控制箭头表示逻辑职责，接口编码待实现。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范围维护服务（逻辑职责）"/>
          <p:cNvSpPr txBox="1"/>
          <p:nvPr/>
        </p:nvSpPr>
        <p:spPr>
          <a:xfrm>
            <a:off x="4298537" y="3065743"/>
            <a:ext cx="140417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范围维护服务（逻辑职责）</a:t>
            </a:r>
          </a:p>
        </p:txBody>
      </p:sp>
      <p:sp>
        <p:nvSpPr>
          <p:cNvPr id="47" name="text-047: 软件范围命令 · 排空 / clean / invalidate · 准入与完成"/>
          <p:cNvSpPr txBox="1"/>
          <p:nvPr/>
        </p:nvSpPr>
        <p:spPr>
          <a:xfrm>
            <a:off x="3828135" y="3218722"/>
            <a:ext cx="234498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软件范围命令 · 排空 / clean / invalidate · 准入与完成</a:t>
            </a:r>
          </a:p>
        </p:txBody>
      </p:sp>
      <p:sp>
        <p:nvSpPr>
          <p:cNvPr id="48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50" name="text-050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51" name="text-051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52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4" name="text-054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5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7" name="text-057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8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4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6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9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81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4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6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9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91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3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4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int-mover"/>
          <p:cNvSpPr/>
          <p:nvPr/>
        </p:nvSpPr>
        <p:spPr>
          <a:xfrm>
            <a:off x="6800850" y="1280160"/>
            <a:ext cx="1594866" cy="1800225"/>
          </a:xfrm>
          <a:custGeom>
            <a:avLst/>
            <a:gdLst/>
            <a:ahLst/>
            <a:cxnLst/>
            <a:rect l="0" t="0" r="r" b="b"/>
            <a:pathLst>
              <a:path w="1594866" h="1800225" fill="none">
                <a:moveTo>
                  <a:pt x="0" y="1800225"/>
                </a:moveTo>
                <a:lnTo>
                  <a:pt x="1560195" y="1800225"/>
                </a:lnTo>
                <a:lnTo>
                  <a:pt x="1560195" y="1392174"/>
                </a:lnTo>
                <a:cubicBezTo>
                  <a:pt x="1594866" y="1370838"/>
                  <a:pt x="1594866" y="1349502"/>
                  <a:pt x="1560195" y="1328166"/>
                </a:cubicBezTo>
                <a:lnTo>
                  <a:pt x="1560195" y="140018"/>
                </a:lnTo>
                <a:lnTo>
                  <a:pt x="1000125" y="140018"/>
                </a:lnTo>
                <a:lnTo>
                  <a:pt x="100012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int-frame"/>
          <p:cNvSpPr/>
          <p:nvPr/>
        </p:nvSpPr>
        <p:spPr>
          <a:xfrm>
            <a:off x="6800850" y="2240280"/>
            <a:ext cx="2200275" cy="980122"/>
          </a:xfrm>
          <a:custGeom>
            <a:avLst/>
            <a:gdLst/>
            <a:ahLst/>
            <a:cxnLst/>
            <a:rect l="0" t="0" r="r" b="b"/>
            <a:pathLst>
              <a:path w="2200275" h="980122" fill="none">
                <a:moveTo>
                  <a:pt x="0" y="980122"/>
                </a:moveTo>
                <a:lnTo>
                  <a:pt x="1608201" y="980122"/>
                </a:lnTo>
                <a:cubicBezTo>
                  <a:pt x="1629537" y="945452"/>
                  <a:pt x="1650873" y="945452"/>
                  <a:pt x="1672209" y="980122"/>
                </a:cubicBezTo>
                <a:lnTo>
                  <a:pt x="2040255" y="980122"/>
                </a:lnTo>
                <a:lnTo>
                  <a:pt x="2040255" y="0"/>
                </a:lnTo>
                <a:lnTo>
                  <a:pt x="2200275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int-roi"/>
          <p:cNvSpPr/>
          <p:nvPr/>
        </p:nvSpPr>
        <p:spPr>
          <a:xfrm>
            <a:off x="6800850" y="3325749"/>
            <a:ext cx="4200525" cy="34671"/>
          </a:xfrm>
          <a:custGeom>
            <a:avLst/>
            <a:gdLst/>
            <a:ahLst/>
            <a:cxnLst/>
            <a:rect l="0" t="0" r="r" b="b"/>
            <a:pathLst>
              <a:path w="4200525" h="34671" fill="none">
                <a:moveTo>
                  <a:pt x="0" y="34671"/>
                </a:moveTo>
                <a:lnTo>
                  <a:pt x="1608201" y="34671"/>
                </a:lnTo>
                <a:cubicBezTo>
                  <a:pt x="1629537" y="0"/>
                  <a:pt x="1650873" y="0"/>
                  <a:pt x="1672209" y="34671"/>
                </a:cubicBezTo>
                <a:lnTo>
                  <a:pt x="2968371" y="34671"/>
                </a:lnTo>
                <a:cubicBezTo>
                  <a:pt x="2989707" y="0"/>
                  <a:pt x="3011043" y="0"/>
                  <a:pt x="3032379" y="34671"/>
                </a:cubicBezTo>
                <a:lnTo>
                  <a:pt x="3888486" y="34671"/>
                </a:lnTo>
                <a:cubicBezTo>
                  <a:pt x="3909822" y="0"/>
                  <a:pt x="3931158" y="0"/>
                  <a:pt x="3952494" y="34671"/>
                </a:cubicBezTo>
                <a:lnTo>
                  <a:pt x="4200525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int-front"/>
          <p:cNvSpPr/>
          <p:nvPr/>
        </p:nvSpPr>
        <p:spPr>
          <a:xfrm>
            <a:off x="2040255" y="3460432"/>
            <a:ext cx="1160145" cy="1260158"/>
          </a:xfrm>
          <a:custGeom>
            <a:avLst/>
            <a:gdLst/>
            <a:ahLst/>
            <a:cxnLst/>
            <a:rect l="0" t="0" r="r" b="b"/>
            <a:pathLst>
              <a:path w="1160145" h="1260158" fill="none">
                <a:moveTo>
                  <a:pt x="1160145" y="0"/>
                </a:moveTo>
                <a:lnTo>
                  <a:pt x="1160145" y="460058"/>
                </a:lnTo>
                <a:lnTo>
                  <a:pt x="712089" y="460058"/>
                </a:lnTo>
                <a:cubicBezTo>
                  <a:pt x="690753" y="425387"/>
                  <a:pt x="669417" y="425387"/>
                  <a:pt x="648081" y="460058"/>
                </a:cubicBezTo>
                <a:lnTo>
                  <a:pt x="0" y="460058"/>
                </a:lnTo>
                <a:lnTo>
                  <a:pt x="0" y="1260158"/>
                </a:lnTo>
                <a:lnTo>
                  <a:pt x="160020" y="126015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int-ddr"/>
          <p:cNvSpPr/>
          <p:nvPr/>
        </p:nvSpPr>
        <p:spPr>
          <a:xfrm>
            <a:off x="1880235" y="3460432"/>
            <a:ext cx="1720215" cy="2700338"/>
          </a:xfrm>
          <a:custGeom>
            <a:avLst/>
            <a:gdLst/>
            <a:ahLst/>
            <a:cxnLst/>
            <a:rect l="0" t="0" r="r" b="b"/>
            <a:pathLst>
              <a:path w="1720215" h="2700338" fill="none">
                <a:moveTo>
                  <a:pt x="1720215" y="0"/>
                </a:moveTo>
                <a:lnTo>
                  <a:pt x="1720215" y="380048"/>
                </a:lnTo>
                <a:lnTo>
                  <a:pt x="1352169" y="380048"/>
                </a:lnTo>
                <a:cubicBezTo>
                  <a:pt x="1330833" y="345377"/>
                  <a:pt x="1309497" y="345377"/>
                  <a:pt x="1288161" y="380048"/>
                </a:cubicBezTo>
                <a:lnTo>
                  <a:pt x="872109" y="380048"/>
                </a:lnTo>
                <a:cubicBezTo>
                  <a:pt x="850773" y="345377"/>
                  <a:pt x="829437" y="345377"/>
                  <a:pt x="808101" y="380048"/>
                </a:cubicBezTo>
                <a:lnTo>
                  <a:pt x="0" y="380048"/>
                </a:lnTo>
                <a:lnTo>
                  <a:pt x="0" y="2700338"/>
                </a:lnTo>
                <a:lnTo>
                  <a:pt x="320040" y="270033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蓝：AXI 请求 / 返回（F2 仅写，F3 仅读）    绿：GB 局部访问 "/>
          <p:cNvSpPr txBox="1"/>
          <p:nvPr/>
        </p:nvSpPr>
        <p:spPr>
          <a:xfrm>
            <a:off x="320040" y="6599865"/>
            <a:ext cx="544740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局部访问 / 像素流    紫：软件命令、维护、准入与确认</a:t>
            </a:r>
          </a:p>
        </p:txBody>
      </p:sp>
      <p:sp>
        <p:nvSpPr>
          <p:cNvPr id="103" name="text-103: GB 本地交接管理使用权；DDR 同步涵盖缓存、共享前端与控制器。未画出的外设 "/>
          <p:cNvSpPr txBox="1"/>
          <p:nvPr/>
        </p:nvSpPr>
        <p:spPr>
          <a:xfrm>
            <a:off x="320040" y="6844215"/>
            <a:ext cx="54535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本地交接管理使用权；DDR 同步涵盖缓存、共享前端与控制器。未画出的外设 / 配置 / eMMC 路径沿用 v1。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缺少同步时，同一地址会出现不同数据版本"/>
          <p:cNvSpPr txBox="1"/>
          <p:nvPr/>
        </p:nvSpPr>
        <p:spPr>
          <a:xfrm>
            <a:off x="266700" y="80650"/>
            <a:ext cx="384048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缺少同步时，同一地址会出现不同数据版本</a:t>
            </a:r>
          </a:p>
        </p:txBody>
      </p:sp>
      <p:sp>
        <p:nvSpPr>
          <p:cNvPr id="3" name="text-003: 三个独立场景：输入过期、输出旧副本、迟到脏写回。数值表示所示时刻的状态。"/>
          <p:cNvSpPr txBox="1"/>
          <p:nvPr/>
        </p:nvSpPr>
        <p:spPr>
          <a:xfrm>
            <a:off x="266700" y="373807"/>
            <a:ext cx="47365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三个独立场景：输入过期、输出旧副本、迟到脏写回。数值表示所示时刻的状态。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7343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输入：CPU 写 x = 2，设备却搬到 x = 1"/>
          <p:cNvSpPr txBox="1"/>
          <p:nvPr/>
        </p:nvSpPr>
        <p:spPr>
          <a:xfrm>
            <a:off x="320040" y="851306"/>
            <a:ext cx="31194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输入：CPU 写 x = 2，设备却搬到 x = 1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/ L1D"/>
          <p:cNvSpPr txBox="1"/>
          <p:nvPr/>
        </p:nvSpPr>
        <p:spPr>
          <a:xfrm>
            <a:off x="976651" y="136998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8" name="text-008: L1D 阵列仍为 x = 1"/>
          <p:cNvSpPr txBox="1"/>
          <p:nvPr/>
        </p:nvSpPr>
        <p:spPr>
          <a:xfrm>
            <a:off x="772576" y="1573957"/>
            <a:ext cx="12285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阵列仍为 x = 1</a:t>
            </a:r>
          </a:p>
        </p:txBody>
      </p:sp>
      <p:sp>
        <p:nvSpPr>
          <p:cNvPr id="9" name="text-009: CPU 读可前递到 2"/>
          <p:cNvSpPr txBox="1"/>
          <p:nvPr/>
        </p:nvSpPr>
        <p:spPr>
          <a:xfrm>
            <a:off x="809643" y="1760647"/>
            <a:ext cx="115439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读可前递到 2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5349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写缓冲"/>
          <p:cNvSpPr txBox="1"/>
          <p:nvPr/>
        </p:nvSpPr>
        <p:spPr>
          <a:xfrm>
            <a:off x="3579114" y="136998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text-012: 待推进 x = 2"/>
          <p:cNvSpPr txBox="1"/>
          <p:nvPr/>
        </p:nvSpPr>
        <p:spPr>
          <a:xfrm>
            <a:off x="3448660" y="1573957"/>
            <a:ext cx="8369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待推进 x = 2</a:t>
            </a:r>
          </a:p>
        </p:txBody>
      </p:sp>
      <p:sp>
        <p:nvSpPr>
          <p:cNvPr id="13" name="text-013: 下层尚未收到"/>
          <p:cNvSpPr txBox="1"/>
          <p:nvPr/>
        </p:nvSpPr>
        <p:spPr>
          <a:xfrm>
            <a:off x="3419094" y="17606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下层尚未收到</a:t>
            </a:r>
          </a:p>
        </p:txBody>
      </p:sp>
      <p:sp>
        <p:nvSpPr>
          <p:cNvPr id="14" name="r0b2"/>
          <p:cNvSpPr/>
          <p:nvPr/>
        </p:nvSpPr>
        <p:spPr>
          <a:xfrm>
            <a:off x="528066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WB LLC"/>
          <p:cNvSpPr txBox="1"/>
          <p:nvPr/>
        </p:nvSpPr>
        <p:spPr>
          <a:xfrm>
            <a:off x="6033683" y="136998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16" name="text-016: 当前仍为 x = 1"/>
          <p:cNvSpPr txBox="1"/>
          <p:nvPr/>
        </p:nvSpPr>
        <p:spPr>
          <a:xfrm>
            <a:off x="5864962" y="1573957"/>
            <a:ext cx="9649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当前仍为 x = 1</a:t>
            </a:r>
          </a:p>
        </p:txBody>
      </p:sp>
      <p:sp>
        <p:nvSpPr>
          <p:cNvPr id="17" name="text-017: 收到新写后可持脏值 2"/>
          <p:cNvSpPr txBox="1"/>
          <p:nvPr/>
        </p:nvSpPr>
        <p:spPr>
          <a:xfrm>
            <a:off x="5649810" y="1760647"/>
            <a:ext cx="13952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收到新写后可持脏值 2</a:t>
            </a:r>
          </a:p>
        </p:txBody>
      </p:sp>
      <p:sp>
        <p:nvSpPr>
          <p:cNvPr id="18" name="r0b3"/>
          <p:cNvSpPr/>
          <p:nvPr/>
        </p:nvSpPr>
        <p:spPr>
          <a:xfrm>
            <a:off x="7760970" y="125349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"/>
          <p:cNvSpPr txBox="1"/>
          <p:nvPr/>
        </p:nvSpPr>
        <p:spPr>
          <a:xfrm>
            <a:off x="8616239" y="136998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20" name="text-020: x = 1"/>
          <p:cNvSpPr txBox="1"/>
          <p:nvPr/>
        </p:nvSpPr>
        <p:spPr>
          <a:xfrm>
            <a:off x="8620494" y="1573957"/>
            <a:ext cx="4145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 = 1</a:t>
            </a:r>
          </a:p>
        </p:txBody>
      </p:sp>
      <p:sp>
        <p:nvSpPr>
          <p:cNvPr id="21" name="text-021: 设备可见的旧输入"/>
          <p:cNvSpPr txBox="1"/>
          <p:nvPr/>
        </p:nvSpPr>
        <p:spPr>
          <a:xfrm>
            <a:off x="8251698" y="176064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设备可见的旧输入</a:t>
            </a:r>
          </a:p>
        </p:txBody>
      </p:sp>
      <p:sp>
        <p:nvSpPr>
          <p:cNvPr id="22" name="r0b4"/>
          <p:cNvSpPr/>
          <p:nvPr/>
        </p:nvSpPr>
        <p:spPr>
          <a:xfrm>
            <a:off x="10241280" y="125349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GB"/>
          <p:cNvSpPr txBox="1"/>
          <p:nvPr/>
        </p:nvSpPr>
        <p:spPr>
          <a:xfrm>
            <a:off x="11144018" y="136998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4" name="text-024: 搬入 x = 1"/>
          <p:cNvSpPr txBox="1"/>
          <p:nvPr/>
        </p:nvSpPr>
        <p:spPr>
          <a:xfrm>
            <a:off x="10953598" y="1573957"/>
            <a:ext cx="7089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搬入 x = 1</a:t>
            </a:r>
          </a:p>
        </p:txBody>
      </p:sp>
      <p:sp>
        <p:nvSpPr>
          <p:cNvPr id="25" name="text-025: NPU 使用了旧输入"/>
          <p:cNvSpPr txBox="1"/>
          <p:nvPr/>
        </p:nvSpPr>
        <p:spPr>
          <a:xfrm>
            <a:off x="10721882" y="1760647"/>
            <a:ext cx="117239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使用了旧输入</a:t>
            </a:r>
          </a:p>
        </p:txBody>
      </p:sp>
      <p:sp>
        <p:nvSpPr>
          <p:cNvPr id="26" name="text-026: 写缓冲排空之后，新值还可能只到达 WB LLC；输入 clean 继续把它推进 "/>
          <p:cNvSpPr txBox="1"/>
          <p:nvPr/>
        </p:nvSpPr>
        <p:spPr>
          <a:xfrm>
            <a:off x="320040" y="2154509"/>
            <a:ext cx="496908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写缓冲排空之后，新值还可能只到达 WB LLC；输入 clean 继续把它推进 DDR。</a:t>
            </a:r>
          </a:p>
        </p:txBody>
      </p:sp>
      <p:sp>
        <p:nvSpPr>
          <p:cNvPr id="27" name="panel1"/>
          <p:cNvSpPr/>
          <p:nvPr/>
        </p:nvSpPr>
        <p:spPr>
          <a:xfrm>
            <a:off x="186690" y="272034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② 输出：设备已写 y = 9，CPU 仍命中 y = 0"/>
          <p:cNvSpPr txBox="1"/>
          <p:nvPr/>
        </p:nvSpPr>
        <p:spPr>
          <a:xfrm>
            <a:off x="320040" y="2798216"/>
            <a:ext cx="327323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输出：设备已写 y = 9，CPU 仍命中 y = 0</a:t>
            </a:r>
          </a:p>
        </p:txBody>
      </p:sp>
      <p:sp>
        <p:nvSpPr>
          <p:cNvPr id="29" name="r1b0"/>
          <p:cNvSpPr/>
          <p:nvPr/>
        </p:nvSpPr>
        <p:spPr>
          <a:xfrm>
            <a:off x="32004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CPU / L1D"/>
          <p:cNvSpPr txBox="1"/>
          <p:nvPr/>
        </p:nvSpPr>
        <p:spPr>
          <a:xfrm>
            <a:off x="976651" y="331689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31" name="text-031: 缓存副本 y = 0"/>
          <p:cNvSpPr txBox="1"/>
          <p:nvPr/>
        </p:nvSpPr>
        <p:spPr>
          <a:xfrm>
            <a:off x="905592" y="352086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缓存副本 y = 0</a:t>
            </a:r>
          </a:p>
        </p:txBody>
      </p:sp>
      <p:sp>
        <p:nvSpPr>
          <p:cNvPr id="32" name="text-032: CPU 读取命中旧值"/>
          <p:cNvSpPr txBox="1"/>
          <p:nvPr/>
        </p:nvSpPr>
        <p:spPr>
          <a:xfrm>
            <a:off x="803205" y="370755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读取命中旧值</a:t>
            </a:r>
          </a:p>
        </p:txBody>
      </p:sp>
      <p:sp>
        <p:nvSpPr>
          <p:cNvPr id="33" name="r1b1"/>
          <p:cNvSpPr/>
          <p:nvPr/>
        </p:nvSpPr>
        <p:spPr>
          <a:xfrm>
            <a:off x="2800350" y="320040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写缓冲"/>
          <p:cNvSpPr txBox="1"/>
          <p:nvPr/>
        </p:nvSpPr>
        <p:spPr>
          <a:xfrm>
            <a:off x="3579114" y="331689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35" name="text-035: 此时为空"/>
          <p:cNvSpPr txBox="1"/>
          <p:nvPr/>
        </p:nvSpPr>
        <p:spPr>
          <a:xfrm>
            <a:off x="3547110" y="3520867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此时为空</a:t>
            </a:r>
          </a:p>
        </p:txBody>
      </p:sp>
      <p:sp>
        <p:nvSpPr>
          <p:cNvPr id="36" name="text-036: 没有待完成写"/>
          <p:cNvSpPr txBox="1"/>
          <p:nvPr/>
        </p:nvSpPr>
        <p:spPr>
          <a:xfrm>
            <a:off x="3419094" y="370755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没有待完成写</a:t>
            </a:r>
          </a:p>
        </p:txBody>
      </p:sp>
      <p:sp>
        <p:nvSpPr>
          <p:cNvPr id="37" name="r1b2"/>
          <p:cNvSpPr/>
          <p:nvPr/>
        </p:nvSpPr>
        <p:spPr>
          <a:xfrm>
            <a:off x="528066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"/>
          <p:cNvSpPr txBox="1"/>
          <p:nvPr/>
        </p:nvSpPr>
        <p:spPr>
          <a:xfrm>
            <a:off x="6158857" y="3316895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39" name="text-039: 干净旧副本 y = 0"/>
          <p:cNvSpPr txBox="1"/>
          <p:nvPr/>
        </p:nvSpPr>
        <p:spPr>
          <a:xfrm>
            <a:off x="5802204" y="3520867"/>
            <a:ext cx="10905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干净旧副本 y = 0</a:t>
            </a:r>
          </a:p>
        </p:txBody>
      </p:sp>
      <p:sp>
        <p:nvSpPr>
          <p:cNvPr id="40" name="text-040: 下次回填也可能取旧值"/>
          <p:cNvSpPr txBox="1"/>
          <p:nvPr/>
        </p:nvSpPr>
        <p:spPr>
          <a:xfrm>
            <a:off x="5643372" y="370755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下次回填也可能取旧值</a:t>
            </a:r>
          </a:p>
        </p:txBody>
      </p:sp>
      <p:sp>
        <p:nvSpPr>
          <p:cNvPr id="41" name="r1b3"/>
          <p:cNvSpPr/>
          <p:nvPr/>
        </p:nvSpPr>
        <p:spPr>
          <a:xfrm>
            <a:off x="7760970" y="320040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DDR"/>
          <p:cNvSpPr txBox="1"/>
          <p:nvPr/>
        </p:nvSpPr>
        <p:spPr>
          <a:xfrm>
            <a:off x="8616239" y="331689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3" name="text-043: y = 9"/>
          <p:cNvSpPr txBox="1"/>
          <p:nvPr/>
        </p:nvSpPr>
        <p:spPr>
          <a:xfrm>
            <a:off x="8621744" y="3520867"/>
            <a:ext cx="4120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</a:t>
            </a:r>
          </a:p>
        </p:txBody>
      </p:sp>
      <p:sp>
        <p:nvSpPr>
          <p:cNvPr id="44" name="text-044: 已收到设备结果"/>
          <p:cNvSpPr txBox="1"/>
          <p:nvPr/>
        </p:nvSpPr>
        <p:spPr>
          <a:xfrm>
            <a:off x="8315706" y="370755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已收到设备结果</a:t>
            </a:r>
          </a:p>
        </p:txBody>
      </p:sp>
      <p:sp>
        <p:nvSpPr>
          <p:cNvPr id="45" name="r1b4"/>
          <p:cNvSpPr/>
          <p:nvPr/>
        </p:nvSpPr>
        <p:spPr>
          <a:xfrm>
            <a:off x="10241280" y="320040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GB"/>
          <p:cNvSpPr txBox="1"/>
          <p:nvPr/>
        </p:nvSpPr>
        <p:spPr>
          <a:xfrm>
            <a:off x="11144018" y="331689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7" name="text-047: 结果 y = 9"/>
          <p:cNvSpPr txBox="1"/>
          <p:nvPr/>
        </p:nvSpPr>
        <p:spPr>
          <a:xfrm>
            <a:off x="10954848" y="352086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48" name="text-048: 设备向 DDR 搬出"/>
          <p:cNvSpPr txBox="1"/>
          <p:nvPr/>
        </p:nvSpPr>
        <p:spPr>
          <a:xfrm>
            <a:off x="10761637" y="3707557"/>
            <a:ext cx="109288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设备向 DDR 搬出</a:t>
            </a:r>
          </a:p>
        </p:txBody>
      </p:sp>
      <p:sp>
        <p:nvSpPr>
          <p:cNvPr id="49" name="text-049: 输出交还 CPU 前，对 L1D 与 LLC 执行失效，并协调此前尚未完成的旧回"/>
          <p:cNvSpPr txBox="1"/>
          <p:nvPr/>
        </p:nvSpPr>
        <p:spPr>
          <a:xfrm>
            <a:off x="320040" y="4101419"/>
            <a:ext cx="485329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输出交还 CPU 前，对 L1D 与 LLC 执行失效，并协调此前尚未完成的旧回填。</a:t>
            </a:r>
          </a:p>
        </p:txBody>
      </p:sp>
      <p:sp>
        <p:nvSpPr>
          <p:cNvPr id="50" name="panel2"/>
          <p:cNvSpPr/>
          <p:nvPr/>
        </p:nvSpPr>
        <p:spPr>
          <a:xfrm>
            <a:off x="186690" y="4667250"/>
            <a:ext cx="12428220" cy="170688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③ 输出：设备先写 y = 9，LLC 的旧脏行随后覆盖它"/>
          <p:cNvSpPr txBox="1"/>
          <p:nvPr/>
        </p:nvSpPr>
        <p:spPr>
          <a:xfrm>
            <a:off x="320040" y="4745126"/>
            <a:ext cx="37984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输出：设备先写 y = 9，LLC 的旧脏行随后覆盖它</a:t>
            </a:r>
          </a:p>
        </p:txBody>
      </p:sp>
      <p:sp>
        <p:nvSpPr>
          <p:cNvPr id="52" name="r2b0"/>
          <p:cNvSpPr/>
          <p:nvPr/>
        </p:nvSpPr>
        <p:spPr>
          <a:xfrm>
            <a:off x="32004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CPU / L1D"/>
          <p:cNvSpPr txBox="1"/>
          <p:nvPr/>
        </p:nvSpPr>
        <p:spPr>
          <a:xfrm>
            <a:off x="976651" y="5263805"/>
            <a:ext cx="820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L1D</a:t>
            </a:r>
          </a:p>
        </p:txBody>
      </p:sp>
      <p:sp>
        <p:nvSpPr>
          <p:cNvPr id="54" name="text-054: 先前写过 y = 3"/>
          <p:cNvSpPr txBox="1"/>
          <p:nvPr/>
        </p:nvSpPr>
        <p:spPr>
          <a:xfrm>
            <a:off x="90559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先前写过 y = 3</a:t>
            </a:r>
          </a:p>
        </p:txBody>
      </p:sp>
      <p:sp>
        <p:nvSpPr>
          <p:cNvPr id="55" name="text-055: 此时 CPU 已停止访问"/>
          <p:cNvSpPr txBox="1"/>
          <p:nvPr/>
        </p:nvSpPr>
        <p:spPr>
          <a:xfrm>
            <a:off x="720007" y="5654467"/>
            <a:ext cx="133366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此时 CPU 已停止访问</a:t>
            </a:r>
          </a:p>
        </p:txBody>
      </p:sp>
      <p:sp>
        <p:nvSpPr>
          <p:cNvPr id="56" name="r2b1"/>
          <p:cNvSpPr/>
          <p:nvPr/>
        </p:nvSpPr>
        <p:spPr>
          <a:xfrm>
            <a:off x="2800350" y="5147310"/>
            <a:ext cx="2133600" cy="80010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写缓冲"/>
          <p:cNvSpPr txBox="1"/>
          <p:nvPr/>
        </p:nvSpPr>
        <p:spPr>
          <a:xfrm>
            <a:off x="3579114" y="5263805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58" name="text-058: 先前的写已推进"/>
          <p:cNvSpPr txBox="1"/>
          <p:nvPr/>
        </p:nvSpPr>
        <p:spPr>
          <a:xfrm>
            <a:off x="3355086" y="54677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先前的写已推进</a:t>
            </a:r>
          </a:p>
        </p:txBody>
      </p:sp>
      <p:sp>
        <p:nvSpPr>
          <p:cNvPr id="59" name="text-059: LLC 尚有脏数据"/>
          <p:cNvSpPr txBox="1"/>
          <p:nvPr/>
        </p:nvSpPr>
        <p:spPr>
          <a:xfrm>
            <a:off x="3360274" y="5654467"/>
            <a:ext cx="10137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尚有脏数据</a:t>
            </a:r>
          </a:p>
        </p:txBody>
      </p:sp>
      <p:sp>
        <p:nvSpPr>
          <p:cNvPr id="60" name="r2b2"/>
          <p:cNvSpPr/>
          <p:nvPr/>
        </p:nvSpPr>
        <p:spPr>
          <a:xfrm>
            <a:off x="528066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WB LLC"/>
          <p:cNvSpPr txBox="1"/>
          <p:nvPr/>
        </p:nvSpPr>
        <p:spPr>
          <a:xfrm>
            <a:off x="6033683" y="5263805"/>
            <a:ext cx="62755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LLC</a:t>
            </a:r>
          </a:p>
        </p:txBody>
      </p:sp>
      <p:sp>
        <p:nvSpPr>
          <p:cNvPr id="62" name="text-062: 旧脏副本 y = 3"/>
          <p:cNvSpPr txBox="1"/>
          <p:nvPr/>
        </p:nvSpPr>
        <p:spPr>
          <a:xfrm>
            <a:off x="5866212" y="5467777"/>
            <a:ext cx="962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旧脏副本 y = 3</a:t>
            </a:r>
          </a:p>
        </p:txBody>
      </p:sp>
      <p:sp>
        <p:nvSpPr>
          <p:cNvPr id="63" name="text-063: 稍后替换并写回"/>
          <p:cNvSpPr txBox="1"/>
          <p:nvPr/>
        </p:nvSpPr>
        <p:spPr>
          <a:xfrm>
            <a:off x="583539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稍后替换并写回</a:t>
            </a:r>
          </a:p>
        </p:txBody>
      </p:sp>
      <p:sp>
        <p:nvSpPr>
          <p:cNvPr id="64" name="r2b3"/>
          <p:cNvSpPr/>
          <p:nvPr/>
        </p:nvSpPr>
        <p:spPr>
          <a:xfrm>
            <a:off x="7760970" y="5147310"/>
            <a:ext cx="21336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DR"/>
          <p:cNvSpPr txBox="1"/>
          <p:nvPr/>
        </p:nvSpPr>
        <p:spPr>
          <a:xfrm>
            <a:off x="8616239" y="5263805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6" name="text-066: y = 9 → y = 3"/>
          <p:cNvSpPr txBox="1"/>
          <p:nvPr/>
        </p:nvSpPr>
        <p:spPr>
          <a:xfrm>
            <a:off x="8377339" y="5467777"/>
            <a:ext cx="9008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y = 9 → y = 3</a:t>
            </a:r>
          </a:p>
        </p:txBody>
      </p:sp>
      <p:sp>
        <p:nvSpPr>
          <p:cNvPr id="67" name="text-067: 设备结果被覆盖"/>
          <p:cNvSpPr txBox="1"/>
          <p:nvPr/>
        </p:nvSpPr>
        <p:spPr>
          <a:xfrm>
            <a:off x="831570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设备结果被覆盖</a:t>
            </a:r>
          </a:p>
        </p:txBody>
      </p:sp>
      <p:sp>
        <p:nvSpPr>
          <p:cNvPr id="68" name="r2b4"/>
          <p:cNvSpPr/>
          <p:nvPr/>
        </p:nvSpPr>
        <p:spPr>
          <a:xfrm>
            <a:off x="10241280" y="5147310"/>
            <a:ext cx="21336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GB"/>
          <p:cNvSpPr txBox="1"/>
          <p:nvPr/>
        </p:nvSpPr>
        <p:spPr>
          <a:xfrm>
            <a:off x="11144018" y="5263805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70" name="text-070: 结果 y = 9"/>
          <p:cNvSpPr txBox="1"/>
          <p:nvPr/>
        </p:nvSpPr>
        <p:spPr>
          <a:xfrm>
            <a:off x="10954848" y="5467777"/>
            <a:ext cx="7064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结果 y = 9</a:t>
            </a:r>
          </a:p>
        </p:txBody>
      </p:sp>
      <p:sp>
        <p:nvSpPr>
          <p:cNvPr id="71" name="text-071: 此前已完成搬出"/>
          <p:cNvSpPr txBox="1"/>
          <p:nvPr/>
        </p:nvSpPr>
        <p:spPr>
          <a:xfrm>
            <a:off x="10796016" y="565446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此前已完成搬出</a:t>
            </a:r>
          </a:p>
        </p:txBody>
      </p:sp>
      <p:sp>
        <p:nvSpPr>
          <p:cNvPr id="72" name="text-072: 输出写入前先排空旧写、clean + invalidate；写入后再失效旧读副本"/>
          <p:cNvSpPr txBox="1"/>
          <p:nvPr/>
        </p:nvSpPr>
        <p:spPr>
          <a:xfrm>
            <a:off x="320040" y="6048329"/>
            <a:ext cx="439726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输出写入前先排空旧写、clean + invalidate；写入后再失效旧读副本。</a:t>
            </a:r>
          </a:p>
        </p:txBody>
      </p:sp>
      <p:sp>
        <p:nvSpPr>
          <p:cNvPr id="73" name="cpu-store"/>
          <p:cNvSpPr/>
          <p:nvPr/>
        </p:nvSpPr>
        <p:spPr>
          <a:xfrm>
            <a:off x="245364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ending-store"/>
          <p:cNvSpPr/>
          <p:nvPr/>
        </p:nvSpPr>
        <p:spPr>
          <a:xfrm>
            <a:off x="493395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tale-input"/>
          <p:cNvSpPr/>
          <p:nvPr/>
        </p:nvSpPr>
        <p:spPr>
          <a:xfrm>
            <a:off x="9894570" y="165354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utput-write"/>
          <p:cNvSpPr/>
          <p:nvPr/>
        </p:nvSpPr>
        <p:spPr>
          <a:xfrm>
            <a:off x="9894570" y="360045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late-old-write"/>
          <p:cNvSpPr/>
          <p:nvPr/>
        </p:nvSpPr>
        <p:spPr>
          <a:xfrm>
            <a:off x="741426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earlier-device-write"/>
          <p:cNvSpPr/>
          <p:nvPr/>
        </p:nvSpPr>
        <p:spPr>
          <a:xfrm>
            <a:off x="9894570" y="554736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34671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蓝色：CPU / 缓存写入    绿色：设备搬运（经过共享数据代理）    虚线"/>
          <p:cNvSpPr txBox="1"/>
          <p:nvPr/>
        </p:nvSpPr>
        <p:spPr>
          <a:xfrm>
            <a:off x="320040" y="6571061"/>
            <a:ext cx="531660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蓝色：CPU / 缓存写入    绿色：设备搬运（经过共享数据代理）    虚线：待完成写入</a:t>
            </a:r>
          </a:p>
        </p:txBody>
      </p:sp>
      <p:sp>
        <p:nvSpPr>
          <p:cNvPr id="80" name="text-080: 三个场景共同指向：输入先清理到 DDR，输出写前保护旧数据、写后清除旧副本。"/>
          <p:cNvSpPr txBox="1"/>
          <p:nvPr/>
        </p:nvSpPr>
        <p:spPr>
          <a:xfrm>
            <a:off x="320040" y="6837761"/>
            <a:ext cx="5164229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三个场景共同指向：输入先清理到 DDR，输出写前保护旧数据、写后清除旧副本。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05541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760220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57685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先排空旧事务，再清理输入、清理并失效输出"/>
          <p:cNvSpPr txBox="1"/>
          <p:nvPr/>
        </p:nvSpPr>
        <p:spPr>
          <a:xfrm>
            <a:off x="4300538" y="2264283"/>
            <a:ext cx="42005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先排空旧事务，再清理输入、清理并失效输出</a:t>
            </a:r>
          </a:p>
        </p:txBody>
      </p:sp>
      <p:sp>
        <p:nvSpPr>
          <p:cNvPr id="10" name="text-010: 确认设备端口可见，允许启动搬运"/>
          <p:cNvSpPr txBox="1"/>
          <p:nvPr/>
        </p:nvSpPr>
        <p:spPr>
          <a:xfrm>
            <a:off x="4800600" y="2568321"/>
            <a:ext cx="32004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确认设备端口可见，允许启动搬运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912364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960120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09829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64508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61973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写回成功且 CPU 端口可见"/>
          <p:cNvSpPr txBox="1"/>
          <p:nvPr/>
        </p:nvSpPr>
        <p:spPr>
          <a:xfrm>
            <a:off x="4958826" y="4568571"/>
            <a:ext cx="28839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确认写回成功且 CPU 端口可见</a:t>
            </a:r>
          </a:p>
        </p:txBody>
      </p:sp>
      <p:sp>
        <p:nvSpPr>
          <p:cNvPr id="19" name="text-019: 处理相关回填，再失效 L1D／LLC 输出副本"/>
          <p:cNvSpPr txBox="1"/>
          <p:nvPr/>
        </p:nvSpPr>
        <p:spPr>
          <a:xfrm>
            <a:off x="4402794" y="4872609"/>
            <a:ext cx="399601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处理相关回填，再失效 L1D／LLC 输出副本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216652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14117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