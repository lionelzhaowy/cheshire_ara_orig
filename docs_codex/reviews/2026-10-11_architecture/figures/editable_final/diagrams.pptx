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853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当前实现：向量配置下的控制与存储路径"/>
          <p:cNvSpPr txBox="1"/>
          <p:nvPr/>
        </p:nvSpPr>
        <p:spPr>
          <a:xfrm>
            <a:off x="355600" y="1972869"/>
            <a:ext cx="4391660" cy="3698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当前实现：向量配置下的控制与存储路径</a:t>
            </a:r>
          </a:p>
        </p:txBody>
      </p:sp>
      <p:sp>
        <p:nvSpPr>
          <p:cNvPr id="3" name="rect-003"/>
          <p:cNvSpPr/>
          <p:nvPr/>
        </p:nvSpPr>
        <p:spPr>
          <a:xfrm>
            <a:off x="400050" y="2844800"/>
            <a:ext cx="168910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VA6"/>
          <p:cNvSpPr txBox="1"/>
          <p:nvPr/>
        </p:nvSpPr>
        <p:spPr>
          <a:xfrm>
            <a:off x="933019" y="3021000"/>
            <a:ext cx="623161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5" name="text-005: 通用计算 / 任务控制"/>
          <p:cNvSpPr txBox="1"/>
          <p:nvPr/>
        </p:nvSpPr>
        <p:spPr>
          <a:xfrm>
            <a:off x="524927" y="3317926"/>
            <a:ext cx="143934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通用计算 / 任务控制</a:t>
            </a:r>
          </a:p>
        </p:txBody>
      </p:sp>
      <p:sp>
        <p:nvSpPr>
          <p:cNvPr id="6" name="rect-006"/>
          <p:cNvSpPr/>
          <p:nvPr/>
        </p:nvSpPr>
        <p:spPr>
          <a:xfrm>
            <a:off x="400050" y="4178300"/>
            <a:ext cx="168910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Ara"/>
          <p:cNvSpPr txBox="1"/>
          <p:nvPr/>
        </p:nvSpPr>
        <p:spPr>
          <a:xfrm>
            <a:off x="1018891" y="4354500"/>
            <a:ext cx="451418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Ara</a:t>
            </a:r>
          </a:p>
        </p:txBody>
      </p:sp>
      <p:sp>
        <p:nvSpPr>
          <p:cNvPr id="8" name="text-008: 向量执行 / 私有 VRF"/>
          <p:cNvSpPr txBox="1"/>
          <p:nvPr/>
        </p:nvSpPr>
        <p:spPr>
          <a:xfrm>
            <a:off x="527913" y="4651426"/>
            <a:ext cx="143337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向量执行 / 私有 VRF</a:t>
            </a:r>
          </a:p>
        </p:txBody>
      </p:sp>
      <p:sp>
        <p:nvSpPr>
          <p:cNvPr id="9" name="polyline-009"/>
          <p:cNvSpPr/>
          <p:nvPr/>
        </p:nvSpPr>
        <p:spPr>
          <a:xfrm>
            <a:off x="1244600" y="3600450"/>
            <a:ext cx="1" cy="577850"/>
          </a:xfrm>
          <a:custGeom>
            <a:avLst/>
            <a:gdLst/>
            <a:ahLst/>
            <a:cxnLst/>
            <a:rect l="0" t="0" r="r" b="b"/>
            <a:pathLst>
              <a:path w="1" h="577850" fill="none">
                <a:moveTo>
                  <a:pt x="0" y="0"/>
                </a:moveTo>
                <a:lnTo>
                  <a:pt x="0" y="577850"/>
                </a:lnTo>
              </a:path>
            </a:pathLst>
          </a:custGeom>
          <a:noFill/>
          <a:ln w="26670" cap="flat">
            <a:solidFill>
              <a:srgbClr val="7955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专用指令接口"/>
          <p:cNvSpPr txBox="1"/>
          <p:nvPr/>
        </p:nvSpPr>
        <p:spPr>
          <a:xfrm>
            <a:off x="1422400" y="3793541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专用指令接口</a:t>
            </a:r>
          </a:p>
        </p:txBody>
      </p:sp>
      <p:sp>
        <p:nvSpPr>
          <p:cNvPr id="11" name="rect-011"/>
          <p:cNvSpPr/>
          <p:nvPr/>
        </p:nvSpPr>
        <p:spPr>
          <a:xfrm>
            <a:off x="2533650" y="4178300"/>
            <a:ext cx="186690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失效过滤 / 位宽适配"/>
          <p:cNvSpPr txBox="1"/>
          <p:nvPr/>
        </p:nvSpPr>
        <p:spPr>
          <a:xfrm>
            <a:off x="2522531" y="4354500"/>
            <a:ext cx="188913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13" name="text-013: 仅 Ara → CPU L1D 失效"/>
          <p:cNvSpPr txBox="1"/>
          <p:nvPr/>
        </p:nvSpPr>
        <p:spPr>
          <a:xfrm>
            <a:off x="2649637" y="4651426"/>
            <a:ext cx="163492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仅 Ara → CPU L1D 失效</a:t>
            </a:r>
          </a:p>
        </p:txBody>
      </p:sp>
      <p:sp>
        <p:nvSpPr>
          <p:cNvPr id="14" name="polyline-014"/>
          <p:cNvSpPr/>
          <p:nvPr/>
        </p:nvSpPr>
        <p:spPr>
          <a:xfrm>
            <a:off x="2089150" y="4551680"/>
            <a:ext cx="444500" cy="1"/>
          </a:xfrm>
          <a:custGeom>
            <a:avLst/>
            <a:gdLst/>
            <a:ahLst/>
            <a:cxnLst/>
            <a:rect l="0" t="0" r="r" b="b"/>
            <a:pathLst>
              <a:path w="444500" h="1" fill="none">
                <a:moveTo>
                  <a:pt x="0" y="0"/>
                </a:moveTo>
                <a:lnTo>
                  <a:pt x="444500" y="0"/>
                </a:lnTo>
              </a:path>
            </a:pathLst>
          </a:custGeom>
          <a:noFill/>
          <a:ln w="26670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4933950" y="2844800"/>
            <a:ext cx="1644650" cy="2089150"/>
          </a:xfrm>
          <a:prstGeom prst="roundRect">
            <a:avLst>
              <a:gd name="adj" fmla="val 4324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系统 AXI 互连"/>
          <p:cNvSpPr txBox="1"/>
          <p:nvPr/>
        </p:nvSpPr>
        <p:spPr>
          <a:xfrm>
            <a:off x="5106784" y="3687750"/>
            <a:ext cx="1298982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系统 AXI 互连</a:t>
            </a:r>
          </a:p>
        </p:txBody>
      </p:sp>
      <p:sp>
        <p:nvSpPr>
          <p:cNvPr id="17" name="text-017: 当前 64-bit"/>
          <p:cNvSpPr txBox="1"/>
          <p:nvPr/>
        </p:nvSpPr>
        <p:spPr>
          <a:xfrm>
            <a:off x="5336917" y="3984676"/>
            <a:ext cx="8387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当前 64-bit</a:t>
            </a:r>
          </a:p>
        </p:txBody>
      </p:sp>
      <p:sp>
        <p:nvSpPr>
          <p:cNvPr id="18" name="polyline-018"/>
          <p:cNvSpPr/>
          <p:nvPr/>
        </p:nvSpPr>
        <p:spPr>
          <a:xfrm>
            <a:off x="2089150" y="3209290"/>
            <a:ext cx="2844800" cy="1"/>
          </a:xfrm>
          <a:custGeom>
            <a:avLst/>
            <a:gdLst/>
            <a:ahLst/>
            <a:cxnLst/>
            <a:rect l="0" t="0" r="r" b="b"/>
            <a:pathLst>
              <a:path w="2844800" h="1" fill="none">
                <a:moveTo>
                  <a:pt x="0" y="0"/>
                </a:moveTo>
                <a:lnTo>
                  <a:pt x="2844800" y="0"/>
                </a:lnTo>
              </a:path>
            </a:pathLst>
          </a:custGeom>
          <a:noFill/>
          <a:ln w="26670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9"/>
          <p:cNvSpPr/>
          <p:nvPr/>
        </p:nvSpPr>
        <p:spPr>
          <a:xfrm>
            <a:off x="4400550" y="455168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6670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2844800" y="5422900"/>
            <a:ext cx="1555750" cy="71120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系统 iDMA"/>
          <p:cNvSpPr txBox="1"/>
          <p:nvPr/>
        </p:nvSpPr>
        <p:spPr>
          <a:xfrm>
            <a:off x="3102075" y="5576875"/>
            <a:ext cx="1041200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系统 iDMA</a:t>
            </a:r>
          </a:p>
        </p:txBody>
      </p:sp>
      <p:sp>
        <p:nvSpPr>
          <p:cNvPr id="22" name="text-022: MMIO 提交 / 完成轮询"/>
          <p:cNvSpPr txBox="1"/>
          <p:nvPr/>
        </p:nvSpPr>
        <p:spPr>
          <a:xfrm>
            <a:off x="2842022" y="5873801"/>
            <a:ext cx="156130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MMIO 提交 / 完成轮询</a:t>
            </a:r>
          </a:p>
        </p:txBody>
      </p:sp>
      <p:sp>
        <p:nvSpPr>
          <p:cNvPr id="23" name="polyline-023"/>
          <p:cNvSpPr/>
          <p:nvPr/>
        </p:nvSpPr>
        <p:spPr>
          <a:xfrm>
            <a:off x="4400550" y="4933950"/>
            <a:ext cx="1360170" cy="844550"/>
          </a:xfrm>
          <a:custGeom>
            <a:avLst/>
            <a:gdLst/>
            <a:ahLst/>
            <a:cxnLst/>
            <a:rect l="0" t="0" r="r" b="b"/>
            <a:pathLst>
              <a:path w="1360170" h="844550" fill="none">
                <a:moveTo>
                  <a:pt x="0" y="844550"/>
                </a:moveTo>
                <a:lnTo>
                  <a:pt x="1360170" y="844550"/>
                </a:lnTo>
                <a:lnTo>
                  <a:pt x="1360170" y="0"/>
                </a:lnTo>
              </a:path>
            </a:pathLst>
          </a:custGeom>
          <a:noFill/>
          <a:ln w="26670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7156450" y="2844800"/>
            <a:ext cx="182245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原子适配 + LLC"/>
          <p:cNvSpPr txBox="1"/>
          <p:nvPr/>
        </p:nvSpPr>
        <p:spPr>
          <a:xfrm>
            <a:off x="7337875" y="3021000"/>
            <a:ext cx="145959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原子适配 + LLC</a:t>
            </a:r>
          </a:p>
        </p:txBody>
      </p:sp>
      <p:sp>
        <p:nvSpPr>
          <p:cNvPr id="26" name="text-026: LLC / SPM 共用 SRAM"/>
          <p:cNvSpPr txBox="1"/>
          <p:nvPr/>
        </p:nvSpPr>
        <p:spPr>
          <a:xfrm>
            <a:off x="7288689" y="3317926"/>
            <a:ext cx="15579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LLC / SPM 共用 SRAM</a:t>
            </a:r>
          </a:p>
        </p:txBody>
      </p:sp>
      <p:sp>
        <p:nvSpPr>
          <p:cNvPr id="27" name="polyline-027"/>
          <p:cNvSpPr/>
          <p:nvPr/>
        </p:nvSpPr>
        <p:spPr>
          <a:xfrm>
            <a:off x="6578600" y="3209290"/>
            <a:ext cx="577850" cy="1"/>
          </a:xfrm>
          <a:custGeom>
            <a:avLst/>
            <a:gdLst/>
            <a:ahLst/>
            <a:cxnLst/>
            <a:rect l="0" t="0" r="r" b="b"/>
            <a:pathLst>
              <a:path w="577850" h="1" fill="none">
                <a:moveTo>
                  <a:pt x="0" y="0"/>
                </a:moveTo>
                <a:lnTo>
                  <a:pt x="577850" y="0"/>
                </a:lnTo>
              </a:path>
            </a:pathLst>
          </a:custGeom>
          <a:noFill/>
          <a:ln w="26670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9601200" y="2844800"/>
            <a:ext cx="271145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现有平台外存"/>
          <p:cNvSpPr txBox="1"/>
          <p:nvPr/>
        </p:nvSpPr>
        <p:spPr>
          <a:xfrm>
            <a:off x="10303510" y="3021000"/>
            <a:ext cx="1306830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现有平台外存</a:t>
            </a:r>
          </a:p>
        </p:txBody>
      </p:sp>
      <p:sp>
        <p:nvSpPr>
          <p:cNvPr id="30" name="text-030: FPGA DDR4 / 仿真存储模型"/>
          <p:cNvSpPr txBox="1"/>
          <p:nvPr/>
        </p:nvSpPr>
        <p:spPr>
          <a:xfrm>
            <a:off x="10017155" y="3317926"/>
            <a:ext cx="187954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FPGA DDR4 / 仿真存储模型</a:t>
            </a:r>
          </a:p>
        </p:txBody>
      </p:sp>
      <p:sp>
        <p:nvSpPr>
          <p:cNvPr id="31" name="polyline-031"/>
          <p:cNvSpPr/>
          <p:nvPr/>
        </p:nvSpPr>
        <p:spPr>
          <a:xfrm>
            <a:off x="8978900" y="3209290"/>
            <a:ext cx="622300" cy="1"/>
          </a:xfrm>
          <a:custGeom>
            <a:avLst/>
            <a:gdLst/>
            <a:ahLst/>
            <a:cxnLst/>
            <a:rect l="0" t="0" r="r" b="b"/>
            <a:pathLst>
              <a:path w="622300" h="1" fill="none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w="26670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7156450" y="4178300"/>
            <a:ext cx="1822450" cy="755650"/>
          </a:xfrm>
          <a:prstGeom prst="roundRect">
            <a:avLst>
              <a:gd name="adj" fmla="val 9411"/>
            </a:avLst>
          </a:prstGeom>
          <a:solidFill>
            <a:srgbClr val="E8F1F8"/>
          </a:solidFill>
          <a:ln w="17780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Regbus / 中断"/>
          <p:cNvSpPr txBox="1"/>
          <p:nvPr/>
        </p:nvSpPr>
        <p:spPr>
          <a:xfrm>
            <a:off x="7379256" y="4354500"/>
            <a:ext cx="137683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Regbus / 中断</a:t>
            </a:r>
          </a:p>
        </p:txBody>
      </p:sp>
      <p:sp>
        <p:nvSpPr>
          <p:cNvPr id="34" name="text-034: Boot ROM / PLIC / CLINT"/>
          <p:cNvSpPr txBox="1"/>
          <p:nvPr/>
        </p:nvSpPr>
        <p:spPr>
          <a:xfrm>
            <a:off x="7205067" y="4651426"/>
            <a:ext cx="17252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Boot ROM / PLIC / CLINT</a:t>
            </a:r>
          </a:p>
        </p:txBody>
      </p:sp>
      <p:sp>
        <p:nvSpPr>
          <p:cNvPr id="35" name="polyline-035"/>
          <p:cNvSpPr/>
          <p:nvPr/>
        </p:nvSpPr>
        <p:spPr>
          <a:xfrm>
            <a:off x="6578600" y="4551680"/>
            <a:ext cx="577850" cy="1"/>
          </a:xfrm>
          <a:custGeom>
            <a:avLst/>
            <a:gdLst/>
            <a:ahLst/>
            <a:cxnLst/>
            <a:rect l="0" t="0" r="r" b="b"/>
            <a:pathLst>
              <a:path w="577850" h="1" fill="none">
                <a:moveTo>
                  <a:pt x="0" y="0"/>
                </a:moveTo>
                <a:lnTo>
                  <a:pt x="577850" y="0"/>
                </a:lnTo>
              </a:path>
            </a:pathLst>
          </a:custGeom>
          <a:noFill/>
          <a:ln w="26670" cap="flat">
            <a:solidFill>
              <a:srgbClr val="7955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9601200" y="4178300"/>
            <a:ext cx="2711450" cy="755650"/>
          </a:xfrm>
          <a:prstGeom prst="roundRect">
            <a:avLst>
              <a:gd name="adj" fmla="val 9411"/>
            </a:avLst>
          </a:prstGeom>
          <a:solidFill>
            <a:srgbClr val="FFF1E1"/>
          </a:solidFill>
          <a:ln w="17780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LVDS / ISP / NPU / 独立 GB"/>
          <p:cNvSpPr txBox="1"/>
          <p:nvPr/>
        </p:nvSpPr>
        <p:spPr>
          <a:xfrm>
            <a:off x="9690218" y="4354500"/>
            <a:ext cx="2533414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LVDS / ISP / NPU / 独立 GB</a:t>
            </a:r>
          </a:p>
        </p:txBody>
      </p:sp>
      <p:sp>
        <p:nvSpPr>
          <p:cNvPr id="38" name="text-038: 当前顶层尚无接入"/>
          <p:cNvSpPr txBox="1"/>
          <p:nvPr/>
        </p:nvSpPr>
        <p:spPr>
          <a:xfrm>
            <a:off x="10316845" y="4651426"/>
            <a:ext cx="12801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当前顶层尚无接入</a:t>
            </a:r>
          </a:p>
        </p:txBody>
      </p:sp>
      <p:sp>
        <p:nvSpPr>
          <p:cNvPr id="39" name="text-039: 实线：当前 RTL 路径（启用条件见报告）    虚线框：待实现对象；无实线表示"/>
          <p:cNvSpPr txBox="1"/>
          <p:nvPr/>
        </p:nvSpPr>
        <p:spPr>
          <a:xfrm>
            <a:off x="400050" y="6326480"/>
            <a:ext cx="5957245" cy="2418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实线：当前 RTL 路径（启用条件见报告）    虚线框：待实现对象；无实线表示尚未接通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推荐首版集成关系：保留系统路径，限定共享存储与搬运职责"/>
          <p:cNvSpPr txBox="1"/>
          <p:nvPr/>
        </p:nvSpPr>
        <p:spPr>
          <a:xfrm>
            <a:off x="341376" y="144402"/>
            <a:ext cx="6213043" cy="3550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7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推荐首版集成关系：保留系统路径，限定共享存储与搬运职责</a:t>
            </a:r>
          </a:p>
        </p:txBody>
      </p:sp>
      <p:sp>
        <p:nvSpPr>
          <p:cNvPr id="3" name="rect-003"/>
          <p:cNvSpPr/>
          <p:nvPr/>
        </p:nvSpPr>
        <p:spPr>
          <a:xfrm>
            <a:off x="384048" y="981456"/>
            <a:ext cx="1493520" cy="768096"/>
          </a:xfrm>
          <a:prstGeom prst="roundRect">
            <a:avLst>
              <a:gd name="adj" fmla="val 8888"/>
            </a:avLst>
          </a:prstGeom>
          <a:solidFill>
            <a:srgbClr val="E8F1F8"/>
          </a:solidFill>
          <a:ln w="17069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VA6 / Ara"/>
          <p:cNvSpPr txBox="1"/>
          <p:nvPr/>
        </p:nvSpPr>
        <p:spPr>
          <a:xfrm>
            <a:off x="604336" y="1171944"/>
            <a:ext cx="1052945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CVA6 / Ara</a:t>
            </a:r>
          </a:p>
        </p:txBody>
      </p:sp>
      <p:sp>
        <p:nvSpPr>
          <p:cNvPr id="5" name="text-005: 保留向量基线"/>
          <p:cNvSpPr txBox="1"/>
          <p:nvPr/>
        </p:nvSpPr>
        <p:spPr>
          <a:xfrm>
            <a:off x="652882" y="1456993"/>
            <a:ext cx="955853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保留向量基线</a:t>
            </a:r>
          </a:p>
        </p:txBody>
      </p:sp>
      <p:sp>
        <p:nvSpPr>
          <p:cNvPr id="6" name="rect-006"/>
          <p:cNvSpPr/>
          <p:nvPr/>
        </p:nvSpPr>
        <p:spPr>
          <a:xfrm>
            <a:off x="2389632" y="981456"/>
            <a:ext cx="1749552" cy="768096"/>
          </a:xfrm>
          <a:prstGeom prst="roundRect">
            <a:avLst>
              <a:gd name="adj" fmla="val 8888"/>
            </a:avLst>
          </a:prstGeom>
          <a:solidFill>
            <a:srgbClr val="E8F1F8"/>
          </a:solidFill>
          <a:ln w="17069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系统 AXI 互连"/>
          <p:cNvSpPr txBox="1"/>
          <p:nvPr/>
        </p:nvSpPr>
        <p:spPr>
          <a:xfrm>
            <a:off x="2640897" y="1171944"/>
            <a:ext cx="1247023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系统 AXI 互连</a:t>
            </a:r>
          </a:p>
        </p:txBody>
      </p:sp>
      <p:sp>
        <p:nvSpPr>
          <p:cNvPr id="8" name="text-008: 控制 / 普通内存 / 外部窗口"/>
          <p:cNvSpPr txBox="1"/>
          <p:nvPr/>
        </p:nvSpPr>
        <p:spPr>
          <a:xfrm>
            <a:off x="2360562" y="1456993"/>
            <a:ext cx="1807693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控制 / 普通内存 / 外部窗口</a:t>
            </a:r>
          </a:p>
        </p:txBody>
      </p:sp>
      <p:sp>
        <p:nvSpPr>
          <p:cNvPr id="9" name="polyline-009"/>
          <p:cNvSpPr/>
          <p:nvPr/>
        </p:nvSpPr>
        <p:spPr>
          <a:xfrm>
            <a:off x="1877568" y="1365504"/>
            <a:ext cx="512064" cy="1"/>
          </a:xfrm>
          <a:custGeom>
            <a:avLst/>
            <a:gdLst/>
            <a:ahLst/>
            <a:cxnLst/>
            <a:rect l="0" t="0" r="r" b="b"/>
            <a:pathLst>
              <a:path w="512064" h="1" fill="none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25603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4693920" y="981456"/>
            <a:ext cx="1834896" cy="768096"/>
          </a:xfrm>
          <a:prstGeom prst="roundRect">
            <a:avLst>
              <a:gd name="adj" fmla="val 8888"/>
            </a:avLst>
          </a:prstGeom>
          <a:solidFill>
            <a:srgbClr val="E8F1F8"/>
          </a:solidFill>
          <a:ln w="17069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原子适配 + LLC"/>
          <p:cNvSpPr txBox="1"/>
          <p:nvPr/>
        </p:nvSpPr>
        <p:spPr>
          <a:xfrm>
            <a:off x="4910760" y="1171944"/>
            <a:ext cx="1401215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原子适配 + LLC</a:t>
            </a:r>
          </a:p>
        </p:txBody>
      </p:sp>
      <p:sp>
        <p:nvSpPr>
          <p:cNvPr id="12" name="text-012: 普通 CPU / Ara 内存"/>
          <p:cNvSpPr txBox="1"/>
          <p:nvPr/>
        </p:nvSpPr>
        <p:spPr>
          <a:xfrm>
            <a:off x="4931683" y="1456993"/>
            <a:ext cx="1359370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普通 CPU / Ara 内存</a:t>
            </a:r>
          </a:p>
        </p:txBody>
      </p:sp>
      <p:sp>
        <p:nvSpPr>
          <p:cNvPr id="13" name="polyline-013"/>
          <p:cNvSpPr/>
          <p:nvPr/>
        </p:nvSpPr>
        <p:spPr>
          <a:xfrm>
            <a:off x="4139184" y="1365504"/>
            <a:ext cx="554736" cy="1"/>
          </a:xfrm>
          <a:custGeom>
            <a:avLst/>
            <a:gdLst/>
            <a:ahLst/>
            <a:cxnLst/>
            <a:rect l="0" t="0" r="r" b="b"/>
            <a:pathLst>
              <a:path w="554736" h="1" fill="none">
                <a:moveTo>
                  <a:pt x="0" y="0"/>
                </a:moveTo>
                <a:lnTo>
                  <a:pt x="554736" y="0"/>
                </a:lnTo>
              </a:path>
            </a:pathLst>
          </a:custGeom>
          <a:noFill/>
          <a:ln w="25603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8790432" y="981456"/>
            <a:ext cx="1706880" cy="2944368"/>
          </a:xfrm>
          <a:prstGeom prst="roundRect">
            <a:avLst>
              <a:gd name="adj" fmla="val 4000"/>
            </a:avLst>
          </a:prstGeom>
          <a:solidFill>
            <a:srgbClr val="FFF1E1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DDR 合流 / 适配"/>
          <p:cNvSpPr txBox="1"/>
          <p:nvPr/>
        </p:nvSpPr>
        <p:spPr>
          <a:xfrm>
            <a:off x="8895052" y="2260080"/>
            <a:ext cx="1497641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DDR 合流 / 适配</a:t>
            </a:r>
          </a:p>
        </p:txBody>
      </p:sp>
      <p:sp>
        <p:nvSpPr>
          <p:cNvPr id="16" name="text-016: 按交付端口组织"/>
          <p:cNvSpPr txBox="1"/>
          <p:nvPr/>
        </p:nvSpPr>
        <p:spPr>
          <a:xfrm>
            <a:off x="9097670" y="2545129"/>
            <a:ext cx="1092403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按交付端口组织</a:t>
            </a:r>
          </a:p>
        </p:txBody>
      </p:sp>
      <p:sp>
        <p:nvSpPr>
          <p:cNvPr id="17" name="polyline-017"/>
          <p:cNvSpPr/>
          <p:nvPr/>
        </p:nvSpPr>
        <p:spPr>
          <a:xfrm>
            <a:off x="6528816" y="1365504"/>
            <a:ext cx="2261616" cy="1"/>
          </a:xfrm>
          <a:custGeom>
            <a:avLst/>
            <a:gdLst/>
            <a:ahLst/>
            <a:cxnLst/>
            <a:rect l="0" t="0" r="r" b="b"/>
            <a:pathLst>
              <a:path w="2261616" h="1" fill="none">
                <a:moveTo>
                  <a:pt x="0" y="0"/>
                </a:moveTo>
                <a:lnTo>
                  <a:pt x="2261616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10924032" y="1792224"/>
            <a:ext cx="1536192" cy="1280160"/>
          </a:xfrm>
          <a:prstGeom prst="roundRect">
            <a:avLst>
              <a:gd name="adj" fmla="val 5333"/>
            </a:avLst>
          </a:prstGeom>
          <a:solidFill>
            <a:srgbClr val="E5F3EF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3 子系统"/>
          <p:cNvSpPr txBox="1"/>
          <p:nvPr/>
        </p:nvSpPr>
        <p:spPr>
          <a:xfrm>
            <a:off x="11079471" y="2238744"/>
            <a:ext cx="1225313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DDR3 子系统</a:t>
            </a:r>
          </a:p>
        </p:txBody>
      </p:sp>
      <p:sp>
        <p:nvSpPr>
          <p:cNvPr id="20" name="text-020: Controller + PHY"/>
          <p:cNvSpPr txBox="1"/>
          <p:nvPr/>
        </p:nvSpPr>
        <p:spPr>
          <a:xfrm>
            <a:off x="11132991" y="2523793"/>
            <a:ext cx="1118273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Controller + PHY</a:t>
            </a:r>
          </a:p>
        </p:txBody>
      </p:sp>
      <p:sp>
        <p:nvSpPr>
          <p:cNvPr id="21" name="polyline-021"/>
          <p:cNvSpPr/>
          <p:nvPr/>
        </p:nvSpPr>
        <p:spPr>
          <a:xfrm>
            <a:off x="10497312" y="2432304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4693920" y="2304288"/>
            <a:ext cx="1834896" cy="768096"/>
          </a:xfrm>
          <a:prstGeom prst="roundRect">
            <a:avLst>
              <a:gd name="adj" fmla="val 8888"/>
            </a:avLst>
          </a:prstGeom>
          <a:solidFill>
            <a:srgbClr val="E8F1F8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静态不缓存共享区"/>
          <p:cNvSpPr txBox="1"/>
          <p:nvPr/>
        </p:nvSpPr>
        <p:spPr>
          <a:xfrm>
            <a:off x="4804867" y="2494776"/>
            <a:ext cx="1613002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静态不缓存共享区</a:t>
            </a:r>
          </a:p>
        </p:txBody>
      </p:sp>
      <p:sp>
        <p:nvSpPr>
          <p:cNvPr id="24" name="text-024: 同一 PA / 独立外部路由"/>
          <p:cNvSpPr txBox="1"/>
          <p:nvPr/>
        </p:nvSpPr>
        <p:spPr>
          <a:xfrm>
            <a:off x="4823603" y="2779825"/>
            <a:ext cx="1575530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同一 PA / 独立外部路由</a:t>
            </a:r>
          </a:p>
        </p:txBody>
      </p:sp>
      <p:sp>
        <p:nvSpPr>
          <p:cNvPr id="25" name="polyline-025"/>
          <p:cNvSpPr/>
          <p:nvPr/>
        </p:nvSpPr>
        <p:spPr>
          <a:xfrm>
            <a:off x="4139184" y="1536192"/>
            <a:ext cx="554736" cy="1152144"/>
          </a:xfrm>
          <a:custGeom>
            <a:avLst/>
            <a:gdLst/>
            <a:ahLst/>
            <a:cxnLst/>
            <a:rect l="0" t="0" r="r" b="b"/>
            <a:pathLst>
              <a:path w="554736" h="1152144" fill="none">
                <a:moveTo>
                  <a:pt x="0" y="0"/>
                </a:moveTo>
                <a:lnTo>
                  <a:pt x="213360" y="0"/>
                </a:lnTo>
                <a:lnTo>
                  <a:pt x="213360" y="1152144"/>
                </a:lnTo>
                <a:lnTo>
                  <a:pt x="554736" y="1152144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6"/>
          <p:cNvSpPr/>
          <p:nvPr/>
        </p:nvSpPr>
        <p:spPr>
          <a:xfrm>
            <a:off x="6528816" y="2688336"/>
            <a:ext cx="2261616" cy="1"/>
          </a:xfrm>
          <a:custGeom>
            <a:avLst/>
            <a:gdLst/>
            <a:ahLst/>
            <a:cxnLst/>
            <a:rect l="0" t="0" r="r" b="b"/>
            <a:pathLst>
              <a:path w="2261616" h="1" fill="none">
                <a:moveTo>
                  <a:pt x="0" y="0"/>
                </a:moveTo>
                <a:lnTo>
                  <a:pt x="2261616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2389632" y="4181856"/>
            <a:ext cx="2005584" cy="938784"/>
          </a:xfrm>
          <a:prstGeom prst="roundRect">
            <a:avLst>
              <a:gd name="adj" fmla="val 7272"/>
            </a:avLst>
          </a:prstGeom>
          <a:solidFill>
            <a:srgbClr val="E5F3EF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GB 访问与 bank 仲裁"/>
          <p:cNvSpPr txBox="1"/>
          <p:nvPr/>
        </p:nvSpPr>
        <p:spPr>
          <a:xfrm>
            <a:off x="2469895" y="4457688"/>
            <a:ext cx="18450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GB 访问与 bank 仲裁</a:t>
            </a:r>
          </a:p>
        </p:txBody>
      </p:sp>
      <p:sp>
        <p:nvSpPr>
          <p:cNvPr id="29" name="text-029: 首版系统侧用外部 AXI 从口"/>
          <p:cNvSpPr txBox="1"/>
          <p:nvPr/>
        </p:nvSpPr>
        <p:spPr>
          <a:xfrm>
            <a:off x="2507713" y="4742737"/>
            <a:ext cx="1769421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首版系统侧用外部 AXI 从口</a:t>
            </a:r>
          </a:p>
        </p:txBody>
      </p:sp>
      <p:sp>
        <p:nvSpPr>
          <p:cNvPr id="30" name="polyline-030"/>
          <p:cNvSpPr/>
          <p:nvPr/>
        </p:nvSpPr>
        <p:spPr>
          <a:xfrm>
            <a:off x="3268675" y="1749552"/>
            <a:ext cx="1" cy="2432304"/>
          </a:xfrm>
          <a:custGeom>
            <a:avLst/>
            <a:gdLst/>
            <a:ahLst/>
            <a:cxnLst/>
            <a:rect l="0" t="0" r="r" b="b"/>
            <a:pathLst>
              <a:path w="1" h="2432304" fill="none">
                <a:moveTo>
                  <a:pt x="0" y="0"/>
                </a:moveTo>
                <a:lnTo>
                  <a:pt x="0" y="2432304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CPU / Ara / iDMA 可达"/>
          <p:cNvSpPr txBox="1"/>
          <p:nvPr/>
        </p:nvSpPr>
        <p:spPr>
          <a:xfrm>
            <a:off x="1237488" y="3693006"/>
            <a:ext cx="1509122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CPU / Ara / iDMA 可达</a:t>
            </a:r>
          </a:p>
        </p:txBody>
      </p:sp>
      <p:sp>
        <p:nvSpPr>
          <p:cNvPr id="32" name="rect-032"/>
          <p:cNvSpPr/>
          <p:nvPr/>
        </p:nvSpPr>
        <p:spPr>
          <a:xfrm>
            <a:off x="384048" y="4181856"/>
            <a:ext cx="1536192" cy="938784"/>
          </a:xfrm>
          <a:prstGeom prst="roundRect">
            <a:avLst>
              <a:gd name="adj" fmla="val 7272"/>
            </a:avLst>
          </a:prstGeom>
          <a:solidFill>
            <a:srgbClr val="E5F3EF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独立 GB SRAM"/>
          <p:cNvSpPr txBox="1"/>
          <p:nvPr/>
        </p:nvSpPr>
        <p:spPr>
          <a:xfrm>
            <a:off x="480507" y="4457688"/>
            <a:ext cx="1343275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独立 GB SRAM</a:t>
            </a:r>
          </a:p>
        </p:txBody>
      </p:sp>
      <p:sp>
        <p:nvSpPr>
          <p:cNvPr id="34" name="text-034: 容量 / 宏组织待定"/>
          <p:cNvSpPr txBox="1"/>
          <p:nvPr/>
        </p:nvSpPr>
        <p:spPr>
          <a:xfrm>
            <a:off x="529533" y="4742737"/>
            <a:ext cx="1245222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容量 / 宏组织待定</a:t>
            </a:r>
          </a:p>
        </p:txBody>
      </p:sp>
      <p:sp>
        <p:nvSpPr>
          <p:cNvPr id="35" name="polyline-035"/>
          <p:cNvSpPr/>
          <p:nvPr/>
        </p:nvSpPr>
        <p:spPr>
          <a:xfrm>
            <a:off x="1920240" y="4651248"/>
            <a:ext cx="469392" cy="1"/>
          </a:xfrm>
          <a:custGeom>
            <a:avLst/>
            <a:gdLst/>
            <a:ahLst/>
            <a:cxnLst/>
            <a:rect l="0" t="0" r="r" b="b"/>
            <a:pathLst>
              <a:path w="469392" h="1" fill="none">
                <a:moveTo>
                  <a:pt x="0" y="0"/>
                </a:moveTo>
                <a:lnTo>
                  <a:pt x="469392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5077968" y="4181856"/>
            <a:ext cx="1792224" cy="938784"/>
          </a:xfrm>
          <a:prstGeom prst="roundRect">
            <a:avLst>
              <a:gd name="adj" fmla="val 7272"/>
            </a:avLst>
          </a:prstGeom>
          <a:solidFill>
            <a:srgbClr val="E5F3EF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NPU 计算模块"/>
          <p:cNvSpPr txBox="1"/>
          <p:nvPr/>
        </p:nvSpPr>
        <p:spPr>
          <a:xfrm>
            <a:off x="5332626" y="4457688"/>
            <a:ext cx="128290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NPU 计算模块</a:t>
            </a:r>
          </a:p>
        </p:txBody>
      </p:sp>
      <p:sp>
        <p:nvSpPr>
          <p:cNvPr id="38" name="text-038: Dremi 包含关系待确认"/>
          <p:cNvSpPr txBox="1"/>
          <p:nvPr/>
        </p:nvSpPr>
        <p:spPr>
          <a:xfrm>
            <a:off x="5231521" y="4742737"/>
            <a:ext cx="1485119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Dremi 包含关系待确认</a:t>
            </a:r>
          </a:p>
        </p:txBody>
      </p:sp>
      <p:sp>
        <p:nvSpPr>
          <p:cNvPr id="39" name="polyline-039"/>
          <p:cNvSpPr/>
          <p:nvPr/>
        </p:nvSpPr>
        <p:spPr>
          <a:xfrm>
            <a:off x="4395216" y="4651248"/>
            <a:ext cx="682752" cy="1"/>
          </a:xfrm>
          <a:custGeom>
            <a:avLst/>
            <a:gdLst/>
            <a:ahLst/>
            <a:cxnLst/>
            <a:rect l="0" t="0" r="r" b="b"/>
            <a:pathLst>
              <a:path w="682752" h="1" fill="none">
                <a:moveTo>
                  <a:pt x="0" y="0"/>
                </a:moveTo>
                <a:lnTo>
                  <a:pt x="682752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0"/>
          <p:cNvSpPr/>
          <p:nvPr/>
        </p:nvSpPr>
        <p:spPr>
          <a:xfrm>
            <a:off x="5077968" y="3115056"/>
            <a:ext cx="2432304" cy="682752"/>
          </a:xfrm>
          <a:prstGeom prst="roundRect">
            <a:avLst>
              <a:gd name="adj" fmla="val 10000"/>
            </a:avLst>
          </a:prstGeom>
          <a:solidFill>
            <a:srgbClr val="E5F3EF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PU 数据搬运器"/>
          <p:cNvSpPr txBox="1"/>
          <p:nvPr/>
        </p:nvSpPr>
        <p:spPr>
          <a:xfrm>
            <a:off x="5563055" y="3262872"/>
            <a:ext cx="1462129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NPU 数据搬运器</a:t>
            </a:r>
          </a:p>
        </p:txBody>
      </p:sp>
      <p:sp>
        <p:nvSpPr>
          <p:cNvPr id="42" name="text-042: DDR ↔ GB；一个所有者"/>
          <p:cNvSpPr txBox="1"/>
          <p:nvPr/>
        </p:nvSpPr>
        <p:spPr>
          <a:xfrm>
            <a:off x="5487419" y="3547921"/>
            <a:ext cx="1613402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DDR ↔ GB；一个所有者</a:t>
            </a:r>
          </a:p>
        </p:txBody>
      </p:sp>
      <p:sp>
        <p:nvSpPr>
          <p:cNvPr id="43" name="polyline-043"/>
          <p:cNvSpPr/>
          <p:nvPr/>
        </p:nvSpPr>
        <p:spPr>
          <a:xfrm>
            <a:off x="4395216" y="3456432"/>
            <a:ext cx="682752" cy="938784"/>
          </a:xfrm>
          <a:custGeom>
            <a:avLst/>
            <a:gdLst/>
            <a:ahLst/>
            <a:cxnLst/>
            <a:rect l="0" t="0" r="r" b="b"/>
            <a:pathLst>
              <a:path w="682752" h="938784" fill="none">
                <a:moveTo>
                  <a:pt x="682752" y="0"/>
                </a:moveTo>
                <a:lnTo>
                  <a:pt x="256032" y="0"/>
                </a:lnTo>
                <a:lnTo>
                  <a:pt x="256032" y="938784"/>
                </a:lnTo>
                <a:lnTo>
                  <a:pt x="0" y="938784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line-044"/>
          <p:cNvSpPr/>
          <p:nvPr/>
        </p:nvSpPr>
        <p:spPr>
          <a:xfrm>
            <a:off x="7510272" y="3456432"/>
            <a:ext cx="1280160" cy="1"/>
          </a:xfrm>
          <a:custGeom>
            <a:avLst/>
            <a:gdLst/>
            <a:ahLst/>
            <a:cxnLst/>
            <a:rect l="0" t="0" r="r" b="b"/>
            <a:pathLst>
              <a:path w="1280160" h="1" fill="none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5"/>
          <p:cNvSpPr/>
          <p:nvPr/>
        </p:nvSpPr>
        <p:spPr>
          <a:xfrm>
            <a:off x="384048" y="6656832"/>
            <a:ext cx="1536192" cy="725424"/>
          </a:xfrm>
          <a:prstGeom prst="roundRect">
            <a:avLst>
              <a:gd name="adj" fmla="val 9411"/>
            </a:avLst>
          </a:prstGeom>
          <a:solidFill>
            <a:srgbClr val="FFF1E1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VDS 接收"/>
          <p:cNvSpPr txBox="1"/>
          <p:nvPr/>
        </p:nvSpPr>
        <p:spPr>
          <a:xfrm>
            <a:off x="646948" y="6825984"/>
            <a:ext cx="1010393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47" name="text-047: 解析 / CDC / FIFO"/>
          <p:cNvSpPr txBox="1"/>
          <p:nvPr/>
        </p:nvSpPr>
        <p:spPr>
          <a:xfrm>
            <a:off x="536734" y="7111033"/>
            <a:ext cx="1230820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解析 / CDC / FIFO</a:t>
            </a:r>
          </a:p>
        </p:txBody>
      </p:sp>
      <p:sp>
        <p:nvSpPr>
          <p:cNvPr id="48" name="rect-048"/>
          <p:cNvSpPr/>
          <p:nvPr/>
        </p:nvSpPr>
        <p:spPr>
          <a:xfrm>
            <a:off x="2432304" y="6656832"/>
            <a:ext cx="1536192" cy="725424"/>
          </a:xfrm>
          <a:prstGeom prst="roundRect">
            <a:avLst>
              <a:gd name="adj" fmla="val 9411"/>
            </a:avLst>
          </a:prstGeom>
          <a:solidFill>
            <a:srgbClr val="FFF1E1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ISP"/>
          <p:cNvSpPr txBox="1"/>
          <p:nvPr/>
        </p:nvSpPr>
        <p:spPr>
          <a:xfrm>
            <a:off x="2981886" y="6825984"/>
            <a:ext cx="437028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50" name="text-050: 私有行缓冲优先"/>
          <p:cNvSpPr txBox="1"/>
          <p:nvPr/>
        </p:nvSpPr>
        <p:spPr>
          <a:xfrm>
            <a:off x="2654198" y="7111033"/>
            <a:ext cx="1092403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私有行缓冲优先</a:t>
            </a:r>
          </a:p>
        </p:txBody>
      </p:sp>
      <p:sp>
        <p:nvSpPr>
          <p:cNvPr id="51" name="polyline-051"/>
          <p:cNvSpPr/>
          <p:nvPr/>
        </p:nvSpPr>
        <p:spPr>
          <a:xfrm>
            <a:off x="1920240" y="7015277"/>
            <a:ext cx="512064" cy="1"/>
          </a:xfrm>
          <a:custGeom>
            <a:avLst/>
            <a:gdLst/>
            <a:ahLst/>
            <a:cxnLst/>
            <a:rect l="0" t="0" r="r" b="b"/>
            <a:pathLst>
              <a:path w="512064" h="1" fill="none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2"/>
          <p:cNvSpPr/>
          <p:nvPr/>
        </p:nvSpPr>
        <p:spPr>
          <a:xfrm>
            <a:off x="4651248" y="6656832"/>
            <a:ext cx="1664208" cy="725424"/>
          </a:xfrm>
          <a:prstGeom prst="roundRect">
            <a:avLst>
              <a:gd name="adj" fmla="val 9411"/>
            </a:avLst>
          </a:prstGeom>
          <a:solidFill>
            <a:srgbClr val="FFF1E1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帧边界选择"/>
          <p:cNvSpPr txBox="1"/>
          <p:nvPr/>
        </p:nvSpPr>
        <p:spPr>
          <a:xfrm>
            <a:off x="4945685" y="6825984"/>
            <a:ext cx="1075334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帧边界选择</a:t>
            </a:r>
          </a:p>
        </p:txBody>
      </p:sp>
      <p:sp>
        <p:nvSpPr>
          <p:cNvPr id="54" name="text-054: RAW / ISP 二选一"/>
          <p:cNvSpPr txBox="1"/>
          <p:nvPr/>
        </p:nvSpPr>
        <p:spPr>
          <a:xfrm>
            <a:off x="4878743" y="7111033"/>
            <a:ext cx="1209218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RAW / ISP 二选一</a:t>
            </a:r>
          </a:p>
        </p:txBody>
      </p:sp>
      <p:sp>
        <p:nvSpPr>
          <p:cNvPr id="55" name="polyline-055"/>
          <p:cNvSpPr/>
          <p:nvPr/>
        </p:nvSpPr>
        <p:spPr>
          <a:xfrm>
            <a:off x="3968496" y="7015277"/>
            <a:ext cx="682752" cy="1"/>
          </a:xfrm>
          <a:custGeom>
            <a:avLst/>
            <a:gdLst/>
            <a:ahLst/>
            <a:cxnLst/>
            <a:rect l="0" t="0" r="r" b="b"/>
            <a:pathLst>
              <a:path w="682752" h="1" fill="none">
                <a:moveTo>
                  <a:pt x="0" y="0"/>
                </a:moveTo>
                <a:lnTo>
                  <a:pt x="682752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6"/>
          <p:cNvSpPr/>
          <p:nvPr/>
        </p:nvSpPr>
        <p:spPr>
          <a:xfrm>
            <a:off x="2090928" y="6144768"/>
            <a:ext cx="3396691" cy="870509"/>
          </a:xfrm>
          <a:custGeom>
            <a:avLst/>
            <a:gdLst/>
            <a:ahLst/>
            <a:cxnLst/>
            <a:rect l="0" t="0" r="r" b="b"/>
            <a:pathLst>
              <a:path w="3396691" h="870509" fill="none">
                <a:moveTo>
                  <a:pt x="0" y="870509"/>
                </a:moveTo>
                <a:lnTo>
                  <a:pt x="0" y="0"/>
                </a:lnTo>
                <a:lnTo>
                  <a:pt x="3396691" y="0"/>
                </a:lnTo>
                <a:lnTo>
                  <a:pt x="3396691" y="512064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RAW 支路"/>
          <p:cNvSpPr txBox="1"/>
          <p:nvPr/>
        </p:nvSpPr>
        <p:spPr>
          <a:xfrm>
            <a:off x="2773680" y="5877812"/>
            <a:ext cx="723424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RAW 支路</a:t>
            </a:r>
          </a:p>
        </p:txBody>
      </p:sp>
      <p:sp>
        <p:nvSpPr>
          <p:cNvPr id="58" name="rect-058"/>
          <p:cNvSpPr/>
          <p:nvPr/>
        </p:nvSpPr>
        <p:spPr>
          <a:xfrm>
            <a:off x="6998208" y="6656832"/>
            <a:ext cx="1877568" cy="725424"/>
          </a:xfrm>
          <a:prstGeom prst="roundRect">
            <a:avLst>
              <a:gd name="adj" fmla="val 9411"/>
            </a:avLst>
          </a:prstGeom>
          <a:solidFill>
            <a:srgbClr val="FFF1E1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图像写入器"/>
          <p:cNvSpPr txBox="1"/>
          <p:nvPr/>
        </p:nvSpPr>
        <p:spPr>
          <a:xfrm>
            <a:off x="7399325" y="6825984"/>
            <a:ext cx="1075334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图像写入器</a:t>
            </a:r>
          </a:p>
        </p:txBody>
      </p:sp>
      <p:sp>
        <p:nvSpPr>
          <p:cNvPr id="60" name="text-060: 打包 / stride / AXI 响应"/>
          <p:cNvSpPr txBox="1"/>
          <p:nvPr/>
        </p:nvSpPr>
        <p:spPr>
          <a:xfrm>
            <a:off x="7160562" y="7111033"/>
            <a:ext cx="1552861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打包 / stride / AXI 响应</a:t>
            </a:r>
          </a:p>
        </p:txBody>
      </p:sp>
      <p:sp>
        <p:nvSpPr>
          <p:cNvPr id="61" name="polyline-061"/>
          <p:cNvSpPr/>
          <p:nvPr/>
        </p:nvSpPr>
        <p:spPr>
          <a:xfrm>
            <a:off x="6315456" y="7015277"/>
            <a:ext cx="682752" cy="1"/>
          </a:xfrm>
          <a:custGeom>
            <a:avLst/>
            <a:gdLst/>
            <a:ahLst/>
            <a:cxnLst/>
            <a:rect l="0" t="0" r="r" b="b"/>
            <a:pathLst>
              <a:path w="682752" h="1" fill="none">
                <a:moveTo>
                  <a:pt x="0" y="0"/>
                </a:moveTo>
                <a:lnTo>
                  <a:pt x="682752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line-062"/>
          <p:cNvSpPr/>
          <p:nvPr/>
        </p:nvSpPr>
        <p:spPr>
          <a:xfrm>
            <a:off x="8875776" y="3925824"/>
            <a:ext cx="768096" cy="3089453"/>
          </a:xfrm>
          <a:custGeom>
            <a:avLst/>
            <a:gdLst/>
            <a:ahLst/>
            <a:cxnLst/>
            <a:rect l="0" t="0" r="r" b="b"/>
            <a:pathLst>
              <a:path w="768096" h="3089453" fill="none">
                <a:moveTo>
                  <a:pt x="0" y="3089453"/>
                </a:moveTo>
                <a:lnTo>
                  <a:pt x="768096" y="3089453"/>
                </a:lnTo>
                <a:lnTo>
                  <a:pt x="768096" y="0"/>
                </a:lnTo>
              </a:path>
            </a:pathLst>
          </a:custGeom>
          <a:noFill/>
          <a:ln w="25603" cap="flat">
            <a:solidFill>
              <a:srgbClr val="3574A8"/>
            </a:solidFill>
            <a:custDash>
              <a:ds d="300000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3"/>
          <p:cNvSpPr/>
          <p:nvPr/>
        </p:nvSpPr>
        <p:spPr>
          <a:xfrm>
            <a:off x="384048" y="2304288"/>
            <a:ext cx="1920240" cy="896112"/>
          </a:xfrm>
          <a:prstGeom prst="roundRect">
            <a:avLst>
              <a:gd name="adj" fmla="val 7619"/>
            </a:avLst>
          </a:prstGeom>
          <a:solidFill>
            <a:srgbClr val="F1EBF6"/>
          </a:solidFill>
          <a:ln w="17069" cap="flat">
            <a:solidFill>
              <a:srgbClr val="BE7127"/>
            </a:solidFill>
            <a:custDash>
              <a:ds d="4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新增 IP 控制 / 状态"/>
          <p:cNvSpPr txBox="1"/>
          <p:nvPr/>
        </p:nvSpPr>
        <p:spPr>
          <a:xfrm>
            <a:off x="489455" y="2558784"/>
            <a:ext cx="170942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新增 IP 控制 / 状态</a:t>
            </a:r>
          </a:p>
        </p:txBody>
      </p:sp>
      <p:sp>
        <p:nvSpPr>
          <p:cNvPr id="65" name="text-065: 外部 Regbus + PLIC IRQ"/>
          <p:cNvSpPr txBox="1"/>
          <p:nvPr/>
        </p:nvSpPr>
        <p:spPr>
          <a:xfrm>
            <a:off x="556870" y="2843833"/>
            <a:ext cx="1574597" cy="2184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外部 Regbus + PLIC IRQ</a:t>
            </a:r>
          </a:p>
        </p:txBody>
      </p:sp>
      <p:sp>
        <p:nvSpPr>
          <p:cNvPr id="66" name="polyline-066"/>
          <p:cNvSpPr/>
          <p:nvPr/>
        </p:nvSpPr>
        <p:spPr>
          <a:xfrm>
            <a:off x="2304288" y="1749552"/>
            <a:ext cx="512064" cy="1024128"/>
          </a:xfrm>
          <a:custGeom>
            <a:avLst/>
            <a:gdLst/>
            <a:ahLst/>
            <a:cxnLst/>
            <a:rect l="0" t="0" r="r" b="b"/>
            <a:pathLst>
              <a:path w="512064" h="1024128" fill="none">
                <a:moveTo>
                  <a:pt x="512064" y="0"/>
                </a:moveTo>
                <a:lnTo>
                  <a:pt x="512064" y="1024128"/>
                </a:lnTo>
                <a:lnTo>
                  <a:pt x="0" y="1024128"/>
                </a:lnTo>
              </a:path>
            </a:pathLst>
          </a:custGeom>
          <a:noFill/>
          <a:ln w="25603" cap="flat">
            <a:solidFill>
              <a:srgbClr val="7955A0"/>
            </a:solidFill>
            <a:custDash>
              <a:ds d="300000" sp="1666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实线：复用当前路径    虚线：本轮建议、尚未实现    双向箭头：读写访问能力"/>
          <p:cNvSpPr txBox="1"/>
          <p:nvPr/>
        </p:nvSpPr>
        <p:spPr>
          <a:xfrm>
            <a:off x="384048" y="7771083"/>
            <a:ext cx="5437906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实线：复用当前路径    虚线：本轮建议、尚未实现    双向箭头：读写访问能力</a:t>
            </a:r>
          </a:p>
        </p:txBody>
      </p:sp>
      <p:sp>
        <p:nvSpPr>
          <p:cNvPr id="68" name="text-068: CPU 调度；控制/完成通知覆盖新增 IP。后续再评估 Ara 宽口直达 GB、"/>
          <p:cNvSpPr txBox="1"/>
          <p:nvPr/>
        </p:nvSpPr>
        <p:spPr>
          <a:xfrm>
            <a:off x="384048" y="8052718"/>
            <a:ext cx="7061749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20334A"/>
                </a:solidFill>
                <a:latin typeface="WenQuanYi Zen Hei"/>
                <a:ea typeface="WenQuanYi Zen Hei"/>
                <a:cs typeface="WenQuanYi Zen Hei"/>
              </a:rPr>
              <a:t>CPU 调度；控制/完成通知覆盖新增 IP。后续再评估 Ara 宽口直达 GB、ISP 共享 GB 和直接流式交接。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