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29260800" cy="16459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2: Cheshire + CVA6 + Ara · AXI Crossbar"/>
          <p:cNvSpPr txBox="1"/>
          <p:nvPr/>
        </p:nvSpPr>
        <p:spPr>
          <a:xfrm>
            <a:off x="470263" y="193957"/>
            <a:ext cx="7827444" cy="7189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53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Cheshire + CVA6 + Ara · AXI Crossbar</a:t>
            </a:r>
          </a:p>
        </p:txBody>
      </p:sp>
      <p:sp>
        <p:nvSpPr>
          <p:cNvPr id="3" name="o3: Ara 仿真配置：2 lanes / VLEN 2048 · 64-bit AX"/>
          <p:cNvSpPr txBox="1"/>
          <p:nvPr/>
        </p:nvSpPr>
        <p:spPr>
          <a:xfrm>
            <a:off x="501614" y="899561"/>
            <a:ext cx="8270993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Ara 仿真配置：2 lanes / VLEN 2048 · 64-bit AXI · RT 关闭 · 7 × 5 全连接</a:t>
            </a:r>
          </a:p>
        </p:txBody>
      </p:sp>
      <p:sp>
        <p:nvSpPr>
          <p:cNvPr id="4" name="sources"/>
          <p:cNvSpPr/>
          <p:nvPr/>
        </p:nvSpPr>
        <p:spPr>
          <a:xfrm>
            <a:off x="522514" y="1933303"/>
            <a:ext cx="5434149" cy="13062857"/>
          </a:xfrm>
          <a:prstGeom prst="rect">
            <a:avLst/>
          </a:prstGeom>
          <a:solidFill>
            <a:srgbClr val="F1D7D9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o5: AXI master / 发起端"/>
          <p:cNvSpPr txBox="1"/>
          <p:nvPr/>
        </p:nvSpPr>
        <p:spPr>
          <a:xfrm>
            <a:off x="1698229" y="2044076"/>
            <a:ext cx="3082720" cy="5016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6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master / 发起端</a:t>
            </a:r>
          </a:p>
        </p:txBody>
      </p:sp>
      <p:sp>
        <p:nvSpPr>
          <p:cNvPr id="6" name="fabric"/>
          <p:cNvSpPr/>
          <p:nvPr/>
        </p:nvSpPr>
        <p:spPr>
          <a:xfrm>
            <a:off x="6426926" y="1933303"/>
            <a:ext cx="13794377" cy="13062857"/>
          </a:xfrm>
          <a:prstGeom prst="rect">
            <a:avLst/>
          </a:prstGeom>
          <a:solidFill>
            <a:srgbClr val="F5E1C9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7: 每输入地址译码 → 每目标独立仲裁"/>
          <p:cNvSpPr txBox="1"/>
          <p:nvPr/>
        </p:nvSpPr>
        <p:spPr>
          <a:xfrm>
            <a:off x="10722058" y="2044076"/>
            <a:ext cx="5204112" cy="5016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6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每输入地址译码 → 每目标独立仲裁</a:t>
            </a:r>
          </a:p>
        </p:txBody>
      </p:sp>
      <p:sp>
        <p:nvSpPr>
          <p:cNvPr id="8" name="targets"/>
          <p:cNvSpPr/>
          <p:nvPr/>
        </p:nvSpPr>
        <p:spPr>
          <a:xfrm>
            <a:off x="20691566" y="1933303"/>
            <a:ext cx="8046720" cy="13062857"/>
          </a:xfrm>
          <a:prstGeom prst="rect">
            <a:avLst/>
          </a:prstGeom>
          <a:solidFill>
            <a:srgbClr val="D8E8F4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o9: AXI slave / 目标与下游"/>
          <p:cNvSpPr txBox="1"/>
          <p:nvPr/>
        </p:nvSpPr>
        <p:spPr>
          <a:xfrm>
            <a:off x="22982203" y="2044076"/>
            <a:ext cx="3465445" cy="5016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6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slave / 目标与下游</a:t>
            </a:r>
          </a:p>
        </p:txBody>
      </p:sp>
      <p:sp>
        <p:nvSpPr>
          <p:cNvPr id="10" name="source0"/>
          <p:cNvSpPr/>
          <p:nvPr/>
        </p:nvSpPr>
        <p:spPr>
          <a:xfrm>
            <a:off x="836023" y="2926080"/>
            <a:ext cx="4702629" cy="1254034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o11: S0 · CVA6 core 0"/>
          <p:cNvSpPr txBox="1"/>
          <p:nvPr/>
        </p:nvSpPr>
        <p:spPr>
          <a:xfrm>
            <a:off x="1947860" y="3158912"/>
            <a:ext cx="2478955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 · CVA6 core 0</a:t>
            </a:r>
          </a:p>
        </p:txBody>
      </p:sp>
      <p:sp>
        <p:nvSpPr>
          <p:cNvPr id="12" name="o12: cheshire_cva6_wrap"/>
          <p:cNvSpPr txBox="1"/>
          <p:nvPr/>
        </p:nvSpPr>
        <p:spPr>
          <a:xfrm>
            <a:off x="1954857" y="3559367"/>
            <a:ext cx="2464961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cheshire_cva6_wrap</a:t>
            </a:r>
          </a:p>
        </p:txBody>
      </p:sp>
      <p:sp>
        <p:nvSpPr>
          <p:cNvPr id="13" name="demux0"/>
          <p:cNvSpPr/>
          <p:nvPr/>
        </p:nvSpPr>
        <p:spPr>
          <a:xfrm>
            <a:off x="6844937" y="3103735"/>
            <a:ext cx="2560320" cy="898725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o14: DEMUX S0"/>
          <p:cNvSpPr txBox="1"/>
          <p:nvPr/>
        </p:nvSpPr>
        <p:spPr>
          <a:xfrm>
            <a:off x="7315959" y="3166646"/>
            <a:ext cx="1618276" cy="45145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21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 S0</a:t>
            </a:r>
          </a:p>
        </p:txBody>
      </p:sp>
      <p:sp>
        <p:nvSpPr>
          <p:cNvPr id="15" name="o15: AR / AW 译码"/>
          <p:cNvSpPr txBox="1"/>
          <p:nvPr/>
        </p:nvSpPr>
        <p:spPr>
          <a:xfrm>
            <a:off x="7286658" y="3567101"/>
            <a:ext cx="1676879" cy="38457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92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AR / AW 译码</a:t>
            </a:r>
          </a:p>
        </p:txBody>
      </p:sp>
      <p:cxnSp>
        <p:nvCxnSpPr>
          <p:cNvPr id="16" name="input0"/>
          <p:cNvCxnSpPr/>
          <p:nvPr/>
        </p:nvCxnSpPr>
        <p:spPr>
          <a:xfrm>
            <a:off x="5538651" y="3553097"/>
            <a:ext cx="1306286" cy="0"/>
          </a:xfrm>
          <a:prstGeom prst="line">
            <a:avLst/>
          </a:prstGeom>
          <a:ln w="31351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7" name="source1"/>
          <p:cNvSpPr/>
          <p:nvPr/>
        </p:nvSpPr>
        <p:spPr>
          <a:xfrm>
            <a:off x="836023" y="4545874"/>
            <a:ext cx="4702629" cy="1254034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o18: S1 · Debug / SBA"/>
          <p:cNvSpPr txBox="1"/>
          <p:nvPr/>
        </p:nvSpPr>
        <p:spPr>
          <a:xfrm>
            <a:off x="1907006" y="4778707"/>
            <a:ext cx="2560663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 · Debug / SBA</a:t>
            </a:r>
          </a:p>
        </p:txBody>
      </p:sp>
      <p:sp>
        <p:nvSpPr>
          <p:cNvPr id="19" name="o19: 调试总线发起端"/>
          <p:cNvSpPr txBox="1"/>
          <p:nvPr/>
        </p:nvSpPr>
        <p:spPr>
          <a:xfrm>
            <a:off x="2184110" y="5179162"/>
            <a:ext cx="2006455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调试总线发起端</a:t>
            </a:r>
          </a:p>
        </p:txBody>
      </p:sp>
      <p:sp>
        <p:nvSpPr>
          <p:cNvPr id="20" name="demux1"/>
          <p:cNvSpPr/>
          <p:nvPr/>
        </p:nvSpPr>
        <p:spPr>
          <a:xfrm>
            <a:off x="6844937" y="4723529"/>
            <a:ext cx="2560320" cy="898725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o21: DEMUX S1"/>
          <p:cNvSpPr txBox="1"/>
          <p:nvPr/>
        </p:nvSpPr>
        <p:spPr>
          <a:xfrm>
            <a:off x="7315959" y="4786440"/>
            <a:ext cx="1618276" cy="45145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21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 S1</a:t>
            </a:r>
          </a:p>
        </p:txBody>
      </p:sp>
      <p:sp>
        <p:nvSpPr>
          <p:cNvPr id="22" name="o22: AR / AW 译码"/>
          <p:cNvSpPr txBox="1"/>
          <p:nvPr/>
        </p:nvSpPr>
        <p:spPr>
          <a:xfrm>
            <a:off x="7286658" y="5186895"/>
            <a:ext cx="1676879" cy="38457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92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AR / AW 译码</a:t>
            </a:r>
          </a:p>
        </p:txBody>
      </p:sp>
      <p:cxnSp>
        <p:nvCxnSpPr>
          <p:cNvPr id="23" name="input1"/>
          <p:cNvCxnSpPr/>
          <p:nvPr/>
        </p:nvCxnSpPr>
        <p:spPr>
          <a:xfrm>
            <a:off x="5538651" y="5172891"/>
            <a:ext cx="1306286" cy="0"/>
          </a:xfrm>
          <a:prstGeom prst="line">
            <a:avLst/>
          </a:prstGeom>
          <a:ln w="31351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24" name="source2"/>
          <p:cNvSpPr/>
          <p:nvPr/>
        </p:nvSpPr>
        <p:spPr>
          <a:xfrm>
            <a:off x="836023" y="6165669"/>
            <a:ext cx="4702629" cy="1254034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25: S2 · Ara 访存"/>
          <p:cNvSpPr txBox="1"/>
          <p:nvPr/>
        </p:nvSpPr>
        <p:spPr>
          <a:xfrm>
            <a:off x="2196046" y="6398501"/>
            <a:ext cx="1982582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 · Ara 访存</a:t>
            </a:r>
          </a:p>
        </p:txBody>
      </p:sp>
      <p:sp>
        <p:nvSpPr>
          <p:cNvPr id="26" name="o26: filter → 64→64 位宽适配"/>
          <p:cNvSpPr txBox="1"/>
          <p:nvPr/>
        </p:nvSpPr>
        <p:spPr>
          <a:xfrm>
            <a:off x="1650655" y="6798956"/>
            <a:ext cx="3073364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filter → 64→64 位宽适配</a:t>
            </a:r>
          </a:p>
        </p:txBody>
      </p:sp>
      <p:sp>
        <p:nvSpPr>
          <p:cNvPr id="27" name="demux2"/>
          <p:cNvSpPr/>
          <p:nvPr/>
        </p:nvSpPr>
        <p:spPr>
          <a:xfrm>
            <a:off x="6844937" y="6343323"/>
            <a:ext cx="2560320" cy="898725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o28: DEMUX S2"/>
          <p:cNvSpPr txBox="1"/>
          <p:nvPr/>
        </p:nvSpPr>
        <p:spPr>
          <a:xfrm>
            <a:off x="7315959" y="6406234"/>
            <a:ext cx="1618276" cy="45145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21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 S2</a:t>
            </a:r>
          </a:p>
        </p:txBody>
      </p:sp>
      <p:sp>
        <p:nvSpPr>
          <p:cNvPr id="29" name="o29: AR / AW 译码"/>
          <p:cNvSpPr txBox="1"/>
          <p:nvPr/>
        </p:nvSpPr>
        <p:spPr>
          <a:xfrm>
            <a:off x="7286658" y="6806689"/>
            <a:ext cx="1676879" cy="38457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92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AR / AW 译码</a:t>
            </a:r>
          </a:p>
        </p:txBody>
      </p:sp>
      <p:cxnSp>
        <p:nvCxnSpPr>
          <p:cNvPr id="30" name="input2"/>
          <p:cNvCxnSpPr/>
          <p:nvPr/>
        </p:nvCxnSpPr>
        <p:spPr>
          <a:xfrm>
            <a:off x="5538651" y="6792686"/>
            <a:ext cx="1306286" cy="0"/>
          </a:xfrm>
          <a:prstGeom prst="line">
            <a:avLst/>
          </a:prstGeom>
          <a:ln w="31351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31" name="source3"/>
          <p:cNvSpPr/>
          <p:nvPr/>
        </p:nvSpPr>
        <p:spPr>
          <a:xfrm>
            <a:off x="836023" y="7785463"/>
            <a:ext cx="4702629" cy="1254034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o32: S3 · iDMA 数据"/>
          <p:cNvSpPr txBox="1"/>
          <p:nvPr/>
        </p:nvSpPr>
        <p:spPr>
          <a:xfrm>
            <a:off x="2070308" y="8018295"/>
            <a:ext cx="2234059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 · iDMA 数据</a:t>
            </a:r>
          </a:p>
        </p:txBody>
      </p:sp>
      <p:sp>
        <p:nvSpPr>
          <p:cNvPr id="33" name="o33: 独立搬运主口"/>
          <p:cNvSpPr txBox="1"/>
          <p:nvPr/>
        </p:nvSpPr>
        <p:spPr>
          <a:xfrm>
            <a:off x="2309513" y="8418750"/>
            <a:ext cx="1755648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独立搬运主口</a:t>
            </a:r>
          </a:p>
        </p:txBody>
      </p:sp>
      <p:sp>
        <p:nvSpPr>
          <p:cNvPr id="34" name="demux3"/>
          <p:cNvSpPr/>
          <p:nvPr/>
        </p:nvSpPr>
        <p:spPr>
          <a:xfrm>
            <a:off x="6844937" y="7963118"/>
            <a:ext cx="2560320" cy="898725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o35: DEMUX S3"/>
          <p:cNvSpPr txBox="1"/>
          <p:nvPr/>
        </p:nvSpPr>
        <p:spPr>
          <a:xfrm>
            <a:off x="7315959" y="8026028"/>
            <a:ext cx="1618276" cy="45145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21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 S3</a:t>
            </a:r>
          </a:p>
        </p:txBody>
      </p:sp>
      <p:sp>
        <p:nvSpPr>
          <p:cNvPr id="36" name="o36: AR / AW 译码"/>
          <p:cNvSpPr txBox="1"/>
          <p:nvPr/>
        </p:nvSpPr>
        <p:spPr>
          <a:xfrm>
            <a:off x="7286658" y="8426483"/>
            <a:ext cx="1676879" cy="38457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92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AR / AW 译码</a:t>
            </a:r>
          </a:p>
        </p:txBody>
      </p:sp>
      <p:cxnSp>
        <p:nvCxnSpPr>
          <p:cNvPr id="37" name="input3"/>
          <p:cNvCxnSpPr/>
          <p:nvPr/>
        </p:nvCxnSpPr>
        <p:spPr>
          <a:xfrm>
            <a:off x="5538651" y="8412480"/>
            <a:ext cx="1306286" cy="0"/>
          </a:xfrm>
          <a:prstGeom prst="line">
            <a:avLst/>
          </a:prstGeom>
          <a:ln w="31351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38" name="source4"/>
          <p:cNvSpPr/>
          <p:nvPr/>
        </p:nvSpPr>
        <p:spPr>
          <a:xfrm>
            <a:off x="836023" y="9405257"/>
            <a:ext cx="4702629" cy="1254034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o39: S4 · Serial Link RX"/>
          <p:cNvSpPr txBox="1"/>
          <p:nvPr/>
        </p:nvSpPr>
        <p:spPr>
          <a:xfrm>
            <a:off x="1857563" y="9638090"/>
            <a:ext cx="2659549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 · Serial Link RX</a:t>
            </a:r>
          </a:p>
        </p:txBody>
      </p:sp>
      <p:sp>
        <p:nvSpPr>
          <p:cNvPr id="40" name="o40: 远端请求入口"/>
          <p:cNvSpPr txBox="1"/>
          <p:nvPr/>
        </p:nvSpPr>
        <p:spPr>
          <a:xfrm>
            <a:off x="2309513" y="10038544"/>
            <a:ext cx="1755648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41" name="demux4"/>
          <p:cNvSpPr/>
          <p:nvPr/>
        </p:nvSpPr>
        <p:spPr>
          <a:xfrm>
            <a:off x="6844937" y="9582912"/>
            <a:ext cx="2560320" cy="898725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o42: DEMUX S4"/>
          <p:cNvSpPr txBox="1"/>
          <p:nvPr/>
        </p:nvSpPr>
        <p:spPr>
          <a:xfrm>
            <a:off x="7315959" y="9645823"/>
            <a:ext cx="1618276" cy="45145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21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 S4</a:t>
            </a:r>
          </a:p>
        </p:txBody>
      </p:sp>
      <p:sp>
        <p:nvSpPr>
          <p:cNvPr id="43" name="o43: AR / AW 译码"/>
          <p:cNvSpPr txBox="1"/>
          <p:nvPr/>
        </p:nvSpPr>
        <p:spPr>
          <a:xfrm>
            <a:off x="7286658" y="10046278"/>
            <a:ext cx="1676879" cy="38457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92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AR / AW 译码</a:t>
            </a:r>
          </a:p>
        </p:txBody>
      </p:sp>
      <p:cxnSp>
        <p:nvCxnSpPr>
          <p:cNvPr id="44" name="input4"/>
          <p:cNvCxnSpPr/>
          <p:nvPr/>
        </p:nvCxnSpPr>
        <p:spPr>
          <a:xfrm>
            <a:off x="5538651" y="10032274"/>
            <a:ext cx="1306286" cy="0"/>
          </a:xfrm>
          <a:prstGeom prst="line">
            <a:avLst/>
          </a:prstGeom>
          <a:ln w="31351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45" name="source5"/>
          <p:cNvSpPr/>
          <p:nvPr/>
        </p:nvSpPr>
        <p:spPr>
          <a:xfrm>
            <a:off x="836023" y="11025051"/>
            <a:ext cx="4702629" cy="1254034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o46: S5 · VGA 取帧"/>
          <p:cNvSpPr txBox="1"/>
          <p:nvPr/>
        </p:nvSpPr>
        <p:spPr>
          <a:xfrm>
            <a:off x="2143321" y="11257884"/>
            <a:ext cx="2088032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 · VGA 取帧</a:t>
            </a:r>
          </a:p>
        </p:txBody>
      </p:sp>
      <p:sp>
        <p:nvSpPr>
          <p:cNvPr id="47" name="o47: 帧缓冲读取"/>
          <p:cNvSpPr txBox="1"/>
          <p:nvPr/>
        </p:nvSpPr>
        <p:spPr>
          <a:xfrm>
            <a:off x="2434917" y="11658339"/>
            <a:ext cx="1504841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48" name="demux5"/>
          <p:cNvSpPr/>
          <p:nvPr/>
        </p:nvSpPr>
        <p:spPr>
          <a:xfrm>
            <a:off x="6844937" y="11202706"/>
            <a:ext cx="2560320" cy="898725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o49: DEMUX S5"/>
          <p:cNvSpPr txBox="1"/>
          <p:nvPr/>
        </p:nvSpPr>
        <p:spPr>
          <a:xfrm>
            <a:off x="7315959" y="11265617"/>
            <a:ext cx="1618276" cy="45145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21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 S5</a:t>
            </a:r>
          </a:p>
        </p:txBody>
      </p:sp>
      <p:sp>
        <p:nvSpPr>
          <p:cNvPr id="50" name="o50: AR / AW 译码"/>
          <p:cNvSpPr txBox="1"/>
          <p:nvPr/>
        </p:nvSpPr>
        <p:spPr>
          <a:xfrm>
            <a:off x="7286658" y="11666072"/>
            <a:ext cx="1676879" cy="38457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92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AR / AW 译码</a:t>
            </a:r>
          </a:p>
        </p:txBody>
      </p:sp>
      <p:cxnSp>
        <p:nvCxnSpPr>
          <p:cNvPr id="51" name="input5"/>
          <p:cNvCxnSpPr/>
          <p:nvPr/>
        </p:nvCxnSpPr>
        <p:spPr>
          <a:xfrm>
            <a:off x="5538651" y="11652069"/>
            <a:ext cx="1306286" cy="0"/>
          </a:xfrm>
          <a:prstGeom prst="line">
            <a:avLst/>
          </a:prstGeom>
          <a:ln w="31351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52" name="source6"/>
          <p:cNvSpPr/>
          <p:nvPr/>
        </p:nvSpPr>
        <p:spPr>
          <a:xfrm>
            <a:off x="836023" y="12644846"/>
            <a:ext cx="4702629" cy="1254034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o53: S6 · USB DMA"/>
          <p:cNvSpPr txBox="1"/>
          <p:nvPr/>
        </p:nvSpPr>
        <p:spPr>
          <a:xfrm>
            <a:off x="2123171" y="12877678"/>
            <a:ext cx="2128331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 · USB DMA</a:t>
            </a:r>
          </a:p>
        </p:txBody>
      </p:sp>
      <p:sp>
        <p:nvSpPr>
          <p:cNvPr id="54" name="o54: OHCI 数据访问"/>
          <p:cNvSpPr txBox="1"/>
          <p:nvPr/>
        </p:nvSpPr>
        <p:spPr>
          <a:xfrm>
            <a:off x="2247179" y="13278133"/>
            <a:ext cx="1880317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数据访问</a:t>
            </a:r>
          </a:p>
        </p:txBody>
      </p:sp>
      <p:sp>
        <p:nvSpPr>
          <p:cNvPr id="55" name="demux6"/>
          <p:cNvSpPr/>
          <p:nvPr/>
        </p:nvSpPr>
        <p:spPr>
          <a:xfrm>
            <a:off x="6844937" y="12822501"/>
            <a:ext cx="2560320" cy="898725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o56: DEMUX S6"/>
          <p:cNvSpPr txBox="1"/>
          <p:nvPr/>
        </p:nvSpPr>
        <p:spPr>
          <a:xfrm>
            <a:off x="7315959" y="12885411"/>
            <a:ext cx="1618276" cy="45145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21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 S6</a:t>
            </a:r>
          </a:p>
        </p:txBody>
      </p:sp>
      <p:sp>
        <p:nvSpPr>
          <p:cNvPr id="57" name="o57: AR / AW 译码"/>
          <p:cNvSpPr txBox="1"/>
          <p:nvPr/>
        </p:nvSpPr>
        <p:spPr>
          <a:xfrm>
            <a:off x="7286658" y="13285866"/>
            <a:ext cx="1676879" cy="38457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92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AR / AW 译码</a:t>
            </a:r>
          </a:p>
        </p:txBody>
      </p:sp>
      <p:cxnSp>
        <p:nvCxnSpPr>
          <p:cNvPr id="58" name="input6"/>
          <p:cNvCxnSpPr/>
          <p:nvPr/>
        </p:nvCxnSpPr>
        <p:spPr>
          <a:xfrm>
            <a:off x="5538651" y="13271863"/>
            <a:ext cx="1306286" cy="0"/>
          </a:xfrm>
          <a:prstGeom prst="line">
            <a:avLst/>
          </a:prstGeom>
          <a:ln w="31351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59" name="reach-0-0"/>
          <p:cNvCxnSpPr/>
          <p:nvPr/>
        </p:nvCxnSpPr>
        <p:spPr>
          <a:xfrm>
            <a:off x="9405257" y="3553097"/>
            <a:ext cx="7471954" cy="156754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cxnSp>
        <p:nvCxnSpPr>
          <p:cNvPr id="60" name="reach-0-1"/>
          <p:cNvCxnSpPr/>
          <p:nvPr/>
        </p:nvCxnSpPr>
        <p:spPr>
          <a:xfrm>
            <a:off x="9405257" y="3553097"/>
            <a:ext cx="7471954" cy="2299063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cxnSp>
        <p:nvCxnSpPr>
          <p:cNvPr id="61" name="reach-0-2"/>
          <p:cNvCxnSpPr/>
          <p:nvPr/>
        </p:nvCxnSpPr>
        <p:spPr>
          <a:xfrm>
            <a:off x="9405257" y="3553097"/>
            <a:ext cx="7471954" cy="4807132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cxnSp>
        <p:nvCxnSpPr>
          <p:cNvPr id="62" name="reach-0-3"/>
          <p:cNvCxnSpPr/>
          <p:nvPr/>
        </p:nvCxnSpPr>
        <p:spPr>
          <a:xfrm>
            <a:off x="9405257" y="3553097"/>
            <a:ext cx="7471954" cy="7889966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cxnSp>
        <p:nvCxnSpPr>
          <p:cNvPr id="63" name="reach-0-4"/>
          <p:cNvCxnSpPr/>
          <p:nvPr/>
        </p:nvCxnSpPr>
        <p:spPr>
          <a:xfrm>
            <a:off x="9405257" y="3553097"/>
            <a:ext cx="7471954" cy="9823269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cxnSp>
        <p:nvCxnSpPr>
          <p:cNvPr id="64" name="reach-1-0"/>
          <p:cNvCxnSpPr/>
          <p:nvPr/>
        </p:nvCxnSpPr>
        <p:spPr>
          <a:xfrm flipV="1">
            <a:off x="9405257" y="3709851"/>
            <a:ext cx="7471954" cy="1463040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cxnSp>
        <p:nvCxnSpPr>
          <p:cNvPr id="65" name="reach-1-1"/>
          <p:cNvCxnSpPr/>
          <p:nvPr/>
        </p:nvCxnSpPr>
        <p:spPr>
          <a:xfrm>
            <a:off x="9405257" y="5172891"/>
            <a:ext cx="7471954" cy="679269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cxnSp>
        <p:nvCxnSpPr>
          <p:cNvPr id="66" name="reach-1-2"/>
          <p:cNvCxnSpPr/>
          <p:nvPr/>
        </p:nvCxnSpPr>
        <p:spPr>
          <a:xfrm>
            <a:off x="9405257" y="5172891"/>
            <a:ext cx="7471954" cy="3187338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cxnSp>
        <p:nvCxnSpPr>
          <p:cNvPr id="67" name="reach-1-3"/>
          <p:cNvCxnSpPr/>
          <p:nvPr/>
        </p:nvCxnSpPr>
        <p:spPr>
          <a:xfrm>
            <a:off x="9405257" y="5172891"/>
            <a:ext cx="7471954" cy="6270172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cxnSp>
        <p:nvCxnSpPr>
          <p:cNvPr id="68" name="reach-1-4"/>
          <p:cNvCxnSpPr/>
          <p:nvPr/>
        </p:nvCxnSpPr>
        <p:spPr>
          <a:xfrm>
            <a:off x="9405257" y="5172891"/>
            <a:ext cx="7471954" cy="8203475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cxnSp>
        <p:nvCxnSpPr>
          <p:cNvPr id="69" name="reach-2-0"/>
          <p:cNvCxnSpPr/>
          <p:nvPr/>
        </p:nvCxnSpPr>
        <p:spPr>
          <a:xfrm flipV="1">
            <a:off x="9405257" y="3709851"/>
            <a:ext cx="7471954" cy="3082835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cxnSp>
        <p:nvCxnSpPr>
          <p:cNvPr id="70" name="reach-2-1"/>
          <p:cNvCxnSpPr/>
          <p:nvPr/>
        </p:nvCxnSpPr>
        <p:spPr>
          <a:xfrm flipV="1">
            <a:off x="9405257" y="5852160"/>
            <a:ext cx="7471954" cy="940526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cxnSp>
        <p:nvCxnSpPr>
          <p:cNvPr id="71" name="reach-2-2"/>
          <p:cNvCxnSpPr/>
          <p:nvPr/>
        </p:nvCxnSpPr>
        <p:spPr>
          <a:xfrm>
            <a:off x="9405257" y="6792686"/>
            <a:ext cx="7471954" cy="1567543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cxnSp>
        <p:nvCxnSpPr>
          <p:cNvPr id="72" name="reach-2-3"/>
          <p:cNvCxnSpPr/>
          <p:nvPr/>
        </p:nvCxnSpPr>
        <p:spPr>
          <a:xfrm>
            <a:off x="9405257" y="6792686"/>
            <a:ext cx="7471954" cy="4650377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cxnSp>
        <p:nvCxnSpPr>
          <p:cNvPr id="73" name="reach-2-4"/>
          <p:cNvCxnSpPr/>
          <p:nvPr/>
        </p:nvCxnSpPr>
        <p:spPr>
          <a:xfrm>
            <a:off x="9405257" y="6792686"/>
            <a:ext cx="7471954" cy="6583680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cxnSp>
        <p:nvCxnSpPr>
          <p:cNvPr id="74" name="reach-3-0"/>
          <p:cNvCxnSpPr/>
          <p:nvPr/>
        </p:nvCxnSpPr>
        <p:spPr>
          <a:xfrm flipV="1">
            <a:off x="9405257" y="3709851"/>
            <a:ext cx="7471954" cy="4702629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cxnSp>
        <p:nvCxnSpPr>
          <p:cNvPr id="75" name="reach-3-1"/>
          <p:cNvCxnSpPr/>
          <p:nvPr/>
        </p:nvCxnSpPr>
        <p:spPr>
          <a:xfrm flipV="1">
            <a:off x="9405257" y="5852160"/>
            <a:ext cx="7471954" cy="2560320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cxnSp>
        <p:nvCxnSpPr>
          <p:cNvPr id="76" name="reach-3-2"/>
          <p:cNvCxnSpPr/>
          <p:nvPr/>
        </p:nvCxnSpPr>
        <p:spPr>
          <a:xfrm flipV="1">
            <a:off x="9405257" y="8360229"/>
            <a:ext cx="7471954" cy="52251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cxnSp>
        <p:nvCxnSpPr>
          <p:cNvPr id="77" name="reach-3-3"/>
          <p:cNvCxnSpPr/>
          <p:nvPr/>
        </p:nvCxnSpPr>
        <p:spPr>
          <a:xfrm>
            <a:off x="9405257" y="8412480"/>
            <a:ext cx="7471954" cy="3030583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cxnSp>
        <p:nvCxnSpPr>
          <p:cNvPr id="78" name="reach-3-4"/>
          <p:cNvCxnSpPr/>
          <p:nvPr/>
        </p:nvCxnSpPr>
        <p:spPr>
          <a:xfrm>
            <a:off x="9405257" y="8412480"/>
            <a:ext cx="7471954" cy="4963886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cxnSp>
        <p:nvCxnSpPr>
          <p:cNvPr id="79" name="reach-4-0"/>
          <p:cNvCxnSpPr/>
          <p:nvPr/>
        </p:nvCxnSpPr>
        <p:spPr>
          <a:xfrm flipV="1">
            <a:off x="9405257" y="3709851"/>
            <a:ext cx="7471954" cy="6322423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cxnSp>
        <p:nvCxnSpPr>
          <p:cNvPr id="80" name="reach-4-1"/>
          <p:cNvCxnSpPr/>
          <p:nvPr/>
        </p:nvCxnSpPr>
        <p:spPr>
          <a:xfrm flipV="1">
            <a:off x="9405257" y="5852160"/>
            <a:ext cx="7471954" cy="4180114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cxnSp>
        <p:nvCxnSpPr>
          <p:cNvPr id="81" name="reach-4-2"/>
          <p:cNvCxnSpPr/>
          <p:nvPr/>
        </p:nvCxnSpPr>
        <p:spPr>
          <a:xfrm flipV="1">
            <a:off x="9405257" y="8360229"/>
            <a:ext cx="7471954" cy="1672045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cxnSp>
        <p:nvCxnSpPr>
          <p:cNvPr id="82" name="reach-4-3"/>
          <p:cNvCxnSpPr/>
          <p:nvPr/>
        </p:nvCxnSpPr>
        <p:spPr>
          <a:xfrm>
            <a:off x="9405257" y="10032274"/>
            <a:ext cx="7471954" cy="1410789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cxnSp>
        <p:nvCxnSpPr>
          <p:cNvPr id="83" name="reach-4-4"/>
          <p:cNvCxnSpPr/>
          <p:nvPr/>
        </p:nvCxnSpPr>
        <p:spPr>
          <a:xfrm>
            <a:off x="9405257" y="10032274"/>
            <a:ext cx="7471954" cy="3344092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cxnSp>
        <p:nvCxnSpPr>
          <p:cNvPr id="84" name="reach-5-0"/>
          <p:cNvCxnSpPr/>
          <p:nvPr/>
        </p:nvCxnSpPr>
        <p:spPr>
          <a:xfrm flipV="1">
            <a:off x="9405257" y="3709851"/>
            <a:ext cx="7471954" cy="7942218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cxnSp>
        <p:nvCxnSpPr>
          <p:cNvPr id="85" name="reach-5-1"/>
          <p:cNvCxnSpPr/>
          <p:nvPr/>
        </p:nvCxnSpPr>
        <p:spPr>
          <a:xfrm flipV="1">
            <a:off x="9405257" y="5852160"/>
            <a:ext cx="7471954" cy="5799909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cxnSp>
        <p:nvCxnSpPr>
          <p:cNvPr id="86" name="reach-5-2"/>
          <p:cNvCxnSpPr/>
          <p:nvPr/>
        </p:nvCxnSpPr>
        <p:spPr>
          <a:xfrm flipV="1">
            <a:off x="9405257" y="8360229"/>
            <a:ext cx="7471954" cy="3291840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cxnSp>
        <p:nvCxnSpPr>
          <p:cNvPr id="87" name="reach-5-3"/>
          <p:cNvCxnSpPr/>
          <p:nvPr/>
        </p:nvCxnSpPr>
        <p:spPr>
          <a:xfrm flipV="1">
            <a:off x="9405257" y="11443063"/>
            <a:ext cx="7471954" cy="209006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cxnSp>
        <p:nvCxnSpPr>
          <p:cNvPr id="88" name="reach-5-4"/>
          <p:cNvCxnSpPr/>
          <p:nvPr/>
        </p:nvCxnSpPr>
        <p:spPr>
          <a:xfrm>
            <a:off x="9405257" y="11652069"/>
            <a:ext cx="7471954" cy="1724297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cxnSp>
        <p:nvCxnSpPr>
          <p:cNvPr id="89" name="reach-6-0"/>
          <p:cNvCxnSpPr/>
          <p:nvPr/>
        </p:nvCxnSpPr>
        <p:spPr>
          <a:xfrm flipV="1">
            <a:off x="9405257" y="3709851"/>
            <a:ext cx="7471954" cy="9562012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cxnSp>
        <p:nvCxnSpPr>
          <p:cNvPr id="90" name="reach-6-1"/>
          <p:cNvCxnSpPr/>
          <p:nvPr/>
        </p:nvCxnSpPr>
        <p:spPr>
          <a:xfrm flipV="1">
            <a:off x="9405257" y="5852160"/>
            <a:ext cx="7471954" cy="7419703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cxnSp>
        <p:nvCxnSpPr>
          <p:cNvPr id="91" name="reach-6-2"/>
          <p:cNvCxnSpPr/>
          <p:nvPr/>
        </p:nvCxnSpPr>
        <p:spPr>
          <a:xfrm flipV="1">
            <a:off x="9405257" y="8360229"/>
            <a:ext cx="7471954" cy="4911634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cxnSp>
        <p:nvCxnSpPr>
          <p:cNvPr id="92" name="reach-6-3"/>
          <p:cNvCxnSpPr/>
          <p:nvPr/>
        </p:nvCxnSpPr>
        <p:spPr>
          <a:xfrm flipV="1">
            <a:off x="9405257" y="11443063"/>
            <a:ext cx="7471954" cy="1828800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cxnSp>
        <p:nvCxnSpPr>
          <p:cNvPr id="93" name="reach-6-4"/>
          <p:cNvCxnSpPr/>
          <p:nvPr/>
        </p:nvCxnSpPr>
        <p:spPr>
          <a:xfrm>
            <a:off x="9405257" y="13271863"/>
            <a:ext cx="7471954" cy="104503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cxnSp>
        <p:nvCxnSpPr>
          <p:cNvPr id="94" name="example-0-1"/>
          <p:cNvCxnSpPr/>
          <p:nvPr/>
        </p:nvCxnSpPr>
        <p:spPr>
          <a:xfrm>
            <a:off x="9405257" y="3553097"/>
            <a:ext cx="7471954" cy="2299063"/>
          </a:xfrm>
          <a:prstGeom prst="line">
            <a:avLst/>
          </a:prstGeom>
          <a:ln w="34486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95" name="example-2-2"/>
          <p:cNvCxnSpPr/>
          <p:nvPr/>
        </p:nvCxnSpPr>
        <p:spPr>
          <a:xfrm>
            <a:off x="9405257" y="6792686"/>
            <a:ext cx="7471954" cy="1567543"/>
          </a:xfrm>
          <a:prstGeom prst="line">
            <a:avLst/>
          </a:prstGeom>
          <a:ln w="34486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96" name="example-3-2"/>
          <p:cNvCxnSpPr/>
          <p:nvPr/>
        </p:nvCxnSpPr>
        <p:spPr>
          <a:xfrm flipV="1">
            <a:off x="9405257" y="8360229"/>
            <a:ext cx="7471954" cy="52251"/>
          </a:xfrm>
          <a:prstGeom prst="line">
            <a:avLst/>
          </a:prstGeom>
          <a:ln w="34486" cap="flat">
            <a:solidFill>
              <a:srgbClr val="187C78"/>
            </a:solidFill>
            <a:tailEnd type="triangle" w="med" len="med"/>
          </a:ln>
          <a:effectLst/>
        </p:spPr>
      </p:cxnSp>
      <p:sp>
        <p:nvSpPr>
          <p:cNvPr id="97" name="mux0"/>
          <p:cNvSpPr/>
          <p:nvPr/>
        </p:nvSpPr>
        <p:spPr>
          <a:xfrm>
            <a:off x="16877211" y="3239589"/>
            <a:ext cx="2717074" cy="940526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o98: MUX M0"/>
          <p:cNvSpPr txBox="1"/>
          <p:nvPr/>
        </p:nvSpPr>
        <p:spPr>
          <a:xfrm>
            <a:off x="17570310" y="3323400"/>
            <a:ext cx="1330877" cy="45145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21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MUX M0</a:t>
            </a:r>
          </a:p>
        </p:txBody>
      </p:sp>
      <p:sp>
        <p:nvSpPr>
          <p:cNvPr id="99" name="o99: 独立仲裁"/>
          <p:cNvSpPr txBox="1"/>
          <p:nvPr/>
        </p:nvSpPr>
        <p:spPr>
          <a:xfrm>
            <a:off x="17608731" y="3712569"/>
            <a:ext cx="1254034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独立仲裁</a:t>
            </a:r>
          </a:p>
        </p:txBody>
      </p:sp>
      <p:cxnSp>
        <p:nvCxnSpPr>
          <p:cNvPr id="100" name="output0"/>
          <p:cNvCxnSpPr/>
          <p:nvPr/>
        </p:nvCxnSpPr>
        <p:spPr>
          <a:xfrm>
            <a:off x="19594286" y="3709851"/>
            <a:ext cx="1515291" cy="0"/>
          </a:xfrm>
          <a:prstGeom prst="line">
            <a:avLst/>
          </a:prstGeom>
          <a:ln w="31351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1" name="mux1"/>
          <p:cNvSpPr/>
          <p:nvPr/>
        </p:nvSpPr>
        <p:spPr>
          <a:xfrm>
            <a:off x="16877211" y="5381897"/>
            <a:ext cx="2717074" cy="940526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o102: MUX M1"/>
          <p:cNvSpPr txBox="1"/>
          <p:nvPr/>
        </p:nvSpPr>
        <p:spPr>
          <a:xfrm>
            <a:off x="17570310" y="5465708"/>
            <a:ext cx="1330877" cy="45145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21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MUX M1</a:t>
            </a:r>
          </a:p>
        </p:txBody>
      </p:sp>
      <p:sp>
        <p:nvSpPr>
          <p:cNvPr id="103" name="o103: 独立仲裁"/>
          <p:cNvSpPr txBox="1"/>
          <p:nvPr/>
        </p:nvSpPr>
        <p:spPr>
          <a:xfrm>
            <a:off x="17608731" y="5854877"/>
            <a:ext cx="1254034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独立仲裁</a:t>
            </a:r>
          </a:p>
        </p:txBody>
      </p:sp>
      <p:cxnSp>
        <p:nvCxnSpPr>
          <p:cNvPr id="104" name="output1"/>
          <p:cNvCxnSpPr/>
          <p:nvPr/>
        </p:nvCxnSpPr>
        <p:spPr>
          <a:xfrm>
            <a:off x="19594286" y="5852160"/>
            <a:ext cx="1515291" cy="0"/>
          </a:xfrm>
          <a:prstGeom prst="line">
            <a:avLst/>
          </a:prstGeom>
          <a:ln w="31351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5" name="mux2"/>
          <p:cNvSpPr/>
          <p:nvPr/>
        </p:nvSpPr>
        <p:spPr>
          <a:xfrm>
            <a:off x="16877211" y="7889966"/>
            <a:ext cx="2717074" cy="940526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o106: MUX M2"/>
          <p:cNvSpPr txBox="1"/>
          <p:nvPr/>
        </p:nvSpPr>
        <p:spPr>
          <a:xfrm>
            <a:off x="17570310" y="7973777"/>
            <a:ext cx="1330877" cy="45145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21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MUX M2</a:t>
            </a:r>
          </a:p>
        </p:txBody>
      </p:sp>
      <p:sp>
        <p:nvSpPr>
          <p:cNvPr id="107" name="o107: 独立仲裁"/>
          <p:cNvSpPr txBox="1"/>
          <p:nvPr/>
        </p:nvSpPr>
        <p:spPr>
          <a:xfrm>
            <a:off x="17608731" y="8362946"/>
            <a:ext cx="1254034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独立仲裁</a:t>
            </a:r>
          </a:p>
        </p:txBody>
      </p:sp>
      <p:cxnSp>
        <p:nvCxnSpPr>
          <p:cNvPr id="108" name="output2"/>
          <p:cNvCxnSpPr/>
          <p:nvPr/>
        </p:nvCxnSpPr>
        <p:spPr>
          <a:xfrm>
            <a:off x="19594286" y="8360229"/>
            <a:ext cx="1515291" cy="0"/>
          </a:xfrm>
          <a:prstGeom prst="line">
            <a:avLst/>
          </a:prstGeom>
          <a:ln w="31351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9" name="mux3"/>
          <p:cNvSpPr/>
          <p:nvPr/>
        </p:nvSpPr>
        <p:spPr>
          <a:xfrm>
            <a:off x="16877211" y="10972800"/>
            <a:ext cx="2717074" cy="940526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o110: MUX M3"/>
          <p:cNvSpPr txBox="1"/>
          <p:nvPr/>
        </p:nvSpPr>
        <p:spPr>
          <a:xfrm>
            <a:off x="17570310" y="11056611"/>
            <a:ext cx="1330877" cy="45145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21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MUX M3</a:t>
            </a:r>
          </a:p>
        </p:txBody>
      </p:sp>
      <p:sp>
        <p:nvSpPr>
          <p:cNvPr id="111" name="o111: 独立仲裁"/>
          <p:cNvSpPr txBox="1"/>
          <p:nvPr/>
        </p:nvSpPr>
        <p:spPr>
          <a:xfrm>
            <a:off x="17608731" y="11445780"/>
            <a:ext cx="1254034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独立仲裁</a:t>
            </a:r>
          </a:p>
        </p:txBody>
      </p:sp>
      <p:cxnSp>
        <p:nvCxnSpPr>
          <p:cNvPr id="112" name="output3"/>
          <p:cNvCxnSpPr/>
          <p:nvPr/>
        </p:nvCxnSpPr>
        <p:spPr>
          <a:xfrm>
            <a:off x="19594286" y="11443063"/>
            <a:ext cx="1515291" cy="0"/>
          </a:xfrm>
          <a:prstGeom prst="line">
            <a:avLst/>
          </a:prstGeom>
          <a:ln w="31351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3" name="mux4"/>
          <p:cNvSpPr/>
          <p:nvPr/>
        </p:nvSpPr>
        <p:spPr>
          <a:xfrm>
            <a:off x="16877211" y="12906103"/>
            <a:ext cx="2717074" cy="940526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o114: MUX M4"/>
          <p:cNvSpPr txBox="1"/>
          <p:nvPr/>
        </p:nvSpPr>
        <p:spPr>
          <a:xfrm>
            <a:off x="17570310" y="12989914"/>
            <a:ext cx="1330877" cy="45145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21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MUX M4</a:t>
            </a:r>
          </a:p>
        </p:txBody>
      </p:sp>
      <p:sp>
        <p:nvSpPr>
          <p:cNvPr id="115" name="o115: 独立仲裁"/>
          <p:cNvSpPr txBox="1"/>
          <p:nvPr/>
        </p:nvSpPr>
        <p:spPr>
          <a:xfrm>
            <a:off x="17608731" y="13379083"/>
            <a:ext cx="1254034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独立仲裁</a:t>
            </a:r>
          </a:p>
        </p:txBody>
      </p:sp>
      <p:cxnSp>
        <p:nvCxnSpPr>
          <p:cNvPr id="116" name="output4"/>
          <p:cNvCxnSpPr/>
          <p:nvPr/>
        </p:nvCxnSpPr>
        <p:spPr>
          <a:xfrm>
            <a:off x="19594286" y="13376366"/>
            <a:ext cx="1515291" cy="0"/>
          </a:xfrm>
          <a:prstGeom prst="line">
            <a:avLst/>
          </a:prstGeom>
          <a:ln w="31351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7" name="target0"/>
          <p:cNvSpPr/>
          <p:nvPr/>
        </p:nvSpPr>
        <p:spPr>
          <a:xfrm>
            <a:off x="21109577" y="3030583"/>
            <a:ext cx="7210697" cy="1358537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o118: M0 · Debug 目标接口"/>
          <p:cNvSpPr txBox="1"/>
          <p:nvPr/>
        </p:nvSpPr>
        <p:spPr>
          <a:xfrm>
            <a:off x="23149032" y="3307933"/>
            <a:ext cx="3131787" cy="48489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8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 · Debug 目标接口</a:t>
            </a:r>
          </a:p>
        </p:txBody>
      </p:sp>
      <p:sp>
        <p:nvSpPr>
          <p:cNvPr id="119" name="o119: 调试地址窗口 · 与 SBA 分开"/>
          <p:cNvSpPr txBox="1"/>
          <p:nvPr/>
        </p:nvSpPr>
        <p:spPr>
          <a:xfrm>
            <a:off x="23055045" y="3719675"/>
            <a:ext cx="3319762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调试地址窗口 · 与 SBA 分开</a:t>
            </a:r>
          </a:p>
        </p:txBody>
      </p:sp>
      <p:sp>
        <p:nvSpPr>
          <p:cNvPr id="120" name="target1"/>
          <p:cNvSpPr/>
          <p:nvPr/>
        </p:nvSpPr>
        <p:spPr>
          <a:xfrm>
            <a:off x="21109577" y="4859383"/>
            <a:ext cx="7210697" cy="1985554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o121: M1 · AXI → Regbus → demux"/>
          <p:cNvSpPr txBox="1"/>
          <p:nvPr/>
        </p:nvSpPr>
        <p:spPr>
          <a:xfrm>
            <a:off x="22601519" y="5272587"/>
            <a:ext cx="4226814" cy="48489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8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 · AXI → Regbus → demux</a:t>
            </a:r>
          </a:p>
        </p:txBody>
      </p:sp>
      <p:sp>
        <p:nvSpPr>
          <p:cNvPr id="122" name="o122: ROM / CLINT / PLIC / SoC regs"/>
          <p:cNvSpPr txBox="1"/>
          <p:nvPr/>
        </p:nvSpPr>
        <p:spPr>
          <a:xfrm>
            <a:off x="22848080" y="5684328"/>
            <a:ext cx="3733691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ROM / CLINT / PLIC / SoC regs</a:t>
            </a:r>
          </a:p>
        </p:txBody>
      </p:sp>
      <p:sp>
        <p:nvSpPr>
          <p:cNvPr id="123" name="o123: UART / I²C / SPI / GPIO / LLC 等"/>
          <p:cNvSpPr txBox="1"/>
          <p:nvPr/>
        </p:nvSpPr>
        <p:spPr>
          <a:xfrm>
            <a:off x="22767621" y="6039638"/>
            <a:ext cx="3894609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UART / I²C / SPI / GPIO / LLC 等</a:t>
            </a:r>
          </a:p>
        </p:txBody>
      </p:sp>
      <p:sp>
        <p:nvSpPr>
          <p:cNvPr id="124" name="target2"/>
          <p:cNvSpPr/>
          <p:nvPr/>
        </p:nvSpPr>
        <p:spPr>
          <a:xfrm>
            <a:off x="21109577" y="6975566"/>
            <a:ext cx="7210697" cy="2769326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" name="o125: M2 · LLC / SPM 共用目标"/>
          <p:cNvSpPr txBox="1"/>
          <p:nvPr/>
        </p:nvSpPr>
        <p:spPr>
          <a:xfrm>
            <a:off x="22852040" y="7425346"/>
            <a:ext cx="3725772" cy="48489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8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 · LLC / SPM 共用目标</a:t>
            </a:r>
          </a:p>
        </p:txBody>
      </p:sp>
      <p:sp>
        <p:nvSpPr>
          <p:cNvPr id="126" name="o126: AMO/LRSC → cut / 地址重映射 → LLC"/>
          <p:cNvSpPr txBox="1"/>
          <p:nvPr/>
        </p:nvSpPr>
        <p:spPr>
          <a:xfrm>
            <a:off x="22433783" y="7837087"/>
            <a:ext cx="4562284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AMO/LRSC → cut / 地址重映射 → LLC</a:t>
            </a:r>
          </a:p>
        </p:txBody>
      </p:sp>
      <p:sp>
        <p:nvSpPr>
          <p:cNvPr id="127" name="o127: SPM 128 KiB · cached / uncached 别名"/>
          <p:cNvSpPr txBox="1"/>
          <p:nvPr/>
        </p:nvSpPr>
        <p:spPr>
          <a:xfrm>
            <a:off x="22402433" y="8192397"/>
            <a:ext cx="4624986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128 KiB · cached / uncached 别名</a:t>
            </a:r>
          </a:p>
        </p:txBody>
      </p:sp>
      <p:sp>
        <p:nvSpPr>
          <p:cNvPr id="128" name="o128: 0x8000_0000 ≤ 外存 &lt; 0x1_0000_0000"/>
          <p:cNvSpPr txBox="1"/>
          <p:nvPr/>
        </p:nvSpPr>
        <p:spPr>
          <a:xfrm>
            <a:off x="22281805" y="8547707"/>
            <a:ext cx="4866241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0x8000_0000 ≤ 外存 &lt; 0x1_0000_0000</a:t>
            </a:r>
          </a:p>
        </p:txBody>
      </p:sp>
      <p:sp>
        <p:nvSpPr>
          <p:cNvPr id="129" name="o129: LLC 下游 → 平台 DDR；命中可留片内"/>
          <p:cNvSpPr txBox="1"/>
          <p:nvPr/>
        </p:nvSpPr>
        <p:spPr>
          <a:xfrm>
            <a:off x="22488280" y="8903016"/>
            <a:ext cx="4453291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LLC 下游 → 平台 DDR；命中可留片内</a:t>
            </a:r>
          </a:p>
        </p:txBody>
      </p:sp>
      <p:sp>
        <p:nvSpPr>
          <p:cNvPr id="130" name="target3"/>
          <p:cNvSpPr/>
          <p:nvPr/>
        </p:nvSpPr>
        <p:spPr>
          <a:xfrm>
            <a:off x="21109577" y="10763794"/>
            <a:ext cx="7210697" cy="1358537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o131: M3 · iDMA 控制接口"/>
          <p:cNvSpPr txBox="1"/>
          <p:nvPr/>
        </p:nvSpPr>
        <p:spPr>
          <a:xfrm>
            <a:off x="23224641" y="11041145"/>
            <a:ext cx="2980568" cy="48489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8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 · iDMA 控制接口</a:t>
            </a:r>
          </a:p>
        </p:txBody>
      </p:sp>
      <p:sp>
        <p:nvSpPr>
          <p:cNvPr id="132" name="o132: 0x0100_0000 起 · 与数据主口分开"/>
          <p:cNvSpPr txBox="1"/>
          <p:nvPr/>
        </p:nvSpPr>
        <p:spPr>
          <a:xfrm>
            <a:off x="22648953" y="11452886"/>
            <a:ext cx="4131945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0x0100_0000 起 · 与数据主口分开</a:t>
            </a:r>
          </a:p>
        </p:txBody>
      </p:sp>
      <p:sp>
        <p:nvSpPr>
          <p:cNvPr id="133" name="target4"/>
          <p:cNvSpPr/>
          <p:nvPr/>
        </p:nvSpPr>
        <p:spPr>
          <a:xfrm>
            <a:off x="21109577" y="12592594"/>
            <a:ext cx="7210697" cy="1567543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o134: M4 · Serial Link TX"/>
          <p:cNvSpPr txBox="1"/>
          <p:nvPr/>
        </p:nvSpPr>
        <p:spPr>
          <a:xfrm>
            <a:off x="23325413" y="12974448"/>
            <a:ext cx="2779025" cy="48489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8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 · Serial Link TX</a:t>
            </a:r>
          </a:p>
        </p:txBody>
      </p:sp>
      <p:sp>
        <p:nvSpPr>
          <p:cNvPr id="135" name="o135: 0x1_0000_0000 ≤ addr &lt; 0x2_0000_0000"/>
          <p:cNvSpPr txBox="1"/>
          <p:nvPr/>
        </p:nvSpPr>
        <p:spPr>
          <a:xfrm>
            <a:off x="22151871" y="13386189"/>
            <a:ext cx="5126110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0x1_0000_0000 ≤ addr &lt; 0x2_0000_0000</a:t>
            </a:r>
          </a:p>
        </p:txBody>
      </p:sp>
      <p:sp>
        <p:nvSpPr>
          <p:cNvPr id="136" name="o136: 灰线：所有可达路径；彩线：同时请求示例"/>
          <p:cNvSpPr txBox="1"/>
          <p:nvPr/>
        </p:nvSpPr>
        <p:spPr>
          <a:xfrm>
            <a:off x="10554789" y="14327342"/>
            <a:ext cx="5225143" cy="41801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7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灰线：所有可达路径；彩线：同时请求示例</a:t>
            </a:r>
          </a:p>
        </p:txBody>
      </p:sp>
      <p:sp>
        <p:nvSpPr>
          <p:cNvPr id="137" name="o137: 不同目标可并行；竞争同一目标时由该目标仲裁。"/>
          <p:cNvSpPr txBox="1"/>
          <p:nvPr/>
        </p:nvSpPr>
        <p:spPr>
          <a:xfrm>
            <a:off x="679269" y="15443014"/>
            <a:ext cx="6729984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不同目标可并行；竞争同一目标时由该目标仲裁。</a:t>
            </a:r>
          </a:p>
        </p:txBody>
      </p:sp>
      <p:sp>
        <p:nvSpPr>
          <p:cNvPr id="138" name="o138: S / M 为 Crossbar 端口视角"/>
          <p:cNvSpPr txBox="1"/>
          <p:nvPr/>
        </p:nvSpPr>
        <p:spPr>
          <a:xfrm>
            <a:off x="25000708" y="15465587"/>
            <a:ext cx="3633074" cy="4347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39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 / M 为 Crossbar 端口视角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2: DDR 多端口仲裁与 QoS"/>
          <p:cNvSpPr txBox="1"/>
          <p:nvPr/>
        </p:nvSpPr>
        <p:spPr>
          <a:xfrm>
            <a:off x="548640" y="226284"/>
            <a:ext cx="5952706" cy="8388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12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多端口仲裁与 QoS</a:t>
            </a:r>
          </a:p>
        </p:txBody>
      </p:sp>
      <p:sp>
        <p:nvSpPr>
          <p:cNvPr id="3" name="o3: 历史独立主口方案：S0 = SoC · S1 = ISP · S2 = NPU（"/>
          <p:cNvSpPr txBox="1"/>
          <p:nvPr/>
        </p:nvSpPr>
        <p:spPr>
          <a:xfrm>
            <a:off x="585216" y="1049487"/>
            <a:ext cx="10792492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历史独立主口方案：S0 = SoC · S1 = ISP · S2 = NPU（与后续 GB 三口方案区分）</a:t>
            </a:r>
          </a:p>
        </p:txBody>
      </p:sp>
      <p:sp>
        <p:nvSpPr>
          <p:cNvPr id="4" name="soc"/>
          <p:cNvSpPr/>
          <p:nvPr/>
        </p:nvSpPr>
        <p:spPr>
          <a:xfrm>
            <a:off x="731520" y="2316480"/>
            <a:ext cx="11704320" cy="4754880"/>
          </a:xfrm>
          <a:prstGeom prst="rect">
            <a:avLst/>
          </a:prstGeom>
          <a:solidFill>
            <a:srgbClr val="F1D7D9"/>
          </a:solidFill>
          <a:ln w="2438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o5: SoC 主存路径"/>
          <p:cNvSpPr txBox="1"/>
          <p:nvPr/>
        </p:nvSpPr>
        <p:spPr>
          <a:xfrm>
            <a:off x="5289404" y="2445715"/>
            <a:ext cx="2588552" cy="5852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8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主存路径</a:t>
            </a:r>
          </a:p>
        </p:txBody>
      </p:sp>
      <p:sp>
        <p:nvSpPr>
          <p:cNvPr id="6" name="cpu-ara"/>
          <p:cNvSpPr/>
          <p:nvPr/>
        </p:nvSpPr>
        <p:spPr>
          <a:xfrm>
            <a:off x="1219200" y="3474720"/>
            <a:ext cx="2682240" cy="1706880"/>
          </a:xfrm>
          <a:prstGeom prst="rect">
            <a:avLst/>
          </a:prstGeom>
          <a:solidFill>
            <a:srgbClr val="D8E8F4"/>
          </a:solidFill>
          <a:ln w="2438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7: CVA6 + Ara"/>
          <p:cNvSpPr txBox="1"/>
          <p:nvPr/>
        </p:nvSpPr>
        <p:spPr>
          <a:xfrm>
            <a:off x="1543831" y="3868278"/>
            <a:ext cx="2032978" cy="54620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8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+ Ara</a:t>
            </a:r>
          </a:p>
        </p:txBody>
      </p:sp>
      <p:sp>
        <p:nvSpPr>
          <p:cNvPr id="8" name="o8: 现有发起端"/>
          <p:cNvSpPr txBox="1"/>
          <p:nvPr/>
        </p:nvSpPr>
        <p:spPr>
          <a:xfrm>
            <a:off x="1682496" y="4335475"/>
            <a:ext cx="1755648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现有发起端</a:t>
            </a:r>
          </a:p>
        </p:txBody>
      </p:sp>
      <p:sp>
        <p:nvSpPr>
          <p:cNvPr id="9" name="xbar"/>
          <p:cNvSpPr/>
          <p:nvPr/>
        </p:nvSpPr>
        <p:spPr>
          <a:xfrm>
            <a:off x="4632960" y="3474720"/>
            <a:ext cx="2682240" cy="1706880"/>
          </a:xfrm>
          <a:prstGeom prst="rect">
            <a:avLst/>
          </a:prstGeom>
          <a:solidFill>
            <a:srgbClr val="D8E8F4"/>
          </a:solidFill>
          <a:ln w="2438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o10: Crossbar"/>
          <p:cNvSpPr txBox="1"/>
          <p:nvPr/>
        </p:nvSpPr>
        <p:spPr>
          <a:xfrm>
            <a:off x="5135299" y="3868278"/>
            <a:ext cx="1677562" cy="54620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8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Crossbar</a:t>
            </a:r>
          </a:p>
        </p:txBody>
      </p:sp>
      <p:sp>
        <p:nvSpPr>
          <p:cNvPr id="11" name="o11: 地址路由"/>
          <p:cNvSpPr txBox="1"/>
          <p:nvPr/>
        </p:nvSpPr>
        <p:spPr>
          <a:xfrm>
            <a:off x="5242560" y="4335475"/>
            <a:ext cx="1463040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地址路由</a:t>
            </a:r>
          </a:p>
        </p:txBody>
      </p:sp>
      <p:sp>
        <p:nvSpPr>
          <p:cNvPr id="12" name="llc"/>
          <p:cNvSpPr/>
          <p:nvPr/>
        </p:nvSpPr>
        <p:spPr>
          <a:xfrm>
            <a:off x="8046720" y="3048000"/>
            <a:ext cx="3901440" cy="2560320"/>
          </a:xfrm>
          <a:prstGeom prst="rect">
            <a:avLst/>
          </a:prstGeom>
          <a:solidFill>
            <a:srgbClr val="D8E8F4"/>
          </a:solidFill>
          <a:ln w="2438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13: 原子适配 + LLC"/>
          <p:cNvSpPr txBox="1"/>
          <p:nvPr/>
        </p:nvSpPr>
        <p:spPr>
          <a:xfrm>
            <a:off x="8662930" y="3661014"/>
            <a:ext cx="2669019" cy="54620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8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+ LLC</a:t>
            </a:r>
          </a:p>
        </p:txBody>
      </p:sp>
      <p:sp>
        <p:nvSpPr>
          <p:cNvPr id="14" name="o14: LLC 外存出口"/>
          <p:cNvSpPr txBox="1"/>
          <p:nvPr/>
        </p:nvSpPr>
        <p:spPr>
          <a:xfrm>
            <a:off x="8985171" y="4128211"/>
            <a:ext cx="2024539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LLC 外存出口</a:t>
            </a:r>
          </a:p>
        </p:txBody>
      </p:sp>
      <p:sp>
        <p:nvSpPr>
          <p:cNvPr id="15" name="o15: SPM 访问可留在片内"/>
          <p:cNvSpPr txBox="1"/>
          <p:nvPr/>
        </p:nvSpPr>
        <p:spPr>
          <a:xfrm>
            <a:off x="8490823" y="4542739"/>
            <a:ext cx="3013234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访问可留在片内</a:t>
            </a:r>
          </a:p>
        </p:txBody>
      </p:sp>
      <p:cxnSp>
        <p:nvCxnSpPr>
          <p:cNvPr id="16" name="soc-xbar"/>
          <p:cNvCxnSpPr/>
          <p:nvPr/>
        </p:nvCxnSpPr>
        <p:spPr>
          <a:xfrm>
            <a:off x="3901440" y="4328160"/>
            <a:ext cx="731520" cy="0"/>
          </a:xfrm>
          <a:prstGeom prst="line">
            <a:avLst/>
          </a:prstGeom>
          <a:ln w="36576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17" name="xbar-llc"/>
          <p:cNvCxnSpPr/>
          <p:nvPr/>
        </p:nvCxnSpPr>
        <p:spPr>
          <a:xfrm>
            <a:off x="7315200" y="4328160"/>
            <a:ext cx="731520" cy="0"/>
          </a:xfrm>
          <a:prstGeom prst="line">
            <a:avLst/>
          </a:prstGeom>
          <a:ln w="36576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8" name="isp-domain"/>
          <p:cNvSpPr/>
          <p:nvPr/>
        </p:nvSpPr>
        <p:spPr>
          <a:xfrm>
            <a:off x="13045440" y="2316480"/>
            <a:ext cx="6827520" cy="4754880"/>
          </a:xfrm>
          <a:prstGeom prst="rect">
            <a:avLst/>
          </a:prstGeom>
          <a:solidFill>
            <a:srgbClr val="F5E1C9"/>
          </a:solidFill>
          <a:ln w="24384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19: ISP 数据主口"/>
          <p:cNvSpPr txBox="1"/>
          <p:nvPr/>
        </p:nvSpPr>
        <p:spPr>
          <a:xfrm>
            <a:off x="15226894" y="2445715"/>
            <a:ext cx="2464613" cy="5852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8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 数据主口</a:t>
            </a:r>
          </a:p>
        </p:txBody>
      </p:sp>
      <p:sp>
        <p:nvSpPr>
          <p:cNvPr id="20" name="isp"/>
          <p:cNvSpPr/>
          <p:nvPr/>
        </p:nvSpPr>
        <p:spPr>
          <a:xfrm>
            <a:off x="13411200" y="3413760"/>
            <a:ext cx="6096000" cy="2194560"/>
          </a:xfrm>
          <a:prstGeom prst="rect">
            <a:avLst/>
          </a:prstGeom>
          <a:solidFill>
            <a:srgbClr val="FFFFFF"/>
          </a:solidFill>
          <a:ln w="2438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o21: ISP AXI Master"/>
          <p:cNvSpPr txBox="1"/>
          <p:nvPr/>
        </p:nvSpPr>
        <p:spPr>
          <a:xfrm>
            <a:off x="15187174" y="3843894"/>
            <a:ext cx="2544051" cy="54620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8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 AXI Master</a:t>
            </a:r>
          </a:p>
        </p:txBody>
      </p:sp>
      <p:sp>
        <p:nvSpPr>
          <p:cNvPr id="22" name="o22: 写帧缓冲"/>
          <p:cNvSpPr txBox="1"/>
          <p:nvPr/>
        </p:nvSpPr>
        <p:spPr>
          <a:xfrm>
            <a:off x="15727680" y="4311091"/>
            <a:ext cx="1463040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写帧缓冲</a:t>
            </a:r>
          </a:p>
        </p:txBody>
      </p:sp>
      <p:sp>
        <p:nvSpPr>
          <p:cNvPr id="23" name="o23: 绕过主 Crossbar / LLC"/>
          <p:cNvSpPr txBox="1"/>
          <p:nvPr/>
        </p:nvSpPr>
        <p:spPr>
          <a:xfrm>
            <a:off x="14856857" y="4725619"/>
            <a:ext cx="3204686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绕过主 Crossbar / LLC</a:t>
            </a:r>
          </a:p>
        </p:txBody>
      </p:sp>
      <p:sp>
        <p:nvSpPr>
          <p:cNvPr id="24" name="npu-domain"/>
          <p:cNvSpPr/>
          <p:nvPr/>
        </p:nvSpPr>
        <p:spPr>
          <a:xfrm>
            <a:off x="20482560" y="2316480"/>
            <a:ext cx="8046720" cy="4754880"/>
          </a:xfrm>
          <a:prstGeom prst="rect">
            <a:avLst/>
          </a:prstGeom>
          <a:solidFill>
            <a:srgbClr val="D9EEE8"/>
          </a:solidFill>
          <a:ln w="24384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25: NPU 数据主口"/>
          <p:cNvSpPr txBox="1"/>
          <p:nvPr/>
        </p:nvSpPr>
        <p:spPr>
          <a:xfrm>
            <a:off x="23196833" y="2445715"/>
            <a:ext cx="2618175" cy="5852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8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数据主口</a:t>
            </a:r>
          </a:p>
        </p:txBody>
      </p:sp>
      <p:sp>
        <p:nvSpPr>
          <p:cNvPr id="26" name="npu"/>
          <p:cNvSpPr/>
          <p:nvPr/>
        </p:nvSpPr>
        <p:spPr>
          <a:xfrm>
            <a:off x="21092160" y="3413760"/>
            <a:ext cx="6827520" cy="2194560"/>
          </a:xfrm>
          <a:prstGeom prst="rect">
            <a:avLst/>
          </a:prstGeom>
          <a:solidFill>
            <a:srgbClr val="FFFFFF"/>
          </a:solidFill>
          <a:ln w="2438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o27: NPU AXI Master"/>
          <p:cNvSpPr txBox="1"/>
          <p:nvPr/>
        </p:nvSpPr>
        <p:spPr>
          <a:xfrm>
            <a:off x="23162209" y="3843894"/>
            <a:ext cx="2687422" cy="54620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8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AXI Master</a:t>
            </a:r>
          </a:p>
        </p:txBody>
      </p:sp>
      <p:sp>
        <p:nvSpPr>
          <p:cNvPr id="28" name="o28: 读写权重 / 特征图"/>
          <p:cNvSpPr txBox="1"/>
          <p:nvPr/>
        </p:nvSpPr>
        <p:spPr>
          <a:xfrm>
            <a:off x="23171753" y="4311091"/>
            <a:ext cx="2668334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读写权重 / 特征图</a:t>
            </a:r>
          </a:p>
        </p:txBody>
      </p:sp>
      <p:sp>
        <p:nvSpPr>
          <p:cNvPr id="29" name="o29: 绕过 LLC"/>
          <p:cNvSpPr txBox="1"/>
          <p:nvPr/>
        </p:nvSpPr>
        <p:spPr>
          <a:xfrm>
            <a:off x="23786259" y="4725619"/>
            <a:ext cx="1439323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绕过 LLC</a:t>
            </a:r>
          </a:p>
        </p:txBody>
      </p:sp>
      <p:sp>
        <p:nvSpPr>
          <p:cNvPr id="30" name="controller"/>
          <p:cNvSpPr/>
          <p:nvPr/>
        </p:nvSpPr>
        <p:spPr>
          <a:xfrm>
            <a:off x="731520" y="9022080"/>
            <a:ext cx="23164800" cy="5608320"/>
          </a:xfrm>
          <a:prstGeom prst="rect">
            <a:avLst/>
          </a:prstGeom>
          <a:solidFill>
            <a:srgbClr val="D8E8F4"/>
          </a:solidFill>
          <a:ln w="24384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o31: DDR Controller 内部"/>
          <p:cNvSpPr txBox="1"/>
          <p:nvPr/>
        </p:nvSpPr>
        <p:spPr>
          <a:xfrm>
            <a:off x="10531021" y="9151315"/>
            <a:ext cx="3565798" cy="5852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8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内部</a:t>
            </a:r>
          </a:p>
        </p:txBody>
      </p:sp>
      <p:sp>
        <p:nvSpPr>
          <p:cNvPr id="32" name="port0"/>
          <p:cNvSpPr/>
          <p:nvPr/>
        </p:nvSpPr>
        <p:spPr>
          <a:xfrm>
            <a:off x="2682240" y="9875520"/>
            <a:ext cx="2072640" cy="1158240"/>
          </a:xfrm>
          <a:prstGeom prst="rect">
            <a:avLst/>
          </a:prstGeom>
          <a:solidFill>
            <a:srgbClr val="FFFFFF"/>
          </a:solidFill>
          <a:ln w="2438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o33: S0"/>
          <p:cNvSpPr txBox="1"/>
          <p:nvPr/>
        </p:nvSpPr>
        <p:spPr>
          <a:xfrm>
            <a:off x="3353372" y="10003780"/>
            <a:ext cx="730377" cy="52669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92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34" name="o34: SoC 外存"/>
          <p:cNvSpPr txBox="1"/>
          <p:nvPr/>
        </p:nvSpPr>
        <p:spPr>
          <a:xfrm>
            <a:off x="3037646" y="10484145"/>
            <a:ext cx="1361827" cy="42915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12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 外存</a:t>
            </a:r>
          </a:p>
        </p:txBody>
      </p:sp>
      <p:cxnSp>
        <p:nvCxnSpPr>
          <p:cNvPr id="35" name="portjoin0"/>
          <p:cNvCxnSpPr/>
          <p:nvPr/>
        </p:nvCxnSpPr>
        <p:spPr>
          <a:xfrm>
            <a:off x="3718560" y="11033760"/>
            <a:ext cx="0" cy="609600"/>
          </a:xfrm>
          <a:prstGeom prst="line">
            <a:avLst/>
          </a:prstGeom>
          <a:ln w="36576" cap="flat">
            <a:solidFill>
              <a:srgbClr val="314D66"/>
            </a:solidFill>
          </a:ln>
          <a:effectLst/>
        </p:spPr>
      </p:cxnSp>
      <p:sp>
        <p:nvSpPr>
          <p:cNvPr id="36" name="port1"/>
          <p:cNvSpPr/>
          <p:nvPr/>
        </p:nvSpPr>
        <p:spPr>
          <a:xfrm>
            <a:off x="14020800" y="9875520"/>
            <a:ext cx="2072640" cy="1158240"/>
          </a:xfrm>
          <a:prstGeom prst="rect">
            <a:avLst/>
          </a:prstGeom>
          <a:solidFill>
            <a:srgbClr val="FFFFFF"/>
          </a:solidFill>
          <a:ln w="2438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o37: S1"/>
          <p:cNvSpPr txBox="1"/>
          <p:nvPr/>
        </p:nvSpPr>
        <p:spPr>
          <a:xfrm>
            <a:off x="14691932" y="10003780"/>
            <a:ext cx="730377" cy="52669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92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38" name="o38: ISP 写入"/>
          <p:cNvSpPr txBox="1"/>
          <p:nvPr/>
        </p:nvSpPr>
        <p:spPr>
          <a:xfrm>
            <a:off x="14421650" y="10484145"/>
            <a:ext cx="1270940" cy="42915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12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ISP 写入</a:t>
            </a:r>
          </a:p>
        </p:txBody>
      </p:sp>
      <p:cxnSp>
        <p:nvCxnSpPr>
          <p:cNvPr id="39" name="portjoin1"/>
          <p:cNvCxnSpPr/>
          <p:nvPr/>
        </p:nvCxnSpPr>
        <p:spPr>
          <a:xfrm>
            <a:off x="15057120" y="11033760"/>
            <a:ext cx="0" cy="609600"/>
          </a:xfrm>
          <a:prstGeom prst="line">
            <a:avLst/>
          </a:prstGeom>
          <a:ln w="36576" cap="flat">
            <a:solidFill>
              <a:srgbClr val="314D66"/>
            </a:solidFill>
          </a:ln>
          <a:effectLst/>
        </p:spPr>
      </p:cxnSp>
      <p:sp>
        <p:nvSpPr>
          <p:cNvPr id="40" name="port2"/>
          <p:cNvSpPr/>
          <p:nvPr/>
        </p:nvSpPr>
        <p:spPr>
          <a:xfrm>
            <a:off x="21336000" y="9875520"/>
            <a:ext cx="2072640" cy="1158240"/>
          </a:xfrm>
          <a:prstGeom prst="rect">
            <a:avLst/>
          </a:prstGeom>
          <a:solidFill>
            <a:srgbClr val="FFFFFF"/>
          </a:solidFill>
          <a:ln w="2438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o41: S2"/>
          <p:cNvSpPr txBox="1"/>
          <p:nvPr/>
        </p:nvSpPr>
        <p:spPr>
          <a:xfrm>
            <a:off x="22007132" y="10003780"/>
            <a:ext cx="730377" cy="52669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92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42" name="o42: NPU 读 / 写"/>
          <p:cNvSpPr txBox="1"/>
          <p:nvPr/>
        </p:nvSpPr>
        <p:spPr>
          <a:xfrm>
            <a:off x="21530462" y="10484145"/>
            <a:ext cx="1683715" cy="42915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12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NPU 读 / 写</a:t>
            </a:r>
          </a:p>
        </p:txBody>
      </p:sp>
      <p:cxnSp>
        <p:nvCxnSpPr>
          <p:cNvPr id="43" name="portjoin2"/>
          <p:cNvCxnSpPr/>
          <p:nvPr/>
        </p:nvCxnSpPr>
        <p:spPr>
          <a:xfrm>
            <a:off x="22372320" y="11033760"/>
            <a:ext cx="0" cy="609600"/>
          </a:xfrm>
          <a:prstGeom prst="line">
            <a:avLst/>
          </a:prstGeom>
          <a:ln w="36576" cap="flat">
            <a:solidFill>
              <a:srgbClr val="314D66"/>
            </a:solidFill>
          </a:ln>
          <a:effectLst/>
        </p:spPr>
      </p:cxnSp>
      <p:sp>
        <p:nvSpPr>
          <p:cNvPr id="44" name="llc-port"/>
          <p:cNvSpPr/>
          <p:nvPr/>
        </p:nvSpPr>
        <p:spPr>
          <a:xfrm>
            <a:off x="3718560" y="5608320"/>
            <a:ext cx="6278880" cy="4267200"/>
          </a:xfrm>
          <a:custGeom>
            <a:avLst/>
            <a:gdLst/>
            <a:ahLst/>
            <a:cxnLst/>
            <a:rect l="0" t="0" r="r" b="b"/>
            <a:pathLst>
              <a:path w="6278880" h="4267200" fill="none">
                <a:moveTo>
                  <a:pt x="6278880" y="0"/>
                </a:moveTo>
                <a:lnTo>
                  <a:pt x="6278880" y="2194560"/>
                </a:lnTo>
                <a:lnTo>
                  <a:pt x="0" y="2194560"/>
                </a:lnTo>
                <a:lnTo>
                  <a:pt x="0" y="4267200"/>
                </a:lnTo>
              </a:path>
            </a:pathLst>
          </a:custGeom>
          <a:noFill/>
          <a:ln w="3657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isp-port"/>
          <p:cNvSpPr/>
          <p:nvPr/>
        </p:nvSpPr>
        <p:spPr>
          <a:xfrm>
            <a:off x="15057120" y="5608320"/>
            <a:ext cx="1402080" cy="4267200"/>
          </a:xfrm>
          <a:custGeom>
            <a:avLst/>
            <a:gdLst/>
            <a:ahLst/>
            <a:cxnLst/>
            <a:rect l="0" t="0" r="r" b="b"/>
            <a:pathLst>
              <a:path w="1402080" h="4267200" fill="none">
                <a:moveTo>
                  <a:pt x="1402080" y="0"/>
                </a:moveTo>
                <a:lnTo>
                  <a:pt x="1402080" y="2621280"/>
                </a:lnTo>
                <a:lnTo>
                  <a:pt x="0" y="2621280"/>
                </a:lnTo>
                <a:lnTo>
                  <a:pt x="0" y="4267200"/>
                </a:lnTo>
              </a:path>
            </a:pathLst>
          </a:custGeom>
          <a:noFill/>
          <a:ln w="3657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npu-port"/>
          <p:cNvSpPr/>
          <p:nvPr/>
        </p:nvSpPr>
        <p:spPr>
          <a:xfrm>
            <a:off x="22372320" y="5608320"/>
            <a:ext cx="2133600" cy="4267200"/>
          </a:xfrm>
          <a:custGeom>
            <a:avLst/>
            <a:gdLst/>
            <a:ahLst/>
            <a:cxnLst/>
            <a:rect l="0" t="0" r="r" b="b"/>
            <a:pathLst>
              <a:path w="2133600" h="4267200" fill="none">
                <a:moveTo>
                  <a:pt x="2133600" y="0"/>
                </a:moveTo>
                <a:lnTo>
                  <a:pt x="2133600" y="2194560"/>
                </a:lnTo>
                <a:lnTo>
                  <a:pt x="0" y="2194560"/>
                </a:lnTo>
                <a:lnTo>
                  <a:pt x="0" y="4267200"/>
                </a:lnTo>
              </a:path>
            </a:pathLst>
          </a:custGeom>
          <a:noFill/>
          <a:ln w="3657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7" name="merge"/>
          <p:cNvCxnSpPr/>
          <p:nvPr/>
        </p:nvCxnSpPr>
        <p:spPr>
          <a:xfrm>
            <a:off x="3718560" y="11643360"/>
            <a:ext cx="18653760" cy="0"/>
          </a:xfrm>
          <a:prstGeom prst="line">
            <a:avLst/>
          </a:prstGeom>
          <a:ln w="36576" cap="flat">
            <a:solidFill>
              <a:srgbClr val="314D66"/>
            </a:solidFill>
          </a:ln>
          <a:effectLst/>
        </p:spPr>
      </p:cxnSp>
      <p:sp>
        <p:nvSpPr>
          <p:cNvPr id="48" name="arbiter"/>
          <p:cNvSpPr/>
          <p:nvPr/>
        </p:nvSpPr>
        <p:spPr>
          <a:xfrm>
            <a:off x="1950720" y="12435840"/>
            <a:ext cx="6096000" cy="1706880"/>
          </a:xfrm>
          <a:prstGeom prst="rect">
            <a:avLst/>
          </a:prstGeom>
          <a:solidFill>
            <a:srgbClr val="FFFFFF"/>
          </a:solidFill>
          <a:ln w="2438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o49: 端口仲裁 / QoS"/>
          <p:cNvSpPr txBox="1"/>
          <p:nvPr/>
        </p:nvSpPr>
        <p:spPr>
          <a:xfrm>
            <a:off x="3644036" y="12622134"/>
            <a:ext cx="2709367" cy="54620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8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50" name="o50: 可配置优先级 · 轮询"/>
          <p:cNvSpPr txBox="1"/>
          <p:nvPr/>
        </p:nvSpPr>
        <p:spPr>
          <a:xfrm>
            <a:off x="3559254" y="13089331"/>
            <a:ext cx="2878931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可配置优先级 · 轮询</a:t>
            </a:r>
          </a:p>
        </p:txBody>
      </p:sp>
      <p:sp>
        <p:nvSpPr>
          <p:cNvPr id="51" name="o51: 页命中限制"/>
          <p:cNvSpPr txBox="1"/>
          <p:nvPr/>
        </p:nvSpPr>
        <p:spPr>
          <a:xfrm>
            <a:off x="4120896" y="13503859"/>
            <a:ext cx="1755648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页命中限制</a:t>
            </a:r>
          </a:p>
        </p:txBody>
      </p:sp>
      <p:sp>
        <p:nvSpPr>
          <p:cNvPr id="52" name="core"/>
          <p:cNvSpPr/>
          <p:nvPr/>
        </p:nvSpPr>
        <p:spPr>
          <a:xfrm>
            <a:off x="10972800" y="12435840"/>
            <a:ext cx="11338560" cy="1706880"/>
          </a:xfrm>
          <a:prstGeom prst="rect">
            <a:avLst/>
          </a:prstGeom>
          <a:solidFill>
            <a:srgbClr val="FFFFFF"/>
          </a:solidFill>
          <a:ln w="2438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o53: Controller Core"/>
          <p:cNvSpPr txBox="1"/>
          <p:nvPr/>
        </p:nvSpPr>
        <p:spPr>
          <a:xfrm>
            <a:off x="15357053" y="12622134"/>
            <a:ext cx="2570055" cy="54620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8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Controller Core</a:t>
            </a:r>
          </a:p>
        </p:txBody>
      </p:sp>
      <p:sp>
        <p:nvSpPr>
          <p:cNvPr id="54" name="o54: 内部命令队列 · FR-FCFS"/>
          <p:cNvSpPr txBox="1"/>
          <p:nvPr/>
        </p:nvSpPr>
        <p:spPr>
          <a:xfrm>
            <a:off x="14969157" y="13089331"/>
            <a:ext cx="3345847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内部命令队列 · FR-FCFS</a:t>
            </a:r>
          </a:p>
        </p:txBody>
      </p:sp>
      <p:sp>
        <p:nvSpPr>
          <p:cNvPr id="55" name="o55: 遵守 DRAM 时序"/>
          <p:cNvSpPr txBox="1"/>
          <p:nvPr/>
        </p:nvSpPr>
        <p:spPr>
          <a:xfrm>
            <a:off x="15434072" y="13503859"/>
            <a:ext cx="2416016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遵守 DRAM 时序</a:t>
            </a:r>
          </a:p>
        </p:txBody>
      </p:sp>
      <p:cxnSp>
        <p:nvCxnSpPr>
          <p:cNvPr id="56" name="arbiter-in"/>
          <p:cNvCxnSpPr/>
          <p:nvPr/>
        </p:nvCxnSpPr>
        <p:spPr>
          <a:xfrm>
            <a:off x="4998720" y="11643360"/>
            <a:ext cx="0" cy="792480"/>
          </a:xfrm>
          <a:prstGeom prst="line">
            <a:avLst/>
          </a:prstGeom>
          <a:ln w="36576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57" name="arbiter-core"/>
          <p:cNvCxnSpPr/>
          <p:nvPr/>
        </p:nvCxnSpPr>
        <p:spPr>
          <a:xfrm>
            <a:off x="8046720" y="13289280"/>
            <a:ext cx="2926080" cy="0"/>
          </a:xfrm>
          <a:prstGeom prst="line">
            <a:avLst/>
          </a:prstGeom>
          <a:ln w="36576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58" name="phy"/>
          <p:cNvSpPr/>
          <p:nvPr/>
        </p:nvSpPr>
        <p:spPr>
          <a:xfrm>
            <a:off x="24505920" y="12374880"/>
            <a:ext cx="4023360" cy="1828800"/>
          </a:xfrm>
          <a:prstGeom prst="rect">
            <a:avLst/>
          </a:prstGeom>
          <a:solidFill>
            <a:srgbClr val="E8DFED"/>
          </a:solidFill>
          <a:ln w="2438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o59: PHY + SDRAM"/>
          <p:cNvSpPr txBox="1"/>
          <p:nvPr/>
        </p:nvSpPr>
        <p:spPr>
          <a:xfrm>
            <a:off x="25279407" y="12829398"/>
            <a:ext cx="2476386" cy="54620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8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PHY + SDRAM</a:t>
            </a:r>
          </a:p>
        </p:txBody>
      </p:sp>
      <p:sp>
        <p:nvSpPr>
          <p:cNvPr id="60" name="o60: 共享外存带宽"/>
          <p:cNvSpPr txBox="1"/>
          <p:nvPr/>
        </p:nvSpPr>
        <p:spPr>
          <a:xfrm>
            <a:off x="25493472" y="13296595"/>
            <a:ext cx="2048256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共享外存带宽</a:t>
            </a:r>
          </a:p>
        </p:txBody>
      </p:sp>
      <p:cxnSp>
        <p:nvCxnSpPr>
          <p:cNvPr id="61" name="core-phy"/>
          <p:cNvCxnSpPr/>
          <p:nvPr/>
        </p:nvCxnSpPr>
        <p:spPr>
          <a:xfrm>
            <a:off x="22311360" y="13289280"/>
            <a:ext cx="2194560" cy="0"/>
          </a:xfrm>
          <a:prstGeom prst="line">
            <a:avLst/>
          </a:prstGeom>
          <a:ln w="3657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62" name="legend0"/>
          <p:cNvCxnSpPr/>
          <p:nvPr/>
        </p:nvCxnSpPr>
        <p:spPr>
          <a:xfrm>
            <a:off x="670560" y="15910560"/>
            <a:ext cx="792480" cy="0"/>
          </a:xfrm>
          <a:prstGeom prst="line">
            <a:avLst/>
          </a:prstGeom>
          <a:ln w="3048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63" name="o63: AXI 请求 / 数据"/>
          <p:cNvSpPr txBox="1"/>
          <p:nvPr/>
        </p:nvSpPr>
        <p:spPr>
          <a:xfrm>
            <a:off x="1645920" y="15718414"/>
            <a:ext cx="2086070" cy="42915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12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 / 数据</a:t>
            </a:r>
          </a:p>
        </p:txBody>
      </p:sp>
      <p:sp>
        <p:nvSpPr>
          <p:cNvPr id="64" name="dash-legend"/>
          <p:cNvSpPr/>
          <p:nvPr/>
        </p:nvSpPr>
        <p:spPr>
          <a:xfrm>
            <a:off x="7132320" y="15727680"/>
            <a:ext cx="792480" cy="329184"/>
          </a:xfrm>
          <a:prstGeom prst="rect">
            <a:avLst/>
          </a:prstGeom>
          <a:solidFill>
            <a:srgbClr val="FFFFFF"/>
          </a:solidFill>
          <a:ln w="24384" cap="flat">
            <a:solidFill>
              <a:srgbClr val="93939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o65: 虚线分区：尚未集成"/>
          <p:cNvSpPr txBox="1"/>
          <p:nvPr/>
        </p:nvSpPr>
        <p:spPr>
          <a:xfrm>
            <a:off x="8229600" y="15718414"/>
            <a:ext cx="2682240" cy="42915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12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虚线分区：尚未集成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2: 数据处理与反馈"/>
          <p:cNvSpPr txBox="1"/>
          <p:nvPr/>
        </p:nvSpPr>
        <p:spPr>
          <a:xfrm>
            <a:off x="822960" y="339425"/>
            <a:ext cx="6291072" cy="12582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92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数据处理与反馈</a:t>
            </a:r>
          </a:p>
        </p:txBody>
      </p:sp>
      <p:sp>
        <p:nvSpPr>
          <p:cNvPr id="3" name="o3: 工业风格 · 原生矢量对象"/>
          <p:cNvSpPr txBox="1"/>
          <p:nvPr/>
        </p:nvSpPr>
        <p:spPr>
          <a:xfrm>
            <a:off x="877824" y="1574231"/>
            <a:ext cx="5196221" cy="7022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56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工业风格 · 原生矢量对象</a:t>
            </a:r>
          </a:p>
        </p:txBody>
      </p:sp>
      <p:sp>
        <p:nvSpPr>
          <p:cNvPr id="4" name="pipeline"/>
          <p:cNvSpPr/>
          <p:nvPr/>
        </p:nvSpPr>
        <p:spPr>
          <a:xfrm>
            <a:off x="822960" y="3291840"/>
            <a:ext cx="27614880" cy="9509760"/>
          </a:xfrm>
          <a:prstGeom prst="rect">
            <a:avLst/>
          </a:prstGeom>
          <a:solidFill>
            <a:srgbClr val="F5E1C9"/>
          </a:solidFill>
          <a:ln w="3657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o5: 处理流水线"/>
          <p:cNvSpPr txBox="1"/>
          <p:nvPr/>
        </p:nvSpPr>
        <p:spPr>
          <a:xfrm>
            <a:off x="12984480" y="3485693"/>
            <a:ext cx="3291840" cy="8778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3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处理流水线</a:t>
            </a:r>
          </a:p>
        </p:txBody>
      </p:sp>
      <p:sp>
        <p:nvSpPr>
          <p:cNvPr id="6" name="input"/>
          <p:cNvSpPr/>
          <p:nvPr/>
        </p:nvSpPr>
        <p:spPr>
          <a:xfrm>
            <a:off x="1828800" y="6035040"/>
            <a:ext cx="5120640" cy="2743200"/>
          </a:xfrm>
          <a:prstGeom prst="rect">
            <a:avLst/>
          </a:prstGeom>
          <a:solidFill>
            <a:srgbClr val="D8E8F4"/>
          </a:solidFill>
          <a:ln w="3657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7: 输入数据"/>
          <p:cNvSpPr txBox="1"/>
          <p:nvPr/>
        </p:nvSpPr>
        <p:spPr>
          <a:xfrm>
            <a:off x="2880360" y="6649151"/>
            <a:ext cx="3017520" cy="96560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52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输入数据</a:t>
            </a:r>
          </a:p>
        </p:txBody>
      </p:sp>
      <p:sp>
        <p:nvSpPr>
          <p:cNvPr id="8" name="o8: Input"/>
          <p:cNvSpPr txBox="1"/>
          <p:nvPr/>
        </p:nvSpPr>
        <p:spPr>
          <a:xfrm>
            <a:off x="3599993" y="7389449"/>
            <a:ext cx="1578254" cy="7900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88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Input</a:t>
            </a:r>
          </a:p>
        </p:txBody>
      </p:sp>
      <p:sp>
        <p:nvSpPr>
          <p:cNvPr id="9" name="process"/>
          <p:cNvSpPr/>
          <p:nvPr/>
        </p:nvSpPr>
        <p:spPr>
          <a:xfrm>
            <a:off x="11887200" y="6035040"/>
            <a:ext cx="5120640" cy="2743200"/>
          </a:xfrm>
          <a:prstGeom prst="rect">
            <a:avLst/>
          </a:prstGeom>
          <a:solidFill>
            <a:srgbClr val="D9EEE8"/>
          </a:solidFill>
          <a:ln w="3657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o10: 处理模块"/>
          <p:cNvSpPr txBox="1"/>
          <p:nvPr/>
        </p:nvSpPr>
        <p:spPr>
          <a:xfrm>
            <a:off x="12938760" y="6649151"/>
            <a:ext cx="3017520" cy="96560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52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处理模块</a:t>
            </a:r>
          </a:p>
        </p:txBody>
      </p:sp>
      <p:sp>
        <p:nvSpPr>
          <p:cNvPr id="11" name="o11: Process"/>
          <p:cNvSpPr txBox="1"/>
          <p:nvPr/>
        </p:nvSpPr>
        <p:spPr>
          <a:xfrm>
            <a:off x="13342539" y="7389449"/>
            <a:ext cx="2209962" cy="7900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88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Process</a:t>
            </a:r>
          </a:p>
        </p:txBody>
      </p:sp>
      <p:sp>
        <p:nvSpPr>
          <p:cNvPr id="12" name="output"/>
          <p:cNvSpPr/>
          <p:nvPr/>
        </p:nvSpPr>
        <p:spPr>
          <a:xfrm>
            <a:off x="21945600" y="6035040"/>
            <a:ext cx="5120640" cy="2743200"/>
          </a:xfrm>
          <a:prstGeom prst="rect">
            <a:avLst/>
          </a:prstGeom>
          <a:solidFill>
            <a:srgbClr val="D8E8F4"/>
          </a:solidFill>
          <a:ln w="3657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13: 输出结果"/>
          <p:cNvSpPr txBox="1"/>
          <p:nvPr/>
        </p:nvSpPr>
        <p:spPr>
          <a:xfrm>
            <a:off x="22997160" y="6649151"/>
            <a:ext cx="3017520" cy="96560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752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输出结果</a:t>
            </a:r>
          </a:p>
        </p:txBody>
      </p:sp>
      <p:sp>
        <p:nvSpPr>
          <p:cNvPr id="14" name="o14: Output"/>
          <p:cNvSpPr txBox="1"/>
          <p:nvPr/>
        </p:nvSpPr>
        <p:spPr>
          <a:xfrm>
            <a:off x="23539342" y="7389449"/>
            <a:ext cx="1933156" cy="7900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88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Output</a:t>
            </a:r>
          </a:p>
        </p:txBody>
      </p:sp>
      <p:cxnSp>
        <p:nvCxnSpPr>
          <p:cNvPr id="15" name="input-process"/>
          <p:cNvCxnSpPr/>
          <p:nvPr/>
        </p:nvCxnSpPr>
        <p:spPr>
          <a:xfrm>
            <a:off x="6949440" y="7406640"/>
            <a:ext cx="4937760" cy="0"/>
          </a:xfrm>
          <a:prstGeom prst="line">
            <a:avLst/>
          </a:prstGeom>
          <a:ln w="54864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16" name="process-output"/>
          <p:cNvCxnSpPr/>
          <p:nvPr/>
        </p:nvCxnSpPr>
        <p:spPr>
          <a:xfrm>
            <a:off x="17007840" y="7406640"/>
            <a:ext cx="4937760" cy="0"/>
          </a:xfrm>
          <a:prstGeom prst="line">
            <a:avLst/>
          </a:prstGeom>
          <a:ln w="5486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7" name="feedback"/>
          <p:cNvSpPr/>
          <p:nvPr/>
        </p:nvSpPr>
        <p:spPr>
          <a:xfrm>
            <a:off x="4389120" y="8778240"/>
            <a:ext cx="20116800" cy="2560320"/>
          </a:xfrm>
          <a:custGeom>
            <a:avLst/>
            <a:gdLst/>
            <a:ahLst/>
            <a:cxnLst/>
            <a:rect l="0" t="0" r="r" b="b"/>
            <a:pathLst>
              <a:path w="20116800" h="2560320" fill="none">
                <a:moveTo>
                  <a:pt x="20116800" y="0"/>
                </a:moveTo>
                <a:lnTo>
                  <a:pt x="20116800" y="1188720"/>
                </a:lnTo>
                <a:cubicBezTo>
                  <a:pt x="20116800" y="2560320"/>
                  <a:pt x="0" y="2560320"/>
                  <a:pt x="0" y="1188720"/>
                </a:cubicBezTo>
                <a:lnTo>
                  <a:pt x="0" y="0"/>
                </a:lnTo>
              </a:path>
            </a:pathLst>
          </a:custGeom>
          <a:noFill/>
          <a:ln w="54864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o18: 反馈路径 / Feedback"/>
          <p:cNvSpPr txBox="1"/>
          <p:nvPr/>
        </p:nvSpPr>
        <p:spPr>
          <a:xfrm>
            <a:off x="11911103" y="11481938"/>
            <a:ext cx="5072834" cy="7900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888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反馈路径 / Feedback</a:t>
            </a:r>
          </a:p>
        </p:txBody>
      </p:sp>
      <p:cxnSp>
        <p:nvCxnSpPr>
          <p:cNvPr id="19" name="legend0"/>
          <p:cNvCxnSpPr/>
          <p:nvPr/>
        </p:nvCxnSpPr>
        <p:spPr>
          <a:xfrm>
            <a:off x="1005840" y="15636240"/>
            <a:ext cx="1188720" cy="0"/>
          </a:xfrm>
          <a:prstGeom prst="line">
            <a:avLst/>
          </a:prstGeom>
          <a:ln w="457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20" name="o20: 主数据流"/>
          <p:cNvSpPr txBox="1"/>
          <p:nvPr/>
        </p:nvSpPr>
        <p:spPr>
          <a:xfrm>
            <a:off x="2468880" y="15348021"/>
            <a:ext cx="2011680" cy="6437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68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主数据流</a:t>
            </a:r>
          </a:p>
        </p:txBody>
      </p:sp>
      <p:cxnSp>
        <p:nvCxnSpPr>
          <p:cNvPr id="21" name="legend1"/>
          <p:cNvCxnSpPr/>
          <p:nvPr/>
        </p:nvCxnSpPr>
        <p:spPr>
          <a:xfrm>
            <a:off x="10698480" y="15636240"/>
            <a:ext cx="1188720" cy="0"/>
          </a:xfrm>
          <a:prstGeom prst="line">
            <a:avLst/>
          </a:prstGeom>
          <a:ln w="45720" cap="flat">
            <a:solidFill>
              <a:srgbClr val="187C78"/>
            </a:solidFill>
            <a:tailEnd type="triangle" w="med" len="med"/>
          </a:ln>
          <a:effectLst/>
        </p:spPr>
      </p:cxnSp>
      <p:sp>
        <p:nvSpPr>
          <p:cNvPr id="22" name="o22: 反馈"/>
          <p:cNvSpPr txBox="1"/>
          <p:nvPr/>
        </p:nvSpPr>
        <p:spPr>
          <a:xfrm>
            <a:off x="12161520" y="15348021"/>
            <a:ext cx="1207008" cy="6437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68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反馈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2: 启动初始化的软硬件对应关系"/>
          <p:cNvSpPr txBox="1"/>
          <p:nvPr/>
        </p:nvSpPr>
        <p:spPr>
          <a:xfrm>
            <a:off x="548640" y="226284"/>
            <a:ext cx="7339584" cy="8388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12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启动初始化的软硬件对应关系</a:t>
            </a:r>
          </a:p>
        </p:txBody>
      </p:sp>
      <p:sp>
        <p:nvSpPr>
          <p:cNvPr id="3" name="o3: 源码快照：Bootrom=1 · PlatformRom=0 · 内部 LLC "/>
          <p:cNvSpPr txBox="1"/>
          <p:nvPr/>
        </p:nvSpPr>
        <p:spPr>
          <a:xfrm>
            <a:off x="585216" y="1049487"/>
            <a:ext cx="9257443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源码快照：Bootrom=1 · PlatformRom=0 · 内部 LLC · 根 SDK 载荷入口</a:t>
            </a:r>
          </a:p>
        </p:txBody>
      </p:sp>
      <p:sp>
        <p:nvSpPr>
          <p:cNvPr id="4" name="hardware"/>
          <p:cNvSpPr/>
          <p:nvPr/>
        </p:nvSpPr>
        <p:spPr>
          <a:xfrm>
            <a:off x="731520" y="2316480"/>
            <a:ext cx="14752320" cy="11704320"/>
          </a:xfrm>
          <a:prstGeom prst="rect">
            <a:avLst/>
          </a:prstGeom>
          <a:solidFill>
            <a:srgbClr val="D8E8F4"/>
          </a:solidFill>
          <a:ln w="2438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o5: 硬件：存储、总线与自主状态机"/>
          <p:cNvSpPr txBox="1"/>
          <p:nvPr/>
        </p:nvSpPr>
        <p:spPr>
          <a:xfrm>
            <a:off x="5364480" y="2445715"/>
            <a:ext cx="5486400" cy="5852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8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硬件：存储、总线与自主状态机</a:t>
            </a:r>
          </a:p>
        </p:txBody>
      </p:sp>
      <p:sp>
        <p:nvSpPr>
          <p:cNvPr id="6" name="software"/>
          <p:cNvSpPr/>
          <p:nvPr/>
        </p:nvSpPr>
        <p:spPr>
          <a:xfrm>
            <a:off x="17678400" y="2316480"/>
            <a:ext cx="10850880" cy="11704320"/>
          </a:xfrm>
          <a:prstGeom prst="rect">
            <a:avLst/>
          </a:prstGeom>
          <a:solidFill>
            <a:srgbClr val="F1D7D9"/>
          </a:solidFill>
          <a:ln w="2438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7: 软件：由同一个 CVA6 执行"/>
          <p:cNvSpPr txBox="1"/>
          <p:nvPr/>
        </p:nvSpPr>
        <p:spPr>
          <a:xfrm>
            <a:off x="20737820" y="2445715"/>
            <a:ext cx="4732039" cy="5852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8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软件：由同一个 CVA6 执行</a:t>
            </a:r>
          </a:p>
        </p:txBody>
      </p:sp>
      <p:sp>
        <p:nvSpPr>
          <p:cNvPr id="8" name="clock-reset"/>
          <p:cNvSpPr/>
          <p:nvPr/>
        </p:nvSpPr>
        <p:spPr>
          <a:xfrm>
            <a:off x="1219200" y="3413760"/>
            <a:ext cx="13776960" cy="731520"/>
          </a:xfrm>
          <a:prstGeom prst="rect">
            <a:avLst/>
          </a:prstGeom>
          <a:solidFill>
            <a:srgbClr val="E8DFED"/>
          </a:solidFill>
          <a:ln w="2438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o9: 外围平台提供有效 clk_i / rst_ni"/>
          <p:cNvSpPr txBox="1"/>
          <p:nvPr/>
        </p:nvSpPr>
        <p:spPr>
          <a:xfrm>
            <a:off x="5759796" y="3544946"/>
            <a:ext cx="4695768" cy="50718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9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外围平台提供有效 clk_i / rst_ni</a:t>
            </a:r>
          </a:p>
        </p:txBody>
      </p:sp>
      <p:sp>
        <p:nvSpPr>
          <p:cNvPr id="10" name="cpu"/>
          <p:cNvSpPr/>
          <p:nvPr/>
        </p:nvSpPr>
        <p:spPr>
          <a:xfrm>
            <a:off x="1219200" y="4876800"/>
            <a:ext cx="3901440" cy="1524000"/>
          </a:xfrm>
          <a:prstGeom prst="rect">
            <a:avLst/>
          </a:prstGeom>
          <a:solidFill>
            <a:srgbClr val="FFFFFF"/>
          </a:solidFill>
          <a:ln w="2438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o11: CVA6"/>
          <p:cNvSpPr txBox="1"/>
          <p:nvPr/>
        </p:nvSpPr>
        <p:spPr>
          <a:xfrm>
            <a:off x="2600173" y="5178918"/>
            <a:ext cx="1139495" cy="54620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8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</a:t>
            </a:r>
          </a:p>
        </p:txBody>
      </p:sp>
      <p:sp>
        <p:nvSpPr>
          <p:cNvPr id="12" name="o12: 取指并执行机器指令"/>
          <p:cNvSpPr txBox="1"/>
          <p:nvPr/>
        </p:nvSpPr>
        <p:spPr>
          <a:xfrm>
            <a:off x="1706880" y="5646115"/>
            <a:ext cx="2926080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取指并执行机器指令</a:t>
            </a:r>
          </a:p>
        </p:txBody>
      </p:sp>
      <p:sp>
        <p:nvSpPr>
          <p:cNvPr id="13" name="bist"/>
          <p:cNvSpPr/>
          <p:nvPr/>
        </p:nvSpPr>
        <p:spPr>
          <a:xfrm>
            <a:off x="10363200" y="4876800"/>
            <a:ext cx="4632960" cy="1524000"/>
          </a:xfrm>
          <a:prstGeom prst="rect">
            <a:avLst/>
          </a:prstGeom>
          <a:solidFill>
            <a:srgbClr val="FFFFFF"/>
          </a:solidFill>
          <a:ln w="2438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o14: LLC tag BIST"/>
          <p:cNvSpPr txBox="1"/>
          <p:nvPr/>
        </p:nvSpPr>
        <p:spPr>
          <a:xfrm>
            <a:off x="11557359" y="5178918"/>
            <a:ext cx="2244642" cy="54620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8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tag BIST</a:t>
            </a:r>
          </a:p>
        </p:txBody>
      </p:sp>
      <p:sp>
        <p:nvSpPr>
          <p:cNvPr id="15" name="o15: 复位后自主读写测试"/>
          <p:cNvSpPr txBox="1"/>
          <p:nvPr/>
        </p:nvSpPr>
        <p:spPr>
          <a:xfrm>
            <a:off x="11216640" y="5646115"/>
            <a:ext cx="2926080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复位后自主读写测试</a:t>
            </a:r>
          </a:p>
        </p:txBody>
      </p:sp>
      <p:cxnSp>
        <p:nvCxnSpPr>
          <p:cNvPr id="16" name="clock-cpu"/>
          <p:cNvCxnSpPr/>
          <p:nvPr/>
        </p:nvCxnSpPr>
        <p:spPr>
          <a:xfrm>
            <a:off x="3169920" y="4145280"/>
            <a:ext cx="0" cy="731520"/>
          </a:xfrm>
          <a:prstGeom prst="line">
            <a:avLst/>
          </a:prstGeom>
          <a:ln w="36576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17" name="clock-bist"/>
          <p:cNvCxnSpPr/>
          <p:nvPr/>
        </p:nvCxnSpPr>
        <p:spPr>
          <a:xfrm>
            <a:off x="12679680" y="4145280"/>
            <a:ext cx="0" cy="731520"/>
          </a:xfrm>
          <a:prstGeom prst="line">
            <a:avLst/>
          </a:prstGeom>
          <a:ln w="36576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8" name="rom"/>
          <p:cNvSpPr/>
          <p:nvPr/>
        </p:nvSpPr>
        <p:spPr>
          <a:xfrm>
            <a:off x="1219200" y="7437120"/>
            <a:ext cx="5730240" cy="2560320"/>
          </a:xfrm>
          <a:prstGeom prst="rect">
            <a:avLst/>
          </a:prstGeom>
          <a:solidFill>
            <a:srgbClr val="FFFFFF"/>
          </a:solidFill>
          <a:ln w="2438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19: Boot ROM ① / ②"/>
          <p:cNvSpPr txBox="1"/>
          <p:nvPr/>
        </p:nvSpPr>
        <p:spPr>
          <a:xfrm>
            <a:off x="2576598" y="7842870"/>
            <a:ext cx="3015444" cy="54620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8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 ① / ②</a:t>
            </a:r>
          </a:p>
        </p:txBody>
      </p:sp>
      <p:sp>
        <p:nvSpPr>
          <p:cNvPr id="20" name="o20: 0x02000000"/>
          <p:cNvSpPr txBox="1"/>
          <p:nvPr/>
        </p:nvSpPr>
        <p:spPr>
          <a:xfrm>
            <a:off x="3084195" y="8310067"/>
            <a:ext cx="2000250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0x02000000</a:t>
            </a:r>
          </a:p>
        </p:txBody>
      </p:sp>
      <p:sp>
        <p:nvSpPr>
          <p:cNvPr id="21" name="o21: cheshire_bootrom.sv"/>
          <p:cNvSpPr txBox="1"/>
          <p:nvPr/>
        </p:nvSpPr>
        <p:spPr>
          <a:xfrm>
            <a:off x="2608564" y="8724595"/>
            <a:ext cx="2951512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cheshire_bootrom.sv</a:t>
            </a:r>
          </a:p>
        </p:txBody>
      </p:sp>
      <p:sp>
        <p:nvSpPr>
          <p:cNvPr id="22" name="o22: S / C 预编译为 ROM 内容"/>
          <p:cNvSpPr txBox="1"/>
          <p:nvPr/>
        </p:nvSpPr>
        <p:spPr>
          <a:xfrm>
            <a:off x="2276808" y="9139123"/>
            <a:ext cx="3615023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 / C 预编译为 ROM 内容</a:t>
            </a:r>
          </a:p>
        </p:txBody>
      </p:sp>
      <p:sp>
        <p:nvSpPr>
          <p:cNvPr id="23" name="llc-regs"/>
          <p:cNvSpPr/>
          <p:nvPr/>
        </p:nvSpPr>
        <p:spPr>
          <a:xfrm>
            <a:off x="9387840" y="7437120"/>
            <a:ext cx="5608320" cy="2560320"/>
          </a:xfrm>
          <a:prstGeom prst="rect">
            <a:avLst/>
          </a:prstGeom>
          <a:solidFill>
            <a:srgbClr val="E8DFED"/>
          </a:solidFill>
          <a:ln w="2438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o24: LLC 配置寄存器"/>
          <p:cNvSpPr txBox="1"/>
          <p:nvPr/>
        </p:nvSpPr>
        <p:spPr>
          <a:xfrm>
            <a:off x="10840326" y="8050134"/>
            <a:ext cx="2703347" cy="54620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8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配置寄存器</a:t>
            </a:r>
          </a:p>
        </p:txBody>
      </p:sp>
      <p:sp>
        <p:nvSpPr>
          <p:cNvPr id="25" name="o25: DONE：完成 · BIST_OUT：错误"/>
          <p:cNvSpPr txBox="1"/>
          <p:nvPr/>
        </p:nvSpPr>
        <p:spPr>
          <a:xfrm>
            <a:off x="10045303" y="8517331"/>
            <a:ext cx="4293394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DONE：完成 · BIST_OUT：错误</a:t>
            </a:r>
          </a:p>
        </p:txBody>
      </p:sp>
      <p:sp>
        <p:nvSpPr>
          <p:cNvPr id="26" name="o26: CFG_SPM / COMMIT"/>
          <p:cNvSpPr txBox="1"/>
          <p:nvPr/>
        </p:nvSpPr>
        <p:spPr>
          <a:xfrm>
            <a:off x="10721388" y="8931859"/>
            <a:ext cx="2941225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CFG_SPM / COMMIT</a:t>
            </a:r>
          </a:p>
        </p:txBody>
      </p:sp>
      <p:cxnSp>
        <p:nvCxnSpPr>
          <p:cNvPr id="27" name="cpu-rom"/>
          <p:cNvCxnSpPr/>
          <p:nvPr/>
        </p:nvCxnSpPr>
        <p:spPr>
          <a:xfrm>
            <a:off x="3169920" y="6400800"/>
            <a:ext cx="0" cy="1036320"/>
          </a:xfrm>
          <a:prstGeom prst="line">
            <a:avLst/>
          </a:prstGeom>
          <a:ln w="36576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28" name="bist-status"/>
          <p:cNvCxnSpPr/>
          <p:nvPr/>
        </p:nvCxnSpPr>
        <p:spPr>
          <a:xfrm>
            <a:off x="12679680" y="6400800"/>
            <a:ext cx="0" cy="1036320"/>
          </a:xfrm>
          <a:prstGeom prst="line">
            <a:avLst/>
          </a:prstGeom>
          <a:ln w="36576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29" name="devices"/>
          <p:cNvSpPr/>
          <p:nvPr/>
        </p:nvSpPr>
        <p:spPr>
          <a:xfrm>
            <a:off x="1219200" y="11460480"/>
            <a:ext cx="5730240" cy="1828800"/>
          </a:xfrm>
          <a:prstGeom prst="rect">
            <a:avLst/>
          </a:prstGeom>
          <a:solidFill>
            <a:srgbClr val="FFFFFF"/>
          </a:solidFill>
          <a:ln w="2438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o30: 装载设备与通路"/>
          <p:cNvSpPr txBox="1"/>
          <p:nvPr/>
        </p:nvSpPr>
        <p:spPr>
          <a:xfrm>
            <a:off x="2718816" y="11707734"/>
            <a:ext cx="2731008" cy="54620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8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装载设备与通路</a:t>
            </a:r>
          </a:p>
        </p:txBody>
      </p:sp>
      <p:sp>
        <p:nvSpPr>
          <p:cNvPr id="31" name="o31: SPI NOR / SD / EEPROM"/>
          <p:cNvSpPr txBox="1"/>
          <p:nvPr/>
        </p:nvSpPr>
        <p:spPr>
          <a:xfrm>
            <a:off x="2333244" y="12174931"/>
            <a:ext cx="3502152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SPI NOR / SD / EEPROM</a:t>
            </a:r>
          </a:p>
        </p:txBody>
      </p:sp>
      <p:sp>
        <p:nvSpPr>
          <p:cNvPr id="32" name="o32: UART / JTAG / Link"/>
          <p:cNvSpPr txBox="1"/>
          <p:nvPr/>
        </p:nvSpPr>
        <p:spPr>
          <a:xfrm>
            <a:off x="2701290" y="12589459"/>
            <a:ext cx="2766060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UART / JTAG / Link</a:t>
            </a:r>
          </a:p>
        </p:txBody>
      </p:sp>
      <p:sp>
        <p:nvSpPr>
          <p:cNvPr id="33" name="spm"/>
          <p:cNvSpPr/>
          <p:nvPr/>
        </p:nvSpPr>
        <p:spPr>
          <a:xfrm>
            <a:off x="9387840" y="11460480"/>
            <a:ext cx="5608320" cy="1828800"/>
          </a:xfrm>
          <a:prstGeom prst="rect">
            <a:avLst/>
          </a:prstGeom>
          <a:solidFill>
            <a:srgbClr val="D9EEE8"/>
          </a:solidFill>
          <a:ln w="2438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o34: LLC 数据 / SPM"/>
          <p:cNvSpPr txBox="1"/>
          <p:nvPr/>
        </p:nvSpPr>
        <p:spPr>
          <a:xfrm>
            <a:off x="10820305" y="11707734"/>
            <a:ext cx="2743390" cy="54620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8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数据 / SPM</a:t>
            </a:r>
          </a:p>
        </p:txBody>
      </p:sp>
      <p:sp>
        <p:nvSpPr>
          <p:cNvPr id="35" name="o35: 载荷代码、数据与栈"/>
          <p:cNvSpPr txBox="1"/>
          <p:nvPr/>
        </p:nvSpPr>
        <p:spPr>
          <a:xfrm>
            <a:off x="10728960" y="12174931"/>
            <a:ext cx="2926080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载荷代码、数据与栈</a:t>
            </a:r>
          </a:p>
        </p:txBody>
      </p:sp>
      <p:sp>
        <p:nvSpPr>
          <p:cNvPr id="36" name="o36: tag BIST 不测试数据阵列"/>
          <p:cNvSpPr txBox="1"/>
          <p:nvPr/>
        </p:nvSpPr>
        <p:spPr>
          <a:xfrm>
            <a:off x="10442781" y="12589459"/>
            <a:ext cx="3498437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tag BIST 不测试数据阵列</a:t>
            </a:r>
          </a:p>
        </p:txBody>
      </p:sp>
      <p:cxnSp>
        <p:nvCxnSpPr>
          <p:cNvPr id="37" name="rom-driver"/>
          <p:cNvCxnSpPr/>
          <p:nvPr/>
        </p:nvCxnSpPr>
        <p:spPr>
          <a:xfrm>
            <a:off x="4084320" y="9997440"/>
            <a:ext cx="0" cy="1463040"/>
          </a:xfrm>
          <a:prstGeom prst="line">
            <a:avLst/>
          </a:prstGeom>
          <a:ln w="36576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38" name="o38: ROM 中的设备驱动"/>
          <p:cNvSpPr txBox="1"/>
          <p:nvPr/>
        </p:nvSpPr>
        <p:spPr>
          <a:xfrm>
            <a:off x="5208794" y="10510479"/>
            <a:ext cx="2749772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ROM 中的设备驱动</a:t>
            </a:r>
          </a:p>
        </p:txBody>
      </p:sp>
      <p:cxnSp>
        <p:nvCxnSpPr>
          <p:cNvPr id="39" name="load-bytes"/>
          <p:cNvCxnSpPr/>
          <p:nvPr/>
        </p:nvCxnSpPr>
        <p:spPr>
          <a:xfrm>
            <a:off x="6949440" y="12374880"/>
            <a:ext cx="2438400" cy="0"/>
          </a:xfrm>
          <a:prstGeom prst="line">
            <a:avLst/>
          </a:prstGeom>
          <a:ln w="36576" cap="flat">
            <a:solidFill>
              <a:srgbClr val="187C78"/>
            </a:solidFill>
            <a:tailEnd type="triangle" w="med" len="med"/>
          </a:ln>
          <a:effectLst/>
        </p:spPr>
      </p:cxnSp>
      <p:sp>
        <p:nvSpPr>
          <p:cNvPr id="40" name="o40: 搬运字节"/>
          <p:cNvSpPr txBox="1"/>
          <p:nvPr/>
        </p:nvSpPr>
        <p:spPr>
          <a:xfrm>
            <a:off x="7498080" y="11877934"/>
            <a:ext cx="1341120" cy="42915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12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搬运字节</a:t>
            </a:r>
          </a:p>
        </p:txBody>
      </p:sp>
      <p:sp>
        <p:nvSpPr>
          <p:cNvPr id="41" name="rom-asm"/>
          <p:cNvSpPr/>
          <p:nvPr/>
        </p:nvSpPr>
        <p:spPr>
          <a:xfrm>
            <a:off x="18288000" y="3413760"/>
            <a:ext cx="9631680" cy="2682240"/>
          </a:xfrm>
          <a:prstGeom prst="rect">
            <a:avLst/>
          </a:prstGeom>
          <a:solidFill>
            <a:srgbClr val="FFFFFF"/>
          </a:solidFill>
          <a:ln w="2438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o42: ① Boot ROM 汇编"/>
          <p:cNvSpPr txBox="1"/>
          <p:nvPr/>
        </p:nvSpPr>
        <p:spPr>
          <a:xfrm>
            <a:off x="21455424" y="3862426"/>
            <a:ext cx="3296831" cy="5852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8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① Boot ROM 汇编</a:t>
            </a:r>
          </a:p>
        </p:txBody>
      </p:sp>
      <p:sp>
        <p:nvSpPr>
          <p:cNvPr id="43" name="o43: cheshire_bootrom.S"/>
          <p:cNvSpPr txBox="1"/>
          <p:nvPr/>
        </p:nvSpPr>
        <p:spPr>
          <a:xfrm>
            <a:off x="21618397" y="4342790"/>
            <a:ext cx="2970886" cy="4876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cheshire_bootrom.S</a:t>
            </a:r>
          </a:p>
        </p:txBody>
      </p:sp>
      <p:sp>
        <p:nvSpPr>
          <p:cNvPr id="44" name="o44: 整数环境、sp / gp；等待 LLC DONE"/>
          <p:cNvSpPr txBox="1"/>
          <p:nvPr/>
        </p:nvSpPr>
        <p:spPr>
          <a:xfrm>
            <a:off x="20517193" y="4757318"/>
            <a:ext cx="5173294" cy="4876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整数环境、sp / gp；等待 LLC DONE</a:t>
            </a:r>
          </a:p>
        </p:txBody>
      </p:sp>
      <p:sp>
        <p:nvSpPr>
          <p:cNvPr id="45" name="o45: 全 way 配为 SPM；建立早期栈"/>
          <p:cNvSpPr txBox="1"/>
          <p:nvPr/>
        </p:nvSpPr>
        <p:spPr>
          <a:xfrm>
            <a:off x="20891659" y="5171846"/>
            <a:ext cx="4424362" cy="4876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全 way 配为 SPM；建立早期栈</a:t>
            </a:r>
          </a:p>
        </p:txBody>
      </p:sp>
      <p:sp>
        <p:nvSpPr>
          <p:cNvPr id="46" name="rom-c"/>
          <p:cNvSpPr/>
          <p:nvPr/>
        </p:nvSpPr>
        <p:spPr>
          <a:xfrm>
            <a:off x="18288000" y="7193280"/>
            <a:ext cx="9631680" cy="2865120"/>
          </a:xfrm>
          <a:prstGeom prst="rect">
            <a:avLst/>
          </a:prstGeom>
          <a:solidFill>
            <a:srgbClr val="FFFFFF"/>
          </a:solidFill>
          <a:ln w="2438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o47: ② Boot ROM C 代码"/>
          <p:cNvSpPr txBox="1"/>
          <p:nvPr/>
        </p:nvSpPr>
        <p:spPr>
          <a:xfrm>
            <a:off x="21287365" y="7733386"/>
            <a:ext cx="3632949" cy="5852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8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② Boot ROM C 代码</a:t>
            </a:r>
          </a:p>
        </p:txBody>
      </p:sp>
      <p:sp>
        <p:nvSpPr>
          <p:cNvPr id="48" name="o48: cheshire_bootrom.c"/>
          <p:cNvSpPr txBox="1"/>
          <p:nvPr/>
        </p:nvSpPr>
        <p:spPr>
          <a:xfrm>
            <a:off x="21639676" y="8213750"/>
            <a:ext cx="2928328" cy="4876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cheshire_bootrom.c</a:t>
            </a:r>
          </a:p>
        </p:txBody>
      </p:sp>
      <p:sp>
        <p:nvSpPr>
          <p:cNvPr id="49" name="o49: 测频、boot_mode、装载驱动"/>
          <p:cNvSpPr txBox="1"/>
          <p:nvPr/>
        </p:nvSpPr>
        <p:spPr>
          <a:xfrm>
            <a:off x="20989595" y="8628278"/>
            <a:ext cx="4228490" cy="4876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测频、boot_mode、装载驱动</a:t>
            </a:r>
          </a:p>
        </p:txBody>
      </p:sp>
      <p:sp>
        <p:nvSpPr>
          <p:cNvPr id="50" name="o50: 把载荷装入内存 → 交接执行入口"/>
          <p:cNvSpPr txBox="1"/>
          <p:nvPr/>
        </p:nvSpPr>
        <p:spPr>
          <a:xfrm>
            <a:off x="20726457" y="9042806"/>
            <a:ext cx="4754766" cy="4876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把载荷装入内存 → 交接执行入口</a:t>
            </a:r>
          </a:p>
        </p:txBody>
      </p:sp>
      <p:sp>
        <p:nvSpPr>
          <p:cNvPr id="51" name="crt0"/>
          <p:cNvSpPr/>
          <p:nvPr/>
        </p:nvSpPr>
        <p:spPr>
          <a:xfrm>
            <a:off x="18288000" y="11216640"/>
            <a:ext cx="9631680" cy="2316480"/>
          </a:xfrm>
          <a:prstGeom prst="rect">
            <a:avLst/>
          </a:prstGeom>
          <a:solidFill>
            <a:srgbClr val="D9EEE8"/>
          </a:solidFill>
          <a:ln w="2438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o52: ③ 应用 / ZSL 启动代码"/>
          <p:cNvSpPr txBox="1"/>
          <p:nvPr/>
        </p:nvSpPr>
        <p:spPr>
          <a:xfrm>
            <a:off x="21023228" y="11482426"/>
            <a:ext cx="4161225" cy="5852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8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③ 应用 / ZSL 启动代码</a:t>
            </a:r>
          </a:p>
        </p:txBody>
      </p:sp>
      <p:sp>
        <p:nvSpPr>
          <p:cNvPr id="53" name="o53: sw/lib/crt0.S → 该载荷自己的 main"/>
          <p:cNvSpPr txBox="1"/>
          <p:nvPr/>
        </p:nvSpPr>
        <p:spPr>
          <a:xfrm>
            <a:off x="20527023" y="11962790"/>
            <a:ext cx="5153635" cy="4876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sw/lib/crt0.S → 该载荷自己的 main</a:t>
            </a:r>
          </a:p>
        </p:txBody>
      </p:sp>
      <p:sp>
        <p:nvSpPr>
          <p:cNvPr id="54" name="o54: sp / gp、mtvec、BSS、FP 初始化"/>
          <p:cNvSpPr txBox="1"/>
          <p:nvPr/>
        </p:nvSpPr>
        <p:spPr>
          <a:xfrm>
            <a:off x="20663954" y="12377318"/>
            <a:ext cx="4879772" cy="4876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 / gp、mtvec、BSS、FP 初始化</a:t>
            </a:r>
          </a:p>
        </p:txBody>
      </p:sp>
      <p:sp>
        <p:nvSpPr>
          <p:cNvPr id="55" name="o55: main 返回：发布 scratch2，然后 ret"/>
          <p:cNvSpPr txBox="1"/>
          <p:nvPr/>
        </p:nvSpPr>
        <p:spPr>
          <a:xfrm>
            <a:off x="20511706" y="12791846"/>
            <a:ext cx="5184267" cy="4876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main 返回：发布 scratch2，然后 ret</a:t>
            </a:r>
          </a:p>
        </p:txBody>
      </p:sp>
      <p:cxnSp>
        <p:nvCxnSpPr>
          <p:cNvPr id="56" name="asm-c"/>
          <p:cNvCxnSpPr/>
          <p:nvPr/>
        </p:nvCxnSpPr>
        <p:spPr>
          <a:xfrm>
            <a:off x="23103840" y="6096000"/>
            <a:ext cx="0" cy="1097280"/>
          </a:xfrm>
          <a:prstGeom prst="line">
            <a:avLst/>
          </a:prstGeom>
          <a:ln w="36576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57" name="o57: call ROM main"/>
          <p:cNvSpPr txBox="1"/>
          <p:nvPr/>
        </p:nvSpPr>
        <p:spPr>
          <a:xfrm>
            <a:off x="24042957" y="6450543"/>
            <a:ext cx="2145125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call ROM main</a:t>
            </a:r>
          </a:p>
        </p:txBody>
      </p:sp>
      <p:cxnSp>
        <p:nvCxnSpPr>
          <p:cNvPr id="58" name="c-payload"/>
          <p:cNvCxnSpPr/>
          <p:nvPr/>
        </p:nvCxnSpPr>
        <p:spPr>
          <a:xfrm>
            <a:off x="23103840" y="10058400"/>
            <a:ext cx="0" cy="1158240"/>
          </a:xfrm>
          <a:prstGeom prst="line">
            <a:avLst/>
          </a:prstGeom>
          <a:ln w="36576" cap="flat">
            <a:solidFill>
              <a:srgbClr val="187C78"/>
            </a:solidFill>
            <a:tailEnd type="triangle" w="med" len="med"/>
          </a:ln>
          <a:effectLst/>
        </p:spPr>
      </p:cxnSp>
      <p:sp>
        <p:nvSpPr>
          <p:cNvPr id="59" name="o59: 调用载荷入口"/>
          <p:cNvSpPr txBox="1"/>
          <p:nvPr/>
        </p:nvSpPr>
        <p:spPr>
          <a:xfrm>
            <a:off x="24457152" y="10412943"/>
            <a:ext cx="2048256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调用载荷入口</a:t>
            </a:r>
          </a:p>
        </p:txBody>
      </p:sp>
      <p:sp>
        <p:nvSpPr>
          <p:cNvPr id="60" name="poll-config"/>
          <p:cNvSpPr/>
          <p:nvPr/>
        </p:nvSpPr>
        <p:spPr>
          <a:xfrm>
            <a:off x="14996160" y="4754880"/>
            <a:ext cx="3291840" cy="3962400"/>
          </a:xfrm>
          <a:custGeom>
            <a:avLst/>
            <a:gdLst/>
            <a:ahLst/>
            <a:cxnLst/>
            <a:rect l="0" t="0" r="r" b="b"/>
            <a:pathLst>
              <a:path w="3291840" h="3962400" fill="none">
                <a:moveTo>
                  <a:pt x="3291840" y="0"/>
                </a:moveTo>
                <a:lnTo>
                  <a:pt x="1584960" y="0"/>
                </a:lnTo>
                <a:lnTo>
                  <a:pt x="1584960" y="3962400"/>
                </a:lnTo>
                <a:lnTo>
                  <a:pt x="0" y="3962400"/>
                </a:lnTo>
              </a:path>
            </a:pathLst>
          </a:custGeom>
          <a:noFill/>
          <a:ln w="3657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o61: 轮询 DONE"/>
          <p:cNvSpPr txBox="1"/>
          <p:nvPr/>
        </p:nvSpPr>
        <p:spPr>
          <a:xfrm>
            <a:off x="15798327" y="9159118"/>
            <a:ext cx="1565586" cy="42915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12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轮询 DONE</a:t>
            </a:r>
          </a:p>
        </p:txBody>
      </p:sp>
      <p:sp>
        <p:nvSpPr>
          <p:cNvPr id="62" name="o62: 提交 SPM"/>
          <p:cNvSpPr txBox="1"/>
          <p:nvPr/>
        </p:nvSpPr>
        <p:spPr>
          <a:xfrm>
            <a:off x="15870612" y="9585838"/>
            <a:ext cx="1421016" cy="42915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12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提交 SPM</a:t>
            </a:r>
          </a:p>
        </p:txBody>
      </p:sp>
      <p:cxnSp>
        <p:nvCxnSpPr>
          <p:cNvPr id="63" name="image-entry"/>
          <p:cNvCxnSpPr/>
          <p:nvPr/>
        </p:nvCxnSpPr>
        <p:spPr>
          <a:xfrm>
            <a:off x="14996160" y="12374880"/>
            <a:ext cx="3291840" cy="0"/>
          </a:xfrm>
          <a:prstGeom prst="line">
            <a:avLst/>
          </a:prstGeom>
          <a:ln w="36576" cap="flat">
            <a:solidFill>
              <a:srgbClr val="187C78"/>
            </a:solidFill>
            <a:tailEnd type="triangle" w="med" len="med"/>
          </a:ln>
          <a:effectLst/>
        </p:spPr>
      </p:cxnSp>
      <p:sp>
        <p:nvSpPr>
          <p:cNvPr id="64" name="o64: 镜像入口 _start"/>
          <p:cNvSpPr txBox="1"/>
          <p:nvPr/>
        </p:nvSpPr>
        <p:spPr>
          <a:xfrm>
            <a:off x="15593816" y="11512174"/>
            <a:ext cx="2096529" cy="42915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12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镜像入口 _start</a:t>
            </a:r>
          </a:p>
        </p:txBody>
      </p:sp>
      <p:sp>
        <p:nvSpPr>
          <p:cNvPr id="65" name="o65: 装载驱动访问设备；应用 BSS 由该载荷 CRT0 清零"/>
          <p:cNvSpPr txBox="1"/>
          <p:nvPr/>
        </p:nvSpPr>
        <p:spPr>
          <a:xfrm>
            <a:off x="8017078" y="14606016"/>
            <a:ext cx="7130644" cy="4876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装载驱动访问设备；应用 BSS 由该载荷 CRT0 清零</a:t>
            </a:r>
          </a:p>
        </p:txBody>
      </p:sp>
      <p:cxnSp>
        <p:nvCxnSpPr>
          <p:cNvPr id="66" name="legend0"/>
          <p:cNvCxnSpPr/>
          <p:nvPr/>
        </p:nvCxnSpPr>
        <p:spPr>
          <a:xfrm>
            <a:off x="670560" y="15910560"/>
            <a:ext cx="792480" cy="0"/>
          </a:xfrm>
          <a:prstGeom prst="line">
            <a:avLst/>
          </a:prstGeom>
          <a:ln w="3048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67" name="o67: 硬件访问 / 状态"/>
          <p:cNvSpPr txBox="1"/>
          <p:nvPr/>
        </p:nvSpPr>
        <p:spPr>
          <a:xfrm>
            <a:off x="1645920" y="15718414"/>
            <a:ext cx="2177739" cy="42915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12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硬件访问 / 状态</a:t>
            </a:r>
          </a:p>
        </p:txBody>
      </p:sp>
      <p:cxnSp>
        <p:nvCxnSpPr>
          <p:cNvPr id="68" name="legend1"/>
          <p:cNvCxnSpPr/>
          <p:nvPr/>
        </p:nvCxnSpPr>
        <p:spPr>
          <a:xfrm>
            <a:off x="7132320" y="15910560"/>
            <a:ext cx="792480" cy="0"/>
          </a:xfrm>
          <a:prstGeom prst="line">
            <a:avLst/>
          </a:prstGeom>
          <a:ln w="30480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69" name="o69: 软件调用 / 配置"/>
          <p:cNvSpPr txBox="1"/>
          <p:nvPr/>
        </p:nvSpPr>
        <p:spPr>
          <a:xfrm>
            <a:off x="8107680" y="15718414"/>
            <a:ext cx="2177739" cy="42915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12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软件调用 / 配置</a:t>
            </a:r>
          </a:p>
        </p:txBody>
      </p:sp>
      <p:cxnSp>
        <p:nvCxnSpPr>
          <p:cNvPr id="70" name="legend2"/>
          <p:cNvCxnSpPr/>
          <p:nvPr/>
        </p:nvCxnSpPr>
        <p:spPr>
          <a:xfrm>
            <a:off x="13594080" y="15910560"/>
            <a:ext cx="792480" cy="0"/>
          </a:xfrm>
          <a:prstGeom prst="line">
            <a:avLst/>
          </a:prstGeom>
          <a:ln w="30480" cap="flat">
            <a:solidFill>
              <a:srgbClr val="187C78"/>
            </a:solidFill>
            <a:tailEnd type="triangle" w="med" len="med"/>
          </a:ln>
          <a:effectLst/>
        </p:spPr>
      </p:cxnSp>
      <p:sp>
        <p:nvSpPr>
          <p:cNvPr id="71" name="o71: 载荷字节 / 入口对应"/>
          <p:cNvSpPr txBox="1"/>
          <p:nvPr/>
        </p:nvSpPr>
        <p:spPr>
          <a:xfrm>
            <a:off x="14569440" y="15718414"/>
            <a:ext cx="2714187" cy="42915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12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载荷字节 / 入口对应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2: 从复位到应用返回的程序执行流程"/>
          <p:cNvSpPr txBox="1"/>
          <p:nvPr/>
        </p:nvSpPr>
        <p:spPr>
          <a:xfrm>
            <a:off x="548640" y="226284"/>
            <a:ext cx="8388096" cy="8388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12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从复位到应用返回的程序执行流程</a:t>
            </a:r>
          </a:p>
        </p:txBody>
      </p:sp>
      <p:sp>
        <p:nvSpPr>
          <p:cNvPr id="3" name="o3: SPI NOR 自主启动：boot_mode=2 · PlatformRom=0"/>
          <p:cNvSpPr txBox="1"/>
          <p:nvPr/>
        </p:nvSpPr>
        <p:spPr>
          <a:xfrm>
            <a:off x="585216" y="1049487"/>
            <a:ext cx="8887111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SPI NOR 自主启动：boot_mode=2 · PlatformRom=0 · 根 SDK CRT0</a:t>
            </a:r>
          </a:p>
        </p:txBody>
      </p:sp>
      <p:sp>
        <p:nvSpPr>
          <p:cNvPr id="4" name="rom-domain"/>
          <p:cNvSpPr/>
          <p:nvPr/>
        </p:nvSpPr>
        <p:spPr>
          <a:xfrm>
            <a:off x="731520" y="2316480"/>
            <a:ext cx="9022080" cy="12557760"/>
          </a:xfrm>
          <a:prstGeom prst="rect">
            <a:avLst/>
          </a:prstGeom>
          <a:solidFill>
            <a:srgbClr val="D8E8F4"/>
          </a:solidFill>
          <a:ln w="2438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o5: 片上 Boot ROM 镜像"/>
          <p:cNvSpPr txBox="1"/>
          <p:nvPr/>
        </p:nvSpPr>
        <p:spPr>
          <a:xfrm>
            <a:off x="3411264" y="2445715"/>
            <a:ext cx="3662591" cy="5852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8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片上 Boot ROM 镜像</a:t>
            </a:r>
          </a:p>
        </p:txBody>
      </p:sp>
      <p:sp>
        <p:nvSpPr>
          <p:cNvPr id="6" name="payload-domain"/>
          <p:cNvSpPr/>
          <p:nvPr/>
        </p:nvSpPr>
        <p:spPr>
          <a:xfrm>
            <a:off x="10363200" y="2316480"/>
            <a:ext cx="9022080" cy="12557760"/>
          </a:xfrm>
          <a:prstGeom prst="rect">
            <a:avLst/>
          </a:prstGeom>
          <a:solidFill>
            <a:srgbClr val="D9EEE8"/>
          </a:solidFill>
          <a:ln w="2438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7: SPM 中的应用 / ZSL 镜像"/>
          <p:cNvSpPr txBox="1"/>
          <p:nvPr/>
        </p:nvSpPr>
        <p:spPr>
          <a:xfrm>
            <a:off x="12611100" y="2445715"/>
            <a:ext cx="4526280" cy="5852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8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SPM 中的应用 / ZSL 镜像</a:t>
            </a:r>
          </a:p>
        </p:txBody>
      </p:sp>
      <p:sp>
        <p:nvSpPr>
          <p:cNvPr id="8" name="state-domain"/>
          <p:cNvSpPr/>
          <p:nvPr/>
        </p:nvSpPr>
        <p:spPr>
          <a:xfrm>
            <a:off x="19994880" y="2316480"/>
            <a:ext cx="8534400" cy="12557760"/>
          </a:xfrm>
          <a:prstGeom prst="rect">
            <a:avLst/>
          </a:prstGeom>
          <a:solidFill>
            <a:srgbClr val="E8DFED"/>
          </a:solidFill>
          <a:ln w="2438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o9: 完成后的状态与观察"/>
          <p:cNvSpPr txBox="1"/>
          <p:nvPr/>
        </p:nvSpPr>
        <p:spPr>
          <a:xfrm>
            <a:off x="22433280" y="2445715"/>
            <a:ext cx="3657600" cy="5852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8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完成后的状态与观察</a:t>
            </a:r>
          </a:p>
        </p:txBody>
      </p:sp>
      <p:sp>
        <p:nvSpPr>
          <p:cNvPr id="10" name="reset"/>
          <p:cNvSpPr/>
          <p:nvPr/>
        </p:nvSpPr>
        <p:spPr>
          <a:xfrm>
            <a:off x="1219200" y="3413760"/>
            <a:ext cx="8046720" cy="1219200"/>
          </a:xfrm>
          <a:prstGeom prst="rect">
            <a:avLst/>
          </a:prstGeom>
          <a:solidFill>
            <a:srgbClr val="FFFFFF"/>
          </a:solidFill>
          <a:ln w="2438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o11: 复位释放 → ROM _start"/>
          <p:cNvSpPr txBox="1"/>
          <p:nvPr/>
        </p:nvSpPr>
        <p:spPr>
          <a:xfrm>
            <a:off x="3207134" y="3554456"/>
            <a:ext cx="4070852" cy="56570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8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复位释放 → ROM _start</a:t>
            </a:r>
          </a:p>
        </p:txBody>
      </p:sp>
      <p:sp>
        <p:nvSpPr>
          <p:cNvPr id="12" name="o12: cheshire_bootrom.S @ ROM"/>
          <p:cNvSpPr txBox="1"/>
          <p:nvPr/>
        </p:nvSpPr>
        <p:spPr>
          <a:xfrm>
            <a:off x="3304889" y="4034820"/>
            <a:ext cx="3875342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cheshire_bootrom.S @ ROM</a:t>
            </a:r>
          </a:p>
        </p:txBody>
      </p:sp>
      <p:sp>
        <p:nvSpPr>
          <p:cNvPr id="13" name="early"/>
          <p:cNvSpPr/>
          <p:nvPr/>
        </p:nvSpPr>
        <p:spPr>
          <a:xfrm>
            <a:off x="1219200" y="5486400"/>
            <a:ext cx="8046720" cy="1828800"/>
          </a:xfrm>
          <a:prstGeom prst="rect">
            <a:avLst/>
          </a:prstGeom>
          <a:solidFill>
            <a:srgbClr val="FFFFFF"/>
          </a:solidFill>
          <a:ln w="2438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o14: 早期环境与 LLC 初始化"/>
          <p:cNvSpPr txBox="1"/>
          <p:nvPr/>
        </p:nvSpPr>
        <p:spPr>
          <a:xfrm>
            <a:off x="3259274" y="5724632"/>
            <a:ext cx="3966572" cy="56570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8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早期环境与 LLC 初始化</a:t>
            </a:r>
          </a:p>
        </p:txBody>
      </p:sp>
      <p:sp>
        <p:nvSpPr>
          <p:cNvPr id="15" name="o15: 等待 BIST · 配置 SPM / 栈"/>
          <p:cNvSpPr txBox="1"/>
          <p:nvPr/>
        </p:nvSpPr>
        <p:spPr>
          <a:xfrm>
            <a:off x="3405902" y="6204996"/>
            <a:ext cx="3673316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等待 BIST · 配置 SPM / 栈</a:t>
            </a:r>
          </a:p>
        </p:txBody>
      </p:sp>
      <p:sp>
        <p:nvSpPr>
          <p:cNvPr id="16" name="o16: PlatformRom=0：跳过平台钩子"/>
          <p:cNvSpPr txBox="1"/>
          <p:nvPr/>
        </p:nvSpPr>
        <p:spPr>
          <a:xfrm>
            <a:off x="3075575" y="6619524"/>
            <a:ext cx="4333970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PlatformRom=0：跳过平台钩子</a:t>
            </a:r>
          </a:p>
        </p:txBody>
      </p:sp>
      <p:sp>
        <p:nvSpPr>
          <p:cNvPr id="17" name="rom-main"/>
          <p:cNvSpPr/>
          <p:nvPr/>
        </p:nvSpPr>
        <p:spPr>
          <a:xfrm>
            <a:off x="1219200" y="8168640"/>
            <a:ext cx="8046720" cy="1828800"/>
          </a:xfrm>
          <a:prstGeom prst="rect">
            <a:avLst/>
          </a:prstGeom>
          <a:solidFill>
            <a:srgbClr val="FFFFFF"/>
          </a:solidFill>
          <a:ln w="2438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o18: cheshire_bootrom.c · main"/>
          <p:cNvSpPr txBox="1"/>
          <p:nvPr/>
        </p:nvSpPr>
        <p:spPr>
          <a:xfrm>
            <a:off x="3018082" y="8406872"/>
            <a:ext cx="4448956" cy="56570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8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cheshire_bootrom.c · main</a:t>
            </a:r>
          </a:p>
        </p:txBody>
      </p:sp>
      <p:sp>
        <p:nvSpPr>
          <p:cNvPr id="19" name="o19: boot_mode / RTC 测频"/>
          <p:cNvSpPr txBox="1"/>
          <p:nvPr/>
        </p:nvSpPr>
        <p:spPr>
          <a:xfrm>
            <a:off x="3628787" y="8887236"/>
            <a:ext cx="3227546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boot_mode / RTC 测频</a:t>
            </a:r>
          </a:p>
        </p:txBody>
      </p:sp>
      <p:sp>
        <p:nvSpPr>
          <p:cNvPr id="20" name="o20: boot_spi_s25fs512s 初始化 SPI"/>
          <p:cNvSpPr txBox="1"/>
          <p:nvPr/>
        </p:nvSpPr>
        <p:spPr>
          <a:xfrm>
            <a:off x="3029140" y="9301764"/>
            <a:ext cx="4426839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boot_spi_s25fs512s 初始化 SPI</a:t>
            </a:r>
          </a:p>
        </p:txBody>
      </p:sp>
      <p:sp>
        <p:nvSpPr>
          <p:cNvPr id="21" name="gpt-load"/>
          <p:cNvSpPr/>
          <p:nvPr/>
        </p:nvSpPr>
        <p:spPr>
          <a:xfrm>
            <a:off x="1219200" y="10850880"/>
            <a:ext cx="8046720" cy="1341120"/>
          </a:xfrm>
          <a:prstGeom prst="rect">
            <a:avLst/>
          </a:prstGeom>
          <a:solidFill>
            <a:srgbClr val="FFFFFF"/>
          </a:solidFill>
          <a:ln w="2438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22: gpt_boot_part_else_raw"/>
          <p:cNvSpPr txBox="1"/>
          <p:nvPr/>
        </p:nvSpPr>
        <p:spPr>
          <a:xfrm>
            <a:off x="3233185" y="11052536"/>
            <a:ext cx="4018750" cy="56570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8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gpt_boot_part_else_raw</a:t>
            </a:r>
          </a:p>
        </p:txBody>
      </p:sp>
      <p:sp>
        <p:nvSpPr>
          <p:cNvPr id="23" name="o23: 镜像字节 → SPM 的 code_buf"/>
          <p:cNvSpPr txBox="1"/>
          <p:nvPr/>
        </p:nvSpPr>
        <p:spPr>
          <a:xfrm>
            <a:off x="3169158" y="11532900"/>
            <a:ext cx="4146804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镜像字节 → SPM 的 code_buf</a:t>
            </a:r>
          </a:p>
        </p:txBody>
      </p:sp>
      <p:sp>
        <p:nvSpPr>
          <p:cNvPr id="24" name="handoff"/>
          <p:cNvSpPr/>
          <p:nvPr/>
        </p:nvSpPr>
        <p:spPr>
          <a:xfrm>
            <a:off x="1219200" y="13167360"/>
            <a:ext cx="8046720" cy="1158240"/>
          </a:xfrm>
          <a:prstGeom prst="rect">
            <a:avLst/>
          </a:prstGeom>
          <a:solidFill>
            <a:srgbClr val="FFFFFF"/>
          </a:solidFill>
          <a:ln w="2438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25: boot_next_stage"/>
          <p:cNvSpPr txBox="1"/>
          <p:nvPr/>
        </p:nvSpPr>
        <p:spPr>
          <a:xfrm>
            <a:off x="3794617" y="13277576"/>
            <a:ext cx="2895886" cy="56570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8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boot_next_stage</a:t>
            </a:r>
          </a:p>
        </p:txBody>
      </p:sp>
      <p:sp>
        <p:nvSpPr>
          <p:cNvPr id="26" name="o26: jalr ra, 0(t0)"/>
          <p:cNvSpPr txBox="1"/>
          <p:nvPr/>
        </p:nvSpPr>
        <p:spPr>
          <a:xfrm>
            <a:off x="4336447" y="13757940"/>
            <a:ext cx="1812226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jalr ra, 0(t0)</a:t>
            </a:r>
          </a:p>
        </p:txBody>
      </p:sp>
      <p:sp>
        <p:nvSpPr>
          <p:cNvPr id="27" name="payload-start"/>
          <p:cNvSpPr/>
          <p:nvPr/>
        </p:nvSpPr>
        <p:spPr>
          <a:xfrm>
            <a:off x="10850880" y="3413760"/>
            <a:ext cx="8046720" cy="1219200"/>
          </a:xfrm>
          <a:prstGeom prst="rect">
            <a:avLst/>
          </a:prstGeom>
          <a:solidFill>
            <a:srgbClr val="FFFFFF"/>
          </a:solidFill>
          <a:ln w="2438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o28: 载荷 _start @ 镜像起点"/>
          <p:cNvSpPr txBox="1"/>
          <p:nvPr/>
        </p:nvSpPr>
        <p:spPr>
          <a:xfrm>
            <a:off x="12891468" y="3554456"/>
            <a:ext cx="3965543" cy="56570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8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载荷 _start @ 镜像起点</a:t>
            </a:r>
          </a:p>
        </p:txBody>
      </p:sp>
      <p:sp>
        <p:nvSpPr>
          <p:cNvPr id="29" name="o29: 由 sw/lib/crt0.S 提供"/>
          <p:cNvSpPr txBox="1"/>
          <p:nvPr/>
        </p:nvSpPr>
        <p:spPr>
          <a:xfrm>
            <a:off x="13342191" y="4034820"/>
            <a:ext cx="3064097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由 sw/lib/crt0.S 提供</a:t>
            </a:r>
          </a:p>
        </p:txBody>
      </p:sp>
      <p:sp>
        <p:nvSpPr>
          <p:cNvPr id="30" name="runtime"/>
          <p:cNvSpPr/>
          <p:nvPr/>
        </p:nvSpPr>
        <p:spPr>
          <a:xfrm>
            <a:off x="10850880" y="5486400"/>
            <a:ext cx="8046720" cy="1950720"/>
          </a:xfrm>
          <a:prstGeom prst="rect">
            <a:avLst/>
          </a:prstGeom>
          <a:solidFill>
            <a:srgbClr val="FFFFFF"/>
          </a:solidFill>
          <a:ln w="2438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o31: CRT0：应用运行环境"/>
          <p:cNvSpPr txBox="1"/>
          <p:nvPr/>
        </p:nvSpPr>
        <p:spPr>
          <a:xfrm>
            <a:off x="13046669" y="5785592"/>
            <a:ext cx="3655143" cy="56570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8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CRT0：应用运行环境</a:t>
            </a:r>
          </a:p>
        </p:txBody>
      </p:sp>
      <p:sp>
        <p:nvSpPr>
          <p:cNvPr id="32" name="o32: sp / gp、mtvec、BSS、FP"/>
          <p:cNvSpPr txBox="1"/>
          <p:nvPr/>
        </p:nvSpPr>
        <p:spPr>
          <a:xfrm>
            <a:off x="13014722" y="6265956"/>
            <a:ext cx="3719036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 / gp、mtvec、BSS、FP</a:t>
            </a:r>
          </a:p>
        </p:txBody>
      </p:sp>
      <p:sp>
        <p:nvSpPr>
          <p:cNvPr id="33" name="o33: 保存进入应用的 ra；call main"/>
          <p:cNvSpPr txBox="1"/>
          <p:nvPr/>
        </p:nvSpPr>
        <p:spPr>
          <a:xfrm>
            <a:off x="12812554" y="6680484"/>
            <a:ext cx="4123372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保存进入应用的 ra；call main</a:t>
            </a:r>
          </a:p>
        </p:txBody>
      </p:sp>
      <p:sp>
        <p:nvSpPr>
          <p:cNvPr id="34" name="app"/>
          <p:cNvSpPr/>
          <p:nvPr/>
        </p:nvSpPr>
        <p:spPr>
          <a:xfrm>
            <a:off x="10850880" y="8656320"/>
            <a:ext cx="8046720" cy="2072640"/>
          </a:xfrm>
          <a:prstGeom prst="rect">
            <a:avLst/>
          </a:prstGeom>
          <a:solidFill>
            <a:srgbClr val="FFFFFF"/>
          </a:solidFill>
          <a:ln w="2438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o35: 载荷自己的 main()"/>
          <p:cNvSpPr txBox="1"/>
          <p:nvPr/>
        </p:nvSpPr>
        <p:spPr>
          <a:xfrm>
            <a:off x="13276802" y="9016472"/>
            <a:ext cx="3194876" cy="56570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8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载荷自己的 main()</a:t>
            </a:r>
          </a:p>
        </p:txBody>
      </p:sp>
      <p:sp>
        <p:nvSpPr>
          <p:cNvPr id="36" name="o36: 执行任务"/>
          <p:cNvSpPr txBox="1"/>
          <p:nvPr/>
        </p:nvSpPr>
        <p:spPr>
          <a:xfrm>
            <a:off x="14142720" y="9496836"/>
            <a:ext cx="1463040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执行任务</a:t>
            </a:r>
          </a:p>
        </p:txBody>
      </p:sp>
      <p:sp>
        <p:nvSpPr>
          <p:cNvPr id="37" name="o37: 不返回则继续按程序运行"/>
          <p:cNvSpPr txBox="1"/>
          <p:nvPr/>
        </p:nvSpPr>
        <p:spPr>
          <a:xfrm>
            <a:off x="13118592" y="9911364"/>
            <a:ext cx="3511296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不返回则继续按程序运行</a:t>
            </a:r>
          </a:p>
        </p:txBody>
      </p:sp>
      <p:sp>
        <p:nvSpPr>
          <p:cNvPr id="38" name="exit"/>
          <p:cNvSpPr/>
          <p:nvPr/>
        </p:nvSpPr>
        <p:spPr>
          <a:xfrm>
            <a:off x="10850880" y="12557760"/>
            <a:ext cx="8046720" cy="1767840"/>
          </a:xfrm>
          <a:prstGeom prst="rect">
            <a:avLst/>
          </a:prstGeom>
          <a:solidFill>
            <a:srgbClr val="FFFFFF"/>
          </a:solidFill>
          <a:ln w="2438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o39: 应用 CRT0 · _exit"/>
          <p:cNvSpPr txBox="1"/>
          <p:nvPr/>
        </p:nvSpPr>
        <p:spPr>
          <a:xfrm>
            <a:off x="13369166" y="12765512"/>
            <a:ext cx="3010148" cy="56570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8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应用 CRT0 · _exit</a:t>
            </a:r>
          </a:p>
        </p:txBody>
      </p:sp>
      <p:sp>
        <p:nvSpPr>
          <p:cNvPr id="40" name="o40: scratch2 = (返回值 &lt;&lt; 1) | 1"/>
          <p:cNvSpPr txBox="1"/>
          <p:nvPr/>
        </p:nvSpPr>
        <p:spPr>
          <a:xfrm>
            <a:off x="12906280" y="13245876"/>
            <a:ext cx="3935920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scratch2 = (返回值 &lt;&lt; 1) | 1</a:t>
            </a:r>
          </a:p>
        </p:txBody>
      </p:sp>
      <p:sp>
        <p:nvSpPr>
          <p:cNvPr id="41" name="o41: 恢复栈上 sp / gp / ra，然后 ret"/>
          <p:cNvSpPr txBox="1"/>
          <p:nvPr/>
        </p:nvSpPr>
        <p:spPr>
          <a:xfrm>
            <a:off x="12683823" y="13660404"/>
            <a:ext cx="4380833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恢复栈上 sp / gp / ra，然后 ret</a:t>
            </a:r>
          </a:p>
        </p:txBody>
      </p:sp>
      <p:sp>
        <p:nvSpPr>
          <p:cNvPr id="42" name="running"/>
          <p:cNvSpPr/>
          <p:nvPr/>
        </p:nvSpPr>
        <p:spPr>
          <a:xfrm>
            <a:off x="20482560" y="3413760"/>
            <a:ext cx="7559040" cy="2682240"/>
          </a:xfrm>
          <a:prstGeom prst="rect">
            <a:avLst/>
          </a:prstGeom>
          <a:solidFill>
            <a:srgbClr val="FFFFFF"/>
          </a:solidFill>
          <a:ln w="2438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o43: return 不会自动停机"/>
          <p:cNvSpPr txBox="1"/>
          <p:nvPr/>
        </p:nvSpPr>
        <p:spPr>
          <a:xfrm>
            <a:off x="22516338" y="4078712"/>
            <a:ext cx="3491484" cy="56570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8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return 不会自动停机</a:t>
            </a:r>
          </a:p>
        </p:txBody>
      </p:sp>
      <p:sp>
        <p:nvSpPr>
          <p:cNvPr id="44" name="o44: 不自动复位 / 断电 / 换权限"/>
          <p:cNvSpPr txBox="1"/>
          <p:nvPr/>
        </p:nvSpPr>
        <p:spPr>
          <a:xfrm>
            <a:off x="22325266" y="4559076"/>
            <a:ext cx="3873627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不自动复位 / 断电 / 换权限</a:t>
            </a:r>
          </a:p>
        </p:txBody>
      </p:sp>
      <p:sp>
        <p:nvSpPr>
          <p:cNvPr id="45" name="o45: CPU 仍由时钟驱动并继续取指"/>
          <p:cNvSpPr txBox="1"/>
          <p:nvPr/>
        </p:nvSpPr>
        <p:spPr>
          <a:xfrm>
            <a:off x="22196536" y="4973604"/>
            <a:ext cx="4131088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CPU 仍由时钟驱动并继续取指</a:t>
            </a:r>
          </a:p>
        </p:txBody>
      </p:sp>
      <p:sp>
        <p:nvSpPr>
          <p:cNvPr id="46" name="rom-return"/>
          <p:cNvSpPr/>
          <p:nvPr/>
        </p:nvSpPr>
        <p:spPr>
          <a:xfrm>
            <a:off x="20482560" y="8046720"/>
            <a:ext cx="7559040" cy="3657600"/>
          </a:xfrm>
          <a:prstGeom prst="rect">
            <a:avLst/>
          </a:prstGeom>
          <a:solidFill>
            <a:srgbClr val="F1D7D9"/>
          </a:solidFill>
          <a:ln w="2438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o47: 当前 ROM 的调用后返回点"/>
          <p:cNvSpPr txBox="1"/>
          <p:nvPr/>
        </p:nvSpPr>
        <p:spPr>
          <a:xfrm>
            <a:off x="22017418" y="8784824"/>
            <a:ext cx="4489323" cy="56570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8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当前 ROM 的调用后返回点</a:t>
            </a:r>
          </a:p>
        </p:txBody>
      </p:sp>
      <p:sp>
        <p:nvSpPr>
          <p:cNvPr id="48" name="o48: boot_next_stage：jalr 后为 ret"/>
          <p:cNvSpPr txBox="1"/>
          <p:nvPr/>
        </p:nvSpPr>
        <p:spPr>
          <a:xfrm>
            <a:off x="22172104" y="9265188"/>
            <a:ext cx="4179951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boot_next_stage：jalr 后为 ret</a:t>
            </a:r>
          </a:p>
        </p:txBody>
      </p:sp>
      <p:sp>
        <p:nvSpPr>
          <p:cNvPr id="49" name="o49: 未保存上一层 ra"/>
          <p:cNvSpPr txBox="1"/>
          <p:nvPr/>
        </p:nvSpPr>
        <p:spPr>
          <a:xfrm>
            <a:off x="23068502" y="9679716"/>
            <a:ext cx="2387156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未保存上一层 ra</a:t>
            </a:r>
          </a:p>
        </p:txBody>
      </p:sp>
      <p:sp>
        <p:nvSpPr>
          <p:cNvPr id="50" name="o50: 可形成 ret 自循环（源码推导）"/>
          <p:cNvSpPr txBox="1"/>
          <p:nvPr/>
        </p:nvSpPr>
        <p:spPr>
          <a:xfrm>
            <a:off x="22100096" y="10094244"/>
            <a:ext cx="4323969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可形成 ret 自循环（源码推导）</a:t>
            </a:r>
          </a:p>
        </p:txBody>
      </p:sp>
      <p:sp>
        <p:nvSpPr>
          <p:cNvPr id="51" name="o51: 不是按设计进入 ROM _exit"/>
          <p:cNvSpPr txBox="1"/>
          <p:nvPr/>
        </p:nvSpPr>
        <p:spPr>
          <a:xfrm>
            <a:off x="22398990" y="10508772"/>
            <a:ext cx="3726180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不是按设计进入 ROM _exit</a:t>
            </a:r>
          </a:p>
        </p:txBody>
      </p:sp>
      <p:sp>
        <p:nvSpPr>
          <p:cNvPr id="52" name="observer"/>
          <p:cNvSpPr/>
          <p:nvPr/>
        </p:nvSpPr>
        <p:spPr>
          <a:xfrm>
            <a:off x="20482560" y="12679680"/>
            <a:ext cx="7559040" cy="1828800"/>
          </a:xfrm>
          <a:prstGeom prst="rect">
            <a:avLst/>
          </a:prstGeom>
          <a:solidFill>
            <a:srgbClr val="FFFFFF"/>
          </a:solidFill>
          <a:ln w="2438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o53: 仿真 / 调试器等外部观察者"/>
          <p:cNvSpPr txBox="1"/>
          <p:nvPr/>
        </p:nvSpPr>
        <p:spPr>
          <a:xfrm>
            <a:off x="21942828" y="12917912"/>
            <a:ext cx="4638504" cy="56570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8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仿真 / 调试器等外部观察者</a:t>
            </a:r>
          </a:p>
        </p:txBody>
      </p:sp>
      <p:sp>
        <p:nvSpPr>
          <p:cNvPr id="54" name="o54: 读取 scratch2 完成标志"/>
          <p:cNvSpPr txBox="1"/>
          <p:nvPr/>
        </p:nvSpPr>
        <p:spPr>
          <a:xfrm>
            <a:off x="22595014" y="13398276"/>
            <a:ext cx="3334131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读取 scratch2 完成标志</a:t>
            </a:r>
          </a:p>
        </p:txBody>
      </p:sp>
      <p:sp>
        <p:nvSpPr>
          <p:cNvPr id="55" name="o55: TB 可结束仿真；不等于 CPU 停机"/>
          <p:cNvSpPr txBox="1"/>
          <p:nvPr/>
        </p:nvSpPr>
        <p:spPr>
          <a:xfrm>
            <a:off x="21945076" y="13812804"/>
            <a:ext cx="4634008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TB 可结束仿真；不等于 CPU 停机</a:t>
            </a:r>
          </a:p>
        </p:txBody>
      </p:sp>
      <p:cxnSp>
        <p:nvCxnSpPr>
          <p:cNvPr id="56" name="rom-step0"/>
          <p:cNvCxnSpPr/>
          <p:nvPr/>
        </p:nvCxnSpPr>
        <p:spPr>
          <a:xfrm>
            <a:off x="5242560" y="4632960"/>
            <a:ext cx="0" cy="853440"/>
          </a:xfrm>
          <a:prstGeom prst="line">
            <a:avLst/>
          </a:prstGeom>
          <a:ln w="36576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57" name="rom-step1"/>
          <p:cNvCxnSpPr/>
          <p:nvPr/>
        </p:nvCxnSpPr>
        <p:spPr>
          <a:xfrm>
            <a:off x="5242560" y="7315200"/>
            <a:ext cx="0" cy="853440"/>
          </a:xfrm>
          <a:prstGeom prst="line">
            <a:avLst/>
          </a:prstGeom>
          <a:ln w="36576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58" name="rom-step2"/>
          <p:cNvCxnSpPr/>
          <p:nvPr/>
        </p:nvCxnSpPr>
        <p:spPr>
          <a:xfrm>
            <a:off x="5242560" y="9997440"/>
            <a:ext cx="0" cy="853440"/>
          </a:xfrm>
          <a:prstGeom prst="line">
            <a:avLst/>
          </a:prstGeom>
          <a:ln w="36576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59" name="rom-step3"/>
          <p:cNvCxnSpPr/>
          <p:nvPr/>
        </p:nvCxnSpPr>
        <p:spPr>
          <a:xfrm>
            <a:off x="5242560" y="12192000"/>
            <a:ext cx="0" cy="975360"/>
          </a:xfrm>
          <a:prstGeom prst="line">
            <a:avLst/>
          </a:prstGeom>
          <a:ln w="36576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60" name="o60: call main"/>
          <p:cNvSpPr txBox="1"/>
          <p:nvPr/>
        </p:nvSpPr>
        <p:spPr>
          <a:xfrm>
            <a:off x="6104906" y="7561966"/>
            <a:ext cx="1323308" cy="42915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12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call main</a:t>
            </a:r>
          </a:p>
        </p:txBody>
      </p:sp>
      <p:sp>
        <p:nvSpPr>
          <p:cNvPr id="61" name="jalr-entry"/>
          <p:cNvSpPr/>
          <p:nvPr/>
        </p:nvSpPr>
        <p:spPr>
          <a:xfrm>
            <a:off x="9265920" y="4023360"/>
            <a:ext cx="1584960" cy="9717024"/>
          </a:xfrm>
          <a:custGeom>
            <a:avLst/>
            <a:gdLst/>
            <a:ahLst/>
            <a:cxnLst/>
            <a:rect l="0" t="0" r="r" b="b"/>
            <a:pathLst>
              <a:path w="1584960" h="9717024" fill="none">
                <a:moveTo>
                  <a:pt x="0" y="9717024"/>
                </a:moveTo>
                <a:lnTo>
                  <a:pt x="731520" y="9717024"/>
                </a:lnTo>
                <a:lnTo>
                  <a:pt x="731520" y="0"/>
                </a:lnTo>
                <a:lnTo>
                  <a:pt x="1584960" y="0"/>
                </a:lnTo>
              </a:path>
            </a:pathLst>
          </a:custGeom>
          <a:noFill/>
          <a:ln w="3657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o62: jalr：转入载荷入口"/>
          <p:cNvSpPr txBox="1"/>
          <p:nvPr/>
        </p:nvSpPr>
        <p:spPr>
          <a:xfrm>
            <a:off x="8609886" y="15289743"/>
            <a:ext cx="2726341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jalr：转入载荷入口</a:t>
            </a:r>
          </a:p>
        </p:txBody>
      </p:sp>
      <p:cxnSp>
        <p:nvCxnSpPr>
          <p:cNvPr id="63" name="start-runtime"/>
          <p:cNvCxnSpPr/>
          <p:nvPr/>
        </p:nvCxnSpPr>
        <p:spPr>
          <a:xfrm>
            <a:off x="14874240" y="4632960"/>
            <a:ext cx="0" cy="853440"/>
          </a:xfrm>
          <a:prstGeom prst="line">
            <a:avLst/>
          </a:prstGeom>
          <a:ln w="36576" cap="flat">
            <a:solidFill>
              <a:srgbClr val="187C78"/>
            </a:solidFill>
            <a:tailEnd type="triangle" w="med" len="med"/>
          </a:ln>
          <a:effectLst/>
        </p:spPr>
      </p:cxnSp>
      <p:cxnSp>
        <p:nvCxnSpPr>
          <p:cNvPr id="64" name="runtime-main"/>
          <p:cNvCxnSpPr/>
          <p:nvPr/>
        </p:nvCxnSpPr>
        <p:spPr>
          <a:xfrm>
            <a:off x="14874240" y="7437120"/>
            <a:ext cx="0" cy="1219200"/>
          </a:xfrm>
          <a:prstGeom prst="line">
            <a:avLst/>
          </a:prstGeom>
          <a:ln w="36576" cap="flat">
            <a:solidFill>
              <a:srgbClr val="187C78"/>
            </a:solidFill>
            <a:tailEnd type="triangle" w="med" len="med"/>
          </a:ln>
          <a:effectLst/>
        </p:spPr>
      </p:cxnSp>
      <p:sp>
        <p:nvSpPr>
          <p:cNvPr id="65" name="o65: call"/>
          <p:cNvSpPr txBox="1"/>
          <p:nvPr/>
        </p:nvSpPr>
        <p:spPr>
          <a:xfrm>
            <a:off x="16596770" y="7817023"/>
            <a:ext cx="700221" cy="4486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8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call</a:t>
            </a:r>
          </a:p>
        </p:txBody>
      </p:sp>
      <p:cxnSp>
        <p:nvCxnSpPr>
          <p:cNvPr id="66" name="main-exit"/>
          <p:cNvCxnSpPr/>
          <p:nvPr/>
        </p:nvCxnSpPr>
        <p:spPr>
          <a:xfrm>
            <a:off x="14874240" y="10728960"/>
            <a:ext cx="0" cy="1828800"/>
          </a:xfrm>
          <a:prstGeom prst="line">
            <a:avLst/>
          </a:prstGeom>
          <a:ln w="36576" cap="flat">
            <a:solidFill>
              <a:srgbClr val="187C78"/>
            </a:solidFill>
            <a:tailEnd type="triangle" w="med" len="med"/>
          </a:ln>
          <a:effectLst/>
        </p:spPr>
      </p:cxnSp>
      <p:sp>
        <p:nvSpPr>
          <p:cNvPr id="67" name="o67: main 正常返回"/>
          <p:cNvSpPr txBox="1"/>
          <p:nvPr/>
        </p:nvSpPr>
        <p:spPr>
          <a:xfrm>
            <a:off x="15904216" y="11486815"/>
            <a:ext cx="2085327" cy="4486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8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main 正常返回</a:t>
            </a:r>
          </a:p>
        </p:txBody>
      </p:sp>
      <p:sp>
        <p:nvSpPr>
          <p:cNvPr id="68" name="return-rom"/>
          <p:cNvSpPr/>
          <p:nvPr/>
        </p:nvSpPr>
        <p:spPr>
          <a:xfrm>
            <a:off x="18897600" y="9875520"/>
            <a:ext cx="1584960" cy="3560064"/>
          </a:xfrm>
          <a:custGeom>
            <a:avLst/>
            <a:gdLst/>
            <a:ahLst/>
            <a:cxnLst/>
            <a:rect l="0" t="0" r="r" b="b"/>
            <a:pathLst>
              <a:path w="1584960" h="3560064" fill="none">
                <a:moveTo>
                  <a:pt x="0" y="3560064"/>
                </a:moveTo>
                <a:lnTo>
                  <a:pt x="609600" y="3560064"/>
                </a:lnTo>
                <a:lnTo>
                  <a:pt x="609600" y="0"/>
                </a:lnTo>
                <a:lnTo>
                  <a:pt x="1584960" y="0"/>
                </a:lnTo>
              </a:path>
            </a:pathLst>
          </a:custGeom>
          <a:noFill/>
          <a:ln w="3657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o69: ret"/>
          <p:cNvSpPr txBox="1"/>
          <p:nvPr/>
        </p:nvSpPr>
        <p:spPr>
          <a:xfrm>
            <a:off x="19337064" y="9220078"/>
            <a:ext cx="584111" cy="42915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12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ret</a:t>
            </a:r>
          </a:p>
        </p:txBody>
      </p:sp>
      <p:sp>
        <p:nvSpPr>
          <p:cNvPr id="70" name="observe"/>
          <p:cNvSpPr/>
          <p:nvPr/>
        </p:nvSpPr>
        <p:spPr>
          <a:xfrm>
            <a:off x="18897600" y="13594080"/>
            <a:ext cx="1584960" cy="451104"/>
          </a:xfrm>
          <a:custGeom>
            <a:avLst/>
            <a:gdLst/>
            <a:ahLst/>
            <a:cxnLst/>
            <a:rect l="0" t="0" r="r" b="b"/>
            <a:pathLst>
              <a:path w="1584960" h="451104" fill="none">
                <a:moveTo>
                  <a:pt x="0" y="451104"/>
                </a:moveTo>
                <a:lnTo>
                  <a:pt x="853440" y="451104"/>
                </a:lnTo>
                <a:lnTo>
                  <a:pt x="853440" y="0"/>
                </a:lnTo>
                <a:lnTo>
                  <a:pt x="1584960" y="0"/>
                </a:lnTo>
              </a:path>
            </a:pathLst>
          </a:custGeom>
          <a:noFill/>
          <a:ln w="3657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ret-loop"/>
          <p:cNvSpPr/>
          <p:nvPr/>
        </p:nvSpPr>
        <p:spPr>
          <a:xfrm>
            <a:off x="25603200" y="7437120"/>
            <a:ext cx="2682240" cy="2438400"/>
          </a:xfrm>
          <a:custGeom>
            <a:avLst/>
            <a:gdLst/>
            <a:ahLst/>
            <a:cxnLst/>
            <a:rect l="0" t="0" r="r" b="b"/>
            <a:pathLst>
              <a:path w="2682240" h="2438400" fill="none">
                <a:moveTo>
                  <a:pt x="2438400" y="2438400"/>
                </a:moveTo>
                <a:lnTo>
                  <a:pt x="2682240" y="2438400"/>
                </a:lnTo>
                <a:lnTo>
                  <a:pt x="2682240" y="0"/>
                </a:lnTo>
                <a:lnTo>
                  <a:pt x="0" y="0"/>
                </a:lnTo>
                <a:lnTo>
                  <a:pt x="0" y="609600"/>
                </a:lnTo>
              </a:path>
            </a:pathLst>
          </a:custGeom>
          <a:noFill/>
          <a:ln w="3657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o72: 可能 ret 自循环"/>
          <p:cNvSpPr txBox="1"/>
          <p:nvPr/>
        </p:nvSpPr>
        <p:spPr>
          <a:xfrm>
            <a:off x="24512749" y="6829471"/>
            <a:ext cx="2180901" cy="44866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8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可能 ret 自循环</a:t>
            </a:r>
          </a:p>
        </p:txBody>
      </p:sp>
      <p:cxnSp>
        <p:nvCxnSpPr>
          <p:cNvPr id="73" name="legend0"/>
          <p:cNvCxnSpPr/>
          <p:nvPr/>
        </p:nvCxnSpPr>
        <p:spPr>
          <a:xfrm>
            <a:off x="670560" y="15910560"/>
            <a:ext cx="792480" cy="0"/>
          </a:xfrm>
          <a:prstGeom prst="line">
            <a:avLst/>
          </a:prstGeom>
          <a:ln w="3048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74" name="o74: ROM 流程 / 观察"/>
          <p:cNvSpPr txBox="1"/>
          <p:nvPr/>
        </p:nvSpPr>
        <p:spPr>
          <a:xfrm>
            <a:off x="1645920" y="15718414"/>
            <a:ext cx="2284343" cy="42915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12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ROM 流程 / 观察</a:t>
            </a:r>
          </a:p>
        </p:txBody>
      </p:sp>
      <p:cxnSp>
        <p:nvCxnSpPr>
          <p:cNvPr id="75" name="legend1"/>
          <p:cNvCxnSpPr/>
          <p:nvPr/>
        </p:nvCxnSpPr>
        <p:spPr>
          <a:xfrm>
            <a:off x="7132320" y="15910560"/>
            <a:ext cx="792480" cy="0"/>
          </a:xfrm>
          <a:prstGeom prst="line">
            <a:avLst/>
          </a:prstGeom>
          <a:ln w="30480" cap="flat">
            <a:solidFill>
              <a:srgbClr val="187C78"/>
            </a:solidFill>
            <a:tailEnd type="triangle" w="med" len="med"/>
          </a:ln>
          <a:effectLst/>
        </p:spPr>
      </p:cxnSp>
      <p:sp>
        <p:nvSpPr>
          <p:cNvPr id="76" name="o76: 载荷执行"/>
          <p:cNvSpPr txBox="1"/>
          <p:nvPr/>
        </p:nvSpPr>
        <p:spPr>
          <a:xfrm>
            <a:off x="8107680" y="15718414"/>
            <a:ext cx="1341120" cy="42915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12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载荷执行</a:t>
            </a:r>
          </a:p>
        </p:txBody>
      </p:sp>
      <p:cxnSp>
        <p:nvCxnSpPr>
          <p:cNvPr id="77" name="legend2"/>
          <p:cNvCxnSpPr/>
          <p:nvPr/>
        </p:nvCxnSpPr>
        <p:spPr>
          <a:xfrm>
            <a:off x="13594080" y="15910560"/>
            <a:ext cx="792480" cy="0"/>
          </a:xfrm>
          <a:prstGeom prst="line">
            <a:avLst/>
          </a:prstGeom>
          <a:ln w="30480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78" name="o78: 当前返回路径缺口"/>
          <p:cNvSpPr txBox="1"/>
          <p:nvPr/>
        </p:nvSpPr>
        <p:spPr>
          <a:xfrm>
            <a:off x="14569440" y="15718414"/>
            <a:ext cx="2414016" cy="42915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12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当前返回路径缺口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2: Cheshire SoC 软硬件分层结构"/>
          <p:cNvSpPr txBox="1"/>
          <p:nvPr/>
        </p:nvSpPr>
        <p:spPr>
          <a:xfrm>
            <a:off x="411480" y="169713"/>
            <a:ext cx="5595328" cy="6291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9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Cheshire SoC 软硬件分层结构</a:t>
            </a:r>
          </a:p>
        </p:txBody>
      </p:sp>
      <p:sp>
        <p:nvSpPr>
          <p:cNvPr id="3" name="o3: 裸机工程主线 · 功能库、设备控制、指令执行与片外器件分别表达"/>
          <p:cNvSpPr txBox="1"/>
          <p:nvPr/>
        </p:nvSpPr>
        <p:spPr>
          <a:xfrm>
            <a:off x="438912" y="787116"/>
            <a:ext cx="6548318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裸机工程主线 · 功能库、设备控制、指令执行与片外器件分别表达</a:t>
            </a:r>
          </a:p>
        </p:txBody>
      </p:sp>
      <p:sp>
        <p:nvSpPr>
          <p:cNvPr id="4" name="applications"/>
          <p:cNvSpPr/>
          <p:nvPr/>
        </p:nvSpPr>
        <p:spPr>
          <a:xfrm>
            <a:off x="457200" y="1600200"/>
            <a:ext cx="22860000" cy="1554480"/>
          </a:xfrm>
          <a:prstGeom prst="rect">
            <a:avLst/>
          </a:prstGeom>
          <a:solidFill>
            <a:srgbClr val="F1D7D9"/>
          </a:solidFill>
          <a:ln w="1828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o5: 应用软件"/>
          <p:cNvSpPr txBox="1"/>
          <p:nvPr/>
        </p:nvSpPr>
        <p:spPr>
          <a:xfrm>
            <a:off x="11201400" y="1697126"/>
            <a:ext cx="1371600" cy="4389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应用软件</a:t>
            </a:r>
          </a:p>
        </p:txBody>
      </p:sp>
      <p:sp>
        <p:nvSpPr>
          <p:cNvPr id="6" name="app-test"/>
          <p:cNvSpPr/>
          <p:nvPr/>
        </p:nvSpPr>
        <p:spPr>
          <a:xfrm>
            <a:off x="868680" y="2194560"/>
            <a:ext cx="5303520" cy="731520"/>
          </a:xfrm>
          <a:prstGeom prst="rect">
            <a:avLst/>
          </a:prstGeom>
          <a:solidFill>
            <a:srgbClr val="FFFFFF"/>
          </a:solidFill>
          <a:ln w="1828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7: 裸机应用与测试"/>
          <p:cNvSpPr txBox="1"/>
          <p:nvPr/>
        </p:nvSpPr>
        <p:spPr>
          <a:xfrm>
            <a:off x="2532888" y="2222175"/>
            <a:ext cx="1975104" cy="39502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4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裸机应用与测试</a:t>
            </a:r>
          </a:p>
        </p:txBody>
      </p:sp>
      <p:sp>
        <p:nvSpPr>
          <p:cNvPr id="8" name="o8: HelloWorld / 结果校验"/>
          <p:cNvSpPr txBox="1"/>
          <p:nvPr/>
        </p:nvSpPr>
        <p:spPr>
          <a:xfrm>
            <a:off x="2385691" y="2572573"/>
            <a:ext cx="2269498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HelloWorld / 结果校验</a:t>
            </a:r>
          </a:p>
        </p:txBody>
      </p:sp>
      <p:sp>
        <p:nvSpPr>
          <p:cNvPr id="9" name="app-vector"/>
          <p:cNvSpPr/>
          <p:nvPr/>
        </p:nvSpPr>
        <p:spPr>
          <a:xfrm>
            <a:off x="6537960" y="2194560"/>
            <a:ext cx="5303520" cy="731520"/>
          </a:xfrm>
          <a:prstGeom prst="rect">
            <a:avLst/>
          </a:prstGeom>
          <a:solidFill>
            <a:srgbClr val="FFFFFF"/>
          </a:solidFill>
          <a:ln w="1828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o10: 向量算法"/>
          <p:cNvSpPr txBox="1"/>
          <p:nvPr/>
        </p:nvSpPr>
        <p:spPr>
          <a:xfrm>
            <a:off x="8572500" y="2222175"/>
            <a:ext cx="1234440" cy="39502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4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向量算法</a:t>
            </a:r>
          </a:p>
        </p:txBody>
      </p:sp>
      <p:sp>
        <p:nvSpPr>
          <p:cNvPr id="11" name="o11: RVV / 矩阵计算"/>
          <p:cNvSpPr txBox="1"/>
          <p:nvPr/>
        </p:nvSpPr>
        <p:spPr>
          <a:xfrm>
            <a:off x="8363460" y="2572573"/>
            <a:ext cx="1652521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RVV / 矩阵计算</a:t>
            </a:r>
          </a:p>
        </p:txBody>
      </p:sp>
      <p:sp>
        <p:nvSpPr>
          <p:cNvPr id="12" name="app-tools"/>
          <p:cNvSpPr/>
          <p:nvPr/>
        </p:nvSpPr>
        <p:spPr>
          <a:xfrm>
            <a:off x="12207240" y="2194560"/>
            <a:ext cx="5303520" cy="731520"/>
          </a:xfrm>
          <a:prstGeom prst="rect">
            <a:avLst/>
          </a:prstGeom>
          <a:solidFill>
            <a:srgbClr val="FFFFFF"/>
          </a:solidFill>
          <a:ln w="1828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13: 系统工具"/>
          <p:cNvSpPr txBox="1"/>
          <p:nvPr/>
        </p:nvSpPr>
        <p:spPr>
          <a:xfrm>
            <a:off x="14241780" y="2222175"/>
            <a:ext cx="1234440" cy="39502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4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系统工具</a:t>
            </a:r>
          </a:p>
        </p:txBody>
      </p:sp>
      <p:sp>
        <p:nvSpPr>
          <p:cNvPr id="14" name="o14: 介质烧写 / 下载执行"/>
          <p:cNvSpPr txBox="1"/>
          <p:nvPr/>
        </p:nvSpPr>
        <p:spPr>
          <a:xfrm>
            <a:off x="13794910" y="2572573"/>
            <a:ext cx="2128180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介质烧写 / 下载执行</a:t>
            </a:r>
          </a:p>
        </p:txBody>
      </p:sp>
      <p:sp>
        <p:nvSpPr>
          <p:cNvPr id="15" name="app-image"/>
          <p:cNvSpPr/>
          <p:nvPr/>
        </p:nvSpPr>
        <p:spPr>
          <a:xfrm>
            <a:off x="17876520" y="2194560"/>
            <a:ext cx="5303520" cy="731520"/>
          </a:xfrm>
          <a:prstGeom prst="rect">
            <a:avLst/>
          </a:prstGeom>
          <a:solidFill>
            <a:srgbClr val="FFFFFF"/>
          </a:solidFill>
          <a:ln w="18288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o16: 图像处理与推理"/>
          <p:cNvSpPr txBox="1"/>
          <p:nvPr/>
        </p:nvSpPr>
        <p:spPr>
          <a:xfrm>
            <a:off x="19540728" y="2222175"/>
            <a:ext cx="1975104" cy="39502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4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图像处理与推理</a:t>
            </a:r>
          </a:p>
        </p:txBody>
      </p:sp>
      <p:sp>
        <p:nvSpPr>
          <p:cNvPr id="17" name="o17: ISP / NPU 工作负载〔规划〕"/>
          <p:cNvSpPr txBox="1"/>
          <p:nvPr/>
        </p:nvSpPr>
        <p:spPr>
          <a:xfrm>
            <a:off x="19085971" y="2572573"/>
            <a:ext cx="2884618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ISP / NPU 工作负载〔规划〕</a:t>
            </a:r>
          </a:p>
        </p:txBody>
      </p:sp>
      <p:sp>
        <p:nvSpPr>
          <p:cNvPr id="18" name="base-software"/>
          <p:cNvSpPr/>
          <p:nvPr/>
        </p:nvSpPr>
        <p:spPr>
          <a:xfrm>
            <a:off x="457200" y="3520440"/>
            <a:ext cx="22860000" cy="4023360"/>
          </a:xfrm>
          <a:prstGeom prst="rect">
            <a:avLst/>
          </a:prstGeom>
          <a:solidFill>
            <a:srgbClr val="D8E8F4"/>
          </a:solidFill>
          <a:ln w="1828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19: 基础软件 · 通用功能与设备控制"/>
          <p:cNvSpPr txBox="1"/>
          <p:nvPr/>
        </p:nvSpPr>
        <p:spPr>
          <a:xfrm>
            <a:off x="9851903" y="3617366"/>
            <a:ext cx="4070594" cy="4389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基础软件 · 通用功能与设备控制</a:t>
            </a:r>
          </a:p>
        </p:txBody>
      </p:sp>
      <p:sp>
        <p:nvSpPr>
          <p:cNvPr id="20" name="printf"/>
          <p:cNvSpPr/>
          <p:nvPr/>
        </p:nvSpPr>
        <p:spPr>
          <a:xfrm>
            <a:off x="914400" y="4251960"/>
            <a:ext cx="3017520" cy="914400"/>
          </a:xfrm>
          <a:prstGeom prst="rect">
            <a:avLst/>
          </a:prstGeom>
          <a:solidFill>
            <a:srgbClr val="FFFFFF"/>
          </a:solidFill>
          <a:ln w="1828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o21: printf"/>
          <p:cNvSpPr txBox="1"/>
          <p:nvPr/>
        </p:nvSpPr>
        <p:spPr>
          <a:xfrm>
            <a:off x="2006344" y="4364248"/>
            <a:ext cx="833633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printf</a:t>
            </a:r>
          </a:p>
        </p:txBody>
      </p:sp>
      <p:sp>
        <p:nvSpPr>
          <p:cNvPr id="22" name="o22: 格式化 → _putchar"/>
          <p:cNvSpPr txBox="1"/>
          <p:nvPr/>
        </p:nvSpPr>
        <p:spPr>
          <a:xfrm>
            <a:off x="1394567" y="4714646"/>
            <a:ext cx="2057186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格式化 → _putchar</a:t>
            </a:r>
          </a:p>
        </p:txBody>
      </p:sp>
      <p:sp>
        <p:nvSpPr>
          <p:cNvPr id="23" name="gpt"/>
          <p:cNvSpPr/>
          <p:nvPr/>
        </p:nvSpPr>
        <p:spPr>
          <a:xfrm>
            <a:off x="4389120" y="4251960"/>
            <a:ext cx="3200400" cy="914400"/>
          </a:xfrm>
          <a:prstGeom prst="rect">
            <a:avLst/>
          </a:prstGeom>
          <a:solidFill>
            <a:srgbClr val="FFFFFF"/>
          </a:solidFill>
          <a:ln w="1828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o24: GPT 解析"/>
          <p:cNvSpPr txBox="1"/>
          <p:nvPr/>
        </p:nvSpPr>
        <p:spPr>
          <a:xfrm>
            <a:off x="5346854" y="4364248"/>
            <a:ext cx="1284932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GPT 解析</a:t>
            </a:r>
          </a:p>
        </p:txBody>
      </p:sp>
      <p:sp>
        <p:nvSpPr>
          <p:cNvPr id="25" name="o25: read 回调访问介质"/>
          <p:cNvSpPr txBox="1"/>
          <p:nvPr/>
        </p:nvSpPr>
        <p:spPr>
          <a:xfrm>
            <a:off x="4975836" y="4714646"/>
            <a:ext cx="2026968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read 回调访问介质</a:t>
            </a:r>
          </a:p>
        </p:txBody>
      </p:sp>
      <p:sp>
        <p:nvSpPr>
          <p:cNvPr id="26" name="storage-hal"/>
          <p:cNvSpPr/>
          <p:nvPr/>
        </p:nvSpPr>
        <p:spPr>
          <a:xfrm>
            <a:off x="8046720" y="4251960"/>
            <a:ext cx="6583680" cy="914400"/>
          </a:xfrm>
          <a:prstGeom prst="rect">
            <a:avLst/>
          </a:prstGeom>
          <a:solidFill>
            <a:srgbClr val="FFFFFF"/>
          </a:solidFill>
          <a:ln w="1828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o27: 存储器件 HAL"/>
          <p:cNvSpPr txBox="1"/>
          <p:nvPr/>
        </p:nvSpPr>
        <p:spPr>
          <a:xfrm>
            <a:off x="10440062" y="4364248"/>
            <a:ext cx="1796996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存储器件 HAL</a:t>
            </a:r>
          </a:p>
        </p:txBody>
      </p:sp>
      <p:sp>
        <p:nvSpPr>
          <p:cNvPr id="28" name="o28: SPI Flash / SD / I²C EEPROM"/>
          <p:cNvSpPr txBox="1"/>
          <p:nvPr/>
        </p:nvSpPr>
        <p:spPr>
          <a:xfrm>
            <a:off x="9814905" y="4714646"/>
            <a:ext cx="3047309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SPI Flash / SD / I²C EEPROM</a:t>
            </a:r>
          </a:p>
        </p:txBody>
      </p:sp>
      <p:sp>
        <p:nvSpPr>
          <p:cNvPr id="29" name="debug-hal"/>
          <p:cNvSpPr/>
          <p:nvPr/>
        </p:nvSpPr>
        <p:spPr>
          <a:xfrm>
            <a:off x="15087600" y="4251960"/>
            <a:ext cx="7498080" cy="914400"/>
          </a:xfrm>
          <a:prstGeom prst="rect">
            <a:avLst/>
          </a:prstGeom>
          <a:solidFill>
            <a:srgbClr val="FFFFFF"/>
          </a:solidFill>
          <a:ln w="1828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o30: UART debug HAL"/>
          <p:cNvSpPr txBox="1"/>
          <p:nvPr/>
        </p:nvSpPr>
        <p:spPr>
          <a:xfrm>
            <a:off x="17774986" y="4364248"/>
            <a:ext cx="2123308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 debug HAL</a:t>
            </a:r>
          </a:p>
        </p:txBody>
      </p:sp>
      <p:sp>
        <p:nvSpPr>
          <p:cNvPr id="31" name="o31: READ / WRITE / EXEC"/>
          <p:cNvSpPr txBox="1"/>
          <p:nvPr/>
        </p:nvSpPr>
        <p:spPr>
          <a:xfrm>
            <a:off x="17665744" y="4714646"/>
            <a:ext cx="2341793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READ / WRITE / EXEC</a:t>
            </a:r>
          </a:p>
        </p:txBody>
      </p:sp>
      <p:sp>
        <p:nvSpPr>
          <p:cNvPr id="32" name="uart-dif"/>
          <p:cNvSpPr/>
          <p:nvPr/>
        </p:nvSpPr>
        <p:spPr>
          <a:xfrm>
            <a:off x="914400" y="5760720"/>
            <a:ext cx="5212080" cy="822960"/>
          </a:xfrm>
          <a:prstGeom prst="rect">
            <a:avLst/>
          </a:prstGeom>
          <a:solidFill>
            <a:srgbClr val="FFFFFF"/>
          </a:solidFill>
          <a:ln w="1828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o33: UART DIF"/>
          <p:cNvSpPr txBox="1"/>
          <p:nvPr/>
        </p:nvSpPr>
        <p:spPr>
          <a:xfrm>
            <a:off x="2878217" y="5827288"/>
            <a:ext cx="1284446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 DIF</a:t>
            </a:r>
          </a:p>
        </p:txBody>
      </p:sp>
      <p:sp>
        <p:nvSpPr>
          <p:cNvPr id="34" name="o34: 初始化 / FIFO 字节收发"/>
          <p:cNvSpPr txBox="1"/>
          <p:nvPr/>
        </p:nvSpPr>
        <p:spPr>
          <a:xfrm>
            <a:off x="2280856" y="6177686"/>
            <a:ext cx="2479167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初始化 / FIFO 字节收发</a:t>
            </a:r>
          </a:p>
        </p:txBody>
      </p:sp>
      <p:sp>
        <p:nvSpPr>
          <p:cNvPr id="35" name="serial-dif"/>
          <p:cNvSpPr/>
          <p:nvPr/>
        </p:nvSpPr>
        <p:spPr>
          <a:xfrm>
            <a:off x="6583680" y="5760720"/>
            <a:ext cx="10241280" cy="822960"/>
          </a:xfrm>
          <a:prstGeom prst="rect">
            <a:avLst/>
          </a:prstGeom>
          <a:solidFill>
            <a:srgbClr val="FFFFFF"/>
          </a:solidFill>
          <a:ln w="1828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o36: SPI / I²C / GPIO DIF"/>
          <p:cNvSpPr txBox="1"/>
          <p:nvPr/>
        </p:nvSpPr>
        <p:spPr>
          <a:xfrm>
            <a:off x="10456000" y="5827288"/>
            <a:ext cx="2496641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/ I²C / GPIO DIF</a:t>
            </a:r>
          </a:p>
        </p:txBody>
      </p:sp>
      <p:sp>
        <p:nvSpPr>
          <p:cNvPr id="37" name="o37: 控制器配置 / 传输段 / 状态与寄存器"/>
          <p:cNvSpPr txBox="1"/>
          <p:nvPr/>
        </p:nvSpPr>
        <p:spPr>
          <a:xfrm>
            <a:off x="9812798" y="6177686"/>
            <a:ext cx="3783044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控制器配置 / 传输段 / 状态与寄存器</a:t>
            </a:r>
          </a:p>
        </p:txBody>
      </p:sp>
      <p:sp>
        <p:nvSpPr>
          <p:cNvPr id="38" name="timer-dma"/>
          <p:cNvSpPr/>
          <p:nvPr/>
        </p:nvSpPr>
        <p:spPr>
          <a:xfrm>
            <a:off x="17282160" y="5760720"/>
            <a:ext cx="5303520" cy="822960"/>
          </a:xfrm>
          <a:prstGeom prst="rect">
            <a:avLst/>
          </a:prstGeom>
          <a:solidFill>
            <a:srgbClr val="FFFFFF"/>
          </a:solidFill>
          <a:ln w="1828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o39: CLINT / DMA 接口"/>
          <p:cNvSpPr txBox="1"/>
          <p:nvPr/>
        </p:nvSpPr>
        <p:spPr>
          <a:xfrm>
            <a:off x="18782376" y="5827288"/>
            <a:ext cx="2303088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 / DMA 接口</a:t>
            </a:r>
          </a:p>
        </p:txBody>
      </p:sp>
      <p:sp>
        <p:nvSpPr>
          <p:cNvPr id="40" name="o40: 计时 / 配置与提交"/>
          <p:cNvSpPr txBox="1"/>
          <p:nvPr/>
        </p:nvSpPr>
        <p:spPr>
          <a:xfrm>
            <a:off x="18933295" y="6177686"/>
            <a:ext cx="2001250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计时 / 配置与提交</a:t>
            </a:r>
          </a:p>
        </p:txBody>
      </p:sp>
      <p:sp>
        <p:nvSpPr>
          <p:cNvPr id="41" name="mmio"/>
          <p:cNvSpPr/>
          <p:nvPr/>
        </p:nvSpPr>
        <p:spPr>
          <a:xfrm>
            <a:off x="914400" y="6903720"/>
            <a:ext cx="21671280" cy="457200"/>
          </a:xfrm>
          <a:prstGeom prst="rect">
            <a:avLst/>
          </a:prstGeom>
          <a:solidFill>
            <a:srgbClr val="E8DFED"/>
          </a:solidFill>
          <a:ln w="1828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o42: MMIO：reg8 / reg32 · mmio_region_read / w"/>
          <p:cNvSpPr txBox="1"/>
          <p:nvPr/>
        </p:nvSpPr>
        <p:spPr>
          <a:xfrm>
            <a:off x="8150376" y="6963156"/>
            <a:ext cx="7199328" cy="3657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MMIO：reg8 / reg32 · mmio_region_read / write · 基址 + 偏移 + 位宽</a:t>
            </a:r>
          </a:p>
        </p:txBody>
      </p:sp>
      <p:cxnSp>
        <p:nvCxnSpPr>
          <p:cNvPr id="43" name="printf-uart"/>
          <p:cNvCxnSpPr/>
          <p:nvPr/>
        </p:nvCxnSpPr>
        <p:spPr>
          <a:xfrm>
            <a:off x="2423160" y="5166360"/>
            <a:ext cx="0" cy="594360"/>
          </a:xfrm>
          <a:prstGeom prst="line">
            <a:avLst/>
          </a:prstGeom>
          <a:ln w="27432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44" name="gpt-hal"/>
          <p:cNvCxnSpPr/>
          <p:nvPr/>
        </p:nvCxnSpPr>
        <p:spPr>
          <a:xfrm>
            <a:off x="7589520" y="4709160"/>
            <a:ext cx="457200" cy="0"/>
          </a:xfrm>
          <a:prstGeom prst="line">
            <a:avLst/>
          </a:prstGeom>
          <a:ln w="27432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45" name="hal-dif"/>
          <p:cNvCxnSpPr/>
          <p:nvPr/>
        </p:nvCxnSpPr>
        <p:spPr>
          <a:xfrm>
            <a:off x="11338560" y="5166360"/>
            <a:ext cx="0" cy="594360"/>
          </a:xfrm>
          <a:prstGeom prst="line">
            <a:avLst/>
          </a:prstGeom>
          <a:ln w="2743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46" name="debug-uart"/>
          <p:cNvSpPr/>
          <p:nvPr/>
        </p:nvSpPr>
        <p:spPr>
          <a:xfrm>
            <a:off x="4937760" y="5166360"/>
            <a:ext cx="13898880" cy="594360"/>
          </a:xfrm>
          <a:custGeom>
            <a:avLst/>
            <a:gdLst/>
            <a:ahLst/>
            <a:cxnLst/>
            <a:rect l="0" t="0" r="r" b="b"/>
            <a:pathLst>
              <a:path w="13898880" h="594360" fill="none">
                <a:moveTo>
                  <a:pt x="13898880" y="0"/>
                </a:moveTo>
                <a:lnTo>
                  <a:pt x="13898880" y="283464"/>
                </a:lnTo>
                <a:lnTo>
                  <a:pt x="6528816" y="283464"/>
                </a:lnTo>
                <a:cubicBezTo>
                  <a:pt x="6528816" y="118872"/>
                  <a:pt x="6272784" y="118872"/>
                  <a:pt x="6272784" y="283464"/>
                </a:cubicBezTo>
                <a:lnTo>
                  <a:pt x="0" y="283464"/>
                </a:lnTo>
                <a:lnTo>
                  <a:pt x="0" y="594360"/>
                </a:lnTo>
              </a:path>
            </a:pathLst>
          </a:custGeom>
          <a:noFill/>
          <a:ln w="27432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7" name="dif-mmio0"/>
          <p:cNvCxnSpPr/>
          <p:nvPr/>
        </p:nvCxnSpPr>
        <p:spPr>
          <a:xfrm>
            <a:off x="3520440" y="6583680"/>
            <a:ext cx="0" cy="320040"/>
          </a:xfrm>
          <a:prstGeom prst="line">
            <a:avLst/>
          </a:prstGeom>
          <a:ln w="27432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48" name="dif-mmio1"/>
          <p:cNvCxnSpPr/>
          <p:nvPr/>
        </p:nvCxnSpPr>
        <p:spPr>
          <a:xfrm>
            <a:off x="11704320" y="6583680"/>
            <a:ext cx="0" cy="320040"/>
          </a:xfrm>
          <a:prstGeom prst="line">
            <a:avLst/>
          </a:prstGeom>
          <a:ln w="27432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49" name="dif-mmio2"/>
          <p:cNvCxnSpPr/>
          <p:nvPr/>
        </p:nvCxnSpPr>
        <p:spPr>
          <a:xfrm>
            <a:off x="19933920" y="6583680"/>
            <a:ext cx="0" cy="320040"/>
          </a:xfrm>
          <a:prstGeom prst="line">
            <a:avLst/>
          </a:prstGeom>
          <a:ln w="2743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50" name="interfaces"/>
          <p:cNvSpPr/>
          <p:nvPr/>
        </p:nvSpPr>
        <p:spPr>
          <a:xfrm>
            <a:off x="457200" y="7909560"/>
            <a:ext cx="22860000" cy="1417320"/>
          </a:xfrm>
          <a:prstGeom prst="rect">
            <a:avLst/>
          </a:prstGeom>
          <a:solidFill>
            <a:srgbClr val="D9EEE8"/>
          </a:solidFill>
          <a:ln w="1828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o51: 软件可见的接口契约"/>
          <p:cNvSpPr txBox="1"/>
          <p:nvPr/>
        </p:nvSpPr>
        <p:spPr>
          <a:xfrm>
            <a:off x="10515600" y="8006486"/>
            <a:ext cx="2743200" cy="4389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软件可见的接口契约</a:t>
            </a:r>
          </a:p>
        </p:txBody>
      </p:sp>
      <p:sp>
        <p:nvSpPr>
          <p:cNvPr id="52" name="contract0"/>
          <p:cNvSpPr/>
          <p:nvPr/>
        </p:nvSpPr>
        <p:spPr>
          <a:xfrm>
            <a:off x="868680" y="8503920"/>
            <a:ext cx="5303520" cy="731520"/>
          </a:xfrm>
          <a:prstGeom prst="rect">
            <a:avLst/>
          </a:prstGeom>
          <a:solidFill>
            <a:srgbClr val="FFFFFF"/>
          </a:solidFill>
          <a:ln w="1828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o53: 指令执行"/>
          <p:cNvSpPr txBox="1"/>
          <p:nvPr/>
        </p:nvSpPr>
        <p:spPr>
          <a:xfrm>
            <a:off x="2948940" y="8545068"/>
            <a:ext cx="1143000" cy="3657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指令执行</a:t>
            </a:r>
          </a:p>
        </p:txBody>
      </p:sp>
      <p:sp>
        <p:nvSpPr>
          <p:cNvPr id="54" name="o54: 标量指令 / RVV"/>
          <p:cNvSpPr txBox="1"/>
          <p:nvPr/>
        </p:nvSpPr>
        <p:spPr>
          <a:xfrm>
            <a:off x="2730106" y="8885591"/>
            <a:ext cx="1580669" cy="32186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标量指令 / RVV</a:t>
            </a:r>
          </a:p>
        </p:txBody>
      </p:sp>
      <p:sp>
        <p:nvSpPr>
          <p:cNvPr id="55" name="contract1"/>
          <p:cNvSpPr/>
          <p:nvPr/>
        </p:nvSpPr>
        <p:spPr>
          <a:xfrm>
            <a:off x="6537960" y="8503920"/>
            <a:ext cx="5303520" cy="731520"/>
          </a:xfrm>
          <a:prstGeom prst="rect">
            <a:avLst/>
          </a:prstGeom>
          <a:solidFill>
            <a:srgbClr val="FFFFFF"/>
          </a:solidFill>
          <a:ln w="1828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o56: CSR 与特权状态"/>
          <p:cNvSpPr txBox="1"/>
          <p:nvPr/>
        </p:nvSpPr>
        <p:spPr>
          <a:xfrm>
            <a:off x="8257353" y="8545068"/>
            <a:ext cx="1864733" cy="3657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CSR 与特权状态</a:t>
            </a:r>
          </a:p>
        </p:txBody>
      </p:sp>
      <p:sp>
        <p:nvSpPr>
          <p:cNvPr id="57" name="o57: 处理器配置与控制"/>
          <p:cNvSpPr txBox="1"/>
          <p:nvPr/>
        </p:nvSpPr>
        <p:spPr>
          <a:xfrm>
            <a:off x="8284464" y="8885591"/>
            <a:ext cx="1810512" cy="32186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处理器配置与控制</a:t>
            </a:r>
          </a:p>
        </p:txBody>
      </p:sp>
      <p:sp>
        <p:nvSpPr>
          <p:cNvPr id="58" name="contract2"/>
          <p:cNvSpPr/>
          <p:nvPr/>
        </p:nvSpPr>
        <p:spPr>
          <a:xfrm>
            <a:off x="12207240" y="8503920"/>
            <a:ext cx="5303520" cy="731520"/>
          </a:xfrm>
          <a:prstGeom prst="rect">
            <a:avLst/>
          </a:prstGeom>
          <a:solidFill>
            <a:srgbClr val="FFFFFF"/>
          </a:solidFill>
          <a:ln w="1828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o59: 内存与 MMIO"/>
          <p:cNvSpPr txBox="1"/>
          <p:nvPr/>
        </p:nvSpPr>
        <p:spPr>
          <a:xfrm>
            <a:off x="14075202" y="8545068"/>
            <a:ext cx="1567596" cy="3657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内存与 MMIO</a:t>
            </a:r>
          </a:p>
        </p:txBody>
      </p:sp>
      <p:sp>
        <p:nvSpPr>
          <p:cNvPr id="60" name="o60: 地址 / 属性 / 寄存器语义"/>
          <p:cNvSpPr txBox="1"/>
          <p:nvPr/>
        </p:nvSpPr>
        <p:spPr>
          <a:xfrm>
            <a:off x="13628032" y="8885591"/>
            <a:ext cx="2461936" cy="32186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地址 / 属性 / 寄存器语义</a:t>
            </a:r>
          </a:p>
        </p:txBody>
      </p:sp>
      <p:sp>
        <p:nvSpPr>
          <p:cNvPr id="61" name="contract3"/>
          <p:cNvSpPr/>
          <p:nvPr/>
        </p:nvSpPr>
        <p:spPr>
          <a:xfrm>
            <a:off x="17876520" y="8503920"/>
            <a:ext cx="5303520" cy="731520"/>
          </a:xfrm>
          <a:prstGeom prst="rect">
            <a:avLst/>
          </a:prstGeom>
          <a:solidFill>
            <a:srgbClr val="FFFFFF"/>
          </a:solidFill>
          <a:ln w="1828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o62: 异常与中断"/>
          <p:cNvSpPr txBox="1"/>
          <p:nvPr/>
        </p:nvSpPr>
        <p:spPr>
          <a:xfrm>
            <a:off x="19842480" y="8545068"/>
            <a:ext cx="1371600" cy="3657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异常与中断</a:t>
            </a:r>
          </a:p>
        </p:txBody>
      </p:sp>
      <p:sp>
        <p:nvSpPr>
          <p:cNvPr id="63" name="o63: 事件入口 / 处理与返回"/>
          <p:cNvSpPr txBox="1"/>
          <p:nvPr/>
        </p:nvSpPr>
        <p:spPr>
          <a:xfrm>
            <a:off x="19409876" y="8885591"/>
            <a:ext cx="2236808" cy="32186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事件入口 / 处理与返回</a:t>
            </a:r>
          </a:p>
        </p:txBody>
      </p:sp>
      <p:sp>
        <p:nvSpPr>
          <p:cNvPr id="64" name="hardware"/>
          <p:cNvSpPr/>
          <p:nvPr/>
        </p:nvSpPr>
        <p:spPr>
          <a:xfrm>
            <a:off x="457200" y="9692640"/>
            <a:ext cx="22860000" cy="3977640"/>
          </a:xfrm>
          <a:prstGeom prst="rect">
            <a:avLst/>
          </a:prstGeom>
          <a:solidFill>
            <a:srgbClr val="F5E1C9"/>
          </a:solidFill>
          <a:ln w="1828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o65: SoC 硬件 · 执行、存储与传输"/>
          <p:cNvSpPr txBox="1"/>
          <p:nvPr/>
        </p:nvSpPr>
        <p:spPr>
          <a:xfrm>
            <a:off x="9978476" y="9789566"/>
            <a:ext cx="3817449" cy="4389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硬件 · 执行、存储与传输</a:t>
            </a:r>
          </a:p>
        </p:txBody>
      </p:sp>
      <p:sp>
        <p:nvSpPr>
          <p:cNvPr id="66" name="cva6"/>
          <p:cNvSpPr/>
          <p:nvPr/>
        </p:nvSpPr>
        <p:spPr>
          <a:xfrm>
            <a:off x="868680" y="10424160"/>
            <a:ext cx="5303520" cy="914400"/>
          </a:xfrm>
          <a:prstGeom prst="rect">
            <a:avLst/>
          </a:prstGeom>
          <a:solidFill>
            <a:srgbClr val="D8E8F4"/>
          </a:solidFill>
          <a:ln w="1828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o67: CVA6"/>
          <p:cNvSpPr txBox="1"/>
          <p:nvPr/>
        </p:nvSpPr>
        <p:spPr>
          <a:xfrm>
            <a:off x="3077870" y="10529682"/>
            <a:ext cx="885139" cy="4242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</a:t>
            </a:r>
          </a:p>
        </p:txBody>
      </p:sp>
      <p:sp>
        <p:nvSpPr>
          <p:cNvPr id="68" name="o68: 取指 / 执行 / 访存"/>
          <p:cNvSpPr txBox="1"/>
          <p:nvPr/>
        </p:nvSpPr>
        <p:spPr>
          <a:xfrm>
            <a:off x="2506742" y="10889955"/>
            <a:ext cx="2027396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取指 / 执行 / 访存</a:t>
            </a:r>
          </a:p>
        </p:txBody>
      </p:sp>
      <p:sp>
        <p:nvSpPr>
          <p:cNvPr id="69" name="ara"/>
          <p:cNvSpPr/>
          <p:nvPr/>
        </p:nvSpPr>
        <p:spPr>
          <a:xfrm>
            <a:off x="6537960" y="10424160"/>
            <a:ext cx="5303520" cy="914400"/>
          </a:xfrm>
          <a:prstGeom prst="rect">
            <a:avLst/>
          </a:prstGeom>
          <a:solidFill>
            <a:srgbClr val="D8E8F4"/>
          </a:solidFill>
          <a:ln w="1828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o70: Ara"/>
          <p:cNvSpPr txBox="1"/>
          <p:nvPr/>
        </p:nvSpPr>
        <p:spPr>
          <a:xfrm>
            <a:off x="8869123" y="10529682"/>
            <a:ext cx="641194" cy="4242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</a:t>
            </a:r>
          </a:p>
        </p:txBody>
      </p:sp>
      <p:sp>
        <p:nvSpPr>
          <p:cNvPr id="71" name="o71: RVV / 向量访存"/>
          <p:cNvSpPr txBox="1"/>
          <p:nvPr/>
        </p:nvSpPr>
        <p:spPr>
          <a:xfrm>
            <a:off x="8327541" y="10889955"/>
            <a:ext cx="1724358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RVV / 向量访存</a:t>
            </a:r>
          </a:p>
        </p:txBody>
      </p:sp>
      <p:sp>
        <p:nvSpPr>
          <p:cNvPr id="72" name="dma"/>
          <p:cNvSpPr/>
          <p:nvPr/>
        </p:nvSpPr>
        <p:spPr>
          <a:xfrm>
            <a:off x="12207240" y="10424160"/>
            <a:ext cx="5303520" cy="914400"/>
          </a:xfrm>
          <a:prstGeom prst="rect">
            <a:avLst/>
          </a:prstGeom>
          <a:solidFill>
            <a:srgbClr val="D8E8F4"/>
          </a:solidFill>
          <a:ln w="1828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o73: iDMA"/>
          <p:cNvSpPr txBox="1"/>
          <p:nvPr/>
        </p:nvSpPr>
        <p:spPr>
          <a:xfrm>
            <a:off x="14424460" y="10529682"/>
            <a:ext cx="869080" cy="4242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</a:t>
            </a:r>
          </a:p>
        </p:txBody>
      </p:sp>
      <p:sp>
        <p:nvSpPr>
          <p:cNvPr id="74" name="o74: 硬件数据搬运"/>
          <p:cNvSpPr txBox="1"/>
          <p:nvPr/>
        </p:nvSpPr>
        <p:spPr>
          <a:xfrm>
            <a:off x="14090904" y="10889955"/>
            <a:ext cx="1536192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硬件数据搬运</a:t>
            </a:r>
          </a:p>
        </p:txBody>
      </p:sp>
      <p:sp>
        <p:nvSpPr>
          <p:cNvPr id="75" name="future-ip"/>
          <p:cNvSpPr/>
          <p:nvPr/>
        </p:nvSpPr>
        <p:spPr>
          <a:xfrm>
            <a:off x="17876520" y="10424160"/>
            <a:ext cx="5303520" cy="914400"/>
          </a:xfrm>
          <a:prstGeom prst="rect">
            <a:avLst/>
          </a:prstGeom>
          <a:solidFill>
            <a:srgbClr val="D9EEE8"/>
          </a:solidFill>
          <a:ln w="18288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o76: NPU / ISP / 图像接入"/>
          <p:cNvSpPr txBox="1"/>
          <p:nvPr/>
        </p:nvSpPr>
        <p:spPr>
          <a:xfrm>
            <a:off x="19131448" y="10529682"/>
            <a:ext cx="2793663" cy="4242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ISP / 图像接入</a:t>
            </a:r>
          </a:p>
        </p:txBody>
      </p:sp>
      <p:sp>
        <p:nvSpPr>
          <p:cNvPr id="77" name="o77: 自定义 IP 与接口〔规划〕"/>
          <p:cNvSpPr txBox="1"/>
          <p:nvPr/>
        </p:nvSpPr>
        <p:spPr>
          <a:xfrm>
            <a:off x="19165574" y="10889955"/>
            <a:ext cx="2725412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自定义 IP 与接口〔规划〕</a:t>
            </a:r>
          </a:p>
        </p:txBody>
      </p:sp>
      <p:cxnSp>
        <p:nvCxnSpPr>
          <p:cNvPr id="78" name="core-ara"/>
          <p:cNvCxnSpPr/>
          <p:nvPr/>
        </p:nvCxnSpPr>
        <p:spPr>
          <a:xfrm>
            <a:off x="6172200" y="10881360"/>
            <a:ext cx="365760" cy="0"/>
          </a:xfrm>
          <a:prstGeom prst="line">
            <a:avLst/>
          </a:prstGeom>
          <a:ln w="27432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79" name="axi"/>
          <p:cNvSpPr/>
          <p:nvPr/>
        </p:nvSpPr>
        <p:spPr>
          <a:xfrm>
            <a:off x="914400" y="11795760"/>
            <a:ext cx="21671280" cy="594360"/>
          </a:xfrm>
          <a:prstGeom prst="rect">
            <a:avLst/>
          </a:prstGeom>
          <a:solidFill>
            <a:srgbClr val="F5E1C9"/>
          </a:solidFill>
          <a:ln w="1828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o80: AXI 互连与适配 · 地址路由 · 主设备共享访问"/>
          <p:cNvSpPr txBox="1"/>
          <p:nvPr/>
        </p:nvSpPr>
        <p:spPr>
          <a:xfrm>
            <a:off x="8960763" y="11889943"/>
            <a:ext cx="5578554" cy="4389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互连与适配 · 地址路由 · 主设备共享访问</a:t>
            </a:r>
          </a:p>
        </p:txBody>
      </p:sp>
      <p:cxnSp>
        <p:nvCxnSpPr>
          <p:cNvPr id="81" name="hw-axi0"/>
          <p:cNvCxnSpPr/>
          <p:nvPr/>
        </p:nvCxnSpPr>
        <p:spPr>
          <a:xfrm>
            <a:off x="3520440" y="11338560"/>
            <a:ext cx="0" cy="457200"/>
          </a:xfrm>
          <a:prstGeom prst="line">
            <a:avLst/>
          </a:prstGeom>
          <a:ln w="27432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2" name="hw-axi1"/>
          <p:cNvCxnSpPr/>
          <p:nvPr/>
        </p:nvCxnSpPr>
        <p:spPr>
          <a:xfrm>
            <a:off x="9189720" y="11338560"/>
            <a:ext cx="0" cy="457200"/>
          </a:xfrm>
          <a:prstGeom prst="line">
            <a:avLst/>
          </a:prstGeom>
          <a:ln w="27432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3" name="hw-axi2"/>
          <p:cNvCxnSpPr/>
          <p:nvPr/>
        </p:nvCxnSpPr>
        <p:spPr>
          <a:xfrm>
            <a:off x="14859000" y="11338560"/>
            <a:ext cx="0" cy="457200"/>
          </a:xfrm>
          <a:prstGeom prst="line">
            <a:avLst/>
          </a:prstGeom>
          <a:ln w="27432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4" name="hw-axi3"/>
          <p:cNvCxnSpPr/>
          <p:nvPr/>
        </p:nvCxnSpPr>
        <p:spPr>
          <a:xfrm>
            <a:off x="20528280" y="11338560"/>
            <a:ext cx="0" cy="457200"/>
          </a:xfrm>
          <a:prstGeom prst="line">
            <a:avLst/>
          </a:prstGeom>
          <a:ln w="27432" cap="flat">
            <a:solidFill>
              <a:srgbClr val="314D66"/>
            </a:solidFill>
            <a:custDash>
              <a:ds d="300000" sp="200000"/>
            </a:custDash>
            <a:tailEnd type="triangle" w="med" len="med"/>
          </a:ln>
          <a:effectLst/>
        </p:spPr>
      </p:cxnSp>
      <p:sp>
        <p:nvSpPr>
          <p:cNvPr id="85" name="memory"/>
          <p:cNvSpPr/>
          <p:nvPr/>
        </p:nvSpPr>
        <p:spPr>
          <a:xfrm>
            <a:off x="914400" y="12801600"/>
            <a:ext cx="10332720" cy="594360"/>
          </a:xfrm>
          <a:prstGeom prst="rect">
            <a:avLst/>
          </a:prstGeom>
          <a:solidFill>
            <a:srgbClr val="D8E8F4"/>
          </a:solidFill>
          <a:ln w="1828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o86: 原子适配 → LLC / SPM → 主存出口"/>
          <p:cNvSpPr txBox="1"/>
          <p:nvPr/>
        </p:nvSpPr>
        <p:spPr>
          <a:xfrm>
            <a:off x="3912710" y="12909316"/>
            <a:ext cx="4336099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LLC / SPM → 主存出口</a:t>
            </a:r>
          </a:p>
        </p:txBody>
      </p:sp>
      <p:sp>
        <p:nvSpPr>
          <p:cNvPr id="87" name="peripherals"/>
          <p:cNvSpPr/>
          <p:nvPr/>
        </p:nvSpPr>
        <p:spPr>
          <a:xfrm>
            <a:off x="11795760" y="12801600"/>
            <a:ext cx="10789920" cy="594360"/>
          </a:xfrm>
          <a:prstGeom prst="rect">
            <a:avLst/>
          </a:prstGeom>
          <a:solidFill>
            <a:srgbClr val="E8DFED"/>
          </a:solidFill>
          <a:ln w="1828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o88: Regbus → UART / SPI / I²C / GPIO / 中断 / "/>
          <p:cNvSpPr txBox="1"/>
          <p:nvPr/>
        </p:nvSpPr>
        <p:spPr>
          <a:xfrm>
            <a:off x="14241673" y="12929616"/>
            <a:ext cx="5898094" cy="3657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 → UART / SPI / I²C / GPIO / 中断 / 定时 / ROM</a:t>
            </a:r>
          </a:p>
        </p:txBody>
      </p:sp>
      <p:cxnSp>
        <p:nvCxnSpPr>
          <p:cNvPr id="89" name="axi-memory"/>
          <p:cNvCxnSpPr/>
          <p:nvPr/>
        </p:nvCxnSpPr>
        <p:spPr>
          <a:xfrm>
            <a:off x="6080760" y="12390120"/>
            <a:ext cx="0" cy="411480"/>
          </a:xfrm>
          <a:prstGeom prst="line">
            <a:avLst/>
          </a:prstGeom>
          <a:ln w="27432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90" name="axi-reg"/>
          <p:cNvCxnSpPr/>
          <p:nvPr/>
        </p:nvCxnSpPr>
        <p:spPr>
          <a:xfrm>
            <a:off x="17190720" y="12390120"/>
            <a:ext cx="0" cy="411480"/>
          </a:xfrm>
          <a:prstGeom prst="line">
            <a:avLst/>
          </a:prstGeom>
          <a:ln w="27432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" name="offchip"/>
          <p:cNvSpPr/>
          <p:nvPr/>
        </p:nvSpPr>
        <p:spPr>
          <a:xfrm>
            <a:off x="457200" y="14036040"/>
            <a:ext cx="22860000" cy="1554480"/>
          </a:xfrm>
          <a:prstGeom prst="rect">
            <a:avLst/>
          </a:prstGeom>
          <a:solidFill>
            <a:srgbClr val="FFFFFF"/>
          </a:solidFill>
          <a:ln w="1828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o92: 片外器件 · 经对应控制器连接"/>
          <p:cNvSpPr txBox="1"/>
          <p:nvPr/>
        </p:nvSpPr>
        <p:spPr>
          <a:xfrm>
            <a:off x="9989063" y="14132966"/>
            <a:ext cx="3796274" cy="4389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 · 经对应控制器连接</a:t>
            </a:r>
          </a:p>
        </p:txBody>
      </p:sp>
      <p:sp>
        <p:nvSpPr>
          <p:cNvPr id="93" name="dram"/>
          <p:cNvSpPr/>
          <p:nvPr/>
        </p:nvSpPr>
        <p:spPr>
          <a:xfrm>
            <a:off x="914400" y="14630400"/>
            <a:ext cx="6766560" cy="731520"/>
          </a:xfrm>
          <a:prstGeom prst="rect">
            <a:avLst/>
          </a:prstGeom>
          <a:solidFill>
            <a:srgbClr val="D8E8F4"/>
          </a:solidFill>
          <a:ln w="1828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o94: DDR 存储器"/>
          <p:cNvSpPr txBox="1"/>
          <p:nvPr/>
        </p:nvSpPr>
        <p:spPr>
          <a:xfrm>
            <a:off x="3527712" y="14658015"/>
            <a:ext cx="1539935" cy="39502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4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存储器</a:t>
            </a:r>
          </a:p>
        </p:txBody>
      </p:sp>
      <p:sp>
        <p:nvSpPr>
          <p:cNvPr id="95" name="o95: DDR Controller / PHY"/>
          <p:cNvSpPr txBox="1"/>
          <p:nvPr/>
        </p:nvSpPr>
        <p:spPr>
          <a:xfrm>
            <a:off x="3209651" y="15008413"/>
            <a:ext cx="2176058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DDR Controller / PHY</a:t>
            </a:r>
          </a:p>
        </p:txBody>
      </p:sp>
      <p:sp>
        <p:nvSpPr>
          <p:cNvPr id="96" name="media"/>
          <p:cNvSpPr/>
          <p:nvPr/>
        </p:nvSpPr>
        <p:spPr>
          <a:xfrm>
            <a:off x="8138160" y="14630400"/>
            <a:ext cx="7498080" cy="731520"/>
          </a:xfrm>
          <a:prstGeom prst="rect">
            <a:avLst/>
          </a:prstGeom>
          <a:solidFill>
            <a:srgbClr val="D8E8F4"/>
          </a:solidFill>
          <a:ln w="1828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o97: Flash / SD / EEPROM"/>
          <p:cNvSpPr txBox="1"/>
          <p:nvPr/>
        </p:nvSpPr>
        <p:spPr>
          <a:xfrm>
            <a:off x="10577515" y="14658015"/>
            <a:ext cx="2619370" cy="39502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4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Flash / SD / EEPROM</a:t>
            </a:r>
          </a:p>
        </p:txBody>
      </p:sp>
      <p:sp>
        <p:nvSpPr>
          <p:cNvPr id="98" name="o98: SPI / I²C 控制器"/>
          <p:cNvSpPr txBox="1"/>
          <p:nvPr/>
        </p:nvSpPr>
        <p:spPr>
          <a:xfrm>
            <a:off x="11035879" y="15008413"/>
            <a:ext cx="1702641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SPI / I²C 控制器</a:t>
            </a:r>
          </a:p>
        </p:txBody>
      </p:sp>
      <p:sp>
        <p:nvSpPr>
          <p:cNvPr id="99" name="sensor"/>
          <p:cNvSpPr/>
          <p:nvPr/>
        </p:nvSpPr>
        <p:spPr>
          <a:xfrm>
            <a:off x="16093440" y="14630400"/>
            <a:ext cx="6492240" cy="731520"/>
          </a:xfrm>
          <a:prstGeom prst="rect">
            <a:avLst/>
          </a:prstGeom>
          <a:solidFill>
            <a:srgbClr val="F5E1C9"/>
          </a:solidFill>
          <a:ln w="18288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o100: 图像传感器〔规划〕"/>
          <p:cNvSpPr txBox="1"/>
          <p:nvPr/>
        </p:nvSpPr>
        <p:spPr>
          <a:xfrm>
            <a:off x="18105120" y="14658015"/>
            <a:ext cx="2468880" cy="39502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4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图像传感器〔规划〕</a:t>
            </a:r>
          </a:p>
        </p:txBody>
      </p:sp>
      <p:sp>
        <p:nvSpPr>
          <p:cNvPr id="101" name="o101: LVDS 输入"/>
          <p:cNvSpPr txBox="1"/>
          <p:nvPr/>
        </p:nvSpPr>
        <p:spPr>
          <a:xfrm>
            <a:off x="18746722" y="15008413"/>
            <a:ext cx="1185677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LVDS 输入</a:t>
            </a:r>
          </a:p>
        </p:txBody>
      </p:sp>
      <p:cxnSp>
        <p:nvCxnSpPr>
          <p:cNvPr id="102" name="memory-ddr"/>
          <p:cNvCxnSpPr/>
          <p:nvPr/>
        </p:nvCxnSpPr>
        <p:spPr>
          <a:xfrm>
            <a:off x="4297680" y="13395960"/>
            <a:ext cx="0" cy="1234440"/>
          </a:xfrm>
          <a:prstGeom prst="line">
            <a:avLst/>
          </a:prstGeom>
          <a:ln w="27432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3" name="reg-media"/>
          <p:cNvSpPr/>
          <p:nvPr/>
        </p:nvSpPr>
        <p:spPr>
          <a:xfrm>
            <a:off x="13807440" y="13395960"/>
            <a:ext cx="1188720" cy="1234440"/>
          </a:xfrm>
          <a:custGeom>
            <a:avLst/>
            <a:gdLst/>
            <a:ahLst/>
            <a:cxnLst/>
            <a:rect l="0" t="0" r="r" b="b"/>
            <a:pathLst>
              <a:path w="1188720" h="1234440" fill="none">
                <a:moveTo>
                  <a:pt x="0" y="0"/>
                </a:moveTo>
                <a:lnTo>
                  <a:pt x="0" y="457200"/>
                </a:lnTo>
                <a:lnTo>
                  <a:pt x="1188720" y="457200"/>
                </a:lnTo>
                <a:lnTo>
                  <a:pt x="1188720" y="1234440"/>
                </a:lnTo>
              </a:path>
            </a:pathLst>
          </a:custGeom>
          <a:noFill/>
          <a:ln w="27432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sensor-input"/>
          <p:cNvSpPr/>
          <p:nvPr/>
        </p:nvSpPr>
        <p:spPr>
          <a:xfrm>
            <a:off x="22585680" y="10881360"/>
            <a:ext cx="914400" cy="4114800"/>
          </a:xfrm>
          <a:custGeom>
            <a:avLst/>
            <a:gdLst/>
            <a:ahLst/>
            <a:cxnLst/>
            <a:rect l="0" t="0" r="r" b="b"/>
            <a:pathLst>
              <a:path w="914400" h="4114800" fill="none">
                <a:moveTo>
                  <a:pt x="0" y="4114800"/>
                </a:moveTo>
                <a:lnTo>
                  <a:pt x="914400" y="4114800"/>
                </a:lnTo>
                <a:lnTo>
                  <a:pt x="914400" y="0"/>
                </a:lnTo>
                <a:lnTo>
                  <a:pt x="594360" y="0"/>
                </a:lnTo>
              </a:path>
            </a:pathLst>
          </a:custGeom>
          <a:noFill/>
          <a:ln w="27432" cap="flat">
            <a:solidFill>
              <a:srgbClr val="B96043"/>
            </a:solidFill>
            <a:custDash>
              <a:ds d="30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build"/>
          <p:cNvSpPr/>
          <p:nvPr/>
        </p:nvSpPr>
        <p:spPr>
          <a:xfrm>
            <a:off x="23957280" y="1783080"/>
            <a:ext cx="4846320" cy="2606040"/>
          </a:xfrm>
          <a:prstGeom prst="rect">
            <a:avLst/>
          </a:prstGeom>
          <a:solidFill>
            <a:srgbClr val="D8E8F4"/>
          </a:solidFill>
          <a:ln w="1828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o106: 开发主机：构建支持"/>
          <p:cNvSpPr txBox="1"/>
          <p:nvPr/>
        </p:nvSpPr>
        <p:spPr>
          <a:xfrm>
            <a:off x="25054560" y="2423526"/>
            <a:ext cx="2651760" cy="4242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开发主机：构建支持</a:t>
            </a:r>
          </a:p>
        </p:txBody>
      </p:sp>
      <p:sp>
        <p:nvSpPr>
          <p:cNvPr id="107" name="o107: 编译器 / 汇编器 / 链接器"/>
          <p:cNvSpPr txBox="1"/>
          <p:nvPr/>
        </p:nvSpPr>
        <p:spPr>
          <a:xfrm>
            <a:off x="25037558" y="2783799"/>
            <a:ext cx="2685764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编译器 / 汇编器 / 链接器</a:t>
            </a:r>
          </a:p>
        </p:txBody>
      </p:sp>
      <p:sp>
        <p:nvSpPr>
          <p:cNvPr id="108" name="o108: Makefile / 链接脚本 / 库归档"/>
          <p:cNvSpPr txBox="1"/>
          <p:nvPr/>
        </p:nvSpPr>
        <p:spPr>
          <a:xfrm>
            <a:off x="24849392" y="3094695"/>
            <a:ext cx="3062097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Makefile / 链接脚本 / 库归档</a:t>
            </a:r>
          </a:p>
        </p:txBody>
      </p:sp>
      <p:sp>
        <p:nvSpPr>
          <p:cNvPr id="109" name="o109: 生成 ELF 与代码数据布局"/>
          <p:cNvSpPr txBox="1"/>
          <p:nvPr/>
        </p:nvSpPr>
        <p:spPr>
          <a:xfrm>
            <a:off x="25048488" y="3405591"/>
            <a:ext cx="2663904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生成 ELF 与代码数据布局</a:t>
            </a:r>
          </a:p>
        </p:txBody>
      </p:sp>
      <p:sp>
        <p:nvSpPr>
          <p:cNvPr id="110" name="runtime"/>
          <p:cNvSpPr/>
          <p:nvPr/>
        </p:nvSpPr>
        <p:spPr>
          <a:xfrm>
            <a:off x="23957280" y="4892040"/>
            <a:ext cx="4846320" cy="2606040"/>
          </a:xfrm>
          <a:prstGeom prst="rect">
            <a:avLst/>
          </a:prstGeom>
          <a:solidFill>
            <a:srgbClr val="E8DFED"/>
          </a:solidFill>
          <a:ln w="1828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o111: 启动与运行支持"/>
          <p:cNvSpPr txBox="1"/>
          <p:nvPr/>
        </p:nvSpPr>
        <p:spPr>
          <a:xfrm>
            <a:off x="25319736" y="5532486"/>
            <a:ext cx="2121408" cy="4242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启动与运行支持</a:t>
            </a:r>
          </a:p>
        </p:txBody>
      </p:sp>
      <p:sp>
        <p:nvSpPr>
          <p:cNvPr id="112" name="o112: Boot ROM / 载荷加载"/>
          <p:cNvSpPr txBox="1"/>
          <p:nvPr/>
        </p:nvSpPr>
        <p:spPr>
          <a:xfrm>
            <a:off x="25224653" y="5892759"/>
            <a:ext cx="2311575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Boot ROM / 载荷加载</a:t>
            </a:r>
          </a:p>
        </p:txBody>
      </p:sp>
      <p:sp>
        <p:nvSpPr>
          <p:cNvPr id="113" name="o113: crt0：栈 / BSS / 异常入口"/>
          <p:cNvSpPr txBox="1"/>
          <p:nvPr/>
        </p:nvSpPr>
        <p:spPr>
          <a:xfrm>
            <a:off x="24974443" y="6203655"/>
            <a:ext cx="2811994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crt0：栈 / BSS / 异常入口</a:t>
            </a:r>
          </a:p>
        </p:txBody>
      </p:sp>
      <p:sp>
        <p:nvSpPr>
          <p:cNvPr id="114" name="o114: 进入 main；异常处理与返回"/>
          <p:cNvSpPr txBox="1"/>
          <p:nvPr/>
        </p:nvSpPr>
        <p:spPr>
          <a:xfrm>
            <a:off x="24906077" y="6514551"/>
            <a:ext cx="2948726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进入 main；异常处理与返回</a:t>
            </a:r>
          </a:p>
        </p:txBody>
      </p:sp>
      <p:sp>
        <p:nvSpPr>
          <p:cNvPr id="115" name="os"/>
          <p:cNvSpPr/>
          <p:nvPr/>
        </p:nvSpPr>
        <p:spPr>
          <a:xfrm>
            <a:off x="23957280" y="8001000"/>
            <a:ext cx="4846320" cy="2606040"/>
          </a:xfrm>
          <a:prstGeom prst="rect">
            <a:avLst/>
          </a:prstGeom>
          <a:solidFill>
            <a:srgbClr val="D9EEE8"/>
          </a:solidFill>
          <a:ln w="18288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o116: 可选操作系统"/>
          <p:cNvSpPr txBox="1"/>
          <p:nvPr/>
        </p:nvSpPr>
        <p:spPr>
          <a:xfrm>
            <a:off x="25452324" y="8641446"/>
            <a:ext cx="1856232" cy="4242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可选操作系统</a:t>
            </a:r>
          </a:p>
        </p:txBody>
      </p:sp>
      <p:sp>
        <p:nvSpPr>
          <p:cNvPr id="117" name="o117: RTOS：任务 / 调度 / 同步"/>
          <p:cNvSpPr txBox="1"/>
          <p:nvPr/>
        </p:nvSpPr>
        <p:spPr>
          <a:xfrm>
            <a:off x="24993945" y="9001719"/>
            <a:ext cx="2772989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RTOS：任务 / 调度 / 同步</a:t>
            </a:r>
          </a:p>
        </p:txBody>
      </p:sp>
      <p:sp>
        <p:nvSpPr>
          <p:cNvPr id="118" name="o118: Linux：用户态 / 内核 / 驱动"/>
          <p:cNvSpPr txBox="1"/>
          <p:nvPr/>
        </p:nvSpPr>
        <p:spPr>
          <a:xfrm>
            <a:off x="24899648" y="9312615"/>
            <a:ext cx="2961584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Linux：用户态 / 内核 / 驱动</a:t>
            </a:r>
          </a:p>
        </p:txBody>
      </p:sp>
      <p:sp>
        <p:nvSpPr>
          <p:cNvPr id="119" name="o119: 按各自环境建立设备访问路径"/>
          <p:cNvSpPr txBox="1"/>
          <p:nvPr/>
        </p:nvSpPr>
        <p:spPr>
          <a:xfrm>
            <a:off x="24844248" y="9623511"/>
            <a:ext cx="3072384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按各自环境建立设备访问路径</a:t>
            </a:r>
          </a:p>
        </p:txBody>
      </p:sp>
      <p:sp>
        <p:nvSpPr>
          <p:cNvPr id="120" name="platform"/>
          <p:cNvSpPr/>
          <p:nvPr/>
        </p:nvSpPr>
        <p:spPr>
          <a:xfrm>
            <a:off x="23957280" y="11109960"/>
            <a:ext cx="4846320" cy="2606040"/>
          </a:xfrm>
          <a:prstGeom prst="rect">
            <a:avLst/>
          </a:prstGeom>
          <a:solidFill>
            <a:srgbClr val="F5E1C9"/>
          </a:solidFill>
          <a:ln w="1828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o121: 硬件实现与适配"/>
          <p:cNvSpPr txBox="1"/>
          <p:nvPr/>
        </p:nvSpPr>
        <p:spPr>
          <a:xfrm>
            <a:off x="25319736" y="11750406"/>
            <a:ext cx="2121408" cy="4242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硬件实现与适配</a:t>
            </a:r>
          </a:p>
        </p:txBody>
      </p:sp>
      <p:sp>
        <p:nvSpPr>
          <p:cNvPr id="122" name="o122: FPGA：现有 VCU118 工程"/>
          <p:cNvSpPr txBox="1"/>
          <p:nvPr/>
        </p:nvSpPr>
        <p:spPr>
          <a:xfrm>
            <a:off x="25011626" y="12110679"/>
            <a:ext cx="2737628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FPGA：现有 VCU118 工程</a:t>
            </a:r>
          </a:p>
        </p:txBody>
      </p:sp>
      <p:sp>
        <p:nvSpPr>
          <p:cNvPr id="123" name="o123: ASIC：宏 / 时钟 / PAD 适配"/>
          <p:cNvSpPr txBox="1"/>
          <p:nvPr/>
        </p:nvSpPr>
        <p:spPr>
          <a:xfrm>
            <a:off x="24912935" y="12421575"/>
            <a:ext cx="2935010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ASIC：宏 / 时钟 / PAD 适配</a:t>
            </a:r>
          </a:p>
        </p:txBody>
      </p:sp>
      <p:sp>
        <p:nvSpPr>
          <p:cNvPr id="124" name="o124: ASIC 实现与验证仍待完成"/>
          <p:cNvSpPr txBox="1"/>
          <p:nvPr/>
        </p:nvSpPr>
        <p:spPr>
          <a:xfrm>
            <a:off x="25024485" y="12732471"/>
            <a:ext cx="2711910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ASIC 实现与验证仍待完成</a:t>
            </a:r>
          </a:p>
        </p:txBody>
      </p:sp>
      <p:sp>
        <p:nvSpPr>
          <p:cNvPr id="125" name="o125: LLC / AXI RT 等专用库"/>
          <p:cNvSpPr txBox="1"/>
          <p:nvPr/>
        </p:nvSpPr>
        <p:spPr>
          <a:xfrm>
            <a:off x="25144235" y="14200632"/>
            <a:ext cx="2472409" cy="3657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LLC / AXI RT 等专用库</a:t>
            </a:r>
          </a:p>
        </p:txBody>
      </p:sp>
      <p:sp>
        <p:nvSpPr>
          <p:cNvPr id="126" name="o126: libcheshire.a 跨多个职责归档"/>
          <p:cNvSpPr txBox="1"/>
          <p:nvPr/>
        </p:nvSpPr>
        <p:spPr>
          <a:xfrm>
            <a:off x="24921908" y="14586143"/>
            <a:ext cx="2917065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libcheshire.a 跨多个职责归档</a:t>
            </a:r>
          </a:p>
        </p:txBody>
      </p:sp>
      <p:sp>
        <p:nvSpPr>
          <p:cNvPr id="127" name="o127: 虚线：规划扩展"/>
          <p:cNvSpPr txBox="1"/>
          <p:nvPr/>
        </p:nvSpPr>
        <p:spPr>
          <a:xfrm>
            <a:off x="25502616" y="15216348"/>
            <a:ext cx="1755648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虚线：规划扩展</a:t>
            </a:r>
          </a:p>
        </p:txBody>
      </p:sp>
      <p:cxnSp>
        <p:nvCxnSpPr>
          <p:cNvPr id="128" name="legend0"/>
          <p:cNvCxnSpPr/>
          <p:nvPr/>
        </p:nvCxnSpPr>
        <p:spPr>
          <a:xfrm>
            <a:off x="502920" y="16047720"/>
            <a:ext cx="594360" cy="0"/>
          </a:xfrm>
          <a:prstGeom prst="line">
            <a:avLst/>
          </a:prstGeom>
          <a:ln w="2286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29" name="o129: 硬件访问"/>
          <p:cNvSpPr txBox="1"/>
          <p:nvPr/>
        </p:nvSpPr>
        <p:spPr>
          <a:xfrm>
            <a:off x="1234440" y="15903611"/>
            <a:ext cx="1005840" cy="32186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硬件访问</a:t>
            </a:r>
          </a:p>
        </p:txBody>
      </p:sp>
      <p:cxnSp>
        <p:nvCxnSpPr>
          <p:cNvPr id="130" name="legend1"/>
          <p:cNvCxnSpPr/>
          <p:nvPr/>
        </p:nvCxnSpPr>
        <p:spPr>
          <a:xfrm>
            <a:off x="5349240" y="16047720"/>
            <a:ext cx="594360" cy="0"/>
          </a:xfrm>
          <a:prstGeom prst="line">
            <a:avLst/>
          </a:prstGeom>
          <a:ln w="22860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31" name="o131: 代表性调用 / 专用接口"/>
          <p:cNvSpPr txBox="1"/>
          <p:nvPr/>
        </p:nvSpPr>
        <p:spPr>
          <a:xfrm>
            <a:off x="6080760" y="15903611"/>
            <a:ext cx="2236808" cy="32186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代表性调用 / 专用接口</a:t>
            </a:r>
          </a:p>
        </p:txBody>
      </p:sp>
      <p:cxnSp>
        <p:nvCxnSpPr>
          <p:cNvPr id="132" name="legend2"/>
          <p:cNvCxnSpPr/>
          <p:nvPr/>
        </p:nvCxnSpPr>
        <p:spPr>
          <a:xfrm>
            <a:off x="10195560" y="16047720"/>
            <a:ext cx="594360" cy="0"/>
          </a:xfrm>
          <a:prstGeom prst="line">
            <a:avLst/>
          </a:prstGeom>
          <a:ln w="22860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33" name="o133: 规划中的图像输入"/>
          <p:cNvSpPr txBox="1"/>
          <p:nvPr/>
        </p:nvSpPr>
        <p:spPr>
          <a:xfrm>
            <a:off x="10927080" y="15903611"/>
            <a:ext cx="1810512" cy="32186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规划中的图像输入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2: DDR 互联候选结构 · 共享 Global Buffer"/>
          <p:cNvSpPr txBox="1"/>
          <p:nvPr/>
        </p:nvSpPr>
        <p:spPr>
          <a:xfrm>
            <a:off x="470263" y="193957"/>
            <a:ext cx="8109634" cy="7189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53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互联候选结构 · 共享 Global Buffer</a:t>
            </a:r>
          </a:p>
        </p:txBody>
      </p:sp>
      <p:sp>
        <p:nvSpPr>
          <p:cNvPr id="3" name="o3: S0 = SoC / LLC · S1 = 统一 NPU / GB 搬运 · S"/>
          <p:cNvSpPr txBox="1"/>
          <p:nvPr/>
        </p:nvSpPr>
        <p:spPr>
          <a:xfrm>
            <a:off x="501614" y="899561"/>
            <a:ext cx="7098520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S0 = SoC / LLC · S1 = 统一 NPU / GB 搬运 · S2 = 图像帧写入</a:t>
            </a:r>
          </a:p>
        </p:txBody>
      </p:sp>
      <p:sp>
        <p:nvSpPr>
          <p:cNvPr id="4" name="cpu-domain"/>
          <p:cNvSpPr/>
          <p:nvPr/>
        </p:nvSpPr>
        <p:spPr>
          <a:xfrm>
            <a:off x="627017" y="2090057"/>
            <a:ext cx="8778240" cy="4493623"/>
          </a:xfrm>
          <a:prstGeom prst="rect">
            <a:avLst/>
          </a:prstGeom>
          <a:solidFill>
            <a:srgbClr val="F1D7D9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o5: CVA6–Ara 系统路径"/>
          <p:cNvSpPr txBox="1"/>
          <p:nvPr/>
        </p:nvSpPr>
        <p:spPr>
          <a:xfrm>
            <a:off x="3509508" y="2200830"/>
            <a:ext cx="3013258" cy="5016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6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系统路径</a:t>
            </a:r>
          </a:p>
        </p:txBody>
      </p:sp>
      <p:sp>
        <p:nvSpPr>
          <p:cNvPr id="6" name="cpu"/>
          <p:cNvSpPr/>
          <p:nvPr/>
        </p:nvSpPr>
        <p:spPr>
          <a:xfrm>
            <a:off x="940526" y="3030583"/>
            <a:ext cx="2299063" cy="1410789"/>
          </a:xfrm>
          <a:prstGeom prst="rect">
            <a:avLst/>
          </a:prstGeom>
          <a:solidFill>
            <a:srgbClr val="D8E8F4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7: CVA6"/>
          <p:cNvSpPr txBox="1"/>
          <p:nvPr/>
        </p:nvSpPr>
        <p:spPr>
          <a:xfrm>
            <a:off x="1601702" y="3341792"/>
            <a:ext cx="976710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</a:t>
            </a:r>
          </a:p>
        </p:txBody>
      </p:sp>
      <p:sp>
        <p:nvSpPr>
          <p:cNvPr id="8" name="o8: 标量访存"/>
          <p:cNvSpPr txBox="1"/>
          <p:nvPr/>
        </p:nvSpPr>
        <p:spPr>
          <a:xfrm>
            <a:off x="1463040" y="3742247"/>
            <a:ext cx="1254034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标量访存</a:t>
            </a:r>
          </a:p>
        </p:txBody>
      </p:sp>
      <p:sp>
        <p:nvSpPr>
          <p:cNvPr id="9" name="ara"/>
          <p:cNvSpPr/>
          <p:nvPr/>
        </p:nvSpPr>
        <p:spPr>
          <a:xfrm>
            <a:off x="4180114" y="3030583"/>
            <a:ext cx="4859383" cy="1149531"/>
          </a:xfrm>
          <a:prstGeom prst="rect">
            <a:avLst/>
          </a:prstGeom>
          <a:solidFill>
            <a:srgbClr val="D8E8F4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o10: Ara"/>
          <p:cNvSpPr txBox="1"/>
          <p:nvPr/>
        </p:nvSpPr>
        <p:spPr>
          <a:xfrm>
            <a:off x="6256039" y="3211164"/>
            <a:ext cx="707533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</a:t>
            </a:r>
          </a:p>
        </p:txBody>
      </p:sp>
      <p:sp>
        <p:nvSpPr>
          <p:cNvPr id="11" name="o11: 单一 AXI 访存出口"/>
          <p:cNvSpPr txBox="1"/>
          <p:nvPr/>
        </p:nvSpPr>
        <p:spPr>
          <a:xfrm>
            <a:off x="5486441" y="3611619"/>
            <a:ext cx="2246730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单一 AXI 访存出口</a:t>
            </a:r>
          </a:p>
        </p:txBody>
      </p:sp>
      <p:sp>
        <p:nvSpPr>
          <p:cNvPr id="12" name="filter"/>
          <p:cNvSpPr/>
          <p:nvPr/>
        </p:nvSpPr>
        <p:spPr>
          <a:xfrm>
            <a:off x="4180114" y="4754880"/>
            <a:ext cx="1306286" cy="1045029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13: 失效过滤"/>
          <p:cNvSpPr txBox="1"/>
          <p:nvPr/>
        </p:nvSpPr>
        <p:spPr>
          <a:xfrm>
            <a:off x="4180114" y="4906409"/>
            <a:ext cx="1306286" cy="41801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14" name="o14: 现有"/>
          <p:cNvSpPr txBox="1"/>
          <p:nvPr/>
        </p:nvSpPr>
        <p:spPr>
          <a:xfrm>
            <a:off x="4488398" y="5295578"/>
            <a:ext cx="689719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现有</a:t>
            </a:r>
          </a:p>
        </p:txBody>
      </p:sp>
      <p:sp>
        <p:nvSpPr>
          <p:cNvPr id="15" name="split"/>
          <p:cNvSpPr/>
          <p:nvPr/>
        </p:nvSpPr>
        <p:spPr>
          <a:xfrm>
            <a:off x="5747657" y="4754880"/>
            <a:ext cx="1306286" cy="1045029"/>
          </a:xfrm>
          <a:prstGeom prst="rect">
            <a:avLst/>
          </a:prstGeom>
          <a:solidFill>
            <a:srgbClr val="E8DFED"/>
          </a:solidFill>
          <a:ln w="20901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o16: 地址分流"/>
          <p:cNvSpPr txBox="1"/>
          <p:nvPr/>
        </p:nvSpPr>
        <p:spPr>
          <a:xfrm>
            <a:off x="5747657" y="4906409"/>
            <a:ext cx="1306286" cy="41801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地址分流</a:t>
            </a:r>
          </a:p>
        </p:txBody>
      </p:sp>
      <p:sp>
        <p:nvSpPr>
          <p:cNvPr id="17" name="o17: 新增"/>
          <p:cNvSpPr txBox="1"/>
          <p:nvPr/>
        </p:nvSpPr>
        <p:spPr>
          <a:xfrm>
            <a:off x="6055941" y="5295578"/>
            <a:ext cx="689719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</a:t>
            </a:r>
          </a:p>
        </p:txBody>
      </p:sp>
      <p:sp>
        <p:nvSpPr>
          <p:cNvPr id="18" name="width"/>
          <p:cNvSpPr/>
          <p:nvPr/>
        </p:nvSpPr>
        <p:spPr>
          <a:xfrm>
            <a:off x="7315200" y="4754880"/>
            <a:ext cx="1724297" cy="1045029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19: 位宽适配"/>
          <p:cNvSpPr txBox="1"/>
          <p:nvPr/>
        </p:nvSpPr>
        <p:spPr>
          <a:xfrm>
            <a:off x="7524206" y="4906409"/>
            <a:ext cx="1306286" cy="41801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位宽适配</a:t>
            </a:r>
          </a:p>
        </p:txBody>
      </p:sp>
      <p:sp>
        <p:nvSpPr>
          <p:cNvPr id="20" name="o20: 普通地址"/>
          <p:cNvSpPr txBox="1"/>
          <p:nvPr/>
        </p:nvSpPr>
        <p:spPr>
          <a:xfrm>
            <a:off x="7602583" y="5295578"/>
            <a:ext cx="1149531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普通地址</a:t>
            </a:r>
          </a:p>
        </p:txBody>
      </p:sp>
      <p:cxnSp>
        <p:nvCxnSpPr>
          <p:cNvPr id="21" name="ara-filter"/>
          <p:cNvCxnSpPr/>
          <p:nvPr/>
        </p:nvCxnSpPr>
        <p:spPr>
          <a:xfrm>
            <a:off x="4828032" y="4180114"/>
            <a:ext cx="0" cy="574766"/>
          </a:xfrm>
          <a:prstGeom prst="line">
            <a:avLst/>
          </a:prstGeom>
          <a:ln w="31351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22" name="filter-split"/>
          <p:cNvCxnSpPr/>
          <p:nvPr/>
        </p:nvCxnSpPr>
        <p:spPr>
          <a:xfrm>
            <a:off x="5486400" y="5277394"/>
            <a:ext cx="261257" cy="0"/>
          </a:xfrm>
          <a:prstGeom prst="line">
            <a:avLst/>
          </a:prstGeom>
          <a:ln w="31351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23" name="split-width"/>
          <p:cNvCxnSpPr/>
          <p:nvPr/>
        </p:nvCxnSpPr>
        <p:spPr>
          <a:xfrm>
            <a:off x="7053943" y="5277394"/>
            <a:ext cx="261257" cy="0"/>
          </a:xfrm>
          <a:prstGeom prst="line">
            <a:avLst/>
          </a:prstGeom>
          <a:ln w="31351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24" name="gb-domain"/>
          <p:cNvSpPr/>
          <p:nvPr/>
        </p:nvSpPr>
        <p:spPr>
          <a:xfrm>
            <a:off x="9718766" y="2090057"/>
            <a:ext cx="9405257" cy="4493623"/>
          </a:xfrm>
          <a:prstGeom prst="rect">
            <a:avLst/>
          </a:prstGeom>
          <a:solidFill>
            <a:srgbClr val="D9EEE8"/>
          </a:solidFill>
          <a:ln w="20901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25: 独立 GB / NPU 子系统"/>
          <p:cNvSpPr txBox="1"/>
          <p:nvPr/>
        </p:nvSpPr>
        <p:spPr>
          <a:xfrm>
            <a:off x="12719761" y="2200830"/>
            <a:ext cx="3403266" cy="5016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6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GB / NPU 子系统</a:t>
            </a:r>
          </a:p>
        </p:txBody>
      </p:sp>
      <p:sp>
        <p:nvSpPr>
          <p:cNvPr id="26" name="npu"/>
          <p:cNvSpPr/>
          <p:nvPr/>
        </p:nvSpPr>
        <p:spPr>
          <a:xfrm>
            <a:off x="10032274" y="3187337"/>
            <a:ext cx="2299063" cy="1463040"/>
          </a:xfrm>
          <a:prstGeom prst="rect">
            <a:avLst/>
          </a:prstGeom>
          <a:solidFill>
            <a:srgbClr val="F1D7D9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o27: NPU 计算"/>
          <p:cNvSpPr txBox="1"/>
          <p:nvPr/>
        </p:nvSpPr>
        <p:spPr>
          <a:xfrm>
            <a:off x="10427124" y="3524672"/>
            <a:ext cx="1509364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28" name="o28: 独立于搬运器"/>
          <p:cNvSpPr txBox="1"/>
          <p:nvPr/>
        </p:nvSpPr>
        <p:spPr>
          <a:xfrm>
            <a:off x="10303982" y="3925127"/>
            <a:ext cx="1755648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独立于搬运器</a:t>
            </a:r>
          </a:p>
        </p:txBody>
      </p:sp>
      <p:sp>
        <p:nvSpPr>
          <p:cNvPr id="29" name="router"/>
          <p:cNvSpPr/>
          <p:nvPr/>
        </p:nvSpPr>
        <p:spPr>
          <a:xfrm>
            <a:off x="12697097" y="3187337"/>
            <a:ext cx="2612571" cy="1463040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o30: GB 访问适配"/>
          <p:cNvSpPr txBox="1"/>
          <p:nvPr/>
        </p:nvSpPr>
        <p:spPr>
          <a:xfrm>
            <a:off x="13040969" y="3524672"/>
            <a:ext cx="1924828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31" name="o31: 仲裁 / bank 冲突"/>
          <p:cNvSpPr txBox="1"/>
          <p:nvPr/>
        </p:nvSpPr>
        <p:spPr>
          <a:xfrm>
            <a:off x="12932923" y="3925127"/>
            <a:ext cx="2140921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仲裁 / bank 冲突</a:t>
            </a:r>
          </a:p>
        </p:txBody>
      </p:sp>
      <p:sp>
        <p:nvSpPr>
          <p:cNvPr id="32" name="gb"/>
          <p:cNvSpPr/>
          <p:nvPr/>
        </p:nvSpPr>
        <p:spPr>
          <a:xfrm>
            <a:off x="15675429" y="3187337"/>
            <a:ext cx="3030583" cy="1463040"/>
          </a:xfrm>
          <a:prstGeom prst="rect">
            <a:avLst/>
          </a:prstGeom>
          <a:solidFill>
            <a:srgbClr val="D9EEE8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o33: Global Buffer"/>
          <p:cNvSpPr txBox="1"/>
          <p:nvPr/>
        </p:nvSpPr>
        <p:spPr>
          <a:xfrm>
            <a:off x="16214712" y="3347018"/>
            <a:ext cx="1952015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34" name="o34: 独立分 bank SRAM"/>
          <p:cNvSpPr txBox="1"/>
          <p:nvPr/>
        </p:nvSpPr>
        <p:spPr>
          <a:xfrm>
            <a:off x="16020206" y="3747472"/>
            <a:ext cx="2341027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独立分 bank SRAM</a:t>
            </a:r>
          </a:p>
        </p:txBody>
      </p:sp>
      <p:sp>
        <p:nvSpPr>
          <p:cNvPr id="35" name="o35: 工作区 / 双缓冲"/>
          <p:cNvSpPr txBox="1"/>
          <p:nvPr/>
        </p:nvSpPr>
        <p:spPr>
          <a:xfrm>
            <a:off x="16172552" y="4102782"/>
            <a:ext cx="2036336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工作区 / 双缓冲</a:t>
            </a:r>
          </a:p>
        </p:txBody>
      </p:sp>
      <p:sp>
        <p:nvSpPr>
          <p:cNvPr id="36" name="mover"/>
          <p:cNvSpPr/>
          <p:nvPr/>
        </p:nvSpPr>
        <p:spPr>
          <a:xfrm>
            <a:off x="15675429" y="5172891"/>
            <a:ext cx="3030583" cy="1045029"/>
          </a:xfrm>
          <a:prstGeom prst="rect">
            <a:avLst/>
          </a:prstGeom>
          <a:solidFill>
            <a:srgbClr val="D8E8F4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o37: NPU / GB 搬运"/>
          <p:cNvSpPr txBox="1"/>
          <p:nvPr/>
        </p:nvSpPr>
        <p:spPr>
          <a:xfrm>
            <a:off x="16085268" y="5301221"/>
            <a:ext cx="2210905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38" name="o38: DDR ↔ GB"/>
          <p:cNvSpPr txBox="1"/>
          <p:nvPr/>
        </p:nvSpPr>
        <p:spPr>
          <a:xfrm>
            <a:off x="16461445" y="5701676"/>
            <a:ext cx="1458550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DDR ↔ GB</a:t>
            </a:r>
          </a:p>
        </p:txBody>
      </p:sp>
      <p:cxnSp>
        <p:nvCxnSpPr>
          <p:cNvPr id="39" name="npu-router"/>
          <p:cNvCxnSpPr/>
          <p:nvPr/>
        </p:nvCxnSpPr>
        <p:spPr>
          <a:xfrm>
            <a:off x="12331337" y="3918857"/>
            <a:ext cx="365760" cy="0"/>
          </a:xfrm>
          <a:prstGeom prst="line">
            <a:avLst/>
          </a:prstGeom>
          <a:ln w="31351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40" name="router-gb"/>
          <p:cNvCxnSpPr/>
          <p:nvPr/>
        </p:nvCxnSpPr>
        <p:spPr>
          <a:xfrm>
            <a:off x="15309669" y="3918857"/>
            <a:ext cx="365760" cy="0"/>
          </a:xfrm>
          <a:prstGeom prst="line">
            <a:avLst/>
          </a:prstGeom>
          <a:ln w="31351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41" name="mover-router"/>
          <p:cNvSpPr/>
          <p:nvPr/>
        </p:nvSpPr>
        <p:spPr>
          <a:xfrm>
            <a:off x="14003383" y="4650377"/>
            <a:ext cx="1672046" cy="1045029"/>
          </a:xfrm>
          <a:custGeom>
            <a:avLst/>
            <a:gdLst/>
            <a:ahLst/>
            <a:cxnLst/>
            <a:rect l="0" t="0" r="r" b="b"/>
            <a:pathLst>
              <a:path w="1672046" h="1045029" fill="none">
                <a:moveTo>
                  <a:pt x="1672046" y="1045029"/>
                </a:moveTo>
                <a:lnTo>
                  <a:pt x="0" y="1045029"/>
                </a:lnTo>
                <a:lnTo>
                  <a:pt x="0" y="0"/>
                </a:lnTo>
              </a:path>
            </a:pathLst>
          </a:custGeom>
          <a:noFill/>
          <a:ln w="31351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ara-gb"/>
          <p:cNvSpPr/>
          <p:nvPr/>
        </p:nvSpPr>
        <p:spPr>
          <a:xfrm>
            <a:off x="7053943" y="2926080"/>
            <a:ext cx="6113417" cy="2037806"/>
          </a:xfrm>
          <a:custGeom>
            <a:avLst/>
            <a:gdLst/>
            <a:ahLst/>
            <a:cxnLst/>
            <a:rect l="0" t="0" r="r" b="b"/>
            <a:pathLst>
              <a:path w="6113417" h="2037806" fill="none">
                <a:moveTo>
                  <a:pt x="0" y="2037806"/>
                </a:moveTo>
                <a:lnTo>
                  <a:pt x="114953" y="2037806"/>
                </a:lnTo>
                <a:lnTo>
                  <a:pt x="114953" y="1515291"/>
                </a:lnTo>
                <a:lnTo>
                  <a:pt x="2487168" y="1515291"/>
                </a:lnTo>
                <a:lnTo>
                  <a:pt x="2487168" y="0"/>
                </a:lnTo>
                <a:lnTo>
                  <a:pt x="6113417" y="0"/>
                </a:lnTo>
                <a:lnTo>
                  <a:pt x="6113417" y="261257"/>
                </a:lnTo>
              </a:path>
            </a:pathLst>
          </a:custGeom>
          <a:noFill/>
          <a:ln w="31351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image-domain"/>
          <p:cNvSpPr/>
          <p:nvPr/>
        </p:nvSpPr>
        <p:spPr>
          <a:xfrm>
            <a:off x="19437531" y="2090057"/>
            <a:ext cx="9196251" cy="4493623"/>
          </a:xfrm>
          <a:prstGeom prst="rect">
            <a:avLst/>
          </a:prstGeom>
          <a:solidFill>
            <a:srgbClr val="F5E1C9"/>
          </a:solidFill>
          <a:ln w="20901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o44: 图像接收 / ISP / 帧写入"/>
          <p:cNvSpPr txBox="1"/>
          <p:nvPr/>
        </p:nvSpPr>
        <p:spPr>
          <a:xfrm>
            <a:off x="22205273" y="2200830"/>
            <a:ext cx="3660768" cy="5016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6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图像接收 / ISP / 帧写入</a:t>
            </a:r>
          </a:p>
        </p:txBody>
      </p:sp>
      <p:sp>
        <p:nvSpPr>
          <p:cNvPr id="45" name="lvds"/>
          <p:cNvSpPr/>
          <p:nvPr/>
        </p:nvSpPr>
        <p:spPr>
          <a:xfrm>
            <a:off x="19803291" y="3866606"/>
            <a:ext cx="1463040" cy="1306286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o46: LVDS"/>
          <p:cNvSpPr txBox="1"/>
          <p:nvPr/>
        </p:nvSpPr>
        <p:spPr>
          <a:xfrm>
            <a:off x="20081343" y="4141030"/>
            <a:ext cx="906938" cy="4347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39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47" name="o47: 解串 / 帧行"/>
          <p:cNvSpPr txBox="1"/>
          <p:nvPr/>
        </p:nvSpPr>
        <p:spPr>
          <a:xfrm>
            <a:off x="19895336" y="4564058"/>
            <a:ext cx="1278952" cy="33440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45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48" name="cdc"/>
          <p:cNvSpPr/>
          <p:nvPr/>
        </p:nvSpPr>
        <p:spPr>
          <a:xfrm>
            <a:off x="21475337" y="3866606"/>
            <a:ext cx="1463040" cy="1306286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o49: CDC/FIFO"/>
          <p:cNvSpPr txBox="1"/>
          <p:nvPr/>
        </p:nvSpPr>
        <p:spPr>
          <a:xfrm>
            <a:off x="21487502" y="4141030"/>
            <a:ext cx="1438710" cy="4347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39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CDC/FIFO</a:t>
            </a:r>
          </a:p>
        </p:txBody>
      </p:sp>
      <p:sp>
        <p:nvSpPr>
          <p:cNvPr id="50" name="o50: 像素缓冲"/>
          <p:cNvSpPr txBox="1"/>
          <p:nvPr/>
        </p:nvSpPr>
        <p:spPr>
          <a:xfrm>
            <a:off x="21684343" y="4564058"/>
            <a:ext cx="1045029" cy="33440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45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像素缓冲</a:t>
            </a:r>
          </a:p>
        </p:txBody>
      </p:sp>
      <p:sp>
        <p:nvSpPr>
          <p:cNvPr id="51" name="isp"/>
          <p:cNvSpPr/>
          <p:nvPr/>
        </p:nvSpPr>
        <p:spPr>
          <a:xfrm>
            <a:off x="23147383" y="3866606"/>
            <a:ext cx="1463040" cy="1306286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o52: ISP"/>
          <p:cNvSpPr txBox="1"/>
          <p:nvPr/>
        </p:nvSpPr>
        <p:spPr>
          <a:xfrm>
            <a:off x="23547621" y="4141030"/>
            <a:ext cx="662564" cy="4347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39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53" name="o53: 处理/行缓冲"/>
          <p:cNvSpPr txBox="1"/>
          <p:nvPr/>
        </p:nvSpPr>
        <p:spPr>
          <a:xfrm>
            <a:off x="23197593" y="4564058"/>
            <a:ext cx="1362619" cy="33440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45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处理/行缓冲</a:t>
            </a:r>
          </a:p>
        </p:txBody>
      </p:sp>
      <p:sp>
        <p:nvSpPr>
          <p:cNvPr id="54" name="select"/>
          <p:cNvSpPr/>
          <p:nvPr/>
        </p:nvSpPr>
        <p:spPr>
          <a:xfrm>
            <a:off x="24819429" y="3866606"/>
            <a:ext cx="1463040" cy="1306286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o55: 帧选择"/>
          <p:cNvSpPr txBox="1"/>
          <p:nvPr/>
        </p:nvSpPr>
        <p:spPr>
          <a:xfrm>
            <a:off x="25007534" y="4141030"/>
            <a:ext cx="1086830" cy="4347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39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帧选择</a:t>
            </a:r>
          </a:p>
        </p:txBody>
      </p:sp>
      <p:sp>
        <p:nvSpPr>
          <p:cNvPr id="56" name="o56: RAW / ISP"/>
          <p:cNvSpPr txBox="1"/>
          <p:nvPr/>
        </p:nvSpPr>
        <p:spPr>
          <a:xfrm>
            <a:off x="24970345" y="4564058"/>
            <a:ext cx="1161206" cy="33440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45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57" name="frame"/>
          <p:cNvSpPr/>
          <p:nvPr/>
        </p:nvSpPr>
        <p:spPr>
          <a:xfrm>
            <a:off x="26491474" y="3866606"/>
            <a:ext cx="1672046" cy="1306286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o58: 帧 DMA"/>
          <p:cNvSpPr txBox="1"/>
          <p:nvPr/>
        </p:nvSpPr>
        <p:spPr>
          <a:xfrm>
            <a:off x="26738175" y="4141030"/>
            <a:ext cx="1178645" cy="4347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39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 DMA</a:t>
            </a:r>
          </a:p>
        </p:txBody>
      </p:sp>
      <p:sp>
        <p:nvSpPr>
          <p:cNvPr id="59" name="o59: 地址/stride"/>
          <p:cNvSpPr txBox="1"/>
          <p:nvPr/>
        </p:nvSpPr>
        <p:spPr>
          <a:xfrm>
            <a:off x="26700978" y="4564058"/>
            <a:ext cx="1253038" cy="33440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45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地址/stride</a:t>
            </a:r>
          </a:p>
        </p:txBody>
      </p:sp>
      <p:cxnSp>
        <p:nvCxnSpPr>
          <p:cNvPr id="60" name="pixel0"/>
          <p:cNvCxnSpPr/>
          <p:nvPr/>
        </p:nvCxnSpPr>
        <p:spPr>
          <a:xfrm>
            <a:off x="21266331" y="4389120"/>
            <a:ext cx="209006" cy="0"/>
          </a:xfrm>
          <a:prstGeom prst="line">
            <a:avLst/>
          </a:prstGeom>
          <a:ln w="31351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61" name="pixel1"/>
          <p:cNvCxnSpPr/>
          <p:nvPr/>
        </p:nvCxnSpPr>
        <p:spPr>
          <a:xfrm>
            <a:off x="22938377" y="4389120"/>
            <a:ext cx="209006" cy="0"/>
          </a:xfrm>
          <a:prstGeom prst="line">
            <a:avLst/>
          </a:prstGeom>
          <a:ln w="31351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62" name="pixel2"/>
          <p:cNvCxnSpPr/>
          <p:nvPr/>
        </p:nvCxnSpPr>
        <p:spPr>
          <a:xfrm>
            <a:off x="24610423" y="4389120"/>
            <a:ext cx="209006" cy="0"/>
          </a:xfrm>
          <a:prstGeom prst="line">
            <a:avLst/>
          </a:prstGeom>
          <a:ln w="31351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63" name="pixel3"/>
          <p:cNvCxnSpPr/>
          <p:nvPr/>
        </p:nvCxnSpPr>
        <p:spPr>
          <a:xfrm>
            <a:off x="26282469" y="4389120"/>
            <a:ext cx="209005" cy="0"/>
          </a:xfrm>
          <a:prstGeom prst="line">
            <a:avLst/>
          </a:prstGeom>
          <a:ln w="31351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64" name="raw"/>
          <p:cNvSpPr/>
          <p:nvPr/>
        </p:nvSpPr>
        <p:spPr>
          <a:xfrm>
            <a:off x="23042880" y="3448594"/>
            <a:ext cx="2508069" cy="940526"/>
          </a:xfrm>
          <a:custGeom>
            <a:avLst/>
            <a:gdLst/>
            <a:ahLst/>
            <a:cxnLst/>
            <a:rect l="0" t="0" r="r" b="b"/>
            <a:pathLst>
              <a:path w="2508069" h="940526" fill="none">
                <a:moveTo>
                  <a:pt x="0" y="940526"/>
                </a:moveTo>
                <a:lnTo>
                  <a:pt x="0" y="0"/>
                </a:lnTo>
                <a:lnTo>
                  <a:pt x="2508069" y="0"/>
                </a:lnTo>
                <a:lnTo>
                  <a:pt x="2508069" y="418011"/>
                </a:lnTo>
              </a:path>
            </a:pathLst>
          </a:custGeom>
          <a:noFill/>
          <a:ln w="31351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branch"/>
          <p:cNvSpPr/>
          <p:nvPr/>
        </p:nvSpPr>
        <p:spPr>
          <a:xfrm>
            <a:off x="23001079" y="4347319"/>
            <a:ext cx="83602" cy="83602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o66: RAW 旁路"/>
          <p:cNvSpPr txBox="1"/>
          <p:nvPr/>
        </p:nvSpPr>
        <p:spPr>
          <a:xfrm>
            <a:off x="25516708" y="3074892"/>
            <a:ext cx="1218013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67" name="isp-gb"/>
          <p:cNvSpPr/>
          <p:nvPr/>
        </p:nvSpPr>
        <p:spPr>
          <a:xfrm>
            <a:off x="14630400" y="2926080"/>
            <a:ext cx="9436608" cy="940526"/>
          </a:xfrm>
          <a:custGeom>
            <a:avLst/>
            <a:gdLst/>
            <a:ahLst/>
            <a:cxnLst/>
            <a:rect l="0" t="0" r="r" b="b"/>
            <a:pathLst>
              <a:path w="9436608" h="940526" fill="none">
                <a:moveTo>
                  <a:pt x="9248503" y="940526"/>
                </a:moveTo>
                <a:lnTo>
                  <a:pt x="9248503" y="627017"/>
                </a:lnTo>
                <a:cubicBezTo>
                  <a:pt x="9436608" y="627017"/>
                  <a:pt x="9436608" y="418011"/>
                  <a:pt x="9248503" y="418011"/>
                </a:cubicBezTo>
                <a:lnTo>
                  <a:pt x="9248503" y="0"/>
                </a:lnTo>
                <a:lnTo>
                  <a:pt x="0" y="0"/>
                </a:lnTo>
                <a:lnTo>
                  <a:pt x="0" y="261257"/>
                </a:lnTo>
              </a:path>
            </a:pathLst>
          </a:custGeom>
          <a:noFill/>
          <a:ln w="31351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o68: ISP 中间数据"/>
          <p:cNvSpPr txBox="1"/>
          <p:nvPr/>
        </p:nvSpPr>
        <p:spPr>
          <a:xfrm>
            <a:off x="19220672" y="2615916"/>
            <a:ext cx="1478748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中间数据</a:t>
            </a:r>
          </a:p>
        </p:txBody>
      </p:sp>
      <p:sp>
        <p:nvSpPr>
          <p:cNvPr id="69" name="xbar"/>
          <p:cNvSpPr/>
          <p:nvPr/>
        </p:nvSpPr>
        <p:spPr>
          <a:xfrm>
            <a:off x="731520" y="8360229"/>
            <a:ext cx="13167360" cy="1254034"/>
          </a:xfrm>
          <a:prstGeom prst="rect">
            <a:avLst/>
          </a:prstGeom>
          <a:solidFill>
            <a:srgbClr val="F5E1C9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o70: 主 AXI Crossbar"/>
          <p:cNvSpPr txBox="1"/>
          <p:nvPr/>
        </p:nvSpPr>
        <p:spPr>
          <a:xfrm>
            <a:off x="5875543" y="8538928"/>
            <a:ext cx="2879315" cy="5852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8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 AXI Crossbar</a:t>
            </a:r>
          </a:p>
        </p:txBody>
      </p:sp>
      <p:sp>
        <p:nvSpPr>
          <p:cNvPr id="71" name="o71: 系统 64 bit"/>
          <p:cNvSpPr txBox="1"/>
          <p:nvPr/>
        </p:nvSpPr>
        <p:spPr>
          <a:xfrm>
            <a:off x="6575761" y="9018388"/>
            <a:ext cx="1478879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系统 64 bit</a:t>
            </a:r>
          </a:p>
        </p:txBody>
      </p:sp>
      <p:sp>
        <p:nvSpPr>
          <p:cNvPr id="72" name="cpu-xbar"/>
          <p:cNvSpPr/>
          <p:nvPr/>
        </p:nvSpPr>
        <p:spPr>
          <a:xfrm>
            <a:off x="2090057" y="4441371"/>
            <a:ext cx="522514" cy="3918857"/>
          </a:xfrm>
          <a:custGeom>
            <a:avLst/>
            <a:gdLst/>
            <a:ahLst/>
            <a:cxnLst/>
            <a:rect l="0" t="0" r="r" b="b"/>
            <a:pathLst>
              <a:path w="522514" h="3918857" fill="none">
                <a:moveTo>
                  <a:pt x="0" y="0"/>
                </a:moveTo>
                <a:lnTo>
                  <a:pt x="0" y="2873829"/>
                </a:lnTo>
                <a:lnTo>
                  <a:pt x="522514" y="2873829"/>
                </a:lnTo>
                <a:lnTo>
                  <a:pt x="522514" y="3918857"/>
                </a:lnTo>
              </a:path>
            </a:pathLst>
          </a:custGeom>
          <a:noFill/>
          <a:ln w="3135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ara-xbar"/>
          <p:cNvSpPr/>
          <p:nvPr/>
        </p:nvSpPr>
        <p:spPr>
          <a:xfrm>
            <a:off x="7315200" y="5799909"/>
            <a:ext cx="856923" cy="2560320"/>
          </a:xfrm>
          <a:custGeom>
            <a:avLst/>
            <a:gdLst/>
            <a:ahLst/>
            <a:cxnLst/>
            <a:rect l="0" t="0" r="r" b="b"/>
            <a:pathLst>
              <a:path w="856923" h="2560320" fill="none">
                <a:moveTo>
                  <a:pt x="856923" y="0"/>
                </a:moveTo>
                <a:lnTo>
                  <a:pt x="856923" y="1724297"/>
                </a:lnTo>
                <a:lnTo>
                  <a:pt x="0" y="1724297"/>
                </a:lnTo>
                <a:lnTo>
                  <a:pt x="0" y="2560320"/>
                </a:lnTo>
              </a:path>
            </a:pathLst>
          </a:custGeom>
          <a:noFill/>
          <a:ln w="3135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atomics"/>
          <p:cNvSpPr/>
          <p:nvPr/>
        </p:nvSpPr>
        <p:spPr>
          <a:xfrm>
            <a:off x="4180114" y="10972800"/>
            <a:ext cx="2717074" cy="1410789"/>
          </a:xfrm>
          <a:prstGeom prst="rect">
            <a:avLst/>
          </a:prstGeom>
          <a:solidFill>
            <a:srgbClr val="D8E8F4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o75: 原子适配"/>
          <p:cNvSpPr txBox="1"/>
          <p:nvPr/>
        </p:nvSpPr>
        <p:spPr>
          <a:xfrm>
            <a:off x="4807131" y="11284010"/>
            <a:ext cx="1463040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76" name="o76: AMO / LRSC"/>
          <p:cNvSpPr txBox="1"/>
          <p:nvPr/>
        </p:nvSpPr>
        <p:spPr>
          <a:xfrm>
            <a:off x="4721692" y="11684464"/>
            <a:ext cx="1633918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77" name="llc"/>
          <p:cNvSpPr/>
          <p:nvPr/>
        </p:nvSpPr>
        <p:spPr>
          <a:xfrm>
            <a:off x="8151223" y="10972800"/>
            <a:ext cx="3030583" cy="1410789"/>
          </a:xfrm>
          <a:prstGeom prst="rect">
            <a:avLst/>
          </a:prstGeom>
          <a:solidFill>
            <a:srgbClr val="D8E8F4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o78: LLC / SPM"/>
          <p:cNvSpPr txBox="1"/>
          <p:nvPr/>
        </p:nvSpPr>
        <p:spPr>
          <a:xfrm>
            <a:off x="8827250" y="11284010"/>
            <a:ext cx="1678528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79" name="o79: 保留 · 不等于 GB"/>
          <p:cNvSpPr txBox="1"/>
          <p:nvPr/>
        </p:nvSpPr>
        <p:spPr>
          <a:xfrm>
            <a:off x="8610995" y="11684464"/>
            <a:ext cx="2111039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保留 · 不等于 GB</a:t>
            </a:r>
          </a:p>
        </p:txBody>
      </p:sp>
      <p:cxnSp>
        <p:nvCxnSpPr>
          <p:cNvPr id="80" name="xbar-atomics"/>
          <p:cNvCxnSpPr/>
          <p:nvPr/>
        </p:nvCxnSpPr>
        <p:spPr>
          <a:xfrm>
            <a:off x="5538651" y="9614263"/>
            <a:ext cx="0" cy="1358537"/>
          </a:xfrm>
          <a:prstGeom prst="line">
            <a:avLst/>
          </a:prstGeom>
          <a:ln w="31351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1" name="atomics-llc"/>
          <p:cNvCxnSpPr/>
          <p:nvPr/>
        </p:nvCxnSpPr>
        <p:spPr>
          <a:xfrm>
            <a:off x="6897189" y="11672969"/>
            <a:ext cx="1254034" cy="0"/>
          </a:xfrm>
          <a:prstGeom prst="line">
            <a:avLst/>
          </a:prstGeom>
          <a:ln w="31351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2" name="ddr"/>
          <p:cNvSpPr/>
          <p:nvPr/>
        </p:nvSpPr>
        <p:spPr>
          <a:xfrm>
            <a:off x="14630400" y="8360229"/>
            <a:ext cx="10972800" cy="5590903"/>
          </a:xfrm>
          <a:prstGeom prst="rect">
            <a:avLst/>
          </a:prstGeom>
          <a:solidFill>
            <a:srgbClr val="D8E8F4"/>
          </a:solidFill>
          <a:ln w="20901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o83: DDR Controller · 多 AXI slave"/>
          <p:cNvSpPr txBox="1"/>
          <p:nvPr/>
        </p:nvSpPr>
        <p:spPr>
          <a:xfrm>
            <a:off x="18067760" y="13414823"/>
            <a:ext cx="4098080" cy="48489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8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多 AXI slave</a:t>
            </a:r>
          </a:p>
        </p:txBody>
      </p:sp>
      <p:sp>
        <p:nvSpPr>
          <p:cNvPr id="84" name="ddr-port0"/>
          <p:cNvSpPr/>
          <p:nvPr/>
        </p:nvSpPr>
        <p:spPr>
          <a:xfrm>
            <a:off x="15257417" y="9718766"/>
            <a:ext cx="1672046" cy="1045029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o85: S0"/>
          <p:cNvSpPr txBox="1"/>
          <p:nvPr/>
        </p:nvSpPr>
        <p:spPr>
          <a:xfrm>
            <a:off x="15768828" y="9847095"/>
            <a:ext cx="649224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86" name="o86: SoC / LLC"/>
          <p:cNvSpPr txBox="1"/>
          <p:nvPr/>
        </p:nvSpPr>
        <p:spPr>
          <a:xfrm>
            <a:off x="15459393" y="10270123"/>
            <a:ext cx="1268093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87" name="join0"/>
          <p:cNvCxnSpPr/>
          <p:nvPr/>
        </p:nvCxnSpPr>
        <p:spPr>
          <a:xfrm>
            <a:off x="16093440" y="10763794"/>
            <a:ext cx="0" cy="470263"/>
          </a:xfrm>
          <a:prstGeom prst="line">
            <a:avLst/>
          </a:prstGeom>
          <a:ln w="31351" cap="flat">
            <a:solidFill>
              <a:srgbClr val="314D66"/>
            </a:solidFill>
          </a:ln>
          <a:effectLst/>
        </p:spPr>
      </p:cxnSp>
      <p:sp>
        <p:nvSpPr>
          <p:cNvPr id="88" name="ddr-port1"/>
          <p:cNvSpPr/>
          <p:nvPr/>
        </p:nvSpPr>
        <p:spPr>
          <a:xfrm>
            <a:off x="19333029" y="9718766"/>
            <a:ext cx="1672046" cy="1045029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o89: S1"/>
          <p:cNvSpPr txBox="1"/>
          <p:nvPr/>
        </p:nvSpPr>
        <p:spPr>
          <a:xfrm>
            <a:off x="19844439" y="9847095"/>
            <a:ext cx="649224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90" name="o90: NPU / GB"/>
          <p:cNvSpPr txBox="1"/>
          <p:nvPr/>
        </p:nvSpPr>
        <p:spPr>
          <a:xfrm>
            <a:off x="19564878" y="10270123"/>
            <a:ext cx="1208347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NPU / GB</a:t>
            </a:r>
          </a:p>
        </p:txBody>
      </p:sp>
      <p:cxnSp>
        <p:nvCxnSpPr>
          <p:cNvPr id="91" name="join1"/>
          <p:cNvCxnSpPr/>
          <p:nvPr/>
        </p:nvCxnSpPr>
        <p:spPr>
          <a:xfrm>
            <a:off x="20169051" y="10763794"/>
            <a:ext cx="0" cy="470263"/>
          </a:xfrm>
          <a:prstGeom prst="line">
            <a:avLst/>
          </a:prstGeom>
          <a:ln w="31351" cap="flat">
            <a:solidFill>
              <a:srgbClr val="314D66"/>
            </a:solidFill>
          </a:ln>
          <a:effectLst/>
        </p:spPr>
      </p:cxnSp>
      <p:sp>
        <p:nvSpPr>
          <p:cNvPr id="92" name="ddr-port2"/>
          <p:cNvSpPr/>
          <p:nvPr/>
        </p:nvSpPr>
        <p:spPr>
          <a:xfrm>
            <a:off x="23408640" y="9718766"/>
            <a:ext cx="1672046" cy="1045029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o93: S2"/>
          <p:cNvSpPr txBox="1"/>
          <p:nvPr/>
        </p:nvSpPr>
        <p:spPr>
          <a:xfrm>
            <a:off x="23920051" y="9847095"/>
            <a:ext cx="649224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94" name="o94: 帧写入"/>
          <p:cNvSpPr txBox="1"/>
          <p:nvPr/>
        </p:nvSpPr>
        <p:spPr>
          <a:xfrm>
            <a:off x="23784850" y="10270123"/>
            <a:ext cx="919625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帧写入</a:t>
            </a:r>
          </a:p>
        </p:txBody>
      </p:sp>
      <p:cxnSp>
        <p:nvCxnSpPr>
          <p:cNvPr id="95" name="join2"/>
          <p:cNvCxnSpPr/>
          <p:nvPr/>
        </p:nvCxnSpPr>
        <p:spPr>
          <a:xfrm>
            <a:off x="24244663" y="10763794"/>
            <a:ext cx="0" cy="470263"/>
          </a:xfrm>
          <a:prstGeom prst="line">
            <a:avLst/>
          </a:prstGeom>
          <a:ln w="31351" cap="flat">
            <a:solidFill>
              <a:srgbClr val="314D66"/>
            </a:solidFill>
          </a:ln>
          <a:effectLst/>
        </p:spPr>
      </p:cxnSp>
      <p:sp>
        <p:nvSpPr>
          <p:cNvPr id="96" name="llc-ddr"/>
          <p:cNvSpPr/>
          <p:nvPr/>
        </p:nvSpPr>
        <p:spPr>
          <a:xfrm>
            <a:off x="11181806" y="9353006"/>
            <a:ext cx="4911634" cy="2319963"/>
          </a:xfrm>
          <a:custGeom>
            <a:avLst/>
            <a:gdLst/>
            <a:ahLst/>
            <a:cxnLst/>
            <a:rect l="0" t="0" r="r" b="b"/>
            <a:pathLst>
              <a:path w="4911634" h="2319963" fill="none">
                <a:moveTo>
                  <a:pt x="0" y="2319963"/>
                </a:moveTo>
                <a:lnTo>
                  <a:pt x="3030583" y="2319963"/>
                </a:lnTo>
                <a:lnTo>
                  <a:pt x="3030583" y="0"/>
                </a:lnTo>
                <a:lnTo>
                  <a:pt x="4911634" y="0"/>
                </a:lnTo>
                <a:lnTo>
                  <a:pt x="4911634" y="365760"/>
                </a:lnTo>
              </a:path>
            </a:pathLst>
          </a:custGeom>
          <a:noFill/>
          <a:ln w="3135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mover-ddr"/>
          <p:cNvSpPr/>
          <p:nvPr/>
        </p:nvSpPr>
        <p:spPr>
          <a:xfrm>
            <a:off x="18706011" y="5695406"/>
            <a:ext cx="1463040" cy="4023360"/>
          </a:xfrm>
          <a:custGeom>
            <a:avLst/>
            <a:gdLst/>
            <a:ahLst/>
            <a:cxnLst/>
            <a:rect l="0" t="0" r="r" b="b"/>
            <a:pathLst>
              <a:path w="1463040" h="4023360" fill="none">
                <a:moveTo>
                  <a:pt x="0" y="0"/>
                </a:moveTo>
                <a:lnTo>
                  <a:pt x="522514" y="0"/>
                </a:lnTo>
                <a:lnTo>
                  <a:pt x="522514" y="1933303"/>
                </a:lnTo>
                <a:lnTo>
                  <a:pt x="1463040" y="1933303"/>
                </a:lnTo>
                <a:lnTo>
                  <a:pt x="1463040" y="4023360"/>
                </a:lnTo>
              </a:path>
            </a:pathLst>
          </a:custGeom>
          <a:noFill/>
          <a:ln w="3135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frame-ddr"/>
          <p:cNvSpPr/>
          <p:nvPr/>
        </p:nvSpPr>
        <p:spPr>
          <a:xfrm>
            <a:off x="24244663" y="5172891"/>
            <a:ext cx="3082834" cy="4545874"/>
          </a:xfrm>
          <a:custGeom>
            <a:avLst/>
            <a:gdLst/>
            <a:ahLst/>
            <a:cxnLst/>
            <a:rect l="0" t="0" r="r" b="b"/>
            <a:pathLst>
              <a:path w="3082834" h="4545874" fill="none">
                <a:moveTo>
                  <a:pt x="3082834" y="0"/>
                </a:moveTo>
                <a:lnTo>
                  <a:pt x="3082834" y="2455817"/>
                </a:lnTo>
                <a:lnTo>
                  <a:pt x="0" y="2455817"/>
                </a:lnTo>
                <a:lnTo>
                  <a:pt x="0" y="4545874"/>
                </a:lnTo>
              </a:path>
            </a:pathLst>
          </a:custGeom>
          <a:noFill/>
          <a:ln w="3135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99" name="ports-merge"/>
          <p:cNvCxnSpPr/>
          <p:nvPr/>
        </p:nvCxnSpPr>
        <p:spPr>
          <a:xfrm>
            <a:off x="16093440" y="11234057"/>
            <a:ext cx="8151223" cy="0"/>
          </a:xfrm>
          <a:prstGeom prst="line">
            <a:avLst/>
          </a:prstGeom>
          <a:ln w="31351" cap="flat">
            <a:solidFill>
              <a:srgbClr val="314D66"/>
            </a:solidFill>
          </a:ln>
          <a:effectLst/>
        </p:spPr>
      </p:cxnSp>
      <p:sp>
        <p:nvSpPr>
          <p:cNvPr id="100" name="qos"/>
          <p:cNvSpPr/>
          <p:nvPr/>
        </p:nvSpPr>
        <p:spPr>
          <a:xfrm>
            <a:off x="15257417" y="11913326"/>
            <a:ext cx="3239589" cy="1358537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o101: 端口仲裁 / QoS"/>
          <p:cNvSpPr txBox="1"/>
          <p:nvPr/>
        </p:nvSpPr>
        <p:spPr>
          <a:xfrm>
            <a:off x="15716054" y="12198410"/>
            <a:ext cx="2322315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2" name="o102: 共享 DDR 带宽"/>
          <p:cNvSpPr txBox="1"/>
          <p:nvPr/>
        </p:nvSpPr>
        <p:spPr>
          <a:xfrm>
            <a:off x="15932032" y="12598864"/>
            <a:ext cx="1890359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sp>
        <p:nvSpPr>
          <p:cNvPr id="103" name="scheduler"/>
          <p:cNvSpPr/>
          <p:nvPr/>
        </p:nvSpPr>
        <p:spPr>
          <a:xfrm>
            <a:off x="19228526" y="11913326"/>
            <a:ext cx="5747657" cy="1358537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o104: 读写 / Bank / Row / 命令调度"/>
          <p:cNvSpPr txBox="1"/>
          <p:nvPr/>
        </p:nvSpPr>
        <p:spPr>
          <a:xfrm>
            <a:off x="20149833" y="12391531"/>
            <a:ext cx="3905043" cy="4347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39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 / Bank / Row / 命令调度</a:t>
            </a:r>
          </a:p>
        </p:txBody>
      </p:sp>
      <p:cxnSp>
        <p:nvCxnSpPr>
          <p:cNvPr id="105" name="qos-in"/>
          <p:cNvCxnSpPr/>
          <p:nvPr/>
        </p:nvCxnSpPr>
        <p:spPr>
          <a:xfrm>
            <a:off x="16877211" y="11234057"/>
            <a:ext cx="0" cy="679269"/>
          </a:xfrm>
          <a:prstGeom prst="line">
            <a:avLst/>
          </a:prstGeom>
          <a:ln w="31351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106" name="qos-core"/>
          <p:cNvCxnSpPr/>
          <p:nvPr/>
        </p:nvCxnSpPr>
        <p:spPr>
          <a:xfrm>
            <a:off x="18497006" y="12592594"/>
            <a:ext cx="731520" cy="0"/>
          </a:xfrm>
          <a:prstGeom prst="line">
            <a:avLst/>
          </a:prstGeom>
          <a:ln w="31351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7" name="phy-ddr"/>
          <p:cNvSpPr/>
          <p:nvPr/>
        </p:nvSpPr>
        <p:spPr>
          <a:xfrm>
            <a:off x="26125714" y="11913326"/>
            <a:ext cx="2403566" cy="1358537"/>
          </a:xfrm>
          <a:prstGeom prst="rect">
            <a:avLst/>
          </a:prstGeom>
          <a:solidFill>
            <a:srgbClr val="E8DFED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o108: PHY / DDR"/>
          <p:cNvSpPr txBox="1"/>
          <p:nvPr/>
        </p:nvSpPr>
        <p:spPr>
          <a:xfrm>
            <a:off x="26473790" y="12198410"/>
            <a:ext cx="1707413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PHY / DDR</a:t>
            </a:r>
          </a:p>
        </p:txBody>
      </p:sp>
      <p:sp>
        <p:nvSpPr>
          <p:cNvPr id="109" name="o109: 外存器件"/>
          <p:cNvSpPr txBox="1"/>
          <p:nvPr/>
        </p:nvSpPr>
        <p:spPr>
          <a:xfrm>
            <a:off x="26700480" y="12598864"/>
            <a:ext cx="1254034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外存器件</a:t>
            </a:r>
          </a:p>
        </p:txBody>
      </p:sp>
      <p:cxnSp>
        <p:nvCxnSpPr>
          <p:cNvPr id="110" name="ddr-phy"/>
          <p:cNvCxnSpPr/>
          <p:nvPr/>
        </p:nvCxnSpPr>
        <p:spPr>
          <a:xfrm>
            <a:off x="24976183" y="12592594"/>
            <a:ext cx="1149531" cy="0"/>
          </a:xfrm>
          <a:prstGeom prst="line">
            <a:avLst/>
          </a:prstGeom>
          <a:ln w="3135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1" name="o111: GB 容量、bank、位宽及频率待定"/>
          <p:cNvSpPr txBox="1"/>
          <p:nvPr/>
        </p:nvSpPr>
        <p:spPr>
          <a:xfrm>
            <a:off x="5257669" y="13698653"/>
            <a:ext cx="4428570" cy="45145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21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GB 容量、bank、位宽及频率待定</a:t>
            </a:r>
          </a:p>
        </p:txBody>
      </p:sp>
      <p:sp>
        <p:nvSpPr>
          <p:cNvPr id="112" name="o112: 并行能力取决于 SRAM 带宽与分区"/>
          <p:cNvSpPr txBox="1"/>
          <p:nvPr/>
        </p:nvSpPr>
        <p:spPr>
          <a:xfrm>
            <a:off x="5184101" y="14168915"/>
            <a:ext cx="4575707" cy="45145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21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并行能力取决于 SRAM 带宽与分区</a:t>
            </a:r>
          </a:p>
        </p:txBody>
      </p:sp>
      <p:cxnSp>
        <p:nvCxnSpPr>
          <p:cNvPr id="113" name="legend0"/>
          <p:cNvCxnSpPr/>
          <p:nvPr/>
        </p:nvCxnSpPr>
        <p:spPr>
          <a:xfrm>
            <a:off x="574766" y="15988937"/>
            <a:ext cx="679268" cy="0"/>
          </a:xfrm>
          <a:prstGeom prst="line">
            <a:avLst/>
          </a:prstGeom>
          <a:ln w="26126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4" name="o114: AXI / 外存通路"/>
          <p:cNvSpPr txBox="1"/>
          <p:nvPr/>
        </p:nvSpPr>
        <p:spPr>
          <a:xfrm>
            <a:off x="1410789" y="15824241"/>
            <a:ext cx="1719137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/ 外存通路</a:t>
            </a:r>
          </a:p>
        </p:txBody>
      </p:sp>
      <p:cxnSp>
        <p:nvCxnSpPr>
          <p:cNvPr id="115" name="legend1"/>
          <p:cNvCxnSpPr/>
          <p:nvPr/>
        </p:nvCxnSpPr>
        <p:spPr>
          <a:xfrm>
            <a:off x="6113417" y="15988937"/>
            <a:ext cx="679269" cy="0"/>
          </a:xfrm>
          <a:prstGeom prst="line">
            <a:avLst/>
          </a:prstGeom>
          <a:ln w="2612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6" name="o116: GB 本地读写"/>
          <p:cNvSpPr txBox="1"/>
          <p:nvPr/>
        </p:nvSpPr>
        <p:spPr>
          <a:xfrm>
            <a:off x="6949440" y="15824241"/>
            <a:ext cx="1512352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本地读写</a:t>
            </a:r>
          </a:p>
        </p:txBody>
      </p:sp>
      <p:cxnSp>
        <p:nvCxnSpPr>
          <p:cNvPr id="117" name="legend2"/>
          <p:cNvCxnSpPr/>
          <p:nvPr/>
        </p:nvCxnSpPr>
        <p:spPr>
          <a:xfrm>
            <a:off x="11652069" y="15988937"/>
            <a:ext cx="679268" cy="0"/>
          </a:xfrm>
          <a:prstGeom prst="line">
            <a:avLst/>
          </a:prstGeom>
          <a:ln w="26126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8" name="o118: 像素流"/>
          <p:cNvSpPr txBox="1"/>
          <p:nvPr/>
        </p:nvSpPr>
        <p:spPr>
          <a:xfrm>
            <a:off x="12488091" y="15824241"/>
            <a:ext cx="919625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2: LLC 多路组相联 Cache 与按 way 切换 SPM"/>
          <p:cNvSpPr txBox="1"/>
          <p:nvPr/>
        </p:nvSpPr>
        <p:spPr>
          <a:xfrm>
            <a:off x="470263" y="193957"/>
            <a:ext cx="8874954" cy="7189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53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多路组相联 Cache 与按 way 切换 SPM</a:t>
            </a:r>
          </a:p>
        </p:txBody>
      </p:sp>
      <p:sp>
        <p:nvSpPr>
          <p:cNvPr id="3" name="o3: DefaultCfg：8 way × 256 行/way × 8 个 64-bi"/>
          <p:cNvSpPr txBox="1"/>
          <p:nvPr/>
        </p:nvSpPr>
        <p:spPr>
          <a:xfrm>
            <a:off x="501614" y="899561"/>
            <a:ext cx="9102036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DefaultCfg：8 way × 256 行/way × 8 个 64-bit 块/行 = 128 KiB；每 way 16 KiB</a:t>
            </a:r>
          </a:p>
        </p:txBody>
      </p:sp>
      <p:sp>
        <p:nvSpPr>
          <p:cNvPr id="4" name="cache"/>
          <p:cNvSpPr/>
          <p:nvPr/>
        </p:nvSpPr>
        <p:spPr>
          <a:xfrm>
            <a:off x="522514" y="1933303"/>
            <a:ext cx="17242971" cy="9614263"/>
          </a:xfrm>
          <a:prstGeom prst="rect">
            <a:avLst/>
          </a:prstGeom>
          <a:solidFill>
            <a:srgbClr val="D8E8F4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o5: ① 全 Cache · 8 路组相联 · CFG_SPM = 0x00"/>
          <p:cNvSpPr txBox="1"/>
          <p:nvPr/>
        </p:nvSpPr>
        <p:spPr>
          <a:xfrm>
            <a:off x="5917050" y="2044076"/>
            <a:ext cx="6453901" cy="5016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6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① 全 Cache · 8 路组相联 · CFG_SPM = 0x00</a:t>
            </a:r>
          </a:p>
        </p:txBody>
      </p:sp>
      <p:sp>
        <p:nvSpPr>
          <p:cNvPr id="6" name="partition"/>
          <p:cNvSpPr/>
          <p:nvPr/>
        </p:nvSpPr>
        <p:spPr>
          <a:xfrm>
            <a:off x="18183497" y="1933303"/>
            <a:ext cx="10554789" cy="9614263"/>
          </a:xfrm>
          <a:prstGeom prst="rect">
            <a:avLst/>
          </a:prstGeom>
          <a:solidFill>
            <a:srgbClr val="D9EEE8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7: ② 同一数据阵列按整 way 分配"/>
          <p:cNvSpPr txBox="1"/>
          <p:nvPr/>
        </p:nvSpPr>
        <p:spPr>
          <a:xfrm>
            <a:off x="21185203" y="2044076"/>
            <a:ext cx="4551377" cy="5016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6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② 同一数据阵列按整 way 分配</a:t>
            </a:r>
          </a:p>
        </p:txBody>
      </p:sp>
      <p:sp>
        <p:nvSpPr>
          <p:cNvPr id="8" name="tag"/>
          <p:cNvSpPr/>
          <p:nvPr/>
        </p:nvSpPr>
        <p:spPr>
          <a:xfrm>
            <a:off x="992777" y="2978331"/>
            <a:ext cx="5225143" cy="1045029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o9: Tag [47:14]"/>
          <p:cNvSpPr txBox="1"/>
          <p:nvPr/>
        </p:nvSpPr>
        <p:spPr>
          <a:xfrm>
            <a:off x="2707506" y="3106661"/>
            <a:ext cx="1795686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Tag [47:14]</a:t>
            </a:r>
          </a:p>
        </p:txBody>
      </p:sp>
      <p:sp>
        <p:nvSpPr>
          <p:cNvPr id="10" name="o10: 34 bit"/>
          <p:cNvSpPr txBox="1"/>
          <p:nvPr/>
        </p:nvSpPr>
        <p:spPr>
          <a:xfrm>
            <a:off x="3154313" y="3507116"/>
            <a:ext cx="902072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34 bit</a:t>
            </a:r>
          </a:p>
        </p:txBody>
      </p:sp>
      <p:sp>
        <p:nvSpPr>
          <p:cNvPr id="11" name="set"/>
          <p:cNvSpPr/>
          <p:nvPr/>
        </p:nvSpPr>
        <p:spPr>
          <a:xfrm>
            <a:off x="6217920" y="2978331"/>
            <a:ext cx="3657600" cy="1045029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12: Set [13:6]"/>
          <p:cNvSpPr txBox="1"/>
          <p:nvPr/>
        </p:nvSpPr>
        <p:spPr>
          <a:xfrm>
            <a:off x="7245599" y="3106661"/>
            <a:ext cx="1602241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Set [13:6]</a:t>
            </a:r>
          </a:p>
        </p:txBody>
      </p:sp>
      <p:sp>
        <p:nvSpPr>
          <p:cNvPr id="13" name="o13: 256 组"/>
          <p:cNvSpPr txBox="1"/>
          <p:nvPr/>
        </p:nvSpPr>
        <p:spPr>
          <a:xfrm>
            <a:off x="7532737" y="3507116"/>
            <a:ext cx="1027965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256 组</a:t>
            </a:r>
          </a:p>
        </p:txBody>
      </p:sp>
      <p:sp>
        <p:nvSpPr>
          <p:cNvPr id="14" name="block"/>
          <p:cNvSpPr/>
          <p:nvPr/>
        </p:nvSpPr>
        <p:spPr>
          <a:xfrm>
            <a:off x="9875520" y="2978331"/>
            <a:ext cx="3762103" cy="1045029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o15: Block [5:3]"/>
          <p:cNvSpPr txBox="1"/>
          <p:nvPr/>
        </p:nvSpPr>
        <p:spPr>
          <a:xfrm>
            <a:off x="10911584" y="3106661"/>
            <a:ext cx="1689974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Block [5:3]</a:t>
            </a:r>
          </a:p>
        </p:txBody>
      </p:sp>
      <p:sp>
        <p:nvSpPr>
          <p:cNvPr id="16" name="o16: 8 个数据块"/>
          <p:cNvSpPr txBox="1"/>
          <p:nvPr/>
        </p:nvSpPr>
        <p:spPr>
          <a:xfrm>
            <a:off x="11016765" y="3507116"/>
            <a:ext cx="1479614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8 个数据块</a:t>
            </a:r>
          </a:p>
        </p:txBody>
      </p:sp>
      <p:sp>
        <p:nvSpPr>
          <p:cNvPr id="17" name="byte"/>
          <p:cNvSpPr/>
          <p:nvPr/>
        </p:nvSpPr>
        <p:spPr>
          <a:xfrm>
            <a:off x="13637623" y="2978331"/>
            <a:ext cx="3657600" cy="1045029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o18: Byte [2:0]"/>
          <p:cNvSpPr txBox="1"/>
          <p:nvPr/>
        </p:nvSpPr>
        <p:spPr>
          <a:xfrm>
            <a:off x="14691591" y="3106661"/>
            <a:ext cx="1549663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Byte [2:0]</a:t>
            </a:r>
          </a:p>
        </p:txBody>
      </p:sp>
      <p:sp>
        <p:nvSpPr>
          <p:cNvPr id="19" name="o19: 块内 8 字节"/>
          <p:cNvSpPr txBox="1"/>
          <p:nvPr/>
        </p:nvSpPr>
        <p:spPr>
          <a:xfrm>
            <a:off x="14689020" y="3507116"/>
            <a:ext cx="1554807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块内 8 字节</a:t>
            </a:r>
          </a:p>
        </p:txBody>
      </p:sp>
      <p:sp>
        <p:nvSpPr>
          <p:cNvPr id="20" name="o20: 选中一组；Tag 与各 way 的元数据并行比较"/>
          <p:cNvSpPr txBox="1"/>
          <p:nvPr/>
        </p:nvSpPr>
        <p:spPr>
          <a:xfrm>
            <a:off x="6523125" y="4177606"/>
            <a:ext cx="5868766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选中一组；Tag 与各 way 的元数据并行比较</a:t>
            </a:r>
          </a:p>
        </p:txBody>
      </p:sp>
      <p:sp>
        <p:nvSpPr>
          <p:cNvPr id="21" name="o21: Way 0"/>
          <p:cNvSpPr txBox="1"/>
          <p:nvPr/>
        </p:nvSpPr>
        <p:spPr>
          <a:xfrm>
            <a:off x="2896697" y="4722693"/>
            <a:ext cx="999292" cy="4347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39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Way 0</a:t>
            </a:r>
          </a:p>
        </p:txBody>
      </p:sp>
      <p:sp>
        <p:nvSpPr>
          <p:cNvPr id="22" name="o22: Way 1"/>
          <p:cNvSpPr txBox="1"/>
          <p:nvPr/>
        </p:nvSpPr>
        <p:spPr>
          <a:xfrm>
            <a:off x="4673245" y="4722693"/>
            <a:ext cx="999292" cy="4347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39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Way 1</a:t>
            </a:r>
          </a:p>
        </p:txBody>
      </p:sp>
      <p:sp>
        <p:nvSpPr>
          <p:cNvPr id="23" name="o23: Way 2"/>
          <p:cNvSpPr txBox="1"/>
          <p:nvPr/>
        </p:nvSpPr>
        <p:spPr>
          <a:xfrm>
            <a:off x="6449794" y="4722693"/>
            <a:ext cx="999292" cy="4347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39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Way 2</a:t>
            </a:r>
          </a:p>
        </p:txBody>
      </p:sp>
      <p:sp>
        <p:nvSpPr>
          <p:cNvPr id="24" name="o24: Way 3"/>
          <p:cNvSpPr txBox="1"/>
          <p:nvPr/>
        </p:nvSpPr>
        <p:spPr>
          <a:xfrm>
            <a:off x="8226342" y="4722693"/>
            <a:ext cx="999292" cy="4347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39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Way 3</a:t>
            </a:r>
          </a:p>
        </p:txBody>
      </p:sp>
      <p:sp>
        <p:nvSpPr>
          <p:cNvPr id="25" name="o25: Way 4"/>
          <p:cNvSpPr txBox="1"/>
          <p:nvPr/>
        </p:nvSpPr>
        <p:spPr>
          <a:xfrm>
            <a:off x="10002891" y="4722693"/>
            <a:ext cx="999292" cy="4347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39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Way 4</a:t>
            </a:r>
          </a:p>
        </p:txBody>
      </p:sp>
      <p:sp>
        <p:nvSpPr>
          <p:cNvPr id="26" name="o26: Way 5"/>
          <p:cNvSpPr txBox="1"/>
          <p:nvPr/>
        </p:nvSpPr>
        <p:spPr>
          <a:xfrm>
            <a:off x="11779440" y="4722693"/>
            <a:ext cx="999292" cy="4347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39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Way 5</a:t>
            </a:r>
          </a:p>
        </p:txBody>
      </p:sp>
      <p:sp>
        <p:nvSpPr>
          <p:cNvPr id="27" name="o27: Way 6"/>
          <p:cNvSpPr txBox="1"/>
          <p:nvPr/>
        </p:nvSpPr>
        <p:spPr>
          <a:xfrm>
            <a:off x="13555988" y="4722693"/>
            <a:ext cx="999292" cy="4347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39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Way 6</a:t>
            </a:r>
          </a:p>
        </p:txBody>
      </p:sp>
      <p:sp>
        <p:nvSpPr>
          <p:cNvPr id="28" name="o28: Way 7"/>
          <p:cNvSpPr txBox="1"/>
          <p:nvPr/>
        </p:nvSpPr>
        <p:spPr>
          <a:xfrm>
            <a:off x="15332537" y="4722693"/>
            <a:ext cx="999292" cy="4347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39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Way 7</a:t>
            </a:r>
          </a:p>
        </p:txBody>
      </p:sp>
      <p:sp>
        <p:nvSpPr>
          <p:cNvPr id="29" name="selected-set"/>
          <p:cNvSpPr/>
          <p:nvPr/>
        </p:nvSpPr>
        <p:spPr>
          <a:xfrm>
            <a:off x="2403566" y="7451054"/>
            <a:ext cx="14421394" cy="982327"/>
          </a:xfrm>
          <a:prstGeom prst="rect">
            <a:avLst/>
          </a:prstGeom>
          <a:solidFill>
            <a:srgbClr val="EDF6EE"/>
          </a:solidFill>
          <a:ln w="26126" cap="flat">
            <a:solidFill>
              <a:srgbClr val="187C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o30: 组 0"/>
          <p:cNvSpPr txBox="1"/>
          <p:nvPr/>
        </p:nvSpPr>
        <p:spPr>
          <a:xfrm>
            <a:off x="1001742" y="5422026"/>
            <a:ext cx="818094" cy="45145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21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组 0</a:t>
            </a:r>
          </a:p>
        </p:txBody>
      </p:sp>
      <p:sp>
        <p:nvSpPr>
          <p:cNvPr id="31" name="cell-0-0"/>
          <p:cNvSpPr/>
          <p:nvPr/>
        </p:nvSpPr>
        <p:spPr>
          <a:xfrm>
            <a:off x="2612571" y="5225143"/>
            <a:ext cx="1567543" cy="836023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o32: T / V / D"/>
          <p:cNvSpPr txBox="1"/>
          <p:nvPr/>
        </p:nvSpPr>
        <p:spPr>
          <a:xfrm>
            <a:off x="2826525" y="5295369"/>
            <a:ext cx="113963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33" name="o33: 64 B"/>
          <p:cNvSpPr txBox="1"/>
          <p:nvPr/>
        </p:nvSpPr>
        <p:spPr>
          <a:xfrm>
            <a:off x="3037890" y="5650678"/>
            <a:ext cx="71690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cxnSp>
        <p:nvCxnSpPr>
          <p:cNvPr id="34" name="cell-sep-0-0"/>
          <p:cNvCxnSpPr/>
          <p:nvPr/>
        </p:nvCxnSpPr>
        <p:spPr>
          <a:xfrm>
            <a:off x="2612571" y="5643154"/>
            <a:ext cx="1567543" cy="0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sp>
        <p:nvSpPr>
          <p:cNvPr id="35" name="cell-0-1"/>
          <p:cNvSpPr/>
          <p:nvPr/>
        </p:nvSpPr>
        <p:spPr>
          <a:xfrm>
            <a:off x="4389120" y="5225143"/>
            <a:ext cx="1567543" cy="836023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o36: T / V / D"/>
          <p:cNvSpPr txBox="1"/>
          <p:nvPr/>
        </p:nvSpPr>
        <p:spPr>
          <a:xfrm>
            <a:off x="4603073" y="5295369"/>
            <a:ext cx="113963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37" name="o37: 64 B"/>
          <p:cNvSpPr txBox="1"/>
          <p:nvPr/>
        </p:nvSpPr>
        <p:spPr>
          <a:xfrm>
            <a:off x="4814438" y="5650678"/>
            <a:ext cx="71690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cxnSp>
        <p:nvCxnSpPr>
          <p:cNvPr id="38" name="cell-sep-0-1"/>
          <p:cNvCxnSpPr/>
          <p:nvPr/>
        </p:nvCxnSpPr>
        <p:spPr>
          <a:xfrm>
            <a:off x="4389120" y="5643154"/>
            <a:ext cx="1567543" cy="0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sp>
        <p:nvSpPr>
          <p:cNvPr id="39" name="cell-0-2"/>
          <p:cNvSpPr/>
          <p:nvPr/>
        </p:nvSpPr>
        <p:spPr>
          <a:xfrm>
            <a:off x="6165669" y="5225143"/>
            <a:ext cx="1567543" cy="836023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o40: T / V / D"/>
          <p:cNvSpPr txBox="1"/>
          <p:nvPr/>
        </p:nvSpPr>
        <p:spPr>
          <a:xfrm>
            <a:off x="6379622" y="5295369"/>
            <a:ext cx="113963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41" name="o41: 64 B"/>
          <p:cNvSpPr txBox="1"/>
          <p:nvPr/>
        </p:nvSpPr>
        <p:spPr>
          <a:xfrm>
            <a:off x="6590987" y="5650678"/>
            <a:ext cx="71690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cxnSp>
        <p:nvCxnSpPr>
          <p:cNvPr id="42" name="cell-sep-0-2"/>
          <p:cNvCxnSpPr/>
          <p:nvPr/>
        </p:nvCxnSpPr>
        <p:spPr>
          <a:xfrm>
            <a:off x="6165669" y="5643154"/>
            <a:ext cx="1567542" cy="0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sp>
        <p:nvSpPr>
          <p:cNvPr id="43" name="cell-0-3"/>
          <p:cNvSpPr/>
          <p:nvPr/>
        </p:nvSpPr>
        <p:spPr>
          <a:xfrm>
            <a:off x="7942217" y="5225143"/>
            <a:ext cx="1567543" cy="836023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o44: T / V / D"/>
          <p:cNvSpPr txBox="1"/>
          <p:nvPr/>
        </p:nvSpPr>
        <p:spPr>
          <a:xfrm>
            <a:off x="8156170" y="5295369"/>
            <a:ext cx="113963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45" name="o45: 64 B"/>
          <p:cNvSpPr txBox="1"/>
          <p:nvPr/>
        </p:nvSpPr>
        <p:spPr>
          <a:xfrm>
            <a:off x="8367536" y="5650678"/>
            <a:ext cx="71690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cxnSp>
        <p:nvCxnSpPr>
          <p:cNvPr id="46" name="cell-sep-0-3"/>
          <p:cNvCxnSpPr/>
          <p:nvPr/>
        </p:nvCxnSpPr>
        <p:spPr>
          <a:xfrm>
            <a:off x="7942217" y="5643154"/>
            <a:ext cx="1567543" cy="0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sp>
        <p:nvSpPr>
          <p:cNvPr id="47" name="cell-0-4"/>
          <p:cNvSpPr/>
          <p:nvPr/>
        </p:nvSpPr>
        <p:spPr>
          <a:xfrm>
            <a:off x="9718766" y="5225143"/>
            <a:ext cx="1567543" cy="836023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o48: T / V / D"/>
          <p:cNvSpPr txBox="1"/>
          <p:nvPr/>
        </p:nvSpPr>
        <p:spPr>
          <a:xfrm>
            <a:off x="9932719" y="5295369"/>
            <a:ext cx="113963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49" name="o49: 64 B"/>
          <p:cNvSpPr txBox="1"/>
          <p:nvPr/>
        </p:nvSpPr>
        <p:spPr>
          <a:xfrm>
            <a:off x="10144084" y="5650678"/>
            <a:ext cx="71690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cxnSp>
        <p:nvCxnSpPr>
          <p:cNvPr id="50" name="cell-sep-0-4"/>
          <p:cNvCxnSpPr/>
          <p:nvPr/>
        </p:nvCxnSpPr>
        <p:spPr>
          <a:xfrm>
            <a:off x="9718766" y="5643154"/>
            <a:ext cx="1567543" cy="0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sp>
        <p:nvSpPr>
          <p:cNvPr id="51" name="cell-0-5"/>
          <p:cNvSpPr/>
          <p:nvPr/>
        </p:nvSpPr>
        <p:spPr>
          <a:xfrm>
            <a:off x="11495314" y="5225143"/>
            <a:ext cx="1567543" cy="836023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o52: T / V / D"/>
          <p:cNvSpPr txBox="1"/>
          <p:nvPr/>
        </p:nvSpPr>
        <p:spPr>
          <a:xfrm>
            <a:off x="11709268" y="5295369"/>
            <a:ext cx="113963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53" name="o53: 64 B"/>
          <p:cNvSpPr txBox="1"/>
          <p:nvPr/>
        </p:nvSpPr>
        <p:spPr>
          <a:xfrm>
            <a:off x="11920633" y="5650678"/>
            <a:ext cx="71690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cxnSp>
        <p:nvCxnSpPr>
          <p:cNvPr id="54" name="cell-sep-0-5"/>
          <p:cNvCxnSpPr/>
          <p:nvPr/>
        </p:nvCxnSpPr>
        <p:spPr>
          <a:xfrm>
            <a:off x="11495314" y="5643154"/>
            <a:ext cx="1567543" cy="0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sp>
        <p:nvSpPr>
          <p:cNvPr id="55" name="cell-0-6"/>
          <p:cNvSpPr/>
          <p:nvPr/>
        </p:nvSpPr>
        <p:spPr>
          <a:xfrm>
            <a:off x="13271863" y="5225143"/>
            <a:ext cx="1567543" cy="836023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o56: T / V / D"/>
          <p:cNvSpPr txBox="1"/>
          <p:nvPr/>
        </p:nvSpPr>
        <p:spPr>
          <a:xfrm>
            <a:off x="13485816" y="5295369"/>
            <a:ext cx="113963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57" name="o57: 64 B"/>
          <p:cNvSpPr txBox="1"/>
          <p:nvPr/>
        </p:nvSpPr>
        <p:spPr>
          <a:xfrm>
            <a:off x="13697181" y="5650678"/>
            <a:ext cx="71690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cxnSp>
        <p:nvCxnSpPr>
          <p:cNvPr id="58" name="cell-sep-0-6"/>
          <p:cNvCxnSpPr/>
          <p:nvPr/>
        </p:nvCxnSpPr>
        <p:spPr>
          <a:xfrm>
            <a:off x="13271863" y="5643154"/>
            <a:ext cx="1567543" cy="0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sp>
        <p:nvSpPr>
          <p:cNvPr id="59" name="cell-0-7"/>
          <p:cNvSpPr/>
          <p:nvPr/>
        </p:nvSpPr>
        <p:spPr>
          <a:xfrm>
            <a:off x="15048411" y="5225143"/>
            <a:ext cx="1567543" cy="836023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o60: T / V / D"/>
          <p:cNvSpPr txBox="1"/>
          <p:nvPr/>
        </p:nvSpPr>
        <p:spPr>
          <a:xfrm>
            <a:off x="15262365" y="5295369"/>
            <a:ext cx="113963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61" name="o61: 64 B"/>
          <p:cNvSpPr txBox="1"/>
          <p:nvPr/>
        </p:nvSpPr>
        <p:spPr>
          <a:xfrm>
            <a:off x="15473730" y="5650678"/>
            <a:ext cx="71690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cxnSp>
        <p:nvCxnSpPr>
          <p:cNvPr id="62" name="cell-sep-0-7"/>
          <p:cNvCxnSpPr/>
          <p:nvPr/>
        </p:nvCxnSpPr>
        <p:spPr>
          <a:xfrm>
            <a:off x="15048411" y="5643154"/>
            <a:ext cx="1567543" cy="0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sp>
        <p:nvSpPr>
          <p:cNvPr id="63" name="o63: 组 1"/>
          <p:cNvSpPr txBox="1"/>
          <p:nvPr/>
        </p:nvSpPr>
        <p:spPr>
          <a:xfrm>
            <a:off x="1001742" y="6571558"/>
            <a:ext cx="818094" cy="45145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21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组 1</a:t>
            </a:r>
          </a:p>
        </p:txBody>
      </p:sp>
      <p:sp>
        <p:nvSpPr>
          <p:cNvPr id="64" name="cell-1-0"/>
          <p:cNvSpPr/>
          <p:nvPr/>
        </p:nvSpPr>
        <p:spPr>
          <a:xfrm>
            <a:off x="2612571" y="6374674"/>
            <a:ext cx="1567543" cy="836023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o65: T / V / D"/>
          <p:cNvSpPr txBox="1"/>
          <p:nvPr/>
        </p:nvSpPr>
        <p:spPr>
          <a:xfrm>
            <a:off x="2826525" y="6444900"/>
            <a:ext cx="113963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66" name="o66: 64 B"/>
          <p:cNvSpPr txBox="1"/>
          <p:nvPr/>
        </p:nvSpPr>
        <p:spPr>
          <a:xfrm>
            <a:off x="3037890" y="6800210"/>
            <a:ext cx="71690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cxnSp>
        <p:nvCxnSpPr>
          <p:cNvPr id="67" name="cell-sep-1-0"/>
          <p:cNvCxnSpPr/>
          <p:nvPr/>
        </p:nvCxnSpPr>
        <p:spPr>
          <a:xfrm>
            <a:off x="2612571" y="6792686"/>
            <a:ext cx="1567543" cy="0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sp>
        <p:nvSpPr>
          <p:cNvPr id="68" name="cell-1-1"/>
          <p:cNvSpPr/>
          <p:nvPr/>
        </p:nvSpPr>
        <p:spPr>
          <a:xfrm>
            <a:off x="4389120" y="6374674"/>
            <a:ext cx="1567543" cy="836023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o69: T / V / D"/>
          <p:cNvSpPr txBox="1"/>
          <p:nvPr/>
        </p:nvSpPr>
        <p:spPr>
          <a:xfrm>
            <a:off x="4603073" y="6444900"/>
            <a:ext cx="113963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70" name="o70: 64 B"/>
          <p:cNvSpPr txBox="1"/>
          <p:nvPr/>
        </p:nvSpPr>
        <p:spPr>
          <a:xfrm>
            <a:off x="4814438" y="6800210"/>
            <a:ext cx="71690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cxnSp>
        <p:nvCxnSpPr>
          <p:cNvPr id="71" name="cell-sep-1-1"/>
          <p:cNvCxnSpPr/>
          <p:nvPr/>
        </p:nvCxnSpPr>
        <p:spPr>
          <a:xfrm>
            <a:off x="4389120" y="6792686"/>
            <a:ext cx="1567543" cy="0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sp>
        <p:nvSpPr>
          <p:cNvPr id="72" name="cell-1-2"/>
          <p:cNvSpPr/>
          <p:nvPr/>
        </p:nvSpPr>
        <p:spPr>
          <a:xfrm>
            <a:off x="6165669" y="6374674"/>
            <a:ext cx="1567543" cy="836023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o73: T / V / D"/>
          <p:cNvSpPr txBox="1"/>
          <p:nvPr/>
        </p:nvSpPr>
        <p:spPr>
          <a:xfrm>
            <a:off x="6379622" y="6444900"/>
            <a:ext cx="113963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74" name="o74: 64 B"/>
          <p:cNvSpPr txBox="1"/>
          <p:nvPr/>
        </p:nvSpPr>
        <p:spPr>
          <a:xfrm>
            <a:off x="6590987" y="6800210"/>
            <a:ext cx="71690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cxnSp>
        <p:nvCxnSpPr>
          <p:cNvPr id="75" name="cell-sep-1-2"/>
          <p:cNvCxnSpPr/>
          <p:nvPr/>
        </p:nvCxnSpPr>
        <p:spPr>
          <a:xfrm>
            <a:off x="6165669" y="6792686"/>
            <a:ext cx="1567542" cy="0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sp>
        <p:nvSpPr>
          <p:cNvPr id="76" name="cell-1-3"/>
          <p:cNvSpPr/>
          <p:nvPr/>
        </p:nvSpPr>
        <p:spPr>
          <a:xfrm>
            <a:off x="7942217" y="6374674"/>
            <a:ext cx="1567543" cy="836023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o77: T / V / D"/>
          <p:cNvSpPr txBox="1"/>
          <p:nvPr/>
        </p:nvSpPr>
        <p:spPr>
          <a:xfrm>
            <a:off x="8156170" y="6444900"/>
            <a:ext cx="113963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78" name="o78: 64 B"/>
          <p:cNvSpPr txBox="1"/>
          <p:nvPr/>
        </p:nvSpPr>
        <p:spPr>
          <a:xfrm>
            <a:off x="8367536" y="6800210"/>
            <a:ext cx="71690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cxnSp>
        <p:nvCxnSpPr>
          <p:cNvPr id="79" name="cell-sep-1-3"/>
          <p:cNvCxnSpPr/>
          <p:nvPr/>
        </p:nvCxnSpPr>
        <p:spPr>
          <a:xfrm>
            <a:off x="7942217" y="6792686"/>
            <a:ext cx="1567543" cy="0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sp>
        <p:nvSpPr>
          <p:cNvPr id="80" name="cell-1-4"/>
          <p:cNvSpPr/>
          <p:nvPr/>
        </p:nvSpPr>
        <p:spPr>
          <a:xfrm>
            <a:off x="9718766" y="6374674"/>
            <a:ext cx="1567543" cy="836023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o81: T / V / D"/>
          <p:cNvSpPr txBox="1"/>
          <p:nvPr/>
        </p:nvSpPr>
        <p:spPr>
          <a:xfrm>
            <a:off x="9932719" y="6444900"/>
            <a:ext cx="113963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82" name="o82: 64 B"/>
          <p:cNvSpPr txBox="1"/>
          <p:nvPr/>
        </p:nvSpPr>
        <p:spPr>
          <a:xfrm>
            <a:off x="10144084" y="6800210"/>
            <a:ext cx="71690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cxnSp>
        <p:nvCxnSpPr>
          <p:cNvPr id="83" name="cell-sep-1-4"/>
          <p:cNvCxnSpPr/>
          <p:nvPr/>
        </p:nvCxnSpPr>
        <p:spPr>
          <a:xfrm>
            <a:off x="9718766" y="6792686"/>
            <a:ext cx="1567543" cy="0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sp>
        <p:nvSpPr>
          <p:cNvPr id="84" name="cell-1-5"/>
          <p:cNvSpPr/>
          <p:nvPr/>
        </p:nvSpPr>
        <p:spPr>
          <a:xfrm>
            <a:off x="11495314" y="6374674"/>
            <a:ext cx="1567543" cy="836023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o85: T / V / D"/>
          <p:cNvSpPr txBox="1"/>
          <p:nvPr/>
        </p:nvSpPr>
        <p:spPr>
          <a:xfrm>
            <a:off x="11709268" y="6444900"/>
            <a:ext cx="113963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86" name="o86: 64 B"/>
          <p:cNvSpPr txBox="1"/>
          <p:nvPr/>
        </p:nvSpPr>
        <p:spPr>
          <a:xfrm>
            <a:off x="11920633" y="6800210"/>
            <a:ext cx="71690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cxnSp>
        <p:nvCxnSpPr>
          <p:cNvPr id="87" name="cell-sep-1-5"/>
          <p:cNvCxnSpPr/>
          <p:nvPr/>
        </p:nvCxnSpPr>
        <p:spPr>
          <a:xfrm>
            <a:off x="11495314" y="6792686"/>
            <a:ext cx="1567543" cy="0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sp>
        <p:nvSpPr>
          <p:cNvPr id="88" name="cell-1-6"/>
          <p:cNvSpPr/>
          <p:nvPr/>
        </p:nvSpPr>
        <p:spPr>
          <a:xfrm>
            <a:off x="13271863" y="6374674"/>
            <a:ext cx="1567543" cy="836023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o89: T / V / D"/>
          <p:cNvSpPr txBox="1"/>
          <p:nvPr/>
        </p:nvSpPr>
        <p:spPr>
          <a:xfrm>
            <a:off x="13485816" y="6444900"/>
            <a:ext cx="113963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90" name="o90: 64 B"/>
          <p:cNvSpPr txBox="1"/>
          <p:nvPr/>
        </p:nvSpPr>
        <p:spPr>
          <a:xfrm>
            <a:off x="13697181" y="6800210"/>
            <a:ext cx="71690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cxnSp>
        <p:nvCxnSpPr>
          <p:cNvPr id="91" name="cell-sep-1-6"/>
          <p:cNvCxnSpPr/>
          <p:nvPr/>
        </p:nvCxnSpPr>
        <p:spPr>
          <a:xfrm>
            <a:off x="13271863" y="6792686"/>
            <a:ext cx="1567543" cy="0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sp>
        <p:nvSpPr>
          <p:cNvPr id="92" name="cell-1-7"/>
          <p:cNvSpPr/>
          <p:nvPr/>
        </p:nvSpPr>
        <p:spPr>
          <a:xfrm>
            <a:off x="15048411" y="6374674"/>
            <a:ext cx="1567543" cy="836023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o93: T / V / D"/>
          <p:cNvSpPr txBox="1"/>
          <p:nvPr/>
        </p:nvSpPr>
        <p:spPr>
          <a:xfrm>
            <a:off x="15262365" y="6444900"/>
            <a:ext cx="113963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94" name="o94: 64 B"/>
          <p:cNvSpPr txBox="1"/>
          <p:nvPr/>
        </p:nvSpPr>
        <p:spPr>
          <a:xfrm>
            <a:off x="15473730" y="6800210"/>
            <a:ext cx="71690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cxnSp>
        <p:nvCxnSpPr>
          <p:cNvPr id="95" name="cell-sep-1-7"/>
          <p:cNvCxnSpPr/>
          <p:nvPr/>
        </p:nvCxnSpPr>
        <p:spPr>
          <a:xfrm>
            <a:off x="15048411" y="6792686"/>
            <a:ext cx="1567543" cy="0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sp>
        <p:nvSpPr>
          <p:cNvPr id="96" name="o96: 组 42"/>
          <p:cNvSpPr txBox="1"/>
          <p:nvPr/>
        </p:nvSpPr>
        <p:spPr>
          <a:xfrm>
            <a:off x="917151" y="7721089"/>
            <a:ext cx="987274" cy="45145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21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组 42</a:t>
            </a:r>
          </a:p>
        </p:txBody>
      </p:sp>
      <p:sp>
        <p:nvSpPr>
          <p:cNvPr id="97" name="cell-2-0"/>
          <p:cNvSpPr/>
          <p:nvPr/>
        </p:nvSpPr>
        <p:spPr>
          <a:xfrm>
            <a:off x="2612571" y="7524206"/>
            <a:ext cx="1567543" cy="836023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o98: T / V / D"/>
          <p:cNvSpPr txBox="1"/>
          <p:nvPr/>
        </p:nvSpPr>
        <p:spPr>
          <a:xfrm>
            <a:off x="2826525" y="7594432"/>
            <a:ext cx="113963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99" name="o99: 64 B"/>
          <p:cNvSpPr txBox="1"/>
          <p:nvPr/>
        </p:nvSpPr>
        <p:spPr>
          <a:xfrm>
            <a:off x="3037890" y="7949741"/>
            <a:ext cx="71690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cxnSp>
        <p:nvCxnSpPr>
          <p:cNvPr id="100" name="cell-sep-2-0"/>
          <p:cNvCxnSpPr/>
          <p:nvPr/>
        </p:nvCxnSpPr>
        <p:spPr>
          <a:xfrm>
            <a:off x="2612571" y="7942217"/>
            <a:ext cx="1567543" cy="0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sp>
        <p:nvSpPr>
          <p:cNvPr id="101" name="cell-2-1"/>
          <p:cNvSpPr/>
          <p:nvPr/>
        </p:nvSpPr>
        <p:spPr>
          <a:xfrm>
            <a:off x="4389120" y="7524206"/>
            <a:ext cx="1567543" cy="836023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o102: T / V / D"/>
          <p:cNvSpPr txBox="1"/>
          <p:nvPr/>
        </p:nvSpPr>
        <p:spPr>
          <a:xfrm>
            <a:off x="4603073" y="7594432"/>
            <a:ext cx="113963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03" name="o103: 64 B"/>
          <p:cNvSpPr txBox="1"/>
          <p:nvPr/>
        </p:nvSpPr>
        <p:spPr>
          <a:xfrm>
            <a:off x="4814438" y="7949741"/>
            <a:ext cx="71690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cxnSp>
        <p:nvCxnSpPr>
          <p:cNvPr id="104" name="cell-sep-2-1"/>
          <p:cNvCxnSpPr/>
          <p:nvPr/>
        </p:nvCxnSpPr>
        <p:spPr>
          <a:xfrm>
            <a:off x="4389120" y="7942217"/>
            <a:ext cx="1567543" cy="0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sp>
        <p:nvSpPr>
          <p:cNvPr id="105" name="cell-2-2"/>
          <p:cNvSpPr/>
          <p:nvPr/>
        </p:nvSpPr>
        <p:spPr>
          <a:xfrm>
            <a:off x="6165669" y="7524206"/>
            <a:ext cx="1567543" cy="836023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o106: T / V / D"/>
          <p:cNvSpPr txBox="1"/>
          <p:nvPr/>
        </p:nvSpPr>
        <p:spPr>
          <a:xfrm>
            <a:off x="6379622" y="7594432"/>
            <a:ext cx="113963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07" name="o107: 64 B"/>
          <p:cNvSpPr txBox="1"/>
          <p:nvPr/>
        </p:nvSpPr>
        <p:spPr>
          <a:xfrm>
            <a:off x="6590987" y="7949741"/>
            <a:ext cx="71690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cxnSp>
        <p:nvCxnSpPr>
          <p:cNvPr id="108" name="cell-sep-2-2"/>
          <p:cNvCxnSpPr/>
          <p:nvPr/>
        </p:nvCxnSpPr>
        <p:spPr>
          <a:xfrm>
            <a:off x="6165669" y="7942217"/>
            <a:ext cx="1567542" cy="0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sp>
        <p:nvSpPr>
          <p:cNvPr id="109" name="cell-2-3"/>
          <p:cNvSpPr/>
          <p:nvPr/>
        </p:nvSpPr>
        <p:spPr>
          <a:xfrm>
            <a:off x="7942217" y="7524206"/>
            <a:ext cx="1567543" cy="836023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o110: T / V / D"/>
          <p:cNvSpPr txBox="1"/>
          <p:nvPr/>
        </p:nvSpPr>
        <p:spPr>
          <a:xfrm>
            <a:off x="8156170" y="7594432"/>
            <a:ext cx="113963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11" name="o111: 64 B"/>
          <p:cNvSpPr txBox="1"/>
          <p:nvPr/>
        </p:nvSpPr>
        <p:spPr>
          <a:xfrm>
            <a:off x="8367536" y="7949741"/>
            <a:ext cx="71690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cxnSp>
        <p:nvCxnSpPr>
          <p:cNvPr id="112" name="cell-sep-2-3"/>
          <p:cNvCxnSpPr/>
          <p:nvPr/>
        </p:nvCxnSpPr>
        <p:spPr>
          <a:xfrm>
            <a:off x="7942217" y="7942217"/>
            <a:ext cx="1567543" cy="0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sp>
        <p:nvSpPr>
          <p:cNvPr id="113" name="cell-2-4"/>
          <p:cNvSpPr/>
          <p:nvPr/>
        </p:nvSpPr>
        <p:spPr>
          <a:xfrm>
            <a:off x="9718766" y="7524206"/>
            <a:ext cx="1567543" cy="836023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o114: T / V / D"/>
          <p:cNvSpPr txBox="1"/>
          <p:nvPr/>
        </p:nvSpPr>
        <p:spPr>
          <a:xfrm>
            <a:off x="9932719" y="7594432"/>
            <a:ext cx="113963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15" name="o115: 64 B"/>
          <p:cNvSpPr txBox="1"/>
          <p:nvPr/>
        </p:nvSpPr>
        <p:spPr>
          <a:xfrm>
            <a:off x="10144084" y="7949741"/>
            <a:ext cx="71690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cxnSp>
        <p:nvCxnSpPr>
          <p:cNvPr id="116" name="cell-sep-2-4"/>
          <p:cNvCxnSpPr/>
          <p:nvPr/>
        </p:nvCxnSpPr>
        <p:spPr>
          <a:xfrm>
            <a:off x="9718766" y="7942217"/>
            <a:ext cx="1567543" cy="0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sp>
        <p:nvSpPr>
          <p:cNvPr id="117" name="cell-2-5"/>
          <p:cNvSpPr/>
          <p:nvPr/>
        </p:nvSpPr>
        <p:spPr>
          <a:xfrm>
            <a:off x="11495314" y="7524206"/>
            <a:ext cx="1567543" cy="836023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o118: T / V / D"/>
          <p:cNvSpPr txBox="1"/>
          <p:nvPr/>
        </p:nvSpPr>
        <p:spPr>
          <a:xfrm>
            <a:off x="11709268" y="7594432"/>
            <a:ext cx="113963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19" name="o119: 64 B"/>
          <p:cNvSpPr txBox="1"/>
          <p:nvPr/>
        </p:nvSpPr>
        <p:spPr>
          <a:xfrm>
            <a:off x="11920633" y="7949741"/>
            <a:ext cx="71690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cxnSp>
        <p:nvCxnSpPr>
          <p:cNvPr id="120" name="cell-sep-2-5"/>
          <p:cNvCxnSpPr/>
          <p:nvPr/>
        </p:nvCxnSpPr>
        <p:spPr>
          <a:xfrm>
            <a:off x="11495314" y="7942217"/>
            <a:ext cx="1567543" cy="0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sp>
        <p:nvSpPr>
          <p:cNvPr id="121" name="cell-2-6"/>
          <p:cNvSpPr/>
          <p:nvPr/>
        </p:nvSpPr>
        <p:spPr>
          <a:xfrm>
            <a:off x="13271863" y="7524206"/>
            <a:ext cx="1567543" cy="836023"/>
          </a:xfrm>
          <a:prstGeom prst="rect">
            <a:avLst/>
          </a:prstGeom>
          <a:solidFill>
            <a:srgbClr val="D9EEE8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o122: T / V / D"/>
          <p:cNvSpPr txBox="1"/>
          <p:nvPr/>
        </p:nvSpPr>
        <p:spPr>
          <a:xfrm>
            <a:off x="13485816" y="7594432"/>
            <a:ext cx="113963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23" name="o123: 64 B"/>
          <p:cNvSpPr txBox="1"/>
          <p:nvPr/>
        </p:nvSpPr>
        <p:spPr>
          <a:xfrm>
            <a:off x="13697181" y="7949741"/>
            <a:ext cx="71690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cxnSp>
        <p:nvCxnSpPr>
          <p:cNvPr id="124" name="cell-sep-2-6"/>
          <p:cNvCxnSpPr/>
          <p:nvPr/>
        </p:nvCxnSpPr>
        <p:spPr>
          <a:xfrm>
            <a:off x="13271863" y="7942217"/>
            <a:ext cx="1567543" cy="0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sp>
        <p:nvSpPr>
          <p:cNvPr id="125" name="cell-2-7"/>
          <p:cNvSpPr/>
          <p:nvPr/>
        </p:nvSpPr>
        <p:spPr>
          <a:xfrm>
            <a:off x="15048411" y="7524206"/>
            <a:ext cx="1567543" cy="836023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o126: T / V / D"/>
          <p:cNvSpPr txBox="1"/>
          <p:nvPr/>
        </p:nvSpPr>
        <p:spPr>
          <a:xfrm>
            <a:off x="15262365" y="7594432"/>
            <a:ext cx="113963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27" name="o127: 64 B"/>
          <p:cNvSpPr txBox="1"/>
          <p:nvPr/>
        </p:nvSpPr>
        <p:spPr>
          <a:xfrm>
            <a:off x="15473730" y="7949741"/>
            <a:ext cx="71690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cxnSp>
        <p:nvCxnSpPr>
          <p:cNvPr id="128" name="cell-sep-2-7"/>
          <p:cNvCxnSpPr/>
          <p:nvPr/>
        </p:nvCxnSpPr>
        <p:spPr>
          <a:xfrm>
            <a:off x="15048411" y="7942217"/>
            <a:ext cx="1567543" cy="0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sp>
        <p:nvSpPr>
          <p:cNvPr id="129" name="o129: 组 255"/>
          <p:cNvSpPr txBox="1"/>
          <p:nvPr/>
        </p:nvSpPr>
        <p:spPr>
          <a:xfrm>
            <a:off x="832561" y="9758895"/>
            <a:ext cx="1156455" cy="45145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21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组 255</a:t>
            </a:r>
          </a:p>
        </p:txBody>
      </p:sp>
      <p:sp>
        <p:nvSpPr>
          <p:cNvPr id="130" name="cell-3-0"/>
          <p:cNvSpPr/>
          <p:nvPr/>
        </p:nvSpPr>
        <p:spPr>
          <a:xfrm>
            <a:off x="2612571" y="9562011"/>
            <a:ext cx="1567543" cy="836023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o131: T / V / D"/>
          <p:cNvSpPr txBox="1"/>
          <p:nvPr/>
        </p:nvSpPr>
        <p:spPr>
          <a:xfrm>
            <a:off x="2826525" y="9632237"/>
            <a:ext cx="113963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32" name="o132: 64 B"/>
          <p:cNvSpPr txBox="1"/>
          <p:nvPr/>
        </p:nvSpPr>
        <p:spPr>
          <a:xfrm>
            <a:off x="3037890" y="9987547"/>
            <a:ext cx="71690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cxnSp>
        <p:nvCxnSpPr>
          <p:cNvPr id="133" name="cell-sep-3-0"/>
          <p:cNvCxnSpPr/>
          <p:nvPr/>
        </p:nvCxnSpPr>
        <p:spPr>
          <a:xfrm>
            <a:off x="2612571" y="9980023"/>
            <a:ext cx="1567543" cy="0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sp>
        <p:nvSpPr>
          <p:cNvPr id="134" name="cell-3-1"/>
          <p:cNvSpPr/>
          <p:nvPr/>
        </p:nvSpPr>
        <p:spPr>
          <a:xfrm>
            <a:off x="4389120" y="9562011"/>
            <a:ext cx="1567543" cy="836023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o135: T / V / D"/>
          <p:cNvSpPr txBox="1"/>
          <p:nvPr/>
        </p:nvSpPr>
        <p:spPr>
          <a:xfrm>
            <a:off x="4603073" y="9632237"/>
            <a:ext cx="113963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36" name="o136: 64 B"/>
          <p:cNvSpPr txBox="1"/>
          <p:nvPr/>
        </p:nvSpPr>
        <p:spPr>
          <a:xfrm>
            <a:off x="4814438" y="9987547"/>
            <a:ext cx="71690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cxnSp>
        <p:nvCxnSpPr>
          <p:cNvPr id="137" name="cell-sep-3-1"/>
          <p:cNvCxnSpPr/>
          <p:nvPr/>
        </p:nvCxnSpPr>
        <p:spPr>
          <a:xfrm>
            <a:off x="4389120" y="9980023"/>
            <a:ext cx="1567543" cy="0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sp>
        <p:nvSpPr>
          <p:cNvPr id="138" name="cell-3-2"/>
          <p:cNvSpPr/>
          <p:nvPr/>
        </p:nvSpPr>
        <p:spPr>
          <a:xfrm>
            <a:off x="6165669" y="9562011"/>
            <a:ext cx="1567543" cy="836023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" name="o139: T / V / D"/>
          <p:cNvSpPr txBox="1"/>
          <p:nvPr/>
        </p:nvSpPr>
        <p:spPr>
          <a:xfrm>
            <a:off x="6379622" y="9632237"/>
            <a:ext cx="113963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40" name="o140: 64 B"/>
          <p:cNvSpPr txBox="1"/>
          <p:nvPr/>
        </p:nvSpPr>
        <p:spPr>
          <a:xfrm>
            <a:off x="6590987" y="9987547"/>
            <a:ext cx="71690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cxnSp>
        <p:nvCxnSpPr>
          <p:cNvPr id="141" name="cell-sep-3-2"/>
          <p:cNvCxnSpPr/>
          <p:nvPr/>
        </p:nvCxnSpPr>
        <p:spPr>
          <a:xfrm>
            <a:off x="6165669" y="9980023"/>
            <a:ext cx="1567542" cy="0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sp>
        <p:nvSpPr>
          <p:cNvPr id="142" name="cell-3-3"/>
          <p:cNvSpPr/>
          <p:nvPr/>
        </p:nvSpPr>
        <p:spPr>
          <a:xfrm>
            <a:off x="7942217" y="9562011"/>
            <a:ext cx="1567543" cy="836023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o143: T / V / D"/>
          <p:cNvSpPr txBox="1"/>
          <p:nvPr/>
        </p:nvSpPr>
        <p:spPr>
          <a:xfrm>
            <a:off x="8156170" y="9632237"/>
            <a:ext cx="113963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44" name="o144: 64 B"/>
          <p:cNvSpPr txBox="1"/>
          <p:nvPr/>
        </p:nvSpPr>
        <p:spPr>
          <a:xfrm>
            <a:off x="8367536" y="9987547"/>
            <a:ext cx="71690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cxnSp>
        <p:nvCxnSpPr>
          <p:cNvPr id="145" name="cell-sep-3-3"/>
          <p:cNvCxnSpPr/>
          <p:nvPr/>
        </p:nvCxnSpPr>
        <p:spPr>
          <a:xfrm>
            <a:off x="7942217" y="9980023"/>
            <a:ext cx="1567543" cy="0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sp>
        <p:nvSpPr>
          <p:cNvPr id="146" name="cell-3-4"/>
          <p:cNvSpPr/>
          <p:nvPr/>
        </p:nvSpPr>
        <p:spPr>
          <a:xfrm>
            <a:off x="9718766" y="9562011"/>
            <a:ext cx="1567543" cy="836023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7" name="o147: T / V / D"/>
          <p:cNvSpPr txBox="1"/>
          <p:nvPr/>
        </p:nvSpPr>
        <p:spPr>
          <a:xfrm>
            <a:off x="9932719" y="9632237"/>
            <a:ext cx="113963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48" name="o148: 64 B"/>
          <p:cNvSpPr txBox="1"/>
          <p:nvPr/>
        </p:nvSpPr>
        <p:spPr>
          <a:xfrm>
            <a:off x="10144084" y="9987547"/>
            <a:ext cx="71690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cxnSp>
        <p:nvCxnSpPr>
          <p:cNvPr id="149" name="cell-sep-3-4"/>
          <p:cNvCxnSpPr/>
          <p:nvPr/>
        </p:nvCxnSpPr>
        <p:spPr>
          <a:xfrm>
            <a:off x="9718766" y="9980023"/>
            <a:ext cx="1567543" cy="0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sp>
        <p:nvSpPr>
          <p:cNvPr id="150" name="cell-3-5"/>
          <p:cNvSpPr/>
          <p:nvPr/>
        </p:nvSpPr>
        <p:spPr>
          <a:xfrm>
            <a:off x="11495314" y="9562011"/>
            <a:ext cx="1567543" cy="836023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1" name="o151: T / V / D"/>
          <p:cNvSpPr txBox="1"/>
          <p:nvPr/>
        </p:nvSpPr>
        <p:spPr>
          <a:xfrm>
            <a:off x="11709268" y="9632237"/>
            <a:ext cx="113963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52" name="o152: 64 B"/>
          <p:cNvSpPr txBox="1"/>
          <p:nvPr/>
        </p:nvSpPr>
        <p:spPr>
          <a:xfrm>
            <a:off x="11920633" y="9987547"/>
            <a:ext cx="71690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cxnSp>
        <p:nvCxnSpPr>
          <p:cNvPr id="153" name="cell-sep-3-5"/>
          <p:cNvCxnSpPr/>
          <p:nvPr/>
        </p:nvCxnSpPr>
        <p:spPr>
          <a:xfrm>
            <a:off x="11495314" y="9980023"/>
            <a:ext cx="1567543" cy="0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sp>
        <p:nvSpPr>
          <p:cNvPr id="154" name="cell-3-6"/>
          <p:cNvSpPr/>
          <p:nvPr/>
        </p:nvSpPr>
        <p:spPr>
          <a:xfrm>
            <a:off x="13271863" y="9562011"/>
            <a:ext cx="1567543" cy="836023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" name="o155: T / V / D"/>
          <p:cNvSpPr txBox="1"/>
          <p:nvPr/>
        </p:nvSpPr>
        <p:spPr>
          <a:xfrm>
            <a:off x="13485816" y="9632237"/>
            <a:ext cx="113963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56" name="o156: 64 B"/>
          <p:cNvSpPr txBox="1"/>
          <p:nvPr/>
        </p:nvSpPr>
        <p:spPr>
          <a:xfrm>
            <a:off x="13697181" y="9987547"/>
            <a:ext cx="71690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cxnSp>
        <p:nvCxnSpPr>
          <p:cNvPr id="157" name="cell-sep-3-6"/>
          <p:cNvCxnSpPr/>
          <p:nvPr/>
        </p:nvCxnSpPr>
        <p:spPr>
          <a:xfrm>
            <a:off x="13271863" y="9980023"/>
            <a:ext cx="1567543" cy="0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sp>
        <p:nvSpPr>
          <p:cNvPr id="158" name="cell-3-7"/>
          <p:cNvSpPr/>
          <p:nvPr/>
        </p:nvSpPr>
        <p:spPr>
          <a:xfrm>
            <a:off x="15048411" y="9562011"/>
            <a:ext cx="1567543" cy="836023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9" name="o159: T / V / D"/>
          <p:cNvSpPr txBox="1"/>
          <p:nvPr/>
        </p:nvSpPr>
        <p:spPr>
          <a:xfrm>
            <a:off x="15262365" y="9632237"/>
            <a:ext cx="113963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60" name="o160: 64 B"/>
          <p:cNvSpPr txBox="1"/>
          <p:nvPr/>
        </p:nvSpPr>
        <p:spPr>
          <a:xfrm>
            <a:off x="15473730" y="9987547"/>
            <a:ext cx="716906" cy="367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1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cxnSp>
        <p:nvCxnSpPr>
          <p:cNvPr id="161" name="cell-sep-3-7"/>
          <p:cNvCxnSpPr/>
          <p:nvPr/>
        </p:nvCxnSpPr>
        <p:spPr>
          <a:xfrm>
            <a:off x="15048411" y="9980023"/>
            <a:ext cx="1567543" cy="0"/>
          </a:xfrm>
          <a:prstGeom prst="line">
            <a:avLst/>
          </a:prstGeom>
          <a:ln w="10450" cap="flat">
            <a:solidFill>
              <a:srgbClr val="93939D"/>
            </a:solidFill>
          </a:ln>
          <a:effectLst/>
        </p:spPr>
      </p:cxnSp>
      <p:sp>
        <p:nvSpPr>
          <p:cNvPr id="162" name="ellipsis-0-0"/>
          <p:cNvSpPr/>
          <p:nvPr/>
        </p:nvSpPr>
        <p:spPr>
          <a:xfrm>
            <a:off x="3370217" y="8720763"/>
            <a:ext cx="52251" cy="52251"/>
          </a:xfrm>
          <a:prstGeom prst="ellipse">
            <a:avLst/>
          </a:prstGeom>
          <a:solidFill>
            <a:srgbClr val="6067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3" name="ellipsis-0-1"/>
          <p:cNvSpPr/>
          <p:nvPr/>
        </p:nvSpPr>
        <p:spPr>
          <a:xfrm>
            <a:off x="3370217" y="8856617"/>
            <a:ext cx="52251" cy="52251"/>
          </a:xfrm>
          <a:prstGeom prst="ellipse">
            <a:avLst/>
          </a:prstGeom>
          <a:solidFill>
            <a:srgbClr val="6067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4" name="ellipsis-0-2"/>
          <p:cNvSpPr/>
          <p:nvPr/>
        </p:nvSpPr>
        <p:spPr>
          <a:xfrm>
            <a:off x="3370217" y="8992471"/>
            <a:ext cx="52251" cy="52251"/>
          </a:xfrm>
          <a:prstGeom prst="ellipse">
            <a:avLst/>
          </a:prstGeom>
          <a:solidFill>
            <a:srgbClr val="6067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" name="ellipsis-1-0"/>
          <p:cNvSpPr/>
          <p:nvPr/>
        </p:nvSpPr>
        <p:spPr>
          <a:xfrm>
            <a:off x="5146766" y="8720763"/>
            <a:ext cx="52251" cy="52251"/>
          </a:xfrm>
          <a:prstGeom prst="ellipse">
            <a:avLst/>
          </a:prstGeom>
          <a:solidFill>
            <a:srgbClr val="6067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6" name="ellipsis-1-1"/>
          <p:cNvSpPr/>
          <p:nvPr/>
        </p:nvSpPr>
        <p:spPr>
          <a:xfrm>
            <a:off x="5146766" y="8856617"/>
            <a:ext cx="52251" cy="52251"/>
          </a:xfrm>
          <a:prstGeom prst="ellipse">
            <a:avLst/>
          </a:prstGeom>
          <a:solidFill>
            <a:srgbClr val="6067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7" name="ellipsis-1-2"/>
          <p:cNvSpPr/>
          <p:nvPr/>
        </p:nvSpPr>
        <p:spPr>
          <a:xfrm>
            <a:off x="5146766" y="8992471"/>
            <a:ext cx="52251" cy="52251"/>
          </a:xfrm>
          <a:prstGeom prst="ellipse">
            <a:avLst/>
          </a:prstGeom>
          <a:solidFill>
            <a:srgbClr val="6067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8" name="ellipsis-2-0"/>
          <p:cNvSpPr/>
          <p:nvPr/>
        </p:nvSpPr>
        <p:spPr>
          <a:xfrm>
            <a:off x="6923314" y="8720763"/>
            <a:ext cx="52251" cy="52251"/>
          </a:xfrm>
          <a:prstGeom prst="ellipse">
            <a:avLst/>
          </a:prstGeom>
          <a:solidFill>
            <a:srgbClr val="6067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9" name="ellipsis-2-1"/>
          <p:cNvSpPr/>
          <p:nvPr/>
        </p:nvSpPr>
        <p:spPr>
          <a:xfrm>
            <a:off x="6923314" y="8856617"/>
            <a:ext cx="52251" cy="52251"/>
          </a:xfrm>
          <a:prstGeom prst="ellipse">
            <a:avLst/>
          </a:prstGeom>
          <a:solidFill>
            <a:srgbClr val="6067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0" name="ellipsis-2-2"/>
          <p:cNvSpPr/>
          <p:nvPr/>
        </p:nvSpPr>
        <p:spPr>
          <a:xfrm>
            <a:off x="6923314" y="8992471"/>
            <a:ext cx="52251" cy="52251"/>
          </a:xfrm>
          <a:prstGeom prst="ellipse">
            <a:avLst/>
          </a:prstGeom>
          <a:solidFill>
            <a:srgbClr val="6067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1" name="ellipsis-3-0"/>
          <p:cNvSpPr/>
          <p:nvPr/>
        </p:nvSpPr>
        <p:spPr>
          <a:xfrm>
            <a:off x="8699863" y="8720763"/>
            <a:ext cx="52251" cy="52251"/>
          </a:xfrm>
          <a:prstGeom prst="ellipse">
            <a:avLst/>
          </a:prstGeom>
          <a:solidFill>
            <a:srgbClr val="6067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2" name="ellipsis-3-1"/>
          <p:cNvSpPr/>
          <p:nvPr/>
        </p:nvSpPr>
        <p:spPr>
          <a:xfrm>
            <a:off x="8699863" y="8856617"/>
            <a:ext cx="52251" cy="52251"/>
          </a:xfrm>
          <a:prstGeom prst="ellipse">
            <a:avLst/>
          </a:prstGeom>
          <a:solidFill>
            <a:srgbClr val="6067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3" name="ellipsis-3-2"/>
          <p:cNvSpPr/>
          <p:nvPr/>
        </p:nvSpPr>
        <p:spPr>
          <a:xfrm>
            <a:off x="8699863" y="8992471"/>
            <a:ext cx="52251" cy="52251"/>
          </a:xfrm>
          <a:prstGeom prst="ellipse">
            <a:avLst/>
          </a:prstGeom>
          <a:solidFill>
            <a:srgbClr val="6067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4" name="ellipsis-4-0"/>
          <p:cNvSpPr/>
          <p:nvPr/>
        </p:nvSpPr>
        <p:spPr>
          <a:xfrm>
            <a:off x="10476411" y="8720763"/>
            <a:ext cx="52251" cy="52251"/>
          </a:xfrm>
          <a:prstGeom prst="ellipse">
            <a:avLst/>
          </a:prstGeom>
          <a:solidFill>
            <a:srgbClr val="6067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5" name="ellipsis-4-1"/>
          <p:cNvSpPr/>
          <p:nvPr/>
        </p:nvSpPr>
        <p:spPr>
          <a:xfrm>
            <a:off x="10476411" y="8856617"/>
            <a:ext cx="52251" cy="52251"/>
          </a:xfrm>
          <a:prstGeom prst="ellipse">
            <a:avLst/>
          </a:prstGeom>
          <a:solidFill>
            <a:srgbClr val="6067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6" name="ellipsis-4-2"/>
          <p:cNvSpPr/>
          <p:nvPr/>
        </p:nvSpPr>
        <p:spPr>
          <a:xfrm>
            <a:off x="10476411" y="8992471"/>
            <a:ext cx="52251" cy="52251"/>
          </a:xfrm>
          <a:prstGeom prst="ellipse">
            <a:avLst/>
          </a:prstGeom>
          <a:solidFill>
            <a:srgbClr val="6067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7" name="ellipsis-5-0"/>
          <p:cNvSpPr/>
          <p:nvPr/>
        </p:nvSpPr>
        <p:spPr>
          <a:xfrm>
            <a:off x="12252960" y="8720763"/>
            <a:ext cx="52251" cy="52251"/>
          </a:xfrm>
          <a:prstGeom prst="ellipse">
            <a:avLst/>
          </a:prstGeom>
          <a:solidFill>
            <a:srgbClr val="6067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8" name="ellipsis-5-1"/>
          <p:cNvSpPr/>
          <p:nvPr/>
        </p:nvSpPr>
        <p:spPr>
          <a:xfrm>
            <a:off x="12252960" y="8856617"/>
            <a:ext cx="52251" cy="52251"/>
          </a:xfrm>
          <a:prstGeom prst="ellipse">
            <a:avLst/>
          </a:prstGeom>
          <a:solidFill>
            <a:srgbClr val="6067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9" name="ellipsis-5-2"/>
          <p:cNvSpPr/>
          <p:nvPr/>
        </p:nvSpPr>
        <p:spPr>
          <a:xfrm>
            <a:off x="12252960" y="8992471"/>
            <a:ext cx="52251" cy="52251"/>
          </a:xfrm>
          <a:prstGeom prst="ellipse">
            <a:avLst/>
          </a:prstGeom>
          <a:solidFill>
            <a:srgbClr val="6067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0" name="ellipsis-6-0"/>
          <p:cNvSpPr/>
          <p:nvPr/>
        </p:nvSpPr>
        <p:spPr>
          <a:xfrm>
            <a:off x="14029509" y="8720763"/>
            <a:ext cx="52251" cy="52251"/>
          </a:xfrm>
          <a:prstGeom prst="ellipse">
            <a:avLst/>
          </a:prstGeom>
          <a:solidFill>
            <a:srgbClr val="6067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1" name="ellipsis-6-1"/>
          <p:cNvSpPr/>
          <p:nvPr/>
        </p:nvSpPr>
        <p:spPr>
          <a:xfrm>
            <a:off x="14029509" y="8856617"/>
            <a:ext cx="52251" cy="52251"/>
          </a:xfrm>
          <a:prstGeom prst="ellipse">
            <a:avLst/>
          </a:prstGeom>
          <a:solidFill>
            <a:srgbClr val="6067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2" name="ellipsis-6-2"/>
          <p:cNvSpPr/>
          <p:nvPr/>
        </p:nvSpPr>
        <p:spPr>
          <a:xfrm>
            <a:off x="14029509" y="8992471"/>
            <a:ext cx="52251" cy="52251"/>
          </a:xfrm>
          <a:prstGeom prst="ellipse">
            <a:avLst/>
          </a:prstGeom>
          <a:solidFill>
            <a:srgbClr val="6067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3" name="ellipsis-7-0"/>
          <p:cNvSpPr/>
          <p:nvPr/>
        </p:nvSpPr>
        <p:spPr>
          <a:xfrm>
            <a:off x="15806057" y="8720763"/>
            <a:ext cx="52251" cy="52251"/>
          </a:xfrm>
          <a:prstGeom prst="ellipse">
            <a:avLst/>
          </a:prstGeom>
          <a:solidFill>
            <a:srgbClr val="6067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4" name="ellipsis-7-1"/>
          <p:cNvSpPr/>
          <p:nvPr/>
        </p:nvSpPr>
        <p:spPr>
          <a:xfrm>
            <a:off x="15806057" y="8856617"/>
            <a:ext cx="52251" cy="52251"/>
          </a:xfrm>
          <a:prstGeom prst="ellipse">
            <a:avLst/>
          </a:prstGeom>
          <a:solidFill>
            <a:srgbClr val="6067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5" name="ellipsis-7-2"/>
          <p:cNvSpPr/>
          <p:nvPr/>
        </p:nvSpPr>
        <p:spPr>
          <a:xfrm>
            <a:off x="15806057" y="8992471"/>
            <a:ext cx="52251" cy="52251"/>
          </a:xfrm>
          <a:prstGeom prst="ellipse">
            <a:avLst/>
          </a:prstGeom>
          <a:solidFill>
            <a:srgbClr val="6067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6" name="set-index"/>
          <p:cNvSpPr/>
          <p:nvPr/>
        </p:nvSpPr>
        <p:spPr>
          <a:xfrm>
            <a:off x="2194560" y="4023360"/>
            <a:ext cx="5852160" cy="3918857"/>
          </a:xfrm>
          <a:custGeom>
            <a:avLst/>
            <a:gdLst/>
            <a:ahLst/>
            <a:cxnLst/>
            <a:rect l="0" t="0" r="r" b="b"/>
            <a:pathLst>
              <a:path w="5852160" h="3918857" fill="none">
                <a:moveTo>
                  <a:pt x="5852160" y="0"/>
                </a:moveTo>
                <a:lnTo>
                  <a:pt x="5852160" y="156754"/>
                </a:lnTo>
                <a:lnTo>
                  <a:pt x="0" y="156754"/>
                </a:lnTo>
                <a:lnTo>
                  <a:pt x="0" y="3918857"/>
                </a:lnTo>
                <a:lnTo>
                  <a:pt x="209006" y="3918857"/>
                </a:lnTo>
              </a:path>
            </a:pathLst>
          </a:custGeom>
          <a:noFill/>
          <a:ln w="31351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7" name="o187: C = Cache · S = SPM"/>
          <p:cNvSpPr txBox="1"/>
          <p:nvPr/>
        </p:nvSpPr>
        <p:spPr>
          <a:xfrm>
            <a:off x="22183099" y="2488004"/>
            <a:ext cx="2555585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C = Cache · S = SPM</a:t>
            </a:r>
          </a:p>
        </p:txBody>
      </p:sp>
      <p:sp>
        <p:nvSpPr>
          <p:cNvPr id="188" name="o188: 示例命中：组 42 / Way 6，由 Tag + Valid 选 way"/>
          <p:cNvSpPr txBox="1"/>
          <p:nvPr/>
        </p:nvSpPr>
        <p:spPr>
          <a:xfrm>
            <a:off x="6259525" y="10532216"/>
            <a:ext cx="6395967" cy="45145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21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示例命中：组 42 / Way 6，由 Tag + Valid 选 way</a:t>
            </a:r>
          </a:p>
        </p:txBody>
      </p:sp>
      <p:sp>
        <p:nvSpPr>
          <p:cNvPr id="189" name="o189: 未命中：替换 / 回填；Dirty 决定是否回写 DDR"/>
          <p:cNvSpPr txBox="1"/>
          <p:nvPr/>
        </p:nvSpPr>
        <p:spPr>
          <a:xfrm>
            <a:off x="6634192" y="10951899"/>
            <a:ext cx="5646632" cy="41801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7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未命中：替换 / 回填；Dirty 决定是否回写 DDR</a:t>
            </a:r>
          </a:p>
        </p:txBody>
      </p:sp>
      <p:sp>
        <p:nvSpPr>
          <p:cNvPr id="190" name="o190: 0x00：128 KiB Cache"/>
          <p:cNvSpPr txBox="1"/>
          <p:nvPr/>
        </p:nvSpPr>
        <p:spPr>
          <a:xfrm>
            <a:off x="18601509" y="2819069"/>
            <a:ext cx="3169000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0x00：128 KiB Cache</a:t>
            </a:r>
          </a:p>
        </p:txBody>
      </p:sp>
      <p:sp>
        <p:nvSpPr>
          <p:cNvPr id="191" name="partition-0-0"/>
          <p:cNvSpPr/>
          <p:nvPr/>
        </p:nvSpPr>
        <p:spPr>
          <a:xfrm>
            <a:off x="18601509" y="3500846"/>
            <a:ext cx="1055479" cy="1045029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2" name="o192: W0"/>
          <p:cNvSpPr txBox="1"/>
          <p:nvPr/>
        </p:nvSpPr>
        <p:spPr>
          <a:xfrm>
            <a:off x="18825904" y="3660108"/>
            <a:ext cx="606688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W0</a:t>
            </a:r>
          </a:p>
        </p:txBody>
      </p:sp>
      <p:sp>
        <p:nvSpPr>
          <p:cNvPr id="193" name="o193: C"/>
          <p:cNvSpPr txBox="1"/>
          <p:nvPr/>
        </p:nvSpPr>
        <p:spPr>
          <a:xfrm>
            <a:off x="18926202" y="4015418"/>
            <a:ext cx="406092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194" name="partition-0-1"/>
          <p:cNvSpPr/>
          <p:nvPr/>
        </p:nvSpPr>
        <p:spPr>
          <a:xfrm>
            <a:off x="19824192" y="3500846"/>
            <a:ext cx="1055479" cy="1045029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5" name="o195: W1"/>
          <p:cNvSpPr txBox="1"/>
          <p:nvPr/>
        </p:nvSpPr>
        <p:spPr>
          <a:xfrm>
            <a:off x="20048587" y="3660108"/>
            <a:ext cx="606688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W1</a:t>
            </a:r>
          </a:p>
        </p:txBody>
      </p:sp>
      <p:sp>
        <p:nvSpPr>
          <p:cNvPr id="196" name="o196: C"/>
          <p:cNvSpPr txBox="1"/>
          <p:nvPr/>
        </p:nvSpPr>
        <p:spPr>
          <a:xfrm>
            <a:off x="20148886" y="4015418"/>
            <a:ext cx="406092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197" name="partition-0-2"/>
          <p:cNvSpPr/>
          <p:nvPr/>
        </p:nvSpPr>
        <p:spPr>
          <a:xfrm>
            <a:off x="21046875" y="3500846"/>
            <a:ext cx="1055479" cy="1045029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8" name="o198: W2"/>
          <p:cNvSpPr txBox="1"/>
          <p:nvPr/>
        </p:nvSpPr>
        <p:spPr>
          <a:xfrm>
            <a:off x="21271271" y="3660108"/>
            <a:ext cx="606688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W2</a:t>
            </a:r>
          </a:p>
        </p:txBody>
      </p:sp>
      <p:sp>
        <p:nvSpPr>
          <p:cNvPr id="199" name="o199: C"/>
          <p:cNvSpPr txBox="1"/>
          <p:nvPr/>
        </p:nvSpPr>
        <p:spPr>
          <a:xfrm>
            <a:off x="21371569" y="4015418"/>
            <a:ext cx="406092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200" name="partition-0-3"/>
          <p:cNvSpPr/>
          <p:nvPr/>
        </p:nvSpPr>
        <p:spPr>
          <a:xfrm>
            <a:off x="22269559" y="3500846"/>
            <a:ext cx="1055479" cy="1045029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1" name="o201: W3"/>
          <p:cNvSpPr txBox="1"/>
          <p:nvPr/>
        </p:nvSpPr>
        <p:spPr>
          <a:xfrm>
            <a:off x="22493954" y="3660108"/>
            <a:ext cx="606688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W3</a:t>
            </a:r>
          </a:p>
        </p:txBody>
      </p:sp>
      <p:sp>
        <p:nvSpPr>
          <p:cNvPr id="202" name="o202: C"/>
          <p:cNvSpPr txBox="1"/>
          <p:nvPr/>
        </p:nvSpPr>
        <p:spPr>
          <a:xfrm>
            <a:off x="22594252" y="4015418"/>
            <a:ext cx="406092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203" name="partition-0-4"/>
          <p:cNvSpPr/>
          <p:nvPr/>
        </p:nvSpPr>
        <p:spPr>
          <a:xfrm>
            <a:off x="23492242" y="3500846"/>
            <a:ext cx="1055479" cy="1045029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4" name="o204: W4"/>
          <p:cNvSpPr txBox="1"/>
          <p:nvPr/>
        </p:nvSpPr>
        <p:spPr>
          <a:xfrm>
            <a:off x="23716638" y="3660108"/>
            <a:ext cx="606688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W4</a:t>
            </a:r>
          </a:p>
        </p:txBody>
      </p:sp>
      <p:sp>
        <p:nvSpPr>
          <p:cNvPr id="205" name="o205: C"/>
          <p:cNvSpPr txBox="1"/>
          <p:nvPr/>
        </p:nvSpPr>
        <p:spPr>
          <a:xfrm>
            <a:off x="23816936" y="4015418"/>
            <a:ext cx="406092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206" name="partition-0-5"/>
          <p:cNvSpPr/>
          <p:nvPr/>
        </p:nvSpPr>
        <p:spPr>
          <a:xfrm>
            <a:off x="24714926" y="3500846"/>
            <a:ext cx="1055479" cy="1045029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7" name="o207: W5"/>
          <p:cNvSpPr txBox="1"/>
          <p:nvPr/>
        </p:nvSpPr>
        <p:spPr>
          <a:xfrm>
            <a:off x="24939321" y="3660108"/>
            <a:ext cx="606688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W5</a:t>
            </a:r>
          </a:p>
        </p:txBody>
      </p:sp>
      <p:sp>
        <p:nvSpPr>
          <p:cNvPr id="208" name="o208: C"/>
          <p:cNvSpPr txBox="1"/>
          <p:nvPr/>
        </p:nvSpPr>
        <p:spPr>
          <a:xfrm>
            <a:off x="25039619" y="4015418"/>
            <a:ext cx="406092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209" name="partition-0-6"/>
          <p:cNvSpPr/>
          <p:nvPr/>
        </p:nvSpPr>
        <p:spPr>
          <a:xfrm>
            <a:off x="25937609" y="3500846"/>
            <a:ext cx="1055479" cy="1045029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0" name="o210: W6"/>
          <p:cNvSpPr txBox="1"/>
          <p:nvPr/>
        </p:nvSpPr>
        <p:spPr>
          <a:xfrm>
            <a:off x="26162005" y="3660108"/>
            <a:ext cx="606688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W6</a:t>
            </a:r>
          </a:p>
        </p:txBody>
      </p:sp>
      <p:sp>
        <p:nvSpPr>
          <p:cNvPr id="211" name="o211: C"/>
          <p:cNvSpPr txBox="1"/>
          <p:nvPr/>
        </p:nvSpPr>
        <p:spPr>
          <a:xfrm>
            <a:off x="26262303" y="4015418"/>
            <a:ext cx="406092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212" name="partition-0-7"/>
          <p:cNvSpPr/>
          <p:nvPr/>
        </p:nvSpPr>
        <p:spPr>
          <a:xfrm>
            <a:off x="27160293" y="3500846"/>
            <a:ext cx="1055479" cy="1045029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3" name="o213: W7"/>
          <p:cNvSpPr txBox="1"/>
          <p:nvPr/>
        </p:nvSpPr>
        <p:spPr>
          <a:xfrm>
            <a:off x="27384688" y="3660108"/>
            <a:ext cx="606688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W7</a:t>
            </a:r>
          </a:p>
        </p:txBody>
      </p:sp>
      <p:sp>
        <p:nvSpPr>
          <p:cNvPr id="214" name="o214: C"/>
          <p:cNvSpPr txBox="1"/>
          <p:nvPr/>
        </p:nvSpPr>
        <p:spPr>
          <a:xfrm>
            <a:off x="27484986" y="4015418"/>
            <a:ext cx="406092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215" name="o215: 0x0F：64 KiB SPM + 64 KiB Cache"/>
          <p:cNvSpPr txBox="1"/>
          <p:nvPr/>
        </p:nvSpPr>
        <p:spPr>
          <a:xfrm>
            <a:off x="18601509" y="4856875"/>
            <a:ext cx="4852704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0x0F：64 KiB SPM + 64 KiB Cache</a:t>
            </a:r>
          </a:p>
        </p:txBody>
      </p:sp>
      <p:sp>
        <p:nvSpPr>
          <p:cNvPr id="216" name="partition-1-0"/>
          <p:cNvSpPr/>
          <p:nvPr/>
        </p:nvSpPr>
        <p:spPr>
          <a:xfrm>
            <a:off x="18601509" y="5538651"/>
            <a:ext cx="1055479" cy="1045029"/>
          </a:xfrm>
          <a:prstGeom prst="rect">
            <a:avLst/>
          </a:prstGeom>
          <a:solidFill>
            <a:srgbClr val="E8DFED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7" name="o217: W0"/>
          <p:cNvSpPr txBox="1"/>
          <p:nvPr/>
        </p:nvSpPr>
        <p:spPr>
          <a:xfrm>
            <a:off x="18825904" y="5697914"/>
            <a:ext cx="606688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W0</a:t>
            </a:r>
          </a:p>
        </p:txBody>
      </p:sp>
      <p:sp>
        <p:nvSpPr>
          <p:cNvPr id="218" name="o218: S"/>
          <p:cNvSpPr txBox="1"/>
          <p:nvPr/>
        </p:nvSpPr>
        <p:spPr>
          <a:xfrm>
            <a:off x="18926202" y="6053223"/>
            <a:ext cx="406092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</a:t>
            </a:r>
          </a:p>
        </p:txBody>
      </p:sp>
      <p:sp>
        <p:nvSpPr>
          <p:cNvPr id="219" name="partition-1-1"/>
          <p:cNvSpPr/>
          <p:nvPr/>
        </p:nvSpPr>
        <p:spPr>
          <a:xfrm>
            <a:off x="19824192" y="5538651"/>
            <a:ext cx="1055479" cy="1045029"/>
          </a:xfrm>
          <a:prstGeom prst="rect">
            <a:avLst/>
          </a:prstGeom>
          <a:solidFill>
            <a:srgbClr val="E8DFED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0" name="o220: W1"/>
          <p:cNvSpPr txBox="1"/>
          <p:nvPr/>
        </p:nvSpPr>
        <p:spPr>
          <a:xfrm>
            <a:off x="20048587" y="5697914"/>
            <a:ext cx="606688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W1</a:t>
            </a:r>
          </a:p>
        </p:txBody>
      </p:sp>
      <p:sp>
        <p:nvSpPr>
          <p:cNvPr id="221" name="o221: S"/>
          <p:cNvSpPr txBox="1"/>
          <p:nvPr/>
        </p:nvSpPr>
        <p:spPr>
          <a:xfrm>
            <a:off x="20148886" y="6053223"/>
            <a:ext cx="406092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</a:t>
            </a:r>
          </a:p>
        </p:txBody>
      </p:sp>
      <p:sp>
        <p:nvSpPr>
          <p:cNvPr id="222" name="partition-1-2"/>
          <p:cNvSpPr/>
          <p:nvPr/>
        </p:nvSpPr>
        <p:spPr>
          <a:xfrm>
            <a:off x="21046875" y="5538651"/>
            <a:ext cx="1055479" cy="1045029"/>
          </a:xfrm>
          <a:prstGeom prst="rect">
            <a:avLst/>
          </a:prstGeom>
          <a:solidFill>
            <a:srgbClr val="E8DFED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3" name="o223: W2"/>
          <p:cNvSpPr txBox="1"/>
          <p:nvPr/>
        </p:nvSpPr>
        <p:spPr>
          <a:xfrm>
            <a:off x="21271271" y="5697914"/>
            <a:ext cx="606688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W2</a:t>
            </a:r>
          </a:p>
        </p:txBody>
      </p:sp>
      <p:sp>
        <p:nvSpPr>
          <p:cNvPr id="224" name="o224: S"/>
          <p:cNvSpPr txBox="1"/>
          <p:nvPr/>
        </p:nvSpPr>
        <p:spPr>
          <a:xfrm>
            <a:off x="21371569" y="6053223"/>
            <a:ext cx="406092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</a:t>
            </a:r>
          </a:p>
        </p:txBody>
      </p:sp>
      <p:sp>
        <p:nvSpPr>
          <p:cNvPr id="225" name="partition-1-3"/>
          <p:cNvSpPr/>
          <p:nvPr/>
        </p:nvSpPr>
        <p:spPr>
          <a:xfrm>
            <a:off x="22269559" y="5538651"/>
            <a:ext cx="1055479" cy="1045029"/>
          </a:xfrm>
          <a:prstGeom prst="rect">
            <a:avLst/>
          </a:prstGeom>
          <a:solidFill>
            <a:srgbClr val="E8DFED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6" name="o226: W3"/>
          <p:cNvSpPr txBox="1"/>
          <p:nvPr/>
        </p:nvSpPr>
        <p:spPr>
          <a:xfrm>
            <a:off x="22493954" y="5697914"/>
            <a:ext cx="606688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W3</a:t>
            </a:r>
          </a:p>
        </p:txBody>
      </p:sp>
      <p:sp>
        <p:nvSpPr>
          <p:cNvPr id="227" name="o227: S"/>
          <p:cNvSpPr txBox="1"/>
          <p:nvPr/>
        </p:nvSpPr>
        <p:spPr>
          <a:xfrm>
            <a:off x="22594252" y="6053223"/>
            <a:ext cx="406092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</a:t>
            </a:r>
          </a:p>
        </p:txBody>
      </p:sp>
      <p:sp>
        <p:nvSpPr>
          <p:cNvPr id="228" name="partition-1-4"/>
          <p:cNvSpPr/>
          <p:nvPr/>
        </p:nvSpPr>
        <p:spPr>
          <a:xfrm>
            <a:off x="23492242" y="5538651"/>
            <a:ext cx="1055479" cy="1045029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9" name="o229: W4"/>
          <p:cNvSpPr txBox="1"/>
          <p:nvPr/>
        </p:nvSpPr>
        <p:spPr>
          <a:xfrm>
            <a:off x="23716638" y="5697914"/>
            <a:ext cx="606688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W4</a:t>
            </a:r>
          </a:p>
        </p:txBody>
      </p:sp>
      <p:sp>
        <p:nvSpPr>
          <p:cNvPr id="230" name="o230: C"/>
          <p:cNvSpPr txBox="1"/>
          <p:nvPr/>
        </p:nvSpPr>
        <p:spPr>
          <a:xfrm>
            <a:off x="23816936" y="6053223"/>
            <a:ext cx="406092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231" name="partition-1-5"/>
          <p:cNvSpPr/>
          <p:nvPr/>
        </p:nvSpPr>
        <p:spPr>
          <a:xfrm>
            <a:off x="24714926" y="5538651"/>
            <a:ext cx="1055479" cy="1045029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2" name="o232: W5"/>
          <p:cNvSpPr txBox="1"/>
          <p:nvPr/>
        </p:nvSpPr>
        <p:spPr>
          <a:xfrm>
            <a:off x="24939321" y="5697914"/>
            <a:ext cx="606688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W5</a:t>
            </a:r>
          </a:p>
        </p:txBody>
      </p:sp>
      <p:sp>
        <p:nvSpPr>
          <p:cNvPr id="233" name="o233: C"/>
          <p:cNvSpPr txBox="1"/>
          <p:nvPr/>
        </p:nvSpPr>
        <p:spPr>
          <a:xfrm>
            <a:off x="25039619" y="6053223"/>
            <a:ext cx="406092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234" name="partition-1-6"/>
          <p:cNvSpPr/>
          <p:nvPr/>
        </p:nvSpPr>
        <p:spPr>
          <a:xfrm>
            <a:off x="25937609" y="5538651"/>
            <a:ext cx="1055479" cy="1045029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5" name="o235: W6"/>
          <p:cNvSpPr txBox="1"/>
          <p:nvPr/>
        </p:nvSpPr>
        <p:spPr>
          <a:xfrm>
            <a:off x="26162005" y="5697914"/>
            <a:ext cx="606688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W6</a:t>
            </a:r>
          </a:p>
        </p:txBody>
      </p:sp>
      <p:sp>
        <p:nvSpPr>
          <p:cNvPr id="236" name="o236: C"/>
          <p:cNvSpPr txBox="1"/>
          <p:nvPr/>
        </p:nvSpPr>
        <p:spPr>
          <a:xfrm>
            <a:off x="26262303" y="6053223"/>
            <a:ext cx="406092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237" name="partition-1-7"/>
          <p:cNvSpPr/>
          <p:nvPr/>
        </p:nvSpPr>
        <p:spPr>
          <a:xfrm>
            <a:off x="27160293" y="5538651"/>
            <a:ext cx="1055479" cy="1045029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8" name="o238: W7"/>
          <p:cNvSpPr txBox="1"/>
          <p:nvPr/>
        </p:nvSpPr>
        <p:spPr>
          <a:xfrm>
            <a:off x="27384688" y="5697914"/>
            <a:ext cx="606688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W7</a:t>
            </a:r>
          </a:p>
        </p:txBody>
      </p:sp>
      <p:sp>
        <p:nvSpPr>
          <p:cNvPr id="239" name="o239: C"/>
          <p:cNvSpPr txBox="1"/>
          <p:nvPr/>
        </p:nvSpPr>
        <p:spPr>
          <a:xfrm>
            <a:off x="27484986" y="6053223"/>
            <a:ext cx="406092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240" name="o240: 0xFF：128 KiB SPM；DDR 访问旁路"/>
          <p:cNvSpPr txBox="1"/>
          <p:nvPr/>
        </p:nvSpPr>
        <p:spPr>
          <a:xfrm>
            <a:off x="18601509" y="6894681"/>
            <a:ext cx="5006422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0xFF：128 KiB SPM；DDR 访问旁路</a:t>
            </a:r>
          </a:p>
        </p:txBody>
      </p:sp>
      <p:sp>
        <p:nvSpPr>
          <p:cNvPr id="241" name="partition-2-0"/>
          <p:cNvSpPr/>
          <p:nvPr/>
        </p:nvSpPr>
        <p:spPr>
          <a:xfrm>
            <a:off x="18601509" y="7576457"/>
            <a:ext cx="1055479" cy="1045029"/>
          </a:xfrm>
          <a:prstGeom prst="rect">
            <a:avLst/>
          </a:prstGeom>
          <a:solidFill>
            <a:srgbClr val="E8DFED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2" name="o242: W0"/>
          <p:cNvSpPr txBox="1"/>
          <p:nvPr/>
        </p:nvSpPr>
        <p:spPr>
          <a:xfrm>
            <a:off x="18825904" y="7735719"/>
            <a:ext cx="606688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W0</a:t>
            </a:r>
          </a:p>
        </p:txBody>
      </p:sp>
      <p:sp>
        <p:nvSpPr>
          <p:cNvPr id="243" name="o243: S"/>
          <p:cNvSpPr txBox="1"/>
          <p:nvPr/>
        </p:nvSpPr>
        <p:spPr>
          <a:xfrm>
            <a:off x="18926202" y="8091029"/>
            <a:ext cx="406092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</a:t>
            </a:r>
          </a:p>
        </p:txBody>
      </p:sp>
      <p:sp>
        <p:nvSpPr>
          <p:cNvPr id="244" name="partition-2-1"/>
          <p:cNvSpPr/>
          <p:nvPr/>
        </p:nvSpPr>
        <p:spPr>
          <a:xfrm>
            <a:off x="19824192" y="7576457"/>
            <a:ext cx="1055479" cy="1045029"/>
          </a:xfrm>
          <a:prstGeom prst="rect">
            <a:avLst/>
          </a:prstGeom>
          <a:solidFill>
            <a:srgbClr val="E8DFED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5" name="o245: W1"/>
          <p:cNvSpPr txBox="1"/>
          <p:nvPr/>
        </p:nvSpPr>
        <p:spPr>
          <a:xfrm>
            <a:off x="20048587" y="7735719"/>
            <a:ext cx="606688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W1</a:t>
            </a:r>
          </a:p>
        </p:txBody>
      </p:sp>
      <p:sp>
        <p:nvSpPr>
          <p:cNvPr id="246" name="o246: S"/>
          <p:cNvSpPr txBox="1"/>
          <p:nvPr/>
        </p:nvSpPr>
        <p:spPr>
          <a:xfrm>
            <a:off x="20148886" y="8091029"/>
            <a:ext cx="406092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</a:t>
            </a:r>
          </a:p>
        </p:txBody>
      </p:sp>
      <p:sp>
        <p:nvSpPr>
          <p:cNvPr id="247" name="partition-2-2"/>
          <p:cNvSpPr/>
          <p:nvPr/>
        </p:nvSpPr>
        <p:spPr>
          <a:xfrm>
            <a:off x="21046875" y="7576457"/>
            <a:ext cx="1055479" cy="1045029"/>
          </a:xfrm>
          <a:prstGeom prst="rect">
            <a:avLst/>
          </a:prstGeom>
          <a:solidFill>
            <a:srgbClr val="E8DFED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8" name="o248: W2"/>
          <p:cNvSpPr txBox="1"/>
          <p:nvPr/>
        </p:nvSpPr>
        <p:spPr>
          <a:xfrm>
            <a:off x="21271271" y="7735719"/>
            <a:ext cx="606688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W2</a:t>
            </a:r>
          </a:p>
        </p:txBody>
      </p:sp>
      <p:sp>
        <p:nvSpPr>
          <p:cNvPr id="249" name="o249: S"/>
          <p:cNvSpPr txBox="1"/>
          <p:nvPr/>
        </p:nvSpPr>
        <p:spPr>
          <a:xfrm>
            <a:off x="21371569" y="8091029"/>
            <a:ext cx="406092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</a:t>
            </a:r>
          </a:p>
        </p:txBody>
      </p:sp>
      <p:sp>
        <p:nvSpPr>
          <p:cNvPr id="250" name="partition-2-3"/>
          <p:cNvSpPr/>
          <p:nvPr/>
        </p:nvSpPr>
        <p:spPr>
          <a:xfrm>
            <a:off x="22269559" y="7576457"/>
            <a:ext cx="1055479" cy="1045029"/>
          </a:xfrm>
          <a:prstGeom prst="rect">
            <a:avLst/>
          </a:prstGeom>
          <a:solidFill>
            <a:srgbClr val="E8DFED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1" name="o251: W3"/>
          <p:cNvSpPr txBox="1"/>
          <p:nvPr/>
        </p:nvSpPr>
        <p:spPr>
          <a:xfrm>
            <a:off x="22493954" y="7735719"/>
            <a:ext cx="606688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W3</a:t>
            </a:r>
          </a:p>
        </p:txBody>
      </p:sp>
      <p:sp>
        <p:nvSpPr>
          <p:cNvPr id="252" name="o252: S"/>
          <p:cNvSpPr txBox="1"/>
          <p:nvPr/>
        </p:nvSpPr>
        <p:spPr>
          <a:xfrm>
            <a:off x="22594252" y="8091029"/>
            <a:ext cx="406092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</a:t>
            </a:r>
          </a:p>
        </p:txBody>
      </p:sp>
      <p:sp>
        <p:nvSpPr>
          <p:cNvPr id="253" name="partition-2-4"/>
          <p:cNvSpPr/>
          <p:nvPr/>
        </p:nvSpPr>
        <p:spPr>
          <a:xfrm>
            <a:off x="23492242" y="7576457"/>
            <a:ext cx="1055479" cy="1045029"/>
          </a:xfrm>
          <a:prstGeom prst="rect">
            <a:avLst/>
          </a:prstGeom>
          <a:solidFill>
            <a:srgbClr val="E8DFED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4" name="o254: W4"/>
          <p:cNvSpPr txBox="1"/>
          <p:nvPr/>
        </p:nvSpPr>
        <p:spPr>
          <a:xfrm>
            <a:off x="23716638" y="7735719"/>
            <a:ext cx="606688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W4</a:t>
            </a:r>
          </a:p>
        </p:txBody>
      </p:sp>
      <p:sp>
        <p:nvSpPr>
          <p:cNvPr id="255" name="o255: S"/>
          <p:cNvSpPr txBox="1"/>
          <p:nvPr/>
        </p:nvSpPr>
        <p:spPr>
          <a:xfrm>
            <a:off x="23816936" y="8091029"/>
            <a:ext cx="406092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</a:t>
            </a:r>
          </a:p>
        </p:txBody>
      </p:sp>
      <p:sp>
        <p:nvSpPr>
          <p:cNvPr id="256" name="partition-2-5"/>
          <p:cNvSpPr/>
          <p:nvPr/>
        </p:nvSpPr>
        <p:spPr>
          <a:xfrm>
            <a:off x="24714926" y="7576457"/>
            <a:ext cx="1055479" cy="1045029"/>
          </a:xfrm>
          <a:prstGeom prst="rect">
            <a:avLst/>
          </a:prstGeom>
          <a:solidFill>
            <a:srgbClr val="E8DFED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7" name="o257: W5"/>
          <p:cNvSpPr txBox="1"/>
          <p:nvPr/>
        </p:nvSpPr>
        <p:spPr>
          <a:xfrm>
            <a:off x="24939321" y="7735719"/>
            <a:ext cx="606688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W5</a:t>
            </a:r>
          </a:p>
        </p:txBody>
      </p:sp>
      <p:sp>
        <p:nvSpPr>
          <p:cNvPr id="258" name="o258: S"/>
          <p:cNvSpPr txBox="1"/>
          <p:nvPr/>
        </p:nvSpPr>
        <p:spPr>
          <a:xfrm>
            <a:off x="25039619" y="8091029"/>
            <a:ext cx="406092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</a:t>
            </a:r>
          </a:p>
        </p:txBody>
      </p:sp>
      <p:sp>
        <p:nvSpPr>
          <p:cNvPr id="259" name="partition-2-6"/>
          <p:cNvSpPr/>
          <p:nvPr/>
        </p:nvSpPr>
        <p:spPr>
          <a:xfrm>
            <a:off x="25937609" y="7576457"/>
            <a:ext cx="1055479" cy="1045029"/>
          </a:xfrm>
          <a:prstGeom prst="rect">
            <a:avLst/>
          </a:prstGeom>
          <a:solidFill>
            <a:srgbClr val="E8DFED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0" name="o260: W6"/>
          <p:cNvSpPr txBox="1"/>
          <p:nvPr/>
        </p:nvSpPr>
        <p:spPr>
          <a:xfrm>
            <a:off x="26162005" y="7735719"/>
            <a:ext cx="606688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W6</a:t>
            </a:r>
          </a:p>
        </p:txBody>
      </p:sp>
      <p:sp>
        <p:nvSpPr>
          <p:cNvPr id="261" name="o261: S"/>
          <p:cNvSpPr txBox="1"/>
          <p:nvPr/>
        </p:nvSpPr>
        <p:spPr>
          <a:xfrm>
            <a:off x="26262303" y="8091029"/>
            <a:ext cx="406092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</a:t>
            </a:r>
          </a:p>
        </p:txBody>
      </p:sp>
      <p:sp>
        <p:nvSpPr>
          <p:cNvPr id="262" name="partition-2-7"/>
          <p:cNvSpPr/>
          <p:nvPr/>
        </p:nvSpPr>
        <p:spPr>
          <a:xfrm>
            <a:off x="27160293" y="7576457"/>
            <a:ext cx="1055479" cy="1045029"/>
          </a:xfrm>
          <a:prstGeom prst="rect">
            <a:avLst/>
          </a:prstGeom>
          <a:solidFill>
            <a:srgbClr val="E8DFED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3" name="o263: W7"/>
          <p:cNvSpPr txBox="1"/>
          <p:nvPr/>
        </p:nvSpPr>
        <p:spPr>
          <a:xfrm>
            <a:off x="27384688" y="7735719"/>
            <a:ext cx="606688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W7</a:t>
            </a:r>
          </a:p>
        </p:txBody>
      </p:sp>
      <p:sp>
        <p:nvSpPr>
          <p:cNvPr id="264" name="o264: S"/>
          <p:cNvSpPr txBox="1"/>
          <p:nvPr/>
        </p:nvSpPr>
        <p:spPr>
          <a:xfrm>
            <a:off x="27484986" y="8091029"/>
            <a:ext cx="406092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</a:t>
            </a:r>
          </a:p>
        </p:txBody>
      </p:sp>
      <p:sp>
        <p:nvSpPr>
          <p:cNvPr id="265" name="o265: SPM 固定映射：base + way × 0x4000"/>
          <p:cNvSpPr txBox="1"/>
          <p:nvPr/>
        </p:nvSpPr>
        <p:spPr>
          <a:xfrm>
            <a:off x="21124101" y="9332105"/>
            <a:ext cx="4673580" cy="41801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7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SPM 固定映射：base + way × 0x4000</a:t>
            </a:r>
          </a:p>
        </p:txBody>
      </p:sp>
      <p:sp>
        <p:nvSpPr>
          <p:cNvPr id="266" name="o266: Way 2：0x10008000–0x1000BFFF"/>
          <p:cNvSpPr txBox="1"/>
          <p:nvPr/>
        </p:nvSpPr>
        <p:spPr>
          <a:xfrm>
            <a:off x="21297070" y="9791918"/>
            <a:ext cx="4327643" cy="41801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7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Way 2：0x10008000–0x1000BFFF</a:t>
            </a:r>
          </a:p>
        </p:txBody>
      </p:sp>
      <p:sp>
        <p:nvSpPr>
          <p:cNvPr id="267" name="o267: 0x10008AAB → Way 2 / 组 42 / 块 5 / 字节 3"/>
          <p:cNvSpPr txBox="1"/>
          <p:nvPr/>
        </p:nvSpPr>
        <p:spPr>
          <a:xfrm>
            <a:off x="20625166" y="10251730"/>
            <a:ext cx="5671452" cy="41801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7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0x10008AAB → Way 2 / 组 42 / 块 5 / 字节 3</a:t>
            </a:r>
          </a:p>
        </p:txBody>
      </p:sp>
      <p:sp>
        <p:nvSpPr>
          <p:cNvPr id="268" name="o268: 直接寻址；非 SPM way 的对应地址槽访问报错"/>
          <p:cNvSpPr txBox="1"/>
          <p:nvPr/>
        </p:nvSpPr>
        <p:spPr>
          <a:xfrm>
            <a:off x="20650336" y="10711543"/>
            <a:ext cx="5621111" cy="41801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7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直接寻址；非 SPM way 的对应地址槽访问报错</a:t>
            </a:r>
          </a:p>
        </p:txBody>
      </p:sp>
      <p:sp>
        <p:nvSpPr>
          <p:cNvPr id="269" name="transition"/>
          <p:cNvSpPr/>
          <p:nvPr/>
        </p:nvSpPr>
        <p:spPr>
          <a:xfrm>
            <a:off x="522514" y="12017829"/>
            <a:ext cx="28215771" cy="3448594"/>
          </a:xfrm>
          <a:prstGeom prst="rect">
            <a:avLst/>
          </a:prstGeom>
          <a:solidFill>
            <a:srgbClr val="F5E1C9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0" name="o270: ③ 用途转换：软件目标位图 → 硬件协调提交与刷新"/>
          <p:cNvSpPr txBox="1"/>
          <p:nvPr/>
        </p:nvSpPr>
        <p:spPr>
          <a:xfrm>
            <a:off x="10884071" y="12128602"/>
            <a:ext cx="7492659" cy="5016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6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③ 用途转换：软件目标位图 → 硬件协调提交与刷新</a:t>
            </a:r>
          </a:p>
        </p:txBody>
      </p:sp>
      <p:sp>
        <p:nvSpPr>
          <p:cNvPr id="271" name="quiesce"/>
          <p:cNvSpPr/>
          <p:nvPr/>
        </p:nvSpPr>
        <p:spPr>
          <a:xfrm>
            <a:off x="888274" y="13167360"/>
            <a:ext cx="5120640" cy="1619794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2" name="o272: 停止相关访问"/>
          <p:cNvSpPr txBox="1"/>
          <p:nvPr/>
        </p:nvSpPr>
        <p:spPr>
          <a:xfrm>
            <a:off x="2424466" y="13405418"/>
            <a:ext cx="2048256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停止相关访问</a:t>
            </a:r>
          </a:p>
        </p:txBody>
      </p:sp>
      <p:sp>
        <p:nvSpPr>
          <p:cNvPr id="273" name="o273: 迁移代码 / 栈 / 保留数据"/>
          <p:cNvSpPr txBox="1"/>
          <p:nvPr/>
        </p:nvSpPr>
        <p:spPr>
          <a:xfrm>
            <a:off x="1913872" y="13805872"/>
            <a:ext cx="3069445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迁移代码 / 栈 / 保留数据</a:t>
            </a:r>
          </a:p>
        </p:txBody>
      </p:sp>
      <p:sp>
        <p:nvSpPr>
          <p:cNvPr id="274" name="o274: 协调缓冲与在途事务"/>
          <p:cNvSpPr txBox="1"/>
          <p:nvPr/>
        </p:nvSpPr>
        <p:spPr>
          <a:xfrm>
            <a:off x="2194560" y="14161182"/>
            <a:ext cx="2508069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协调缓冲与在途事务</a:t>
            </a:r>
          </a:p>
        </p:txBody>
      </p:sp>
      <p:cxnSp>
        <p:nvCxnSpPr>
          <p:cNvPr id="275" name="transition-0"/>
          <p:cNvCxnSpPr/>
          <p:nvPr/>
        </p:nvCxnSpPr>
        <p:spPr>
          <a:xfrm>
            <a:off x="6008914" y="13972032"/>
            <a:ext cx="470263" cy="0"/>
          </a:xfrm>
          <a:prstGeom prst="line">
            <a:avLst/>
          </a:prstGeom>
          <a:ln w="31351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276" name="cfg"/>
          <p:cNvSpPr/>
          <p:nvPr/>
        </p:nvSpPr>
        <p:spPr>
          <a:xfrm>
            <a:off x="6479177" y="13167360"/>
            <a:ext cx="5120640" cy="1619794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7" name="o277: 写 CFG_SPM"/>
          <p:cNvSpPr txBox="1"/>
          <p:nvPr/>
        </p:nvSpPr>
        <p:spPr>
          <a:xfrm>
            <a:off x="8080357" y="13405418"/>
            <a:ext cx="1918281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写 CFG_SPM</a:t>
            </a:r>
          </a:p>
        </p:txBody>
      </p:sp>
      <p:sp>
        <p:nvSpPr>
          <p:cNvPr id="278" name="o278: 1 → SPM"/>
          <p:cNvSpPr txBox="1"/>
          <p:nvPr/>
        </p:nvSpPr>
        <p:spPr>
          <a:xfrm>
            <a:off x="8387742" y="13805872"/>
            <a:ext cx="1303510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1 → SPM</a:t>
            </a:r>
          </a:p>
        </p:txBody>
      </p:sp>
      <p:sp>
        <p:nvSpPr>
          <p:cNvPr id="279" name="o279: 0 → Cache"/>
          <p:cNvSpPr txBox="1"/>
          <p:nvPr/>
        </p:nvSpPr>
        <p:spPr>
          <a:xfrm>
            <a:off x="8297731" y="14161182"/>
            <a:ext cx="1483532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0 → Cache</a:t>
            </a:r>
          </a:p>
        </p:txBody>
      </p:sp>
      <p:cxnSp>
        <p:nvCxnSpPr>
          <p:cNvPr id="280" name="transition-1"/>
          <p:cNvCxnSpPr/>
          <p:nvPr/>
        </p:nvCxnSpPr>
        <p:spPr>
          <a:xfrm>
            <a:off x="11599817" y="13972032"/>
            <a:ext cx="470263" cy="0"/>
          </a:xfrm>
          <a:prstGeom prst="line">
            <a:avLst/>
          </a:prstGeom>
          <a:ln w="31351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281" name="commit"/>
          <p:cNvSpPr/>
          <p:nvPr/>
        </p:nvSpPr>
        <p:spPr>
          <a:xfrm>
            <a:off x="12070080" y="13167360"/>
            <a:ext cx="5120640" cy="1619794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2" name="o282: 写 COMMIT = 1"/>
          <p:cNvSpPr txBox="1"/>
          <p:nvPr/>
        </p:nvSpPr>
        <p:spPr>
          <a:xfrm>
            <a:off x="13492805" y="13583072"/>
            <a:ext cx="2275190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写 COMMIT = 1</a:t>
            </a:r>
          </a:p>
        </p:txBody>
      </p:sp>
      <p:sp>
        <p:nvSpPr>
          <p:cNvPr id="283" name="o283: 发起配置提交"/>
          <p:cNvSpPr txBox="1"/>
          <p:nvPr/>
        </p:nvSpPr>
        <p:spPr>
          <a:xfrm>
            <a:off x="13752576" y="13983527"/>
            <a:ext cx="1755648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发起配置提交</a:t>
            </a:r>
          </a:p>
        </p:txBody>
      </p:sp>
      <p:cxnSp>
        <p:nvCxnSpPr>
          <p:cNvPr id="284" name="transition-2"/>
          <p:cNvCxnSpPr/>
          <p:nvPr/>
        </p:nvCxnSpPr>
        <p:spPr>
          <a:xfrm>
            <a:off x="17190720" y="13972032"/>
            <a:ext cx="470263" cy="0"/>
          </a:xfrm>
          <a:prstGeom prst="line">
            <a:avLst/>
          </a:prstGeom>
          <a:ln w="31351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285" name="fsm"/>
          <p:cNvSpPr/>
          <p:nvPr/>
        </p:nvSpPr>
        <p:spPr>
          <a:xfrm>
            <a:off x="17660983" y="13167360"/>
            <a:ext cx="5120640" cy="1619794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6" name="o286: LLC 配置 FSM"/>
          <p:cNvSpPr txBox="1"/>
          <p:nvPr/>
        </p:nvSpPr>
        <p:spPr>
          <a:xfrm>
            <a:off x="19177156" y="13405418"/>
            <a:ext cx="2088294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 FSM</a:t>
            </a:r>
          </a:p>
        </p:txBody>
      </p:sp>
      <p:sp>
        <p:nvSpPr>
          <p:cNvPr id="287" name="o287: 协调已有请求"/>
          <p:cNvSpPr txBox="1"/>
          <p:nvPr/>
        </p:nvSpPr>
        <p:spPr>
          <a:xfrm>
            <a:off x="19343479" y="13805872"/>
            <a:ext cx="1755648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协调已有请求</a:t>
            </a:r>
          </a:p>
        </p:txBody>
      </p:sp>
      <p:sp>
        <p:nvSpPr>
          <p:cNvPr id="288" name="o288: 必要 flush / Dirty 回写"/>
          <p:cNvSpPr txBox="1"/>
          <p:nvPr/>
        </p:nvSpPr>
        <p:spPr>
          <a:xfrm>
            <a:off x="18865378" y="14161182"/>
            <a:ext cx="2711849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必要 flush / Dirty 回写</a:t>
            </a:r>
          </a:p>
        </p:txBody>
      </p:sp>
      <p:cxnSp>
        <p:nvCxnSpPr>
          <p:cNvPr id="289" name="transition-3"/>
          <p:cNvCxnSpPr/>
          <p:nvPr/>
        </p:nvCxnSpPr>
        <p:spPr>
          <a:xfrm>
            <a:off x="22781623" y="13972032"/>
            <a:ext cx="470263" cy="0"/>
          </a:xfrm>
          <a:prstGeom prst="line">
            <a:avLst/>
          </a:prstGeom>
          <a:ln w="31351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290" name="resume"/>
          <p:cNvSpPr/>
          <p:nvPr/>
        </p:nvSpPr>
        <p:spPr>
          <a:xfrm>
            <a:off x="23251886" y="13167360"/>
            <a:ext cx="5120640" cy="1619794"/>
          </a:xfrm>
          <a:prstGeom prst="rect">
            <a:avLst/>
          </a:prstGeom>
          <a:solidFill>
            <a:srgbClr val="FFFFFF"/>
          </a:solidFill>
          <a:ln w="209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1" name="o291: 按寄存器契约确认完成"/>
          <p:cNvSpPr txBox="1"/>
          <p:nvPr/>
        </p:nvSpPr>
        <p:spPr>
          <a:xfrm>
            <a:off x="24202862" y="13583072"/>
            <a:ext cx="3218688" cy="46817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按寄存器契约确认完成</a:t>
            </a:r>
          </a:p>
        </p:txBody>
      </p:sp>
      <p:sp>
        <p:nvSpPr>
          <p:cNvPr id="292" name="o292: 恢复对新用途的访问"/>
          <p:cNvSpPr txBox="1"/>
          <p:nvPr/>
        </p:nvSpPr>
        <p:spPr>
          <a:xfrm>
            <a:off x="24558171" y="13983527"/>
            <a:ext cx="2508069" cy="401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7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恢复对新用途的访问</a:t>
            </a:r>
          </a:p>
        </p:txBody>
      </p:sp>
      <p:sp>
        <p:nvSpPr>
          <p:cNvPr id="293" name="o293: SPM 复用原阵列；用途转换不自动复制数据。CPU L1 属性仍需单独处理。"/>
          <p:cNvSpPr txBox="1"/>
          <p:nvPr/>
        </p:nvSpPr>
        <p:spPr>
          <a:xfrm>
            <a:off x="783771" y="15715558"/>
            <a:ext cx="9541290" cy="45145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21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复用原阵列；用途转换不自动复制数据。CPU L1 属性仍需单独处理。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bject-002: Cheshire + CVA6 + Ara  |  SoC 扩展架构"/>
          <p:cNvSpPr txBox="1"/>
          <p:nvPr/>
        </p:nvSpPr>
        <p:spPr>
          <a:xfrm>
            <a:off x="406400" y="132649"/>
            <a:ext cx="6933387" cy="59822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4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Cheshire + CVA6 + Ara  |  SoC 扩展架构</a:t>
            </a:r>
          </a:p>
        </p:txBody>
      </p:sp>
      <p:sp>
        <p:nvSpPr>
          <p:cNvPr id="3" name="object-003: 工业框图版 · 2026-10-12"/>
          <p:cNvSpPr txBox="1"/>
          <p:nvPr/>
        </p:nvSpPr>
        <p:spPr>
          <a:xfrm>
            <a:off x="24742546" y="316992"/>
            <a:ext cx="2486254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工业框图版 · 2026-10-12</a:t>
            </a:r>
          </a:p>
        </p:txBody>
      </p:sp>
      <p:sp>
        <p:nvSpPr>
          <p:cNvPr id="4" name="soc-boundary"/>
          <p:cNvSpPr/>
          <p:nvPr/>
        </p:nvSpPr>
        <p:spPr>
          <a:xfrm>
            <a:off x="365760" y="853440"/>
            <a:ext cx="27025600" cy="14833600"/>
          </a:xfrm>
          <a:prstGeom prst="rect">
            <a:avLst/>
          </a:prstGeom>
          <a:solidFill>
            <a:srgbClr val="FFFFFF"/>
          </a:solidFill>
          <a:ln w="40640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object-005: SoC"/>
          <p:cNvSpPr txBox="1"/>
          <p:nvPr/>
        </p:nvSpPr>
        <p:spPr>
          <a:xfrm>
            <a:off x="26131609" y="941548"/>
            <a:ext cx="609511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</a:t>
            </a:r>
          </a:p>
        </p:txBody>
      </p:sp>
      <p:sp>
        <p:nvSpPr>
          <p:cNvPr id="6" name="cpu-platform"/>
          <p:cNvSpPr/>
          <p:nvPr/>
        </p:nvSpPr>
        <p:spPr>
          <a:xfrm>
            <a:off x="772160" y="1422400"/>
            <a:ext cx="7599680" cy="3454400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bject-007: CVA6–Ara 计算平台"/>
          <p:cNvSpPr txBox="1"/>
          <p:nvPr/>
        </p:nvSpPr>
        <p:spPr>
          <a:xfrm>
            <a:off x="3318002" y="1458488"/>
            <a:ext cx="2499868" cy="41615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4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计算平台</a:t>
            </a:r>
          </a:p>
        </p:txBody>
      </p:sp>
      <p:sp>
        <p:nvSpPr>
          <p:cNvPr id="8" name="cva6"/>
          <p:cNvSpPr/>
          <p:nvPr/>
        </p:nvSpPr>
        <p:spPr>
          <a:xfrm>
            <a:off x="975360" y="2072640"/>
            <a:ext cx="2032000" cy="174752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object-009: CVA6 core 0"/>
          <p:cNvSpPr txBox="1"/>
          <p:nvPr/>
        </p:nvSpPr>
        <p:spPr>
          <a:xfrm>
            <a:off x="1235424" y="2118807"/>
            <a:ext cx="1511872" cy="37713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5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10" name="object-010: L1 I / D cache"/>
          <p:cNvSpPr txBox="1"/>
          <p:nvPr/>
        </p:nvSpPr>
        <p:spPr>
          <a:xfrm>
            <a:off x="1248302" y="2446528"/>
            <a:ext cx="1486116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11" name="object-011: MMU · AXI 适配"/>
          <p:cNvSpPr txBox="1"/>
          <p:nvPr/>
        </p:nvSpPr>
        <p:spPr>
          <a:xfrm>
            <a:off x="1201388" y="2706624"/>
            <a:ext cx="1579944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· AXI 适配</a:t>
            </a:r>
          </a:p>
        </p:txBody>
      </p:sp>
      <p:sp>
        <p:nvSpPr>
          <p:cNvPr id="12" name="ara-core"/>
          <p:cNvSpPr/>
          <p:nvPr/>
        </p:nvSpPr>
        <p:spPr>
          <a:xfrm>
            <a:off x="3413760" y="2072640"/>
            <a:ext cx="4714240" cy="10160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bject-013: Ara 向量处理器"/>
          <p:cNvSpPr txBox="1"/>
          <p:nvPr/>
        </p:nvSpPr>
        <p:spPr>
          <a:xfrm>
            <a:off x="4861293" y="2118807"/>
            <a:ext cx="1819173" cy="37713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5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向量处理器</a:t>
            </a:r>
          </a:p>
        </p:txBody>
      </p:sp>
      <p:sp>
        <p:nvSpPr>
          <p:cNvPr id="14" name="object-014: VLSU / AXI：32 × lanes bit"/>
          <p:cNvSpPr txBox="1"/>
          <p:nvPr/>
        </p:nvSpPr>
        <p:spPr>
          <a:xfrm>
            <a:off x="4453350" y="2446528"/>
            <a:ext cx="2635060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VLSU / AXI：32 × lanes bit</a:t>
            </a:r>
          </a:p>
        </p:txBody>
      </p:sp>
      <p:cxnSp>
        <p:nvCxnSpPr>
          <p:cNvPr id="15" name="cva6-ara-control"/>
          <p:cNvCxnSpPr/>
          <p:nvPr/>
        </p:nvCxnSpPr>
        <p:spPr>
          <a:xfrm>
            <a:off x="3007360" y="2560320"/>
            <a:ext cx="406400" cy="0"/>
          </a:xfrm>
          <a:prstGeom prst="line">
            <a:avLst/>
          </a:prstGeom>
          <a:ln w="20320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6" name="object-016: 指令 / MMU"/>
          <p:cNvSpPr txBox="1"/>
          <p:nvPr/>
        </p:nvSpPr>
        <p:spPr>
          <a:xfrm>
            <a:off x="2724696" y="1824573"/>
            <a:ext cx="987984" cy="2470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6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17" name="ara-filter"/>
          <p:cNvSpPr/>
          <p:nvPr/>
        </p:nvSpPr>
        <p:spPr>
          <a:xfrm>
            <a:off x="3576320" y="3454400"/>
            <a:ext cx="1544320" cy="699008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object-018: 失效过滤"/>
          <p:cNvSpPr txBox="1"/>
          <p:nvPr/>
        </p:nvSpPr>
        <p:spPr>
          <a:xfrm>
            <a:off x="3840480" y="3535680"/>
            <a:ext cx="1016000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19" name="object-019: 现有 filter"/>
          <p:cNvSpPr txBox="1"/>
          <p:nvPr/>
        </p:nvSpPr>
        <p:spPr>
          <a:xfrm>
            <a:off x="3814489" y="3828288"/>
            <a:ext cx="1067981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20" name="ara-split"/>
          <p:cNvSpPr/>
          <p:nvPr/>
        </p:nvSpPr>
        <p:spPr>
          <a:xfrm>
            <a:off x="5405120" y="3454400"/>
            <a:ext cx="1219200" cy="699008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object-021: 地址分流"/>
          <p:cNvSpPr txBox="1"/>
          <p:nvPr/>
        </p:nvSpPr>
        <p:spPr>
          <a:xfrm>
            <a:off x="5506720" y="3535680"/>
            <a:ext cx="1016000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地址分流</a:t>
            </a:r>
          </a:p>
        </p:txBody>
      </p:sp>
      <p:sp>
        <p:nvSpPr>
          <p:cNvPr id="22" name="object-022: GB 候选"/>
          <p:cNvSpPr txBox="1"/>
          <p:nvPr/>
        </p:nvSpPr>
        <p:spPr>
          <a:xfrm>
            <a:off x="5549582" y="3828288"/>
            <a:ext cx="930275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候选</a:t>
            </a:r>
          </a:p>
        </p:txBody>
      </p:sp>
      <p:sp>
        <p:nvSpPr>
          <p:cNvPr id="23" name="ara-width"/>
          <p:cNvSpPr/>
          <p:nvPr/>
        </p:nvSpPr>
        <p:spPr>
          <a:xfrm>
            <a:off x="6908800" y="3454400"/>
            <a:ext cx="1219200" cy="699008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object-024: 位宽适配"/>
          <p:cNvSpPr txBox="1"/>
          <p:nvPr/>
        </p:nvSpPr>
        <p:spPr>
          <a:xfrm>
            <a:off x="7010400" y="3535680"/>
            <a:ext cx="1016000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位宽适配</a:t>
            </a:r>
          </a:p>
        </p:txBody>
      </p:sp>
      <p:sp>
        <p:nvSpPr>
          <p:cNvPr id="25" name="object-025: → 64 bit"/>
          <p:cNvSpPr txBox="1"/>
          <p:nvPr/>
        </p:nvSpPr>
        <p:spPr>
          <a:xfrm>
            <a:off x="7020916" y="3828288"/>
            <a:ext cx="994969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→ 64 bit</a:t>
            </a:r>
          </a:p>
        </p:txBody>
      </p:sp>
      <p:cxnSp>
        <p:nvCxnSpPr>
          <p:cNvPr id="26" name="vlsu-filter"/>
          <p:cNvCxnSpPr/>
          <p:nvPr/>
        </p:nvCxnSpPr>
        <p:spPr>
          <a:xfrm>
            <a:off x="4348480" y="3088640"/>
            <a:ext cx="0" cy="36576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27" name="filter-split"/>
          <p:cNvCxnSpPr/>
          <p:nvPr/>
        </p:nvCxnSpPr>
        <p:spPr>
          <a:xfrm>
            <a:off x="5120640" y="3803904"/>
            <a:ext cx="28448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28" name="split-width"/>
          <p:cNvCxnSpPr/>
          <p:nvPr/>
        </p:nvCxnSpPr>
        <p:spPr>
          <a:xfrm>
            <a:off x="6624320" y="3803904"/>
            <a:ext cx="28448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29" name="npu-subsystem"/>
          <p:cNvSpPr/>
          <p:nvPr/>
        </p:nvSpPr>
        <p:spPr>
          <a:xfrm>
            <a:off x="8818880" y="1422400"/>
            <a:ext cx="9225280" cy="3454400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object-030: NPU / 独立 Global Buffer 子系统"/>
          <p:cNvSpPr txBox="1"/>
          <p:nvPr/>
        </p:nvSpPr>
        <p:spPr>
          <a:xfrm>
            <a:off x="11444478" y="1458488"/>
            <a:ext cx="3965956" cy="41615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4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独立 Global Buffer 子系统</a:t>
            </a:r>
          </a:p>
        </p:txBody>
      </p:sp>
      <p:sp>
        <p:nvSpPr>
          <p:cNvPr id="31" name="npu-compute"/>
          <p:cNvSpPr/>
          <p:nvPr/>
        </p:nvSpPr>
        <p:spPr>
          <a:xfrm>
            <a:off x="9022080" y="2072640"/>
            <a:ext cx="2194560" cy="1422400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object-032: NPU 计算引擎"/>
          <p:cNvSpPr txBox="1"/>
          <p:nvPr/>
        </p:nvSpPr>
        <p:spPr>
          <a:xfrm>
            <a:off x="9275724" y="2118807"/>
            <a:ext cx="1687271" cy="37713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5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33" name="object-033: GB 数据读写"/>
          <p:cNvSpPr txBox="1"/>
          <p:nvPr/>
        </p:nvSpPr>
        <p:spPr>
          <a:xfrm>
            <a:off x="9451022" y="2446528"/>
            <a:ext cx="1336675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数据读写</a:t>
            </a:r>
          </a:p>
        </p:txBody>
      </p:sp>
      <p:sp>
        <p:nvSpPr>
          <p:cNvPr id="34" name="cfg-tag-C6-33"/>
          <p:cNvSpPr/>
          <p:nvPr/>
        </p:nvSpPr>
        <p:spPr>
          <a:xfrm>
            <a:off x="10728960" y="3129280"/>
            <a:ext cx="382016" cy="235712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object-035: C6"/>
          <p:cNvSpPr txBox="1"/>
          <p:nvPr/>
        </p:nvSpPr>
        <p:spPr>
          <a:xfrm>
            <a:off x="10739628" y="3132531"/>
            <a:ext cx="360680" cy="2600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36" name="gb-router"/>
          <p:cNvSpPr/>
          <p:nvPr/>
        </p:nvSpPr>
        <p:spPr>
          <a:xfrm>
            <a:off x="11501120" y="2682240"/>
            <a:ext cx="1869440" cy="19100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object-037: GB 访问适配"/>
          <p:cNvSpPr txBox="1"/>
          <p:nvPr/>
        </p:nvSpPr>
        <p:spPr>
          <a:xfrm>
            <a:off x="11714029" y="2745964"/>
            <a:ext cx="1443622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38" name="object-038: 局部仲裁 / 路由"/>
          <p:cNvSpPr txBox="1"/>
          <p:nvPr/>
        </p:nvSpPr>
        <p:spPr>
          <a:xfrm>
            <a:off x="11610931" y="3056128"/>
            <a:ext cx="1649819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39" name="object-039: bank 冲突处理"/>
          <p:cNvSpPr txBox="1"/>
          <p:nvPr/>
        </p:nvSpPr>
        <p:spPr>
          <a:xfrm>
            <a:off x="11682273" y="3316224"/>
            <a:ext cx="1507134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冲突处理</a:t>
            </a:r>
          </a:p>
        </p:txBody>
      </p:sp>
      <p:sp>
        <p:nvSpPr>
          <p:cNvPr id="40" name="global-buffer"/>
          <p:cNvSpPr/>
          <p:nvPr/>
        </p:nvSpPr>
        <p:spPr>
          <a:xfrm>
            <a:off x="13695680" y="2072640"/>
            <a:ext cx="4104640" cy="1381760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object-041: Global Buffer"/>
          <p:cNvSpPr txBox="1"/>
          <p:nvPr/>
        </p:nvSpPr>
        <p:spPr>
          <a:xfrm>
            <a:off x="14880463" y="2092472"/>
            <a:ext cx="1735074" cy="41615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4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42" name="object-042: 独立 SRAM · 分 bank"/>
          <p:cNvSpPr txBox="1"/>
          <p:nvPr/>
        </p:nvSpPr>
        <p:spPr>
          <a:xfrm>
            <a:off x="14714442" y="2446528"/>
            <a:ext cx="2067116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43" name="object-043: ISP / NPU–Ara 工作区"/>
          <p:cNvSpPr txBox="1"/>
          <p:nvPr/>
        </p:nvSpPr>
        <p:spPr>
          <a:xfrm>
            <a:off x="14661953" y="2706624"/>
            <a:ext cx="2172094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 / NPU–Ara 工作区</a:t>
            </a:r>
          </a:p>
        </p:txBody>
      </p:sp>
      <p:sp>
        <p:nvSpPr>
          <p:cNvPr id="44" name="cfg-tag-C9-43"/>
          <p:cNvSpPr/>
          <p:nvPr/>
        </p:nvSpPr>
        <p:spPr>
          <a:xfrm>
            <a:off x="17312640" y="3072384"/>
            <a:ext cx="382016" cy="235712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object-045: C9"/>
          <p:cNvSpPr txBox="1"/>
          <p:nvPr/>
        </p:nvSpPr>
        <p:spPr>
          <a:xfrm>
            <a:off x="17323308" y="3075635"/>
            <a:ext cx="360680" cy="2600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cxnSp>
        <p:nvCxnSpPr>
          <p:cNvPr id="46" name="npu-router"/>
          <p:cNvCxnSpPr/>
          <p:nvPr/>
        </p:nvCxnSpPr>
        <p:spPr>
          <a:xfrm>
            <a:off x="11216640" y="2926080"/>
            <a:ext cx="284480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47" name="router-sram"/>
          <p:cNvCxnSpPr/>
          <p:nvPr/>
        </p:nvCxnSpPr>
        <p:spPr>
          <a:xfrm>
            <a:off x="13370560" y="3129280"/>
            <a:ext cx="325120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48" name="npu-transfer"/>
          <p:cNvSpPr/>
          <p:nvPr/>
        </p:nvSpPr>
        <p:spPr>
          <a:xfrm>
            <a:off x="13695680" y="3738880"/>
            <a:ext cx="4104640" cy="97536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object-049: NPU / GB 搬运引擎"/>
          <p:cNvSpPr txBox="1"/>
          <p:nvPr/>
        </p:nvSpPr>
        <p:spPr>
          <a:xfrm>
            <a:off x="14621815" y="3785047"/>
            <a:ext cx="2252370" cy="37713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5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搬运引擎</a:t>
            </a:r>
          </a:p>
        </p:txBody>
      </p:sp>
      <p:sp>
        <p:nvSpPr>
          <p:cNvPr id="50" name="object-050: DDR ↔ GB · 统一 AXI 主口"/>
          <p:cNvSpPr txBox="1"/>
          <p:nvPr/>
        </p:nvSpPr>
        <p:spPr>
          <a:xfrm>
            <a:off x="14466589" y="4112768"/>
            <a:ext cx="2562822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统一 AXI 主口</a:t>
            </a:r>
          </a:p>
        </p:txBody>
      </p:sp>
      <p:sp>
        <p:nvSpPr>
          <p:cNvPr id="51" name="cfg-tag-C7-50"/>
          <p:cNvSpPr/>
          <p:nvPr/>
        </p:nvSpPr>
        <p:spPr>
          <a:xfrm>
            <a:off x="17312640" y="4372864"/>
            <a:ext cx="382016" cy="235712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object-052: C7"/>
          <p:cNvSpPr txBox="1"/>
          <p:nvPr/>
        </p:nvSpPr>
        <p:spPr>
          <a:xfrm>
            <a:off x="17323308" y="4376115"/>
            <a:ext cx="360680" cy="2600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53" name="transfer-router"/>
          <p:cNvCxnSpPr/>
          <p:nvPr/>
        </p:nvCxnSpPr>
        <p:spPr>
          <a:xfrm flipH="1">
            <a:off x="13370560" y="4226560"/>
            <a:ext cx="325120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54" name="ara-gb"/>
          <p:cNvSpPr/>
          <p:nvPr/>
        </p:nvSpPr>
        <p:spPr>
          <a:xfrm>
            <a:off x="6014720" y="4153408"/>
            <a:ext cx="6421120" cy="601472"/>
          </a:xfrm>
          <a:custGeom>
            <a:avLst/>
            <a:gdLst/>
            <a:ahLst/>
            <a:cxnLst/>
            <a:rect l="0" t="0" r="r" b="b"/>
            <a:pathLst>
              <a:path w="6421120" h="601472" fill="none">
                <a:moveTo>
                  <a:pt x="0" y="0"/>
                </a:moveTo>
                <a:lnTo>
                  <a:pt x="0" y="601472"/>
                </a:lnTo>
                <a:lnTo>
                  <a:pt x="6421120" y="601472"/>
                </a:lnTo>
                <a:lnTo>
                  <a:pt x="6421120" y="438912"/>
                </a:lnTo>
              </a:path>
            </a:pathLst>
          </a:custGeom>
          <a:noFill/>
          <a:ln w="26010" cap="flat">
            <a:solidFill>
              <a:srgbClr val="187C78"/>
            </a:solidFill>
            <a:custDash>
              <a:ds d="312500" sp="1875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object-055: Ara 宽侧 GB 分支"/>
          <p:cNvSpPr txBox="1"/>
          <p:nvPr/>
        </p:nvSpPr>
        <p:spPr>
          <a:xfrm>
            <a:off x="8868861" y="4463572"/>
            <a:ext cx="1606918" cy="2991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2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Ara 宽侧 GB 分支</a:t>
            </a:r>
          </a:p>
        </p:txBody>
      </p:sp>
      <p:sp>
        <p:nvSpPr>
          <p:cNvPr id="56" name="image-subsystem"/>
          <p:cNvSpPr/>
          <p:nvPr/>
        </p:nvSpPr>
        <p:spPr>
          <a:xfrm>
            <a:off x="18450560" y="1422400"/>
            <a:ext cx="8656320" cy="3454400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object-057: 图像采集与 ISP"/>
          <p:cNvSpPr txBox="1"/>
          <p:nvPr/>
        </p:nvSpPr>
        <p:spPr>
          <a:xfrm>
            <a:off x="21768308" y="1458488"/>
            <a:ext cx="2012696" cy="41615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4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 ISP</a:t>
            </a:r>
          </a:p>
        </p:txBody>
      </p:sp>
      <p:sp>
        <p:nvSpPr>
          <p:cNvPr id="58" name="lvds"/>
          <p:cNvSpPr/>
          <p:nvPr/>
        </p:nvSpPr>
        <p:spPr>
          <a:xfrm>
            <a:off x="18653760" y="2560320"/>
            <a:ext cx="1341120" cy="15036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object-059: LVDS 接收"/>
          <p:cNvSpPr txBox="1"/>
          <p:nvPr/>
        </p:nvSpPr>
        <p:spPr>
          <a:xfrm>
            <a:off x="18728614" y="2632822"/>
            <a:ext cx="1191412" cy="33812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6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60" name="object-060: 解串 / 帧行"/>
          <p:cNvSpPr txBox="1"/>
          <p:nvPr/>
        </p:nvSpPr>
        <p:spPr>
          <a:xfrm>
            <a:off x="18702611" y="2934208"/>
            <a:ext cx="1243419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61" name="cfg-tag-C4-60"/>
          <p:cNvSpPr/>
          <p:nvPr/>
        </p:nvSpPr>
        <p:spPr>
          <a:xfrm>
            <a:off x="19507200" y="3698240"/>
            <a:ext cx="382016" cy="235712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object-062: C4"/>
          <p:cNvSpPr txBox="1"/>
          <p:nvPr/>
        </p:nvSpPr>
        <p:spPr>
          <a:xfrm>
            <a:off x="19517868" y="3701491"/>
            <a:ext cx="360680" cy="2600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63" name="pixel-cdc"/>
          <p:cNvSpPr/>
          <p:nvPr/>
        </p:nvSpPr>
        <p:spPr>
          <a:xfrm>
            <a:off x="20238720" y="2560320"/>
            <a:ext cx="1300480" cy="15036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object-064: CDC / FIFO"/>
          <p:cNvSpPr txBox="1"/>
          <p:nvPr/>
        </p:nvSpPr>
        <p:spPr>
          <a:xfrm>
            <a:off x="20266101" y="2632822"/>
            <a:ext cx="1245718" cy="33812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6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65" name="object-065: 像素流缓冲"/>
          <p:cNvSpPr txBox="1"/>
          <p:nvPr/>
        </p:nvSpPr>
        <p:spPr>
          <a:xfrm>
            <a:off x="20279360" y="2934208"/>
            <a:ext cx="1219200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66" name="isp"/>
          <p:cNvSpPr/>
          <p:nvPr/>
        </p:nvSpPr>
        <p:spPr>
          <a:xfrm>
            <a:off x="21783040" y="2560320"/>
            <a:ext cx="1341120" cy="1503680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object-067: ISP"/>
          <p:cNvSpPr txBox="1"/>
          <p:nvPr/>
        </p:nvSpPr>
        <p:spPr>
          <a:xfrm>
            <a:off x="22195936" y="2632822"/>
            <a:ext cx="515328" cy="33812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6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68" name="object-068: 行缓冲 / 处理"/>
          <p:cNvSpPr txBox="1"/>
          <p:nvPr/>
        </p:nvSpPr>
        <p:spPr>
          <a:xfrm>
            <a:off x="21730291" y="2934208"/>
            <a:ext cx="1446619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行缓冲 / 处理</a:t>
            </a:r>
          </a:p>
        </p:txBody>
      </p:sp>
      <p:sp>
        <p:nvSpPr>
          <p:cNvPr id="69" name="cfg-tag-C5-68"/>
          <p:cNvSpPr/>
          <p:nvPr/>
        </p:nvSpPr>
        <p:spPr>
          <a:xfrm>
            <a:off x="22636480" y="3698240"/>
            <a:ext cx="382016" cy="235712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object-070: C5"/>
          <p:cNvSpPr txBox="1"/>
          <p:nvPr/>
        </p:nvSpPr>
        <p:spPr>
          <a:xfrm>
            <a:off x="22647148" y="3701491"/>
            <a:ext cx="360680" cy="2600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71" name="frame-select"/>
          <p:cNvSpPr/>
          <p:nvPr/>
        </p:nvSpPr>
        <p:spPr>
          <a:xfrm>
            <a:off x="23368000" y="2560320"/>
            <a:ext cx="1463040" cy="15036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object-072: 帧边界选择"/>
          <p:cNvSpPr txBox="1"/>
          <p:nvPr/>
        </p:nvSpPr>
        <p:spPr>
          <a:xfrm>
            <a:off x="23465536" y="2632822"/>
            <a:ext cx="1267968" cy="33812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6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73" name="object-073: RAW / ISP"/>
          <p:cNvSpPr txBox="1"/>
          <p:nvPr/>
        </p:nvSpPr>
        <p:spPr>
          <a:xfrm>
            <a:off x="23535068" y="2934208"/>
            <a:ext cx="1128903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74" name="frame-dma"/>
          <p:cNvSpPr/>
          <p:nvPr/>
        </p:nvSpPr>
        <p:spPr>
          <a:xfrm>
            <a:off x="25115520" y="2560320"/>
            <a:ext cx="1747520" cy="15036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object-075: 帧写入 DMA"/>
          <p:cNvSpPr txBox="1"/>
          <p:nvPr/>
        </p:nvSpPr>
        <p:spPr>
          <a:xfrm>
            <a:off x="25319590" y="2632822"/>
            <a:ext cx="1339380" cy="33812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6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76" name="object-076: 地址 / stride"/>
          <p:cNvSpPr txBox="1"/>
          <p:nvPr/>
        </p:nvSpPr>
        <p:spPr>
          <a:xfrm>
            <a:off x="25319253" y="2934208"/>
            <a:ext cx="1340053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77" name="cfg-tag-C8-76"/>
          <p:cNvSpPr/>
          <p:nvPr/>
        </p:nvSpPr>
        <p:spPr>
          <a:xfrm>
            <a:off x="26375360" y="3698240"/>
            <a:ext cx="382016" cy="235712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object-078: C8"/>
          <p:cNvSpPr txBox="1"/>
          <p:nvPr/>
        </p:nvSpPr>
        <p:spPr>
          <a:xfrm>
            <a:off x="26386028" y="3701491"/>
            <a:ext cx="360680" cy="2600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79" name="lvds-cdc"/>
          <p:cNvCxnSpPr/>
          <p:nvPr/>
        </p:nvCxnSpPr>
        <p:spPr>
          <a:xfrm>
            <a:off x="19994880" y="3291840"/>
            <a:ext cx="24384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0" name="cdc-isp"/>
          <p:cNvCxnSpPr/>
          <p:nvPr/>
        </p:nvCxnSpPr>
        <p:spPr>
          <a:xfrm>
            <a:off x="21539200" y="3291840"/>
            <a:ext cx="24384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1" name="isp-select"/>
          <p:cNvCxnSpPr/>
          <p:nvPr/>
        </p:nvCxnSpPr>
        <p:spPr>
          <a:xfrm>
            <a:off x="23124160" y="3291840"/>
            <a:ext cx="24384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2" name="select-dma"/>
          <p:cNvCxnSpPr/>
          <p:nvPr/>
        </p:nvCxnSpPr>
        <p:spPr>
          <a:xfrm>
            <a:off x="24831040" y="3291840"/>
            <a:ext cx="28448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83" name="raw-bypass"/>
          <p:cNvSpPr/>
          <p:nvPr/>
        </p:nvSpPr>
        <p:spPr>
          <a:xfrm>
            <a:off x="21661120" y="2194560"/>
            <a:ext cx="2438400" cy="1097280"/>
          </a:xfrm>
          <a:custGeom>
            <a:avLst/>
            <a:gdLst/>
            <a:ahLst/>
            <a:cxnLst/>
            <a:rect l="0" t="0" r="r" b="b"/>
            <a:pathLst>
              <a:path w="2438400" h="1097280" fill="none">
                <a:moveTo>
                  <a:pt x="0" y="1097280"/>
                </a:moveTo>
                <a:lnTo>
                  <a:pt x="0" y="0"/>
                </a:lnTo>
                <a:lnTo>
                  <a:pt x="2438400" y="0"/>
                </a:lnTo>
                <a:lnTo>
                  <a:pt x="2438400" y="365760"/>
                </a:lnTo>
              </a:path>
            </a:pathLst>
          </a:custGeom>
          <a:noFill/>
          <a:ln w="24384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raw-tap"/>
          <p:cNvSpPr/>
          <p:nvPr/>
        </p:nvSpPr>
        <p:spPr>
          <a:xfrm>
            <a:off x="21624544" y="3255264"/>
            <a:ext cx="73152" cy="73152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object-085: RAW 旁路"/>
          <p:cNvSpPr txBox="1"/>
          <p:nvPr/>
        </p:nvSpPr>
        <p:spPr>
          <a:xfrm>
            <a:off x="22507035" y="1895124"/>
            <a:ext cx="990410" cy="2991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2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6" name="object-086: RAW / ISP 二选一 · 帧打包"/>
          <p:cNvSpPr txBox="1"/>
          <p:nvPr/>
        </p:nvSpPr>
        <p:spPr>
          <a:xfrm>
            <a:off x="22902005" y="4275978"/>
            <a:ext cx="2476310" cy="3121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6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 二选一 · 帧打包</a:t>
            </a:r>
          </a:p>
        </p:txBody>
      </p:sp>
      <p:sp>
        <p:nvSpPr>
          <p:cNvPr id="87" name="isp-gb"/>
          <p:cNvSpPr/>
          <p:nvPr/>
        </p:nvSpPr>
        <p:spPr>
          <a:xfrm>
            <a:off x="11688064" y="3820160"/>
            <a:ext cx="10094976" cy="1406144"/>
          </a:xfrm>
          <a:custGeom>
            <a:avLst/>
            <a:gdLst/>
            <a:ahLst/>
            <a:cxnLst/>
            <a:rect l="0" t="0" r="r" b="b"/>
            <a:pathLst>
              <a:path w="10094976" h="1406144" fill="none">
                <a:moveTo>
                  <a:pt x="10094976" y="0"/>
                </a:moveTo>
                <a:lnTo>
                  <a:pt x="9973056" y="0"/>
                </a:lnTo>
                <a:lnTo>
                  <a:pt x="9973056" y="1113536"/>
                </a:lnTo>
                <a:cubicBezTo>
                  <a:pt x="9777984" y="1113536"/>
                  <a:pt x="9777984" y="1324864"/>
                  <a:pt x="9973056" y="1324864"/>
                </a:cubicBezTo>
                <a:lnTo>
                  <a:pt x="9973056" y="1406144"/>
                </a:lnTo>
                <a:lnTo>
                  <a:pt x="178816" y="1406144"/>
                </a:lnTo>
                <a:lnTo>
                  <a:pt x="178816" y="1048512"/>
                </a:lnTo>
                <a:cubicBezTo>
                  <a:pt x="0" y="1048512"/>
                  <a:pt x="0" y="837184"/>
                  <a:pt x="178816" y="837184"/>
                </a:cubicBezTo>
                <a:lnTo>
                  <a:pt x="178816" y="772160"/>
                </a:lnTo>
              </a:path>
            </a:pathLst>
          </a:custGeom>
          <a:noFill/>
          <a:ln w="25197" cap="flat">
            <a:solidFill>
              <a:srgbClr val="187C78"/>
            </a:solidFill>
            <a:custDash>
              <a:ds d="322581" sp="193548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object-088: ISP 中间数据 ↔ GB"/>
          <p:cNvSpPr txBox="1"/>
          <p:nvPr/>
        </p:nvSpPr>
        <p:spPr>
          <a:xfrm>
            <a:off x="19300793" y="4926218"/>
            <a:ext cx="1875854" cy="3121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6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中间数据 ↔ GB</a:t>
            </a:r>
          </a:p>
        </p:txBody>
      </p:sp>
      <p:sp>
        <p:nvSpPr>
          <p:cNvPr id="89" name="debug-sba"/>
          <p:cNvSpPr/>
          <p:nvPr/>
        </p:nvSpPr>
        <p:spPr>
          <a:xfrm>
            <a:off x="3413760" y="5527040"/>
            <a:ext cx="2072640" cy="8128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object-090: Debug / SBA"/>
          <p:cNvSpPr txBox="1"/>
          <p:nvPr/>
        </p:nvSpPr>
        <p:spPr>
          <a:xfrm>
            <a:off x="3715620" y="5590764"/>
            <a:ext cx="1468920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91" name="object-091: JTAG 总线访问"/>
          <p:cNvSpPr txBox="1"/>
          <p:nvPr/>
        </p:nvSpPr>
        <p:spPr>
          <a:xfrm>
            <a:off x="3696411" y="5900928"/>
            <a:ext cx="1507338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92" name="idma-master"/>
          <p:cNvSpPr/>
          <p:nvPr/>
        </p:nvSpPr>
        <p:spPr>
          <a:xfrm>
            <a:off x="9347200" y="5527040"/>
            <a:ext cx="2235200" cy="8128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object-093: iDMA 数据主口"/>
          <p:cNvSpPr txBox="1"/>
          <p:nvPr/>
        </p:nvSpPr>
        <p:spPr>
          <a:xfrm>
            <a:off x="9633375" y="5590764"/>
            <a:ext cx="1662849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数据主口</a:t>
            </a:r>
          </a:p>
        </p:txBody>
      </p:sp>
      <p:sp>
        <p:nvSpPr>
          <p:cNvPr id="94" name="object-094: 内存 ↔ 内存"/>
          <p:cNvSpPr txBox="1"/>
          <p:nvPr/>
        </p:nvSpPr>
        <p:spPr>
          <a:xfrm>
            <a:off x="9794278" y="5900928"/>
            <a:ext cx="1341044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 ↔ 内存</a:t>
            </a:r>
          </a:p>
        </p:txBody>
      </p:sp>
      <p:sp>
        <p:nvSpPr>
          <p:cNvPr id="95" name="slink-rx"/>
          <p:cNvSpPr/>
          <p:nvPr/>
        </p:nvSpPr>
        <p:spPr>
          <a:xfrm>
            <a:off x="12110720" y="5527040"/>
            <a:ext cx="2316480" cy="8128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object-096: Serial Link RX"/>
          <p:cNvSpPr txBox="1"/>
          <p:nvPr/>
        </p:nvSpPr>
        <p:spPr>
          <a:xfrm>
            <a:off x="12497435" y="5590764"/>
            <a:ext cx="1543050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97" name="object-097: 远端请求入口"/>
          <p:cNvSpPr txBox="1"/>
          <p:nvPr/>
        </p:nvSpPr>
        <p:spPr>
          <a:xfrm>
            <a:off x="12557760" y="5900928"/>
            <a:ext cx="1422400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98" name="vga-master"/>
          <p:cNvSpPr/>
          <p:nvPr/>
        </p:nvSpPr>
        <p:spPr>
          <a:xfrm>
            <a:off x="14955520" y="5527040"/>
            <a:ext cx="2072640" cy="8128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object-099: VGA"/>
          <p:cNvSpPr txBox="1"/>
          <p:nvPr/>
        </p:nvSpPr>
        <p:spPr>
          <a:xfrm>
            <a:off x="15686983" y="5590764"/>
            <a:ext cx="609714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100" name="object-100: 帧缓冲读取"/>
          <p:cNvSpPr txBox="1"/>
          <p:nvPr/>
        </p:nvSpPr>
        <p:spPr>
          <a:xfrm>
            <a:off x="15382240" y="5900928"/>
            <a:ext cx="1219200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101" name="usb-master"/>
          <p:cNvSpPr/>
          <p:nvPr/>
        </p:nvSpPr>
        <p:spPr>
          <a:xfrm>
            <a:off x="17556480" y="5527040"/>
            <a:ext cx="2032000" cy="8128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object-102: USB DMA"/>
          <p:cNvSpPr txBox="1"/>
          <p:nvPr/>
        </p:nvSpPr>
        <p:spPr>
          <a:xfrm>
            <a:off x="18000154" y="5590764"/>
            <a:ext cx="1144651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103" name="object-103: OHCI 主口"/>
          <p:cNvSpPr txBox="1"/>
          <p:nvPr/>
        </p:nvSpPr>
        <p:spPr>
          <a:xfrm>
            <a:off x="18013978" y="5900928"/>
            <a:ext cx="1117003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主口</a:t>
            </a:r>
          </a:p>
        </p:txBody>
      </p:sp>
      <p:sp>
        <p:nvSpPr>
          <p:cNvPr id="104" name="ext-master"/>
          <p:cNvSpPr/>
          <p:nvPr/>
        </p:nvSpPr>
        <p:spPr>
          <a:xfrm>
            <a:off x="20157440" y="5527040"/>
            <a:ext cx="3007360" cy="812800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object-105: AXI 外部 master"/>
          <p:cNvSpPr txBox="1"/>
          <p:nvPr/>
        </p:nvSpPr>
        <p:spPr>
          <a:xfrm>
            <a:off x="20781791" y="5590764"/>
            <a:ext cx="1758658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106" name="object-106: 可选扩展入口"/>
          <p:cNvSpPr txBox="1"/>
          <p:nvPr/>
        </p:nvSpPr>
        <p:spPr>
          <a:xfrm>
            <a:off x="20949920" y="5900928"/>
            <a:ext cx="1422400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cxnSp>
        <p:nvCxnSpPr>
          <p:cNvPr id="107" name="cpu-master"/>
          <p:cNvCxnSpPr/>
          <p:nvPr/>
        </p:nvCxnSpPr>
        <p:spPr>
          <a:xfrm>
            <a:off x="1991360" y="3820160"/>
            <a:ext cx="0" cy="284480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108" name="ara-master"/>
          <p:cNvCxnSpPr/>
          <p:nvPr/>
        </p:nvCxnSpPr>
        <p:spPr>
          <a:xfrm>
            <a:off x="7518400" y="4153408"/>
            <a:ext cx="0" cy="2511552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9" name="object-109: CPU AXI"/>
          <p:cNvSpPr txBox="1"/>
          <p:nvPr/>
        </p:nvSpPr>
        <p:spPr>
          <a:xfrm>
            <a:off x="902919" y="5917184"/>
            <a:ext cx="909625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AXI</a:t>
            </a:r>
          </a:p>
        </p:txBody>
      </p:sp>
      <p:sp>
        <p:nvSpPr>
          <p:cNvPr id="110" name="object-110: Ara 普通地址"/>
          <p:cNvSpPr txBox="1"/>
          <p:nvPr/>
        </p:nvSpPr>
        <p:spPr>
          <a:xfrm>
            <a:off x="5990793" y="5917184"/>
            <a:ext cx="1365047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Ara 普通地址</a:t>
            </a:r>
          </a:p>
        </p:txBody>
      </p:sp>
      <p:sp>
        <p:nvSpPr>
          <p:cNvPr id="111" name="axi-crossbar"/>
          <p:cNvSpPr/>
          <p:nvPr/>
        </p:nvSpPr>
        <p:spPr>
          <a:xfrm>
            <a:off x="772160" y="6664960"/>
            <a:ext cx="23002240" cy="1097280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object-112: AXI Crossbar"/>
          <p:cNvSpPr txBox="1"/>
          <p:nvPr/>
        </p:nvSpPr>
        <p:spPr>
          <a:xfrm>
            <a:off x="11204892" y="6720230"/>
            <a:ext cx="2136775" cy="5201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113" name="object-113: 7 × 5 基础端口 + 扩展  |  64 bit 数据 / 48 bit 地"/>
          <p:cNvSpPr txBox="1"/>
          <p:nvPr/>
        </p:nvSpPr>
        <p:spPr>
          <a:xfrm>
            <a:off x="8449583" y="7200108"/>
            <a:ext cx="7647394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7 × 5 基础端口 + 扩展  |  64 bit 数据 / 48 bit 地址  |  地址译码 / 各目标仲裁</a:t>
            </a:r>
          </a:p>
        </p:txBody>
      </p:sp>
      <p:sp>
        <p:nvSpPr>
          <p:cNvPr id="114" name="object-114: 输入侧 AXI RT：按配置可选"/>
          <p:cNvSpPr txBox="1"/>
          <p:nvPr/>
        </p:nvSpPr>
        <p:spPr>
          <a:xfrm>
            <a:off x="1040384" y="7473533"/>
            <a:ext cx="2019541" cy="2470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6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 AXI RT：按配置可选</a:t>
            </a:r>
          </a:p>
        </p:txBody>
      </p:sp>
      <p:sp>
        <p:nvSpPr>
          <p:cNvPr id="115" name="object-115: 未映射请求：DECERR"/>
          <p:cNvSpPr txBox="1"/>
          <p:nvPr/>
        </p:nvSpPr>
        <p:spPr>
          <a:xfrm>
            <a:off x="21888056" y="7473533"/>
            <a:ext cx="1642504" cy="2470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6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</a:p>
        </p:txBody>
      </p:sp>
      <p:sp>
        <p:nvSpPr>
          <p:cNvPr id="116" name="master-port-0"/>
          <p:cNvSpPr/>
          <p:nvPr/>
        </p:nvSpPr>
        <p:spPr>
          <a:xfrm>
            <a:off x="1601216" y="6543040"/>
            <a:ext cx="780288" cy="235712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object-117: S0"/>
          <p:cNvSpPr txBox="1"/>
          <p:nvPr/>
        </p:nvSpPr>
        <p:spPr>
          <a:xfrm>
            <a:off x="1811020" y="6546291"/>
            <a:ext cx="360680" cy="2600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cxnSp>
        <p:nvCxnSpPr>
          <p:cNvPr id="118" name="master-input-1"/>
          <p:cNvCxnSpPr/>
          <p:nvPr/>
        </p:nvCxnSpPr>
        <p:spPr>
          <a:xfrm>
            <a:off x="4446016" y="6339840"/>
            <a:ext cx="0" cy="3251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9" name="master-port-1"/>
          <p:cNvSpPr/>
          <p:nvPr/>
        </p:nvSpPr>
        <p:spPr>
          <a:xfrm>
            <a:off x="4055872" y="6543040"/>
            <a:ext cx="780288" cy="235712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object-120: S1"/>
          <p:cNvSpPr txBox="1"/>
          <p:nvPr/>
        </p:nvSpPr>
        <p:spPr>
          <a:xfrm>
            <a:off x="4265676" y="6546291"/>
            <a:ext cx="360680" cy="2600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21" name="master-port-2"/>
          <p:cNvSpPr/>
          <p:nvPr/>
        </p:nvSpPr>
        <p:spPr>
          <a:xfrm>
            <a:off x="7128256" y="6543040"/>
            <a:ext cx="780288" cy="235712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object-122: S2"/>
          <p:cNvSpPr txBox="1"/>
          <p:nvPr/>
        </p:nvSpPr>
        <p:spPr>
          <a:xfrm>
            <a:off x="7338060" y="6546291"/>
            <a:ext cx="360680" cy="2600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cxnSp>
        <p:nvCxnSpPr>
          <p:cNvPr id="123" name="master-input-3"/>
          <p:cNvCxnSpPr/>
          <p:nvPr/>
        </p:nvCxnSpPr>
        <p:spPr>
          <a:xfrm>
            <a:off x="10460736" y="6339840"/>
            <a:ext cx="0" cy="3251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24" name="master-port-3"/>
          <p:cNvSpPr/>
          <p:nvPr/>
        </p:nvSpPr>
        <p:spPr>
          <a:xfrm>
            <a:off x="10070592" y="6543040"/>
            <a:ext cx="780288" cy="235712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" name="object-125: S3"/>
          <p:cNvSpPr txBox="1"/>
          <p:nvPr/>
        </p:nvSpPr>
        <p:spPr>
          <a:xfrm>
            <a:off x="10280396" y="6546291"/>
            <a:ext cx="360680" cy="2600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cxnSp>
        <p:nvCxnSpPr>
          <p:cNvPr id="126" name="master-input-4"/>
          <p:cNvCxnSpPr/>
          <p:nvPr/>
        </p:nvCxnSpPr>
        <p:spPr>
          <a:xfrm>
            <a:off x="13264896" y="6339840"/>
            <a:ext cx="0" cy="3251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27" name="master-port-4"/>
          <p:cNvSpPr/>
          <p:nvPr/>
        </p:nvSpPr>
        <p:spPr>
          <a:xfrm>
            <a:off x="12874752" y="6543040"/>
            <a:ext cx="780288" cy="235712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object-128: S4"/>
          <p:cNvSpPr txBox="1"/>
          <p:nvPr/>
        </p:nvSpPr>
        <p:spPr>
          <a:xfrm>
            <a:off x="13084556" y="6546291"/>
            <a:ext cx="360680" cy="2600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cxnSp>
        <p:nvCxnSpPr>
          <p:cNvPr id="129" name="master-input-5"/>
          <p:cNvCxnSpPr/>
          <p:nvPr/>
        </p:nvCxnSpPr>
        <p:spPr>
          <a:xfrm>
            <a:off x="15987776" y="6339840"/>
            <a:ext cx="0" cy="3251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30" name="master-port-5"/>
          <p:cNvSpPr/>
          <p:nvPr/>
        </p:nvSpPr>
        <p:spPr>
          <a:xfrm>
            <a:off x="15597632" y="6543040"/>
            <a:ext cx="780288" cy="235712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object-131: S5"/>
          <p:cNvSpPr txBox="1"/>
          <p:nvPr/>
        </p:nvSpPr>
        <p:spPr>
          <a:xfrm>
            <a:off x="15807436" y="6546291"/>
            <a:ext cx="360680" cy="2600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cxnSp>
        <p:nvCxnSpPr>
          <p:cNvPr id="132" name="master-input-6"/>
          <p:cNvCxnSpPr/>
          <p:nvPr/>
        </p:nvCxnSpPr>
        <p:spPr>
          <a:xfrm>
            <a:off x="18572480" y="6339840"/>
            <a:ext cx="0" cy="3251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33" name="master-port-6"/>
          <p:cNvSpPr/>
          <p:nvPr/>
        </p:nvSpPr>
        <p:spPr>
          <a:xfrm>
            <a:off x="18182336" y="6543040"/>
            <a:ext cx="780288" cy="235712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object-134: S6"/>
          <p:cNvSpPr txBox="1"/>
          <p:nvPr/>
        </p:nvSpPr>
        <p:spPr>
          <a:xfrm>
            <a:off x="18392140" y="6546291"/>
            <a:ext cx="360680" cy="2600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cxnSp>
        <p:nvCxnSpPr>
          <p:cNvPr id="135" name="master-input-7"/>
          <p:cNvCxnSpPr/>
          <p:nvPr/>
        </p:nvCxnSpPr>
        <p:spPr>
          <a:xfrm>
            <a:off x="21661120" y="6339840"/>
            <a:ext cx="0" cy="3251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136" name="master-port-7"/>
          <p:cNvSpPr/>
          <p:nvPr/>
        </p:nvSpPr>
        <p:spPr>
          <a:xfrm>
            <a:off x="21270976" y="6543040"/>
            <a:ext cx="780288" cy="235712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object-137: S_EXT"/>
          <p:cNvSpPr txBox="1"/>
          <p:nvPr/>
        </p:nvSpPr>
        <p:spPr>
          <a:xfrm>
            <a:off x="21358936" y="6546291"/>
            <a:ext cx="604368" cy="2600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138" name="object-138: AXI master / 请求发起端"/>
          <p:cNvSpPr txBox="1"/>
          <p:nvPr/>
        </p:nvSpPr>
        <p:spPr>
          <a:xfrm>
            <a:off x="9347200" y="5218826"/>
            <a:ext cx="2308288" cy="3121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6" b="1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master / 请求发起端</a:t>
            </a:r>
          </a:p>
        </p:txBody>
      </p:sp>
      <p:cxnSp>
        <p:nvCxnSpPr>
          <p:cNvPr id="139" name="target-output-0"/>
          <p:cNvCxnSpPr/>
          <p:nvPr/>
        </p:nvCxnSpPr>
        <p:spPr>
          <a:xfrm>
            <a:off x="2072640" y="7762240"/>
            <a:ext cx="0" cy="5283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40" name="target-port-0"/>
          <p:cNvSpPr/>
          <p:nvPr/>
        </p:nvSpPr>
        <p:spPr>
          <a:xfrm>
            <a:off x="1682496" y="7640320"/>
            <a:ext cx="780288" cy="235712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object-141: M0"/>
          <p:cNvSpPr txBox="1"/>
          <p:nvPr/>
        </p:nvSpPr>
        <p:spPr>
          <a:xfrm>
            <a:off x="1876025" y="7643571"/>
            <a:ext cx="393230" cy="2600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142" name="debug-target"/>
          <p:cNvSpPr/>
          <p:nvPr/>
        </p:nvSpPr>
        <p:spPr>
          <a:xfrm>
            <a:off x="772160" y="8290560"/>
            <a:ext cx="2600960" cy="125984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object-143: Debug 目标"/>
          <p:cNvSpPr txBox="1"/>
          <p:nvPr/>
        </p:nvSpPr>
        <p:spPr>
          <a:xfrm>
            <a:off x="1381214" y="8345505"/>
            <a:ext cx="1382852" cy="3641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2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144" name="object-144: 调试模块地址窗口"/>
          <p:cNvSpPr txBox="1"/>
          <p:nvPr/>
        </p:nvSpPr>
        <p:spPr>
          <a:xfrm>
            <a:off x="1158240" y="8664448"/>
            <a:ext cx="1828800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调试模块地址窗口</a:t>
            </a:r>
          </a:p>
        </p:txBody>
      </p:sp>
      <p:cxnSp>
        <p:nvCxnSpPr>
          <p:cNvPr id="145" name="target-output-1"/>
          <p:cNvCxnSpPr/>
          <p:nvPr/>
        </p:nvCxnSpPr>
        <p:spPr>
          <a:xfrm>
            <a:off x="5892800" y="7762240"/>
            <a:ext cx="0" cy="5283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46" name="target-port-1"/>
          <p:cNvSpPr/>
          <p:nvPr/>
        </p:nvSpPr>
        <p:spPr>
          <a:xfrm>
            <a:off x="5502656" y="7640320"/>
            <a:ext cx="780288" cy="235712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7" name="object-147: M1"/>
          <p:cNvSpPr txBox="1"/>
          <p:nvPr/>
        </p:nvSpPr>
        <p:spPr>
          <a:xfrm>
            <a:off x="5696185" y="7643571"/>
            <a:ext cx="393230" cy="2600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148" name="reg-bridge"/>
          <p:cNvSpPr/>
          <p:nvPr/>
        </p:nvSpPr>
        <p:spPr>
          <a:xfrm>
            <a:off x="3860800" y="8290560"/>
            <a:ext cx="4064000" cy="1259840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" name="object-149: AXI → Regbus"/>
          <p:cNvSpPr txBox="1"/>
          <p:nvPr/>
        </p:nvSpPr>
        <p:spPr>
          <a:xfrm>
            <a:off x="5071910" y="8345505"/>
            <a:ext cx="1641780" cy="3641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2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150" name="object-150: 原子适配 / 桥接 · 32 bit"/>
          <p:cNvSpPr txBox="1"/>
          <p:nvPr/>
        </p:nvSpPr>
        <p:spPr>
          <a:xfrm>
            <a:off x="4718837" y="8664448"/>
            <a:ext cx="2347925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/ 桥接 · 32 bit</a:t>
            </a:r>
          </a:p>
        </p:txBody>
      </p:sp>
      <p:cxnSp>
        <p:nvCxnSpPr>
          <p:cNvPr id="151" name="target-output-2"/>
          <p:cNvCxnSpPr/>
          <p:nvPr/>
        </p:nvCxnSpPr>
        <p:spPr>
          <a:xfrm>
            <a:off x="10403840" y="7762240"/>
            <a:ext cx="0" cy="5283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52" name="target-port-2"/>
          <p:cNvSpPr/>
          <p:nvPr/>
        </p:nvSpPr>
        <p:spPr>
          <a:xfrm>
            <a:off x="10013696" y="7640320"/>
            <a:ext cx="780288" cy="235712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" name="object-153: M2"/>
          <p:cNvSpPr txBox="1"/>
          <p:nvPr/>
        </p:nvSpPr>
        <p:spPr>
          <a:xfrm>
            <a:off x="10207225" y="7643571"/>
            <a:ext cx="393230" cy="2600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154" name="memory-target"/>
          <p:cNvSpPr/>
          <p:nvPr/>
        </p:nvSpPr>
        <p:spPr>
          <a:xfrm>
            <a:off x="8453120" y="8290560"/>
            <a:ext cx="3901440" cy="125984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" name="object-155: 主存 / SPM 共用目标"/>
          <p:cNvSpPr txBox="1"/>
          <p:nvPr/>
        </p:nvSpPr>
        <p:spPr>
          <a:xfrm>
            <a:off x="9218454" y="8345505"/>
            <a:ext cx="2370772" cy="3641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2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cxnSp>
        <p:nvCxnSpPr>
          <p:cNvPr id="156" name="target-output-3"/>
          <p:cNvCxnSpPr/>
          <p:nvPr/>
        </p:nvCxnSpPr>
        <p:spPr>
          <a:xfrm>
            <a:off x="14467840" y="7762240"/>
            <a:ext cx="0" cy="5283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57" name="target-port-3"/>
          <p:cNvSpPr/>
          <p:nvPr/>
        </p:nvSpPr>
        <p:spPr>
          <a:xfrm>
            <a:off x="14077696" y="7640320"/>
            <a:ext cx="780288" cy="235712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" name="object-158: M3"/>
          <p:cNvSpPr txBox="1"/>
          <p:nvPr/>
        </p:nvSpPr>
        <p:spPr>
          <a:xfrm>
            <a:off x="14271225" y="7643571"/>
            <a:ext cx="393230" cy="2600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159" name="idma-config"/>
          <p:cNvSpPr/>
          <p:nvPr/>
        </p:nvSpPr>
        <p:spPr>
          <a:xfrm>
            <a:off x="12842240" y="8290560"/>
            <a:ext cx="3251200" cy="125984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0" name="object-160: iDMA 配置"/>
          <p:cNvSpPr txBox="1"/>
          <p:nvPr/>
        </p:nvSpPr>
        <p:spPr>
          <a:xfrm>
            <a:off x="13833189" y="8345505"/>
            <a:ext cx="1269302" cy="3641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2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161" name="object-161: 原子适配 → AXI→Reg"/>
          <p:cNvSpPr txBox="1"/>
          <p:nvPr/>
        </p:nvSpPr>
        <p:spPr>
          <a:xfrm>
            <a:off x="13389235" y="8664448"/>
            <a:ext cx="2157209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162" name="object-162: wrapper 内部寄存器"/>
          <p:cNvSpPr txBox="1"/>
          <p:nvPr/>
        </p:nvSpPr>
        <p:spPr>
          <a:xfrm>
            <a:off x="13476846" y="8924544"/>
            <a:ext cx="1981987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cxnSp>
        <p:nvCxnSpPr>
          <p:cNvPr id="163" name="target-output-4"/>
          <p:cNvCxnSpPr/>
          <p:nvPr/>
        </p:nvCxnSpPr>
        <p:spPr>
          <a:xfrm>
            <a:off x="18288000" y="7762240"/>
            <a:ext cx="0" cy="5283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64" name="target-port-4"/>
          <p:cNvSpPr/>
          <p:nvPr/>
        </p:nvSpPr>
        <p:spPr>
          <a:xfrm>
            <a:off x="17897856" y="7640320"/>
            <a:ext cx="780288" cy="235712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" name="object-165: M4"/>
          <p:cNvSpPr txBox="1"/>
          <p:nvPr/>
        </p:nvSpPr>
        <p:spPr>
          <a:xfrm>
            <a:off x="18091385" y="7643571"/>
            <a:ext cx="393230" cy="2600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166" name="slink-tx"/>
          <p:cNvSpPr/>
          <p:nvPr/>
        </p:nvSpPr>
        <p:spPr>
          <a:xfrm>
            <a:off x="16581120" y="8290560"/>
            <a:ext cx="3413760" cy="125984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7" name="object-167: Serial Link TX"/>
          <p:cNvSpPr txBox="1"/>
          <p:nvPr/>
        </p:nvSpPr>
        <p:spPr>
          <a:xfrm>
            <a:off x="17501438" y="8345505"/>
            <a:ext cx="1573124" cy="3641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2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168" name="object-168: 远端数据目标窗口"/>
          <p:cNvSpPr txBox="1"/>
          <p:nvPr/>
        </p:nvSpPr>
        <p:spPr>
          <a:xfrm>
            <a:off x="17373600" y="8664448"/>
            <a:ext cx="1828800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远端数据目标窗口</a:t>
            </a:r>
          </a:p>
        </p:txBody>
      </p:sp>
      <p:cxnSp>
        <p:nvCxnSpPr>
          <p:cNvPr id="169" name="target-output-5"/>
          <p:cNvCxnSpPr/>
          <p:nvPr/>
        </p:nvCxnSpPr>
        <p:spPr>
          <a:xfrm>
            <a:off x="22108160" y="7762240"/>
            <a:ext cx="0" cy="5283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170" name="target-port-5"/>
          <p:cNvSpPr/>
          <p:nvPr/>
        </p:nvSpPr>
        <p:spPr>
          <a:xfrm>
            <a:off x="21718016" y="7640320"/>
            <a:ext cx="780288" cy="235712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1" name="object-171: M_EXT"/>
          <p:cNvSpPr txBox="1"/>
          <p:nvPr/>
        </p:nvSpPr>
        <p:spPr>
          <a:xfrm>
            <a:off x="21789701" y="7643571"/>
            <a:ext cx="636918" cy="2600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172" name="ext-target"/>
          <p:cNvSpPr/>
          <p:nvPr/>
        </p:nvSpPr>
        <p:spPr>
          <a:xfrm>
            <a:off x="20441920" y="8290560"/>
            <a:ext cx="3332480" cy="1259840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3" name="object-173: AXI 外部 slave"/>
          <p:cNvSpPr txBox="1"/>
          <p:nvPr/>
        </p:nvSpPr>
        <p:spPr>
          <a:xfrm>
            <a:off x="21284933" y="8345505"/>
            <a:ext cx="1646453" cy="3641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2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174" name="object-174: 可选扩展 / CPU 直访 GB 待定"/>
          <p:cNvSpPr txBox="1"/>
          <p:nvPr/>
        </p:nvSpPr>
        <p:spPr>
          <a:xfrm>
            <a:off x="20674051" y="8664448"/>
            <a:ext cx="2868219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 / CPU 直访 GB 待定</a:t>
            </a:r>
          </a:p>
        </p:txBody>
      </p:sp>
      <p:sp>
        <p:nvSpPr>
          <p:cNvPr id="175" name="atomics"/>
          <p:cNvSpPr/>
          <p:nvPr/>
        </p:nvSpPr>
        <p:spPr>
          <a:xfrm>
            <a:off x="8615680" y="8778240"/>
            <a:ext cx="1584960" cy="682752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6" name="object-176: 原子适配"/>
          <p:cNvSpPr txBox="1"/>
          <p:nvPr/>
        </p:nvSpPr>
        <p:spPr>
          <a:xfrm>
            <a:off x="8940800" y="8877076"/>
            <a:ext cx="934720" cy="2991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2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177" name="object-177: AMO / LRSC"/>
          <p:cNvSpPr txBox="1"/>
          <p:nvPr/>
        </p:nvSpPr>
        <p:spPr>
          <a:xfrm>
            <a:off x="8746274" y="9152128"/>
            <a:ext cx="1323772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178" name="llc-spm"/>
          <p:cNvSpPr/>
          <p:nvPr/>
        </p:nvSpPr>
        <p:spPr>
          <a:xfrm>
            <a:off x="10566400" y="8778240"/>
            <a:ext cx="1584960" cy="682752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9" name="object-179: LLC / SPM"/>
          <p:cNvSpPr txBox="1"/>
          <p:nvPr/>
        </p:nvSpPr>
        <p:spPr>
          <a:xfrm>
            <a:off x="10822686" y="8877076"/>
            <a:ext cx="1072388" cy="2991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2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180" name="object-180: 同一 SRAM 阵列"/>
          <p:cNvSpPr txBox="1"/>
          <p:nvPr/>
        </p:nvSpPr>
        <p:spPr>
          <a:xfrm>
            <a:off x="10524058" y="9152128"/>
            <a:ext cx="1669644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同一 SRAM 阵列</a:t>
            </a:r>
          </a:p>
        </p:txBody>
      </p:sp>
      <p:cxnSp>
        <p:nvCxnSpPr>
          <p:cNvPr id="181" name="atomics-llc"/>
          <p:cNvCxnSpPr/>
          <p:nvPr/>
        </p:nvCxnSpPr>
        <p:spPr>
          <a:xfrm>
            <a:off x="10200640" y="9087104"/>
            <a:ext cx="36576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82" name="reg-subsystem"/>
          <p:cNvSpPr/>
          <p:nvPr/>
        </p:nvSpPr>
        <p:spPr>
          <a:xfrm>
            <a:off x="609600" y="9834880"/>
            <a:ext cx="15808960" cy="4064000"/>
          </a:xfrm>
          <a:prstGeom prst="rect">
            <a:avLst/>
          </a:prstGeom>
          <a:solidFill>
            <a:srgbClr val="FAF8FB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3" name="regbus"/>
          <p:cNvSpPr/>
          <p:nvPr/>
        </p:nvSpPr>
        <p:spPr>
          <a:xfrm>
            <a:off x="772160" y="9997440"/>
            <a:ext cx="15483840" cy="568960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4" name="object-184: Regbus decode / demux  ·  32 bit"/>
          <p:cNvSpPr txBox="1"/>
          <p:nvPr/>
        </p:nvSpPr>
        <p:spPr>
          <a:xfrm>
            <a:off x="6460363" y="10098552"/>
            <a:ext cx="4099306" cy="41615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4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 decode / demux  ·  32 bit</a:t>
            </a:r>
          </a:p>
        </p:txBody>
      </p:sp>
      <p:cxnSp>
        <p:nvCxnSpPr>
          <p:cNvPr id="185" name="axi-regbus"/>
          <p:cNvCxnSpPr/>
          <p:nvPr/>
        </p:nvCxnSpPr>
        <p:spPr>
          <a:xfrm>
            <a:off x="5892800" y="9550400"/>
            <a:ext cx="0" cy="447040"/>
          </a:xfrm>
          <a:prstGeom prst="line">
            <a:avLst/>
          </a:prstGeom>
          <a:ln w="28448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186" name="regbus-trunk-0"/>
          <p:cNvCxnSpPr/>
          <p:nvPr/>
        </p:nvCxnSpPr>
        <p:spPr>
          <a:xfrm>
            <a:off x="1056640" y="10566400"/>
            <a:ext cx="0" cy="2836672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187" name="regbus-trunk-1"/>
          <p:cNvCxnSpPr/>
          <p:nvPr/>
        </p:nvCxnSpPr>
        <p:spPr>
          <a:xfrm>
            <a:off x="4104640" y="10566400"/>
            <a:ext cx="0" cy="2836672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188" name="regbus-trunk-2"/>
          <p:cNvCxnSpPr/>
          <p:nvPr/>
        </p:nvCxnSpPr>
        <p:spPr>
          <a:xfrm>
            <a:off x="7152640" y="10566400"/>
            <a:ext cx="0" cy="2836672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189" name="regbus-trunk-3"/>
          <p:cNvCxnSpPr/>
          <p:nvPr/>
        </p:nvCxnSpPr>
        <p:spPr>
          <a:xfrm>
            <a:off x="10200640" y="10566400"/>
            <a:ext cx="0" cy="2836672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190" name="regbus-trunk-4"/>
          <p:cNvCxnSpPr/>
          <p:nvPr/>
        </p:nvCxnSpPr>
        <p:spPr>
          <a:xfrm>
            <a:off x="13248640" y="10566400"/>
            <a:ext cx="0" cy="2836672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sp>
        <p:nvSpPr>
          <p:cNvPr id="191" name="bootrom"/>
          <p:cNvSpPr/>
          <p:nvPr/>
        </p:nvSpPr>
        <p:spPr>
          <a:xfrm>
            <a:off x="1219200" y="10810240"/>
            <a:ext cx="2600960" cy="633984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2" name="object-192: Boot ROM"/>
          <p:cNvSpPr txBox="1"/>
          <p:nvPr/>
        </p:nvSpPr>
        <p:spPr>
          <a:xfrm>
            <a:off x="1969618" y="10842752"/>
            <a:ext cx="1100125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193" name="object-193: 启动代码"/>
          <p:cNvSpPr txBox="1"/>
          <p:nvPr/>
        </p:nvSpPr>
        <p:spPr>
          <a:xfrm>
            <a:off x="2072640" y="11112927"/>
            <a:ext cx="894080" cy="28610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194" name="reg-drop-bootrom"/>
          <p:cNvCxnSpPr/>
          <p:nvPr/>
        </p:nvCxnSpPr>
        <p:spPr>
          <a:xfrm>
            <a:off x="1056640" y="11127232"/>
            <a:ext cx="162560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95" name="clint"/>
          <p:cNvSpPr/>
          <p:nvPr/>
        </p:nvSpPr>
        <p:spPr>
          <a:xfrm>
            <a:off x="4267200" y="10810240"/>
            <a:ext cx="2600960" cy="633984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6" name="object-196: CLINT"/>
          <p:cNvSpPr txBox="1"/>
          <p:nvPr/>
        </p:nvSpPr>
        <p:spPr>
          <a:xfrm>
            <a:off x="5208213" y="10842752"/>
            <a:ext cx="718934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197" name="object-197: 软件 / 定时中断"/>
          <p:cNvSpPr txBox="1"/>
          <p:nvPr/>
        </p:nvSpPr>
        <p:spPr>
          <a:xfrm>
            <a:off x="4841767" y="11112927"/>
            <a:ext cx="1451826" cy="28610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198" name="reg-drop-clint"/>
          <p:cNvCxnSpPr/>
          <p:nvPr/>
        </p:nvCxnSpPr>
        <p:spPr>
          <a:xfrm>
            <a:off x="4104640" y="11127232"/>
            <a:ext cx="162560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99" name="soc-regs"/>
          <p:cNvSpPr/>
          <p:nvPr/>
        </p:nvSpPr>
        <p:spPr>
          <a:xfrm>
            <a:off x="7315200" y="10810240"/>
            <a:ext cx="2600960" cy="633984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0" name="object-200: SoC 寄存器"/>
          <p:cNvSpPr txBox="1"/>
          <p:nvPr/>
        </p:nvSpPr>
        <p:spPr>
          <a:xfrm>
            <a:off x="7998244" y="10842752"/>
            <a:ext cx="1234872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201" name="object-201: 平台信息 / scratch"/>
          <p:cNvSpPr txBox="1"/>
          <p:nvPr/>
        </p:nvSpPr>
        <p:spPr>
          <a:xfrm>
            <a:off x="7782903" y="11112927"/>
            <a:ext cx="1665554" cy="28610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202" name="reg-drop-soc-regs"/>
          <p:cNvCxnSpPr/>
          <p:nvPr/>
        </p:nvCxnSpPr>
        <p:spPr>
          <a:xfrm>
            <a:off x="7152640" y="11127232"/>
            <a:ext cx="162560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203" name="plic"/>
          <p:cNvSpPr/>
          <p:nvPr/>
        </p:nvSpPr>
        <p:spPr>
          <a:xfrm>
            <a:off x="10363200" y="10810240"/>
            <a:ext cx="2600960" cy="633984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4" name="object-204: PLIC"/>
          <p:cNvSpPr txBox="1"/>
          <p:nvPr/>
        </p:nvSpPr>
        <p:spPr>
          <a:xfrm>
            <a:off x="11365135" y="10842752"/>
            <a:ext cx="597090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205" name="object-205: 外部中断控制"/>
          <p:cNvSpPr txBox="1"/>
          <p:nvPr/>
        </p:nvSpPr>
        <p:spPr>
          <a:xfrm>
            <a:off x="11037824" y="11112927"/>
            <a:ext cx="1251712" cy="28610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206" name="reg-drop-plic"/>
          <p:cNvCxnSpPr/>
          <p:nvPr/>
        </p:nvCxnSpPr>
        <p:spPr>
          <a:xfrm>
            <a:off x="10200640" y="11127232"/>
            <a:ext cx="162560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207" name="llc-regs"/>
          <p:cNvSpPr/>
          <p:nvPr/>
        </p:nvSpPr>
        <p:spPr>
          <a:xfrm>
            <a:off x="13411200" y="10810240"/>
            <a:ext cx="2600960" cy="633984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8" name="object-208: LLC 配置"/>
          <p:cNvSpPr txBox="1"/>
          <p:nvPr/>
        </p:nvSpPr>
        <p:spPr>
          <a:xfrm>
            <a:off x="14211916" y="10842752"/>
            <a:ext cx="999528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209" name="object-209: SPM way / cache"/>
          <p:cNvSpPr txBox="1"/>
          <p:nvPr/>
        </p:nvSpPr>
        <p:spPr>
          <a:xfrm>
            <a:off x="13941762" y="11112927"/>
            <a:ext cx="1539837" cy="28610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210" name="reg-drop-llc-regs"/>
          <p:cNvCxnSpPr/>
          <p:nvPr/>
        </p:nvCxnSpPr>
        <p:spPr>
          <a:xfrm>
            <a:off x="13248640" y="11127232"/>
            <a:ext cx="162560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211" name="uart"/>
          <p:cNvSpPr/>
          <p:nvPr/>
        </p:nvSpPr>
        <p:spPr>
          <a:xfrm>
            <a:off x="1219200" y="11558016"/>
            <a:ext cx="2600960" cy="633984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2" name="object-212: UART"/>
          <p:cNvSpPr txBox="1"/>
          <p:nvPr/>
        </p:nvSpPr>
        <p:spPr>
          <a:xfrm>
            <a:off x="2182539" y="11590528"/>
            <a:ext cx="674281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213" name="object-213: 串口控制"/>
          <p:cNvSpPr txBox="1"/>
          <p:nvPr/>
        </p:nvSpPr>
        <p:spPr>
          <a:xfrm>
            <a:off x="2072640" y="11860703"/>
            <a:ext cx="894080" cy="28610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214" name="reg-drop-uart"/>
          <p:cNvCxnSpPr/>
          <p:nvPr/>
        </p:nvCxnSpPr>
        <p:spPr>
          <a:xfrm>
            <a:off x="1056640" y="11875008"/>
            <a:ext cx="162560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215" name="i2c"/>
          <p:cNvSpPr/>
          <p:nvPr/>
        </p:nvSpPr>
        <p:spPr>
          <a:xfrm>
            <a:off x="4267200" y="11558016"/>
            <a:ext cx="2600960" cy="633984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6" name="object-216: I2C"/>
          <p:cNvSpPr txBox="1"/>
          <p:nvPr/>
        </p:nvSpPr>
        <p:spPr>
          <a:xfrm>
            <a:off x="5315864" y="11590528"/>
            <a:ext cx="503631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217" name="object-217: 两线串行控制"/>
          <p:cNvSpPr txBox="1"/>
          <p:nvPr/>
        </p:nvSpPr>
        <p:spPr>
          <a:xfrm>
            <a:off x="4941824" y="11860703"/>
            <a:ext cx="1251712" cy="28610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218" name="reg-drop-i2c"/>
          <p:cNvCxnSpPr/>
          <p:nvPr/>
        </p:nvCxnSpPr>
        <p:spPr>
          <a:xfrm>
            <a:off x="4104640" y="11875008"/>
            <a:ext cx="162560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219" name="spi"/>
          <p:cNvSpPr/>
          <p:nvPr/>
        </p:nvSpPr>
        <p:spPr>
          <a:xfrm>
            <a:off x="7315200" y="11558016"/>
            <a:ext cx="2600960" cy="633984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0" name="object-220: SPI host"/>
          <p:cNvSpPr txBox="1"/>
          <p:nvPr/>
        </p:nvSpPr>
        <p:spPr>
          <a:xfrm>
            <a:off x="8142707" y="11590528"/>
            <a:ext cx="945947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221" name="object-221: Flash / SD"/>
          <p:cNvSpPr txBox="1"/>
          <p:nvPr/>
        </p:nvSpPr>
        <p:spPr>
          <a:xfrm>
            <a:off x="8104816" y="11860703"/>
            <a:ext cx="1021728" cy="28610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cxnSp>
        <p:nvCxnSpPr>
          <p:cNvPr id="222" name="reg-drop-spi"/>
          <p:cNvCxnSpPr/>
          <p:nvPr/>
        </p:nvCxnSpPr>
        <p:spPr>
          <a:xfrm>
            <a:off x="7152640" y="11875008"/>
            <a:ext cx="162560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223" name="gpio"/>
          <p:cNvSpPr/>
          <p:nvPr/>
        </p:nvSpPr>
        <p:spPr>
          <a:xfrm>
            <a:off x="10363200" y="11558016"/>
            <a:ext cx="2600960" cy="633984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4" name="object-224: GPIO"/>
          <p:cNvSpPr txBox="1"/>
          <p:nvPr/>
        </p:nvSpPr>
        <p:spPr>
          <a:xfrm>
            <a:off x="11344891" y="11590528"/>
            <a:ext cx="637578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225" name="object-225: 通用 IO"/>
          <p:cNvSpPr txBox="1"/>
          <p:nvPr/>
        </p:nvSpPr>
        <p:spPr>
          <a:xfrm>
            <a:off x="11286490" y="11860703"/>
            <a:ext cx="754380" cy="28610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226" name="reg-drop-gpio"/>
          <p:cNvCxnSpPr/>
          <p:nvPr/>
        </p:nvCxnSpPr>
        <p:spPr>
          <a:xfrm>
            <a:off x="10200640" y="11875008"/>
            <a:ext cx="162560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227" name="slink-regs"/>
          <p:cNvSpPr/>
          <p:nvPr/>
        </p:nvSpPr>
        <p:spPr>
          <a:xfrm>
            <a:off x="13411200" y="11558016"/>
            <a:ext cx="2600960" cy="633984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8" name="object-228: Serial Link 配置"/>
          <p:cNvSpPr txBox="1"/>
          <p:nvPr/>
        </p:nvSpPr>
        <p:spPr>
          <a:xfrm>
            <a:off x="13911783" y="11590528"/>
            <a:ext cx="1599794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229" name="object-229: 链路控制"/>
          <p:cNvSpPr txBox="1"/>
          <p:nvPr/>
        </p:nvSpPr>
        <p:spPr>
          <a:xfrm>
            <a:off x="14264640" y="11860703"/>
            <a:ext cx="894080" cy="28610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230" name="reg-drop-slink-regs"/>
          <p:cNvCxnSpPr/>
          <p:nvPr/>
        </p:nvCxnSpPr>
        <p:spPr>
          <a:xfrm>
            <a:off x="13248640" y="11875008"/>
            <a:ext cx="162560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231" name="vga-regs"/>
          <p:cNvSpPr/>
          <p:nvPr/>
        </p:nvSpPr>
        <p:spPr>
          <a:xfrm>
            <a:off x="1219200" y="12305792"/>
            <a:ext cx="2600960" cy="633984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2" name="object-232: VGA 配置"/>
          <p:cNvSpPr txBox="1"/>
          <p:nvPr/>
        </p:nvSpPr>
        <p:spPr>
          <a:xfrm>
            <a:off x="2003742" y="12338304"/>
            <a:ext cx="1031875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233" name="object-233: 时序 / 帧地址"/>
          <p:cNvSpPr txBox="1"/>
          <p:nvPr/>
        </p:nvSpPr>
        <p:spPr>
          <a:xfrm>
            <a:off x="1883175" y="12608479"/>
            <a:ext cx="1273010" cy="28610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cxnSp>
        <p:nvCxnSpPr>
          <p:cNvPr id="234" name="reg-drop-vga-regs"/>
          <p:cNvCxnSpPr/>
          <p:nvPr/>
        </p:nvCxnSpPr>
        <p:spPr>
          <a:xfrm>
            <a:off x="1056640" y="12622784"/>
            <a:ext cx="162560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235" name="usb-regs"/>
          <p:cNvSpPr/>
          <p:nvPr/>
        </p:nvSpPr>
        <p:spPr>
          <a:xfrm>
            <a:off x="4267200" y="12305792"/>
            <a:ext cx="2600960" cy="633984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6" name="object-236: USB 配置"/>
          <p:cNvSpPr txBox="1"/>
          <p:nvPr/>
        </p:nvSpPr>
        <p:spPr>
          <a:xfrm>
            <a:off x="5041627" y="12338304"/>
            <a:ext cx="1052106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237" name="object-237: OHCI 寄存器"/>
          <p:cNvSpPr txBox="1"/>
          <p:nvPr/>
        </p:nvSpPr>
        <p:spPr>
          <a:xfrm>
            <a:off x="4986788" y="12608479"/>
            <a:ext cx="1161783" cy="28610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238" name="reg-drop-usb-regs"/>
          <p:cNvCxnSpPr/>
          <p:nvPr/>
        </p:nvCxnSpPr>
        <p:spPr>
          <a:xfrm>
            <a:off x="4104640" y="12622784"/>
            <a:ext cx="162560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239" name="err-vga"/>
          <p:cNvSpPr/>
          <p:nvPr/>
        </p:nvSpPr>
        <p:spPr>
          <a:xfrm>
            <a:off x="7315200" y="12305792"/>
            <a:ext cx="2600960" cy="633984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0" name="object-240: Bus-error · VGA"/>
          <p:cNvSpPr txBox="1"/>
          <p:nvPr/>
        </p:nvSpPr>
        <p:spPr>
          <a:xfrm>
            <a:off x="7840389" y="12338304"/>
            <a:ext cx="1550581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241" name="object-241: 错误记录"/>
          <p:cNvSpPr txBox="1"/>
          <p:nvPr/>
        </p:nvSpPr>
        <p:spPr>
          <a:xfrm>
            <a:off x="8168640" y="12608479"/>
            <a:ext cx="894080" cy="28610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242" name="reg-drop-err-vga"/>
          <p:cNvCxnSpPr/>
          <p:nvPr/>
        </p:nvCxnSpPr>
        <p:spPr>
          <a:xfrm>
            <a:off x="7152640" y="12622784"/>
            <a:ext cx="162560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243" name="err-dma"/>
          <p:cNvSpPr/>
          <p:nvPr/>
        </p:nvSpPr>
        <p:spPr>
          <a:xfrm>
            <a:off x="10363200" y="12305792"/>
            <a:ext cx="2600960" cy="633984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4" name="object-244: Bus-error · iDMA"/>
          <p:cNvSpPr txBox="1"/>
          <p:nvPr/>
        </p:nvSpPr>
        <p:spPr>
          <a:xfrm>
            <a:off x="10837691" y="12338304"/>
            <a:ext cx="1651978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245" name="object-245: 错误记录"/>
          <p:cNvSpPr txBox="1"/>
          <p:nvPr/>
        </p:nvSpPr>
        <p:spPr>
          <a:xfrm>
            <a:off x="11216640" y="12608479"/>
            <a:ext cx="894080" cy="28610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246" name="reg-drop-err-dma"/>
          <p:cNvCxnSpPr/>
          <p:nvPr/>
        </p:nvCxnSpPr>
        <p:spPr>
          <a:xfrm>
            <a:off x="10200640" y="12622784"/>
            <a:ext cx="162560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247" name="err-cpu"/>
          <p:cNvSpPr/>
          <p:nvPr/>
        </p:nvSpPr>
        <p:spPr>
          <a:xfrm>
            <a:off x="13411200" y="12305792"/>
            <a:ext cx="2600960" cy="633984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8" name="object-248: Bus-error · CPU"/>
          <p:cNvSpPr txBox="1"/>
          <p:nvPr/>
        </p:nvSpPr>
        <p:spPr>
          <a:xfrm>
            <a:off x="13932325" y="12338304"/>
            <a:ext cx="1558709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249" name="object-249: 每核错误记录"/>
          <p:cNvSpPr txBox="1"/>
          <p:nvPr/>
        </p:nvSpPr>
        <p:spPr>
          <a:xfrm>
            <a:off x="14085824" y="12608479"/>
            <a:ext cx="1251712" cy="28610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250" name="reg-drop-err-cpu"/>
          <p:cNvCxnSpPr/>
          <p:nvPr/>
        </p:nvCxnSpPr>
        <p:spPr>
          <a:xfrm>
            <a:off x="13248640" y="12622784"/>
            <a:ext cx="162560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251" name="irq-router"/>
          <p:cNvSpPr/>
          <p:nvPr/>
        </p:nvSpPr>
        <p:spPr>
          <a:xfrm>
            <a:off x="1219200" y="13053568"/>
            <a:ext cx="2600960" cy="633984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2" name="object-252: IRQ router"/>
          <p:cNvSpPr txBox="1"/>
          <p:nvPr/>
        </p:nvSpPr>
        <p:spPr>
          <a:xfrm>
            <a:off x="1969719" y="13086080"/>
            <a:ext cx="1099922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253" name="object-253: 可选中断路由"/>
          <p:cNvSpPr txBox="1"/>
          <p:nvPr/>
        </p:nvSpPr>
        <p:spPr>
          <a:xfrm>
            <a:off x="1893824" y="13356255"/>
            <a:ext cx="1251712" cy="28610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254" name="reg-drop-irq-router"/>
          <p:cNvCxnSpPr/>
          <p:nvPr/>
        </p:nvCxnSpPr>
        <p:spPr>
          <a:xfrm>
            <a:off x="1056640" y="13370560"/>
            <a:ext cx="162560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255" name="axi-rt-config"/>
          <p:cNvSpPr/>
          <p:nvPr/>
        </p:nvSpPr>
        <p:spPr>
          <a:xfrm>
            <a:off x="4267200" y="13053568"/>
            <a:ext cx="2600960" cy="633984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6" name="object-256: AXI RT 配置"/>
          <p:cNvSpPr txBox="1"/>
          <p:nvPr/>
        </p:nvSpPr>
        <p:spPr>
          <a:xfrm>
            <a:off x="4950244" y="13086080"/>
            <a:ext cx="1234872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257" name="object-257: 可选流量调节"/>
          <p:cNvSpPr txBox="1"/>
          <p:nvPr/>
        </p:nvSpPr>
        <p:spPr>
          <a:xfrm>
            <a:off x="4941824" y="13356255"/>
            <a:ext cx="1251712" cy="28610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258" name="reg-drop-axi-rt-config"/>
          <p:cNvCxnSpPr/>
          <p:nvPr/>
        </p:nvCxnSpPr>
        <p:spPr>
          <a:xfrm>
            <a:off x="4104640" y="13370560"/>
            <a:ext cx="162560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259" name="clic"/>
          <p:cNvSpPr/>
          <p:nvPr/>
        </p:nvSpPr>
        <p:spPr>
          <a:xfrm>
            <a:off x="7315200" y="13053568"/>
            <a:ext cx="2600960" cy="633984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0" name="object-260: CLIC"/>
          <p:cNvSpPr txBox="1"/>
          <p:nvPr/>
        </p:nvSpPr>
        <p:spPr>
          <a:xfrm>
            <a:off x="8311083" y="13086080"/>
            <a:ext cx="609194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261" name="object-261: 可选每核中断控制"/>
          <p:cNvSpPr txBox="1"/>
          <p:nvPr/>
        </p:nvSpPr>
        <p:spPr>
          <a:xfrm>
            <a:off x="7811008" y="13356255"/>
            <a:ext cx="1609344" cy="28610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262" name="reg-drop-clic"/>
          <p:cNvCxnSpPr/>
          <p:nvPr/>
        </p:nvCxnSpPr>
        <p:spPr>
          <a:xfrm>
            <a:off x="7152640" y="13370560"/>
            <a:ext cx="162560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263" name="reg-error"/>
          <p:cNvSpPr/>
          <p:nvPr/>
        </p:nvSpPr>
        <p:spPr>
          <a:xfrm>
            <a:off x="10363200" y="13053568"/>
            <a:ext cx="2600960" cy="633984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4" name="object-264: reg_err_slv"/>
          <p:cNvSpPr txBox="1"/>
          <p:nvPr/>
        </p:nvSpPr>
        <p:spPr>
          <a:xfrm>
            <a:off x="11081074" y="13086080"/>
            <a:ext cx="1165212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265" name="object-265: 未匹配地址"/>
          <p:cNvSpPr txBox="1"/>
          <p:nvPr/>
        </p:nvSpPr>
        <p:spPr>
          <a:xfrm>
            <a:off x="11127232" y="13356255"/>
            <a:ext cx="1072896" cy="28610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cxnSp>
        <p:nvCxnSpPr>
          <p:cNvPr id="266" name="reg-drop-reg-error"/>
          <p:cNvCxnSpPr/>
          <p:nvPr/>
        </p:nvCxnSpPr>
        <p:spPr>
          <a:xfrm>
            <a:off x="10200640" y="13370560"/>
            <a:ext cx="162560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267" name="reg-ext"/>
          <p:cNvSpPr/>
          <p:nvPr/>
        </p:nvSpPr>
        <p:spPr>
          <a:xfrm>
            <a:off x="13411200" y="13053568"/>
            <a:ext cx="2600960" cy="633984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8" name="object-268: RegExt 扩展"/>
          <p:cNvSpPr txBox="1"/>
          <p:nvPr/>
        </p:nvSpPr>
        <p:spPr>
          <a:xfrm>
            <a:off x="14074007" y="13086080"/>
            <a:ext cx="1275347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269" name="object-269: 新增 IP 配置出口"/>
          <p:cNvSpPr txBox="1"/>
          <p:nvPr/>
        </p:nvSpPr>
        <p:spPr>
          <a:xfrm>
            <a:off x="13958957" y="13356255"/>
            <a:ext cx="1505445" cy="28610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270" name="reg-drop-reg-ext"/>
          <p:cNvCxnSpPr/>
          <p:nvPr/>
        </p:nvCxnSpPr>
        <p:spPr>
          <a:xfrm>
            <a:off x="13248640" y="13370560"/>
            <a:ext cx="162560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271" name="ddr-controller"/>
          <p:cNvSpPr/>
          <p:nvPr/>
        </p:nvSpPr>
        <p:spPr>
          <a:xfrm>
            <a:off x="17150080" y="10403840"/>
            <a:ext cx="7884160" cy="300736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2" name="object-272: DDR Controller · 3 个 AXI slave"/>
          <p:cNvSpPr txBox="1"/>
          <p:nvPr/>
        </p:nvSpPr>
        <p:spPr>
          <a:xfrm>
            <a:off x="19333839" y="12993421"/>
            <a:ext cx="3516643" cy="39014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3 个 AXI slave</a:t>
            </a:r>
          </a:p>
        </p:txBody>
      </p:sp>
      <p:sp>
        <p:nvSpPr>
          <p:cNvPr id="273" name="cfg-tag-C2-272"/>
          <p:cNvSpPr/>
          <p:nvPr/>
        </p:nvSpPr>
        <p:spPr>
          <a:xfrm>
            <a:off x="24465280" y="13094208"/>
            <a:ext cx="382016" cy="235712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4" name="object-274: C2"/>
          <p:cNvSpPr txBox="1"/>
          <p:nvPr/>
        </p:nvSpPr>
        <p:spPr>
          <a:xfrm>
            <a:off x="24475948" y="13097459"/>
            <a:ext cx="360680" cy="2600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275" name="ddr-S0"/>
          <p:cNvSpPr/>
          <p:nvPr/>
        </p:nvSpPr>
        <p:spPr>
          <a:xfrm>
            <a:off x="17312640" y="10403840"/>
            <a:ext cx="1788160" cy="8128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6" name="object-276: S0"/>
          <p:cNvSpPr txBox="1"/>
          <p:nvPr/>
        </p:nvSpPr>
        <p:spPr>
          <a:xfrm>
            <a:off x="17936204" y="10465613"/>
            <a:ext cx="541033" cy="39014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277" name="object-277: SoC / LLC"/>
          <p:cNvSpPr txBox="1"/>
          <p:nvPr/>
        </p:nvSpPr>
        <p:spPr>
          <a:xfrm>
            <a:off x="17668748" y="10827146"/>
            <a:ext cx="1075944" cy="3121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6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278" name="ddr-S-to-arb-0"/>
          <p:cNvCxnSpPr/>
          <p:nvPr/>
        </p:nvCxnSpPr>
        <p:spPr>
          <a:xfrm>
            <a:off x="18206720" y="11216640"/>
            <a:ext cx="0" cy="24384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279" name="ddr-S1"/>
          <p:cNvSpPr/>
          <p:nvPr/>
        </p:nvSpPr>
        <p:spPr>
          <a:xfrm>
            <a:off x="19994880" y="10403840"/>
            <a:ext cx="1788160" cy="8128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0" name="object-280: S1"/>
          <p:cNvSpPr txBox="1"/>
          <p:nvPr/>
        </p:nvSpPr>
        <p:spPr>
          <a:xfrm>
            <a:off x="20618444" y="10465613"/>
            <a:ext cx="541033" cy="39014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281" name="object-281: NPU / GB 搬运"/>
          <p:cNvSpPr txBox="1"/>
          <p:nvPr/>
        </p:nvSpPr>
        <p:spPr>
          <a:xfrm>
            <a:off x="20152011" y="10827146"/>
            <a:ext cx="1473898" cy="3121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6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cxnSp>
        <p:nvCxnSpPr>
          <p:cNvPr id="282" name="ddr-S-to-arb-1"/>
          <p:cNvCxnSpPr/>
          <p:nvPr/>
        </p:nvCxnSpPr>
        <p:spPr>
          <a:xfrm>
            <a:off x="20888960" y="11216640"/>
            <a:ext cx="0" cy="24384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283" name="ddr-S2"/>
          <p:cNvSpPr/>
          <p:nvPr/>
        </p:nvSpPr>
        <p:spPr>
          <a:xfrm>
            <a:off x="22677120" y="10403840"/>
            <a:ext cx="1788160" cy="8128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4" name="object-284: S2"/>
          <p:cNvSpPr txBox="1"/>
          <p:nvPr/>
        </p:nvSpPr>
        <p:spPr>
          <a:xfrm>
            <a:off x="23300684" y="10465613"/>
            <a:ext cx="541033" cy="39014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285" name="object-285: 图像帧写入"/>
          <p:cNvSpPr txBox="1"/>
          <p:nvPr/>
        </p:nvSpPr>
        <p:spPr>
          <a:xfrm>
            <a:off x="22985984" y="10827146"/>
            <a:ext cx="1170432" cy="3121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6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286" name="ddr-S-to-arb-2"/>
          <p:cNvCxnSpPr/>
          <p:nvPr/>
        </p:nvCxnSpPr>
        <p:spPr>
          <a:xfrm>
            <a:off x="23571200" y="11216640"/>
            <a:ext cx="0" cy="24384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287" name="ddr-port-collect"/>
          <p:cNvCxnSpPr/>
          <p:nvPr/>
        </p:nvCxnSpPr>
        <p:spPr>
          <a:xfrm>
            <a:off x="18206720" y="11460480"/>
            <a:ext cx="5364480" cy="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288" name="ddr-all-to-arbiter"/>
          <p:cNvCxnSpPr/>
          <p:nvPr/>
        </p:nvCxnSpPr>
        <p:spPr>
          <a:xfrm>
            <a:off x="18694400" y="11460480"/>
            <a:ext cx="0" cy="487680"/>
          </a:xfrm>
          <a:prstGeom prst="line">
            <a:avLst/>
          </a:prstGeom>
          <a:ln w="22758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289" name="ddr-scheduler"/>
          <p:cNvSpPr/>
          <p:nvPr/>
        </p:nvSpPr>
        <p:spPr>
          <a:xfrm>
            <a:off x="17475200" y="11948160"/>
            <a:ext cx="7274560" cy="10972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0" name="object-290: 端口仲裁 / QoS"/>
          <p:cNvSpPr txBox="1"/>
          <p:nvPr/>
        </p:nvSpPr>
        <p:spPr>
          <a:xfrm>
            <a:off x="17823529" y="12101292"/>
            <a:ext cx="1741742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291" name="object-291: 共享 DDR 带宽"/>
          <p:cNvSpPr txBox="1"/>
          <p:nvPr/>
        </p:nvSpPr>
        <p:spPr>
          <a:xfrm>
            <a:off x="17959260" y="12444618"/>
            <a:ext cx="1470279" cy="3121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6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cxnSp>
        <p:nvCxnSpPr>
          <p:cNvPr id="292" name="ddr-schedule-step-0"/>
          <p:cNvCxnSpPr/>
          <p:nvPr/>
        </p:nvCxnSpPr>
        <p:spPr>
          <a:xfrm>
            <a:off x="19734784" y="12435840"/>
            <a:ext cx="300736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293" name="object-293: 读写调度"/>
          <p:cNvSpPr txBox="1"/>
          <p:nvPr/>
        </p:nvSpPr>
        <p:spPr>
          <a:xfrm>
            <a:off x="20559776" y="12101292"/>
            <a:ext cx="1097280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294" name="object-294: Bank / Row"/>
          <p:cNvSpPr txBox="1"/>
          <p:nvPr/>
        </p:nvSpPr>
        <p:spPr>
          <a:xfrm>
            <a:off x="20510151" y="12444618"/>
            <a:ext cx="1196530" cy="3121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6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cxnSp>
        <p:nvCxnSpPr>
          <p:cNvPr id="295" name="ddr-schedule-step-1"/>
          <p:cNvCxnSpPr/>
          <p:nvPr/>
        </p:nvCxnSpPr>
        <p:spPr>
          <a:xfrm>
            <a:off x="22148800" y="12435840"/>
            <a:ext cx="300736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296" name="object-296: 命令调度"/>
          <p:cNvSpPr txBox="1"/>
          <p:nvPr/>
        </p:nvSpPr>
        <p:spPr>
          <a:xfrm>
            <a:off x="22973792" y="12101292"/>
            <a:ext cx="1097280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297" name="object-297: 控制器 → PHY"/>
          <p:cNvSpPr txBox="1"/>
          <p:nvPr/>
        </p:nvSpPr>
        <p:spPr>
          <a:xfrm>
            <a:off x="22802818" y="12444618"/>
            <a:ext cx="1439228" cy="3121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6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 → PHY</a:t>
            </a:r>
          </a:p>
        </p:txBody>
      </p:sp>
      <p:sp>
        <p:nvSpPr>
          <p:cNvPr id="298" name="object-298: 共享同一 DDR 地址空间"/>
          <p:cNvSpPr txBox="1"/>
          <p:nvPr/>
        </p:nvSpPr>
        <p:spPr>
          <a:xfrm>
            <a:off x="20867205" y="11583700"/>
            <a:ext cx="2156790" cy="2991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2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共享同一 DDR 地址空间</a:t>
            </a:r>
          </a:p>
        </p:txBody>
      </p:sp>
      <p:sp>
        <p:nvSpPr>
          <p:cNvPr id="299" name="ddr-phy"/>
          <p:cNvSpPr/>
          <p:nvPr/>
        </p:nvSpPr>
        <p:spPr>
          <a:xfrm>
            <a:off x="25440640" y="11923776"/>
            <a:ext cx="1625600" cy="1137920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0" name="object-300: DDR PHY"/>
          <p:cNvSpPr txBox="1"/>
          <p:nvPr/>
        </p:nvSpPr>
        <p:spPr>
          <a:xfrm>
            <a:off x="25682683" y="11978721"/>
            <a:ext cx="1141514" cy="3641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2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301" name="object-301: 训练 / 校准"/>
          <p:cNvSpPr txBox="1"/>
          <p:nvPr/>
        </p:nvSpPr>
        <p:spPr>
          <a:xfrm>
            <a:off x="25631731" y="12297664"/>
            <a:ext cx="1243419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302" name="cfg-tag-C3-301"/>
          <p:cNvSpPr/>
          <p:nvPr/>
        </p:nvSpPr>
        <p:spPr>
          <a:xfrm>
            <a:off x="26562304" y="12736576"/>
            <a:ext cx="382016" cy="235712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3" name="object-303: C3"/>
          <p:cNvSpPr txBox="1"/>
          <p:nvPr/>
        </p:nvSpPr>
        <p:spPr>
          <a:xfrm>
            <a:off x="26572972" y="12739827"/>
            <a:ext cx="360680" cy="2600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304" name="ddr-phy-path"/>
          <p:cNvCxnSpPr/>
          <p:nvPr/>
        </p:nvCxnSpPr>
        <p:spPr>
          <a:xfrm>
            <a:off x="24749760" y="12435840"/>
            <a:ext cx="690880" cy="0"/>
          </a:xfrm>
          <a:prstGeom prst="line">
            <a:avLst/>
          </a:prstGeom>
          <a:ln w="28448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305" name="dram"/>
          <p:cNvSpPr/>
          <p:nvPr/>
        </p:nvSpPr>
        <p:spPr>
          <a:xfrm>
            <a:off x="27797760" y="11923776"/>
            <a:ext cx="1219200" cy="1137920"/>
          </a:xfrm>
          <a:prstGeom prst="rect">
            <a:avLst/>
          </a:prstGeom>
          <a:solidFill>
            <a:srgbClr val="EAECEE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6" name="object-306: DDR"/>
          <p:cNvSpPr txBox="1"/>
          <p:nvPr/>
        </p:nvSpPr>
        <p:spPr>
          <a:xfrm>
            <a:off x="28037282" y="11952387"/>
            <a:ext cx="740156" cy="40314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8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307" name="object-307: 片外器件"/>
          <p:cNvSpPr txBox="1"/>
          <p:nvPr/>
        </p:nvSpPr>
        <p:spPr>
          <a:xfrm>
            <a:off x="27899360" y="12297664"/>
            <a:ext cx="1016000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cxnSp>
        <p:nvCxnSpPr>
          <p:cNvPr id="308" name="phy-dram"/>
          <p:cNvCxnSpPr/>
          <p:nvPr/>
        </p:nvCxnSpPr>
        <p:spPr>
          <a:xfrm>
            <a:off x="27066240" y="12435840"/>
            <a:ext cx="731520" cy="0"/>
          </a:xfrm>
          <a:prstGeom prst="line">
            <a:avLst/>
          </a:prstGeom>
          <a:ln w="30074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309" name="npu-ddr"/>
          <p:cNvSpPr/>
          <p:nvPr/>
        </p:nvSpPr>
        <p:spPr>
          <a:xfrm>
            <a:off x="17800320" y="4226560"/>
            <a:ext cx="7152640" cy="6177280"/>
          </a:xfrm>
          <a:custGeom>
            <a:avLst/>
            <a:gdLst/>
            <a:ahLst/>
            <a:cxnLst/>
            <a:rect l="0" t="0" r="r" b="b"/>
            <a:pathLst>
              <a:path w="7152640" h="6177280" fill="none">
                <a:moveTo>
                  <a:pt x="0" y="0"/>
                </a:moveTo>
                <a:lnTo>
                  <a:pt x="422656" y="0"/>
                </a:lnTo>
                <a:lnTo>
                  <a:pt x="422656" y="812800"/>
                </a:lnTo>
                <a:lnTo>
                  <a:pt x="7152640" y="812800"/>
                </a:lnTo>
                <a:lnTo>
                  <a:pt x="7152640" y="5795264"/>
                </a:lnTo>
                <a:lnTo>
                  <a:pt x="3088640" y="5795264"/>
                </a:lnTo>
                <a:lnTo>
                  <a:pt x="3088640" y="617728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0" name="object-310: S1"/>
          <p:cNvSpPr txBox="1"/>
          <p:nvPr/>
        </p:nvSpPr>
        <p:spPr>
          <a:xfrm>
            <a:off x="24922607" y="7209536"/>
            <a:ext cx="450850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311" name="frame-ddr"/>
          <p:cNvSpPr/>
          <p:nvPr/>
        </p:nvSpPr>
        <p:spPr>
          <a:xfrm>
            <a:off x="23359872" y="4064000"/>
            <a:ext cx="2771648" cy="6339840"/>
          </a:xfrm>
          <a:custGeom>
            <a:avLst/>
            <a:gdLst/>
            <a:ahLst/>
            <a:cxnLst/>
            <a:rect l="0" t="0" r="r" b="b"/>
            <a:pathLst>
              <a:path w="2771648" h="6339840" fill="none">
                <a:moveTo>
                  <a:pt x="2771648" y="0"/>
                </a:moveTo>
                <a:lnTo>
                  <a:pt x="2771648" y="5648960"/>
                </a:lnTo>
                <a:lnTo>
                  <a:pt x="211328" y="5648960"/>
                </a:lnTo>
                <a:lnTo>
                  <a:pt x="211328" y="5852160"/>
                </a:lnTo>
                <a:cubicBezTo>
                  <a:pt x="0" y="5852160"/>
                  <a:pt x="0" y="6063488"/>
                  <a:pt x="211328" y="6063488"/>
                </a:cubicBezTo>
                <a:lnTo>
                  <a:pt x="211328" y="633984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2" name="object-312: S2"/>
          <p:cNvSpPr txBox="1"/>
          <p:nvPr/>
        </p:nvSpPr>
        <p:spPr>
          <a:xfrm>
            <a:off x="26109295" y="7209536"/>
            <a:ext cx="450850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313" name="llc-ddr"/>
          <p:cNvSpPr/>
          <p:nvPr/>
        </p:nvSpPr>
        <p:spPr>
          <a:xfrm>
            <a:off x="11379200" y="9460992"/>
            <a:ext cx="6827520" cy="942848"/>
          </a:xfrm>
          <a:custGeom>
            <a:avLst/>
            <a:gdLst/>
            <a:ahLst/>
            <a:cxnLst/>
            <a:rect l="0" t="0" r="r" b="b"/>
            <a:pathLst>
              <a:path w="6827520" h="942848" fill="none">
                <a:moveTo>
                  <a:pt x="0" y="0"/>
                </a:moveTo>
                <a:lnTo>
                  <a:pt x="0" y="235712"/>
                </a:lnTo>
                <a:lnTo>
                  <a:pt x="6827520" y="235712"/>
                </a:lnTo>
                <a:lnTo>
                  <a:pt x="6827520" y="942848"/>
                </a:lnTo>
              </a:path>
            </a:pathLst>
          </a:custGeom>
          <a:noFill/>
          <a:ln w="2926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4" name="object-314: S0 · LLC 外存出口"/>
          <p:cNvSpPr txBox="1"/>
          <p:nvPr/>
        </p:nvSpPr>
        <p:spPr>
          <a:xfrm>
            <a:off x="13673582" y="9754250"/>
            <a:ext cx="1751076" cy="3121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36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S0 · LLC 外存出口</a:t>
            </a:r>
          </a:p>
        </p:txBody>
      </p:sp>
      <p:sp>
        <p:nvSpPr>
          <p:cNvPr id="315" name="clock-reset"/>
          <p:cNvSpPr/>
          <p:nvPr/>
        </p:nvSpPr>
        <p:spPr>
          <a:xfrm>
            <a:off x="17475200" y="13655040"/>
            <a:ext cx="4267200" cy="601472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6" name="object-316: PLL / 时钟与复位分发"/>
          <p:cNvSpPr txBox="1"/>
          <p:nvPr/>
        </p:nvSpPr>
        <p:spPr>
          <a:xfrm>
            <a:off x="18393639" y="13709985"/>
            <a:ext cx="2430323" cy="3641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2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时钟与复位分发</a:t>
            </a:r>
          </a:p>
        </p:txBody>
      </p:sp>
      <p:sp>
        <p:nvSpPr>
          <p:cNvPr id="317" name="cfg-tag-C1-316"/>
          <p:cNvSpPr/>
          <p:nvPr/>
        </p:nvSpPr>
        <p:spPr>
          <a:xfrm>
            <a:off x="21165312" y="13825728"/>
            <a:ext cx="382016" cy="235712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8" name="object-318: C1"/>
          <p:cNvSpPr txBox="1"/>
          <p:nvPr/>
        </p:nvSpPr>
        <p:spPr>
          <a:xfrm>
            <a:off x="21175980" y="13828979"/>
            <a:ext cx="360680" cy="2600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319" name="object-319: RefClk / POR → clk_i / rst_ni"/>
          <p:cNvSpPr txBox="1"/>
          <p:nvPr/>
        </p:nvSpPr>
        <p:spPr>
          <a:xfrm>
            <a:off x="21875826" y="13809472"/>
            <a:ext cx="2821788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 / POR → clk_i / rst_ni</a:t>
            </a:r>
          </a:p>
        </p:txBody>
      </p:sp>
      <p:sp>
        <p:nvSpPr>
          <p:cNvPr id="320" name="regext-control-bus"/>
          <p:cNvSpPr/>
          <p:nvPr/>
        </p:nvSpPr>
        <p:spPr>
          <a:xfrm>
            <a:off x="16012160" y="13370560"/>
            <a:ext cx="650240" cy="1097280"/>
          </a:xfrm>
          <a:custGeom>
            <a:avLst/>
            <a:gdLst/>
            <a:ahLst/>
            <a:cxnLst/>
            <a:rect l="0" t="0" r="r" b="b"/>
            <a:pathLst>
              <a:path w="650240" h="1097280" fill="none">
                <a:moveTo>
                  <a:pt x="0" y="0"/>
                </a:moveTo>
                <a:lnTo>
                  <a:pt x="650240" y="0"/>
                </a:lnTo>
                <a:lnTo>
                  <a:pt x="650240" y="1097280"/>
                </a:lnTo>
              </a:path>
            </a:pathLst>
          </a:custGeom>
          <a:noFill/>
          <a:ln w="22758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21" name="config-bus"/>
          <p:cNvCxnSpPr/>
          <p:nvPr/>
        </p:nvCxnSpPr>
        <p:spPr>
          <a:xfrm>
            <a:off x="2153920" y="14467840"/>
            <a:ext cx="23815040" cy="0"/>
          </a:xfrm>
          <a:prstGeom prst="line">
            <a:avLst/>
          </a:prstGeom>
          <a:ln w="24384" cap="flat">
            <a:solidFill>
              <a:srgbClr val="765489"/>
            </a:solidFill>
          </a:ln>
          <a:effectLst/>
        </p:spPr>
      </p:cxnSp>
      <p:cxnSp>
        <p:nvCxnSpPr>
          <p:cNvPr id="322" name="cfg-drop-0"/>
          <p:cNvCxnSpPr/>
          <p:nvPr/>
        </p:nvCxnSpPr>
        <p:spPr>
          <a:xfrm>
            <a:off x="2113280" y="14467840"/>
            <a:ext cx="0" cy="20320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323" name="config-C1"/>
          <p:cNvSpPr/>
          <p:nvPr/>
        </p:nvSpPr>
        <p:spPr>
          <a:xfrm>
            <a:off x="772160" y="14671040"/>
            <a:ext cx="2722880" cy="812800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4" name="cfg-tag-C1-323"/>
          <p:cNvSpPr/>
          <p:nvPr/>
        </p:nvSpPr>
        <p:spPr>
          <a:xfrm>
            <a:off x="837184" y="14744192"/>
            <a:ext cx="382016" cy="235712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5" name="object-325: C1"/>
          <p:cNvSpPr txBox="1"/>
          <p:nvPr/>
        </p:nvSpPr>
        <p:spPr>
          <a:xfrm>
            <a:off x="847852" y="14747443"/>
            <a:ext cx="360680" cy="2600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326" name="object-326: PLL / 时钟复位"/>
          <p:cNvSpPr txBox="1"/>
          <p:nvPr/>
        </p:nvSpPr>
        <p:spPr>
          <a:xfrm>
            <a:off x="1536319" y="14776704"/>
            <a:ext cx="1560322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327" name="object-327: 配置 / 锁定 / 切换"/>
          <p:cNvSpPr txBox="1"/>
          <p:nvPr/>
        </p:nvSpPr>
        <p:spPr>
          <a:xfrm>
            <a:off x="1266012" y="15111252"/>
            <a:ext cx="1727048" cy="2991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328" name="cfg-drop-1"/>
          <p:cNvCxnSpPr/>
          <p:nvPr/>
        </p:nvCxnSpPr>
        <p:spPr>
          <a:xfrm>
            <a:off x="5080000" y="14467840"/>
            <a:ext cx="0" cy="20320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329" name="config-C2"/>
          <p:cNvSpPr/>
          <p:nvPr/>
        </p:nvSpPr>
        <p:spPr>
          <a:xfrm>
            <a:off x="3738880" y="14671040"/>
            <a:ext cx="2722880" cy="812800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0" name="cfg-tag-C2-329"/>
          <p:cNvSpPr/>
          <p:nvPr/>
        </p:nvSpPr>
        <p:spPr>
          <a:xfrm>
            <a:off x="3803904" y="14744192"/>
            <a:ext cx="382016" cy="235712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1" name="object-331: C2"/>
          <p:cNvSpPr txBox="1"/>
          <p:nvPr/>
        </p:nvSpPr>
        <p:spPr>
          <a:xfrm>
            <a:off x="3814572" y="14747443"/>
            <a:ext cx="360680" cy="2600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332" name="object-332: DDR Controller"/>
          <p:cNvSpPr txBox="1"/>
          <p:nvPr/>
        </p:nvSpPr>
        <p:spPr>
          <a:xfrm>
            <a:off x="4526369" y="14776704"/>
            <a:ext cx="1513662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333" name="object-333: 初始化 / QoS / 状态"/>
          <p:cNvSpPr txBox="1"/>
          <p:nvPr/>
        </p:nvSpPr>
        <p:spPr>
          <a:xfrm>
            <a:off x="4156329" y="15111252"/>
            <a:ext cx="1879854" cy="2991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334" name="cfg-drop-2"/>
          <p:cNvCxnSpPr/>
          <p:nvPr/>
        </p:nvCxnSpPr>
        <p:spPr>
          <a:xfrm>
            <a:off x="8046720" y="14467840"/>
            <a:ext cx="0" cy="20320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335" name="config-C3"/>
          <p:cNvSpPr/>
          <p:nvPr/>
        </p:nvSpPr>
        <p:spPr>
          <a:xfrm>
            <a:off x="6705600" y="14671040"/>
            <a:ext cx="2722880" cy="812800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6" name="cfg-tag-C3-335"/>
          <p:cNvSpPr/>
          <p:nvPr/>
        </p:nvSpPr>
        <p:spPr>
          <a:xfrm>
            <a:off x="6770624" y="14744192"/>
            <a:ext cx="382016" cy="235712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7" name="object-337: C3"/>
          <p:cNvSpPr txBox="1"/>
          <p:nvPr/>
        </p:nvSpPr>
        <p:spPr>
          <a:xfrm>
            <a:off x="6781292" y="14747443"/>
            <a:ext cx="360680" cy="2600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338" name="object-338: DDR PHY"/>
          <p:cNvSpPr txBox="1"/>
          <p:nvPr/>
        </p:nvSpPr>
        <p:spPr>
          <a:xfrm>
            <a:off x="7740332" y="14776704"/>
            <a:ext cx="1019175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339" name="object-339: training / 校准"/>
          <p:cNvSpPr txBox="1"/>
          <p:nvPr/>
        </p:nvSpPr>
        <p:spPr>
          <a:xfrm>
            <a:off x="7375620" y="15111252"/>
            <a:ext cx="1374712" cy="2991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340" name="cfg-drop-3"/>
          <p:cNvCxnSpPr/>
          <p:nvPr/>
        </p:nvCxnSpPr>
        <p:spPr>
          <a:xfrm>
            <a:off x="11013440" y="14467840"/>
            <a:ext cx="0" cy="20320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341" name="config-C4"/>
          <p:cNvSpPr/>
          <p:nvPr/>
        </p:nvSpPr>
        <p:spPr>
          <a:xfrm>
            <a:off x="9672320" y="14671040"/>
            <a:ext cx="2722880" cy="812800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2" name="cfg-tag-C4-341"/>
          <p:cNvSpPr/>
          <p:nvPr/>
        </p:nvSpPr>
        <p:spPr>
          <a:xfrm>
            <a:off x="9737344" y="14744192"/>
            <a:ext cx="382016" cy="235712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3" name="object-343: C4"/>
          <p:cNvSpPr txBox="1"/>
          <p:nvPr/>
        </p:nvSpPr>
        <p:spPr>
          <a:xfrm>
            <a:off x="9748012" y="14747443"/>
            <a:ext cx="360680" cy="2600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344" name="object-344: LVDS"/>
          <p:cNvSpPr txBox="1"/>
          <p:nvPr/>
        </p:nvSpPr>
        <p:spPr>
          <a:xfrm>
            <a:off x="10877512" y="14776704"/>
            <a:ext cx="678256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345" name="object-345: 通道 / 对齐 / 帧行"/>
          <p:cNvSpPr txBox="1"/>
          <p:nvPr/>
        </p:nvSpPr>
        <p:spPr>
          <a:xfrm>
            <a:off x="10166172" y="15111252"/>
            <a:ext cx="1727048" cy="2991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346" name="cfg-drop-4"/>
          <p:cNvCxnSpPr/>
          <p:nvPr/>
        </p:nvCxnSpPr>
        <p:spPr>
          <a:xfrm>
            <a:off x="13980160" y="14467840"/>
            <a:ext cx="0" cy="20320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347" name="config-C5"/>
          <p:cNvSpPr/>
          <p:nvPr/>
        </p:nvSpPr>
        <p:spPr>
          <a:xfrm>
            <a:off x="12639040" y="14671040"/>
            <a:ext cx="2722880" cy="812800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8" name="cfg-tag-C5-347"/>
          <p:cNvSpPr/>
          <p:nvPr/>
        </p:nvSpPr>
        <p:spPr>
          <a:xfrm>
            <a:off x="12704064" y="14744192"/>
            <a:ext cx="382016" cy="235712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9" name="object-349: C5"/>
          <p:cNvSpPr txBox="1"/>
          <p:nvPr/>
        </p:nvSpPr>
        <p:spPr>
          <a:xfrm>
            <a:off x="12714732" y="14747443"/>
            <a:ext cx="360680" cy="2600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350" name="object-350: ISP"/>
          <p:cNvSpPr txBox="1"/>
          <p:nvPr/>
        </p:nvSpPr>
        <p:spPr>
          <a:xfrm>
            <a:off x="13935615" y="14776704"/>
            <a:ext cx="495490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351" name="object-351: 尺寸 / 模式 / 参数"/>
          <p:cNvSpPr txBox="1"/>
          <p:nvPr/>
        </p:nvSpPr>
        <p:spPr>
          <a:xfrm>
            <a:off x="13132892" y="15111252"/>
            <a:ext cx="1727048" cy="2991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352" name="cfg-drop-5"/>
          <p:cNvCxnSpPr/>
          <p:nvPr/>
        </p:nvCxnSpPr>
        <p:spPr>
          <a:xfrm>
            <a:off x="16946880" y="14467840"/>
            <a:ext cx="0" cy="20320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353" name="config-C6"/>
          <p:cNvSpPr/>
          <p:nvPr/>
        </p:nvSpPr>
        <p:spPr>
          <a:xfrm>
            <a:off x="15605760" y="14671040"/>
            <a:ext cx="2722880" cy="812800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4" name="cfg-tag-C6-353"/>
          <p:cNvSpPr/>
          <p:nvPr/>
        </p:nvSpPr>
        <p:spPr>
          <a:xfrm>
            <a:off x="15670784" y="14744192"/>
            <a:ext cx="382016" cy="235712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5" name="object-355: C6"/>
          <p:cNvSpPr txBox="1"/>
          <p:nvPr/>
        </p:nvSpPr>
        <p:spPr>
          <a:xfrm>
            <a:off x="15681452" y="14747443"/>
            <a:ext cx="360680" cy="2600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356" name="object-356: NPU 计算"/>
          <p:cNvSpPr txBox="1"/>
          <p:nvPr/>
        </p:nvSpPr>
        <p:spPr>
          <a:xfrm>
            <a:off x="16626008" y="14776704"/>
            <a:ext cx="1048144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357" name="object-357: 命令 / GB 数据位置"/>
          <p:cNvSpPr txBox="1"/>
          <p:nvPr/>
        </p:nvSpPr>
        <p:spPr>
          <a:xfrm>
            <a:off x="16056712" y="15111252"/>
            <a:ext cx="1812849" cy="2991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358" name="cfg-drop-6"/>
          <p:cNvCxnSpPr/>
          <p:nvPr/>
        </p:nvCxnSpPr>
        <p:spPr>
          <a:xfrm>
            <a:off x="19913600" y="14467840"/>
            <a:ext cx="0" cy="20320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359" name="config-C7"/>
          <p:cNvSpPr/>
          <p:nvPr/>
        </p:nvSpPr>
        <p:spPr>
          <a:xfrm>
            <a:off x="18572480" y="14671040"/>
            <a:ext cx="2722880" cy="812800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0" name="cfg-tag-C7-359"/>
          <p:cNvSpPr/>
          <p:nvPr/>
        </p:nvSpPr>
        <p:spPr>
          <a:xfrm>
            <a:off x="18637504" y="14744192"/>
            <a:ext cx="382016" cy="235712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1" name="object-361: C7"/>
          <p:cNvSpPr txBox="1"/>
          <p:nvPr/>
        </p:nvSpPr>
        <p:spPr>
          <a:xfrm>
            <a:off x="18648172" y="14747443"/>
            <a:ext cx="360680" cy="2600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362" name="object-362: NPU / GB 搬运"/>
          <p:cNvSpPr txBox="1"/>
          <p:nvPr/>
        </p:nvSpPr>
        <p:spPr>
          <a:xfrm>
            <a:off x="19349142" y="14776704"/>
            <a:ext cx="1535316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363" name="object-363: 地址 / 长度 / stride"/>
          <p:cNvSpPr txBox="1"/>
          <p:nvPr/>
        </p:nvSpPr>
        <p:spPr>
          <a:xfrm>
            <a:off x="19021870" y="15111252"/>
            <a:ext cx="1815973" cy="2991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364" name="cfg-drop-7"/>
          <p:cNvCxnSpPr/>
          <p:nvPr/>
        </p:nvCxnSpPr>
        <p:spPr>
          <a:xfrm>
            <a:off x="22880320" y="14467840"/>
            <a:ext cx="0" cy="20320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365" name="config-C8"/>
          <p:cNvSpPr/>
          <p:nvPr/>
        </p:nvSpPr>
        <p:spPr>
          <a:xfrm>
            <a:off x="21539200" y="14671040"/>
            <a:ext cx="2722880" cy="812800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6" name="cfg-tag-C8-365"/>
          <p:cNvSpPr/>
          <p:nvPr/>
        </p:nvSpPr>
        <p:spPr>
          <a:xfrm>
            <a:off x="21604224" y="14744192"/>
            <a:ext cx="382016" cy="235712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7" name="object-367: C8"/>
          <p:cNvSpPr txBox="1"/>
          <p:nvPr/>
        </p:nvSpPr>
        <p:spPr>
          <a:xfrm>
            <a:off x="21614892" y="14747443"/>
            <a:ext cx="360680" cy="2600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368" name="object-368: 帧写入 DMA"/>
          <p:cNvSpPr txBox="1"/>
          <p:nvPr/>
        </p:nvSpPr>
        <p:spPr>
          <a:xfrm>
            <a:off x="22439592" y="14776704"/>
            <a:ext cx="1287856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369" name="object-369: 缓冲区 / 格式 / 帧状态"/>
          <p:cNvSpPr txBox="1"/>
          <p:nvPr/>
        </p:nvSpPr>
        <p:spPr>
          <a:xfrm>
            <a:off x="21846108" y="15111252"/>
            <a:ext cx="2100936" cy="2991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370" name="cfg-drop-8"/>
          <p:cNvCxnSpPr/>
          <p:nvPr/>
        </p:nvCxnSpPr>
        <p:spPr>
          <a:xfrm>
            <a:off x="25847040" y="14467840"/>
            <a:ext cx="0" cy="20320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371" name="config-C9"/>
          <p:cNvSpPr/>
          <p:nvPr/>
        </p:nvSpPr>
        <p:spPr>
          <a:xfrm>
            <a:off x="24505920" y="14671040"/>
            <a:ext cx="2722880" cy="812800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2" name="cfg-tag-C9-371"/>
          <p:cNvSpPr/>
          <p:nvPr/>
        </p:nvSpPr>
        <p:spPr>
          <a:xfrm>
            <a:off x="24570944" y="14744192"/>
            <a:ext cx="382016" cy="235712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3" name="object-373: C9"/>
          <p:cNvSpPr txBox="1"/>
          <p:nvPr/>
        </p:nvSpPr>
        <p:spPr>
          <a:xfrm>
            <a:off x="24581612" y="14747443"/>
            <a:ext cx="360680" cy="2600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374" name="object-374: GB 管理"/>
          <p:cNvSpPr txBox="1"/>
          <p:nvPr/>
        </p:nvSpPr>
        <p:spPr>
          <a:xfrm>
            <a:off x="25585102" y="14776704"/>
            <a:ext cx="930275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管理</a:t>
            </a:r>
          </a:p>
        </p:txBody>
      </p:sp>
      <p:sp>
        <p:nvSpPr>
          <p:cNvPr id="375" name="object-375: 能力 / bank / 错误"/>
          <p:cNvSpPr txBox="1"/>
          <p:nvPr/>
        </p:nvSpPr>
        <p:spPr>
          <a:xfrm>
            <a:off x="24988818" y="15111252"/>
            <a:ext cx="1748955" cy="2991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376" name="legend-314D66"/>
          <p:cNvCxnSpPr/>
          <p:nvPr/>
        </p:nvCxnSpPr>
        <p:spPr>
          <a:xfrm>
            <a:off x="650240" y="16012160"/>
            <a:ext cx="536448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377" name="object-377: AXI 请求 / 数据"/>
          <p:cNvSpPr txBox="1"/>
          <p:nvPr/>
        </p:nvSpPr>
        <p:spPr>
          <a:xfrm>
            <a:off x="1316736" y="15857728"/>
            <a:ext cx="1580363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 / 数据</a:t>
            </a:r>
          </a:p>
        </p:txBody>
      </p:sp>
      <p:cxnSp>
        <p:nvCxnSpPr>
          <p:cNvPr id="378" name="legend-187C78"/>
          <p:cNvCxnSpPr/>
          <p:nvPr/>
        </p:nvCxnSpPr>
        <p:spPr>
          <a:xfrm>
            <a:off x="4389120" y="16012160"/>
            <a:ext cx="536448" cy="0"/>
          </a:xfrm>
          <a:prstGeom prst="line">
            <a:avLst/>
          </a:prstGeom>
          <a:ln w="24384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379" name="object-379: GB 读写"/>
          <p:cNvSpPr txBox="1"/>
          <p:nvPr/>
        </p:nvSpPr>
        <p:spPr>
          <a:xfrm>
            <a:off x="5055616" y="15857728"/>
            <a:ext cx="930275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读写</a:t>
            </a:r>
          </a:p>
        </p:txBody>
      </p:sp>
      <p:cxnSp>
        <p:nvCxnSpPr>
          <p:cNvPr id="380" name="legend-B96043"/>
          <p:cNvCxnSpPr/>
          <p:nvPr/>
        </p:nvCxnSpPr>
        <p:spPr>
          <a:xfrm>
            <a:off x="7355840" y="16012160"/>
            <a:ext cx="536448" cy="0"/>
          </a:xfrm>
          <a:prstGeom prst="line">
            <a:avLst/>
          </a:prstGeom>
          <a:ln w="24384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381" name="object-381: 像素流"/>
          <p:cNvSpPr txBox="1"/>
          <p:nvPr/>
        </p:nvSpPr>
        <p:spPr>
          <a:xfrm>
            <a:off x="8022336" y="15857728"/>
            <a:ext cx="812800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</a:p>
        </p:txBody>
      </p:sp>
      <p:cxnSp>
        <p:nvCxnSpPr>
          <p:cNvPr id="382" name="legend-765489"/>
          <p:cNvCxnSpPr/>
          <p:nvPr/>
        </p:nvCxnSpPr>
        <p:spPr>
          <a:xfrm>
            <a:off x="10078720" y="16012160"/>
            <a:ext cx="536448" cy="0"/>
          </a:xfrm>
          <a:prstGeom prst="line">
            <a:avLst/>
          </a:prstGeom>
          <a:ln w="24384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383" name="object-383: 配置 / 控制"/>
          <p:cNvSpPr txBox="1"/>
          <p:nvPr/>
        </p:nvSpPr>
        <p:spPr>
          <a:xfrm>
            <a:off x="10745216" y="15857728"/>
            <a:ext cx="1243419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  <p:sp>
        <p:nvSpPr>
          <p:cNvPr id="384" name="legend-dash"/>
          <p:cNvSpPr/>
          <p:nvPr/>
        </p:nvSpPr>
        <p:spPr>
          <a:xfrm>
            <a:off x="13736320" y="15898368"/>
            <a:ext cx="438912" cy="211328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5" name="object-385: 虚线：可选或新增候选"/>
          <p:cNvSpPr txBox="1"/>
          <p:nvPr/>
        </p:nvSpPr>
        <p:spPr>
          <a:xfrm>
            <a:off x="14305280" y="15857728"/>
            <a:ext cx="2235200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虚线：可选或新增候选</a:t>
            </a:r>
          </a:p>
        </p:txBody>
      </p:sp>
      <p:sp>
        <p:nvSpPr>
          <p:cNvPr id="386" name="object-386: C1–C9：同一 IP 配置端"/>
          <p:cNvSpPr txBox="1"/>
          <p:nvPr/>
        </p:nvSpPr>
        <p:spPr>
          <a:xfrm>
            <a:off x="19669760" y="15857728"/>
            <a:ext cx="2318944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C1–C9：同一 IP 配置端</a:t>
            </a:r>
          </a:p>
        </p:txBody>
      </p:sp>
      <p:sp>
        <p:nvSpPr>
          <p:cNvPr id="387" name="object-387: AXI 返回通道合并示意"/>
          <p:cNvSpPr txBox="1"/>
          <p:nvPr/>
        </p:nvSpPr>
        <p:spPr>
          <a:xfrm>
            <a:off x="25398870" y="15875284"/>
            <a:ext cx="1992490" cy="2991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2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AXI 返回通道合并示意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