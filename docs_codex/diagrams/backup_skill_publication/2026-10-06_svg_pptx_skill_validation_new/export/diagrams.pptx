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552000" cy="436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ample-000"/>
          <p:cNvSpPr/>
          <p:nvPr/>
        </p:nvSpPr>
        <p:spPr>
          <a:xfrm>
            <a:off x="0" y="1342250"/>
            <a:ext cx="6552000" cy="168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example-001"/>
          <p:cNvSpPr/>
          <p:nvPr/>
        </p:nvSpPr>
        <p:spPr>
          <a:xfrm>
            <a:off x="273000" y="1669850"/>
            <a:ext cx="1346800" cy="455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xample-002: Input"/>
          <p:cNvSpPr txBox="1"/>
          <p:nvPr/>
        </p:nvSpPr>
        <p:spPr>
          <a:xfrm>
            <a:off x="741031" y="1800708"/>
            <a:ext cx="410737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Input</a:t>
            </a:r>
          </a:p>
        </p:txBody>
      </p:sp>
      <p:sp>
        <p:nvSpPr>
          <p:cNvPr id="5" name="example-003"/>
          <p:cNvSpPr/>
          <p:nvPr/>
        </p:nvSpPr>
        <p:spPr>
          <a:xfrm>
            <a:off x="2529800" y="1669850"/>
            <a:ext cx="1346800" cy="4550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example-004: Process"/>
          <p:cNvSpPr txBox="1"/>
          <p:nvPr/>
        </p:nvSpPr>
        <p:spPr>
          <a:xfrm>
            <a:off x="2909398" y="1800708"/>
            <a:ext cx="58760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Process</a:t>
            </a:r>
          </a:p>
        </p:txBody>
      </p:sp>
      <p:sp>
        <p:nvSpPr>
          <p:cNvPr id="7" name="example-005"/>
          <p:cNvSpPr/>
          <p:nvPr/>
        </p:nvSpPr>
        <p:spPr>
          <a:xfrm>
            <a:off x="4932200" y="1669850"/>
            <a:ext cx="1346800" cy="455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xample-006: Output"/>
          <p:cNvSpPr txBox="1"/>
          <p:nvPr/>
        </p:nvSpPr>
        <p:spPr>
          <a:xfrm>
            <a:off x="5350686" y="1800708"/>
            <a:ext cx="50982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Output</a:t>
            </a:r>
          </a:p>
        </p:txBody>
      </p:sp>
      <p:sp>
        <p:nvSpPr>
          <p:cNvPr id="9" name="example-007"/>
          <p:cNvSpPr/>
          <p:nvPr/>
        </p:nvSpPr>
        <p:spPr>
          <a:xfrm>
            <a:off x="1619800" y="1897350"/>
            <a:ext cx="910000" cy="1"/>
          </a:xfrm>
          <a:custGeom>
            <a:avLst/>
            <a:gdLst/>
            <a:ahLst/>
            <a:cxnLst/>
            <a:rect l="0" t="0" r="r" b="b"/>
            <a:pathLst>
              <a:path w="910000" h="1">
                <a:moveTo>
                  <a:pt x="0" y="0"/>
                </a:moveTo>
                <a:lnTo>
                  <a:pt x="9100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xample-008"/>
          <p:cNvSpPr/>
          <p:nvPr/>
        </p:nvSpPr>
        <p:spPr>
          <a:xfrm>
            <a:off x="2475200" y="18718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xample-009"/>
          <p:cNvSpPr/>
          <p:nvPr/>
        </p:nvSpPr>
        <p:spPr>
          <a:xfrm>
            <a:off x="3876600" y="1897350"/>
            <a:ext cx="1055600" cy="1"/>
          </a:xfrm>
          <a:custGeom>
            <a:avLst/>
            <a:gdLst/>
            <a:ahLst/>
            <a:cxnLst/>
            <a:rect l="0" t="0" r="r" b="b"/>
            <a:pathLst>
              <a:path w="1055600" h="1">
                <a:moveTo>
                  <a:pt x="0" y="0"/>
                </a:moveTo>
                <a:lnTo>
                  <a:pt x="10556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xample-010"/>
          <p:cNvSpPr/>
          <p:nvPr/>
        </p:nvSpPr>
        <p:spPr>
          <a:xfrm>
            <a:off x="4877600" y="18718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example-011"/>
          <p:cNvSpPr/>
          <p:nvPr/>
        </p:nvSpPr>
        <p:spPr>
          <a:xfrm>
            <a:off x="946400" y="2124850"/>
            <a:ext cx="4650100" cy="664300"/>
          </a:xfrm>
          <a:custGeom>
            <a:avLst/>
            <a:gdLst/>
            <a:ahLst/>
            <a:cxnLst/>
            <a:rect l="0" t="0" r="r" b="b"/>
            <a:pathLst>
              <a:path w="4650100" h="664300">
                <a:moveTo>
                  <a:pt x="4650100" y="0"/>
                </a:moveTo>
                <a:cubicBezTo>
                  <a:pt x="4650100" y="664300"/>
                  <a:pt x="0" y="664300"/>
                  <a:pt x="0" y="54600"/>
                </a:cubicBez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example-012"/>
          <p:cNvSpPr/>
          <p:nvPr/>
        </p:nvSpPr>
        <p:spPr>
          <a:xfrm>
            <a:off x="946400" y="2124850"/>
            <a:ext cx="1" cy="100100"/>
          </a:xfrm>
          <a:custGeom>
            <a:avLst/>
            <a:gdLst/>
            <a:ahLst/>
            <a:cxnLst/>
            <a:rect l="0" t="0" r="r" b="b"/>
            <a:pathLst>
              <a:path w="1" h="100100">
                <a:moveTo>
                  <a:pt x="0" y="100100"/>
                </a:moveTo>
                <a:lnTo>
                  <a:pt x="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example-013"/>
          <p:cNvSpPr/>
          <p:nvPr/>
        </p:nvSpPr>
        <p:spPr>
          <a:xfrm>
            <a:off x="920920" y="21248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0"/>
                </a:moveTo>
                <a:lnTo>
                  <a:pt x="50960" y="54600"/>
                </a:lnTo>
                <a:lnTo>
                  <a:pt x="0" y="5460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xample-014: Feedback"/>
          <p:cNvSpPr txBox="1"/>
          <p:nvPr/>
        </p:nvSpPr>
        <p:spPr>
          <a:xfrm>
            <a:off x="2911595" y="2743286"/>
            <a:ext cx="63781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rossbar_ara-000"/>
          <p:cNvSpPr/>
          <p:nvPr/>
        </p:nvSpPr>
        <p:spPr>
          <a:xfrm>
            <a:off x="0" y="0"/>
            <a:ext cx="6552000" cy="436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rossbar_ara-001: AXI masters"/>
          <p:cNvSpPr txBox="1"/>
          <p:nvPr/>
        </p:nvSpPr>
        <p:spPr>
          <a:xfrm>
            <a:off x="362912" y="89908"/>
            <a:ext cx="8211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AXI masters</a:t>
            </a:r>
          </a:p>
        </p:txBody>
      </p:sp>
      <p:sp>
        <p:nvSpPr>
          <p:cNvPr id="4" name="crossbar_ara-002: Decode"/>
          <p:cNvSpPr txBox="1"/>
          <p:nvPr/>
        </p:nvSpPr>
        <p:spPr>
          <a:xfrm>
            <a:off x="2000841" y="89908"/>
            <a:ext cx="56651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Decode</a:t>
            </a:r>
          </a:p>
        </p:txBody>
      </p:sp>
      <p:sp>
        <p:nvSpPr>
          <p:cNvPr id="5" name="crossbar_ara-003: Reachability"/>
          <p:cNvSpPr txBox="1"/>
          <p:nvPr/>
        </p:nvSpPr>
        <p:spPr>
          <a:xfrm>
            <a:off x="3575106" y="89908"/>
            <a:ext cx="82138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Reachability</a:t>
            </a:r>
          </a:p>
        </p:txBody>
      </p:sp>
      <p:sp>
        <p:nvSpPr>
          <p:cNvPr id="6" name="crossbar_ara-004"/>
          <p:cNvSpPr/>
          <p:nvPr/>
        </p:nvSpPr>
        <p:spPr>
          <a:xfrm>
            <a:off x="182000" y="4459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rossbar_ara-005: CVA6"/>
          <p:cNvSpPr txBox="1"/>
          <p:nvPr/>
        </p:nvSpPr>
        <p:spPr>
          <a:xfrm>
            <a:off x="579976" y="467558"/>
            <a:ext cx="45074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CVA6</a:t>
            </a:r>
          </a:p>
        </p:txBody>
      </p:sp>
      <p:sp>
        <p:nvSpPr>
          <p:cNvPr id="8" name="crossbar_ara-006: S0"/>
          <p:cNvSpPr txBox="1"/>
          <p:nvPr/>
        </p:nvSpPr>
        <p:spPr>
          <a:xfrm>
            <a:off x="1470105" y="4819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S0</a:t>
            </a:r>
          </a:p>
        </p:txBody>
      </p:sp>
      <p:sp>
        <p:nvSpPr>
          <p:cNvPr id="9" name="crossbar_ara-007"/>
          <p:cNvSpPr/>
          <p:nvPr/>
        </p:nvSpPr>
        <p:spPr>
          <a:xfrm>
            <a:off x="1738100" y="5642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rossbar_ara-008"/>
          <p:cNvSpPr/>
          <p:nvPr/>
        </p:nvSpPr>
        <p:spPr>
          <a:xfrm>
            <a:off x="1901900" y="5387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rossbar_ara-009"/>
          <p:cNvSpPr/>
          <p:nvPr/>
        </p:nvSpPr>
        <p:spPr>
          <a:xfrm>
            <a:off x="1956500" y="4459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rossbar_ara-010: DEMUX"/>
          <p:cNvSpPr txBox="1"/>
          <p:nvPr/>
        </p:nvSpPr>
        <p:spPr>
          <a:xfrm>
            <a:off x="2011349" y="4773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13" name="crossbar_ara-011"/>
          <p:cNvSpPr/>
          <p:nvPr/>
        </p:nvSpPr>
        <p:spPr>
          <a:xfrm>
            <a:off x="2611700" y="5642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rossbar_ara-012"/>
          <p:cNvSpPr/>
          <p:nvPr/>
        </p:nvSpPr>
        <p:spPr>
          <a:xfrm>
            <a:off x="29866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rossbar_ara-013"/>
          <p:cNvSpPr/>
          <p:nvPr/>
        </p:nvSpPr>
        <p:spPr>
          <a:xfrm>
            <a:off x="34598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rossbar_ara-014"/>
          <p:cNvSpPr/>
          <p:nvPr/>
        </p:nvSpPr>
        <p:spPr>
          <a:xfrm>
            <a:off x="39330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rossbar_ara-015"/>
          <p:cNvSpPr/>
          <p:nvPr/>
        </p:nvSpPr>
        <p:spPr>
          <a:xfrm>
            <a:off x="44062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rossbar_ara-016"/>
          <p:cNvSpPr/>
          <p:nvPr/>
        </p:nvSpPr>
        <p:spPr>
          <a:xfrm>
            <a:off x="4879420" y="547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rossbar_ara-017"/>
          <p:cNvSpPr/>
          <p:nvPr/>
        </p:nvSpPr>
        <p:spPr>
          <a:xfrm>
            <a:off x="182000" y="7735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rossbar_ara-018: Debug SBA"/>
          <p:cNvSpPr txBox="1"/>
          <p:nvPr/>
        </p:nvSpPr>
        <p:spPr>
          <a:xfrm>
            <a:off x="408789" y="795158"/>
            <a:ext cx="79312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Debug SBA</a:t>
            </a:r>
          </a:p>
        </p:txBody>
      </p:sp>
      <p:sp>
        <p:nvSpPr>
          <p:cNvPr id="21" name="crossbar_ara-019: S1"/>
          <p:cNvSpPr txBox="1"/>
          <p:nvPr/>
        </p:nvSpPr>
        <p:spPr>
          <a:xfrm>
            <a:off x="1470105" y="8095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S1</a:t>
            </a:r>
          </a:p>
        </p:txBody>
      </p:sp>
      <p:sp>
        <p:nvSpPr>
          <p:cNvPr id="22" name="crossbar_ara-020"/>
          <p:cNvSpPr/>
          <p:nvPr/>
        </p:nvSpPr>
        <p:spPr>
          <a:xfrm>
            <a:off x="1738100" y="8918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rossbar_ara-021"/>
          <p:cNvSpPr/>
          <p:nvPr/>
        </p:nvSpPr>
        <p:spPr>
          <a:xfrm>
            <a:off x="1901900" y="8663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rossbar_ara-022"/>
          <p:cNvSpPr/>
          <p:nvPr/>
        </p:nvSpPr>
        <p:spPr>
          <a:xfrm>
            <a:off x="1956500" y="7735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rossbar_ara-023: DEMUX"/>
          <p:cNvSpPr txBox="1"/>
          <p:nvPr/>
        </p:nvSpPr>
        <p:spPr>
          <a:xfrm>
            <a:off x="2011349" y="8049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26" name="crossbar_ara-024"/>
          <p:cNvSpPr/>
          <p:nvPr/>
        </p:nvSpPr>
        <p:spPr>
          <a:xfrm>
            <a:off x="2611700" y="8918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rossbar_ara-025"/>
          <p:cNvSpPr/>
          <p:nvPr/>
        </p:nvSpPr>
        <p:spPr>
          <a:xfrm>
            <a:off x="29866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rossbar_ara-026"/>
          <p:cNvSpPr/>
          <p:nvPr/>
        </p:nvSpPr>
        <p:spPr>
          <a:xfrm>
            <a:off x="34598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rossbar_ara-027"/>
          <p:cNvSpPr/>
          <p:nvPr/>
        </p:nvSpPr>
        <p:spPr>
          <a:xfrm>
            <a:off x="39330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rossbar_ara-028"/>
          <p:cNvSpPr/>
          <p:nvPr/>
        </p:nvSpPr>
        <p:spPr>
          <a:xfrm>
            <a:off x="44062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rossbar_ara-029"/>
          <p:cNvSpPr/>
          <p:nvPr/>
        </p:nvSpPr>
        <p:spPr>
          <a:xfrm>
            <a:off x="4879420" y="875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rossbar_ara-030"/>
          <p:cNvSpPr/>
          <p:nvPr/>
        </p:nvSpPr>
        <p:spPr>
          <a:xfrm>
            <a:off x="182000" y="11011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rossbar_ara-031: Ara"/>
          <p:cNvSpPr txBox="1"/>
          <p:nvPr/>
        </p:nvSpPr>
        <p:spPr>
          <a:xfrm>
            <a:off x="642524" y="1122758"/>
            <a:ext cx="3256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Ara</a:t>
            </a:r>
          </a:p>
        </p:txBody>
      </p:sp>
      <p:sp>
        <p:nvSpPr>
          <p:cNvPr id="34" name="crossbar_ara-032: S2"/>
          <p:cNvSpPr txBox="1"/>
          <p:nvPr/>
        </p:nvSpPr>
        <p:spPr>
          <a:xfrm>
            <a:off x="1470105" y="11371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S2</a:t>
            </a:r>
          </a:p>
        </p:txBody>
      </p:sp>
      <p:sp>
        <p:nvSpPr>
          <p:cNvPr id="35" name="crossbar_ara-033"/>
          <p:cNvSpPr/>
          <p:nvPr/>
        </p:nvSpPr>
        <p:spPr>
          <a:xfrm>
            <a:off x="1738100" y="12194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rossbar_ara-034"/>
          <p:cNvSpPr/>
          <p:nvPr/>
        </p:nvSpPr>
        <p:spPr>
          <a:xfrm>
            <a:off x="1901900" y="1193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rossbar_ara-035"/>
          <p:cNvSpPr/>
          <p:nvPr/>
        </p:nvSpPr>
        <p:spPr>
          <a:xfrm>
            <a:off x="1956500" y="11011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rossbar_ara-036: DEMUX"/>
          <p:cNvSpPr txBox="1"/>
          <p:nvPr/>
        </p:nvSpPr>
        <p:spPr>
          <a:xfrm>
            <a:off x="2011349" y="11325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39" name="crossbar_ara-037"/>
          <p:cNvSpPr/>
          <p:nvPr/>
        </p:nvSpPr>
        <p:spPr>
          <a:xfrm>
            <a:off x="2611700" y="12194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rossbar_ara-038"/>
          <p:cNvSpPr/>
          <p:nvPr/>
        </p:nvSpPr>
        <p:spPr>
          <a:xfrm>
            <a:off x="29866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rossbar_ara-039"/>
          <p:cNvSpPr/>
          <p:nvPr/>
        </p:nvSpPr>
        <p:spPr>
          <a:xfrm>
            <a:off x="34598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rossbar_ara-040"/>
          <p:cNvSpPr/>
          <p:nvPr/>
        </p:nvSpPr>
        <p:spPr>
          <a:xfrm>
            <a:off x="39330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rossbar_ara-041"/>
          <p:cNvSpPr/>
          <p:nvPr/>
        </p:nvSpPr>
        <p:spPr>
          <a:xfrm>
            <a:off x="44062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rossbar_ara-042"/>
          <p:cNvSpPr/>
          <p:nvPr/>
        </p:nvSpPr>
        <p:spPr>
          <a:xfrm>
            <a:off x="4879420" y="12030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rossbar_ara-043"/>
          <p:cNvSpPr/>
          <p:nvPr/>
        </p:nvSpPr>
        <p:spPr>
          <a:xfrm>
            <a:off x="182000" y="14287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rossbar_ara-044: iDMA data"/>
          <p:cNvSpPr txBox="1"/>
          <p:nvPr/>
        </p:nvSpPr>
        <p:spPr>
          <a:xfrm>
            <a:off x="447784" y="1450358"/>
            <a:ext cx="71513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iDMA data</a:t>
            </a:r>
          </a:p>
        </p:txBody>
      </p:sp>
      <p:sp>
        <p:nvSpPr>
          <p:cNvPr id="47" name="crossbar_ara-045: S3"/>
          <p:cNvSpPr txBox="1"/>
          <p:nvPr/>
        </p:nvSpPr>
        <p:spPr>
          <a:xfrm>
            <a:off x="1470105" y="14647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S3</a:t>
            </a:r>
          </a:p>
        </p:txBody>
      </p:sp>
      <p:sp>
        <p:nvSpPr>
          <p:cNvPr id="48" name="crossbar_ara-046"/>
          <p:cNvSpPr/>
          <p:nvPr/>
        </p:nvSpPr>
        <p:spPr>
          <a:xfrm>
            <a:off x="1738100" y="15470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rossbar_ara-047"/>
          <p:cNvSpPr/>
          <p:nvPr/>
        </p:nvSpPr>
        <p:spPr>
          <a:xfrm>
            <a:off x="1901900" y="15215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rossbar_ara-048"/>
          <p:cNvSpPr/>
          <p:nvPr/>
        </p:nvSpPr>
        <p:spPr>
          <a:xfrm>
            <a:off x="1956500" y="14287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rossbar_ara-049: DEMUX"/>
          <p:cNvSpPr txBox="1"/>
          <p:nvPr/>
        </p:nvSpPr>
        <p:spPr>
          <a:xfrm>
            <a:off x="2011349" y="14601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52" name="crossbar_ara-050"/>
          <p:cNvSpPr/>
          <p:nvPr/>
        </p:nvSpPr>
        <p:spPr>
          <a:xfrm>
            <a:off x="2611700" y="15470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rossbar_ara-051"/>
          <p:cNvSpPr/>
          <p:nvPr/>
        </p:nvSpPr>
        <p:spPr>
          <a:xfrm>
            <a:off x="29866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rossbar_ara-052"/>
          <p:cNvSpPr/>
          <p:nvPr/>
        </p:nvSpPr>
        <p:spPr>
          <a:xfrm>
            <a:off x="34598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rossbar_ara-053"/>
          <p:cNvSpPr/>
          <p:nvPr/>
        </p:nvSpPr>
        <p:spPr>
          <a:xfrm>
            <a:off x="39330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rossbar_ara-054"/>
          <p:cNvSpPr/>
          <p:nvPr/>
        </p:nvSpPr>
        <p:spPr>
          <a:xfrm>
            <a:off x="44062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rossbar_ara-055"/>
          <p:cNvSpPr/>
          <p:nvPr/>
        </p:nvSpPr>
        <p:spPr>
          <a:xfrm>
            <a:off x="4879420" y="15306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rossbar_ara-056"/>
          <p:cNvSpPr/>
          <p:nvPr/>
        </p:nvSpPr>
        <p:spPr>
          <a:xfrm>
            <a:off x="182000" y="17563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crossbar_ara-057: Serial Link RX"/>
          <p:cNvSpPr txBox="1"/>
          <p:nvPr/>
        </p:nvSpPr>
        <p:spPr>
          <a:xfrm>
            <a:off x="338051" y="1777958"/>
            <a:ext cx="93459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Serial Link RX</a:t>
            </a:r>
          </a:p>
        </p:txBody>
      </p:sp>
      <p:sp>
        <p:nvSpPr>
          <p:cNvPr id="60" name="crossbar_ara-058: S4"/>
          <p:cNvSpPr txBox="1"/>
          <p:nvPr/>
        </p:nvSpPr>
        <p:spPr>
          <a:xfrm>
            <a:off x="1470105" y="17923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S4</a:t>
            </a:r>
          </a:p>
        </p:txBody>
      </p:sp>
      <p:sp>
        <p:nvSpPr>
          <p:cNvPr id="61" name="crossbar_ara-059"/>
          <p:cNvSpPr/>
          <p:nvPr/>
        </p:nvSpPr>
        <p:spPr>
          <a:xfrm>
            <a:off x="1738100" y="18746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rossbar_ara-060"/>
          <p:cNvSpPr/>
          <p:nvPr/>
        </p:nvSpPr>
        <p:spPr>
          <a:xfrm>
            <a:off x="1901900" y="18491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rossbar_ara-061"/>
          <p:cNvSpPr/>
          <p:nvPr/>
        </p:nvSpPr>
        <p:spPr>
          <a:xfrm>
            <a:off x="1956500" y="17563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rossbar_ara-062: DEMUX"/>
          <p:cNvSpPr txBox="1"/>
          <p:nvPr/>
        </p:nvSpPr>
        <p:spPr>
          <a:xfrm>
            <a:off x="2011349" y="17877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65" name="crossbar_ara-063"/>
          <p:cNvSpPr/>
          <p:nvPr/>
        </p:nvSpPr>
        <p:spPr>
          <a:xfrm>
            <a:off x="2611700" y="18746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crossbar_ara-064"/>
          <p:cNvSpPr/>
          <p:nvPr/>
        </p:nvSpPr>
        <p:spPr>
          <a:xfrm>
            <a:off x="29866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crossbar_ara-065"/>
          <p:cNvSpPr/>
          <p:nvPr/>
        </p:nvSpPr>
        <p:spPr>
          <a:xfrm>
            <a:off x="34598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rossbar_ara-066"/>
          <p:cNvSpPr/>
          <p:nvPr/>
        </p:nvSpPr>
        <p:spPr>
          <a:xfrm>
            <a:off x="39330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rossbar_ara-067"/>
          <p:cNvSpPr/>
          <p:nvPr/>
        </p:nvSpPr>
        <p:spPr>
          <a:xfrm>
            <a:off x="44062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rossbar_ara-068"/>
          <p:cNvSpPr/>
          <p:nvPr/>
        </p:nvSpPr>
        <p:spPr>
          <a:xfrm>
            <a:off x="4879420" y="18582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crossbar_ara-069"/>
          <p:cNvSpPr/>
          <p:nvPr/>
        </p:nvSpPr>
        <p:spPr>
          <a:xfrm>
            <a:off x="182000" y="20839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crossbar_ara-070: VGA"/>
          <p:cNvSpPr txBox="1"/>
          <p:nvPr/>
        </p:nvSpPr>
        <p:spPr>
          <a:xfrm>
            <a:off x="607134" y="2105558"/>
            <a:ext cx="3964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VGA</a:t>
            </a:r>
          </a:p>
        </p:txBody>
      </p:sp>
      <p:sp>
        <p:nvSpPr>
          <p:cNvPr id="73" name="crossbar_ara-071: S5"/>
          <p:cNvSpPr txBox="1"/>
          <p:nvPr/>
        </p:nvSpPr>
        <p:spPr>
          <a:xfrm>
            <a:off x="1470105" y="21199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S5</a:t>
            </a:r>
          </a:p>
        </p:txBody>
      </p:sp>
      <p:sp>
        <p:nvSpPr>
          <p:cNvPr id="74" name="crossbar_ara-072"/>
          <p:cNvSpPr/>
          <p:nvPr/>
        </p:nvSpPr>
        <p:spPr>
          <a:xfrm>
            <a:off x="1738100" y="22022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crossbar_ara-073"/>
          <p:cNvSpPr/>
          <p:nvPr/>
        </p:nvSpPr>
        <p:spPr>
          <a:xfrm>
            <a:off x="1901900" y="21767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rossbar_ara-074"/>
          <p:cNvSpPr/>
          <p:nvPr/>
        </p:nvSpPr>
        <p:spPr>
          <a:xfrm>
            <a:off x="1956500" y="20839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crossbar_ara-075: DEMUX"/>
          <p:cNvSpPr txBox="1"/>
          <p:nvPr/>
        </p:nvSpPr>
        <p:spPr>
          <a:xfrm>
            <a:off x="2011349" y="21153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78" name="crossbar_ara-076"/>
          <p:cNvSpPr/>
          <p:nvPr/>
        </p:nvSpPr>
        <p:spPr>
          <a:xfrm>
            <a:off x="2611700" y="22022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rossbar_ara-077"/>
          <p:cNvSpPr/>
          <p:nvPr/>
        </p:nvSpPr>
        <p:spPr>
          <a:xfrm>
            <a:off x="29866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crossbar_ara-078"/>
          <p:cNvSpPr/>
          <p:nvPr/>
        </p:nvSpPr>
        <p:spPr>
          <a:xfrm>
            <a:off x="34598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crossbar_ara-079"/>
          <p:cNvSpPr/>
          <p:nvPr/>
        </p:nvSpPr>
        <p:spPr>
          <a:xfrm>
            <a:off x="39330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crossbar_ara-080"/>
          <p:cNvSpPr/>
          <p:nvPr/>
        </p:nvSpPr>
        <p:spPr>
          <a:xfrm>
            <a:off x="44062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crossbar_ara-081"/>
          <p:cNvSpPr/>
          <p:nvPr/>
        </p:nvSpPr>
        <p:spPr>
          <a:xfrm>
            <a:off x="4879420" y="21858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rossbar_ara-082"/>
          <p:cNvSpPr/>
          <p:nvPr/>
        </p:nvSpPr>
        <p:spPr>
          <a:xfrm>
            <a:off x="182000" y="2411500"/>
            <a:ext cx="12467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rossbar_ara-083: USB DMA"/>
          <p:cNvSpPr txBox="1"/>
          <p:nvPr/>
        </p:nvSpPr>
        <p:spPr>
          <a:xfrm>
            <a:off x="451424" y="2433158"/>
            <a:ext cx="7078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USB DMA</a:t>
            </a:r>
          </a:p>
        </p:txBody>
      </p:sp>
      <p:sp>
        <p:nvSpPr>
          <p:cNvPr id="86" name="crossbar_ara-084: S6"/>
          <p:cNvSpPr txBox="1"/>
          <p:nvPr/>
        </p:nvSpPr>
        <p:spPr>
          <a:xfrm>
            <a:off x="1470105" y="24475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S6</a:t>
            </a:r>
          </a:p>
        </p:txBody>
      </p:sp>
      <p:sp>
        <p:nvSpPr>
          <p:cNvPr id="87" name="crossbar_ara-085"/>
          <p:cNvSpPr/>
          <p:nvPr/>
        </p:nvSpPr>
        <p:spPr>
          <a:xfrm>
            <a:off x="1738100" y="25298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rossbar_ara-086"/>
          <p:cNvSpPr/>
          <p:nvPr/>
        </p:nvSpPr>
        <p:spPr>
          <a:xfrm>
            <a:off x="1901900" y="25043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rossbar_ara-087"/>
          <p:cNvSpPr/>
          <p:nvPr/>
        </p:nvSpPr>
        <p:spPr>
          <a:xfrm>
            <a:off x="1956500" y="2411500"/>
            <a:ext cx="655200" cy="236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rossbar_ara-088: DEMUX"/>
          <p:cNvSpPr txBox="1"/>
          <p:nvPr/>
        </p:nvSpPr>
        <p:spPr>
          <a:xfrm>
            <a:off x="2011349" y="2442986"/>
            <a:ext cx="5455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DEMUX</a:t>
            </a:r>
          </a:p>
        </p:txBody>
      </p:sp>
      <p:sp>
        <p:nvSpPr>
          <p:cNvPr id="91" name="crossbar_ara-089"/>
          <p:cNvSpPr/>
          <p:nvPr/>
        </p:nvSpPr>
        <p:spPr>
          <a:xfrm>
            <a:off x="2611700" y="2529800"/>
            <a:ext cx="2284100" cy="1"/>
          </a:xfrm>
          <a:custGeom>
            <a:avLst/>
            <a:gdLst/>
            <a:ahLst/>
            <a:cxnLst/>
            <a:rect l="0" t="0" r="r" b="b"/>
            <a:pathLst>
              <a:path w="2284100" h="1">
                <a:moveTo>
                  <a:pt x="0" y="0"/>
                </a:moveTo>
                <a:lnTo>
                  <a:pt x="2284100" y="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rossbar_ara-090"/>
          <p:cNvSpPr/>
          <p:nvPr/>
        </p:nvSpPr>
        <p:spPr>
          <a:xfrm>
            <a:off x="29866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rossbar_ara-091"/>
          <p:cNvSpPr/>
          <p:nvPr/>
        </p:nvSpPr>
        <p:spPr>
          <a:xfrm>
            <a:off x="34598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rossbar_ara-092"/>
          <p:cNvSpPr/>
          <p:nvPr/>
        </p:nvSpPr>
        <p:spPr>
          <a:xfrm>
            <a:off x="39330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rossbar_ara-093"/>
          <p:cNvSpPr/>
          <p:nvPr/>
        </p:nvSpPr>
        <p:spPr>
          <a:xfrm>
            <a:off x="44062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rossbar_ara-094"/>
          <p:cNvSpPr/>
          <p:nvPr/>
        </p:nvSpPr>
        <p:spPr>
          <a:xfrm>
            <a:off x="4879420" y="2513420"/>
            <a:ext cx="32760" cy="3276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rossbar_ara-095"/>
          <p:cNvSpPr/>
          <p:nvPr/>
        </p:nvSpPr>
        <p:spPr>
          <a:xfrm>
            <a:off x="30030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rossbar_ara-096"/>
          <p:cNvSpPr/>
          <p:nvPr/>
        </p:nvSpPr>
        <p:spPr>
          <a:xfrm>
            <a:off x="28210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rossbar_ara-097: arb."/>
          <p:cNvSpPr txBox="1"/>
          <p:nvPr/>
        </p:nvSpPr>
        <p:spPr>
          <a:xfrm>
            <a:off x="28419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00" name="crossbar_ara-098: M0"/>
          <p:cNvSpPr txBox="1"/>
          <p:nvPr/>
        </p:nvSpPr>
        <p:spPr>
          <a:xfrm>
            <a:off x="28616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M0</a:t>
            </a:r>
          </a:p>
        </p:txBody>
      </p:sp>
      <p:sp>
        <p:nvSpPr>
          <p:cNvPr id="101" name="crossbar_ara-099"/>
          <p:cNvSpPr/>
          <p:nvPr/>
        </p:nvSpPr>
        <p:spPr>
          <a:xfrm>
            <a:off x="34762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crossbar_ara-100"/>
          <p:cNvSpPr/>
          <p:nvPr/>
        </p:nvSpPr>
        <p:spPr>
          <a:xfrm>
            <a:off x="32942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crossbar_ara-101: arb."/>
          <p:cNvSpPr txBox="1"/>
          <p:nvPr/>
        </p:nvSpPr>
        <p:spPr>
          <a:xfrm>
            <a:off x="33151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04" name="crossbar_ara-102: M1"/>
          <p:cNvSpPr txBox="1"/>
          <p:nvPr/>
        </p:nvSpPr>
        <p:spPr>
          <a:xfrm>
            <a:off x="33348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M1</a:t>
            </a:r>
          </a:p>
        </p:txBody>
      </p:sp>
      <p:sp>
        <p:nvSpPr>
          <p:cNvPr id="105" name="crossbar_ara-103"/>
          <p:cNvSpPr/>
          <p:nvPr/>
        </p:nvSpPr>
        <p:spPr>
          <a:xfrm>
            <a:off x="39494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crossbar_ara-104"/>
          <p:cNvSpPr/>
          <p:nvPr/>
        </p:nvSpPr>
        <p:spPr>
          <a:xfrm>
            <a:off x="37674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crossbar_ara-105: arb."/>
          <p:cNvSpPr txBox="1"/>
          <p:nvPr/>
        </p:nvSpPr>
        <p:spPr>
          <a:xfrm>
            <a:off x="37883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08" name="crossbar_ara-106: M2"/>
          <p:cNvSpPr txBox="1"/>
          <p:nvPr/>
        </p:nvSpPr>
        <p:spPr>
          <a:xfrm>
            <a:off x="38080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M2</a:t>
            </a:r>
          </a:p>
        </p:txBody>
      </p:sp>
      <p:sp>
        <p:nvSpPr>
          <p:cNvPr id="109" name="crossbar_ara-107"/>
          <p:cNvSpPr/>
          <p:nvPr/>
        </p:nvSpPr>
        <p:spPr>
          <a:xfrm>
            <a:off x="44226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crossbar_ara-108"/>
          <p:cNvSpPr/>
          <p:nvPr/>
        </p:nvSpPr>
        <p:spPr>
          <a:xfrm>
            <a:off x="42406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rossbar_ara-109: arb."/>
          <p:cNvSpPr txBox="1"/>
          <p:nvPr/>
        </p:nvSpPr>
        <p:spPr>
          <a:xfrm>
            <a:off x="42615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12" name="crossbar_ara-110: M3"/>
          <p:cNvSpPr txBox="1"/>
          <p:nvPr/>
        </p:nvSpPr>
        <p:spPr>
          <a:xfrm>
            <a:off x="42812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M3</a:t>
            </a:r>
          </a:p>
        </p:txBody>
      </p:sp>
      <p:sp>
        <p:nvSpPr>
          <p:cNvPr id="113" name="crossbar_ara-111"/>
          <p:cNvSpPr/>
          <p:nvPr/>
        </p:nvSpPr>
        <p:spPr>
          <a:xfrm>
            <a:off x="4895800" y="436800"/>
            <a:ext cx="1" cy="2566200"/>
          </a:xfrm>
          <a:custGeom>
            <a:avLst/>
            <a:gdLst/>
            <a:ahLst/>
            <a:cxnLst/>
            <a:rect l="0" t="0" r="r" b="b"/>
            <a:pathLst>
              <a:path w="1" h="2566200">
                <a:moveTo>
                  <a:pt x="0" y="0"/>
                </a:moveTo>
                <a:lnTo>
                  <a:pt x="0" y="2566200"/>
                </a:lnTo>
              </a:path>
            </a:pathLst>
          </a:custGeom>
          <a:noFill/>
          <a:ln w="8190" cap="flat">
            <a:solidFill>
              <a:srgbClr val="9999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crossbar_ara-112"/>
          <p:cNvSpPr/>
          <p:nvPr/>
        </p:nvSpPr>
        <p:spPr>
          <a:xfrm>
            <a:off x="4713800" y="3003000"/>
            <a:ext cx="364000" cy="273000"/>
          </a:xfrm>
          <a:custGeom>
            <a:avLst/>
            <a:gdLst/>
            <a:ahLst/>
            <a:cxnLst/>
            <a:rect l="0" t="0" r="r" b="b"/>
            <a:pathLst>
              <a:path w="364000" h="273000">
                <a:moveTo>
                  <a:pt x="0" y="0"/>
                </a:moveTo>
                <a:lnTo>
                  <a:pt x="364000" y="0"/>
                </a:lnTo>
                <a:lnTo>
                  <a:pt x="291200" y="273000"/>
                </a:lnTo>
                <a:lnTo>
                  <a:pt x="72800" y="2730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rossbar_ara-113: arb."/>
          <p:cNvSpPr txBox="1"/>
          <p:nvPr/>
        </p:nvSpPr>
        <p:spPr>
          <a:xfrm>
            <a:off x="4734723" y="3057236"/>
            <a:ext cx="32215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arb.</a:t>
            </a:r>
          </a:p>
        </p:txBody>
      </p:sp>
      <p:sp>
        <p:nvSpPr>
          <p:cNvPr id="116" name="crossbar_ara-114: M4"/>
          <p:cNvSpPr txBox="1"/>
          <p:nvPr/>
        </p:nvSpPr>
        <p:spPr>
          <a:xfrm>
            <a:off x="4754480" y="3366636"/>
            <a:ext cx="28264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M4</a:t>
            </a:r>
          </a:p>
        </p:txBody>
      </p:sp>
      <p:sp>
        <p:nvSpPr>
          <p:cNvPr id="117" name="crossbar_ara-115"/>
          <p:cNvSpPr/>
          <p:nvPr/>
        </p:nvSpPr>
        <p:spPr>
          <a:xfrm>
            <a:off x="2611700" y="1219400"/>
            <a:ext cx="1337700" cy="1783600"/>
          </a:xfrm>
          <a:custGeom>
            <a:avLst/>
            <a:gdLst/>
            <a:ahLst/>
            <a:cxnLst/>
            <a:rect l="0" t="0" r="r" b="b"/>
            <a:pathLst>
              <a:path w="1337700" h="1783600">
                <a:moveTo>
                  <a:pt x="0" y="0"/>
                </a:moveTo>
                <a:lnTo>
                  <a:pt x="1337700" y="0"/>
                </a:lnTo>
                <a:lnTo>
                  <a:pt x="1337700" y="178360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crossbar_ara-116"/>
          <p:cNvSpPr/>
          <p:nvPr/>
        </p:nvSpPr>
        <p:spPr>
          <a:xfrm>
            <a:off x="3923920" y="2948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crossbar_ara-117: Ara request"/>
          <p:cNvSpPr txBox="1"/>
          <p:nvPr/>
        </p:nvSpPr>
        <p:spPr>
          <a:xfrm>
            <a:off x="5277076" y="1128036"/>
            <a:ext cx="729848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Ara request</a:t>
            </a:r>
          </a:p>
        </p:txBody>
      </p:sp>
      <p:sp>
        <p:nvSpPr>
          <p:cNvPr id="120" name="crossbar_ara-118: M0"/>
          <p:cNvSpPr txBox="1"/>
          <p:nvPr/>
        </p:nvSpPr>
        <p:spPr>
          <a:xfrm>
            <a:off x="200200" y="36844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M0</a:t>
            </a:r>
          </a:p>
        </p:txBody>
      </p:sp>
      <p:sp>
        <p:nvSpPr>
          <p:cNvPr id="121" name="crossbar_ara-119: Debug target"/>
          <p:cNvSpPr txBox="1"/>
          <p:nvPr/>
        </p:nvSpPr>
        <p:spPr>
          <a:xfrm>
            <a:off x="464100" y="3694236"/>
            <a:ext cx="802279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Debug target</a:t>
            </a:r>
          </a:p>
        </p:txBody>
      </p:sp>
      <p:sp>
        <p:nvSpPr>
          <p:cNvPr id="122" name="crossbar_ara-120: M1"/>
          <p:cNvSpPr txBox="1"/>
          <p:nvPr/>
        </p:nvSpPr>
        <p:spPr>
          <a:xfrm>
            <a:off x="2329600" y="36844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M1</a:t>
            </a:r>
          </a:p>
        </p:txBody>
      </p:sp>
      <p:sp>
        <p:nvSpPr>
          <p:cNvPr id="123" name="crossbar_ara-121: Regbus"/>
          <p:cNvSpPr txBox="1"/>
          <p:nvPr/>
        </p:nvSpPr>
        <p:spPr>
          <a:xfrm>
            <a:off x="2593500" y="3694236"/>
            <a:ext cx="52603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Regbus</a:t>
            </a:r>
          </a:p>
        </p:txBody>
      </p:sp>
      <p:sp>
        <p:nvSpPr>
          <p:cNvPr id="124" name="crossbar_ara-122: M2"/>
          <p:cNvSpPr txBox="1"/>
          <p:nvPr/>
        </p:nvSpPr>
        <p:spPr>
          <a:xfrm>
            <a:off x="4459000" y="36844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M2</a:t>
            </a:r>
          </a:p>
        </p:txBody>
      </p:sp>
      <p:sp>
        <p:nvSpPr>
          <p:cNvPr id="125" name="crossbar_ara-123: AMO / LLC / SPM"/>
          <p:cNvSpPr txBox="1"/>
          <p:nvPr/>
        </p:nvSpPr>
        <p:spPr>
          <a:xfrm>
            <a:off x="4722900" y="3694236"/>
            <a:ext cx="1058373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AMO / LLC / SPM</a:t>
            </a:r>
          </a:p>
        </p:txBody>
      </p:sp>
      <p:sp>
        <p:nvSpPr>
          <p:cNvPr id="126" name="crossbar_ara-124: M3"/>
          <p:cNvSpPr txBox="1"/>
          <p:nvPr/>
        </p:nvSpPr>
        <p:spPr>
          <a:xfrm>
            <a:off x="200200" y="40211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M3</a:t>
            </a:r>
          </a:p>
        </p:txBody>
      </p:sp>
      <p:sp>
        <p:nvSpPr>
          <p:cNvPr id="127" name="crossbar_ara-125: iDMA control"/>
          <p:cNvSpPr txBox="1"/>
          <p:nvPr/>
        </p:nvSpPr>
        <p:spPr>
          <a:xfrm>
            <a:off x="464100" y="4030936"/>
            <a:ext cx="78887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iDMA control</a:t>
            </a:r>
          </a:p>
        </p:txBody>
      </p:sp>
      <p:sp>
        <p:nvSpPr>
          <p:cNvPr id="128" name="crossbar_ara-126: M4"/>
          <p:cNvSpPr txBox="1"/>
          <p:nvPr/>
        </p:nvSpPr>
        <p:spPr>
          <a:xfrm>
            <a:off x="2329600" y="4021108"/>
            <a:ext cx="3043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M4</a:t>
            </a:r>
          </a:p>
        </p:txBody>
      </p:sp>
      <p:sp>
        <p:nvSpPr>
          <p:cNvPr id="129" name="crossbar_ara-127: Serial Link TX"/>
          <p:cNvSpPr txBox="1"/>
          <p:nvPr/>
        </p:nvSpPr>
        <p:spPr>
          <a:xfrm>
            <a:off x="2593500" y="4030936"/>
            <a:ext cx="85251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Serial Link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dr_qos_proposal-000"/>
          <p:cNvSpPr/>
          <p:nvPr/>
        </p:nvSpPr>
        <p:spPr>
          <a:xfrm>
            <a:off x="0" y="819000"/>
            <a:ext cx="6552000" cy="27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dr_qos_proposal-001"/>
          <p:cNvSpPr/>
          <p:nvPr/>
        </p:nvSpPr>
        <p:spPr>
          <a:xfrm>
            <a:off x="145600" y="1201200"/>
            <a:ext cx="1073800" cy="400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dr_qos_proposal-002: CVA6 + Ara"/>
          <p:cNvSpPr txBox="1"/>
          <p:nvPr/>
        </p:nvSpPr>
        <p:spPr>
          <a:xfrm>
            <a:off x="288918" y="1304758"/>
            <a:ext cx="78716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CVA6 + Ara</a:t>
            </a:r>
          </a:p>
        </p:txBody>
      </p:sp>
      <p:sp>
        <p:nvSpPr>
          <p:cNvPr id="5" name="ddr_qos_proposal-003"/>
          <p:cNvSpPr/>
          <p:nvPr/>
        </p:nvSpPr>
        <p:spPr>
          <a:xfrm>
            <a:off x="1510600" y="1201200"/>
            <a:ext cx="1019200" cy="400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dr_qos_proposal-004: AXI Xbar"/>
          <p:cNvSpPr txBox="1"/>
          <p:nvPr/>
        </p:nvSpPr>
        <p:spPr>
          <a:xfrm>
            <a:off x="1701586" y="1304758"/>
            <a:ext cx="63722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AXI Xbar</a:t>
            </a:r>
          </a:p>
        </p:txBody>
      </p:sp>
      <p:sp>
        <p:nvSpPr>
          <p:cNvPr id="7" name="ddr_qos_proposal-005"/>
          <p:cNvSpPr/>
          <p:nvPr/>
        </p:nvSpPr>
        <p:spPr>
          <a:xfrm>
            <a:off x="2821000" y="1201200"/>
            <a:ext cx="1128400" cy="400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_qos_proposal-006: AMO / LLC"/>
          <p:cNvSpPr txBox="1"/>
          <p:nvPr/>
        </p:nvSpPr>
        <p:spPr>
          <a:xfrm>
            <a:off x="3006462" y="1304758"/>
            <a:ext cx="75747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AMO / LLC</a:t>
            </a:r>
          </a:p>
        </p:txBody>
      </p:sp>
      <p:sp>
        <p:nvSpPr>
          <p:cNvPr id="9" name="ddr_qos_proposal-007"/>
          <p:cNvSpPr/>
          <p:nvPr/>
        </p:nvSpPr>
        <p:spPr>
          <a:xfrm>
            <a:off x="1219400" y="1401400"/>
            <a:ext cx="291200" cy="1"/>
          </a:xfrm>
          <a:custGeom>
            <a:avLst/>
            <a:gdLst/>
            <a:ahLst/>
            <a:cxnLst/>
            <a:rect l="0" t="0" r="r" b="b"/>
            <a:pathLst>
              <a:path w="291200" h="1">
                <a:moveTo>
                  <a:pt x="0" y="0"/>
                </a:moveTo>
                <a:lnTo>
                  <a:pt x="2912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_qos_proposal-008"/>
          <p:cNvSpPr/>
          <p:nvPr/>
        </p:nvSpPr>
        <p:spPr>
          <a:xfrm>
            <a:off x="1456000" y="1375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dr_qos_proposal-009"/>
          <p:cNvSpPr/>
          <p:nvPr/>
        </p:nvSpPr>
        <p:spPr>
          <a:xfrm>
            <a:off x="2529800" y="1401400"/>
            <a:ext cx="291200" cy="1"/>
          </a:xfrm>
          <a:custGeom>
            <a:avLst/>
            <a:gdLst/>
            <a:ahLst/>
            <a:cxnLst/>
            <a:rect l="0" t="0" r="r" b="b"/>
            <a:pathLst>
              <a:path w="291200" h="1">
                <a:moveTo>
                  <a:pt x="0" y="0"/>
                </a:moveTo>
                <a:lnTo>
                  <a:pt x="2912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ddr_qos_proposal-010"/>
          <p:cNvSpPr/>
          <p:nvPr/>
        </p:nvSpPr>
        <p:spPr>
          <a:xfrm>
            <a:off x="2766400" y="1375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dr_qos_proposal-011"/>
          <p:cNvSpPr/>
          <p:nvPr/>
        </p:nvSpPr>
        <p:spPr>
          <a:xfrm>
            <a:off x="3949400" y="1401400"/>
            <a:ext cx="354900" cy="1"/>
          </a:xfrm>
          <a:custGeom>
            <a:avLst/>
            <a:gdLst/>
            <a:ahLst/>
            <a:cxnLst/>
            <a:rect l="0" t="0" r="r" b="b"/>
            <a:pathLst>
              <a:path w="354900" h="1">
                <a:moveTo>
                  <a:pt x="0" y="0"/>
                </a:moveTo>
                <a:lnTo>
                  <a:pt x="3549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dr_qos_proposal-012"/>
          <p:cNvSpPr/>
          <p:nvPr/>
        </p:nvSpPr>
        <p:spPr>
          <a:xfrm>
            <a:off x="4249700" y="1375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dr_qos_proposal-013"/>
          <p:cNvSpPr/>
          <p:nvPr/>
        </p:nvSpPr>
        <p:spPr>
          <a:xfrm>
            <a:off x="2821000" y="1929200"/>
            <a:ext cx="11284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dr_qos_proposal-014: ISP master"/>
          <p:cNvSpPr txBox="1"/>
          <p:nvPr/>
        </p:nvSpPr>
        <p:spPr>
          <a:xfrm>
            <a:off x="3007614" y="2005458"/>
            <a:ext cx="75517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ISP master</a:t>
            </a:r>
          </a:p>
        </p:txBody>
      </p:sp>
      <p:sp>
        <p:nvSpPr>
          <p:cNvPr id="17" name="ddr_qos_proposal-015"/>
          <p:cNvSpPr/>
          <p:nvPr/>
        </p:nvSpPr>
        <p:spPr>
          <a:xfrm>
            <a:off x="3949400" y="2102100"/>
            <a:ext cx="354900" cy="1"/>
          </a:xfrm>
          <a:custGeom>
            <a:avLst/>
            <a:gdLst/>
            <a:ahLst/>
            <a:cxnLst/>
            <a:rect l="0" t="0" r="r" b="b"/>
            <a:pathLst>
              <a:path w="354900" h="1">
                <a:moveTo>
                  <a:pt x="0" y="0"/>
                </a:moveTo>
                <a:lnTo>
                  <a:pt x="3549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dr_qos_proposal-016"/>
          <p:cNvSpPr/>
          <p:nvPr/>
        </p:nvSpPr>
        <p:spPr>
          <a:xfrm>
            <a:off x="4249700" y="20766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dr_qos_proposal-017"/>
          <p:cNvSpPr/>
          <p:nvPr/>
        </p:nvSpPr>
        <p:spPr>
          <a:xfrm>
            <a:off x="2821000" y="2684500"/>
            <a:ext cx="11284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dr_qos_proposal-018: NPU master"/>
          <p:cNvSpPr txBox="1"/>
          <p:nvPr/>
        </p:nvSpPr>
        <p:spPr>
          <a:xfrm>
            <a:off x="2974634" y="2760758"/>
            <a:ext cx="8211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NPU master</a:t>
            </a:r>
          </a:p>
        </p:txBody>
      </p:sp>
      <p:sp>
        <p:nvSpPr>
          <p:cNvPr id="21" name="ddr_qos_proposal-019"/>
          <p:cNvSpPr/>
          <p:nvPr/>
        </p:nvSpPr>
        <p:spPr>
          <a:xfrm>
            <a:off x="3949400" y="2857400"/>
            <a:ext cx="354900" cy="1"/>
          </a:xfrm>
          <a:custGeom>
            <a:avLst/>
            <a:gdLst/>
            <a:ahLst/>
            <a:cxnLst/>
            <a:rect l="0" t="0" r="r" b="b"/>
            <a:pathLst>
              <a:path w="354900" h="1">
                <a:moveTo>
                  <a:pt x="0" y="0"/>
                </a:moveTo>
                <a:lnTo>
                  <a:pt x="3549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ddr_qos_proposal-020"/>
          <p:cNvSpPr/>
          <p:nvPr/>
        </p:nvSpPr>
        <p:spPr>
          <a:xfrm>
            <a:off x="4249700" y="2831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dr_qos_proposal-021"/>
          <p:cNvSpPr/>
          <p:nvPr/>
        </p:nvSpPr>
        <p:spPr>
          <a:xfrm>
            <a:off x="4304300" y="1019200"/>
            <a:ext cx="2002000" cy="21476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dr_qos_proposal-022: DDR controller (proposed)"/>
          <p:cNvSpPr txBox="1"/>
          <p:nvPr/>
        </p:nvSpPr>
        <p:spPr>
          <a:xfrm>
            <a:off x="4555823" y="827736"/>
            <a:ext cx="1498955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DDR controller (proposed)</a:t>
            </a:r>
          </a:p>
        </p:txBody>
      </p:sp>
      <p:sp>
        <p:nvSpPr>
          <p:cNvPr id="25" name="ddr_qos_proposal-023: S0"/>
          <p:cNvSpPr txBox="1"/>
          <p:nvPr/>
        </p:nvSpPr>
        <p:spPr>
          <a:xfrm>
            <a:off x="4318405" y="11917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S0</a:t>
            </a:r>
          </a:p>
        </p:txBody>
      </p:sp>
      <p:sp>
        <p:nvSpPr>
          <p:cNvPr id="26" name="ddr_qos_proposal-024"/>
          <p:cNvSpPr/>
          <p:nvPr/>
        </p:nvSpPr>
        <p:spPr>
          <a:xfrm>
            <a:off x="4304300" y="1401400"/>
            <a:ext cx="391300" cy="1"/>
          </a:xfrm>
          <a:custGeom>
            <a:avLst/>
            <a:gdLst/>
            <a:ahLst/>
            <a:cxnLst/>
            <a:rect l="0" t="0" r="r" b="b"/>
            <a:pathLst>
              <a:path w="391300" h="1">
                <a:moveTo>
                  <a:pt x="0" y="0"/>
                </a:moveTo>
                <a:lnTo>
                  <a:pt x="391300" y="0"/>
                </a:lnTo>
              </a:path>
            </a:pathLst>
          </a:custGeom>
          <a:noFill/>
          <a:ln w="1092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ddr_qos_proposal-025: S1"/>
          <p:cNvSpPr txBox="1"/>
          <p:nvPr/>
        </p:nvSpPr>
        <p:spPr>
          <a:xfrm>
            <a:off x="4318405" y="18924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S1</a:t>
            </a:r>
          </a:p>
        </p:txBody>
      </p:sp>
      <p:sp>
        <p:nvSpPr>
          <p:cNvPr id="28" name="ddr_qos_proposal-026"/>
          <p:cNvSpPr/>
          <p:nvPr/>
        </p:nvSpPr>
        <p:spPr>
          <a:xfrm>
            <a:off x="4304300" y="2102100"/>
            <a:ext cx="391300" cy="1"/>
          </a:xfrm>
          <a:custGeom>
            <a:avLst/>
            <a:gdLst/>
            <a:ahLst/>
            <a:cxnLst/>
            <a:rect l="0" t="0" r="r" b="b"/>
            <a:pathLst>
              <a:path w="391300" h="1">
                <a:moveTo>
                  <a:pt x="0" y="0"/>
                </a:moveTo>
                <a:lnTo>
                  <a:pt x="391300" y="0"/>
                </a:lnTo>
              </a:path>
            </a:pathLst>
          </a:custGeom>
          <a:noFill/>
          <a:ln w="1092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dr_qos_proposal-027: S2"/>
          <p:cNvSpPr txBox="1"/>
          <p:nvPr/>
        </p:nvSpPr>
        <p:spPr>
          <a:xfrm>
            <a:off x="4318405" y="26477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S2</a:t>
            </a:r>
          </a:p>
        </p:txBody>
      </p:sp>
      <p:sp>
        <p:nvSpPr>
          <p:cNvPr id="30" name="ddr_qos_proposal-028"/>
          <p:cNvSpPr/>
          <p:nvPr/>
        </p:nvSpPr>
        <p:spPr>
          <a:xfrm>
            <a:off x="4304300" y="2857400"/>
            <a:ext cx="391300" cy="1"/>
          </a:xfrm>
          <a:custGeom>
            <a:avLst/>
            <a:gdLst/>
            <a:ahLst/>
            <a:cxnLst/>
            <a:rect l="0" t="0" r="r" b="b"/>
            <a:pathLst>
              <a:path w="391300" h="1">
                <a:moveTo>
                  <a:pt x="0" y="0"/>
                </a:moveTo>
                <a:lnTo>
                  <a:pt x="391300" y="0"/>
                </a:lnTo>
              </a:path>
            </a:pathLst>
          </a:custGeom>
          <a:noFill/>
          <a:ln w="1092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dr_qos_proposal-029"/>
          <p:cNvSpPr/>
          <p:nvPr/>
        </p:nvSpPr>
        <p:spPr>
          <a:xfrm>
            <a:off x="4695600" y="1183000"/>
            <a:ext cx="655200" cy="18382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ddr_qos_proposal-030: Arbiter"/>
          <p:cNvSpPr txBox="1"/>
          <p:nvPr/>
        </p:nvSpPr>
        <p:spPr>
          <a:xfrm>
            <a:off x="4771884" y="1928108"/>
            <a:ext cx="5026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Arbiter</a:t>
            </a:r>
          </a:p>
        </p:txBody>
      </p:sp>
      <p:sp>
        <p:nvSpPr>
          <p:cNvPr id="33" name="ddr_qos_proposal-031: / QoS"/>
          <p:cNvSpPr txBox="1"/>
          <p:nvPr/>
        </p:nvSpPr>
        <p:spPr>
          <a:xfrm>
            <a:off x="4796653" y="2082808"/>
            <a:ext cx="45309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/ QoS</a:t>
            </a:r>
          </a:p>
        </p:txBody>
      </p:sp>
      <p:sp>
        <p:nvSpPr>
          <p:cNvPr id="34" name="ddr_qos_proposal-032"/>
          <p:cNvSpPr/>
          <p:nvPr/>
        </p:nvSpPr>
        <p:spPr>
          <a:xfrm>
            <a:off x="5569200" y="1183000"/>
            <a:ext cx="582400" cy="18382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ddr_qos_proposal-033: DRAM"/>
          <p:cNvSpPr txBox="1"/>
          <p:nvPr/>
        </p:nvSpPr>
        <p:spPr>
          <a:xfrm>
            <a:off x="5627099" y="1937936"/>
            <a:ext cx="46660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DRAM</a:t>
            </a:r>
          </a:p>
        </p:txBody>
      </p:sp>
      <p:sp>
        <p:nvSpPr>
          <p:cNvPr id="36" name="ddr_qos_proposal-034: sched."/>
          <p:cNvSpPr txBox="1"/>
          <p:nvPr/>
        </p:nvSpPr>
        <p:spPr>
          <a:xfrm>
            <a:off x="5626978" y="2092636"/>
            <a:ext cx="46684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sched.</a:t>
            </a:r>
          </a:p>
        </p:txBody>
      </p:sp>
      <p:sp>
        <p:nvSpPr>
          <p:cNvPr id="37" name="ddr_qos_proposal-035"/>
          <p:cNvSpPr/>
          <p:nvPr/>
        </p:nvSpPr>
        <p:spPr>
          <a:xfrm>
            <a:off x="5350800" y="2102100"/>
            <a:ext cx="218400" cy="1"/>
          </a:xfrm>
          <a:custGeom>
            <a:avLst/>
            <a:gdLst/>
            <a:ahLst/>
            <a:cxnLst/>
            <a:rect l="0" t="0" r="r" b="b"/>
            <a:pathLst>
              <a:path w="218400" h="1">
                <a:moveTo>
                  <a:pt x="0" y="0"/>
                </a:moveTo>
                <a:lnTo>
                  <a:pt x="218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ddr_qos_proposal-036"/>
          <p:cNvSpPr/>
          <p:nvPr/>
        </p:nvSpPr>
        <p:spPr>
          <a:xfrm>
            <a:off x="5514600" y="20766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ddr_qos_proposal-037"/>
          <p:cNvSpPr/>
          <p:nvPr/>
        </p:nvSpPr>
        <p:spPr>
          <a:xfrm>
            <a:off x="4277000" y="3021200"/>
            <a:ext cx="1583400" cy="318500"/>
          </a:xfrm>
          <a:custGeom>
            <a:avLst/>
            <a:gdLst/>
            <a:ahLst/>
            <a:cxnLst/>
            <a:rect l="0" t="0" r="r" b="b"/>
            <a:pathLst>
              <a:path w="1583400" h="318500">
                <a:moveTo>
                  <a:pt x="1583400" y="0"/>
                </a:moveTo>
                <a:lnTo>
                  <a:pt x="1583400" y="318500"/>
                </a:lnTo>
                <a:lnTo>
                  <a:pt x="0" y="3185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ddr_qos_proposal-038"/>
          <p:cNvSpPr/>
          <p:nvPr/>
        </p:nvSpPr>
        <p:spPr>
          <a:xfrm>
            <a:off x="4277000" y="33142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ddr_qos_proposal-039: PHY / DDR"/>
          <p:cNvSpPr txBox="1"/>
          <p:nvPr/>
        </p:nvSpPr>
        <p:spPr>
          <a:xfrm>
            <a:off x="3371251" y="3247608"/>
            <a:ext cx="76924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PHY / DDR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