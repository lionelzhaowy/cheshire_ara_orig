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3743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02: Regbus 解码与分发：比较器、请求门控与响应 MUX"/>
          <p:cNvSpPr txBox="1"/>
          <p:nvPr/>
        </p:nvSpPr>
        <p:spPr>
          <a:xfrm>
            <a:off x="240030" y="85131"/>
            <a:ext cx="4834913" cy="324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解码与分发：比较器、请求门控与响应 MUX</a:t>
            </a:r>
          </a:p>
        </p:txBody>
      </p:sp>
      <p:sp>
        <p:nvSpPr>
          <p:cNvPr id="3" name="n003: i_reg_demux_decode + i_reg_demux · 组合逻辑展"/>
          <p:cNvSpPr txBox="1"/>
          <p:nvPr/>
        </p:nvSpPr>
        <p:spPr>
          <a:xfrm>
            <a:off x="240030" y="395569"/>
            <a:ext cx="62858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i_reg_demux_decode + i_reg_demux · 组合逻辑展开；端口数 N = RegOut.num_out，规则数 R = RegOut.num_rules</a:t>
            </a:r>
          </a:p>
        </p:txBody>
      </p:sp>
      <p:sp>
        <p:nvSpPr>
          <p:cNvPr id="4" name="n004"/>
          <p:cNvSpPr/>
          <p:nvPr/>
        </p:nvSpPr>
        <p:spPr>
          <a:xfrm>
            <a:off x="213360" y="773430"/>
            <a:ext cx="5707380" cy="3307080"/>
          </a:xfrm>
          <a:prstGeom prst="rect">
            <a:avLst/>
          </a:prstGeom>
          <a:solidFill>
            <a:srgbClr val="F3F7FA"/>
          </a:solidFill>
          <a:ln w="9601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n005: A  地址范围比较与优先选择"/>
          <p:cNvSpPr txBox="1"/>
          <p:nvPr/>
        </p:nvSpPr>
        <p:spPr>
          <a:xfrm>
            <a:off x="320040" y="815249"/>
            <a:ext cx="189516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地址范围比较与优先选择</a:t>
            </a:r>
          </a:p>
        </p:txBody>
      </p:sp>
      <p:sp>
        <p:nvSpPr>
          <p:cNvPr id="6" name="n006: addr[AW-1:0]"/>
          <p:cNvSpPr txBox="1"/>
          <p:nvPr/>
        </p:nvSpPr>
        <p:spPr>
          <a:xfrm>
            <a:off x="373380" y="1045891"/>
            <a:ext cx="85948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addr[AW-1:0]</a:t>
            </a:r>
          </a:p>
        </p:txBody>
      </p:sp>
      <p:sp>
        <p:nvSpPr>
          <p:cNvPr id="7" name="n007"/>
          <p:cNvSpPr/>
          <p:nvPr/>
        </p:nvSpPr>
        <p:spPr>
          <a:xfrm>
            <a:off x="853440" y="1306830"/>
            <a:ext cx="1" cy="1829562"/>
          </a:xfrm>
          <a:custGeom>
            <a:avLst/>
            <a:gdLst/>
            <a:ahLst/>
            <a:cxnLst/>
            <a:rect l="0" t="0" r="r" b="b"/>
            <a:pathLst>
              <a:path w="1" h="1829562" fill="none">
                <a:moveTo>
                  <a:pt x="0" y="0"/>
                </a:moveTo>
                <a:lnTo>
                  <a:pt x="0" y="1829562"/>
                </a:lnTo>
              </a:path>
            </a:pathLst>
          </a:custGeom>
          <a:noFill/>
          <a:ln w="12802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n008"/>
          <p:cNvSpPr/>
          <p:nvPr/>
        </p:nvSpPr>
        <p:spPr>
          <a:xfrm>
            <a:off x="832104" y="1658874"/>
            <a:ext cx="42672" cy="42672"/>
          </a:xfrm>
          <a:prstGeom prst="ellipse">
            <a:avLst/>
          </a:prstGeom>
          <a:solidFill>
            <a:srgbClr val="314D66"/>
          </a:solidFill>
          <a:ln w="5334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n009"/>
          <p:cNvSpPr/>
          <p:nvPr/>
        </p:nvSpPr>
        <p:spPr>
          <a:xfrm>
            <a:off x="853440" y="1680210"/>
            <a:ext cx="453390" cy="1"/>
          </a:xfrm>
          <a:custGeom>
            <a:avLst/>
            <a:gdLst/>
            <a:ahLst/>
            <a:cxnLst/>
            <a:rect l="0" t="0" r="r" b="b"/>
            <a:pathLst>
              <a:path w="453390" h="1" fill="none">
                <a:moveTo>
                  <a:pt x="0" y="0"/>
                </a:moveTo>
                <a:lnTo>
                  <a:pt x="45339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n010"/>
          <p:cNvSpPr/>
          <p:nvPr/>
        </p:nvSpPr>
        <p:spPr>
          <a:xfrm>
            <a:off x="1306830" y="1440180"/>
            <a:ext cx="237363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n011: 规则 0：范围比较"/>
          <p:cNvSpPr txBox="1"/>
          <p:nvPr/>
        </p:nvSpPr>
        <p:spPr>
          <a:xfrm>
            <a:off x="1947748" y="1510375"/>
            <a:ext cx="109179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规则 0：范围比较</a:t>
            </a:r>
          </a:p>
        </p:txBody>
      </p:sp>
      <p:sp>
        <p:nvSpPr>
          <p:cNvPr id="12" name="n012: addr ≥ start 且 (addr &lt; end 或 end = 0)"/>
          <p:cNvSpPr txBox="1"/>
          <p:nvPr/>
        </p:nvSpPr>
        <p:spPr>
          <a:xfrm>
            <a:off x="1465783" y="1681917"/>
            <a:ext cx="205572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addr ≥ start 且 (addr &lt; end 或 end = 0)</a:t>
            </a:r>
          </a:p>
        </p:txBody>
      </p:sp>
      <p:sp>
        <p:nvSpPr>
          <p:cNvPr id="13" name="n013"/>
          <p:cNvSpPr/>
          <p:nvPr/>
        </p:nvSpPr>
        <p:spPr>
          <a:xfrm>
            <a:off x="3680460" y="1680210"/>
            <a:ext cx="693420" cy="1"/>
          </a:xfrm>
          <a:custGeom>
            <a:avLst/>
            <a:gdLst/>
            <a:ahLst/>
            <a:cxnLst/>
            <a:rect l="0" t="0" r="r" b="b"/>
            <a:pathLst>
              <a:path w="693420" h="1" fill="none">
                <a:moveTo>
                  <a:pt x="0" y="0"/>
                </a:moveTo>
                <a:lnTo>
                  <a:pt x="69342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014"/>
          <p:cNvSpPr/>
          <p:nvPr/>
        </p:nvSpPr>
        <p:spPr>
          <a:xfrm>
            <a:off x="832104" y="2378964"/>
            <a:ext cx="42672" cy="42672"/>
          </a:xfrm>
          <a:prstGeom prst="ellipse">
            <a:avLst/>
          </a:prstGeom>
          <a:solidFill>
            <a:srgbClr val="314D66"/>
          </a:solidFill>
          <a:ln w="5334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n015"/>
          <p:cNvSpPr/>
          <p:nvPr/>
        </p:nvSpPr>
        <p:spPr>
          <a:xfrm>
            <a:off x="853440" y="2400300"/>
            <a:ext cx="453390" cy="1"/>
          </a:xfrm>
          <a:custGeom>
            <a:avLst/>
            <a:gdLst/>
            <a:ahLst/>
            <a:cxnLst/>
            <a:rect l="0" t="0" r="r" b="b"/>
            <a:pathLst>
              <a:path w="453390" h="1" fill="none">
                <a:moveTo>
                  <a:pt x="0" y="0"/>
                </a:moveTo>
                <a:lnTo>
                  <a:pt x="45339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n016"/>
          <p:cNvSpPr/>
          <p:nvPr/>
        </p:nvSpPr>
        <p:spPr>
          <a:xfrm>
            <a:off x="1306830" y="2160270"/>
            <a:ext cx="237363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n017: 规则 j：范围比较"/>
          <p:cNvSpPr txBox="1"/>
          <p:nvPr/>
        </p:nvSpPr>
        <p:spPr>
          <a:xfrm>
            <a:off x="1971051" y="2230465"/>
            <a:ext cx="104518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规则 j：范围比较</a:t>
            </a:r>
          </a:p>
        </p:txBody>
      </p:sp>
      <p:sp>
        <p:nvSpPr>
          <p:cNvPr id="18" name="n018: addr ≥ start 且 (addr &lt; end 或 end = 0)"/>
          <p:cNvSpPr txBox="1"/>
          <p:nvPr/>
        </p:nvSpPr>
        <p:spPr>
          <a:xfrm>
            <a:off x="1465783" y="2402007"/>
            <a:ext cx="205572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addr ≥ start 且 (addr &lt; end 或 end = 0)</a:t>
            </a:r>
          </a:p>
        </p:txBody>
      </p:sp>
      <p:sp>
        <p:nvSpPr>
          <p:cNvPr id="19" name="n019"/>
          <p:cNvSpPr/>
          <p:nvPr/>
        </p:nvSpPr>
        <p:spPr>
          <a:xfrm>
            <a:off x="3680460" y="2400300"/>
            <a:ext cx="693420" cy="1"/>
          </a:xfrm>
          <a:custGeom>
            <a:avLst/>
            <a:gdLst/>
            <a:ahLst/>
            <a:cxnLst/>
            <a:rect l="0" t="0" r="r" b="b"/>
            <a:pathLst>
              <a:path w="693420" h="1" fill="none">
                <a:moveTo>
                  <a:pt x="0" y="0"/>
                </a:moveTo>
                <a:lnTo>
                  <a:pt x="69342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n020"/>
          <p:cNvSpPr/>
          <p:nvPr/>
        </p:nvSpPr>
        <p:spPr>
          <a:xfrm>
            <a:off x="832104" y="3099054"/>
            <a:ext cx="42672" cy="42672"/>
          </a:xfrm>
          <a:prstGeom prst="ellipse">
            <a:avLst/>
          </a:prstGeom>
          <a:solidFill>
            <a:srgbClr val="314D66"/>
          </a:solidFill>
          <a:ln w="5334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n021"/>
          <p:cNvSpPr/>
          <p:nvPr/>
        </p:nvSpPr>
        <p:spPr>
          <a:xfrm>
            <a:off x="853440" y="3120390"/>
            <a:ext cx="453390" cy="1"/>
          </a:xfrm>
          <a:custGeom>
            <a:avLst/>
            <a:gdLst/>
            <a:ahLst/>
            <a:cxnLst/>
            <a:rect l="0" t="0" r="r" b="b"/>
            <a:pathLst>
              <a:path w="453390" h="1" fill="none">
                <a:moveTo>
                  <a:pt x="0" y="0"/>
                </a:moveTo>
                <a:lnTo>
                  <a:pt x="45339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n022"/>
          <p:cNvSpPr/>
          <p:nvPr/>
        </p:nvSpPr>
        <p:spPr>
          <a:xfrm>
            <a:off x="1306830" y="2880360"/>
            <a:ext cx="237363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n023: 规则 R-1：范围比较"/>
          <p:cNvSpPr txBox="1"/>
          <p:nvPr/>
        </p:nvSpPr>
        <p:spPr>
          <a:xfrm>
            <a:off x="1891378" y="2950555"/>
            <a:ext cx="12045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规则 R-1：范围比较</a:t>
            </a:r>
          </a:p>
        </p:txBody>
      </p:sp>
      <p:sp>
        <p:nvSpPr>
          <p:cNvPr id="24" name="n024: addr ≥ start 且 (addr &lt; end 或 end = 0)"/>
          <p:cNvSpPr txBox="1"/>
          <p:nvPr/>
        </p:nvSpPr>
        <p:spPr>
          <a:xfrm>
            <a:off x="1465783" y="3122097"/>
            <a:ext cx="205572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addr ≥ start 且 (addr &lt; end 或 end = 0)</a:t>
            </a:r>
          </a:p>
        </p:txBody>
      </p:sp>
      <p:sp>
        <p:nvSpPr>
          <p:cNvPr id="25" name="n025"/>
          <p:cNvSpPr/>
          <p:nvPr/>
        </p:nvSpPr>
        <p:spPr>
          <a:xfrm>
            <a:off x="3680460" y="3120390"/>
            <a:ext cx="693420" cy="1"/>
          </a:xfrm>
          <a:custGeom>
            <a:avLst/>
            <a:gdLst/>
            <a:ahLst/>
            <a:cxnLst/>
            <a:rect l="0" t="0" r="r" b="b"/>
            <a:pathLst>
              <a:path w="693420" h="1" fill="none">
                <a:moveTo>
                  <a:pt x="0" y="0"/>
                </a:moveTo>
                <a:lnTo>
                  <a:pt x="69342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n026"/>
          <p:cNvSpPr/>
          <p:nvPr/>
        </p:nvSpPr>
        <p:spPr>
          <a:xfrm>
            <a:off x="4373880" y="1466850"/>
            <a:ext cx="1093470" cy="1893570"/>
          </a:xfrm>
          <a:custGeom>
            <a:avLst/>
            <a:gdLst/>
            <a:ahLst/>
            <a:cxnLst/>
            <a:rect l="0" t="0" r="r" b="b"/>
            <a:pathLst>
              <a:path w="1093470" h="1893570">
                <a:moveTo>
                  <a:pt x="0" y="0"/>
                </a:moveTo>
                <a:lnTo>
                  <a:pt x="1093470" y="149352"/>
                </a:lnTo>
                <a:lnTo>
                  <a:pt x="1093470" y="1744218"/>
                </a:lnTo>
                <a:lnTo>
                  <a:pt x="0" y="1893570"/>
                </a:lnTo>
                <a:close/>
              </a:path>
            </a:pathLst>
          </a:cu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n027: 优先选择"/>
          <p:cNvSpPr txBox="1"/>
          <p:nvPr/>
        </p:nvSpPr>
        <p:spPr>
          <a:xfrm>
            <a:off x="4600575" y="2318050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优先选择</a:t>
            </a:r>
          </a:p>
        </p:txBody>
      </p:sp>
      <p:sp>
        <p:nvSpPr>
          <p:cNvPr id="28" name="n028: 最高规则"/>
          <p:cNvSpPr txBox="1"/>
          <p:nvPr/>
        </p:nvSpPr>
        <p:spPr>
          <a:xfrm>
            <a:off x="4637913" y="2033961"/>
            <a:ext cx="560070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最高规则</a:t>
            </a:r>
          </a:p>
        </p:txBody>
      </p:sp>
      <p:sp>
        <p:nvSpPr>
          <p:cNvPr id="29" name="n029: 数组下标优先"/>
          <p:cNvSpPr txBox="1"/>
          <p:nvPr/>
        </p:nvSpPr>
        <p:spPr>
          <a:xfrm>
            <a:off x="4525899" y="2204649"/>
            <a:ext cx="78409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数组下标优先</a:t>
            </a:r>
          </a:p>
        </p:txBody>
      </p:sp>
      <p:sp>
        <p:nvSpPr>
          <p:cNvPr id="30" name="n030"/>
          <p:cNvSpPr/>
          <p:nvPr/>
        </p:nvSpPr>
        <p:spPr>
          <a:xfrm>
            <a:off x="4933950" y="2410968"/>
            <a:ext cx="666750" cy="1200150"/>
          </a:xfrm>
          <a:custGeom>
            <a:avLst/>
            <a:gdLst/>
            <a:ahLst/>
            <a:cxnLst/>
            <a:rect l="0" t="0" r="r" b="b"/>
            <a:pathLst>
              <a:path w="666750" h="1200150" fill="none">
                <a:moveTo>
                  <a:pt x="533400" y="0"/>
                </a:moveTo>
                <a:lnTo>
                  <a:pt x="666750" y="0"/>
                </a:lnTo>
                <a:lnTo>
                  <a:pt x="666750" y="1200150"/>
                </a:lnTo>
                <a:lnTo>
                  <a:pt x="0" y="120015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n031"/>
          <p:cNvSpPr/>
          <p:nvPr/>
        </p:nvSpPr>
        <p:spPr>
          <a:xfrm>
            <a:off x="4539234" y="352044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n032: SEL"/>
          <p:cNvSpPr txBox="1"/>
          <p:nvPr/>
        </p:nvSpPr>
        <p:spPr>
          <a:xfrm>
            <a:off x="4593707" y="3533242"/>
            <a:ext cx="285769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SEL</a:t>
            </a:r>
          </a:p>
        </p:txBody>
      </p:sp>
      <p:sp>
        <p:nvSpPr>
          <p:cNvPr id="33" name="n033: 命中：idx = map[最高命中规则].idx"/>
          <p:cNvSpPr txBox="1"/>
          <p:nvPr/>
        </p:nvSpPr>
        <p:spPr>
          <a:xfrm>
            <a:off x="1333500" y="3414613"/>
            <a:ext cx="201586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命中：idx = map[最高命中规则].idx</a:t>
            </a:r>
          </a:p>
        </p:txBody>
      </p:sp>
      <p:sp>
        <p:nvSpPr>
          <p:cNvPr id="34" name="n034: 无命中：idx = RegOut.err"/>
          <p:cNvSpPr txBox="1"/>
          <p:nvPr/>
        </p:nvSpPr>
        <p:spPr>
          <a:xfrm>
            <a:off x="1333500" y="3649309"/>
            <a:ext cx="14808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无命中：idx = RegOut.err</a:t>
            </a:r>
          </a:p>
        </p:txBody>
      </p:sp>
      <p:sp>
        <p:nvSpPr>
          <p:cNvPr id="35" name="n035: start / end / idx 来自静态 RegMap；本实例 Napot "/>
          <p:cNvSpPr txBox="1"/>
          <p:nvPr/>
        </p:nvSpPr>
        <p:spPr>
          <a:xfrm>
            <a:off x="400050" y="3874191"/>
            <a:ext cx="2793557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start / end / idx 来自静态 RegMap；本实例 Napot = 0</a:t>
            </a:r>
          </a:p>
        </p:txBody>
      </p:sp>
      <p:sp>
        <p:nvSpPr>
          <p:cNvPr id="36" name="n036"/>
          <p:cNvSpPr/>
          <p:nvPr/>
        </p:nvSpPr>
        <p:spPr>
          <a:xfrm>
            <a:off x="6080760" y="773430"/>
            <a:ext cx="6507480" cy="3307080"/>
          </a:xfrm>
          <a:prstGeom prst="rect">
            <a:avLst/>
          </a:prstGeom>
          <a:solidFill>
            <a:srgbClr val="FAF8FB"/>
          </a:solidFill>
          <a:ln w="9601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n037: B  请求分发：对每个目标 p 重复"/>
          <p:cNvSpPr txBox="1"/>
          <p:nvPr/>
        </p:nvSpPr>
        <p:spPr>
          <a:xfrm>
            <a:off x="6187440" y="815249"/>
            <a:ext cx="221176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请求分发：对每个目标 p 重复</a:t>
            </a:r>
          </a:p>
        </p:txBody>
      </p:sp>
      <p:sp>
        <p:nvSpPr>
          <p:cNvPr id="38" name="n038"/>
          <p:cNvSpPr/>
          <p:nvPr/>
        </p:nvSpPr>
        <p:spPr>
          <a:xfrm>
            <a:off x="6240780" y="117348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n039: SEL"/>
          <p:cNvSpPr txBox="1"/>
          <p:nvPr/>
        </p:nvSpPr>
        <p:spPr>
          <a:xfrm>
            <a:off x="6295253" y="1186282"/>
            <a:ext cx="285769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SEL</a:t>
            </a:r>
          </a:p>
        </p:txBody>
      </p:sp>
      <p:sp>
        <p:nvSpPr>
          <p:cNvPr id="40" name="n040"/>
          <p:cNvSpPr/>
          <p:nvPr/>
        </p:nvSpPr>
        <p:spPr>
          <a:xfrm>
            <a:off x="6987540" y="1093470"/>
            <a:ext cx="181356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n041: 相等比较器"/>
          <p:cNvSpPr txBox="1"/>
          <p:nvPr/>
        </p:nvSpPr>
        <p:spPr>
          <a:xfrm>
            <a:off x="7526274" y="1163665"/>
            <a:ext cx="73609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相等比较器</a:t>
            </a:r>
          </a:p>
        </p:txBody>
      </p:sp>
      <p:sp>
        <p:nvSpPr>
          <p:cNvPr id="42" name="n042: sel_p = (reg_select == p)"/>
          <p:cNvSpPr txBox="1"/>
          <p:nvPr/>
        </p:nvSpPr>
        <p:spPr>
          <a:xfrm>
            <a:off x="7224040" y="1335207"/>
            <a:ext cx="134055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sel_p = (reg_select == p)</a:t>
            </a:r>
          </a:p>
        </p:txBody>
      </p:sp>
      <p:sp>
        <p:nvSpPr>
          <p:cNvPr id="43" name="n043"/>
          <p:cNvSpPr/>
          <p:nvPr/>
        </p:nvSpPr>
        <p:spPr>
          <a:xfrm>
            <a:off x="6635496" y="1264158"/>
            <a:ext cx="352044" cy="1"/>
          </a:xfrm>
          <a:custGeom>
            <a:avLst/>
            <a:gdLst/>
            <a:ahLst/>
            <a:cxnLst/>
            <a:rect l="0" t="0" r="r" b="b"/>
            <a:pathLst>
              <a:path w="352044" h="1" fill="none">
                <a:moveTo>
                  <a:pt x="0" y="0"/>
                </a:moveTo>
                <a:lnTo>
                  <a:pt x="352044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n044"/>
          <p:cNvSpPr/>
          <p:nvPr/>
        </p:nvSpPr>
        <p:spPr>
          <a:xfrm>
            <a:off x="8801100" y="1333500"/>
            <a:ext cx="533400" cy="453390"/>
          </a:xfrm>
          <a:custGeom>
            <a:avLst/>
            <a:gdLst/>
            <a:ahLst/>
            <a:cxnLst/>
            <a:rect l="0" t="0" r="r" b="b"/>
            <a:pathLst>
              <a:path w="533400" h="453390" fill="none">
                <a:moveTo>
                  <a:pt x="0" y="0"/>
                </a:moveTo>
                <a:lnTo>
                  <a:pt x="533400" y="0"/>
                </a:lnTo>
                <a:lnTo>
                  <a:pt x="533400" y="45339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n045"/>
          <p:cNvSpPr/>
          <p:nvPr/>
        </p:nvSpPr>
        <p:spPr>
          <a:xfrm>
            <a:off x="9313164" y="1578864"/>
            <a:ext cx="42672" cy="42672"/>
          </a:xfrm>
          <a:prstGeom prst="ellipse">
            <a:avLst/>
          </a:prstGeom>
          <a:solidFill>
            <a:srgbClr val="765489"/>
          </a:solidFill>
          <a:ln w="5334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n046"/>
          <p:cNvSpPr/>
          <p:nvPr/>
        </p:nvSpPr>
        <p:spPr>
          <a:xfrm>
            <a:off x="10134600" y="1509522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n047: sel_p"/>
          <p:cNvSpPr txBox="1"/>
          <p:nvPr/>
        </p:nvSpPr>
        <p:spPr>
          <a:xfrm>
            <a:off x="10153965" y="1522324"/>
            <a:ext cx="35598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sel_p</a:t>
            </a:r>
          </a:p>
        </p:txBody>
      </p:sp>
      <p:sp>
        <p:nvSpPr>
          <p:cNvPr id="48" name="n048"/>
          <p:cNvSpPr/>
          <p:nvPr/>
        </p:nvSpPr>
        <p:spPr>
          <a:xfrm>
            <a:off x="9334500" y="1600200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n049: in_req.valid"/>
          <p:cNvSpPr txBox="1"/>
          <p:nvPr/>
        </p:nvSpPr>
        <p:spPr>
          <a:xfrm>
            <a:off x="6240780" y="1814413"/>
            <a:ext cx="7326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in_req.valid</a:t>
            </a:r>
          </a:p>
        </p:txBody>
      </p:sp>
      <p:sp>
        <p:nvSpPr>
          <p:cNvPr id="50" name="n050"/>
          <p:cNvSpPr/>
          <p:nvPr/>
        </p:nvSpPr>
        <p:spPr>
          <a:xfrm>
            <a:off x="9121140" y="1786890"/>
            <a:ext cx="693420" cy="586740"/>
          </a:xfrm>
          <a:custGeom>
            <a:avLst/>
            <a:gdLst/>
            <a:ahLst/>
            <a:cxnLst/>
            <a:rect l="0" t="0" r="r" b="b"/>
            <a:pathLst>
              <a:path w="693420" h="586740">
                <a:moveTo>
                  <a:pt x="0" y="0"/>
                </a:moveTo>
                <a:lnTo>
                  <a:pt x="320040" y="0"/>
                </a:lnTo>
                <a:cubicBezTo>
                  <a:pt x="693420" y="0"/>
                  <a:pt x="693420" y="586740"/>
                  <a:pt x="320040" y="586740"/>
                </a:cubicBezTo>
                <a:lnTo>
                  <a:pt x="0" y="586740"/>
                </a:lnTo>
                <a:close/>
              </a:path>
            </a:pathLst>
          </a:cu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n051: &amp;"/>
          <p:cNvSpPr txBox="1"/>
          <p:nvPr/>
        </p:nvSpPr>
        <p:spPr>
          <a:xfrm>
            <a:off x="9271159" y="1949257"/>
            <a:ext cx="2867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&amp;</a:t>
            </a:r>
          </a:p>
        </p:txBody>
      </p:sp>
      <p:sp>
        <p:nvSpPr>
          <p:cNvPr id="52" name="n052"/>
          <p:cNvSpPr/>
          <p:nvPr/>
        </p:nvSpPr>
        <p:spPr>
          <a:xfrm>
            <a:off x="7307580" y="1904238"/>
            <a:ext cx="1813560" cy="176022"/>
          </a:xfrm>
          <a:custGeom>
            <a:avLst/>
            <a:gdLst/>
            <a:ahLst/>
            <a:cxnLst/>
            <a:rect l="0" t="0" r="r" b="b"/>
            <a:pathLst>
              <a:path w="1813560" h="176022" fill="none">
                <a:moveTo>
                  <a:pt x="0" y="0"/>
                </a:moveTo>
                <a:lnTo>
                  <a:pt x="1173480" y="0"/>
                </a:lnTo>
                <a:lnTo>
                  <a:pt x="1173480" y="176022"/>
                </a:lnTo>
                <a:lnTo>
                  <a:pt x="1813560" y="176022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n053"/>
          <p:cNvSpPr/>
          <p:nvPr/>
        </p:nvSpPr>
        <p:spPr>
          <a:xfrm>
            <a:off x="9718548" y="2080260"/>
            <a:ext cx="2336292" cy="1"/>
          </a:xfrm>
          <a:custGeom>
            <a:avLst/>
            <a:gdLst/>
            <a:ahLst/>
            <a:cxnLst/>
            <a:rect l="0" t="0" r="r" b="b"/>
            <a:pathLst>
              <a:path w="2336292" h="1" fill="none">
                <a:moveTo>
                  <a:pt x="0" y="0"/>
                </a:moveTo>
                <a:lnTo>
                  <a:pt x="2336292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n054: out_req[p].valid"/>
          <p:cNvSpPr txBox="1"/>
          <p:nvPr/>
        </p:nvSpPr>
        <p:spPr>
          <a:xfrm>
            <a:off x="10173251" y="1824655"/>
            <a:ext cx="98949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out_req[p].valid</a:t>
            </a:r>
          </a:p>
        </p:txBody>
      </p:sp>
      <p:sp>
        <p:nvSpPr>
          <p:cNvPr id="55" name="n055: addr / write / wdata / wstrb"/>
          <p:cNvSpPr txBox="1"/>
          <p:nvPr/>
        </p:nvSpPr>
        <p:spPr>
          <a:xfrm>
            <a:off x="6240780" y="2577175"/>
            <a:ext cx="163442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addr / write / wdata / wstrb</a:t>
            </a:r>
          </a:p>
        </p:txBody>
      </p:sp>
      <p:sp>
        <p:nvSpPr>
          <p:cNvPr id="56" name="n056"/>
          <p:cNvSpPr/>
          <p:nvPr/>
        </p:nvSpPr>
        <p:spPr>
          <a:xfrm>
            <a:off x="9174480" y="2640330"/>
            <a:ext cx="800100" cy="853440"/>
          </a:xfrm>
          <a:custGeom>
            <a:avLst/>
            <a:gdLst/>
            <a:ahLst/>
            <a:cxnLst/>
            <a:rect l="0" t="0" r="r" b="b"/>
            <a:pathLst>
              <a:path w="800100" h="853440">
                <a:moveTo>
                  <a:pt x="0" y="0"/>
                </a:moveTo>
                <a:lnTo>
                  <a:pt x="800100" y="149352"/>
                </a:lnTo>
                <a:lnTo>
                  <a:pt x="800100" y="704088"/>
                </a:lnTo>
                <a:lnTo>
                  <a:pt x="0" y="853440"/>
                </a:lnTo>
                <a:close/>
              </a:path>
            </a:pathLst>
          </a:cu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n057: 2:1"/>
          <p:cNvSpPr txBox="1"/>
          <p:nvPr/>
        </p:nvSpPr>
        <p:spPr>
          <a:xfrm>
            <a:off x="9414573" y="2971465"/>
            <a:ext cx="31991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2:1</a:t>
            </a:r>
          </a:p>
        </p:txBody>
      </p:sp>
      <p:sp>
        <p:nvSpPr>
          <p:cNvPr id="58" name="n058"/>
          <p:cNvSpPr/>
          <p:nvPr/>
        </p:nvSpPr>
        <p:spPr>
          <a:xfrm>
            <a:off x="8161020" y="2667000"/>
            <a:ext cx="1013460" cy="213360"/>
          </a:xfrm>
          <a:custGeom>
            <a:avLst/>
            <a:gdLst/>
            <a:ahLst/>
            <a:cxnLst/>
            <a:rect l="0" t="0" r="r" b="b"/>
            <a:pathLst>
              <a:path w="1013460" h="213360" fill="none">
                <a:moveTo>
                  <a:pt x="0" y="0"/>
                </a:moveTo>
                <a:lnTo>
                  <a:pt x="586740" y="0"/>
                </a:lnTo>
                <a:lnTo>
                  <a:pt x="586740" y="213360"/>
                </a:lnTo>
                <a:lnTo>
                  <a:pt x="1013460" y="21336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n059: '0"/>
          <p:cNvSpPr txBox="1"/>
          <p:nvPr/>
        </p:nvSpPr>
        <p:spPr>
          <a:xfrm>
            <a:off x="8161020" y="3167969"/>
            <a:ext cx="263425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'0</a:t>
            </a:r>
          </a:p>
        </p:txBody>
      </p:sp>
      <p:sp>
        <p:nvSpPr>
          <p:cNvPr id="60" name="n060"/>
          <p:cNvSpPr/>
          <p:nvPr/>
        </p:nvSpPr>
        <p:spPr>
          <a:xfrm>
            <a:off x="8347710" y="3280410"/>
            <a:ext cx="826770" cy="1"/>
          </a:xfrm>
          <a:custGeom>
            <a:avLst/>
            <a:gdLst/>
            <a:ahLst/>
            <a:cxnLst/>
            <a:rect l="0" t="0" r="r" b="b"/>
            <a:pathLst>
              <a:path w="826770" h="1" fill="none">
                <a:moveTo>
                  <a:pt x="0" y="0"/>
                </a:moveTo>
                <a:lnTo>
                  <a:pt x="82677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n061: 1"/>
          <p:cNvSpPr txBox="1"/>
          <p:nvPr/>
        </p:nvSpPr>
        <p:spPr>
          <a:xfrm>
            <a:off x="9281160" y="2733995"/>
            <a:ext cx="15358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2" name="n062: 0"/>
          <p:cNvSpPr txBox="1"/>
          <p:nvPr/>
        </p:nvSpPr>
        <p:spPr>
          <a:xfrm>
            <a:off x="9281160" y="3262061"/>
            <a:ext cx="15358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3" name="n063"/>
          <p:cNvSpPr/>
          <p:nvPr/>
        </p:nvSpPr>
        <p:spPr>
          <a:xfrm>
            <a:off x="9377172" y="362712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n064: sel_p"/>
          <p:cNvSpPr txBox="1"/>
          <p:nvPr/>
        </p:nvSpPr>
        <p:spPr>
          <a:xfrm>
            <a:off x="9396537" y="3639922"/>
            <a:ext cx="35598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sel_p</a:t>
            </a:r>
          </a:p>
        </p:txBody>
      </p:sp>
      <p:sp>
        <p:nvSpPr>
          <p:cNvPr id="65" name="n065"/>
          <p:cNvSpPr/>
          <p:nvPr/>
        </p:nvSpPr>
        <p:spPr>
          <a:xfrm>
            <a:off x="9574530" y="3424428"/>
            <a:ext cx="1" cy="202692"/>
          </a:xfrm>
          <a:custGeom>
            <a:avLst/>
            <a:gdLst/>
            <a:ahLst/>
            <a:cxnLst/>
            <a:rect l="0" t="0" r="r" b="b"/>
            <a:pathLst>
              <a:path w="1" h="202692" fill="none">
                <a:moveTo>
                  <a:pt x="0" y="202692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n066"/>
          <p:cNvSpPr/>
          <p:nvPr/>
        </p:nvSpPr>
        <p:spPr>
          <a:xfrm>
            <a:off x="9974580" y="3067050"/>
            <a:ext cx="2080260" cy="1"/>
          </a:xfrm>
          <a:custGeom>
            <a:avLst/>
            <a:gdLst/>
            <a:ahLst/>
            <a:cxnLst/>
            <a:rect l="0" t="0" r="r" b="b"/>
            <a:pathLst>
              <a:path w="2080260" h="1" fill="none">
                <a:moveTo>
                  <a:pt x="0" y="0"/>
                </a:moveTo>
                <a:lnTo>
                  <a:pt x="208026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n067: out_req[p].payload"/>
          <p:cNvSpPr txBox="1"/>
          <p:nvPr/>
        </p:nvSpPr>
        <p:spPr>
          <a:xfrm>
            <a:off x="10537259" y="2806537"/>
            <a:ext cx="111492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out_req[p].payload</a:t>
            </a:r>
          </a:p>
        </p:txBody>
      </p:sp>
      <p:sp>
        <p:nvSpPr>
          <p:cNvPr id="68" name="n068: 等价 RTL：out_req[p] = sel_p ? in_req : '0"/>
          <p:cNvSpPr txBox="1"/>
          <p:nvPr/>
        </p:nvSpPr>
        <p:spPr>
          <a:xfrm>
            <a:off x="6240780" y="3728893"/>
            <a:ext cx="249656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等价 RTL：out_req[p] = sel_p ? in_req : '0</a:t>
            </a:r>
          </a:p>
        </p:txBody>
      </p:sp>
      <p:sp>
        <p:nvSpPr>
          <p:cNvPr id="69" name="n069"/>
          <p:cNvSpPr/>
          <p:nvPr/>
        </p:nvSpPr>
        <p:spPr>
          <a:xfrm>
            <a:off x="213360" y="4293870"/>
            <a:ext cx="12374880" cy="2880360"/>
          </a:xfrm>
          <a:prstGeom prst="rect">
            <a:avLst/>
          </a:prstGeom>
          <a:solidFill>
            <a:srgbClr val="F3F7FA"/>
          </a:solidFill>
          <a:ln w="9601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n070: C  响应返回：一个 N:1 MUX，全部字段一起选择"/>
          <p:cNvSpPr txBox="1"/>
          <p:nvPr/>
        </p:nvSpPr>
        <p:spPr>
          <a:xfrm>
            <a:off x="320040" y="4335689"/>
            <a:ext cx="322241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  响应返回：一个 N:1 MUX，全部字段一起选择</a:t>
            </a:r>
          </a:p>
        </p:txBody>
      </p:sp>
      <p:sp>
        <p:nvSpPr>
          <p:cNvPr id="71" name="n071"/>
          <p:cNvSpPr/>
          <p:nvPr/>
        </p:nvSpPr>
        <p:spPr>
          <a:xfrm>
            <a:off x="480060" y="4773930"/>
            <a:ext cx="2853690" cy="53340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n072: 目标 p 的响应"/>
          <p:cNvSpPr txBox="1"/>
          <p:nvPr/>
        </p:nvSpPr>
        <p:spPr>
          <a:xfrm>
            <a:off x="1449973" y="4865035"/>
            <a:ext cx="91386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目标 p 的响应</a:t>
            </a:r>
          </a:p>
        </p:txBody>
      </p:sp>
      <p:sp>
        <p:nvSpPr>
          <p:cNvPr id="73" name="n073: reg_out_rsp[p] = {rdata, error, ready}"/>
          <p:cNvSpPr txBox="1"/>
          <p:nvPr/>
        </p:nvSpPr>
        <p:spPr>
          <a:xfrm>
            <a:off x="959332" y="5042337"/>
            <a:ext cx="189514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reg_out_rsp[p] = {rdata, error, ready}</a:t>
            </a:r>
          </a:p>
        </p:txBody>
      </p:sp>
      <p:sp>
        <p:nvSpPr>
          <p:cNvPr id="74" name="n074"/>
          <p:cNvSpPr/>
          <p:nvPr/>
        </p:nvSpPr>
        <p:spPr>
          <a:xfrm>
            <a:off x="480060" y="5654040"/>
            <a:ext cx="2853690" cy="53340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n075: 其他目标响应"/>
          <p:cNvSpPr txBox="1"/>
          <p:nvPr/>
        </p:nvSpPr>
        <p:spPr>
          <a:xfrm>
            <a:off x="1458849" y="5745145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其他目标响应</a:t>
            </a:r>
          </a:p>
        </p:txBody>
      </p:sp>
      <p:sp>
        <p:nvSpPr>
          <p:cNvPr id="76" name="n076: 其余 reg_out_rsp[k]"/>
          <p:cNvSpPr txBox="1"/>
          <p:nvPr/>
        </p:nvSpPr>
        <p:spPr>
          <a:xfrm>
            <a:off x="1372980" y="5922447"/>
            <a:ext cx="1067850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其余 reg_out_rsp[k]</a:t>
            </a:r>
          </a:p>
        </p:txBody>
      </p:sp>
      <p:sp>
        <p:nvSpPr>
          <p:cNvPr id="77" name="n077"/>
          <p:cNvSpPr/>
          <p:nvPr/>
        </p:nvSpPr>
        <p:spPr>
          <a:xfrm>
            <a:off x="480060" y="6427470"/>
            <a:ext cx="2853690" cy="533400"/>
          </a:xfrm>
          <a:prstGeom prst="rect">
            <a:avLst/>
          </a:prstGeom>
          <a:solidFill>
            <a:srgbClr val="F1D7D9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n078: RegOut.err：常量错误目标"/>
          <p:cNvSpPr txBox="1"/>
          <p:nvPr/>
        </p:nvSpPr>
        <p:spPr>
          <a:xfrm>
            <a:off x="1096991" y="6518575"/>
            <a:ext cx="161982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RegOut.err：常量错误目标</a:t>
            </a:r>
          </a:p>
        </p:txBody>
      </p:sp>
      <p:sp>
        <p:nvSpPr>
          <p:cNvPr id="79" name="n079: ready=1 · error=1 · rdata=32'hBADCAB1E"/>
          <p:cNvSpPr txBox="1"/>
          <p:nvPr/>
        </p:nvSpPr>
        <p:spPr>
          <a:xfrm>
            <a:off x="833958" y="6695877"/>
            <a:ext cx="214589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ready=1 · error=1 · rdata=32'hBADCAB1E</a:t>
            </a:r>
          </a:p>
        </p:txBody>
      </p:sp>
      <p:sp>
        <p:nvSpPr>
          <p:cNvPr id="80" name="n080"/>
          <p:cNvSpPr/>
          <p:nvPr/>
        </p:nvSpPr>
        <p:spPr>
          <a:xfrm>
            <a:off x="4960620" y="4960620"/>
            <a:ext cx="1306830" cy="1760220"/>
          </a:xfrm>
          <a:custGeom>
            <a:avLst/>
            <a:gdLst/>
            <a:ahLst/>
            <a:cxnLst/>
            <a:rect l="0" t="0" r="r" b="b"/>
            <a:pathLst>
              <a:path w="1306830" h="1760220">
                <a:moveTo>
                  <a:pt x="0" y="0"/>
                </a:moveTo>
                <a:lnTo>
                  <a:pt x="1306830" y="149352"/>
                </a:lnTo>
                <a:lnTo>
                  <a:pt x="1306830" y="1610868"/>
                </a:lnTo>
                <a:lnTo>
                  <a:pt x="0" y="1760220"/>
                </a:lnTo>
                <a:close/>
              </a:path>
            </a:pathLst>
          </a:cu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n081: N:1"/>
          <p:cNvSpPr txBox="1"/>
          <p:nvPr/>
        </p:nvSpPr>
        <p:spPr>
          <a:xfrm>
            <a:off x="5450265" y="5745145"/>
            <a:ext cx="32754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N:1</a:t>
            </a:r>
          </a:p>
        </p:txBody>
      </p:sp>
      <p:sp>
        <p:nvSpPr>
          <p:cNvPr id="82" name="n082: 响应选择器"/>
          <p:cNvSpPr txBox="1"/>
          <p:nvPr/>
        </p:nvSpPr>
        <p:spPr>
          <a:xfrm>
            <a:off x="5195316" y="4709495"/>
            <a:ext cx="832104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响应选择器</a:t>
            </a:r>
          </a:p>
        </p:txBody>
      </p:sp>
      <p:sp>
        <p:nvSpPr>
          <p:cNvPr id="83" name="n083"/>
          <p:cNvSpPr/>
          <p:nvPr/>
        </p:nvSpPr>
        <p:spPr>
          <a:xfrm>
            <a:off x="3333750" y="5040630"/>
            <a:ext cx="1626870" cy="224028"/>
          </a:xfrm>
          <a:custGeom>
            <a:avLst/>
            <a:gdLst/>
            <a:ahLst/>
            <a:cxnLst/>
            <a:rect l="0" t="0" r="r" b="b"/>
            <a:pathLst>
              <a:path w="1626870" h="224028" fill="none">
                <a:moveTo>
                  <a:pt x="0" y="0"/>
                </a:moveTo>
                <a:lnTo>
                  <a:pt x="826770" y="0"/>
                </a:lnTo>
                <a:lnTo>
                  <a:pt x="826770" y="224028"/>
                </a:lnTo>
                <a:lnTo>
                  <a:pt x="1626870" y="224028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n084"/>
          <p:cNvSpPr/>
          <p:nvPr/>
        </p:nvSpPr>
        <p:spPr>
          <a:xfrm>
            <a:off x="3333750" y="5920740"/>
            <a:ext cx="1626870" cy="1"/>
          </a:xfrm>
          <a:custGeom>
            <a:avLst/>
            <a:gdLst/>
            <a:ahLst/>
            <a:cxnLst/>
            <a:rect l="0" t="0" r="r" b="b"/>
            <a:pathLst>
              <a:path w="1626870" h="1" fill="none">
                <a:moveTo>
                  <a:pt x="0" y="0"/>
                </a:moveTo>
                <a:lnTo>
                  <a:pt x="162687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n085"/>
          <p:cNvSpPr/>
          <p:nvPr/>
        </p:nvSpPr>
        <p:spPr>
          <a:xfrm>
            <a:off x="3333750" y="6454140"/>
            <a:ext cx="1626870" cy="240030"/>
          </a:xfrm>
          <a:custGeom>
            <a:avLst/>
            <a:gdLst/>
            <a:ahLst/>
            <a:cxnLst/>
            <a:rect l="0" t="0" r="r" b="b"/>
            <a:pathLst>
              <a:path w="1626870" h="240030" fill="none">
                <a:moveTo>
                  <a:pt x="0" y="240030"/>
                </a:moveTo>
                <a:lnTo>
                  <a:pt x="826770" y="240030"/>
                </a:lnTo>
                <a:lnTo>
                  <a:pt x="826770" y="0"/>
                </a:lnTo>
                <a:lnTo>
                  <a:pt x="162687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n086"/>
          <p:cNvSpPr/>
          <p:nvPr/>
        </p:nvSpPr>
        <p:spPr>
          <a:xfrm>
            <a:off x="6560820" y="666750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n087: SEL"/>
          <p:cNvSpPr txBox="1"/>
          <p:nvPr/>
        </p:nvSpPr>
        <p:spPr>
          <a:xfrm>
            <a:off x="6615293" y="6680302"/>
            <a:ext cx="285769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SEL</a:t>
            </a:r>
          </a:p>
        </p:txBody>
      </p:sp>
      <p:sp>
        <p:nvSpPr>
          <p:cNvPr id="88" name="n088"/>
          <p:cNvSpPr/>
          <p:nvPr/>
        </p:nvSpPr>
        <p:spPr>
          <a:xfrm>
            <a:off x="5611368" y="6651498"/>
            <a:ext cx="949452" cy="106680"/>
          </a:xfrm>
          <a:custGeom>
            <a:avLst/>
            <a:gdLst/>
            <a:ahLst/>
            <a:cxnLst/>
            <a:rect l="0" t="0" r="r" b="b"/>
            <a:pathLst>
              <a:path w="949452" h="106680" fill="none">
                <a:moveTo>
                  <a:pt x="949452" y="106680"/>
                </a:moveTo>
                <a:lnTo>
                  <a:pt x="0" y="106680"/>
                </a:ln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n089"/>
          <p:cNvSpPr/>
          <p:nvPr/>
        </p:nvSpPr>
        <p:spPr>
          <a:xfrm>
            <a:off x="6267450" y="5840730"/>
            <a:ext cx="2106930" cy="1"/>
          </a:xfrm>
          <a:custGeom>
            <a:avLst/>
            <a:gdLst/>
            <a:ahLst/>
            <a:cxnLst/>
            <a:rect l="0" t="0" r="r" b="b"/>
            <a:pathLst>
              <a:path w="2106930" h="1" fill="none">
                <a:moveTo>
                  <a:pt x="0" y="0"/>
                </a:moveTo>
                <a:lnTo>
                  <a:pt x="210693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n090"/>
          <p:cNvSpPr/>
          <p:nvPr/>
        </p:nvSpPr>
        <p:spPr>
          <a:xfrm>
            <a:off x="8374380" y="5414010"/>
            <a:ext cx="3760470" cy="853440"/>
          </a:xfrm>
          <a:prstGeom prst="rect">
            <a:avLst/>
          </a:prstGeom>
          <a:solidFill>
            <a:srgbClr val="D9EEE8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n091: reg_in_rsp → axi_to_reg_v2"/>
          <p:cNvSpPr txBox="1"/>
          <p:nvPr/>
        </p:nvSpPr>
        <p:spPr>
          <a:xfrm>
            <a:off x="9347064" y="5573603"/>
            <a:ext cx="1815102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reg_in_rsp → axi_to_reg_v2</a:t>
            </a:r>
          </a:p>
        </p:txBody>
      </p:sp>
      <p:sp>
        <p:nvSpPr>
          <p:cNvPr id="92" name="n092: rdata[31:0] / error / ready"/>
          <p:cNvSpPr txBox="1"/>
          <p:nvPr/>
        </p:nvSpPr>
        <p:spPr>
          <a:xfrm>
            <a:off x="9549769" y="5762427"/>
            <a:ext cx="140969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rdata[31:0] / error / ready</a:t>
            </a:r>
          </a:p>
        </p:txBody>
      </p:sp>
      <p:sp>
        <p:nvSpPr>
          <p:cNvPr id="93" name="n093: ready 同时决定本次 Reg 访问能否完成"/>
          <p:cNvSpPr txBox="1"/>
          <p:nvPr/>
        </p:nvSpPr>
        <p:spPr>
          <a:xfrm>
            <a:off x="9251306" y="5922447"/>
            <a:ext cx="2006617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ready 同时决定本次 Reg 访问能否完成</a:t>
            </a:r>
          </a:p>
        </p:txBody>
      </p:sp>
      <p:sp>
        <p:nvSpPr>
          <p:cNvPr id="94" name="n094: 34 bit"/>
          <p:cNvSpPr txBox="1"/>
          <p:nvPr/>
        </p:nvSpPr>
        <p:spPr>
          <a:xfrm>
            <a:off x="7460337" y="5558881"/>
            <a:ext cx="44124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34 bit</a:t>
            </a:r>
          </a:p>
        </p:txBody>
      </p:sp>
      <p:sp>
        <p:nvSpPr>
          <p:cNvPr id="95" name="n095: 默认错误路径也返回响应，不是丢弃请求"/>
          <p:cNvSpPr txBox="1"/>
          <p:nvPr/>
        </p:nvSpPr>
        <p:spPr>
          <a:xfrm>
            <a:off x="7627620" y="6619494"/>
            <a:ext cx="25336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默认错误路径也返回响应，不是丢弃请求</a:t>
            </a:r>
          </a:p>
        </p:txBody>
      </p:sp>
      <p:sp>
        <p:nvSpPr>
          <p:cNvPr id="96" name="n096"/>
          <p:cNvSpPr/>
          <p:nvPr/>
        </p:nvSpPr>
        <p:spPr>
          <a:xfrm>
            <a:off x="213360" y="7387590"/>
            <a:ext cx="5920740" cy="58674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n097: 组合关系：输出只由当前请求、地址规则和目标响应决定"/>
          <p:cNvSpPr txBox="1"/>
          <p:nvPr/>
        </p:nvSpPr>
        <p:spPr>
          <a:xfrm>
            <a:off x="1440180" y="7499604"/>
            <a:ext cx="34671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组合关系：输出只由当前请求、地址规则和目标响应决定</a:t>
            </a:r>
          </a:p>
        </p:txBody>
      </p:sp>
      <p:sp>
        <p:nvSpPr>
          <p:cNvPr id="98" name="n098: addr_decode / reg_demux 内无 FIFO、无状态机、无时钟"/>
          <p:cNvSpPr txBox="1"/>
          <p:nvPr/>
        </p:nvSpPr>
        <p:spPr>
          <a:xfrm>
            <a:off x="1552765" y="7682667"/>
            <a:ext cx="3241930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addr_decode / reg_demux 内无 FIFO、无状态机、无时钟寄存器</a:t>
            </a:r>
          </a:p>
        </p:txBody>
      </p:sp>
      <p:sp>
        <p:nvSpPr>
          <p:cNvPr id="99" name="n099"/>
          <p:cNvSpPr/>
          <p:nvPr/>
        </p:nvSpPr>
        <p:spPr>
          <a:xfrm>
            <a:off x="6294120" y="7387590"/>
            <a:ext cx="6294120" cy="58674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n100: 时序边界位于上下游模块"/>
          <p:cNvSpPr txBox="1"/>
          <p:nvPr/>
        </p:nvSpPr>
        <p:spPr>
          <a:xfrm>
            <a:off x="8641080" y="7499604"/>
            <a:ext cx="16002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时序边界位于上下游模块</a:t>
            </a:r>
          </a:p>
        </p:txBody>
      </p:sp>
      <p:sp>
        <p:nvSpPr>
          <p:cNvPr id="101" name="n101: reg_demux 的 clk_i / rst_ni 端口在当前实现中未被内部逻"/>
          <p:cNvSpPr txBox="1"/>
          <p:nvPr/>
        </p:nvSpPr>
        <p:spPr>
          <a:xfrm>
            <a:off x="7808718" y="7682667"/>
            <a:ext cx="326492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reg_demux 的 clk_i / rst_ni 端口在当前实现中未被内部逻辑使用</a:t>
            </a:r>
          </a:p>
        </p:txBody>
      </p:sp>
      <p:sp>
        <p:nvSpPr>
          <p:cNvPr id="102" name="n102: 蓝：请求字段   紫：选择控制   绿：响应字段   SEL：同一个 reg_s"/>
          <p:cNvSpPr txBox="1"/>
          <p:nvPr/>
        </p:nvSpPr>
        <p:spPr>
          <a:xfrm>
            <a:off x="240030" y="8087624"/>
            <a:ext cx="611949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蓝：请求字段   紫：选择控制   绿：响应字段   SEL：同一个 reg_select 网络；图中 p/k 为端口索引，j 为规则索引。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