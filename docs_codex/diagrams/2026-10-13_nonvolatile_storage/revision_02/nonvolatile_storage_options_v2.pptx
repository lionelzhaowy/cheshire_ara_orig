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用户需求：约500 MiB盲元补偿及非均匀性校正参数；开机加载DDR；30秒可接受。暂将预算定义为存储初始化至加载并校验完成。</a:t>
            </a:r>
          </a:p>
          <a:p>
            <a:r>
              <a:t>本轮建议50MHz而非此前讨论的52MHz：50MHz处在High Speed SDR规定的0–52MHz范围内，作为便于评估的工作点，不是已冻结时钟或IP承诺。初始化选择不超过400kHz；器件保持初始兼容模式，读取能力并完成CMD6模式/总线切换后才升频。初始化命令细节及电气配置应按具体料号实现。</a:t>
            </a:r>
          </a:p>
          <a:p>
            <a:r>
              <a:t>Kingston工业级产品表确认E04GS14DXI为4GB MLC、-40至85摄氏度、eMMC5.1 HS400，EMMC08G-WV28为8GB MLC同温度档。支持高速能力不要求在HS400运行；完整料号数据手册、电压、供货生命周期、保持年限及耐久仍需供应商确认。VCCQ 1.8V是评估方向，不把未取得的具体料号供电细节写为已确认。</a:t>
            </a:r>
          </a:p>
          <a:p>
            <a:r>
              <a:t>eMMC主机控制器为数字RTL；ASIC I/O单元提供电平/驱动/输入接收/ESD。数字总线不等于只需RTL，也不等于所有模式强制购买数模混合PHY。SDR仍需检查输入采样相位、输出建立保持、电气负载、上拉、驱动强度、封装PCB及PVT；不可承诺任意普通GPIO单元可达50MHz。HS200调谐与HS400 strobe常需要延迟/DLL，具体模拟或数字实现由IP决定。</a:t>
            </a:r>
          </a:p>
          <a:p>
            <a:r>
              <a:t>DMA完成与命令响应不同；需检查主机错误并确保DDR可见性，再验参数包。当前Cheshire没有已集成eMMC接口。新增主机IP的控制口、AXI、IO/PHY、仿真模型和固件需分别确认交付范围。</a:t>
            </a:r>
          </a:p>
          <a:p>
            <a:r>
              <a:t>B/s用十进制MB；MiB/s用2^20。50MB/s=47.6837MiB/s，500MiB的纯线速极限约10.49秒；25MiB/s目标要求至少约52.4%的线速有效利用率，非实测吞吐。</a:t>
            </a:r>
          </a:p>
          <a:p>
            <a:r>
              <a:t>A/B是建议非用户冻结需求；采用4/8GB不代替掉电保护、持久化、版本记录冗余与验证。</a:t>
            </a:r>
          </a:p>
          <a:p>
            <a:r>
              <a:t>官方资料，2026-10-13查阅：</a:t>
            </a:r>
          </a:p>
          <a:p>
            <a:r>
              <a:t>https://media.kingston.com/pdfs/emmc/itemp-emmc_flyer_en.pdf?_=v1</a:t>
            </a:r>
          </a:p>
          <a:p>
            <a:r>
              <a:t>https://e2e.ti.com/cfs-file/__key/communityserver-discussions-components-files/791/JESD84_2D00_B51-_2800_1_2900_.pdf</a:t>
            </a:r>
          </a:p>
          <a:p>
            <a:r>
              <a:t>https://www.synopsys.com/designware-ip/interface-ip/mobile-storage/sd-emmc-phy.html</a:t>
            </a:r>
          </a:p>
          <a:p>
            <a:r>
              <a:t>https://www.micron.com/products/storage/managed-nand/emmc</a:t>
            </a:r>
          </a:p>
          <a:p>
            <a:r>
              <a:t>https://www.micron.com/sales-support/sales/faqs</a:t>
            </a:r>
          </a:p>
          <a:p>
            <a:r>
              <a:t>源码依据：hw/cheshire_soc.sv，hw/bootrom/cheshire_bootrom.c，docs/um/sw.md。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W25N08MW系列是8Gbit器件候选；最终封装和温度后缀、ECC位数、供货及数据手册尚待确认。W25N-MW公开系列页列1.8V、2/4/8Gb、STR166MHz/DTR83MHz、页组织与BBM LUT；本方案只建议STR/SDR，不默认当前SPI支持DTR。</a:t>
            </a:r>
          </a:p>
          <a:p>
            <a:r>
              <a:t>10MHz仅用于初次电气/驱动联调，不是SPI NAND协议强制初始化频率；提高到100MHz须先确认器件命令时序、控制器移位和采样实现、PAD、封装PCB及系统频率。当前clk_i与公共SoC时钟相连，不能只改一个divider就保证100MHz；独立高速SPI域需要额外CDC和复位适配，未授权实施。</a:t>
            </a:r>
          </a:p>
          <a:p>
            <a:r>
              <a:t>SPI读NAND一般先Array to Cache，等Busy清除并检查ECC，再Read Cache输出。具体opcode、dummy数量和IO方向按料号；不将NOR命令套到NAND。图是功能关系，不规定器件内部ECC流水线位置。连续读可以优化页边界损失，但必须按器件模式与ECC规则验证。</a:t>
            </a:r>
          </a:p>
          <a:p>
            <a:r>
              <a:t>本地SPI Host的FSM clkdiv每半周期计数，SCK=clk_i/(2*(CLKDIV+1))。因此在整比分频下200MHz输入、divider=0才可产生100MHz SCK；至少200MHz只是必要条件，不是时序或吞吐保证。公共Regbus与CPU也有争用，FIFO满导致停顿会降低有效带宽。</a:t>
            </a:r>
          </a:p>
          <a:p>
            <a:r>
              <a:t>100MHz Quad STR=50MB/s≈47.6837MiB/s；500MiB/47.6837≈10.48576秒，只是纯线速极限。页读取等待、软件FIFO访问与DDR写入、初始化和校验都会增加时间。Quad50MHz=25MB/s≈23.8419MiB/s，不能达到25MiB/s建议目标，但并不单独证明一定超过30秒；实际30秒门槛需测量。</a:t>
            </a:r>
          </a:p>
          <a:p>
            <a:r>
              <a:t>复用已有SPI减少RTL范围，但软件坏块、ECC错误处理与更新可靠性工作增加。设备内ECC不能保证SPI链路无误码，参数包仍需校验。8Gbit=1024MiB，两份500MiB后仅24MiB，不计坏块与预留，单颗不作为稳妥双副本推荐。</a:t>
            </a:r>
          </a:p>
          <a:p>
            <a:r>
              <a:t>公开资料，2026-10-13查阅：</a:t>
            </a:r>
          </a:p>
          <a:p>
            <a:r>
              <a:t>https://www.winbond.com/hq/product/code-storage-flash/qspi-nand/w25n-mw/index.html?__locale=en</a:t>
            </a:r>
          </a:p>
          <a:p>
            <a:r>
              <a:t>https://www.winbond.com/hq/new-online-purchasing-guide/?__locale=en&amp;pLine=%2Fproduct%2Fcode-storage-flash%2Fqspi-nand%2F&amp;pNo=W25N08MW</a:t>
            </a:r>
          </a:p>
          <a:p>
            <a:r>
              <a:t>https://www.winbond.com/hq/product/code-storage-flash/qspi-nand/w25n-mw/?__locale=ja&amp;partNo=W25N02MWTBIG</a:t>
            </a:r>
          </a:p>
          <a:p>
            <a:r>
              <a:t>https://www.micron.com/products/storage/nand-flash/choosing-the-right-nand</a:t>
            </a:r>
          </a:p>
          <a:p>
            <a:r>
              <a:t>源码依据：hw/cheshire_soc.sv:1445；.bender/git/checkouts/opentitan_peripherals-7b624fb57f78de9a/src/spi_host/rtl/spi_host_fsm.sv；同依赖的sw/device/lib/dif/dif_spi_host.c；sw/lib/hal/spi_sdcard.c。未更改或动态验收。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edia.kingston.com/pdfs/emmc/itemp-emmc_flyer_en.pdf?_=v1" TargetMode="External"/><Relationship Id="rId3" Type="http://schemas.openxmlformats.org/officeDocument/2006/relationships/hyperlink" Target="https://e2e.ti.com/cfs-file/__key/communityserver-discussions-components-files/791/JESD84_2D00_B51-_2800_1_2900_.pdf" TargetMode="External"/><Relationship Id="rId4" Type="http://schemas.openxmlformats.org/officeDocument/2006/relationships/hyperlink" Target="https://www.synopsys.com/designware-ip/interface-ip/mobile-storage/sd-emmc-phy.html" TargetMode="External"/><Relationship Id="rId5" Type="http://schemas.openxmlformats.org/officeDocument/2006/relationships/hyperlink" Target="https://www.micron.com/products/storage/managed-nand/emmc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winbond.com/hq/product/code-storage-flash/qspi-nand/w25n-mw/index.html?__locale=en" TargetMode="External"/><Relationship Id="rId3" Type="http://schemas.openxmlformats.org/officeDocument/2006/relationships/hyperlink" Target="https://www.winbond.com/hq/new-online-purchasing-guide/?__locale=en&amp;pLine=%2Fproduct%2Fcode-storage-flash%2Fqspi-nand%2F&amp;pNo=W25N08MW" TargetMode="External"/><Relationship Id="rId4" Type="http://schemas.openxmlformats.org/officeDocument/2006/relationships/hyperlink" Target="https://www.micron.com/products/storage/nand-flash/choosing-the-right-nand" TargetMode="Externa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64008" cy="457200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65176"/>
            <a:ext cx="1353312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方案：8-bit SDR / 50 MHz，优先评估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04672"/>
            <a:ext cx="1353312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目标：约 500 MiB 校正参数断电保存，开机加载到 DDR；允许 30 秒，NOR 继续承担启动。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52144"/>
            <a:ext cx="13716000" cy="402336"/>
          </a:xfrm>
          <a:prstGeom prst="rect">
            <a:avLst/>
          </a:prstGeom>
          <a:solidFill>
            <a:srgbClr val="DF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216152"/>
            <a:ext cx="13441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B56"/>
                </a:solidFill>
                <a:latin typeface="Microsoft YaHei"/>
                <a:ea typeface="Microsoft YaHei"/>
                <a:cs typeface="Microsoft YaHei"/>
              </a:rPr>
              <a:t>建议配置：4 GB 工业级 eMMC 5.1  |  1-bit、≤400 kHz 初始化  →  8-bit High Speed SDR、50 MHz</a:t>
            </a:r>
          </a:p>
        </p:txBody>
      </p:sp>
      <p:sp>
        <p:nvSpPr>
          <p:cNvPr id="7" name="d1"/>
          <p:cNvSpPr/>
          <p:nvPr/>
        </p:nvSpPr>
        <p:spPr>
          <a:xfrm>
            <a:off x="457200" y="1993392"/>
            <a:ext cx="393192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2: eMMC 器件：NAND + 管理控制器"/>
          <p:cNvSpPr txBox="1"/>
          <p:nvPr/>
        </p:nvSpPr>
        <p:spPr>
          <a:xfrm>
            <a:off x="640080" y="2022287"/>
            <a:ext cx="3329873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器件：NAND + 管理控制器</a:t>
            </a:r>
          </a:p>
        </p:txBody>
      </p:sp>
      <p:sp>
        <p:nvSpPr>
          <p:cNvPr id="9" name="d3"/>
          <p:cNvSpPr/>
          <p:nvPr/>
        </p:nvSpPr>
        <p:spPr>
          <a:xfrm>
            <a:off x="621792" y="2414016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D6E7F5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4: NAND"/>
          <p:cNvSpPr txBox="1"/>
          <p:nvPr/>
        </p:nvSpPr>
        <p:spPr>
          <a:xfrm>
            <a:off x="828032" y="246046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11" name="d5: 参数存储"/>
          <p:cNvSpPr txBox="1"/>
          <p:nvPr/>
        </p:nvSpPr>
        <p:spPr>
          <a:xfrm>
            <a:off x="713232" y="2763683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参数存储</a:t>
            </a:r>
          </a:p>
        </p:txBody>
      </p:sp>
      <p:sp>
        <p:nvSpPr>
          <p:cNvPr id="12" name="d6"/>
          <p:cNvSpPr/>
          <p:nvPr/>
        </p:nvSpPr>
        <p:spPr>
          <a:xfrm>
            <a:off x="2148840" y="2414016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7: 介质管理 / ECC"/>
          <p:cNvSpPr txBox="1"/>
          <p:nvPr/>
        </p:nvSpPr>
        <p:spPr>
          <a:xfrm>
            <a:off x="2304252" y="2460468"/>
            <a:ext cx="173743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介质管理 / ECC</a:t>
            </a:r>
          </a:p>
        </p:txBody>
      </p:sp>
      <p:sp>
        <p:nvSpPr>
          <p:cNvPr id="14" name="d8: 坏块、磨损、地址映射"/>
          <p:cNvSpPr txBox="1"/>
          <p:nvPr/>
        </p:nvSpPr>
        <p:spPr>
          <a:xfrm>
            <a:off x="2116836" y="2773558"/>
            <a:ext cx="211226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坏块、磨损、地址映射</a:t>
            </a:r>
          </a:p>
        </p:txBody>
      </p:sp>
      <p:sp>
        <p:nvSpPr>
          <p:cNvPr id="15" name="d9"/>
          <p:cNvSpPr/>
          <p:nvPr/>
        </p:nvSpPr>
        <p:spPr>
          <a:xfrm>
            <a:off x="1810512" y="2788920"/>
            <a:ext cx="338328" cy="1"/>
          </a:xfrm>
          <a:custGeom>
            <a:avLst/>
            <a:gdLst/>
            <a:ahLst/>
            <a:cxnLst/>
            <a:rect l="0" t="0" r="r" b="b"/>
            <a:pathLst>
              <a:path w="338328" h="1" fill="none">
                <a:moveTo>
                  <a:pt x="0" y="0"/>
                </a:moveTo>
                <a:lnTo>
                  <a:pt x="338328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0"/>
          <p:cNvSpPr/>
          <p:nvPr/>
        </p:nvSpPr>
        <p:spPr>
          <a:xfrm>
            <a:off x="6263640" y="2414016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11: I/O PAD + 收发时序"/>
          <p:cNvSpPr txBox="1"/>
          <p:nvPr/>
        </p:nvSpPr>
        <p:spPr>
          <a:xfrm>
            <a:off x="6292222" y="2471075"/>
            <a:ext cx="195451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 + 收发时序</a:t>
            </a:r>
          </a:p>
        </p:txBody>
      </p:sp>
      <p:sp>
        <p:nvSpPr>
          <p:cNvPr id="18" name="d12: 电平、驱动、采样"/>
          <p:cNvSpPr txBox="1"/>
          <p:nvPr/>
        </p:nvSpPr>
        <p:spPr>
          <a:xfrm>
            <a:off x="6364224" y="2754539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电平、驱动、采样</a:t>
            </a:r>
          </a:p>
        </p:txBody>
      </p:sp>
      <p:sp>
        <p:nvSpPr>
          <p:cNvPr id="19" name="d13"/>
          <p:cNvSpPr/>
          <p:nvPr/>
        </p:nvSpPr>
        <p:spPr>
          <a:xfrm>
            <a:off x="4206240" y="2788920"/>
            <a:ext cx="2057400" cy="1"/>
          </a:xfrm>
          <a:custGeom>
            <a:avLst/>
            <a:gdLst/>
            <a:ahLst/>
            <a:cxnLst/>
            <a:rect l="0" t="0" r="r" b="b"/>
            <a:pathLst>
              <a:path w="2057400" h="1" fill="none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14: CLK / CMD / DAT"/>
          <p:cNvSpPr txBox="1"/>
          <p:nvPr/>
        </p:nvSpPr>
        <p:spPr>
          <a:xfrm>
            <a:off x="4499462" y="2353666"/>
            <a:ext cx="16081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 / CMD / DAT</a:t>
            </a:r>
          </a:p>
        </p:txBody>
      </p:sp>
      <p:sp>
        <p:nvSpPr>
          <p:cNvPr id="21" name="d15: 单端数字接口"/>
          <p:cNvSpPr txBox="1"/>
          <p:nvPr/>
        </p:nvSpPr>
        <p:spPr>
          <a:xfrm>
            <a:off x="4663440" y="2856586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单端数字接口</a:t>
            </a:r>
          </a:p>
        </p:txBody>
      </p:sp>
      <p:sp>
        <p:nvSpPr>
          <p:cNvPr id="22" name="d16"/>
          <p:cNvSpPr/>
          <p:nvPr/>
        </p:nvSpPr>
        <p:spPr>
          <a:xfrm>
            <a:off x="9464040" y="2414016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  <a:custDash>
              <a:ds d="500000" sp="3125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17: SoC eMMC 主机"/>
          <p:cNvSpPr txBox="1"/>
          <p:nvPr/>
        </p:nvSpPr>
        <p:spPr>
          <a:xfrm>
            <a:off x="9718500" y="2432304"/>
            <a:ext cx="186851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SoC eMMC 主机</a:t>
            </a:r>
          </a:p>
        </p:txBody>
      </p:sp>
      <p:sp>
        <p:nvSpPr>
          <p:cNvPr id="24" name="d18: 命令 / CRC / FIFO / DMA"/>
          <p:cNvSpPr txBox="1"/>
          <p:nvPr/>
        </p:nvSpPr>
        <p:spPr>
          <a:xfrm>
            <a:off x="9488072" y="2764414"/>
            <a:ext cx="23293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 / CRC / FIFO / DMA</a:t>
            </a:r>
          </a:p>
        </p:txBody>
      </p:sp>
      <p:sp>
        <p:nvSpPr>
          <p:cNvPr id="25" name="d19"/>
          <p:cNvSpPr/>
          <p:nvPr/>
        </p:nvSpPr>
        <p:spPr>
          <a:xfrm>
            <a:off x="8275320" y="278892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0: 片内接口"/>
          <p:cNvSpPr txBox="1"/>
          <p:nvPr/>
        </p:nvSpPr>
        <p:spPr>
          <a:xfrm>
            <a:off x="8412480" y="2353666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片内接口</a:t>
            </a:r>
          </a:p>
        </p:txBody>
      </p:sp>
      <p:sp>
        <p:nvSpPr>
          <p:cNvPr id="27" name="d21"/>
          <p:cNvSpPr/>
          <p:nvPr/>
        </p:nvSpPr>
        <p:spPr>
          <a:xfrm>
            <a:off x="9921240" y="1673352"/>
            <a:ext cx="146304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630" cap="flat">
            <a:solidFill>
              <a:srgbClr val="218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22: CPU 配置"/>
          <p:cNvSpPr txBox="1"/>
          <p:nvPr/>
        </p:nvSpPr>
        <p:spPr>
          <a:xfrm>
            <a:off x="10137953" y="1721267"/>
            <a:ext cx="102961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配置</a:t>
            </a:r>
          </a:p>
        </p:txBody>
      </p:sp>
      <p:sp>
        <p:nvSpPr>
          <p:cNvPr id="29" name="d23"/>
          <p:cNvSpPr/>
          <p:nvPr/>
        </p:nvSpPr>
        <p:spPr>
          <a:xfrm>
            <a:off x="10652760" y="2075688"/>
            <a:ext cx="1" cy="338328"/>
          </a:xfrm>
          <a:custGeom>
            <a:avLst/>
            <a:gdLst/>
            <a:ahLst/>
            <a:cxnLst/>
            <a:rect l="0" t="0" r="r" b="b"/>
            <a:pathLst>
              <a:path w="1" h="338328" fill="none">
                <a:moveTo>
                  <a:pt x="0" y="0"/>
                </a:moveTo>
                <a:lnTo>
                  <a:pt x="0" y="33832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4"/>
          <p:cNvSpPr/>
          <p:nvPr/>
        </p:nvSpPr>
        <p:spPr>
          <a:xfrm>
            <a:off x="13030200" y="2414016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25: DDR"/>
          <p:cNvSpPr txBox="1"/>
          <p:nvPr/>
        </p:nvSpPr>
        <p:spPr>
          <a:xfrm>
            <a:off x="13234504" y="2439985"/>
            <a:ext cx="725248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2" name="d26: 运行参数"/>
          <p:cNvSpPr txBox="1"/>
          <p:nvPr/>
        </p:nvSpPr>
        <p:spPr>
          <a:xfrm>
            <a:off x="13117068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运行参数</a:t>
            </a:r>
          </a:p>
        </p:txBody>
      </p:sp>
      <p:sp>
        <p:nvSpPr>
          <p:cNvPr id="33" name="d27"/>
          <p:cNvSpPr/>
          <p:nvPr/>
        </p:nvSpPr>
        <p:spPr>
          <a:xfrm>
            <a:off x="11841480" y="2788920"/>
            <a:ext cx="1188720" cy="1"/>
          </a:xfrm>
          <a:custGeom>
            <a:avLst/>
            <a:gdLst/>
            <a:ahLst/>
            <a:cxnLst/>
            <a:rect l="0" t="0" r="r" b="b"/>
            <a:pathLst>
              <a:path w="1188720" h="1" fill="none">
                <a:moveTo>
                  <a:pt x="0" y="0"/>
                </a:moveTo>
                <a:lnTo>
                  <a:pt x="118872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28: AXI 写入"/>
          <p:cNvSpPr txBox="1"/>
          <p:nvPr/>
        </p:nvSpPr>
        <p:spPr>
          <a:xfrm>
            <a:off x="12009887" y="2353666"/>
            <a:ext cx="8519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AXI 写入</a:t>
            </a:r>
          </a:p>
        </p:txBody>
      </p:sp>
      <p:sp>
        <p:nvSpPr>
          <p:cNvPr id="35" name="d29: 双箭头合并总线交互；读参数方向为左 → 右。主机控制器与 eMMC 内部管理控制"/>
          <p:cNvSpPr txBox="1"/>
          <p:nvPr/>
        </p:nvSpPr>
        <p:spPr>
          <a:xfrm>
            <a:off x="2990488" y="3403763"/>
            <a:ext cx="8649424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双箭头合并总线交互；读参数方向为左 → 右。主机控制器与 eMMC 内部管理控制器职责不同。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858768"/>
            <a:ext cx="672084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895344"/>
            <a:ext cx="650138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接口与协议：命令、响应、数据分开传输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9664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信号 / 引脚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42245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CLK：主机输出；CMD：双向命令与响应。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4531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DAT[7:0]：双向数据；RST_n：按器件配置使用。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00016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数据规则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7548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按逻辑块读写；主机检查响应、CRC 与超时。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9834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DAT0 可指示忙；无 AXI 式逐拍 VALID / READY。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30368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52852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识别器件 → 读取能力 → CMD6 配置总线与模式。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55138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先低速初始化，再切 8-bit / High Speed 并提高 CLK。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60720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连续读取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8155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CMD18 多块读 → 接收数据 → DMA 写 DDR。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60441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命令响应 ≠ 搬运完成；检查错误后校验参数包。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291072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364224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模式边界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6345936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当前建议 SDR：每周期每根数据线传 1 bit。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6574536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DS 用于 HS400；本建议模式不使用 DS 采样。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3858768"/>
            <a:ext cx="676656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3895344"/>
            <a:ext cx="654710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器件选型与 ASIC 实现：控制器、I/O、时序分层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169664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候选器件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2245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Kingston E04GS14DXI：4 GB、MLC、-40～85°C。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531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8 GB 备选 EMMC08G-WV28；均为公开选型示例。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700016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频率 / 带宽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47548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MHz × 8 bit = 50 MB/s ≈ 47.7 MiB/s 线速。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SDR 规格上限 52 MHz；50 MHz 是建议工作点。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5230368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电气 / PHY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2852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单端数字接口；必须配置匹配 VCCQ 的 I/O PAD。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55138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评估 1.8 V I/O；VCC、VCCQ 与电源时序按料号。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760720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实现边界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8155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SDR 可评估数字收发 + I/O；仍须完成时序收敛。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60441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HS200/HS400 常需调谐、DLL/延迟线等 PHY 功能。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06640" y="6291072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0" y="6364224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工程改动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6345936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新增主机 / DMA、驱动及 I/O；需确认 IP 交付边界。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6574536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确认 PAD、采样、PCB 裕量后，实测完整加载时间。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6949440"/>
            <a:ext cx="13716000" cy="585216"/>
          </a:xfrm>
          <a:prstGeom prst="rect">
            <a:avLst/>
          </a:prstGeom>
          <a:solidFill>
            <a:srgbClr val="E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3504" y="7013448"/>
            <a:ext cx="1344168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预算：500 MiB ÷ 30 s = 16.7 MiB/s 下限；建议有效搬运 ≥25 MiB/s，20 s 搬运 + 约 10 s 初始化 / 校验。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" y="7287768"/>
            <a:ext cx="1344168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容量：可建议 A/B 两份参数（约 1000 MiB），保留增长余量；更新须完成落盘、校验与版本切换，并验证掉电恢复。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7671816"/>
            <a:ext cx="1371600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7781544"/>
            <a:ext cx="347472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器件：Kingston 工业级 eMMC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7781544"/>
            <a:ext cx="374904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3"/>
              </a:rPr>
              <a:t>协议：JEDEC 5.1（TI 托管）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7781544"/>
            <a:ext cx="338328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4"/>
              </a:rPr>
              <a:t>PHY：Synopsys 实现示例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612880" y="7781544"/>
            <a:ext cx="192024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5"/>
              </a:rPr>
              <a:t>Micron eMMC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8028432"/>
            <a:ext cx="1325880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公开资料选型示例；频率为建议评估值，非当前工程已达标结果。  |  2026-10-13 · 修订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624560" y="8028432"/>
            <a:ext cx="54864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64008" cy="457200"/>
          </a:xfrm>
          <a:prstGeom prst="rect">
            <a:avLst/>
          </a:prstGeom>
          <a:solidFill>
            <a:srgbClr val="21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265176"/>
            <a:ext cx="1353312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NAND 方案：Quad SDR / 100 MHz，条件性备选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04672"/>
            <a:ext cx="13533120" cy="2944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优势：可评估复用现有 SPI Host；代价：新增 NAND 管理软件，并验证采样时序与 CPU 搬运吞吐。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52144"/>
            <a:ext cx="13716000" cy="402336"/>
          </a:xfrm>
          <a:prstGeom prst="rect">
            <a:avLst/>
          </a:prstGeom>
          <a:solidFill>
            <a:srgbClr val="DF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1216152"/>
            <a:ext cx="13441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B56"/>
                </a:solidFill>
                <a:latin typeface="Microsoft YaHei"/>
                <a:ea typeface="Microsoft YaHei"/>
                <a:cs typeface="Microsoft YaHei"/>
              </a:rPr>
              <a:t>建议配置：W25N08MW 系列，8 Gbit（1 GiB）、1.8 V  |  首次联调 10 MHz → 条件满足后评估 Quad SDR 100 MHz</a:t>
            </a:r>
          </a:p>
        </p:txBody>
      </p:sp>
      <p:sp>
        <p:nvSpPr>
          <p:cNvPr id="7" name="d1"/>
          <p:cNvSpPr/>
          <p:nvPr/>
        </p:nvSpPr>
        <p:spPr>
          <a:xfrm>
            <a:off x="457200" y="1993392"/>
            <a:ext cx="4251960" cy="1344168"/>
          </a:xfrm>
          <a:prstGeom prst="roundRect">
            <a:avLst>
              <a:gd name="adj" fmla="val 4081"/>
            </a:avLst>
          </a:prstGeom>
          <a:solidFill>
            <a:srgbClr val="E8F1FA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2: 片外 SPI NAND：按页读取，器件内纠错"/>
          <p:cNvSpPr txBox="1"/>
          <p:nvPr/>
        </p:nvSpPr>
        <p:spPr>
          <a:xfrm>
            <a:off x="640080" y="2022287"/>
            <a:ext cx="390658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片外 SPI NAND：按页读取，器件内纠错</a:t>
            </a:r>
          </a:p>
        </p:txBody>
      </p:sp>
      <p:sp>
        <p:nvSpPr>
          <p:cNvPr id="9" name="d3"/>
          <p:cNvSpPr/>
          <p:nvPr/>
        </p:nvSpPr>
        <p:spPr>
          <a:xfrm>
            <a:off x="640080" y="2414016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4: NAND"/>
          <p:cNvSpPr txBox="1"/>
          <p:nvPr/>
        </p:nvSpPr>
        <p:spPr>
          <a:xfrm>
            <a:off x="777740" y="2460468"/>
            <a:ext cx="77624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NAND</a:t>
            </a:r>
          </a:p>
        </p:txBody>
      </p:sp>
      <p:sp>
        <p:nvSpPr>
          <p:cNvPr id="11" name="d5: 参数阵列"/>
          <p:cNvSpPr txBox="1"/>
          <p:nvPr/>
        </p:nvSpPr>
        <p:spPr>
          <a:xfrm>
            <a:off x="68580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参数阵列</a:t>
            </a:r>
          </a:p>
        </p:txBody>
      </p:sp>
      <p:sp>
        <p:nvSpPr>
          <p:cNvPr id="12" name="d6"/>
          <p:cNvSpPr/>
          <p:nvPr/>
        </p:nvSpPr>
        <p:spPr>
          <a:xfrm>
            <a:off x="2057400" y="2414016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d7: ECC"/>
          <p:cNvSpPr txBox="1"/>
          <p:nvPr/>
        </p:nvSpPr>
        <p:spPr>
          <a:xfrm>
            <a:off x="2253317" y="2460468"/>
            <a:ext cx="61400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ECC</a:t>
            </a:r>
          </a:p>
        </p:txBody>
      </p:sp>
      <p:sp>
        <p:nvSpPr>
          <p:cNvPr id="14" name="d8: 纠错状态"/>
          <p:cNvSpPr txBox="1"/>
          <p:nvPr/>
        </p:nvSpPr>
        <p:spPr>
          <a:xfrm>
            <a:off x="208026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纠错状态</a:t>
            </a:r>
          </a:p>
        </p:txBody>
      </p:sp>
      <p:sp>
        <p:nvSpPr>
          <p:cNvPr id="15" name="d9"/>
          <p:cNvSpPr/>
          <p:nvPr/>
        </p:nvSpPr>
        <p:spPr>
          <a:xfrm>
            <a:off x="3429000" y="2414016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10: 页缓存"/>
          <p:cNvSpPr txBox="1"/>
          <p:nvPr/>
        </p:nvSpPr>
        <p:spPr>
          <a:xfrm>
            <a:off x="3538728" y="2460468"/>
            <a:ext cx="87782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页缓存</a:t>
            </a:r>
          </a:p>
        </p:txBody>
      </p:sp>
      <p:sp>
        <p:nvSpPr>
          <p:cNvPr id="17" name="d11: 串行输出"/>
          <p:cNvSpPr txBox="1"/>
          <p:nvPr/>
        </p:nvSpPr>
        <p:spPr>
          <a:xfrm>
            <a:off x="3497580" y="2773558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串行输出</a:t>
            </a:r>
          </a:p>
        </p:txBody>
      </p:sp>
      <p:sp>
        <p:nvSpPr>
          <p:cNvPr id="18" name="d12"/>
          <p:cNvSpPr/>
          <p:nvPr/>
        </p:nvSpPr>
        <p:spPr>
          <a:xfrm>
            <a:off x="1691640" y="278892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13"/>
          <p:cNvSpPr/>
          <p:nvPr/>
        </p:nvSpPr>
        <p:spPr>
          <a:xfrm>
            <a:off x="3063240" y="2788920"/>
            <a:ext cx="365760" cy="1"/>
          </a:xfrm>
          <a:custGeom>
            <a:avLst/>
            <a:gdLst/>
            <a:ahLst/>
            <a:cxnLst/>
            <a:rect l="0" t="0" r="r" b="b"/>
            <a:pathLst>
              <a:path w="365760" h="1" fill="none">
                <a:moveTo>
                  <a:pt x="0" y="0"/>
                </a:moveTo>
                <a:lnTo>
                  <a:pt x="3657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14"/>
          <p:cNvSpPr/>
          <p:nvPr/>
        </p:nvSpPr>
        <p:spPr>
          <a:xfrm>
            <a:off x="6217920" y="241401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d15: I/O PAD"/>
          <p:cNvSpPr txBox="1"/>
          <p:nvPr/>
        </p:nvSpPr>
        <p:spPr>
          <a:xfrm>
            <a:off x="6545282" y="2451324"/>
            <a:ext cx="99119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I/O PAD</a:t>
            </a:r>
          </a:p>
        </p:txBody>
      </p:sp>
      <p:sp>
        <p:nvSpPr>
          <p:cNvPr id="22" name="d16: 1.8 V / 采样"/>
          <p:cNvSpPr txBox="1"/>
          <p:nvPr/>
        </p:nvSpPr>
        <p:spPr>
          <a:xfrm>
            <a:off x="6389341" y="2754539"/>
            <a:ext cx="13030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1.8 V / 采样</a:t>
            </a:r>
          </a:p>
        </p:txBody>
      </p:sp>
      <p:sp>
        <p:nvSpPr>
          <p:cNvPr id="23" name="d17"/>
          <p:cNvSpPr/>
          <p:nvPr/>
        </p:nvSpPr>
        <p:spPr>
          <a:xfrm>
            <a:off x="4526280" y="2788920"/>
            <a:ext cx="1691640" cy="1"/>
          </a:xfrm>
          <a:custGeom>
            <a:avLst/>
            <a:gdLst/>
            <a:ahLst/>
            <a:cxnLst/>
            <a:rect l="0" t="0" r="r" b="b"/>
            <a:pathLst>
              <a:path w="1691640" h="1" fill="none">
                <a:moveTo>
                  <a:pt x="0" y="0"/>
                </a:moveTo>
                <a:lnTo>
                  <a:pt x="169164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18: SCK / CS# / IO"/>
          <p:cNvSpPr txBox="1"/>
          <p:nvPr/>
        </p:nvSpPr>
        <p:spPr>
          <a:xfrm>
            <a:off x="4748694" y="2373417"/>
            <a:ext cx="1292533" cy="26334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SCK / CS# / IO</a:t>
            </a:r>
          </a:p>
        </p:txBody>
      </p:sp>
      <p:sp>
        <p:nvSpPr>
          <p:cNvPr id="25" name="d19"/>
          <p:cNvSpPr/>
          <p:nvPr/>
        </p:nvSpPr>
        <p:spPr>
          <a:xfrm>
            <a:off x="8915400" y="2414016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E0EFE9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20: SPI Host"/>
          <p:cNvSpPr txBox="1"/>
          <p:nvPr/>
        </p:nvSpPr>
        <p:spPr>
          <a:xfrm>
            <a:off x="9170689" y="2431572"/>
            <a:ext cx="1135342" cy="380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7" name="d21: 现有 RTL / FIFO"/>
          <p:cNvSpPr txBox="1"/>
          <p:nvPr/>
        </p:nvSpPr>
        <p:spPr>
          <a:xfrm>
            <a:off x="8978344" y="2764414"/>
            <a:ext cx="152003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 RTL / FIFO</a:t>
            </a:r>
          </a:p>
        </p:txBody>
      </p:sp>
      <p:sp>
        <p:nvSpPr>
          <p:cNvPr id="28" name="d22"/>
          <p:cNvSpPr/>
          <p:nvPr/>
        </p:nvSpPr>
        <p:spPr>
          <a:xfrm>
            <a:off x="7863840" y="278892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2860" cap="flat">
            <a:solidFill>
              <a:srgbClr val="246DA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23"/>
          <p:cNvSpPr/>
          <p:nvPr/>
        </p:nvSpPr>
        <p:spPr>
          <a:xfrm>
            <a:off x="11384280" y="2414016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EE8F6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24: CPU 驱动"/>
          <p:cNvSpPr txBox="1"/>
          <p:nvPr/>
        </p:nvSpPr>
        <p:spPr>
          <a:xfrm>
            <a:off x="11508474" y="2451324"/>
            <a:ext cx="11232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CPU 驱动</a:t>
            </a:r>
          </a:p>
        </p:txBody>
      </p:sp>
      <p:sp>
        <p:nvSpPr>
          <p:cNvPr id="31" name="d25: 读出并搬运"/>
          <p:cNvSpPr txBox="1"/>
          <p:nvPr/>
        </p:nvSpPr>
        <p:spPr>
          <a:xfrm>
            <a:off x="11494008" y="276441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读出并搬运</a:t>
            </a:r>
          </a:p>
        </p:txBody>
      </p:sp>
      <p:sp>
        <p:nvSpPr>
          <p:cNvPr id="32" name="d26"/>
          <p:cNvSpPr/>
          <p:nvPr/>
        </p:nvSpPr>
        <p:spPr>
          <a:xfrm>
            <a:off x="10561320" y="2788920"/>
            <a:ext cx="822960" cy="1"/>
          </a:xfrm>
          <a:custGeom>
            <a:avLst/>
            <a:gdLst/>
            <a:ahLst/>
            <a:cxnLst/>
            <a:rect l="0" t="0" r="r" b="b"/>
            <a:pathLst>
              <a:path w="822960" h="1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27: MMIO"/>
          <p:cNvSpPr txBox="1"/>
          <p:nvPr/>
        </p:nvSpPr>
        <p:spPr>
          <a:xfrm>
            <a:off x="10663754" y="2363541"/>
            <a:ext cx="61809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34" name="d28"/>
          <p:cNvSpPr/>
          <p:nvPr/>
        </p:nvSpPr>
        <p:spPr>
          <a:xfrm>
            <a:off x="9738360" y="1801368"/>
            <a:ext cx="2331720" cy="612648"/>
          </a:xfrm>
          <a:custGeom>
            <a:avLst/>
            <a:gdLst/>
            <a:ahLst/>
            <a:cxnLst/>
            <a:rect l="0" t="0" r="r" b="b"/>
            <a:pathLst>
              <a:path w="2331720" h="612648" fill="none">
                <a:moveTo>
                  <a:pt x="2331720" y="612648"/>
                </a:moveTo>
                <a:lnTo>
                  <a:pt x="2331720" y="0"/>
                </a:lnTo>
                <a:lnTo>
                  <a:pt x="0" y="0"/>
                </a:lnTo>
                <a:lnTo>
                  <a:pt x="0" y="612648"/>
                </a:lnTo>
              </a:path>
            </a:pathLst>
          </a:custGeom>
          <a:noFill/>
          <a:ln w="25603" cap="flat">
            <a:solidFill>
              <a:srgbClr val="218078"/>
            </a:solidFill>
            <a:custDash>
              <a:ds d="250000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d29: 配置 / 命令"/>
          <p:cNvSpPr txBox="1"/>
          <p:nvPr/>
        </p:nvSpPr>
        <p:spPr>
          <a:xfrm>
            <a:off x="10349794" y="1531437"/>
            <a:ext cx="106313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18078"/>
                </a:solidFill>
                <a:latin typeface="Microsoft YaHei"/>
                <a:ea typeface="Microsoft YaHei"/>
                <a:cs typeface="Microsoft YaHei"/>
              </a:rPr>
              <a:t>配置 / 命令</a:t>
            </a:r>
          </a:p>
        </p:txBody>
      </p:sp>
      <p:sp>
        <p:nvSpPr>
          <p:cNvPr id="36" name="d30"/>
          <p:cNvSpPr/>
          <p:nvPr/>
        </p:nvSpPr>
        <p:spPr>
          <a:xfrm>
            <a:off x="13441680" y="2414016"/>
            <a:ext cx="731520" cy="731520"/>
          </a:xfrm>
          <a:prstGeom prst="roundRect">
            <a:avLst>
              <a:gd name="adj" fmla="val 7500"/>
            </a:avLst>
          </a:prstGeom>
          <a:solidFill>
            <a:srgbClr val="FFF1DD"/>
          </a:solidFill>
          <a:ln w="14630" cap="flat">
            <a:solidFill>
              <a:srgbClr val="1930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d31: DDR"/>
          <p:cNvSpPr txBox="1"/>
          <p:nvPr/>
        </p:nvSpPr>
        <p:spPr>
          <a:xfrm>
            <a:off x="13485114" y="2588484"/>
            <a:ext cx="64465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8" name="d32"/>
          <p:cNvSpPr/>
          <p:nvPr/>
        </p:nvSpPr>
        <p:spPr>
          <a:xfrm>
            <a:off x="12755880" y="2788920"/>
            <a:ext cx="685800" cy="1"/>
          </a:xfrm>
          <a:custGeom>
            <a:avLst/>
            <a:gdLst/>
            <a:ahLst/>
            <a:cxnLst/>
            <a:rect l="0" t="0" r="r" b="b"/>
            <a:pathLst>
              <a:path w="685800" h="1" fill="none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25603" cap="flat">
            <a:solidFill>
              <a:srgbClr val="246D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33: 候选读取路径；当前 SPI Host 无独立 DMA 口。片内 ECC 不等于 "/>
          <p:cNvSpPr txBox="1"/>
          <p:nvPr/>
        </p:nvSpPr>
        <p:spPr>
          <a:xfrm>
            <a:off x="3210708" y="3403763"/>
            <a:ext cx="8208983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候选读取路径；当前 SPI Host 无独立 DMA 口。片内 ECC 不等于 eMMC 式完整介质管理。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858768"/>
            <a:ext cx="672084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895344"/>
            <a:ext cx="650138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接口与协议：SPI 命令 + NAND 页访问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69664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信号 / 模式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2245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CS#、SCK：主机输出；IO[3:0]：按事务改变方向。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4453128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Quad 为四线数据阶段，不等于所有命令均为四线。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00016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一次页读取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7548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发页地址 / 读页命令 → 等待就绪并检查 ECC。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983480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再发读缓存命令，按列地址 / dummy 周期接收数据。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230368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软件职责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2852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识别器件、配置 ECC / Quad、管理坏块与预留块。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5513832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检查不可纠错错误；CPU 排空 FIFO 并写入 DDR。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60720"/>
            <a:ext cx="672084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候选容量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58155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W25N-MW 系列含 2 / 4 / 8 Gbit，最高示例 1 GiB。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6044184"/>
            <a:ext cx="534924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500 MiB 单份有空间；双副本仅余 24 MiB，过紧。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3858768"/>
            <a:ext cx="6766560" cy="310896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16368" y="3895344"/>
            <a:ext cx="6547104" cy="307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频率、I/O 与系统吞吐：复用存在约束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169664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80" y="4242816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工作频率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2245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10 MHz 为首次联调建议；100 MHz 为评估目标。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453128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系列标称 STR 最高 166 MHz，不等于系统可达。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4700016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4773168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时钟前提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47548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当前 SCK = clk_i / [2 × (CLKDIV + 1)]。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83480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100 MHz SCK 要求 clk_i ≥200 MHz 且分频匹配。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5230368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0" y="5303520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物理实现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2852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单端 1.8 V PAD；校核采样相位、驱动和板级负载。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5513832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无高速差分 SerDes；高频仍可能需专用 I/O 时序。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760720"/>
            <a:ext cx="6766560" cy="530352"/>
          </a:xfrm>
          <a:prstGeom prst="rect">
            <a:avLst/>
          </a:prstGeom>
          <a:solidFill>
            <a:srgbClr val="FFFFFF"/>
          </a:solidFill>
          <a:ln w="9144">
            <a:solidFill>
              <a:srgbClr val="CA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98080" y="5833872"/>
            <a:ext cx="1133856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46DA0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58155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现有控制器无独立 DMA；Regbus / CPU 可能限速。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6044184"/>
            <a:ext cx="5394960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不能只换 Flash：需 NAND 驱动与错误 / 掉电验证。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409944"/>
            <a:ext cx="13716000" cy="338328"/>
          </a:xfrm>
          <a:prstGeom prst="rect">
            <a:avLst/>
          </a:prstGeom>
          <a:solidFill>
            <a:srgbClr val="16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6" y="6464808"/>
            <a:ext cx="27614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/ 建议数据模式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5576" y="6464808"/>
            <a:ext cx="25328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纯线速（不含开销）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3056" y="6464808"/>
            <a:ext cx="271576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 MiB 线速下限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43416" y="6464808"/>
            <a:ext cx="5047488" cy="281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评估结论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6748272"/>
            <a:ext cx="13716000" cy="338328"/>
          </a:xfrm>
          <a:prstGeom prst="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" y="6803136"/>
            <a:ext cx="2761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eMMC · 8-bit SDR 50 MHz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65576" y="6803136"/>
            <a:ext cx="25328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MB/s ≈ 47.7 MiB/s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3056" y="6803136"/>
            <a:ext cx="271576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约 10.5 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43416" y="6803136"/>
            <a:ext cx="5047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优先评估：新增主机 / DMA 与 I/O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7086600"/>
            <a:ext cx="137160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9496" y="7141464"/>
            <a:ext cx="2761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SPI NAND · Quad SDR 100 MHz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65576" y="7141464"/>
            <a:ext cx="25328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50 MB/s ≈ 47.7 MiB/s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63056" y="7141464"/>
            <a:ext cx="271576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约 10.5 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43416" y="7141464"/>
            <a:ext cx="5047488" cy="2688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193047"/>
                </a:solidFill>
                <a:latin typeface="Microsoft YaHei"/>
                <a:ea typeface="Microsoft YaHei"/>
                <a:cs typeface="Microsoft YaHei"/>
              </a:rPr>
              <a:t>备选：时钟、页读取、软件搬运须达标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7461504"/>
            <a:ext cx="1371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9B6828"/>
                </a:solidFill>
                <a:latin typeface="Microsoft YaHei"/>
                <a:ea typeface="Microsoft YaHei"/>
                <a:cs typeface="Microsoft YaHei"/>
              </a:rPr>
              <a:t>验收口径：完整 500 MiB 初始化 + 加载 + 校验 ≤30 秒；SPI Quad 50 MHz 仅 23.8 MiB/s 线速，低于 25 MiB/s 设计目标。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7671816"/>
            <a:ext cx="13716000" cy="9144"/>
          </a:xfrm>
          <a:prstGeom prst="rect">
            <a:avLst/>
          </a:prstGeom>
          <a:solidFill>
            <a:srgbClr val="CA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7781544"/>
            <a:ext cx="320040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2"/>
              </a:rPr>
              <a:t>器件：Winbond W25N-MW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40480" y="7781544"/>
            <a:ext cx="365760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3"/>
              </a:rPr>
              <a:t>8 Gbit：W25N08MW 型号入口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80960" y="7781544"/>
            <a:ext cx="3657600" cy="230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246DA0"/>
                </a:solidFill>
                <a:latin typeface="Microsoft YaHei"/>
                <a:ea typeface="Microsoft YaHei"/>
                <a:cs typeface="Microsoft YaHei"/>
                <a:hlinkClick r:id="rId4"/>
              </a:rPr>
              <a:t>NAND / 管理职责：Micron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8028432"/>
            <a:ext cx="1325880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公开资料选型示例；频率为建议评估值，非当前工程已达标结果。  |  2026-10-13 · 修订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624560" y="8028432"/>
            <a:ext cx="548640" cy="2048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