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5"/>
          <p:cNvCxnSpPr/>
          <p:nvPr/>
        </p:nvCxnSpPr>
        <p:spPr>
          <a:xfrm>
            <a:off x="1351280" y="19202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cxnSp>
        <p:nvCxnSpPr>
          <p:cNvPr id="6" name="line-006"/>
          <p:cNvCxnSpPr/>
          <p:nvPr/>
        </p:nvCxnSpPr>
        <p:spPr>
          <a:xfrm>
            <a:off x="4729480" y="19202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cxnSp>
        <p:nvCxnSpPr>
          <p:cNvPr id="7" name="line-007"/>
          <p:cNvCxnSpPr/>
          <p:nvPr/>
        </p:nvCxnSpPr>
        <p:spPr>
          <a:xfrm>
            <a:off x="8107680" y="19202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cxnSp>
        <p:nvCxnSpPr>
          <p:cNvPr id="8" name="line-008"/>
          <p:cNvCxnSpPr/>
          <p:nvPr/>
        </p:nvCxnSpPr>
        <p:spPr>
          <a:xfrm>
            <a:off x="11485880" y="19202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sp>
        <p:nvSpPr>
          <p:cNvPr id="9" name="polyline-009"/>
          <p:cNvSpPr/>
          <p:nvPr/>
        </p:nvSpPr>
        <p:spPr>
          <a:xfrm>
            <a:off x="1351280" y="231140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 fill="none">
                <a:moveTo>
                  <a:pt x="0" y="0"/>
                </a:moveTo>
                <a:lnTo>
                  <a:pt x="10134600" y="0"/>
                </a:lnTo>
              </a:path>
            </a:pathLst>
          </a:custGeom>
          <a:noFill/>
          <a:ln w="28448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1"/>
          <p:cNvSpPr/>
          <p:nvPr/>
        </p:nvSpPr>
        <p:spPr>
          <a:xfrm>
            <a:off x="1351280" y="316484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 fill="none">
                <a:moveTo>
                  <a:pt x="0" y="0"/>
                </a:moveTo>
                <a:lnTo>
                  <a:pt x="10134600" y="0"/>
                </a:lnTo>
              </a:path>
            </a:pathLst>
          </a:custGeom>
          <a:noFill/>
          <a:ln w="28448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3"/>
          <p:cNvSpPr/>
          <p:nvPr/>
        </p:nvSpPr>
        <p:spPr>
          <a:xfrm>
            <a:off x="1351280" y="401828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 fill="none">
                <a:moveTo>
                  <a:pt x="0" y="0"/>
                </a:moveTo>
                <a:lnTo>
                  <a:pt x="10134600" y="0"/>
                </a:lnTo>
              </a:path>
            </a:pathLst>
          </a:custGeom>
          <a:noFill/>
          <a:ln w="28448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5"/>
          <p:cNvSpPr/>
          <p:nvPr/>
        </p:nvSpPr>
        <p:spPr>
          <a:xfrm>
            <a:off x="1351280" y="554736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 fill="none">
                <a:moveTo>
                  <a:pt x="10134600" y="0"/>
                </a:moveTo>
                <a:lnTo>
                  <a:pt x="0" y="0"/>
                </a:lnTo>
              </a:path>
            </a:pathLst>
          </a:custGeom>
          <a:noFill/>
          <a:ln w="28448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7: AXI 写事务：地址、数据与响应三条独立通道"/>
          <p:cNvSpPr txBox="1"/>
          <p:nvPr/>
        </p:nvSpPr>
        <p:spPr>
          <a:xfrm>
            <a:off x="483616" y="271109"/>
            <a:ext cx="5530291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AXI 写事务：地址、数据与响应三条独立通道</a:t>
            </a:r>
          </a:p>
        </p:txBody>
      </p:sp>
      <p:sp>
        <p:nvSpPr>
          <p:cNvPr id="14" name="text-018: 同一笔两拍写入；AW 与 W 可以独立提出。W 没有 WID，互连需要保存目标与"/>
          <p:cNvSpPr txBox="1"/>
          <p:nvPr/>
        </p:nvSpPr>
        <p:spPr>
          <a:xfrm>
            <a:off x="483616" y="676778"/>
            <a:ext cx="651032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同一笔两拍写入；AW 与 W 可以独立提出。W 没有 WID，互连需要保存目标与来源。</a:t>
            </a:r>
          </a:p>
        </p:txBody>
      </p:sp>
      <p:sp>
        <p:nvSpPr>
          <p:cNvPr id="15" name="text-019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6" name="text-020: 依据：本地 axi_xbar / axi_mux / axi_demux_sim"/>
          <p:cNvSpPr txBox="1"/>
          <p:nvPr/>
        </p:nvSpPr>
        <p:spPr>
          <a:xfrm>
            <a:off x="341376" y="7726477"/>
            <a:ext cx="635812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依据：本地 axi_xbar / axi_mux / axi_demux_simple；教学事件图，不表示固定周期</a:t>
            </a:r>
          </a:p>
        </p:txBody>
      </p:sp>
      <p:sp>
        <p:nvSpPr>
          <p:cNvPr id="17" name="rect-021"/>
          <p:cNvSpPr/>
          <p:nvPr/>
        </p:nvSpPr>
        <p:spPr>
          <a:xfrm>
            <a:off x="355600" y="13157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22"/>
          <p:cNvSpPr/>
          <p:nvPr/>
        </p:nvSpPr>
        <p:spPr>
          <a:xfrm>
            <a:off x="355600" y="13157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23: 发起者"/>
          <p:cNvSpPr txBox="1"/>
          <p:nvPr/>
        </p:nvSpPr>
        <p:spPr>
          <a:xfrm>
            <a:off x="476504" y="1343599"/>
            <a:ext cx="73964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发起者</a:t>
            </a:r>
          </a:p>
        </p:txBody>
      </p:sp>
      <p:sp>
        <p:nvSpPr>
          <p:cNvPr id="20" name="rect-024"/>
          <p:cNvSpPr/>
          <p:nvPr/>
        </p:nvSpPr>
        <p:spPr>
          <a:xfrm>
            <a:off x="3733800" y="13157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5"/>
          <p:cNvSpPr/>
          <p:nvPr/>
        </p:nvSpPr>
        <p:spPr>
          <a:xfrm>
            <a:off x="3733800" y="13157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6: 输入 demux"/>
          <p:cNvSpPr txBox="1"/>
          <p:nvPr/>
        </p:nvSpPr>
        <p:spPr>
          <a:xfrm>
            <a:off x="3854704" y="1343599"/>
            <a:ext cx="12758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输入 demux</a:t>
            </a:r>
          </a:p>
        </p:txBody>
      </p:sp>
      <p:sp>
        <p:nvSpPr>
          <p:cNvPr id="23" name="rect-027"/>
          <p:cNvSpPr/>
          <p:nvPr/>
        </p:nvSpPr>
        <p:spPr>
          <a:xfrm>
            <a:off x="7112000" y="13157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8"/>
          <p:cNvSpPr/>
          <p:nvPr/>
        </p:nvSpPr>
        <p:spPr>
          <a:xfrm>
            <a:off x="7112000" y="13157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9: 目标 mux"/>
          <p:cNvSpPr txBox="1"/>
          <p:nvPr/>
        </p:nvSpPr>
        <p:spPr>
          <a:xfrm>
            <a:off x="7232904" y="1343599"/>
            <a:ext cx="10355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 mux</a:t>
            </a:r>
          </a:p>
        </p:txBody>
      </p:sp>
      <p:sp>
        <p:nvSpPr>
          <p:cNvPr id="26" name="rect-030"/>
          <p:cNvSpPr/>
          <p:nvPr/>
        </p:nvSpPr>
        <p:spPr>
          <a:xfrm>
            <a:off x="10490200" y="13157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31"/>
          <p:cNvSpPr/>
          <p:nvPr/>
        </p:nvSpPr>
        <p:spPr>
          <a:xfrm>
            <a:off x="10490200" y="13157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32: 目标设备"/>
          <p:cNvSpPr txBox="1"/>
          <p:nvPr/>
        </p:nvSpPr>
        <p:spPr>
          <a:xfrm>
            <a:off x="10611104" y="1343599"/>
            <a:ext cx="9245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目标设备</a:t>
            </a:r>
          </a:p>
        </p:txBody>
      </p:sp>
      <p:sp>
        <p:nvSpPr>
          <p:cNvPr id="29" name="text-033: AW：addr / ID / LEN=1"/>
          <p:cNvSpPr txBox="1"/>
          <p:nvPr/>
        </p:nvSpPr>
        <p:spPr>
          <a:xfrm>
            <a:off x="5053965" y="1998472"/>
            <a:ext cx="255143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AW：addr / ID / LEN=1</a:t>
            </a:r>
          </a:p>
        </p:txBody>
      </p:sp>
      <p:sp>
        <p:nvSpPr>
          <p:cNvPr id="30" name="text-034: W：D0 / STRB / LAST=0"/>
          <p:cNvSpPr txBox="1"/>
          <p:nvPr/>
        </p:nvSpPr>
        <p:spPr>
          <a:xfrm>
            <a:off x="5053965" y="2851912"/>
            <a:ext cx="255143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W：D0 / STRB / LAST=0</a:t>
            </a:r>
          </a:p>
        </p:txBody>
      </p:sp>
      <p:sp>
        <p:nvSpPr>
          <p:cNvPr id="31" name="text-035: W：D1 / STRB / LAST=1"/>
          <p:cNvSpPr txBox="1"/>
          <p:nvPr/>
        </p:nvSpPr>
        <p:spPr>
          <a:xfrm>
            <a:off x="5053965" y="3705352"/>
            <a:ext cx="255143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W：D1 / STRB / LAST=1</a:t>
            </a:r>
          </a:p>
        </p:txBody>
      </p:sp>
      <p:sp>
        <p:nvSpPr>
          <p:cNvPr id="32" name="text-036: B：ID / RESP；软件仍需检查结果"/>
          <p:cNvSpPr txBox="1"/>
          <p:nvPr/>
        </p:nvSpPr>
        <p:spPr>
          <a:xfrm>
            <a:off x="4773930" y="5234432"/>
            <a:ext cx="31115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B：ID / RESP；软件仍需检查结果</a:t>
            </a:r>
          </a:p>
        </p:txBody>
      </p:sp>
      <p:sp>
        <p:nvSpPr>
          <p:cNvPr id="33" name="rect-037"/>
          <p:cNvSpPr/>
          <p:nvPr/>
        </p:nvSpPr>
        <p:spPr>
          <a:xfrm>
            <a:off x="3235960" y="4622800"/>
            <a:ext cx="6258560" cy="533400"/>
          </a:xfrm>
          <a:prstGeom prst="roundRect">
            <a:avLst>
              <a:gd name="adj" fmla="val 933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8"/>
          <p:cNvSpPr/>
          <p:nvPr/>
        </p:nvSpPr>
        <p:spPr>
          <a:xfrm>
            <a:off x="3235960" y="4622800"/>
            <a:ext cx="35560" cy="5334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9: 路由状态跨周期保存"/>
          <p:cNvSpPr txBox="1"/>
          <p:nvPr/>
        </p:nvSpPr>
        <p:spPr>
          <a:xfrm>
            <a:off x="3356864" y="465067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路由状态跨周期保存</a:t>
            </a:r>
          </a:p>
        </p:txBody>
      </p:sp>
      <p:sp>
        <p:nvSpPr>
          <p:cNvPr id="36" name="text-040: 目标 / 来源 FIFO / 同 ID 在途数"/>
          <p:cNvSpPr txBox="1"/>
          <p:nvPr/>
        </p:nvSpPr>
        <p:spPr>
          <a:xfrm>
            <a:off x="3356864" y="4937435"/>
            <a:ext cx="29337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 / 来源 FIFO / 同 ID 在途数</a:t>
            </a:r>
          </a:p>
        </p:txBody>
      </p:sp>
      <p:sp>
        <p:nvSpPr>
          <p:cNvPr id="37" name="rect-041"/>
          <p:cNvSpPr/>
          <p:nvPr/>
        </p:nvSpPr>
        <p:spPr>
          <a:xfrm>
            <a:off x="391160" y="6400800"/>
            <a:ext cx="3769360" cy="853440"/>
          </a:xfrm>
          <a:prstGeom prst="roundRect">
            <a:avLst>
              <a:gd name="adj" fmla="val 583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42"/>
          <p:cNvSpPr/>
          <p:nvPr/>
        </p:nvSpPr>
        <p:spPr>
          <a:xfrm>
            <a:off x="391160" y="6400800"/>
            <a:ext cx="35560" cy="8534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43: AW 被接收"/>
          <p:cNvSpPr txBox="1"/>
          <p:nvPr/>
        </p:nvSpPr>
        <p:spPr>
          <a:xfrm>
            <a:off x="512064" y="6428679"/>
            <a:ext cx="110022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AW 被接收</a:t>
            </a:r>
          </a:p>
        </p:txBody>
      </p:sp>
      <p:sp>
        <p:nvSpPr>
          <p:cNvPr id="40" name="text-044: 该接口接受写地址"/>
          <p:cNvSpPr txBox="1"/>
          <p:nvPr/>
        </p:nvSpPr>
        <p:spPr>
          <a:xfrm>
            <a:off x="512064" y="6715435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该接口接受写地址</a:t>
            </a:r>
          </a:p>
        </p:txBody>
      </p:sp>
      <p:sp>
        <p:nvSpPr>
          <p:cNvPr id="41" name="text-045: 不代表目标已经写入"/>
          <p:cNvSpPr txBox="1"/>
          <p:nvPr/>
        </p:nvSpPr>
        <p:spPr>
          <a:xfrm>
            <a:off x="512064" y="692879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不代表目标已经写入</a:t>
            </a:r>
          </a:p>
        </p:txBody>
      </p:sp>
      <p:sp>
        <p:nvSpPr>
          <p:cNvPr id="42" name="rect-046"/>
          <p:cNvSpPr/>
          <p:nvPr/>
        </p:nvSpPr>
        <p:spPr>
          <a:xfrm>
            <a:off x="4480560" y="6400800"/>
            <a:ext cx="37693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7"/>
          <p:cNvSpPr/>
          <p:nvPr/>
        </p:nvSpPr>
        <p:spPr>
          <a:xfrm>
            <a:off x="4480560" y="640080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8: W 末拍握手"/>
          <p:cNvSpPr txBox="1"/>
          <p:nvPr/>
        </p:nvSpPr>
        <p:spPr>
          <a:xfrm>
            <a:off x="4601464" y="6428679"/>
            <a:ext cx="116494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 末拍握手</a:t>
            </a:r>
          </a:p>
        </p:txBody>
      </p:sp>
      <p:sp>
        <p:nvSpPr>
          <p:cNvPr id="45" name="text-049: 该接口结束本 burst 数据"/>
          <p:cNvSpPr txBox="1"/>
          <p:nvPr/>
        </p:nvSpPr>
        <p:spPr>
          <a:xfrm>
            <a:off x="4601464" y="6715435"/>
            <a:ext cx="212008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该接口结束本 burst 数据</a:t>
            </a:r>
          </a:p>
        </p:txBody>
      </p:sp>
      <p:sp>
        <p:nvSpPr>
          <p:cNvPr id="46" name="text-050: B 响应仍可能在途"/>
          <p:cNvSpPr txBox="1"/>
          <p:nvPr/>
        </p:nvSpPr>
        <p:spPr>
          <a:xfrm>
            <a:off x="4601464" y="6928795"/>
            <a:ext cx="145511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 响应仍可能在途</a:t>
            </a:r>
          </a:p>
        </p:txBody>
      </p:sp>
      <p:sp>
        <p:nvSpPr>
          <p:cNvPr id="47" name="rect-051"/>
          <p:cNvSpPr/>
          <p:nvPr/>
        </p:nvSpPr>
        <p:spPr>
          <a:xfrm>
            <a:off x="8569960" y="6400800"/>
            <a:ext cx="3840480" cy="853440"/>
          </a:xfrm>
          <a:prstGeom prst="roundRect">
            <a:avLst>
              <a:gd name="adj" fmla="val 583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52"/>
          <p:cNvSpPr/>
          <p:nvPr/>
        </p:nvSpPr>
        <p:spPr>
          <a:xfrm>
            <a:off x="8569960" y="6400800"/>
            <a:ext cx="35560" cy="8534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53: B 握手并检查 RESP"/>
          <p:cNvSpPr txBox="1"/>
          <p:nvPr/>
        </p:nvSpPr>
        <p:spPr>
          <a:xfrm>
            <a:off x="8690864" y="6428679"/>
            <a:ext cx="195082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B 握手并检查 RESP</a:t>
            </a:r>
          </a:p>
        </p:txBody>
      </p:sp>
      <p:sp>
        <p:nvSpPr>
          <p:cNvPr id="50" name="text-054: AXI 写事务响应已返回"/>
          <p:cNvSpPr txBox="1"/>
          <p:nvPr/>
        </p:nvSpPr>
        <p:spPr>
          <a:xfrm>
            <a:off x="8690864" y="6715435"/>
            <a:ext cx="181498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AXI 写事务响应已返回</a:t>
            </a:r>
          </a:p>
        </p:txBody>
      </p:sp>
      <p:sp>
        <p:nvSpPr>
          <p:cNvPr id="51" name="text-055: 设备动作完成语义仍由寄存器定义"/>
          <p:cNvSpPr txBox="1"/>
          <p:nvPr/>
        </p:nvSpPr>
        <p:spPr>
          <a:xfrm>
            <a:off x="8690864" y="6928795"/>
            <a:ext cx="25034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设备动作完成语义仍由寄存器定义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