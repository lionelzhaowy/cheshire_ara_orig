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801600" cy="796366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① Regbus 全路径：现有互连 + 自有 IP 接入边界"/>
          <p:cNvSpPr txBox="1"/>
          <p:nvPr/>
        </p:nvSpPr>
        <p:spPr>
          <a:xfrm>
            <a:off x="213360" y="674431"/>
            <a:ext cx="43952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① Regbus 全路径：现有互连 + 自有 IP 接入边界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94945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386840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41479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CPU 等"/>
          <p:cNvSpPr txBox="1"/>
          <p:nvPr/>
        </p:nvSpPr>
        <p:spPr>
          <a:xfrm>
            <a:off x="1853565" y="1584198"/>
            <a:ext cx="6134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等</a:t>
            </a:r>
          </a:p>
        </p:txBody>
      </p:sp>
      <p:sp>
        <p:nvSpPr>
          <p:cNvPr id="7" name="text-007: AXI 发起端"/>
          <p:cNvSpPr txBox="1"/>
          <p:nvPr/>
        </p:nvSpPr>
        <p:spPr>
          <a:xfrm>
            <a:off x="1755419" y="1766407"/>
            <a:ext cx="80970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发起端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206425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219760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↔ N02"/>
          <p:cNvSpPr txBox="1"/>
          <p:nvPr/>
        </p:nvSpPr>
        <p:spPr>
          <a:xfrm>
            <a:off x="2957170" y="210778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2608326"/>
            <a:ext cx="3893820" cy="155219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N04  内部工作逻辑"/>
          <p:cNvSpPr txBox="1"/>
          <p:nvPr/>
        </p:nvSpPr>
        <p:spPr>
          <a:xfrm>
            <a:off x="309372" y="263627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13" name="text-013: i_reg_demux"/>
          <p:cNvSpPr txBox="1"/>
          <p:nvPr/>
        </p:nvSpPr>
        <p:spPr>
          <a:xfrm>
            <a:off x="1616869" y="2805684"/>
            <a:ext cx="10868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i_reg_demux</a:t>
            </a:r>
          </a:p>
        </p:txBody>
      </p:sp>
      <p:sp>
        <p:nvSpPr>
          <p:cNvPr id="14" name="text-014: 请求分发"/>
          <p:cNvSpPr txBox="1"/>
          <p:nvPr/>
        </p:nvSpPr>
        <p:spPr>
          <a:xfrm>
            <a:off x="1853565" y="2987893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请求分发</a:t>
            </a:r>
          </a:p>
        </p:txBody>
      </p:sp>
      <p:sp>
        <p:nvSpPr>
          <p:cNvPr id="15" name="text-015: 响应选择"/>
          <p:cNvSpPr txBox="1"/>
          <p:nvPr/>
        </p:nvSpPr>
        <p:spPr>
          <a:xfrm>
            <a:off x="1853565" y="3158581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响应选择</a:t>
            </a:r>
          </a:p>
        </p:txBody>
      </p:sp>
      <p:sp>
        <p:nvSpPr>
          <p:cNvPr id="16" name="rect-016"/>
          <p:cNvSpPr/>
          <p:nvPr/>
        </p:nvSpPr>
        <p:spPr>
          <a:xfrm>
            <a:off x="293370" y="3456432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03-target"/>
          <p:cNvSpPr/>
          <p:nvPr/>
        </p:nvSpPr>
        <p:spPr>
          <a:xfrm>
            <a:off x="133350" y="35897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3 ↔ N03"/>
          <p:cNvSpPr txBox="1"/>
          <p:nvPr/>
        </p:nvSpPr>
        <p:spPr>
          <a:xfrm>
            <a:off x="474726" y="34999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N03</a:t>
            </a:r>
          </a:p>
        </p:txBody>
      </p:sp>
      <p:sp>
        <p:nvSpPr>
          <p:cNvPr id="19" name="E05-target"/>
          <p:cNvSpPr/>
          <p:nvPr/>
        </p:nvSpPr>
        <p:spPr>
          <a:xfrm>
            <a:off x="133350" y="37764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5 ← N05"/>
          <p:cNvSpPr txBox="1"/>
          <p:nvPr/>
        </p:nvSpPr>
        <p:spPr>
          <a:xfrm>
            <a:off x="474726" y="36866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N05</a:t>
            </a:r>
          </a:p>
        </p:txBody>
      </p:sp>
      <p:sp>
        <p:nvSpPr>
          <p:cNvPr id="21" name="E06-source"/>
          <p:cNvSpPr/>
          <p:nvPr/>
        </p:nvSpPr>
        <p:spPr>
          <a:xfrm>
            <a:off x="3915156" y="358978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06 ↔ N06"/>
          <p:cNvSpPr txBox="1"/>
          <p:nvPr/>
        </p:nvSpPr>
        <p:spPr>
          <a:xfrm>
            <a:off x="2957170" y="349995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23" name="E07-source"/>
          <p:cNvSpPr/>
          <p:nvPr/>
        </p:nvSpPr>
        <p:spPr>
          <a:xfrm>
            <a:off x="3915156" y="37764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7 ↔ N07"/>
          <p:cNvSpPr txBox="1"/>
          <p:nvPr/>
        </p:nvSpPr>
        <p:spPr>
          <a:xfrm>
            <a:off x="2957170" y="36866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N07</a:t>
            </a:r>
          </a:p>
        </p:txBody>
      </p:sp>
      <p:sp>
        <p:nvSpPr>
          <p:cNvPr id="25" name="E08-source"/>
          <p:cNvSpPr/>
          <p:nvPr/>
        </p:nvSpPr>
        <p:spPr>
          <a:xfrm>
            <a:off x="3915156" y="39631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8 ↔ N08"/>
          <p:cNvSpPr txBox="1"/>
          <p:nvPr/>
        </p:nvSpPr>
        <p:spPr>
          <a:xfrm>
            <a:off x="2957170" y="38733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N08</a:t>
            </a:r>
          </a:p>
        </p:txBody>
      </p:sp>
      <p:sp>
        <p:nvSpPr>
          <p:cNvPr id="27" name="rect-027"/>
          <p:cNvSpPr/>
          <p:nvPr/>
        </p:nvSpPr>
        <p:spPr>
          <a:xfrm>
            <a:off x="213360" y="4373880"/>
            <a:ext cx="3893820" cy="134950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N08  接口与配置"/>
          <p:cNvSpPr txBox="1"/>
          <p:nvPr/>
        </p:nvSpPr>
        <p:spPr>
          <a:xfrm>
            <a:off x="309372" y="4401830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N08  接口与配置</a:t>
            </a:r>
          </a:p>
        </p:txBody>
      </p:sp>
      <p:sp>
        <p:nvSpPr>
          <p:cNvPr id="29" name="text-029: 外部 Regbus 端口 [k]"/>
          <p:cNvSpPr txBox="1"/>
          <p:nvPr/>
        </p:nvSpPr>
        <p:spPr>
          <a:xfrm>
            <a:off x="1306830" y="4571238"/>
            <a:ext cx="17068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Regbus 端口 [k]</a:t>
            </a:r>
          </a:p>
        </p:txBody>
      </p:sp>
      <p:sp>
        <p:nvSpPr>
          <p:cNvPr id="30" name="text-030: reg_ext_slv_req_o[k]"/>
          <p:cNvSpPr txBox="1"/>
          <p:nvPr/>
        </p:nvSpPr>
        <p:spPr>
          <a:xfrm>
            <a:off x="1301496" y="4753447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31" name="text-031: reg_ext_slv_rsp_i[k]"/>
          <p:cNvSpPr txBox="1"/>
          <p:nvPr/>
        </p:nvSpPr>
        <p:spPr>
          <a:xfrm>
            <a:off x="1301496" y="4924135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32" name="text-032: 默认端口数为 0"/>
          <p:cNvSpPr txBox="1"/>
          <p:nvPr/>
        </p:nvSpPr>
        <p:spPr>
          <a:xfrm>
            <a:off x="1651140" y="5094823"/>
            <a:ext cx="10182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默认端口数为 0</a:t>
            </a:r>
          </a:p>
        </p:txBody>
      </p:sp>
      <p:sp>
        <p:nvSpPr>
          <p:cNvPr id="33" name="rect-033"/>
          <p:cNvSpPr/>
          <p:nvPr/>
        </p:nvSpPr>
        <p:spPr>
          <a:xfrm>
            <a:off x="293370" y="539267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8-target"/>
          <p:cNvSpPr/>
          <p:nvPr/>
        </p:nvSpPr>
        <p:spPr>
          <a:xfrm>
            <a:off x="133350" y="55260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8 ↔ N04"/>
          <p:cNvSpPr txBox="1"/>
          <p:nvPr/>
        </p:nvSpPr>
        <p:spPr>
          <a:xfrm>
            <a:off x="474726" y="54361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N04</a:t>
            </a:r>
          </a:p>
        </p:txBody>
      </p:sp>
      <p:sp>
        <p:nvSpPr>
          <p:cNvPr id="36" name="E09-source"/>
          <p:cNvSpPr/>
          <p:nvPr/>
        </p:nvSpPr>
        <p:spPr>
          <a:xfrm>
            <a:off x="3915156" y="55260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9 ↔ N09"/>
          <p:cNvSpPr txBox="1"/>
          <p:nvPr/>
        </p:nvSpPr>
        <p:spPr>
          <a:xfrm>
            <a:off x="2957170" y="54361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N09</a:t>
            </a:r>
          </a:p>
        </p:txBody>
      </p:sp>
      <p:sp>
        <p:nvSpPr>
          <p:cNvPr id="38" name="rect-038"/>
          <p:cNvSpPr/>
          <p:nvPr/>
        </p:nvSpPr>
        <p:spPr>
          <a:xfrm>
            <a:off x="4453890" y="1386840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2  内部工作逻辑"/>
          <p:cNvSpPr txBox="1"/>
          <p:nvPr/>
        </p:nvSpPr>
        <p:spPr>
          <a:xfrm>
            <a:off x="4549902" y="141479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40" name="text-040: 主 AXI"/>
          <p:cNvSpPr txBox="1"/>
          <p:nvPr/>
        </p:nvSpPr>
        <p:spPr>
          <a:xfrm>
            <a:off x="6094095" y="1584198"/>
            <a:ext cx="6134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</a:t>
            </a:r>
          </a:p>
        </p:txBody>
      </p:sp>
      <p:sp>
        <p:nvSpPr>
          <p:cNvPr id="41" name="text-041: Crossbar"/>
          <p:cNvSpPr txBox="1"/>
          <p:nvPr/>
        </p:nvSpPr>
        <p:spPr>
          <a:xfrm>
            <a:off x="6020486" y="1766407"/>
            <a:ext cx="7606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Crossbar</a:t>
            </a:r>
          </a:p>
        </p:txBody>
      </p:sp>
      <p:sp>
        <p:nvSpPr>
          <p:cNvPr id="42" name="text-042: 第一级选路"/>
          <p:cNvSpPr txBox="1"/>
          <p:nvPr/>
        </p:nvSpPr>
        <p:spPr>
          <a:xfrm>
            <a:off x="6032754" y="1937095"/>
            <a:ext cx="7360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第一级选路</a:t>
            </a:r>
          </a:p>
        </p:txBody>
      </p:sp>
      <p:sp>
        <p:nvSpPr>
          <p:cNvPr id="43" name="rect-043"/>
          <p:cNvSpPr/>
          <p:nvPr/>
        </p:nvSpPr>
        <p:spPr>
          <a:xfrm>
            <a:off x="4533900" y="223494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01-target"/>
          <p:cNvSpPr/>
          <p:nvPr/>
        </p:nvSpPr>
        <p:spPr>
          <a:xfrm>
            <a:off x="4373880" y="23682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1 ↔ N01"/>
          <p:cNvSpPr txBox="1"/>
          <p:nvPr/>
        </p:nvSpPr>
        <p:spPr>
          <a:xfrm>
            <a:off x="4715256" y="22784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46" name="E02-source"/>
          <p:cNvSpPr/>
          <p:nvPr/>
        </p:nvSpPr>
        <p:spPr>
          <a:xfrm>
            <a:off x="8155686" y="23682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 ↔ N03"/>
          <p:cNvSpPr txBox="1"/>
          <p:nvPr/>
        </p:nvSpPr>
        <p:spPr>
          <a:xfrm>
            <a:off x="7197700" y="22784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48" name="rect-048"/>
          <p:cNvSpPr/>
          <p:nvPr/>
        </p:nvSpPr>
        <p:spPr>
          <a:xfrm>
            <a:off x="4453890" y="2779014"/>
            <a:ext cx="3893820" cy="837438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N05  内部工作逻辑"/>
          <p:cNvSpPr txBox="1"/>
          <p:nvPr/>
        </p:nvSpPr>
        <p:spPr>
          <a:xfrm>
            <a:off x="4549902" y="280696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50" name="text-050: 地址解码 RegMap"/>
          <p:cNvSpPr txBox="1"/>
          <p:nvPr/>
        </p:nvSpPr>
        <p:spPr>
          <a:xfrm>
            <a:off x="5764054" y="2976372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地址解码 RegMap</a:t>
            </a:r>
          </a:p>
        </p:txBody>
      </p:sp>
      <p:sp>
        <p:nvSpPr>
          <p:cNvPr id="51" name="rect-051"/>
          <p:cNvSpPr/>
          <p:nvPr/>
        </p:nvSpPr>
        <p:spPr>
          <a:xfrm>
            <a:off x="4533900" y="328574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04-target"/>
          <p:cNvSpPr/>
          <p:nvPr/>
        </p:nvSpPr>
        <p:spPr>
          <a:xfrm>
            <a:off x="4373880" y="34190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4 ← N03"/>
          <p:cNvSpPr txBox="1"/>
          <p:nvPr/>
        </p:nvSpPr>
        <p:spPr>
          <a:xfrm>
            <a:off x="4715256" y="33292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← N03</a:t>
            </a:r>
          </a:p>
        </p:txBody>
      </p:sp>
      <p:sp>
        <p:nvSpPr>
          <p:cNvPr id="54" name="E05-source"/>
          <p:cNvSpPr/>
          <p:nvPr/>
        </p:nvSpPr>
        <p:spPr>
          <a:xfrm>
            <a:off x="8155686" y="34190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5 → N04"/>
          <p:cNvSpPr txBox="1"/>
          <p:nvPr/>
        </p:nvSpPr>
        <p:spPr>
          <a:xfrm>
            <a:off x="7197700" y="33292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N04</a:t>
            </a:r>
          </a:p>
        </p:txBody>
      </p:sp>
      <p:sp>
        <p:nvSpPr>
          <p:cNvPr id="56" name="rect-056"/>
          <p:cNvSpPr/>
          <p:nvPr/>
        </p:nvSpPr>
        <p:spPr>
          <a:xfrm>
            <a:off x="4453890" y="3829812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N07  内部工作逻辑"/>
          <p:cNvSpPr txBox="1"/>
          <p:nvPr/>
        </p:nvSpPr>
        <p:spPr>
          <a:xfrm>
            <a:off x="4549902" y="385776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58" name="text-058: i_reg_err_slv"/>
          <p:cNvSpPr txBox="1"/>
          <p:nvPr/>
        </p:nvSpPr>
        <p:spPr>
          <a:xfrm>
            <a:off x="5770721" y="4027170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i_reg_err_slv</a:t>
            </a:r>
          </a:p>
        </p:txBody>
      </p:sp>
      <p:sp>
        <p:nvSpPr>
          <p:cNvPr id="59" name="text-059: 未命中：ready=1, error=1"/>
          <p:cNvSpPr txBox="1"/>
          <p:nvPr/>
        </p:nvSpPr>
        <p:spPr>
          <a:xfrm>
            <a:off x="5456149" y="4209379"/>
            <a:ext cx="188930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未命中：ready=1, error=1</a:t>
            </a:r>
          </a:p>
        </p:txBody>
      </p:sp>
      <p:sp>
        <p:nvSpPr>
          <p:cNvPr id="60" name="rect-060"/>
          <p:cNvSpPr/>
          <p:nvPr/>
        </p:nvSpPr>
        <p:spPr>
          <a:xfrm>
            <a:off x="4533900" y="450723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07-target"/>
          <p:cNvSpPr/>
          <p:nvPr/>
        </p:nvSpPr>
        <p:spPr>
          <a:xfrm>
            <a:off x="4373880" y="464058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7 ↔ N04"/>
          <p:cNvSpPr txBox="1"/>
          <p:nvPr/>
        </p:nvSpPr>
        <p:spPr>
          <a:xfrm>
            <a:off x="4715256" y="455075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N04</a:t>
            </a:r>
          </a:p>
        </p:txBody>
      </p:sp>
      <p:sp>
        <p:nvSpPr>
          <p:cNvPr id="63" name="rect-063"/>
          <p:cNvSpPr/>
          <p:nvPr/>
        </p:nvSpPr>
        <p:spPr>
          <a:xfrm>
            <a:off x="8694420" y="1386840"/>
            <a:ext cx="3893820" cy="17068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N03  内部工作逻辑"/>
          <p:cNvSpPr txBox="1"/>
          <p:nvPr/>
        </p:nvSpPr>
        <p:spPr>
          <a:xfrm>
            <a:off x="8790432" y="141479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65" name="text-065: 现有 AXI → Regbus 通路"/>
          <p:cNvSpPr txBox="1"/>
          <p:nvPr/>
        </p:nvSpPr>
        <p:spPr>
          <a:xfrm>
            <a:off x="9677876" y="1584198"/>
            <a:ext cx="192690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 AXI → Regbus 通路</a:t>
            </a:r>
          </a:p>
        </p:txBody>
      </p:sp>
      <p:sp>
        <p:nvSpPr>
          <p:cNvPr id="66" name="text-066: i_reg_atomics"/>
          <p:cNvSpPr txBox="1"/>
          <p:nvPr/>
        </p:nvSpPr>
        <p:spPr>
          <a:xfrm>
            <a:off x="10061658" y="1766407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i_reg_atomics</a:t>
            </a:r>
          </a:p>
        </p:txBody>
      </p:sp>
      <p:sp>
        <p:nvSpPr>
          <p:cNvPr id="67" name="text-067: → i_reg_atomics_cut"/>
          <p:cNvSpPr txBox="1"/>
          <p:nvPr/>
        </p:nvSpPr>
        <p:spPr>
          <a:xfrm>
            <a:off x="9800958" y="1937095"/>
            <a:ext cx="16807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i_reg_atomics_cut</a:t>
            </a:r>
          </a:p>
        </p:txBody>
      </p:sp>
      <p:sp>
        <p:nvSpPr>
          <p:cNvPr id="68" name="text-068: → i_axi_to_reg_v2"/>
          <p:cNvSpPr txBox="1"/>
          <p:nvPr/>
        </p:nvSpPr>
        <p:spPr>
          <a:xfrm>
            <a:off x="9880702" y="2107783"/>
            <a:ext cx="1521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i_axi_to_reg_v2</a:t>
            </a:r>
          </a:p>
        </p:txBody>
      </p:sp>
      <p:sp>
        <p:nvSpPr>
          <p:cNvPr id="69" name="text-069: 64-bit AXI → 32-bit Reg"/>
          <p:cNvSpPr txBox="1"/>
          <p:nvPr/>
        </p:nvSpPr>
        <p:spPr>
          <a:xfrm>
            <a:off x="9641472" y="2278471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64-bit AXI → 32-bit Reg</a:t>
            </a:r>
          </a:p>
        </p:txBody>
      </p:sp>
      <p:sp>
        <p:nvSpPr>
          <p:cNvPr id="70" name="rect-070"/>
          <p:cNvSpPr/>
          <p:nvPr/>
        </p:nvSpPr>
        <p:spPr>
          <a:xfrm>
            <a:off x="8774430" y="257632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E02-target"/>
          <p:cNvSpPr/>
          <p:nvPr/>
        </p:nvSpPr>
        <p:spPr>
          <a:xfrm>
            <a:off x="8614410" y="27096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2 ↔ N02"/>
          <p:cNvSpPr txBox="1"/>
          <p:nvPr/>
        </p:nvSpPr>
        <p:spPr>
          <a:xfrm>
            <a:off x="8955786" y="26198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73" name="E03-source"/>
          <p:cNvSpPr/>
          <p:nvPr/>
        </p:nvSpPr>
        <p:spPr>
          <a:xfrm>
            <a:off x="12396216" y="27096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3 ↔ N04"/>
          <p:cNvSpPr txBox="1"/>
          <p:nvPr/>
        </p:nvSpPr>
        <p:spPr>
          <a:xfrm>
            <a:off x="11438230" y="26198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N04</a:t>
            </a:r>
          </a:p>
        </p:txBody>
      </p:sp>
      <p:sp>
        <p:nvSpPr>
          <p:cNvPr id="75" name="E04-source"/>
          <p:cNvSpPr/>
          <p:nvPr/>
        </p:nvSpPr>
        <p:spPr>
          <a:xfrm>
            <a:off x="12396216" y="28963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4 → N05"/>
          <p:cNvSpPr txBox="1"/>
          <p:nvPr/>
        </p:nvSpPr>
        <p:spPr>
          <a:xfrm>
            <a:off x="11438230" y="28065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77" name="rect-077"/>
          <p:cNvSpPr/>
          <p:nvPr/>
        </p:nvSpPr>
        <p:spPr>
          <a:xfrm>
            <a:off x="8694420" y="3307080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N06  内部工作逻辑"/>
          <p:cNvSpPr txBox="1"/>
          <p:nvPr/>
        </p:nvSpPr>
        <p:spPr>
          <a:xfrm>
            <a:off x="8790432" y="333503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9" name="text-079: 片内寄存器目标"/>
          <p:cNvSpPr txBox="1"/>
          <p:nvPr/>
        </p:nvSpPr>
        <p:spPr>
          <a:xfrm>
            <a:off x="10107930" y="3504438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片内寄存器目标</a:t>
            </a:r>
          </a:p>
        </p:txBody>
      </p:sp>
      <p:sp>
        <p:nvSpPr>
          <p:cNvPr id="80" name="text-080: SoC / UART / GPIO / …"/>
          <p:cNvSpPr txBox="1"/>
          <p:nvPr/>
        </p:nvSpPr>
        <p:spPr>
          <a:xfrm>
            <a:off x="9721215" y="3686647"/>
            <a:ext cx="18402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/ UART / GPIO / …</a:t>
            </a:r>
          </a:p>
        </p:txBody>
      </p:sp>
      <p:sp>
        <p:nvSpPr>
          <p:cNvPr id="81" name="rect-081"/>
          <p:cNvSpPr/>
          <p:nvPr/>
        </p:nvSpPr>
        <p:spPr>
          <a:xfrm>
            <a:off x="8774430" y="398449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E06-target"/>
          <p:cNvSpPr/>
          <p:nvPr/>
        </p:nvSpPr>
        <p:spPr>
          <a:xfrm>
            <a:off x="8614410" y="41178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6 ↔ N04"/>
          <p:cNvSpPr txBox="1"/>
          <p:nvPr/>
        </p:nvSpPr>
        <p:spPr>
          <a:xfrm>
            <a:off x="8955786" y="40280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N04</a:t>
            </a:r>
          </a:p>
        </p:txBody>
      </p:sp>
      <p:sp>
        <p:nvSpPr>
          <p:cNvPr id="84" name="rect-084"/>
          <p:cNvSpPr/>
          <p:nvPr/>
        </p:nvSpPr>
        <p:spPr>
          <a:xfrm>
            <a:off x="8694420" y="4528566"/>
            <a:ext cx="3893820" cy="1178814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N09  接口与配置 · 规划/待确认"/>
          <p:cNvSpPr txBox="1"/>
          <p:nvPr/>
        </p:nvSpPr>
        <p:spPr>
          <a:xfrm>
            <a:off x="8790432" y="4556516"/>
            <a:ext cx="1977314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N09  接口与配置 · 规划/待确认</a:t>
            </a:r>
          </a:p>
        </p:txBody>
      </p:sp>
      <p:sp>
        <p:nvSpPr>
          <p:cNvPr id="86" name="text-086: 自有 IP 寄存器接口"/>
          <p:cNvSpPr txBox="1"/>
          <p:nvPr/>
        </p:nvSpPr>
        <p:spPr>
          <a:xfrm>
            <a:off x="9934575" y="4725924"/>
            <a:ext cx="14135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自有 IP 寄存器接口</a:t>
            </a:r>
          </a:p>
        </p:txBody>
      </p:sp>
      <p:sp>
        <p:nvSpPr>
          <p:cNvPr id="87" name="text-087: NPU / ISP / DMA / …"/>
          <p:cNvSpPr txBox="1"/>
          <p:nvPr/>
        </p:nvSpPr>
        <p:spPr>
          <a:xfrm>
            <a:off x="9800958" y="4908133"/>
            <a:ext cx="16807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ISP / DMA / …</a:t>
            </a:r>
          </a:p>
        </p:txBody>
      </p:sp>
      <p:sp>
        <p:nvSpPr>
          <p:cNvPr id="88" name="text-088: 内部职责见图②"/>
          <p:cNvSpPr txBox="1"/>
          <p:nvPr/>
        </p:nvSpPr>
        <p:spPr>
          <a:xfrm>
            <a:off x="10150602" y="5078821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内部职责见图②</a:t>
            </a:r>
          </a:p>
        </p:txBody>
      </p:sp>
      <p:sp>
        <p:nvSpPr>
          <p:cNvPr id="89" name="rect-089"/>
          <p:cNvSpPr/>
          <p:nvPr/>
        </p:nvSpPr>
        <p:spPr>
          <a:xfrm>
            <a:off x="8774430" y="537667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E09-target"/>
          <p:cNvSpPr/>
          <p:nvPr/>
        </p:nvSpPr>
        <p:spPr>
          <a:xfrm>
            <a:off x="8614410" y="55100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E09 ↔ N08"/>
          <p:cNvSpPr txBox="1"/>
          <p:nvPr/>
        </p:nvSpPr>
        <p:spPr>
          <a:xfrm>
            <a:off x="8955786" y="54201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N08</a:t>
            </a:r>
          </a:p>
        </p:txBody>
      </p:sp>
      <p:sp>
        <p:nvSpPr>
          <p:cNvPr id="92" name="text-092: 现有配置通路使用 clk_i / rst_ni；64/32/48 为当前默认参数"/>
          <p:cNvSpPr txBox="1"/>
          <p:nvPr/>
        </p:nvSpPr>
        <p:spPr>
          <a:xfrm>
            <a:off x="213360" y="5857585"/>
            <a:ext cx="4122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现有配置通路使用 clk_i / rst_ni；64/32/48 为当前默认参数。</a:t>
            </a:r>
          </a:p>
        </p:txBody>
      </p:sp>
      <p:sp>
        <p:nvSpPr>
          <p:cNvPr id="93" name="text-093: RegExtNumSlv / RegExtNumRules；RegExtRegi"/>
          <p:cNvSpPr txBox="1"/>
          <p:nvPr/>
        </p:nvSpPr>
        <p:spPr>
          <a:xfrm>
            <a:off x="213360" y="6022939"/>
            <a:ext cx="55636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RegExtNumSlv / RegExtNumRules；RegExtRegionStart / End / Idx 定义扩展。</a:t>
            </a:r>
          </a:p>
        </p:txBody>
      </p:sp>
      <p:sp>
        <p:nvSpPr>
          <p:cNvPr id="94" name="text-094: gen_axi_out + gen_reg_out 生成两级规则；默认外部端口数"/>
          <p:cNvSpPr txBox="1"/>
          <p:nvPr/>
        </p:nvSpPr>
        <p:spPr>
          <a:xfrm>
            <a:off x="213360" y="6188293"/>
            <a:ext cx="542254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gen_axi_out + gen_reg_out 生成两级规则；默认外部端口数为 0，开启后需顶层接线。</a:t>
            </a:r>
          </a:p>
        </p:txBody>
      </p:sp>
      <p:sp>
        <p:nvSpPr>
          <p:cNvPr id="95" name="text-095: 请求：addr[47:0] / write / wdata[31:0] / ws"/>
          <p:cNvSpPr txBox="1"/>
          <p:nvPr/>
        </p:nvSpPr>
        <p:spPr>
          <a:xfrm>
            <a:off x="213360" y="6353647"/>
            <a:ext cx="7483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请求：addr[47:0] / write / wdata[31:0] / wstrb[3:0] / valid；响应：rdata[31:0] / error / ready。</a:t>
            </a:r>
          </a:p>
        </p:txBody>
      </p:sp>
      <p:sp>
        <p:nvSpPr>
          <p:cNvPr id="96" name="text-096: 同域可直连；异域需 reg_cdc。图像/权重等批量搬运使用独立数据接口。"/>
          <p:cNvSpPr txBox="1"/>
          <p:nvPr/>
        </p:nvSpPr>
        <p:spPr>
          <a:xfrm>
            <a:off x="213360" y="6519001"/>
            <a:ext cx="42754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同域可直连；异域需 reg_cdc。图像/权重等批量搬运使用独立数据接口。</a:t>
            </a:r>
          </a:p>
        </p:txBody>
      </p:sp>
      <p:sp>
        <p:nvSpPr>
          <p:cNvPr id="97" name="text-097: 配对端口表示图示连接；已有/规划状态见模块和连接表。方向与 A 版一致。虚线模块"/>
          <p:cNvSpPr txBox="1"/>
          <p:nvPr/>
        </p:nvSpPr>
        <p:spPr>
          <a:xfrm>
            <a:off x="213360" y="7067977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② 自有 IP：需要实现的寄存器接口（建议结构，尚未接入）"/>
          <p:cNvSpPr txBox="1"/>
          <p:nvPr/>
        </p:nvSpPr>
        <p:spPr>
          <a:xfrm>
            <a:off x="213360" y="845119"/>
            <a:ext cx="48816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② 自有 IP：需要实现的寄存器接口（建议结构，尚未接入）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120140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557528"/>
            <a:ext cx="3893820" cy="189357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 · 规划/待确认"/>
          <p:cNvSpPr txBox="1"/>
          <p:nvPr/>
        </p:nvSpPr>
        <p:spPr>
          <a:xfrm>
            <a:off x="309372" y="1585478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 · 规划/待确认</a:t>
            </a:r>
          </a:p>
        </p:txBody>
      </p:sp>
      <p:sp>
        <p:nvSpPr>
          <p:cNvPr id="6" name="text-006: 地址译码与访问控制"/>
          <p:cNvSpPr txBox="1"/>
          <p:nvPr/>
        </p:nvSpPr>
        <p:spPr>
          <a:xfrm>
            <a:off x="1493520" y="1754886"/>
            <a:ext cx="13335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地址译码与访问控制</a:t>
            </a:r>
          </a:p>
        </p:txBody>
      </p:sp>
      <p:sp>
        <p:nvSpPr>
          <p:cNvPr id="7" name="text-007: offset = addr - BASE"/>
          <p:cNvSpPr txBox="1"/>
          <p:nvPr/>
        </p:nvSpPr>
        <p:spPr>
          <a:xfrm>
            <a:off x="1301496" y="1937095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offset = addr - BASE</a:t>
            </a:r>
          </a:p>
        </p:txBody>
      </p:sp>
      <p:sp>
        <p:nvSpPr>
          <p:cNvPr id="8" name="text-008: fire = valid &amp; ready"/>
          <p:cNvSpPr txBox="1"/>
          <p:nvPr/>
        </p:nvSpPr>
        <p:spPr>
          <a:xfrm>
            <a:off x="1301496" y="2107783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fire = valid &amp; ready</a:t>
            </a:r>
          </a:p>
        </p:txBody>
      </p:sp>
      <p:sp>
        <p:nvSpPr>
          <p:cNvPr id="9" name="text-009: wr_en = fire &amp; write"/>
          <p:cNvSpPr txBox="1"/>
          <p:nvPr/>
        </p:nvSpPr>
        <p:spPr>
          <a:xfrm>
            <a:off x="1301496" y="2278471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wr_en = fire &amp; write</a:t>
            </a:r>
          </a:p>
        </p:txBody>
      </p:sp>
      <p:sp>
        <p:nvSpPr>
          <p:cNvPr id="10" name="text-010: 按译码 / wstrb 写入"/>
          <p:cNvSpPr txBox="1"/>
          <p:nvPr/>
        </p:nvSpPr>
        <p:spPr>
          <a:xfrm>
            <a:off x="1433379" y="2449159"/>
            <a:ext cx="145378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按译码 / wstrb 写入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2747010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target"/>
          <p:cNvSpPr/>
          <p:nvPr/>
        </p:nvSpPr>
        <p:spPr>
          <a:xfrm>
            <a:off x="133350" y="28803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← P01"/>
          <p:cNvSpPr txBox="1"/>
          <p:nvPr/>
        </p:nvSpPr>
        <p:spPr>
          <a:xfrm>
            <a:off x="474726" y="27905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P01</a:t>
            </a:r>
          </a:p>
        </p:txBody>
      </p:sp>
      <p:sp>
        <p:nvSpPr>
          <p:cNvPr id="14" name="E02-source"/>
          <p:cNvSpPr/>
          <p:nvPr/>
        </p:nvSpPr>
        <p:spPr>
          <a:xfrm>
            <a:off x="3915156" y="28803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E02 → N02"/>
          <p:cNvSpPr txBox="1"/>
          <p:nvPr/>
        </p:nvSpPr>
        <p:spPr>
          <a:xfrm>
            <a:off x="2957170" y="27905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N02</a:t>
            </a:r>
          </a:p>
        </p:txBody>
      </p:sp>
      <p:sp>
        <p:nvSpPr>
          <p:cNvPr id="16" name="E05-source"/>
          <p:cNvSpPr/>
          <p:nvPr/>
        </p:nvSpPr>
        <p:spPr>
          <a:xfrm>
            <a:off x="3915156" y="30670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E05 → N04"/>
          <p:cNvSpPr txBox="1"/>
          <p:nvPr/>
        </p:nvSpPr>
        <p:spPr>
          <a:xfrm>
            <a:off x="2957170" y="297722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N04</a:t>
            </a:r>
          </a:p>
        </p:txBody>
      </p:sp>
      <p:sp>
        <p:nvSpPr>
          <p:cNvPr id="18" name="E08-source"/>
          <p:cNvSpPr/>
          <p:nvPr/>
        </p:nvSpPr>
        <p:spPr>
          <a:xfrm>
            <a:off x="3915156" y="325374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8 → N03"/>
          <p:cNvSpPr txBox="1"/>
          <p:nvPr/>
        </p:nvSpPr>
        <p:spPr>
          <a:xfrm>
            <a:off x="2957170" y="316391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N03</a:t>
            </a:r>
          </a:p>
        </p:txBody>
      </p:sp>
      <p:sp>
        <p:nvSpPr>
          <p:cNvPr id="20" name="rect-020"/>
          <p:cNvSpPr/>
          <p:nvPr/>
        </p:nvSpPr>
        <p:spPr>
          <a:xfrm>
            <a:off x="213360" y="3664458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P01  外部/组边界"/>
          <p:cNvSpPr txBox="1"/>
          <p:nvPr/>
        </p:nvSpPr>
        <p:spPr>
          <a:xfrm>
            <a:off x="309372" y="369240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22" name="text-022: Regbus 请求"/>
          <p:cNvSpPr txBox="1"/>
          <p:nvPr/>
        </p:nvSpPr>
        <p:spPr>
          <a:xfrm>
            <a:off x="1656874" y="3861816"/>
            <a:ext cx="10067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</a:t>
            </a:r>
          </a:p>
        </p:txBody>
      </p:sp>
      <p:sp>
        <p:nvSpPr>
          <p:cNvPr id="23" name="rect-023"/>
          <p:cNvSpPr/>
          <p:nvPr/>
        </p:nvSpPr>
        <p:spPr>
          <a:xfrm>
            <a:off x="293370" y="417118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01-source"/>
          <p:cNvSpPr/>
          <p:nvPr/>
        </p:nvSpPr>
        <p:spPr>
          <a:xfrm>
            <a:off x="3915156" y="43045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E01 → N01"/>
          <p:cNvSpPr txBox="1"/>
          <p:nvPr/>
        </p:nvSpPr>
        <p:spPr>
          <a:xfrm>
            <a:off x="2957170" y="421471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N01</a:t>
            </a:r>
          </a:p>
        </p:txBody>
      </p:sp>
      <p:sp>
        <p:nvSpPr>
          <p:cNvPr id="26" name="rect-026"/>
          <p:cNvSpPr/>
          <p:nvPr/>
        </p:nvSpPr>
        <p:spPr>
          <a:xfrm>
            <a:off x="213360" y="4715256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P02  外部/组边界"/>
          <p:cNvSpPr txBox="1"/>
          <p:nvPr/>
        </p:nvSpPr>
        <p:spPr>
          <a:xfrm>
            <a:off x="309372" y="474320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28" name="text-028: Regbus 响应"/>
          <p:cNvSpPr txBox="1"/>
          <p:nvPr/>
        </p:nvSpPr>
        <p:spPr>
          <a:xfrm>
            <a:off x="1656874" y="4912614"/>
            <a:ext cx="10067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响应</a:t>
            </a:r>
          </a:p>
        </p:txBody>
      </p:sp>
      <p:sp>
        <p:nvSpPr>
          <p:cNvPr id="29" name="rect-029"/>
          <p:cNvSpPr/>
          <p:nvPr/>
        </p:nvSpPr>
        <p:spPr>
          <a:xfrm>
            <a:off x="293370" y="522198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09-target"/>
          <p:cNvSpPr/>
          <p:nvPr/>
        </p:nvSpPr>
        <p:spPr>
          <a:xfrm>
            <a:off x="133350" y="53553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E09 ← N04"/>
          <p:cNvSpPr txBox="1"/>
          <p:nvPr/>
        </p:nvSpPr>
        <p:spPr>
          <a:xfrm>
            <a:off x="474726" y="52655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← N04</a:t>
            </a:r>
          </a:p>
        </p:txBody>
      </p:sp>
      <p:sp>
        <p:nvSpPr>
          <p:cNvPr id="32" name="rect-032"/>
          <p:cNvSpPr/>
          <p:nvPr/>
        </p:nvSpPr>
        <p:spPr>
          <a:xfrm>
            <a:off x="4453890" y="1557528"/>
            <a:ext cx="3893820" cy="1365504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N02  接口与配置 · 规划/待确认"/>
          <p:cNvSpPr txBox="1"/>
          <p:nvPr/>
        </p:nvSpPr>
        <p:spPr>
          <a:xfrm>
            <a:off x="4549902" y="1585478"/>
            <a:ext cx="1977314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接口与配置 · 规划/待确认</a:t>
            </a:r>
          </a:p>
        </p:txBody>
      </p:sp>
      <p:sp>
        <p:nvSpPr>
          <p:cNvPr id="34" name="text-034: 配置 / 命令寄存器"/>
          <p:cNvSpPr txBox="1"/>
          <p:nvPr/>
        </p:nvSpPr>
        <p:spPr>
          <a:xfrm>
            <a:off x="5737384" y="1754886"/>
            <a:ext cx="13268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命令寄存器</a:t>
            </a:r>
          </a:p>
        </p:txBody>
      </p:sp>
      <p:sp>
        <p:nvSpPr>
          <p:cNvPr id="35" name="text-035: 参数、地址低位 / 高位"/>
          <p:cNvSpPr txBox="1"/>
          <p:nvPr/>
        </p:nvSpPr>
        <p:spPr>
          <a:xfrm>
            <a:off x="5667775" y="1937095"/>
            <a:ext cx="146605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参数、地址低位 / 高位</a:t>
            </a:r>
          </a:p>
        </p:txBody>
      </p:sp>
      <p:sp>
        <p:nvSpPr>
          <p:cNvPr id="36" name="text-036: 写 START 时提交命令"/>
          <p:cNvSpPr txBox="1"/>
          <p:nvPr/>
        </p:nvSpPr>
        <p:spPr>
          <a:xfrm>
            <a:off x="5692311" y="2107783"/>
            <a:ext cx="141697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 START 时提交命令</a:t>
            </a:r>
          </a:p>
        </p:txBody>
      </p:sp>
      <p:sp>
        <p:nvSpPr>
          <p:cNvPr id="37" name="rect-037"/>
          <p:cNvSpPr/>
          <p:nvPr/>
        </p:nvSpPr>
        <p:spPr>
          <a:xfrm>
            <a:off x="4533900" y="240563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2-target"/>
          <p:cNvSpPr/>
          <p:nvPr/>
        </p:nvSpPr>
        <p:spPr>
          <a:xfrm>
            <a:off x="4373880" y="25389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← N01"/>
          <p:cNvSpPr txBox="1"/>
          <p:nvPr/>
        </p:nvSpPr>
        <p:spPr>
          <a:xfrm>
            <a:off x="4715256" y="24491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N01</a:t>
            </a:r>
          </a:p>
        </p:txBody>
      </p:sp>
      <p:sp>
        <p:nvSpPr>
          <p:cNvPr id="40" name="E03-source"/>
          <p:cNvSpPr/>
          <p:nvPr/>
        </p:nvSpPr>
        <p:spPr>
          <a:xfrm>
            <a:off x="8155686" y="25389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3 → N05"/>
          <p:cNvSpPr txBox="1"/>
          <p:nvPr/>
        </p:nvSpPr>
        <p:spPr>
          <a:xfrm>
            <a:off x="7197700" y="24491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N05</a:t>
            </a:r>
          </a:p>
        </p:txBody>
      </p:sp>
      <p:sp>
        <p:nvSpPr>
          <p:cNvPr id="42" name="E06-source"/>
          <p:cNvSpPr/>
          <p:nvPr/>
        </p:nvSpPr>
        <p:spPr>
          <a:xfrm>
            <a:off x="8155686" y="272567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6 → N04"/>
          <p:cNvSpPr txBox="1"/>
          <p:nvPr/>
        </p:nvSpPr>
        <p:spPr>
          <a:xfrm>
            <a:off x="7197700" y="263584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N04</a:t>
            </a:r>
          </a:p>
        </p:txBody>
      </p:sp>
      <p:sp>
        <p:nvSpPr>
          <p:cNvPr id="44" name="rect-044"/>
          <p:cNvSpPr/>
          <p:nvPr/>
        </p:nvSpPr>
        <p:spPr>
          <a:xfrm>
            <a:off x="4453890" y="3136392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N04  内部工作逻辑 · 规划/待确认"/>
          <p:cNvSpPr txBox="1"/>
          <p:nvPr/>
        </p:nvSpPr>
        <p:spPr>
          <a:xfrm>
            <a:off x="4549902" y="3164342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 · 规划/待确认</a:t>
            </a:r>
          </a:p>
        </p:txBody>
      </p:sp>
      <p:sp>
        <p:nvSpPr>
          <p:cNvPr id="46" name="text-046: 读数据选择与访问响应"/>
          <p:cNvSpPr txBox="1"/>
          <p:nvPr/>
        </p:nvSpPr>
        <p:spPr>
          <a:xfrm>
            <a:off x="5667375" y="3333750"/>
            <a:ext cx="14668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读数据选择与访问响应</a:t>
            </a:r>
          </a:p>
        </p:txBody>
      </p:sp>
      <p:sp>
        <p:nvSpPr>
          <p:cNvPr id="47" name="text-047: rdata = 选中寄存器值"/>
          <p:cNvSpPr txBox="1"/>
          <p:nvPr/>
        </p:nvSpPr>
        <p:spPr>
          <a:xfrm>
            <a:off x="5652440" y="3515959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选中寄存器值</a:t>
            </a:r>
          </a:p>
        </p:txBody>
      </p:sp>
      <p:sp>
        <p:nvSpPr>
          <p:cNvPr id="48" name="text-048: ready = 本次访问可完成"/>
          <p:cNvSpPr txBox="1"/>
          <p:nvPr/>
        </p:nvSpPr>
        <p:spPr>
          <a:xfrm>
            <a:off x="5591099" y="3686647"/>
            <a:ext cx="16194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本次访问可完成</a:t>
            </a:r>
          </a:p>
        </p:txBody>
      </p:sp>
      <p:sp>
        <p:nvSpPr>
          <p:cNvPr id="49" name="text-049: error = 地址 / 权限等错误"/>
          <p:cNvSpPr txBox="1"/>
          <p:nvPr/>
        </p:nvSpPr>
        <p:spPr>
          <a:xfrm>
            <a:off x="5471484" y="3857335"/>
            <a:ext cx="18586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error = 地址 / 权限等错误</a:t>
            </a:r>
          </a:p>
        </p:txBody>
      </p:sp>
      <p:sp>
        <p:nvSpPr>
          <p:cNvPr id="50" name="rect-050"/>
          <p:cNvSpPr/>
          <p:nvPr/>
        </p:nvSpPr>
        <p:spPr>
          <a:xfrm>
            <a:off x="4533900" y="4155186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05-target"/>
          <p:cNvSpPr/>
          <p:nvPr/>
        </p:nvSpPr>
        <p:spPr>
          <a:xfrm>
            <a:off x="4373880" y="42885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5 ← N01"/>
          <p:cNvSpPr txBox="1"/>
          <p:nvPr/>
        </p:nvSpPr>
        <p:spPr>
          <a:xfrm>
            <a:off x="4715256" y="41987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N01</a:t>
            </a:r>
          </a:p>
        </p:txBody>
      </p:sp>
      <p:sp>
        <p:nvSpPr>
          <p:cNvPr id="53" name="E06-target"/>
          <p:cNvSpPr/>
          <p:nvPr/>
        </p:nvSpPr>
        <p:spPr>
          <a:xfrm>
            <a:off x="4373880" y="44752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6 ← N02"/>
          <p:cNvSpPr txBox="1"/>
          <p:nvPr/>
        </p:nvSpPr>
        <p:spPr>
          <a:xfrm>
            <a:off x="4715256" y="43854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N02</a:t>
            </a:r>
          </a:p>
        </p:txBody>
      </p:sp>
      <p:sp>
        <p:nvSpPr>
          <p:cNvPr id="55" name="E07-target"/>
          <p:cNvSpPr/>
          <p:nvPr/>
        </p:nvSpPr>
        <p:spPr>
          <a:xfrm>
            <a:off x="4373880" y="466191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7 ← N03"/>
          <p:cNvSpPr txBox="1"/>
          <p:nvPr/>
        </p:nvSpPr>
        <p:spPr>
          <a:xfrm>
            <a:off x="4715256" y="457209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N03</a:t>
            </a:r>
          </a:p>
        </p:txBody>
      </p:sp>
      <p:sp>
        <p:nvSpPr>
          <p:cNvPr id="57" name="E09-source"/>
          <p:cNvSpPr/>
          <p:nvPr/>
        </p:nvSpPr>
        <p:spPr>
          <a:xfrm>
            <a:off x="8155686" y="42885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9 → P02"/>
          <p:cNvSpPr txBox="1"/>
          <p:nvPr/>
        </p:nvSpPr>
        <p:spPr>
          <a:xfrm>
            <a:off x="7197700" y="41987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→ P02</a:t>
            </a:r>
          </a:p>
        </p:txBody>
      </p:sp>
      <p:sp>
        <p:nvSpPr>
          <p:cNvPr id="59" name="rect-059"/>
          <p:cNvSpPr/>
          <p:nvPr/>
        </p:nvSpPr>
        <p:spPr>
          <a:xfrm>
            <a:off x="8694420" y="1557528"/>
            <a:ext cx="3893820" cy="1365504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N03  接口与配置 · 规划/待确认"/>
          <p:cNvSpPr txBox="1"/>
          <p:nvPr/>
        </p:nvSpPr>
        <p:spPr>
          <a:xfrm>
            <a:off x="8790432" y="1585478"/>
            <a:ext cx="1977314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接口与配置 · 规划/待确认</a:t>
            </a:r>
          </a:p>
        </p:txBody>
      </p:sp>
      <p:sp>
        <p:nvSpPr>
          <p:cNvPr id="61" name="text-061: 状态 / 中断状态"/>
          <p:cNvSpPr txBox="1"/>
          <p:nvPr/>
        </p:nvSpPr>
        <p:spPr>
          <a:xfrm>
            <a:off x="10044589" y="1754886"/>
            <a:ext cx="11934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中断状态</a:t>
            </a:r>
          </a:p>
        </p:txBody>
      </p:sp>
      <p:sp>
        <p:nvSpPr>
          <p:cNvPr id="62" name="text-062: busy / done / error"/>
          <p:cNvSpPr txBox="1"/>
          <p:nvPr/>
        </p:nvSpPr>
        <p:spPr>
          <a:xfrm>
            <a:off x="9822428" y="1937095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busy / done / error</a:t>
            </a:r>
          </a:p>
        </p:txBody>
      </p:sp>
      <p:sp>
        <p:nvSpPr>
          <p:cNvPr id="63" name="text-063: 建议写 1 清除事件位"/>
          <p:cNvSpPr txBox="1"/>
          <p:nvPr/>
        </p:nvSpPr>
        <p:spPr>
          <a:xfrm>
            <a:off x="9969646" y="2107783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建议写 1 清除事件位</a:t>
            </a:r>
          </a:p>
        </p:txBody>
      </p:sp>
      <p:sp>
        <p:nvSpPr>
          <p:cNvPr id="64" name="rect-064"/>
          <p:cNvSpPr/>
          <p:nvPr/>
        </p:nvSpPr>
        <p:spPr>
          <a:xfrm>
            <a:off x="8774430" y="240563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04-target"/>
          <p:cNvSpPr/>
          <p:nvPr/>
        </p:nvSpPr>
        <p:spPr>
          <a:xfrm>
            <a:off x="8614410" y="25389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4 ← N05"/>
          <p:cNvSpPr txBox="1"/>
          <p:nvPr/>
        </p:nvSpPr>
        <p:spPr>
          <a:xfrm>
            <a:off x="8955786" y="24491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N05</a:t>
            </a:r>
          </a:p>
        </p:txBody>
      </p:sp>
      <p:sp>
        <p:nvSpPr>
          <p:cNvPr id="67" name="E08-target"/>
          <p:cNvSpPr/>
          <p:nvPr/>
        </p:nvSpPr>
        <p:spPr>
          <a:xfrm>
            <a:off x="8614410" y="272567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8 ← N01"/>
          <p:cNvSpPr txBox="1"/>
          <p:nvPr/>
        </p:nvSpPr>
        <p:spPr>
          <a:xfrm>
            <a:off x="8955786" y="263584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N01</a:t>
            </a:r>
          </a:p>
        </p:txBody>
      </p:sp>
      <p:sp>
        <p:nvSpPr>
          <p:cNvPr id="69" name="E07-source"/>
          <p:cNvSpPr/>
          <p:nvPr/>
        </p:nvSpPr>
        <p:spPr>
          <a:xfrm>
            <a:off x="12396216" y="25389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7 → N04"/>
          <p:cNvSpPr txBox="1"/>
          <p:nvPr/>
        </p:nvSpPr>
        <p:spPr>
          <a:xfrm>
            <a:off x="11438230" y="24491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N04</a:t>
            </a:r>
          </a:p>
        </p:txBody>
      </p:sp>
      <p:sp>
        <p:nvSpPr>
          <p:cNvPr id="71" name="rect-071"/>
          <p:cNvSpPr/>
          <p:nvPr/>
        </p:nvSpPr>
        <p:spPr>
          <a:xfrm>
            <a:off x="8694420" y="3136392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N05  内部工作逻辑 · 规划/待确认"/>
          <p:cNvSpPr txBox="1"/>
          <p:nvPr/>
        </p:nvSpPr>
        <p:spPr>
          <a:xfrm>
            <a:off x="8790432" y="3164342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 · 规划/待确认</a:t>
            </a:r>
          </a:p>
        </p:txBody>
      </p:sp>
      <p:sp>
        <p:nvSpPr>
          <p:cNvPr id="73" name="text-073: IP 工作逻辑"/>
          <p:cNvSpPr txBox="1"/>
          <p:nvPr/>
        </p:nvSpPr>
        <p:spPr>
          <a:xfrm>
            <a:off x="10177939" y="3333750"/>
            <a:ext cx="9267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74" name="text-074: 接受命令"/>
          <p:cNvSpPr txBox="1"/>
          <p:nvPr/>
        </p:nvSpPr>
        <p:spPr>
          <a:xfrm>
            <a:off x="10334625" y="3515959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接受命令</a:t>
            </a:r>
          </a:p>
        </p:txBody>
      </p:sp>
      <p:sp>
        <p:nvSpPr>
          <p:cNvPr id="75" name="text-075: 计算 / 搬运 / 接收"/>
          <p:cNvSpPr txBox="1"/>
          <p:nvPr/>
        </p:nvSpPr>
        <p:spPr>
          <a:xfrm>
            <a:off x="9972713" y="3686647"/>
            <a:ext cx="13372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 / 接收</a:t>
            </a:r>
          </a:p>
        </p:txBody>
      </p:sp>
      <p:sp>
        <p:nvSpPr>
          <p:cNvPr id="76" name="text-076: 维护 busy / done / error"/>
          <p:cNvSpPr txBox="1"/>
          <p:nvPr/>
        </p:nvSpPr>
        <p:spPr>
          <a:xfrm>
            <a:off x="9659874" y="3857335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维护 busy / done / error</a:t>
            </a:r>
          </a:p>
        </p:txBody>
      </p:sp>
      <p:sp>
        <p:nvSpPr>
          <p:cNvPr id="77" name="text-077: 数据口另接 AXI / 流接口"/>
          <p:cNvSpPr txBox="1"/>
          <p:nvPr/>
        </p:nvSpPr>
        <p:spPr>
          <a:xfrm>
            <a:off x="9810159" y="4028023"/>
            <a:ext cx="166234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数据口另接 AXI / 流接口</a:t>
            </a:r>
          </a:p>
        </p:txBody>
      </p:sp>
      <p:sp>
        <p:nvSpPr>
          <p:cNvPr id="78" name="rect-078"/>
          <p:cNvSpPr/>
          <p:nvPr/>
        </p:nvSpPr>
        <p:spPr>
          <a:xfrm>
            <a:off x="8774430" y="432587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03-target"/>
          <p:cNvSpPr/>
          <p:nvPr/>
        </p:nvSpPr>
        <p:spPr>
          <a:xfrm>
            <a:off x="8614410" y="44592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3 ← N02"/>
          <p:cNvSpPr txBox="1"/>
          <p:nvPr/>
        </p:nvSpPr>
        <p:spPr>
          <a:xfrm>
            <a:off x="8955786" y="43693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N02</a:t>
            </a:r>
          </a:p>
        </p:txBody>
      </p:sp>
      <p:sp>
        <p:nvSpPr>
          <p:cNvPr id="81" name="E04-source"/>
          <p:cNvSpPr/>
          <p:nvPr/>
        </p:nvSpPr>
        <p:spPr>
          <a:xfrm>
            <a:off x="12396216" y="44592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04 → N03"/>
          <p:cNvSpPr txBox="1"/>
          <p:nvPr/>
        </p:nvSpPr>
        <p:spPr>
          <a:xfrm>
            <a:off x="11438230" y="43693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N03</a:t>
            </a:r>
          </a:p>
        </p:txBody>
      </p:sp>
      <p:sp>
        <p:nvSpPr>
          <p:cNvPr id="83" name="text-083: 建议结构，尚未接入；示例寄存器和工作逻辑在同一个 clk_i 域。"/>
          <p:cNvSpPr txBox="1"/>
          <p:nvPr/>
        </p:nvSpPr>
        <p:spPr>
          <a:xfrm>
            <a:off x="213360" y="5686897"/>
            <a:ext cx="38706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建议结构，尚未接入；示例寄存器和工作逻辑在同一个 clk_i 域。</a:t>
            </a:r>
          </a:p>
        </p:txBody>
      </p:sp>
      <p:sp>
        <p:nvSpPr>
          <p:cNvPr id="84" name="text-084: 合法 Regbus 写握手与 wstrb 共同定义写使能；是否使用 addr -"/>
          <p:cNvSpPr txBox="1"/>
          <p:nvPr/>
        </p:nvSpPr>
        <p:spPr>
          <a:xfrm>
            <a:off x="213360" y="5852251"/>
            <a:ext cx="561883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合法 Regbus 写握手与 wstrb 共同定义写使能；是否使用 addr - BASE 由 IP 封装约定。</a:t>
            </a:r>
          </a:p>
        </p:txBody>
      </p:sp>
      <p:sp>
        <p:nvSpPr>
          <p:cNvPr id="85" name="text-085: START 提交参数；ready 结束寄存器访问，长任务完成通过 busy / "/>
          <p:cNvSpPr txBox="1"/>
          <p:nvPr/>
        </p:nvSpPr>
        <p:spPr>
          <a:xfrm>
            <a:off x="213360" y="6017605"/>
            <a:ext cx="609729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START 提交参数；ready 结束寄存器访问，长任务完成通过 busy / done / error 或 IRQ 报告。</a:t>
            </a:r>
          </a:p>
        </p:txBody>
      </p:sp>
      <p:sp>
        <p:nvSpPr>
          <p:cNvPr id="86" name="text-086: 完成/错误保持为可读状态；事件位建议 W1C，由合法写访问译码生成清除使能。"/>
          <p:cNvSpPr txBox="1"/>
          <p:nvPr/>
        </p:nvSpPr>
        <p:spPr>
          <a:xfrm>
            <a:off x="213360" y="6182959"/>
            <a:ext cx="4569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完成/错误保持为可读状态；事件位建议 W1C，由合法写访问译码生成清除使能。</a:t>
            </a:r>
          </a:p>
        </p:txBody>
      </p:sp>
      <p:sp>
        <p:nvSpPr>
          <p:cNvPr id="87" name="text-087: IRQ 另接 SoC；异域配置/状态需明确 CDC 与复位方案。可手写或用 re"/>
          <p:cNvSpPr txBox="1"/>
          <p:nvPr/>
        </p:nvSpPr>
        <p:spPr>
          <a:xfrm>
            <a:off x="213360" y="6348313"/>
            <a:ext cx="568017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 另接 SoC；异域配置/状态需明确 CDC 与复位方案。可手写或用 reggen 生成寄存器封装。</a:t>
            </a:r>
          </a:p>
        </p:txBody>
      </p:sp>
      <p:sp>
        <p:nvSpPr>
          <p:cNvPr id="88" name="text-088: 配对端口表示图示连接；已有/规划状态见模块和连接表。方向与 A 版一致。虚线模块"/>
          <p:cNvSpPr txBox="1"/>
          <p:nvPr/>
        </p:nvSpPr>
        <p:spPr>
          <a:xfrm>
            <a:off x="213360" y="6897289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1  UART：寄存器访问与独立收发通路"/>
          <p:cNvSpPr txBox="1"/>
          <p:nvPr/>
        </p:nvSpPr>
        <p:spPr>
          <a:xfrm>
            <a:off x="213360" y="61021"/>
            <a:ext cx="32772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01  UART：寄存器访问与独立收发通路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33604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773430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80138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reg_uart_wrap"/>
          <p:cNvSpPr txBox="1"/>
          <p:nvPr/>
        </p:nvSpPr>
        <p:spPr>
          <a:xfrm>
            <a:off x="1400175" y="970788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reg_uart_wrap</a:t>
            </a:r>
          </a:p>
        </p:txBody>
      </p:sp>
      <p:sp>
        <p:nvSpPr>
          <p:cNvPr id="7" name="text-007: reg_to_apb"/>
          <p:cNvSpPr txBox="1"/>
          <p:nvPr/>
        </p:nvSpPr>
        <p:spPr>
          <a:xfrm>
            <a:off x="1700212" y="1152997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reg_to_apb</a:t>
            </a:r>
          </a:p>
        </p:txBody>
      </p:sp>
      <p:sp>
        <p:nvSpPr>
          <p:cNvPr id="8" name="text-008: Regbus 32 → APB 32"/>
          <p:cNvSpPr txBox="1"/>
          <p:nvPr/>
        </p:nvSpPr>
        <p:spPr>
          <a:xfrm>
            <a:off x="1359770" y="1323685"/>
            <a:ext cx="16010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→ APB 32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162153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1-source"/>
          <p:cNvSpPr/>
          <p:nvPr/>
        </p:nvSpPr>
        <p:spPr>
          <a:xfrm>
            <a:off x="3915156" y="17548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1 ↔ N02"/>
          <p:cNvSpPr txBox="1"/>
          <p:nvPr/>
        </p:nvSpPr>
        <p:spPr>
          <a:xfrm>
            <a:off x="2957170" y="16650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2" name="rect-012"/>
          <p:cNvSpPr/>
          <p:nvPr/>
        </p:nvSpPr>
        <p:spPr>
          <a:xfrm>
            <a:off x="213360" y="2165604"/>
            <a:ext cx="3893820" cy="119481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N04  状态/存储"/>
          <p:cNvSpPr txBox="1"/>
          <p:nvPr/>
        </p:nvSpPr>
        <p:spPr>
          <a:xfrm>
            <a:off x="309372" y="219355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4" name="text-014: 4  TX FIFO"/>
          <p:cNvSpPr txBox="1"/>
          <p:nvPr/>
        </p:nvSpPr>
        <p:spPr>
          <a:xfrm>
            <a:off x="1660208" y="2362962"/>
            <a:ext cx="10001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TX FIFO</a:t>
            </a:r>
          </a:p>
        </p:txBody>
      </p:sp>
      <p:sp>
        <p:nvSpPr>
          <p:cNvPr id="15" name="text-015: slib_fifo：字节队列"/>
          <p:cNvSpPr txBox="1"/>
          <p:nvPr/>
        </p:nvSpPr>
        <p:spPr>
          <a:xfrm>
            <a:off x="1433379" y="2545171"/>
            <a:ext cx="145378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slib_fifo：字节队列</a:t>
            </a:r>
          </a:p>
        </p:txBody>
      </p:sp>
      <p:sp>
        <p:nvSpPr>
          <p:cNvPr id="16" name="rect-016"/>
          <p:cNvSpPr/>
          <p:nvPr/>
        </p:nvSpPr>
        <p:spPr>
          <a:xfrm>
            <a:off x="293370" y="284302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03-target"/>
          <p:cNvSpPr/>
          <p:nvPr/>
        </p:nvSpPr>
        <p:spPr>
          <a:xfrm>
            <a:off x="133350" y="29763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3 ← N02"/>
          <p:cNvSpPr txBox="1"/>
          <p:nvPr/>
        </p:nvSpPr>
        <p:spPr>
          <a:xfrm>
            <a:off x="474726" y="28865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N02</a:t>
            </a:r>
          </a:p>
        </p:txBody>
      </p:sp>
      <p:sp>
        <p:nvSpPr>
          <p:cNvPr id="19" name="E04-source"/>
          <p:cNvSpPr/>
          <p:nvPr/>
        </p:nvSpPr>
        <p:spPr>
          <a:xfrm>
            <a:off x="3915156" y="29763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4 → N05"/>
          <p:cNvSpPr txBox="1"/>
          <p:nvPr/>
        </p:nvSpPr>
        <p:spPr>
          <a:xfrm>
            <a:off x="2957170" y="28865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21" name="E14-source"/>
          <p:cNvSpPr/>
          <p:nvPr/>
        </p:nvSpPr>
        <p:spPr>
          <a:xfrm>
            <a:off x="3915156" y="31630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14 → N08"/>
          <p:cNvSpPr txBox="1"/>
          <p:nvPr/>
        </p:nvSpPr>
        <p:spPr>
          <a:xfrm>
            <a:off x="2957170" y="30732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E14 → N08</a:t>
            </a:r>
          </a:p>
        </p:txBody>
      </p:sp>
      <p:sp>
        <p:nvSpPr>
          <p:cNvPr id="23" name="rect-023"/>
          <p:cNvSpPr/>
          <p:nvPr/>
        </p:nvSpPr>
        <p:spPr>
          <a:xfrm>
            <a:off x="213360" y="3573780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N07  内部工作逻辑"/>
          <p:cNvSpPr txBox="1"/>
          <p:nvPr/>
        </p:nvSpPr>
        <p:spPr>
          <a:xfrm>
            <a:off x="309372" y="360173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25" name="text-025: 6  uart_receiver"/>
          <p:cNvSpPr txBox="1"/>
          <p:nvPr/>
        </p:nvSpPr>
        <p:spPr>
          <a:xfrm>
            <a:off x="1400175" y="3771138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uart_receiver</a:t>
            </a:r>
          </a:p>
        </p:txBody>
      </p:sp>
      <p:sp>
        <p:nvSpPr>
          <p:cNvPr id="26" name="text-026: 采样 / 组字节 / 校验"/>
          <p:cNvSpPr txBox="1"/>
          <p:nvPr/>
        </p:nvSpPr>
        <p:spPr>
          <a:xfrm>
            <a:off x="1430312" y="3953347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 / 组字节 / 校验</a:t>
            </a:r>
          </a:p>
        </p:txBody>
      </p:sp>
      <p:sp>
        <p:nvSpPr>
          <p:cNvPr id="27" name="rect-027"/>
          <p:cNvSpPr/>
          <p:nvPr/>
        </p:nvSpPr>
        <p:spPr>
          <a:xfrm>
            <a:off x="293370" y="425119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6-target"/>
          <p:cNvSpPr/>
          <p:nvPr/>
        </p:nvSpPr>
        <p:spPr>
          <a:xfrm>
            <a:off x="133350" y="43845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E06 ← P02"/>
          <p:cNvSpPr txBox="1"/>
          <p:nvPr/>
        </p:nvSpPr>
        <p:spPr>
          <a:xfrm>
            <a:off x="474726" y="42947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P02</a:t>
            </a:r>
          </a:p>
        </p:txBody>
      </p:sp>
      <p:sp>
        <p:nvSpPr>
          <p:cNvPr id="30" name="E10-target"/>
          <p:cNvSpPr/>
          <p:nvPr/>
        </p:nvSpPr>
        <p:spPr>
          <a:xfrm>
            <a:off x="133350" y="45712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E10 ← N03"/>
          <p:cNvSpPr txBox="1"/>
          <p:nvPr/>
        </p:nvSpPr>
        <p:spPr>
          <a:xfrm>
            <a:off x="474726" y="448141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← N03</a:t>
            </a:r>
          </a:p>
        </p:txBody>
      </p:sp>
      <p:sp>
        <p:nvSpPr>
          <p:cNvPr id="32" name="E07-source"/>
          <p:cNvSpPr/>
          <p:nvPr/>
        </p:nvSpPr>
        <p:spPr>
          <a:xfrm>
            <a:off x="3915156" y="43845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E07 → N06"/>
          <p:cNvSpPr txBox="1"/>
          <p:nvPr/>
        </p:nvSpPr>
        <p:spPr>
          <a:xfrm>
            <a:off x="2957170" y="42947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N06</a:t>
            </a:r>
          </a:p>
        </p:txBody>
      </p:sp>
      <p:sp>
        <p:nvSpPr>
          <p:cNvPr id="34" name="rect-034"/>
          <p:cNvSpPr/>
          <p:nvPr/>
        </p:nvSpPr>
        <p:spPr>
          <a:xfrm>
            <a:off x="213360" y="4981956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P02  外部/组边界"/>
          <p:cNvSpPr txBox="1"/>
          <p:nvPr/>
        </p:nvSpPr>
        <p:spPr>
          <a:xfrm>
            <a:off x="309372" y="500990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36" name="text-036: UART RX 输入"/>
          <p:cNvSpPr txBox="1"/>
          <p:nvPr/>
        </p:nvSpPr>
        <p:spPr>
          <a:xfrm>
            <a:off x="1613535" y="5179314"/>
            <a:ext cx="10934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UART RX 输入</a:t>
            </a:r>
          </a:p>
        </p:txBody>
      </p:sp>
      <p:sp>
        <p:nvSpPr>
          <p:cNvPr id="37" name="rect-037"/>
          <p:cNvSpPr/>
          <p:nvPr/>
        </p:nvSpPr>
        <p:spPr>
          <a:xfrm>
            <a:off x="293370" y="548868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6-source"/>
          <p:cNvSpPr/>
          <p:nvPr/>
        </p:nvSpPr>
        <p:spPr>
          <a:xfrm>
            <a:off x="3915156" y="56220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6 → N07"/>
          <p:cNvSpPr txBox="1"/>
          <p:nvPr/>
        </p:nvSpPr>
        <p:spPr>
          <a:xfrm>
            <a:off x="2957170" y="55322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N07</a:t>
            </a:r>
          </a:p>
        </p:txBody>
      </p:sp>
      <p:sp>
        <p:nvSpPr>
          <p:cNvPr id="40" name="rect-040"/>
          <p:cNvSpPr/>
          <p:nvPr/>
        </p:nvSpPr>
        <p:spPr>
          <a:xfrm>
            <a:off x="4453890" y="773430"/>
            <a:ext cx="3893820" cy="172288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N02  接口与配置"/>
          <p:cNvSpPr txBox="1"/>
          <p:nvPr/>
        </p:nvSpPr>
        <p:spPr>
          <a:xfrm>
            <a:off x="4549902" y="801380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接口与配置</a:t>
            </a:r>
          </a:p>
        </p:txBody>
      </p:sp>
      <p:sp>
        <p:nvSpPr>
          <p:cNvPr id="42" name="text-042: 2  APB 地址译码"/>
          <p:cNvSpPr txBox="1"/>
          <p:nvPr/>
        </p:nvSpPr>
        <p:spPr>
          <a:xfrm>
            <a:off x="5764054" y="970788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APB 地址译码</a:t>
            </a:r>
          </a:p>
        </p:txBody>
      </p:sp>
      <p:sp>
        <p:nvSpPr>
          <p:cNvPr id="43" name="text-043: PADDR = addr[4:2]"/>
          <p:cNvSpPr txBox="1"/>
          <p:nvPr/>
        </p:nvSpPr>
        <p:spPr>
          <a:xfrm>
            <a:off x="5661641" y="1152997"/>
            <a:ext cx="14783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PADDR = addr[4:2]</a:t>
            </a:r>
          </a:p>
        </p:txBody>
      </p:sp>
      <p:sp>
        <p:nvSpPr>
          <p:cNvPr id="44" name="text-044: DLAB / THR / RBR"/>
          <p:cNvSpPr txBox="1"/>
          <p:nvPr/>
        </p:nvSpPr>
        <p:spPr>
          <a:xfrm>
            <a:off x="5701513" y="1323685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DLAB / THR / RBR</a:t>
            </a:r>
          </a:p>
        </p:txBody>
      </p:sp>
      <p:sp>
        <p:nvSpPr>
          <p:cNvPr id="45" name="text-045: IER / IIR / LSR …"/>
          <p:cNvSpPr txBox="1"/>
          <p:nvPr/>
        </p:nvSpPr>
        <p:spPr>
          <a:xfrm>
            <a:off x="5640172" y="1494373"/>
            <a:ext cx="1521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IER / IIR / LSR …</a:t>
            </a:r>
          </a:p>
        </p:txBody>
      </p:sp>
      <p:sp>
        <p:nvSpPr>
          <p:cNvPr id="46" name="rect-046"/>
          <p:cNvSpPr/>
          <p:nvPr/>
        </p:nvSpPr>
        <p:spPr>
          <a:xfrm>
            <a:off x="4533900" y="1792224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1-target"/>
          <p:cNvSpPr/>
          <p:nvPr/>
        </p:nvSpPr>
        <p:spPr>
          <a:xfrm>
            <a:off x="4373880" y="192557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1 ↔ N01"/>
          <p:cNvSpPr txBox="1"/>
          <p:nvPr/>
        </p:nvSpPr>
        <p:spPr>
          <a:xfrm>
            <a:off x="4715256" y="183574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49" name="E08-target"/>
          <p:cNvSpPr/>
          <p:nvPr/>
        </p:nvSpPr>
        <p:spPr>
          <a:xfrm>
            <a:off x="4373880" y="211226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8 ← N06"/>
          <p:cNvSpPr txBox="1"/>
          <p:nvPr/>
        </p:nvSpPr>
        <p:spPr>
          <a:xfrm>
            <a:off x="4715256" y="202243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← N06</a:t>
            </a:r>
          </a:p>
        </p:txBody>
      </p:sp>
      <p:sp>
        <p:nvSpPr>
          <p:cNvPr id="51" name="E02-source"/>
          <p:cNvSpPr/>
          <p:nvPr/>
        </p:nvSpPr>
        <p:spPr>
          <a:xfrm>
            <a:off x="8155686" y="192557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2 → N03"/>
          <p:cNvSpPr txBox="1"/>
          <p:nvPr/>
        </p:nvSpPr>
        <p:spPr>
          <a:xfrm>
            <a:off x="7197700" y="183574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53" name="E03-source"/>
          <p:cNvSpPr/>
          <p:nvPr/>
        </p:nvSpPr>
        <p:spPr>
          <a:xfrm>
            <a:off x="8155686" y="211226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3 → N04"/>
          <p:cNvSpPr txBox="1"/>
          <p:nvPr/>
        </p:nvSpPr>
        <p:spPr>
          <a:xfrm>
            <a:off x="7197700" y="202243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55" name="E12-source"/>
          <p:cNvSpPr/>
          <p:nvPr/>
        </p:nvSpPr>
        <p:spPr>
          <a:xfrm>
            <a:off x="8155686" y="229895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12 ↔ N08"/>
          <p:cNvSpPr txBox="1"/>
          <p:nvPr/>
        </p:nvSpPr>
        <p:spPr>
          <a:xfrm>
            <a:off x="7197700" y="220912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E12 ↔ N08</a:t>
            </a:r>
          </a:p>
        </p:txBody>
      </p:sp>
      <p:sp>
        <p:nvSpPr>
          <p:cNvPr id="57" name="rect-057"/>
          <p:cNvSpPr/>
          <p:nvPr/>
        </p:nvSpPr>
        <p:spPr>
          <a:xfrm>
            <a:off x="4453890" y="2709672"/>
            <a:ext cx="3893820" cy="119481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N06  状态/存储"/>
          <p:cNvSpPr txBox="1"/>
          <p:nvPr/>
        </p:nvSpPr>
        <p:spPr>
          <a:xfrm>
            <a:off x="4549902" y="2737622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59" name="text-059: 7  RX FIFO"/>
          <p:cNvSpPr txBox="1"/>
          <p:nvPr/>
        </p:nvSpPr>
        <p:spPr>
          <a:xfrm>
            <a:off x="5900738" y="2907030"/>
            <a:ext cx="10001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RX FIFO</a:t>
            </a:r>
          </a:p>
        </p:txBody>
      </p:sp>
      <p:sp>
        <p:nvSpPr>
          <p:cNvPr id="60" name="text-060: 字节 + 接收错误位"/>
          <p:cNvSpPr txBox="1"/>
          <p:nvPr/>
        </p:nvSpPr>
        <p:spPr>
          <a:xfrm>
            <a:off x="5790457" y="3089239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 + 接收错误位</a:t>
            </a:r>
          </a:p>
        </p:txBody>
      </p:sp>
      <p:sp>
        <p:nvSpPr>
          <p:cNvPr id="61" name="rect-061"/>
          <p:cNvSpPr/>
          <p:nvPr/>
        </p:nvSpPr>
        <p:spPr>
          <a:xfrm>
            <a:off x="4533900" y="338709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E07-target"/>
          <p:cNvSpPr/>
          <p:nvPr/>
        </p:nvSpPr>
        <p:spPr>
          <a:xfrm>
            <a:off x="4373880" y="352044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7 ← N07"/>
          <p:cNvSpPr txBox="1"/>
          <p:nvPr/>
        </p:nvSpPr>
        <p:spPr>
          <a:xfrm>
            <a:off x="4715256" y="343061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N07</a:t>
            </a:r>
          </a:p>
        </p:txBody>
      </p:sp>
      <p:sp>
        <p:nvSpPr>
          <p:cNvPr id="64" name="E08-source"/>
          <p:cNvSpPr/>
          <p:nvPr/>
        </p:nvSpPr>
        <p:spPr>
          <a:xfrm>
            <a:off x="8155686" y="352044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8 → N02"/>
          <p:cNvSpPr txBox="1"/>
          <p:nvPr/>
        </p:nvSpPr>
        <p:spPr>
          <a:xfrm>
            <a:off x="7197700" y="343061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→ N02</a:t>
            </a:r>
          </a:p>
        </p:txBody>
      </p:sp>
      <p:sp>
        <p:nvSpPr>
          <p:cNvPr id="66" name="E11-source"/>
          <p:cNvSpPr/>
          <p:nvPr/>
        </p:nvSpPr>
        <p:spPr>
          <a:xfrm>
            <a:off x="8155686" y="370713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11 → N08"/>
          <p:cNvSpPr txBox="1"/>
          <p:nvPr/>
        </p:nvSpPr>
        <p:spPr>
          <a:xfrm>
            <a:off x="7197700" y="361730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→ N08</a:t>
            </a:r>
          </a:p>
        </p:txBody>
      </p:sp>
      <p:sp>
        <p:nvSpPr>
          <p:cNvPr id="68" name="rect-068"/>
          <p:cNvSpPr/>
          <p:nvPr/>
        </p:nvSpPr>
        <p:spPr>
          <a:xfrm>
            <a:off x="4453890" y="4117848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P01  外部/组边界"/>
          <p:cNvSpPr txBox="1"/>
          <p:nvPr/>
        </p:nvSpPr>
        <p:spPr>
          <a:xfrm>
            <a:off x="4549902" y="414579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70" name="text-070: UART TX 输出"/>
          <p:cNvSpPr txBox="1"/>
          <p:nvPr/>
        </p:nvSpPr>
        <p:spPr>
          <a:xfrm>
            <a:off x="5854065" y="4315206"/>
            <a:ext cx="10934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UART TX 输出</a:t>
            </a:r>
          </a:p>
        </p:txBody>
      </p:sp>
      <p:sp>
        <p:nvSpPr>
          <p:cNvPr id="71" name="rect-071"/>
          <p:cNvSpPr/>
          <p:nvPr/>
        </p:nvSpPr>
        <p:spPr>
          <a:xfrm>
            <a:off x="4533900" y="462457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E05-target"/>
          <p:cNvSpPr/>
          <p:nvPr/>
        </p:nvSpPr>
        <p:spPr>
          <a:xfrm>
            <a:off x="4373880" y="47579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5 ← N05"/>
          <p:cNvSpPr txBox="1"/>
          <p:nvPr/>
        </p:nvSpPr>
        <p:spPr>
          <a:xfrm>
            <a:off x="4715256" y="46681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N05</a:t>
            </a:r>
          </a:p>
        </p:txBody>
      </p:sp>
      <p:sp>
        <p:nvSpPr>
          <p:cNvPr id="74" name="rect-074"/>
          <p:cNvSpPr/>
          <p:nvPr/>
        </p:nvSpPr>
        <p:spPr>
          <a:xfrm>
            <a:off x="4453890" y="5168646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P03  外部/组边界"/>
          <p:cNvSpPr txBox="1"/>
          <p:nvPr/>
        </p:nvSpPr>
        <p:spPr>
          <a:xfrm>
            <a:off x="4549902" y="519659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76" name="text-076: SoC UART IRQ"/>
          <p:cNvSpPr txBox="1"/>
          <p:nvPr/>
        </p:nvSpPr>
        <p:spPr>
          <a:xfrm>
            <a:off x="5814060" y="5366004"/>
            <a:ext cx="11734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UART IRQ</a:t>
            </a:r>
          </a:p>
        </p:txBody>
      </p:sp>
      <p:sp>
        <p:nvSpPr>
          <p:cNvPr id="77" name="rect-077"/>
          <p:cNvSpPr/>
          <p:nvPr/>
        </p:nvSpPr>
        <p:spPr>
          <a:xfrm>
            <a:off x="4533900" y="567537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13-target"/>
          <p:cNvSpPr/>
          <p:nvPr/>
        </p:nvSpPr>
        <p:spPr>
          <a:xfrm>
            <a:off x="4373880" y="58087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13 ← N08"/>
          <p:cNvSpPr txBox="1"/>
          <p:nvPr/>
        </p:nvSpPr>
        <p:spPr>
          <a:xfrm>
            <a:off x="4715256" y="57189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E13 ← N08</a:t>
            </a:r>
          </a:p>
        </p:txBody>
      </p:sp>
      <p:sp>
        <p:nvSpPr>
          <p:cNvPr id="80" name="rect-080"/>
          <p:cNvSpPr/>
          <p:nvPr/>
        </p:nvSpPr>
        <p:spPr>
          <a:xfrm>
            <a:off x="8694420" y="773430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N03  内部工作逻辑"/>
          <p:cNvSpPr txBox="1"/>
          <p:nvPr/>
        </p:nvSpPr>
        <p:spPr>
          <a:xfrm>
            <a:off x="8790432" y="80138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82" name="text-082: 3  baudgen + 节拍逻辑"/>
          <p:cNvSpPr txBox="1"/>
          <p:nvPr/>
        </p:nvSpPr>
        <p:spPr>
          <a:xfrm>
            <a:off x="9744551" y="970788"/>
            <a:ext cx="17935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baudgen + 节拍逻辑</a:t>
            </a:r>
          </a:p>
        </p:txBody>
      </p:sp>
      <p:sp>
        <p:nvSpPr>
          <p:cNvPr id="83" name="text-083: DLL / DLM → baud ticks"/>
          <p:cNvSpPr txBox="1"/>
          <p:nvPr/>
        </p:nvSpPr>
        <p:spPr>
          <a:xfrm>
            <a:off x="9681343" y="1152997"/>
            <a:ext cx="191997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DLL / DLM → baud ticks</a:t>
            </a:r>
          </a:p>
        </p:txBody>
      </p:sp>
      <p:sp>
        <p:nvSpPr>
          <p:cNvPr id="84" name="rect-084"/>
          <p:cNvSpPr/>
          <p:nvPr/>
        </p:nvSpPr>
        <p:spPr>
          <a:xfrm>
            <a:off x="8774430" y="145084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E02-target"/>
          <p:cNvSpPr/>
          <p:nvPr/>
        </p:nvSpPr>
        <p:spPr>
          <a:xfrm>
            <a:off x="8614410" y="158419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E02 ← N02"/>
          <p:cNvSpPr txBox="1"/>
          <p:nvPr/>
        </p:nvSpPr>
        <p:spPr>
          <a:xfrm>
            <a:off x="8955786" y="149437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87" name="E09-source"/>
          <p:cNvSpPr/>
          <p:nvPr/>
        </p:nvSpPr>
        <p:spPr>
          <a:xfrm>
            <a:off x="12396216" y="158419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09 → N05"/>
          <p:cNvSpPr txBox="1"/>
          <p:nvPr/>
        </p:nvSpPr>
        <p:spPr>
          <a:xfrm>
            <a:off x="11438230" y="149437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N05</a:t>
            </a:r>
          </a:p>
        </p:txBody>
      </p:sp>
      <p:sp>
        <p:nvSpPr>
          <p:cNvPr id="89" name="E10-source"/>
          <p:cNvSpPr/>
          <p:nvPr/>
        </p:nvSpPr>
        <p:spPr>
          <a:xfrm>
            <a:off x="12396216" y="177088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E10 → N07"/>
          <p:cNvSpPr txBox="1"/>
          <p:nvPr/>
        </p:nvSpPr>
        <p:spPr>
          <a:xfrm>
            <a:off x="11438230" y="168106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→ N07</a:t>
            </a:r>
          </a:p>
        </p:txBody>
      </p:sp>
      <p:sp>
        <p:nvSpPr>
          <p:cNvPr id="91" name="rect-091"/>
          <p:cNvSpPr/>
          <p:nvPr/>
        </p:nvSpPr>
        <p:spPr>
          <a:xfrm>
            <a:off x="8694420" y="2181606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N05  内部工作逻辑"/>
          <p:cNvSpPr txBox="1"/>
          <p:nvPr/>
        </p:nvSpPr>
        <p:spPr>
          <a:xfrm>
            <a:off x="8790432" y="220955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93" name="text-093: 5  TX 保持 / 发送逻辑"/>
          <p:cNvSpPr txBox="1"/>
          <p:nvPr/>
        </p:nvSpPr>
        <p:spPr>
          <a:xfrm>
            <a:off x="9784556" y="2378964"/>
            <a:ext cx="17135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TX 保持 / 发送逻辑</a:t>
            </a:r>
          </a:p>
        </p:txBody>
      </p:sp>
      <p:sp>
        <p:nvSpPr>
          <p:cNvPr id="94" name="text-094: iTSR + uart_transmitter"/>
          <p:cNvSpPr txBox="1"/>
          <p:nvPr/>
        </p:nvSpPr>
        <p:spPr>
          <a:xfrm>
            <a:off x="9662941" y="2561173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iTSR + uart_transmitter</a:t>
            </a:r>
          </a:p>
        </p:txBody>
      </p:sp>
      <p:sp>
        <p:nvSpPr>
          <p:cNvPr id="95" name="text-095: 起始 / 数据 / 校验 / 停止"/>
          <p:cNvSpPr txBox="1"/>
          <p:nvPr/>
        </p:nvSpPr>
        <p:spPr>
          <a:xfrm>
            <a:off x="9730416" y="2731861"/>
            <a:ext cx="18218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起始 / 数据 / 校验 / 停止</a:t>
            </a:r>
          </a:p>
        </p:txBody>
      </p:sp>
      <p:sp>
        <p:nvSpPr>
          <p:cNvPr id="96" name="rect-096"/>
          <p:cNvSpPr/>
          <p:nvPr/>
        </p:nvSpPr>
        <p:spPr>
          <a:xfrm>
            <a:off x="8774430" y="302971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E04-target"/>
          <p:cNvSpPr/>
          <p:nvPr/>
        </p:nvSpPr>
        <p:spPr>
          <a:xfrm>
            <a:off x="8614410" y="31630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8: E04 ← N04"/>
          <p:cNvSpPr txBox="1"/>
          <p:nvPr/>
        </p:nvSpPr>
        <p:spPr>
          <a:xfrm>
            <a:off x="8955786" y="30732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99" name="E09-target"/>
          <p:cNvSpPr/>
          <p:nvPr/>
        </p:nvSpPr>
        <p:spPr>
          <a:xfrm>
            <a:off x="8614410" y="334975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-100: E09 ← N03"/>
          <p:cNvSpPr txBox="1"/>
          <p:nvPr/>
        </p:nvSpPr>
        <p:spPr>
          <a:xfrm>
            <a:off x="8955786" y="325992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N03</a:t>
            </a:r>
          </a:p>
        </p:txBody>
      </p:sp>
      <p:sp>
        <p:nvSpPr>
          <p:cNvPr id="101" name="E05-source"/>
          <p:cNvSpPr/>
          <p:nvPr/>
        </p:nvSpPr>
        <p:spPr>
          <a:xfrm>
            <a:off x="12396216" y="31630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2: E05 → P01"/>
          <p:cNvSpPr txBox="1"/>
          <p:nvPr/>
        </p:nvSpPr>
        <p:spPr>
          <a:xfrm>
            <a:off x="11438230" y="30732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P01</a:t>
            </a:r>
          </a:p>
        </p:txBody>
      </p:sp>
      <p:sp>
        <p:nvSpPr>
          <p:cNvPr id="103" name="rect-103"/>
          <p:cNvSpPr/>
          <p:nvPr/>
        </p:nvSpPr>
        <p:spPr>
          <a:xfrm>
            <a:off x="8694420" y="3760470"/>
            <a:ext cx="3893820" cy="138150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104: N08  状态/存储"/>
          <p:cNvSpPr txBox="1"/>
          <p:nvPr/>
        </p:nvSpPr>
        <p:spPr>
          <a:xfrm>
            <a:off x="8790432" y="378842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N08  状态/存储</a:t>
            </a:r>
          </a:p>
        </p:txBody>
      </p:sp>
      <p:sp>
        <p:nvSpPr>
          <p:cNvPr id="105" name="text-105: 8  uart_interrupt"/>
          <p:cNvSpPr txBox="1"/>
          <p:nvPr/>
        </p:nvSpPr>
        <p:spPr>
          <a:xfrm>
            <a:off x="9837896" y="3957828"/>
            <a:ext cx="16068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uart_interrupt</a:t>
            </a:r>
          </a:p>
        </p:txBody>
      </p:sp>
      <p:sp>
        <p:nvSpPr>
          <p:cNvPr id="106" name="text-106: 状态 / IER → INT"/>
          <p:cNvSpPr txBox="1"/>
          <p:nvPr/>
        </p:nvSpPr>
        <p:spPr>
          <a:xfrm>
            <a:off x="9957378" y="4140037"/>
            <a:ext cx="1367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IER → INT</a:t>
            </a:r>
          </a:p>
        </p:txBody>
      </p:sp>
      <p:sp>
        <p:nvSpPr>
          <p:cNvPr id="107" name="rect-107"/>
          <p:cNvSpPr/>
          <p:nvPr/>
        </p:nvSpPr>
        <p:spPr>
          <a:xfrm>
            <a:off x="8774430" y="4437888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E11-target"/>
          <p:cNvSpPr/>
          <p:nvPr/>
        </p:nvSpPr>
        <p:spPr>
          <a:xfrm>
            <a:off x="8614410" y="45712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-109: E11 ← N06"/>
          <p:cNvSpPr txBox="1"/>
          <p:nvPr/>
        </p:nvSpPr>
        <p:spPr>
          <a:xfrm>
            <a:off x="8955786" y="448141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← N06</a:t>
            </a:r>
          </a:p>
        </p:txBody>
      </p:sp>
      <p:sp>
        <p:nvSpPr>
          <p:cNvPr id="110" name="E12-target"/>
          <p:cNvSpPr/>
          <p:nvPr/>
        </p:nvSpPr>
        <p:spPr>
          <a:xfrm>
            <a:off x="8614410" y="47579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1: E12 ↔ N02"/>
          <p:cNvSpPr txBox="1"/>
          <p:nvPr/>
        </p:nvSpPr>
        <p:spPr>
          <a:xfrm>
            <a:off x="8955786" y="46681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E12 ↔ N02</a:t>
            </a:r>
          </a:p>
        </p:txBody>
      </p:sp>
      <p:sp>
        <p:nvSpPr>
          <p:cNvPr id="112" name="E14-target"/>
          <p:cNvSpPr/>
          <p:nvPr/>
        </p:nvSpPr>
        <p:spPr>
          <a:xfrm>
            <a:off x="8614410" y="49446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13: E14 ← N04"/>
          <p:cNvSpPr txBox="1"/>
          <p:nvPr/>
        </p:nvSpPr>
        <p:spPr>
          <a:xfrm>
            <a:off x="8955786" y="48547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E14 ← N04</a:t>
            </a:r>
          </a:p>
        </p:txBody>
      </p:sp>
      <p:sp>
        <p:nvSpPr>
          <p:cNvPr id="114" name="E13-source"/>
          <p:cNvSpPr/>
          <p:nvPr/>
        </p:nvSpPr>
        <p:spPr>
          <a:xfrm>
            <a:off x="12396216" y="45712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-115: E13 → P03"/>
          <p:cNvSpPr txBox="1"/>
          <p:nvPr/>
        </p:nvSpPr>
        <p:spPr>
          <a:xfrm>
            <a:off x="11438230" y="448141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E13 → P03</a:t>
            </a:r>
          </a:p>
        </p:txBody>
      </p:sp>
      <p:sp>
        <p:nvSpPr>
          <p:cNvPr id="116" name="text-116: apb_uart 内部展开：CLK = clk_i；收发节拍由波特率计数器产生"/>
          <p:cNvSpPr txBox="1"/>
          <p:nvPr/>
        </p:nvSpPr>
        <p:spPr>
          <a:xfrm>
            <a:off x="213360" y="6140287"/>
            <a:ext cx="404850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apb_uart 内部展开：CLK = clk_i；收发节拍由波特率计数器产生</a:t>
            </a:r>
          </a:p>
        </p:txBody>
      </p:sp>
      <p:sp>
        <p:nvSpPr>
          <p:cNvPr id="117" name="text-117: Regbus 请求 / 响应"/>
          <p:cNvSpPr txBox="1"/>
          <p:nvPr/>
        </p:nvSpPr>
        <p:spPr>
          <a:xfrm>
            <a:off x="213360" y="6305641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118" name="text-118: TX → 引脚"/>
          <p:cNvSpPr txBox="1"/>
          <p:nvPr/>
        </p:nvSpPr>
        <p:spPr>
          <a:xfrm>
            <a:off x="213360" y="6470995"/>
            <a:ext cx="80970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TX → 引脚</a:t>
            </a:r>
          </a:p>
        </p:txBody>
      </p:sp>
      <p:sp>
        <p:nvSpPr>
          <p:cNvPr id="119" name="text-119: RX ← 引脚"/>
          <p:cNvSpPr txBox="1"/>
          <p:nvPr/>
        </p:nvSpPr>
        <p:spPr>
          <a:xfrm>
            <a:off x="213360" y="6636349"/>
            <a:ext cx="80970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RX ← 引脚</a:t>
            </a:r>
          </a:p>
        </p:txBody>
      </p:sp>
      <p:sp>
        <p:nvSpPr>
          <p:cNvPr id="120" name="text-120: RBR 读出队头"/>
          <p:cNvSpPr txBox="1"/>
          <p:nvPr/>
        </p:nvSpPr>
        <p:spPr>
          <a:xfrm>
            <a:off x="213360" y="6801703"/>
            <a:ext cx="93238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RBR 读出队头</a:t>
            </a:r>
          </a:p>
        </p:txBody>
      </p:sp>
      <p:sp>
        <p:nvSpPr>
          <p:cNvPr id="121" name="text-121: RX / 线路事件；TX 另有输入"/>
          <p:cNvSpPr txBox="1"/>
          <p:nvPr/>
        </p:nvSpPr>
        <p:spPr>
          <a:xfrm>
            <a:off x="213360" y="6967057"/>
            <a:ext cx="186476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RX / 线路事件；TX 另有输入</a:t>
            </a:r>
          </a:p>
        </p:txBody>
      </p:sp>
      <p:sp>
        <p:nvSpPr>
          <p:cNvPr id="122" name="text-122: IRQ → SoC 中断源"/>
          <p:cNvSpPr txBox="1"/>
          <p:nvPr/>
        </p:nvSpPr>
        <p:spPr>
          <a:xfrm>
            <a:off x="213360" y="7132411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 → SoC 中断源</a:t>
            </a:r>
          </a:p>
        </p:txBody>
      </p:sp>
      <p:sp>
        <p:nvSpPr>
          <p:cNvPr id="123" name="text-123: 配对端口表示图示连接；已有/规划状态见模块和连接表。方向与 A 版一致。虚线模块"/>
          <p:cNvSpPr txBox="1"/>
          <p:nvPr/>
        </p:nvSpPr>
        <p:spPr>
          <a:xfrm>
            <a:off x="213360" y="7681387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2  I²C：命令 FIFO 驱动总线时序，接收 FIFO 返回字节"/>
          <p:cNvSpPr txBox="1"/>
          <p:nvPr/>
        </p:nvSpPr>
        <p:spPr>
          <a:xfrm>
            <a:off x="213360" y="570418"/>
            <a:ext cx="500969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02  I²C：命令 FIFO 驱动总线时序，接收 FIFO 返回字节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845439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282827"/>
            <a:ext cx="3893820" cy="190957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接口与配置"/>
          <p:cNvSpPr txBox="1"/>
          <p:nvPr/>
        </p:nvSpPr>
        <p:spPr>
          <a:xfrm>
            <a:off x="309372" y="1310777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接口与配置</a:t>
            </a:r>
          </a:p>
        </p:txBody>
      </p:sp>
      <p:sp>
        <p:nvSpPr>
          <p:cNvPr id="6" name="text-006: 1  i2c_reg_top"/>
          <p:cNvSpPr txBox="1"/>
          <p:nvPr/>
        </p:nvSpPr>
        <p:spPr>
          <a:xfrm>
            <a:off x="1486852" y="1480185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i2c_reg_top</a:t>
            </a:r>
          </a:p>
        </p:txBody>
      </p:sp>
      <p:sp>
        <p:nvSpPr>
          <p:cNvPr id="7" name="text-007: CONTROL / TIMING"/>
          <p:cNvSpPr txBox="1"/>
          <p:nvPr/>
        </p:nvSpPr>
        <p:spPr>
          <a:xfrm>
            <a:off x="1460983" y="1662394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TIMING</a:t>
            </a:r>
          </a:p>
        </p:txBody>
      </p:sp>
      <p:sp>
        <p:nvSpPr>
          <p:cNvPr id="8" name="text-008: FDATA / RDATA"/>
          <p:cNvSpPr txBox="1"/>
          <p:nvPr/>
        </p:nvSpPr>
        <p:spPr>
          <a:xfrm>
            <a:off x="1580598" y="1833082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FDATA / RDATA</a:t>
            </a:r>
          </a:p>
        </p:txBody>
      </p:sp>
      <p:sp>
        <p:nvSpPr>
          <p:cNvPr id="9" name="text-009: INTR_STATE / ENABLE"/>
          <p:cNvSpPr txBox="1"/>
          <p:nvPr/>
        </p:nvSpPr>
        <p:spPr>
          <a:xfrm>
            <a:off x="1341368" y="2003770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INTR_STATE / ENABLE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301621"/>
            <a:ext cx="3733800" cy="81610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4-target"/>
          <p:cNvSpPr/>
          <p:nvPr/>
        </p:nvSpPr>
        <p:spPr>
          <a:xfrm>
            <a:off x="133350" y="24349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4 ← N03"/>
          <p:cNvSpPr txBox="1"/>
          <p:nvPr/>
        </p:nvSpPr>
        <p:spPr>
          <a:xfrm>
            <a:off x="474726" y="23451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N03</a:t>
            </a:r>
          </a:p>
        </p:txBody>
      </p:sp>
      <p:sp>
        <p:nvSpPr>
          <p:cNvPr id="13" name="E12-target"/>
          <p:cNvSpPr/>
          <p:nvPr/>
        </p:nvSpPr>
        <p:spPr>
          <a:xfrm>
            <a:off x="133350" y="26216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12 ↔ N07"/>
          <p:cNvSpPr txBox="1"/>
          <p:nvPr/>
        </p:nvSpPr>
        <p:spPr>
          <a:xfrm>
            <a:off x="474726" y="25318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E12 ↔ N07</a:t>
            </a:r>
          </a:p>
        </p:txBody>
      </p:sp>
      <p:sp>
        <p:nvSpPr>
          <p:cNvPr id="15" name="E01-source"/>
          <p:cNvSpPr/>
          <p:nvPr/>
        </p:nvSpPr>
        <p:spPr>
          <a:xfrm>
            <a:off x="3915156" y="24349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E01 → N02"/>
          <p:cNvSpPr txBox="1"/>
          <p:nvPr/>
        </p:nvSpPr>
        <p:spPr>
          <a:xfrm>
            <a:off x="2957170" y="23451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7" name="E08-source"/>
          <p:cNvSpPr/>
          <p:nvPr/>
        </p:nvSpPr>
        <p:spPr>
          <a:xfrm>
            <a:off x="3915156" y="262166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8 → N04"/>
          <p:cNvSpPr txBox="1"/>
          <p:nvPr/>
        </p:nvSpPr>
        <p:spPr>
          <a:xfrm>
            <a:off x="2957170" y="253183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N04</a:t>
            </a:r>
          </a:p>
        </p:txBody>
      </p:sp>
      <p:sp>
        <p:nvSpPr>
          <p:cNvPr id="19" name="E10-source"/>
          <p:cNvSpPr/>
          <p:nvPr/>
        </p:nvSpPr>
        <p:spPr>
          <a:xfrm>
            <a:off x="3915156" y="280835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10 ↔ N08"/>
          <p:cNvSpPr txBox="1"/>
          <p:nvPr/>
        </p:nvSpPr>
        <p:spPr>
          <a:xfrm>
            <a:off x="2957170" y="271852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N08</a:t>
            </a:r>
          </a:p>
        </p:txBody>
      </p:sp>
      <p:sp>
        <p:nvSpPr>
          <p:cNvPr id="21" name="E11-source"/>
          <p:cNvSpPr/>
          <p:nvPr/>
        </p:nvSpPr>
        <p:spPr>
          <a:xfrm>
            <a:off x="3915156" y="299504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11 → N06"/>
          <p:cNvSpPr txBox="1"/>
          <p:nvPr/>
        </p:nvSpPr>
        <p:spPr>
          <a:xfrm>
            <a:off x="2957170" y="290521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E11 → N06</a:t>
            </a:r>
          </a:p>
        </p:txBody>
      </p:sp>
      <p:sp>
        <p:nvSpPr>
          <p:cNvPr id="23" name="rect-023"/>
          <p:cNvSpPr/>
          <p:nvPr/>
        </p:nvSpPr>
        <p:spPr>
          <a:xfrm>
            <a:off x="213360" y="3405759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N06  状态/存储"/>
          <p:cNvSpPr txBox="1"/>
          <p:nvPr/>
        </p:nvSpPr>
        <p:spPr>
          <a:xfrm>
            <a:off x="309372" y="3433709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25" name="text-025: 6  Target TX FIFO"/>
          <p:cNvSpPr txBox="1"/>
          <p:nvPr/>
        </p:nvSpPr>
        <p:spPr>
          <a:xfrm>
            <a:off x="1356836" y="3603117"/>
            <a:ext cx="16068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Target TX FIFO</a:t>
            </a:r>
          </a:p>
        </p:txBody>
      </p:sp>
      <p:sp>
        <p:nvSpPr>
          <p:cNvPr id="26" name="text-026: 软件送字节 → 总线"/>
          <p:cNvSpPr txBox="1"/>
          <p:nvPr/>
        </p:nvSpPr>
        <p:spPr>
          <a:xfrm>
            <a:off x="1528458" y="3785326"/>
            <a:ext cx="12636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软件送字节 → 总线</a:t>
            </a:r>
          </a:p>
        </p:txBody>
      </p:sp>
      <p:sp>
        <p:nvSpPr>
          <p:cNvPr id="27" name="rect-027"/>
          <p:cNvSpPr/>
          <p:nvPr/>
        </p:nvSpPr>
        <p:spPr>
          <a:xfrm>
            <a:off x="293370" y="408317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11-target"/>
          <p:cNvSpPr/>
          <p:nvPr/>
        </p:nvSpPr>
        <p:spPr>
          <a:xfrm>
            <a:off x="133350" y="42165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E11 ← N01"/>
          <p:cNvSpPr txBox="1"/>
          <p:nvPr/>
        </p:nvSpPr>
        <p:spPr>
          <a:xfrm>
            <a:off x="474726" y="41267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E11 ← N01</a:t>
            </a:r>
          </a:p>
        </p:txBody>
      </p:sp>
      <p:sp>
        <p:nvSpPr>
          <p:cNvPr id="30" name="E06-source"/>
          <p:cNvSpPr/>
          <p:nvPr/>
        </p:nvSpPr>
        <p:spPr>
          <a:xfrm>
            <a:off x="3915156" y="42165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E06 → N04"/>
          <p:cNvSpPr txBox="1"/>
          <p:nvPr/>
        </p:nvSpPr>
        <p:spPr>
          <a:xfrm>
            <a:off x="2957170" y="41267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N04</a:t>
            </a:r>
          </a:p>
        </p:txBody>
      </p:sp>
      <p:sp>
        <p:nvSpPr>
          <p:cNvPr id="32" name="rect-032"/>
          <p:cNvSpPr/>
          <p:nvPr/>
        </p:nvSpPr>
        <p:spPr>
          <a:xfrm>
            <a:off x="213360" y="4627245"/>
            <a:ext cx="3893820" cy="136550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N08  状态/存储"/>
          <p:cNvSpPr txBox="1"/>
          <p:nvPr/>
        </p:nvSpPr>
        <p:spPr>
          <a:xfrm>
            <a:off x="309372" y="4655195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N08  状态/存储</a:t>
            </a:r>
          </a:p>
        </p:txBody>
      </p:sp>
      <p:sp>
        <p:nvSpPr>
          <p:cNvPr id="34" name="text-034: 8  事件整合 / prim_intr_hw"/>
          <p:cNvSpPr txBox="1"/>
          <p:nvPr/>
        </p:nvSpPr>
        <p:spPr>
          <a:xfrm>
            <a:off x="1046798" y="4824603"/>
            <a:ext cx="22269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事件整合 / prim_intr_hw</a:t>
            </a:r>
          </a:p>
        </p:txBody>
      </p:sp>
      <p:sp>
        <p:nvSpPr>
          <p:cNvPr id="35" name="text-035: FSM / FIFO 状态锁存"/>
          <p:cNvSpPr txBox="1"/>
          <p:nvPr/>
        </p:nvSpPr>
        <p:spPr>
          <a:xfrm>
            <a:off x="1414977" y="5006812"/>
            <a:ext cx="14905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FSM / FIFO 状态锁存</a:t>
            </a:r>
          </a:p>
        </p:txBody>
      </p:sp>
      <p:sp>
        <p:nvSpPr>
          <p:cNvPr id="36" name="text-036: 15 路 IRQ → SoC"/>
          <p:cNvSpPr txBox="1"/>
          <p:nvPr/>
        </p:nvSpPr>
        <p:spPr>
          <a:xfrm>
            <a:off x="1497787" y="5177500"/>
            <a:ext cx="132496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路 IRQ → SoC</a:t>
            </a:r>
          </a:p>
        </p:txBody>
      </p:sp>
      <p:sp>
        <p:nvSpPr>
          <p:cNvPr id="37" name="rect-037"/>
          <p:cNvSpPr/>
          <p:nvPr/>
        </p:nvSpPr>
        <p:spPr>
          <a:xfrm>
            <a:off x="293370" y="5475351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9-target"/>
          <p:cNvSpPr/>
          <p:nvPr/>
        </p:nvSpPr>
        <p:spPr>
          <a:xfrm>
            <a:off x="133350" y="560870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9 ← N04"/>
          <p:cNvSpPr txBox="1"/>
          <p:nvPr/>
        </p:nvSpPr>
        <p:spPr>
          <a:xfrm>
            <a:off x="474726" y="551887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N04</a:t>
            </a:r>
          </a:p>
        </p:txBody>
      </p:sp>
      <p:sp>
        <p:nvSpPr>
          <p:cNvPr id="40" name="E10-target"/>
          <p:cNvSpPr/>
          <p:nvPr/>
        </p:nvSpPr>
        <p:spPr>
          <a:xfrm>
            <a:off x="133350" y="579539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10 ↔ N01"/>
          <p:cNvSpPr txBox="1"/>
          <p:nvPr/>
        </p:nvSpPr>
        <p:spPr>
          <a:xfrm>
            <a:off x="474726" y="570556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N01</a:t>
            </a:r>
          </a:p>
        </p:txBody>
      </p:sp>
      <p:sp>
        <p:nvSpPr>
          <p:cNvPr id="42" name="rect-042"/>
          <p:cNvSpPr/>
          <p:nvPr/>
        </p:nvSpPr>
        <p:spPr>
          <a:xfrm>
            <a:off x="4453890" y="1282827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N02  状态/存储"/>
          <p:cNvSpPr txBox="1"/>
          <p:nvPr/>
        </p:nvSpPr>
        <p:spPr>
          <a:xfrm>
            <a:off x="4549902" y="1310777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状态/存储</a:t>
            </a:r>
          </a:p>
        </p:txBody>
      </p:sp>
      <p:sp>
        <p:nvSpPr>
          <p:cNvPr id="44" name="text-044: 2  Host FMT FIFO"/>
          <p:cNvSpPr txBox="1"/>
          <p:nvPr/>
        </p:nvSpPr>
        <p:spPr>
          <a:xfrm>
            <a:off x="5640705" y="1480185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Host FMT FIFO</a:t>
            </a:r>
          </a:p>
        </p:txBody>
      </p:sp>
      <p:sp>
        <p:nvSpPr>
          <p:cNvPr id="45" name="text-045: 8-bit 字节 + 5-bit 标志"/>
          <p:cNvSpPr txBox="1"/>
          <p:nvPr/>
        </p:nvSpPr>
        <p:spPr>
          <a:xfrm>
            <a:off x="5496020" y="1662394"/>
            <a:ext cx="180956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8-bit 字节 + 5-bit 标志</a:t>
            </a:r>
          </a:p>
        </p:txBody>
      </p:sp>
      <p:sp>
        <p:nvSpPr>
          <p:cNvPr id="46" name="text-046: START / STOP / READ …"/>
          <p:cNvSpPr txBox="1"/>
          <p:nvPr/>
        </p:nvSpPr>
        <p:spPr>
          <a:xfrm>
            <a:off x="5480685" y="1833082"/>
            <a:ext cx="18402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 / STOP / READ …</a:t>
            </a:r>
          </a:p>
        </p:txBody>
      </p:sp>
      <p:sp>
        <p:nvSpPr>
          <p:cNvPr id="47" name="rect-047"/>
          <p:cNvSpPr/>
          <p:nvPr/>
        </p:nvSpPr>
        <p:spPr>
          <a:xfrm>
            <a:off x="4533900" y="213093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1-target"/>
          <p:cNvSpPr/>
          <p:nvPr/>
        </p:nvSpPr>
        <p:spPr>
          <a:xfrm>
            <a:off x="4373880" y="22642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1 ← N01"/>
          <p:cNvSpPr txBox="1"/>
          <p:nvPr/>
        </p:nvSpPr>
        <p:spPr>
          <a:xfrm>
            <a:off x="4715256" y="217445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50" name="E02-source"/>
          <p:cNvSpPr/>
          <p:nvPr/>
        </p:nvSpPr>
        <p:spPr>
          <a:xfrm>
            <a:off x="8155686" y="22642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2 → N04"/>
          <p:cNvSpPr txBox="1"/>
          <p:nvPr/>
        </p:nvSpPr>
        <p:spPr>
          <a:xfrm>
            <a:off x="7197700" y="217445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N04</a:t>
            </a:r>
          </a:p>
        </p:txBody>
      </p:sp>
      <p:sp>
        <p:nvSpPr>
          <p:cNvPr id="52" name="rect-052"/>
          <p:cNvSpPr/>
          <p:nvPr/>
        </p:nvSpPr>
        <p:spPr>
          <a:xfrm>
            <a:off x="4453890" y="2675001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N05  内部工作逻辑"/>
          <p:cNvSpPr txBox="1"/>
          <p:nvPr/>
        </p:nvSpPr>
        <p:spPr>
          <a:xfrm>
            <a:off x="4549902" y="270295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54" name="text-054: 5  SCL / SDA 接口"/>
          <p:cNvSpPr txBox="1"/>
          <p:nvPr/>
        </p:nvSpPr>
        <p:spPr>
          <a:xfrm>
            <a:off x="5637371" y="2872359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SCL / SDA 接口</a:t>
            </a:r>
          </a:p>
        </p:txBody>
      </p:sp>
      <p:sp>
        <p:nvSpPr>
          <p:cNvPr id="55" name="text-055: 采样输入"/>
          <p:cNvSpPr txBox="1"/>
          <p:nvPr/>
        </p:nvSpPr>
        <p:spPr>
          <a:xfrm>
            <a:off x="6094095" y="3054568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采样输入</a:t>
            </a:r>
          </a:p>
        </p:txBody>
      </p:sp>
      <p:sp>
        <p:nvSpPr>
          <p:cNvPr id="56" name="text-056: 输出值 + 输出使能"/>
          <p:cNvSpPr txBox="1"/>
          <p:nvPr/>
        </p:nvSpPr>
        <p:spPr>
          <a:xfrm>
            <a:off x="5790457" y="3225256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+ 输出使能</a:t>
            </a:r>
          </a:p>
        </p:txBody>
      </p:sp>
      <p:sp>
        <p:nvSpPr>
          <p:cNvPr id="57" name="text-057: 外层 PAD / 上拉另接"/>
          <p:cNvSpPr txBox="1"/>
          <p:nvPr/>
        </p:nvSpPr>
        <p:spPr>
          <a:xfrm>
            <a:off x="5692311" y="3395944"/>
            <a:ext cx="141697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 PAD / 上拉另接</a:t>
            </a:r>
          </a:p>
        </p:txBody>
      </p:sp>
      <p:sp>
        <p:nvSpPr>
          <p:cNvPr id="58" name="rect-058"/>
          <p:cNvSpPr/>
          <p:nvPr/>
        </p:nvSpPr>
        <p:spPr>
          <a:xfrm>
            <a:off x="4533900" y="369379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E05-target"/>
          <p:cNvSpPr/>
          <p:nvPr/>
        </p:nvSpPr>
        <p:spPr>
          <a:xfrm>
            <a:off x="4373880" y="382714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 ↔ N04"/>
          <p:cNvSpPr txBox="1"/>
          <p:nvPr/>
        </p:nvSpPr>
        <p:spPr>
          <a:xfrm>
            <a:off x="4715256" y="373732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N04</a:t>
            </a:r>
          </a:p>
        </p:txBody>
      </p:sp>
      <p:sp>
        <p:nvSpPr>
          <p:cNvPr id="61" name="rect-061"/>
          <p:cNvSpPr/>
          <p:nvPr/>
        </p:nvSpPr>
        <p:spPr>
          <a:xfrm>
            <a:off x="4453890" y="4237863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N07  状态/存储"/>
          <p:cNvSpPr txBox="1"/>
          <p:nvPr/>
        </p:nvSpPr>
        <p:spPr>
          <a:xfrm>
            <a:off x="4549902" y="4265813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状态/存储</a:t>
            </a:r>
          </a:p>
        </p:txBody>
      </p:sp>
      <p:sp>
        <p:nvSpPr>
          <p:cNvPr id="63" name="text-063: 7  Target ACQ FIFO"/>
          <p:cNvSpPr txBox="1"/>
          <p:nvPr/>
        </p:nvSpPr>
        <p:spPr>
          <a:xfrm>
            <a:off x="5554028" y="4435221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Target ACQ FIFO</a:t>
            </a:r>
          </a:p>
        </p:txBody>
      </p:sp>
      <p:sp>
        <p:nvSpPr>
          <p:cNvPr id="64" name="text-064: 接收字节 + 事务标志"/>
          <p:cNvSpPr txBox="1"/>
          <p:nvPr/>
        </p:nvSpPr>
        <p:spPr>
          <a:xfrm>
            <a:off x="5729116" y="4617430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+ 事务标志</a:t>
            </a:r>
          </a:p>
        </p:txBody>
      </p:sp>
      <p:sp>
        <p:nvSpPr>
          <p:cNvPr id="65" name="rect-065"/>
          <p:cNvSpPr/>
          <p:nvPr/>
        </p:nvSpPr>
        <p:spPr>
          <a:xfrm>
            <a:off x="4533900" y="491528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07-target"/>
          <p:cNvSpPr/>
          <p:nvPr/>
        </p:nvSpPr>
        <p:spPr>
          <a:xfrm>
            <a:off x="4373880" y="50486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7 ← N04"/>
          <p:cNvSpPr txBox="1"/>
          <p:nvPr/>
        </p:nvSpPr>
        <p:spPr>
          <a:xfrm>
            <a:off x="4715256" y="49588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N04</a:t>
            </a:r>
          </a:p>
        </p:txBody>
      </p:sp>
      <p:sp>
        <p:nvSpPr>
          <p:cNvPr id="68" name="E12-source"/>
          <p:cNvSpPr/>
          <p:nvPr/>
        </p:nvSpPr>
        <p:spPr>
          <a:xfrm>
            <a:off x="8155686" y="504863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12 ↔ N01"/>
          <p:cNvSpPr txBox="1"/>
          <p:nvPr/>
        </p:nvSpPr>
        <p:spPr>
          <a:xfrm>
            <a:off x="7197700" y="495880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E12 ↔ N01</a:t>
            </a:r>
          </a:p>
        </p:txBody>
      </p:sp>
      <p:sp>
        <p:nvSpPr>
          <p:cNvPr id="70" name="rect-070"/>
          <p:cNvSpPr/>
          <p:nvPr/>
        </p:nvSpPr>
        <p:spPr>
          <a:xfrm>
            <a:off x="8694420" y="1282827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N03  状态/存储"/>
          <p:cNvSpPr txBox="1"/>
          <p:nvPr/>
        </p:nvSpPr>
        <p:spPr>
          <a:xfrm>
            <a:off x="8790432" y="1310777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状态/存储</a:t>
            </a:r>
          </a:p>
        </p:txBody>
      </p:sp>
      <p:sp>
        <p:nvSpPr>
          <p:cNvPr id="72" name="text-072: 4  Host RX FIFO"/>
          <p:cNvSpPr txBox="1"/>
          <p:nvPr/>
        </p:nvSpPr>
        <p:spPr>
          <a:xfrm>
            <a:off x="9924574" y="1480185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Host RX FIFO</a:t>
            </a:r>
          </a:p>
        </p:txBody>
      </p:sp>
      <p:sp>
        <p:nvSpPr>
          <p:cNvPr id="73" name="text-073: 接收字节 → RDATA"/>
          <p:cNvSpPr txBox="1"/>
          <p:nvPr/>
        </p:nvSpPr>
        <p:spPr>
          <a:xfrm>
            <a:off x="9994182" y="1662394"/>
            <a:ext cx="129429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RDATA</a:t>
            </a:r>
          </a:p>
        </p:txBody>
      </p:sp>
      <p:sp>
        <p:nvSpPr>
          <p:cNvPr id="74" name="rect-074"/>
          <p:cNvSpPr/>
          <p:nvPr/>
        </p:nvSpPr>
        <p:spPr>
          <a:xfrm>
            <a:off x="8774430" y="196024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E03-target"/>
          <p:cNvSpPr/>
          <p:nvPr/>
        </p:nvSpPr>
        <p:spPr>
          <a:xfrm>
            <a:off x="8614410" y="20935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3 ← N04"/>
          <p:cNvSpPr txBox="1"/>
          <p:nvPr/>
        </p:nvSpPr>
        <p:spPr>
          <a:xfrm>
            <a:off x="8955786" y="200377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N04</a:t>
            </a:r>
          </a:p>
        </p:txBody>
      </p:sp>
      <p:sp>
        <p:nvSpPr>
          <p:cNvPr id="77" name="E04-source"/>
          <p:cNvSpPr/>
          <p:nvPr/>
        </p:nvSpPr>
        <p:spPr>
          <a:xfrm>
            <a:off x="12396216" y="20935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04 → N01"/>
          <p:cNvSpPr txBox="1"/>
          <p:nvPr/>
        </p:nvSpPr>
        <p:spPr>
          <a:xfrm>
            <a:off x="11438230" y="200377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N01</a:t>
            </a:r>
          </a:p>
        </p:txBody>
      </p:sp>
      <p:sp>
        <p:nvSpPr>
          <p:cNvPr id="79" name="rect-079"/>
          <p:cNvSpPr/>
          <p:nvPr/>
        </p:nvSpPr>
        <p:spPr>
          <a:xfrm>
            <a:off x="8694420" y="2504313"/>
            <a:ext cx="3893820" cy="20802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N04  内部工作逻辑"/>
          <p:cNvSpPr txBox="1"/>
          <p:nvPr/>
        </p:nvSpPr>
        <p:spPr>
          <a:xfrm>
            <a:off x="8790432" y="2532263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81" name="text-081: 3  i2c_fsm"/>
          <p:cNvSpPr txBox="1"/>
          <p:nvPr/>
        </p:nvSpPr>
        <p:spPr>
          <a:xfrm>
            <a:off x="10141268" y="2701671"/>
            <a:ext cx="10001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i2c_fsm</a:t>
            </a:r>
          </a:p>
        </p:txBody>
      </p:sp>
      <p:sp>
        <p:nvSpPr>
          <p:cNvPr id="82" name="text-082: SCL / SDA 时序状态机"/>
          <p:cNvSpPr txBox="1"/>
          <p:nvPr/>
        </p:nvSpPr>
        <p:spPr>
          <a:xfrm>
            <a:off x="9874568" y="2883880"/>
            <a:ext cx="15335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SCL / SDA 时序状态机</a:t>
            </a:r>
          </a:p>
        </p:txBody>
      </p:sp>
      <p:sp>
        <p:nvSpPr>
          <p:cNvPr id="83" name="text-083: Host / Target 控制"/>
          <p:cNvSpPr txBox="1"/>
          <p:nvPr/>
        </p:nvSpPr>
        <p:spPr>
          <a:xfrm>
            <a:off x="9899104" y="3054568"/>
            <a:ext cx="148445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Host / Target 控制</a:t>
            </a:r>
          </a:p>
        </p:txBody>
      </p:sp>
      <p:sp>
        <p:nvSpPr>
          <p:cNvPr id="84" name="text-084: ACK / NAK / stretching"/>
          <p:cNvSpPr txBox="1"/>
          <p:nvPr/>
        </p:nvSpPr>
        <p:spPr>
          <a:xfrm>
            <a:off x="9702813" y="3225256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ACK / NAK / stretching</a:t>
            </a:r>
          </a:p>
        </p:txBody>
      </p:sp>
      <p:sp>
        <p:nvSpPr>
          <p:cNvPr id="85" name="text-085: 按 TIMING 寄存器计数"/>
          <p:cNvSpPr txBox="1"/>
          <p:nvPr/>
        </p:nvSpPr>
        <p:spPr>
          <a:xfrm>
            <a:off x="9892970" y="3395944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TIMING 寄存器计数</a:t>
            </a:r>
          </a:p>
        </p:txBody>
      </p:sp>
      <p:sp>
        <p:nvSpPr>
          <p:cNvPr id="86" name="rect-086"/>
          <p:cNvSpPr/>
          <p:nvPr/>
        </p:nvSpPr>
        <p:spPr>
          <a:xfrm>
            <a:off x="8774430" y="3693795"/>
            <a:ext cx="3733800" cy="81610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E02-target"/>
          <p:cNvSpPr/>
          <p:nvPr/>
        </p:nvSpPr>
        <p:spPr>
          <a:xfrm>
            <a:off x="8614410" y="382714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02 ← N02"/>
          <p:cNvSpPr txBox="1"/>
          <p:nvPr/>
        </p:nvSpPr>
        <p:spPr>
          <a:xfrm>
            <a:off x="8955786" y="373732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89" name="E06-target"/>
          <p:cNvSpPr/>
          <p:nvPr/>
        </p:nvSpPr>
        <p:spPr>
          <a:xfrm>
            <a:off x="8614410" y="401383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E06 ← N06"/>
          <p:cNvSpPr txBox="1"/>
          <p:nvPr/>
        </p:nvSpPr>
        <p:spPr>
          <a:xfrm>
            <a:off x="8955786" y="392401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N06</a:t>
            </a:r>
          </a:p>
        </p:txBody>
      </p:sp>
      <p:sp>
        <p:nvSpPr>
          <p:cNvPr id="91" name="E08-target"/>
          <p:cNvSpPr/>
          <p:nvPr/>
        </p:nvSpPr>
        <p:spPr>
          <a:xfrm>
            <a:off x="8614410" y="420052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E08 ← N01"/>
          <p:cNvSpPr txBox="1"/>
          <p:nvPr/>
        </p:nvSpPr>
        <p:spPr>
          <a:xfrm>
            <a:off x="8955786" y="411070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N01</a:t>
            </a:r>
          </a:p>
        </p:txBody>
      </p:sp>
      <p:sp>
        <p:nvSpPr>
          <p:cNvPr id="93" name="E03-source"/>
          <p:cNvSpPr/>
          <p:nvPr/>
        </p:nvSpPr>
        <p:spPr>
          <a:xfrm>
            <a:off x="12396216" y="382714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-094: E03 → N03"/>
          <p:cNvSpPr txBox="1"/>
          <p:nvPr/>
        </p:nvSpPr>
        <p:spPr>
          <a:xfrm>
            <a:off x="11438230" y="373732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N03</a:t>
            </a:r>
          </a:p>
        </p:txBody>
      </p:sp>
      <p:sp>
        <p:nvSpPr>
          <p:cNvPr id="95" name="E05-source"/>
          <p:cNvSpPr/>
          <p:nvPr/>
        </p:nvSpPr>
        <p:spPr>
          <a:xfrm>
            <a:off x="12396216" y="401383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96: E05 ↔ N05"/>
          <p:cNvSpPr txBox="1"/>
          <p:nvPr/>
        </p:nvSpPr>
        <p:spPr>
          <a:xfrm>
            <a:off x="11438230" y="392401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97" name="E07-source"/>
          <p:cNvSpPr/>
          <p:nvPr/>
        </p:nvSpPr>
        <p:spPr>
          <a:xfrm>
            <a:off x="12396216" y="420052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8: E07 → N07"/>
          <p:cNvSpPr txBox="1"/>
          <p:nvPr/>
        </p:nvSpPr>
        <p:spPr>
          <a:xfrm>
            <a:off x="11438230" y="411070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N07</a:t>
            </a:r>
          </a:p>
        </p:txBody>
      </p:sp>
      <p:sp>
        <p:nvSpPr>
          <p:cNvPr id="99" name="E09-source"/>
          <p:cNvSpPr/>
          <p:nvPr/>
        </p:nvSpPr>
        <p:spPr>
          <a:xfrm>
            <a:off x="12396216" y="438721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-100: E09 → N08"/>
          <p:cNvSpPr txBox="1"/>
          <p:nvPr/>
        </p:nvSpPr>
        <p:spPr>
          <a:xfrm>
            <a:off x="11438230" y="429739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N08</a:t>
            </a:r>
          </a:p>
        </p:txBody>
      </p:sp>
      <p:sp>
        <p:nvSpPr>
          <p:cNvPr id="101" name="text-101: i2c_core：Host 与 Target 使用不同队列；当前整合使用 clk"/>
          <p:cNvSpPr txBox="1"/>
          <p:nvPr/>
        </p:nvSpPr>
        <p:spPr>
          <a:xfrm>
            <a:off x="213360" y="6126952"/>
            <a:ext cx="411598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i2c_core：Host 与 Target 使用不同队列；当前整合使用 clk_i</a:t>
            </a:r>
          </a:p>
        </p:txBody>
      </p:sp>
      <p:sp>
        <p:nvSpPr>
          <p:cNvPr id="102" name="text-102: Regbus 32"/>
          <p:cNvSpPr txBox="1"/>
          <p:nvPr/>
        </p:nvSpPr>
        <p:spPr>
          <a:xfrm>
            <a:off x="213360" y="6292306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03" name="text-103: CONTROL / TIMING → FSM"/>
          <p:cNvSpPr txBox="1"/>
          <p:nvPr/>
        </p:nvSpPr>
        <p:spPr>
          <a:xfrm>
            <a:off x="213360" y="6457660"/>
            <a:ext cx="191997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CONTROL / TIMING → FSM</a:t>
            </a:r>
          </a:p>
        </p:txBody>
      </p:sp>
      <p:sp>
        <p:nvSpPr>
          <p:cNvPr id="104" name="text-104: FIFO reset 由 reg_top 直接作用队列；N08 汇总 FSM/F"/>
          <p:cNvSpPr txBox="1"/>
          <p:nvPr/>
        </p:nvSpPr>
        <p:spPr>
          <a:xfrm>
            <a:off x="213360" y="6623014"/>
            <a:ext cx="4428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FIFO reset 由 reg_top 直接作用队列；N08 汇总 FSM/FIFO 事件。</a:t>
            </a:r>
          </a:p>
        </p:txBody>
      </p:sp>
      <p:sp>
        <p:nvSpPr>
          <p:cNvPr id="105" name="text-105: 配对端口表示图示连接；已有/规划状态见模块和连接表。方向与 A 版一致。虚线模块"/>
          <p:cNvSpPr txBox="1"/>
          <p:nvPr/>
        </p:nvSpPr>
        <p:spPr>
          <a:xfrm>
            <a:off x="213360" y="7171990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3  SPI Host：命令队列控制移位，数据窗口连接收发 FIFO"/>
          <p:cNvSpPr txBox="1"/>
          <p:nvPr/>
        </p:nvSpPr>
        <p:spPr>
          <a:xfrm>
            <a:off x="213360" y="327721"/>
            <a:ext cx="51291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03  SPI Host：命令队列控制移位，数据窗口连接收发 FIFO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60274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040130"/>
            <a:ext cx="3893820" cy="153619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接口与配置"/>
          <p:cNvSpPr txBox="1"/>
          <p:nvPr/>
        </p:nvSpPr>
        <p:spPr>
          <a:xfrm>
            <a:off x="309372" y="1068080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接口与配置</a:t>
            </a:r>
          </a:p>
        </p:txBody>
      </p:sp>
      <p:sp>
        <p:nvSpPr>
          <p:cNvPr id="6" name="text-006: 1  spi_host_reg_top"/>
          <p:cNvSpPr txBox="1"/>
          <p:nvPr/>
        </p:nvSpPr>
        <p:spPr>
          <a:xfrm>
            <a:off x="1270159" y="1237488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spi_host_reg_top</a:t>
            </a:r>
          </a:p>
        </p:txBody>
      </p:sp>
      <p:sp>
        <p:nvSpPr>
          <p:cNvPr id="7" name="text-007: CONTROL / CONFIGOPTS"/>
          <p:cNvSpPr txBox="1"/>
          <p:nvPr/>
        </p:nvSpPr>
        <p:spPr>
          <a:xfrm>
            <a:off x="1301496" y="1419697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CONFIGOPTS</a:t>
            </a:r>
          </a:p>
        </p:txBody>
      </p:sp>
      <p:sp>
        <p:nvSpPr>
          <p:cNvPr id="8" name="text-008: CSID / COMMAND"/>
          <p:cNvSpPr txBox="1"/>
          <p:nvPr/>
        </p:nvSpPr>
        <p:spPr>
          <a:xfrm>
            <a:off x="1540726" y="1590385"/>
            <a:ext cx="123908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CSID / COMMAND</a:t>
            </a:r>
          </a:p>
        </p:txBody>
      </p:sp>
      <p:sp>
        <p:nvSpPr>
          <p:cNvPr id="9" name="text-009: STATUS / INTR_*"/>
          <p:cNvSpPr txBox="1"/>
          <p:nvPr/>
        </p:nvSpPr>
        <p:spPr>
          <a:xfrm>
            <a:off x="1500854" y="1761073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STATUS / INTR_*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05892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219227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→ N02"/>
          <p:cNvSpPr txBox="1"/>
          <p:nvPr/>
        </p:nvSpPr>
        <p:spPr>
          <a:xfrm>
            <a:off x="2957170" y="210244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3" name="E03-source"/>
          <p:cNvSpPr/>
          <p:nvPr/>
        </p:nvSpPr>
        <p:spPr>
          <a:xfrm>
            <a:off x="3915156" y="237896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03 ↔ N04"/>
          <p:cNvSpPr txBox="1"/>
          <p:nvPr/>
        </p:nvSpPr>
        <p:spPr>
          <a:xfrm>
            <a:off x="2957170" y="228913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N04</a:t>
            </a:r>
          </a:p>
        </p:txBody>
      </p:sp>
      <p:sp>
        <p:nvSpPr>
          <p:cNvPr id="15" name="rect-015"/>
          <p:cNvSpPr/>
          <p:nvPr/>
        </p:nvSpPr>
        <p:spPr>
          <a:xfrm>
            <a:off x="213360" y="2789682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N06  状态/存储"/>
          <p:cNvSpPr txBox="1"/>
          <p:nvPr/>
        </p:nvSpPr>
        <p:spPr>
          <a:xfrm>
            <a:off x="309372" y="2817632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17" name="text-017: 9  data_fifos：RX"/>
          <p:cNvSpPr txBox="1"/>
          <p:nvPr/>
        </p:nvSpPr>
        <p:spPr>
          <a:xfrm>
            <a:off x="1376839" y="2987040"/>
            <a:ext cx="156686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9  data_fifos：RX</a:t>
            </a:r>
          </a:p>
        </p:txBody>
      </p:sp>
      <p:sp>
        <p:nvSpPr>
          <p:cNvPr id="18" name="text-018: 32-bit 接收字队列"/>
          <p:cNvSpPr txBox="1"/>
          <p:nvPr/>
        </p:nvSpPr>
        <p:spPr>
          <a:xfrm>
            <a:off x="1513122" y="3169249"/>
            <a:ext cx="129429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接收字队列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346710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7-target"/>
          <p:cNvSpPr/>
          <p:nvPr/>
        </p:nvSpPr>
        <p:spPr>
          <a:xfrm>
            <a:off x="133350" y="36004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7 ← N08"/>
          <p:cNvSpPr txBox="1"/>
          <p:nvPr/>
        </p:nvSpPr>
        <p:spPr>
          <a:xfrm>
            <a:off x="474726" y="351062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N08</a:t>
            </a:r>
          </a:p>
        </p:txBody>
      </p:sp>
      <p:sp>
        <p:nvSpPr>
          <p:cNvPr id="22" name="E05-source"/>
          <p:cNvSpPr/>
          <p:nvPr/>
        </p:nvSpPr>
        <p:spPr>
          <a:xfrm>
            <a:off x="3915156" y="36004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5 → N04"/>
          <p:cNvSpPr txBox="1"/>
          <p:nvPr/>
        </p:nvSpPr>
        <p:spPr>
          <a:xfrm>
            <a:off x="2957170" y="351062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N04</a:t>
            </a:r>
          </a:p>
        </p:txBody>
      </p:sp>
      <p:sp>
        <p:nvSpPr>
          <p:cNvPr id="24" name="rect-024"/>
          <p:cNvSpPr/>
          <p:nvPr/>
        </p:nvSpPr>
        <p:spPr>
          <a:xfrm>
            <a:off x="213360" y="4011168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N08  内部工作逻辑"/>
          <p:cNvSpPr txBox="1"/>
          <p:nvPr/>
        </p:nvSpPr>
        <p:spPr>
          <a:xfrm>
            <a:off x="309372" y="4039118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N08  内部工作逻辑</a:t>
            </a:r>
          </a:p>
        </p:txBody>
      </p:sp>
      <p:sp>
        <p:nvSpPr>
          <p:cNvPr id="26" name="text-026: 8  byte_merge"/>
          <p:cNvSpPr txBox="1"/>
          <p:nvPr/>
        </p:nvSpPr>
        <p:spPr>
          <a:xfrm>
            <a:off x="1530191" y="4208526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byte_merge</a:t>
            </a:r>
          </a:p>
        </p:txBody>
      </p:sp>
      <p:sp>
        <p:nvSpPr>
          <p:cNvPr id="27" name="text-027: 接收字节 → 32-bit"/>
          <p:cNvSpPr txBox="1"/>
          <p:nvPr/>
        </p:nvSpPr>
        <p:spPr>
          <a:xfrm>
            <a:off x="1473251" y="4390735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32-bit</a:t>
            </a:r>
          </a:p>
        </p:txBody>
      </p:sp>
      <p:sp>
        <p:nvSpPr>
          <p:cNvPr id="28" name="rect-028"/>
          <p:cNvSpPr/>
          <p:nvPr/>
        </p:nvSpPr>
        <p:spPr>
          <a:xfrm>
            <a:off x="293370" y="468858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09-target"/>
          <p:cNvSpPr/>
          <p:nvPr/>
        </p:nvSpPr>
        <p:spPr>
          <a:xfrm>
            <a:off x="133350" y="48219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09 ← N09"/>
          <p:cNvSpPr txBox="1"/>
          <p:nvPr/>
        </p:nvSpPr>
        <p:spPr>
          <a:xfrm>
            <a:off x="474726" y="47321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← N09</a:t>
            </a:r>
          </a:p>
        </p:txBody>
      </p:sp>
      <p:sp>
        <p:nvSpPr>
          <p:cNvPr id="31" name="E07-source"/>
          <p:cNvSpPr/>
          <p:nvPr/>
        </p:nvSpPr>
        <p:spPr>
          <a:xfrm>
            <a:off x="3915156" y="48219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07 → N06"/>
          <p:cNvSpPr txBox="1"/>
          <p:nvPr/>
        </p:nvSpPr>
        <p:spPr>
          <a:xfrm>
            <a:off x="2957170" y="47321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N06</a:t>
            </a:r>
          </a:p>
        </p:txBody>
      </p:sp>
      <p:sp>
        <p:nvSpPr>
          <p:cNvPr id="33" name="rect-033"/>
          <p:cNvSpPr/>
          <p:nvPr/>
        </p:nvSpPr>
        <p:spPr>
          <a:xfrm>
            <a:off x="213360" y="5232654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P02  外部/组边界"/>
          <p:cNvSpPr txBox="1"/>
          <p:nvPr/>
        </p:nvSpPr>
        <p:spPr>
          <a:xfrm>
            <a:off x="309372" y="5260604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35" name="text-035: SPI SD[3:0] 数据引脚"/>
          <p:cNvSpPr txBox="1"/>
          <p:nvPr/>
        </p:nvSpPr>
        <p:spPr>
          <a:xfrm>
            <a:off x="1306830" y="5430012"/>
            <a:ext cx="17068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SPI SD[3:0] 数据引脚</a:t>
            </a:r>
          </a:p>
        </p:txBody>
      </p:sp>
      <p:sp>
        <p:nvSpPr>
          <p:cNvPr id="36" name="rect-036"/>
          <p:cNvSpPr/>
          <p:nvPr/>
        </p:nvSpPr>
        <p:spPr>
          <a:xfrm>
            <a:off x="293370" y="573938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12-target"/>
          <p:cNvSpPr/>
          <p:nvPr/>
        </p:nvSpPr>
        <p:spPr>
          <a:xfrm>
            <a:off x="133350" y="58727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12 ↔ N09"/>
          <p:cNvSpPr txBox="1"/>
          <p:nvPr/>
        </p:nvSpPr>
        <p:spPr>
          <a:xfrm>
            <a:off x="474726" y="578290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E12 ↔ N09</a:t>
            </a:r>
          </a:p>
        </p:txBody>
      </p:sp>
      <p:sp>
        <p:nvSpPr>
          <p:cNvPr id="39" name="rect-039"/>
          <p:cNvSpPr/>
          <p:nvPr/>
        </p:nvSpPr>
        <p:spPr>
          <a:xfrm>
            <a:off x="4453890" y="1040130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N02  状态/存储"/>
          <p:cNvSpPr txBox="1"/>
          <p:nvPr/>
        </p:nvSpPr>
        <p:spPr>
          <a:xfrm>
            <a:off x="4549902" y="106808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状态/存储</a:t>
            </a:r>
          </a:p>
        </p:txBody>
      </p:sp>
      <p:sp>
        <p:nvSpPr>
          <p:cNvPr id="41" name="text-041: 2  command_queue"/>
          <p:cNvSpPr txBox="1"/>
          <p:nvPr/>
        </p:nvSpPr>
        <p:spPr>
          <a:xfrm>
            <a:off x="5640705" y="1237488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command_queue</a:t>
            </a:r>
          </a:p>
        </p:txBody>
      </p:sp>
      <p:sp>
        <p:nvSpPr>
          <p:cNvPr id="42" name="text-042: 方向 / 长度 / 速度"/>
          <p:cNvSpPr txBox="1"/>
          <p:nvPr/>
        </p:nvSpPr>
        <p:spPr>
          <a:xfrm>
            <a:off x="5732183" y="1419697"/>
            <a:ext cx="13372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方向 / 长度 / 速度</a:t>
            </a:r>
          </a:p>
        </p:txBody>
      </p:sp>
      <p:sp>
        <p:nvSpPr>
          <p:cNvPr id="43" name="text-043: 片选与时序配置"/>
          <p:cNvSpPr txBox="1"/>
          <p:nvPr/>
        </p:nvSpPr>
        <p:spPr>
          <a:xfrm>
            <a:off x="5910072" y="1590385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片选与时序配置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188823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1-target"/>
          <p:cNvSpPr/>
          <p:nvPr/>
        </p:nvSpPr>
        <p:spPr>
          <a:xfrm>
            <a:off x="4373880" y="20215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 ← N01"/>
          <p:cNvSpPr txBox="1"/>
          <p:nvPr/>
        </p:nvSpPr>
        <p:spPr>
          <a:xfrm>
            <a:off x="4715256" y="19317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47" name="E02-source"/>
          <p:cNvSpPr/>
          <p:nvPr/>
        </p:nvSpPr>
        <p:spPr>
          <a:xfrm>
            <a:off x="8155686" y="20215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 → N03"/>
          <p:cNvSpPr txBox="1"/>
          <p:nvPr/>
        </p:nvSpPr>
        <p:spPr>
          <a:xfrm>
            <a:off x="7197700" y="19317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9" name="rect-049"/>
          <p:cNvSpPr/>
          <p:nvPr/>
        </p:nvSpPr>
        <p:spPr>
          <a:xfrm>
            <a:off x="4453890" y="2432304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N04  内部工作逻辑"/>
          <p:cNvSpPr txBox="1"/>
          <p:nvPr/>
        </p:nvSpPr>
        <p:spPr>
          <a:xfrm>
            <a:off x="4549902" y="2460254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51" name="text-051: 4  spi_host_window"/>
          <p:cNvSpPr txBox="1"/>
          <p:nvPr/>
        </p:nvSpPr>
        <p:spPr>
          <a:xfrm>
            <a:off x="5554028" y="2629662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spi_host_window</a:t>
            </a:r>
          </a:p>
        </p:txBody>
      </p:sp>
      <p:sp>
        <p:nvSpPr>
          <p:cNvPr id="52" name="text-052: TX 写窗口 / RX 读窗口"/>
          <p:cNvSpPr txBox="1"/>
          <p:nvPr/>
        </p:nvSpPr>
        <p:spPr>
          <a:xfrm>
            <a:off x="5612568" y="2811871"/>
            <a:ext cx="157646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写窗口 / RX 读窗口</a:t>
            </a:r>
          </a:p>
        </p:txBody>
      </p:sp>
      <p:sp>
        <p:nvSpPr>
          <p:cNvPr id="53" name="text-053: 32-bit + byte enables"/>
          <p:cNvSpPr txBox="1"/>
          <p:nvPr/>
        </p:nvSpPr>
        <p:spPr>
          <a:xfrm>
            <a:off x="5502154" y="2982559"/>
            <a:ext cx="179729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+ byte enables</a:t>
            </a:r>
          </a:p>
        </p:txBody>
      </p:sp>
      <p:sp>
        <p:nvSpPr>
          <p:cNvPr id="54" name="text-054: FIFO 满空由软件检查"/>
          <p:cNvSpPr txBox="1"/>
          <p:nvPr/>
        </p:nvSpPr>
        <p:spPr>
          <a:xfrm>
            <a:off x="5710714" y="3153247"/>
            <a:ext cx="13801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FIFO 满空由软件检查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345109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03-target"/>
          <p:cNvSpPr/>
          <p:nvPr/>
        </p:nvSpPr>
        <p:spPr>
          <a:xfrm>
            <a:off x="4373880" y="35844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3 ↔ N01"/>
          <p:cNvSpPr txBox="1"/>
          <p:nvPr/>
        </p:nvSpPr>
        <p:spPr>
          <a:xfrm>
            <a:off x="4715256" y="34946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N01</a:t>
            </a:r>
          </a:p>
        </p:txBody>
      </p:sp>
      <p:sp>
        <p:nvSpPr>
          <p:cNvPr id="58" name="E05-target"/>
          <p:cNvSpPr/>
          <p:nvPr/>
        </p:nvSpPr>
        <p:spPr>
          <a:xfrm>
            <a:off x="4373880" y="37711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5 ← N06"/>
          <p:cNvSpPr txBox="1"/>
          <p:nvPr/>
        </p:nvSpPr>
        <p:spPr>
          <a:xfrm>
            <a:off x="4715256" y="368131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N06</a:t>
            </a:r>
          </a:p>
        </p:txBody>
      </p:sp>
      <p:sp>
        <p:nvSpPr>
          <p:cNvPr id="60" name="E04-source"/>
          <p:cNvSpPr/>
          <p:nvPr/>
        </p:nvSpPr>
        <p:spPr>
          <a:xfrm>
            <a:off x="8155686" y="35844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4 → N05"/>
          <p:cNvSpPr txBox="1"/>
          <p:nvPr/>
        </p:nvSpPr>
        <p:spPr>
          <a:xfrm>
            <a:off x="7197700" y="34946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62" name="rect-062"/>
          <p:cNvSpPr/>
          <p:nvPr/>
        </p:nvSpPr>
        <p:spPr>
          <a:xfrm>
            <a:off x="4453890" y="4181856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N09  内部工作逻辑"/>
          <p:cNvSpPr txBox="1"/>
          <p:nvPr/>
        </p:nvSpPr>
        <p:spPr>
          <a:xfrm>
            <a:off x="4549902" y="420980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N09  内部工作逻辑</a:t>
            </a:r>
          </a:p>
        </p:txBody>
      </p:sp>
      <p:sp>
        <p:nvSpPr>
          <p:cNvPr id="64" name="text-064: 7  shift_register"/>
          <p:cNvSpPr txBox="1"/>
          <p:nvPr/>
        </p:nvSpPr>
        <p:spPr>
          <a:xfrm>
            <a:off x="5597366" y="4379214"/>
            <a:ext cx="16068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shift_register</a:t>
            </a:r>
          </a:p>
        </p:txBody>
      </p:sp>
      <p:sp>
        <p:nvSpPr>
          <p:cNvPr id="65" name="text-065: 串 / 并转换"/>
          <p:cNvSpPr txBox="1"/>
          <p:nvPr/>
        </p:nvSpPr>
        <p:spPr>
          <a:xfrm>
            <a:off x="5974480" y="4561423"/>
            <a:ext cx="8526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串 / 并转换</a:t>
            </a:r>
          </a:p>
        </p:txBody>
      </p:sp>
      <p:sp>
        <p:nvSpPr>
          <p:cNvPr id="66" name="text-066: 标准 / 双线 / 四线"/>
          <p:cNvSpPr txBox="1"/>
          <p:nvPr/>
        </p:nvSpPr>
        <p:spPr>
          <a:xfrm>
            <a:off x="5732183" y="4732111"/>
            <a:ext cx="13372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标准 / 双线 / 四线</a:t>
            </a:r>
          </a:p>
        </p:txBody>
      </p:sp>
      <p:sp>
        <p:nvSpPr>
          <p:cNvPr id="67" name="text-067: SD[3:0] 输入 / 输出"/>
          <p:cNvSpPr txBox="1"/>
          <p:nvPr/>
        </p:nvSpPr>
        <p:spPr>
          <a:xfrm>
            <a:off x="5655507" y="4902799"/>
            <a:ext cx="14905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SD[3:0] 输入 / 输出</a:t>
            </a:r>
          </a:p>
        </p:txBody>
      </p:sp>
      <p:sp>
        <p:nvSpPr>
          <p:cNvPr id="68" name="rect-068"/>
          <p:cNvSpPr/>
          <p:nvPr/>
        </p:nvSpPr>
        <p:spPr>
          <a:xfrm>
            <a:off x="4533900" y="520065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E08-target"/>
          <p:cNvSpPr/>
          <p:nvPr/>
        </p:nvSpPr>
        <p:spPr>
          <a:xfrm>
            <a:off x="4373880" y="533400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8 ← N07"/>
          <p:cNvSpPr txBox="1"/>
          <p:nvPr/>
        </p:nvSpPr>
        <p:spPr>
          <a:xfrm>
            <a:off x="4715256" y="524417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← N07</a:t>
            </a:r>
          </a:p>
        </p:txBody>
      </p:sp>
      <p:sp>
        <p:nvSpPr>
          <p:cNvPr id="71" name="E10-target"/>
          <p:cNvSpPr/>
          <p:nvPr/>
        </p:nvSpPr>
        <p:spPr>
          <a:xfrm>
            <a:off x="4373880" y="552069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10 ↔ N03"/>
          <p:cNvSpPr txBox="1"/>
          <p:nvPr/>
        </p:nvSpPr>
        <p:spPr>
          <a:xfrm>
            <a:off x="4715256" y="543086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N03</a:t>
            </a:r>
          </a:p>
        </p:txBody>
      </p:sp>
      <p:sp>
        <p:nvSpPr>
          <p:cNvPr id="73" name="E09-source"/>
          <p:cNvSpPr/>
          <p:nvPr/>
        </p:nvSpPr>
        <p:spPr>
          <a:xfrm>
            <a:off x="8155686" y="533400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9 → N08"/>
          <p:cNvSpPr txBox="1"/>
          <p:nvPr/>
        </p:nvSpPr>
        <p:spPr>
          <a:xfrm>
            <a:off x="7197700" y="524417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→ N08</a:t>
            </a:r>
          </a:p>
        </p:txBody>
      </p:sp>
      <p:sp>
        <p:nvSpPr>
          <p:cNvPr id="75" name="E12-source"/>
          <p:cNvSpPr/>
          <p:nvPr/>
        </p:nvSpPr>
        <p:spPr>
          <a:xfrm>
            <a:off x="8155686" y="552069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12 ↔ P02"/>
          <p:cNvSpPr txBox="1"/>
          <p:nvPr/>
        </p:nvSpPr>
        <p:spPr>
          <a:xfrm>
            <a:off x="7197700" y="543086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E12 ↔ P02</a:t>
            </a:r>
          </a:p>
        </p:txBody>
      </p:sp>
      <p:sp>
        <p:nvSpPr>
          <p:cNvPr id="77" name="rect-077"/>
          <p:cNvSpPr/>
          <p:nvPr/>
        </p:nvSpPr>
        <p:spPr>
          <a:xfrm>
            <a:off x="8694420" y="1040130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N03  内部工作逻辑"/>
          <p:cNvSpPr txBox="1"/>
          <p:nvPr/>
        </p:nvSpPr>
        <p:spPr>
          <a:xfrm>
            <a:off x="8790432" y="106808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79" name="text-079: 3  spi_host_fsm"/>
          <p:cNvSpPr txBox="1"/>
          <p:nvPr/>
        </p:nvSpPr>
        <p:spPr>
          <a:xfrm>
            <a:off x="9924574" y="1237488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spi_host_fsm</a:t>
            </a:r>
          </a:p>
        </p:txBody>
      </p:sp>
      <p:sp>
        <p:nvSpPr>
          <p:cNvPr id="80" name="text-080: SCK / CS / sample / shift"/>
          <p:cNvSpPr txBox="1"/>
          <p:nvPr/>
        </p:nvSpPr>
        <p:spPr>
          <a:xfrm>
            <a:off x="9583198" y="1419697"/>
            <a:ext cx="211626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SCK / CS / sample / shift</a:t>
            </a:r>
          </a:p>
        </p:txBody>
      </p:sp>
      <p:sp>
        <p:nvSpPr>
          <p:cNvPr id="81" name="text-081: CPOL / CPHA / 分频"/>
          <p:cNvSpPr txBox="1"/>
          <p:nvPr/>
        </p:nvSpPr>
        <p:spPr>
          <a:xfrm>
            <a:off x="9899104" y="1590385"/>
            <a:ext cx="148445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CPOL / CPHA / 分频</a:t>
            </a:r>
          </a:p>
        </p:txBody>
      </p:sp>
      <p:sp>
        <p:nvSpPr>
          <p:cNvPr id="82" name="rect-082"/>
          <p:cNvSpPr/>
          <p:nvPr/>
        </p:nvSpPr>
        <p:spPr>
          <a:xfrm>
            <a:off x="8774430" y="188823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E02-target"/>
          <p:cNvSpPr/>
          <p:nvPr/>
        </p:nvSpPr>
        <p:spPr>
          <a:xfrm>
            <a:off x="8614410" y="20215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E02 ← N02"/>
          <p:cNvSpPr txBox="1"/>
          <p:nvPr/>
        </p:nvSpPr>
        <p:spPr>
          <a:xfrm>
            <a:off x="8955786" y="19317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85" name="E10-source"/>
          <p:cNvSpPr/>
          <p:nvPr/>
        </p:nvSpPr>
        <p:spPr>
          <a:xfrm>
            <a:off x="12396216" y="20215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E10 ↔ N09"/>
          <p:cNvSpPr txBox="1"/>
          <p:nvPr/>
        </p:nvSpPr>
        <p:spPr>
          <a:xfrm>
            <a:off x="11438230" y="19317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N09</a:t>
            </a:r>
          </a:p>
        </p:txBody>
      </p:sp>
      <p:sp>
        <p:nvSpPr>
          <p:cNvPr id="87" name="E11-source"/>
          <p:cNvSpPr/>
          <p:nvPr/>
        </p:nvSpPr>
        <p:spPr>
          <a:xfrm>
            <a:off x="12396216" y="220827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11 → P01"/>
          <p:cNvSpPr txBox="1"/>
          <p:nvPr/>
        </p:nvSpPr>
        <p:spPr>
          <a:xfrm>
            <a:off x="11438230" y="211845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→ P01</a:t>
            </a:r>
          </a:p>
        </p:txBody>
      </p:sp>
      <p:sp>
        <p:nvSpPr>
          <p:cNvPr id="89" name="rect-089"/>
          <p:cNvSpPr/>
          <p:nvPr/>
        </p:nvSpPr>
        <p:spPr>
          <a:xfrm>
            <a:off x="8694420" y="2618994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N05  状态/存储"/>
          <p:cNvSpPr txBox="1"/>
          <p:nvPr/>
        </p:nvSpPr>
        <p:spPr>
          <a:xfrm>
            <a:off x="8790432" y="264694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状态/存储</a:t>
            </a:r>
          </a:p>
        </p:txBody>
      </p:sp>
      <p:sp>
        <p:nvSpPr>
          <p:cNvPr id="91" name="text-091: 5  data_fifos：TX"/>
          <p:cNvSpPr txBox="1"/>
          <p:nvPr/>
        </p:nvSpPr>
        <p:spPr>
          <a:xfrm>
            <a:off x="9857899" y="2816352"/>
            <a:ext cx="156686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data_fifos：TX</a:t>
            </a:r>
          </a:p>
        </p:txBody>
      </p:sp>
      <p:sp>
        <p:nvSpPr>
          <p:cNvPr id="92" name="text-092: 32-bit 数据队列"/>
          <p:cNvSpPr txBox="1"/>
          <p:nvPr/>
        </p:nvSpPr>
        <p:spPr>
          <a:xfrm>
            <a:off x="10055523" y="2998561"/>
            <a:ext cx="117161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数据队列</a:t>
            </a:r>
          </a:p>
        </p:txBody>
      </p:sp>
      <p:sp>
        <p:nvSpPr>
          <p:cNvPr id="93" name="rect-093"/>
          <p:cNvSpPr/>
          <p:nvPr/>
        </p:nvSpPr>
        <p:spPr>
          <a:xfrm>
            <a:off x="8774430" y="329641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E04-target"/>
          <p:cNvSpPr/>
          <p:nvPr/>
        </p:nvSpPr>
        <p:spPr>
          <a:xfrm>
            <a:off x="8614410" y="34297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E04 ← N04"/>
          <p:cNvSpPr txBox="1"/>
          <p:nvPr/>
        </p:nvSpPr>
        <p:spPr>
          <a:xfrm>
            <a:off x="8955786" y="33399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96" name="E06-source"/>
          <p:cNvSpPr/>
          <p:nvPr/>
        </p:nvSpPr>
        <p:spPr>
          <a:xfrm>
            <a:off x="12396216" y="34297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E06 → N07"/>
          <p:cNvSpPr txBox="1"/>
          <p:nvPr/>
        </p:nvSpPr>
        <p:spPr>
          <a:xfrm>
            <a:off x="11438230" y="33399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N07</a:t>
            </a:r>
          </a:p>
        </p:txBody>
      </p:sp>
      <p:sp>
        <p:nvSpPr>
          <p:cNvPr id="98" name="rect-098"/>
          <p:cNvSpPr/>
          <p:nvPr/>
        </p:nvSpPr>
        <p:spPr>
          <a:xfrm>
            <a:off x="8694420" y="3840480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9: N07  内部工作逻辑"/>
          <p:cNvSpPr txBox="1"/>
          <p:nvPr/>
        </p:nvSpPr>
        <p:spPr>
          <a:xfrm>
            <a:off x="8790432" y="386843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100" name="text-100: 6  byte_select"/>
          <p:cNvSpPr txBox="1"/>
          <p:nvPr/>
        </p:nvSpPr>
        <p:spPr>
          <a:xfrm>
            <a:off x="9967912" y="4037838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byte_select</a:t>
            </a:r>
          </a:p>
        </p:txBody>
      </p:sp>
      <p:sp>
        <p:nvSpPr>
          <p:cNvPr id="101" name="text-101: 32-bit → 有效发送字节"/>
          <p:cNvSpPr txBox="1"/>
          <p:nvPr/>
        </p:nvSpPr>
        <p:spPr>
          <a:xfrm>
            <a:off x="9831629" y="4220047"/>
            <a:ext cx="16194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→ 有效发送字节</a:t>
            </a:r>
          </a:p>
        </p:txBody>
      </p:sp>
      <p:sp>
        <p:nvSpPr>
          <p:cNvPr id="102" name="rect-102"/>
          <p:cNvSpPr/>
          <p:nvPr/>
        </p:nvSpPr>
        <p:spPr>
          <a:xfrm>
            <a:off x="8774430" y="451789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E06-target"/>
          <p:cNvSpPr/>
          <p:nvPr/>
        </p:nvSpPr>
        <p:spPr>
          <a:xfrm>
            <a:off x="8614410" y="46512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104: E06 ← N05"/>
          <p:cNvSpPr txBox="1"/>
          <p:nvPr/>
        </p:nvSpPr>
        <p:spPr>
          <a:xfrm>
            <a:off x="8955786" y="45614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N05</a:t>
            </a:r>
          </a:p>
        </p:txBody>
      </p:sp>
      <p:sp>
        <p:nvSpPr>
          <p:cNvPr id="105" name="E08-source"/>
          <p:cNvSpPr/>
          <p:nvPr/>
        </p:nvSpPr>
        <p:spPr>
          <a:xfrm>
            <a:off x="12396216" y="46512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06: E08 → N09"/>
          <p:cNvSpPr txBox="1"/>
          <p:nvPr/>
        </p:nvSpPr>
        <p:spPr>
          <a:xfrm>
            <a:off x="11438230" y="45614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→ N09</a:t>
            </a:r>
          </a:p>
        </p:txBody>
      </p:sp>
      <p:sp>
        <p:nvSpPr>
          <p:cNvPr id="107" name="rect-107"/>
          <p:cNvSpPr/>
          <p:nvPr/>
        </p:nvSpPr>
        <p:spPr>
          <a:xfrm>
            <a:off x="8694420" y="5061966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8: P01  外部/组边界"/>
          <p:cNvSpPr txBox="1"/>
          <p:nvPr/>
        </p:nvSpPr>
        <p:spPr>
          <a:xfrm>
            <a:off x="8790432" y="508991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109" name="text-109: SPI SCK / CS / SD OE 引脚"/>
          <p:cNvSpPr txBox="1"/>
          <p:nvPr/>
        </p:nvSpPr>
        <p:spPr>
          <a:xfrm>
            <a:off x="9531191" y="5259324"/>
            <a:ext cx="222027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SPI SCK / CS / SD OE 引脚</a:t>
            </a:r>
          </a:p>
        </p:txBody>
      </p:sp>
      <p:sp>
        <p:nvSpPr>
          <p:cNvPr id="110" name="rect-110"/>
          <p:cNvSpPr/>
          <p:nvPr/>
        </p:nvSpPr>
        <p:spPr>
          <a:xfrm>
            <a:off x="8774430" y="556869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E11-target"/>
          <p:cNvSpPr/>
          <p:nvPr/>
        </p:nvSpPr>
        <p:spPr>
          <a:xfrm>
            <a:off x="8614410" y="57020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112: E11 ← N03"/>
          <p:cNvSpPr txBox="1"/>
          <p:nvPr/>
        </p:nvSpPr>
        <p:spPr>
          <a:xfrm>
            <a:off x="8955786" y="561222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← N03</a:t>
            </a:r>
          </a:p>
        </p:txBody>
      </p:sp>
      <p:sp>
        <p:nvSpPr>
          <p:cNvPr id="113" name="text-113: spi_host_core：一个命令可以包含多个串行数据拍"/>
          <p:cNvSpPr txBox="1"/>
          <p:nvPr/>
        </p:nvSpPr>
        <p:spPr>
          <a:xfrm>
            <a:off x="213360" y="6204295"/>
            <a:ext cx="3122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spi_host_core：一个命令可以包含多个串行数据拍</a:t>
            </a:r>
          </a:p>
        </p:txBody>
      </p:sp>
      <p:sp>
        <p:nvSpPr>
          <p:cNvPr id="114" name="text-114: Regbus 32"/>
          <p:cNvSpPr txBox="1"/>
          <p:nvPr/>
        </p:nvSpPr>
        <p:spPr>
          <a:xfrm>
            <a:off x="213360" y="6369649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15" name="text-115: 移位 / 采样及 ready 反馈"/>
          <p:cNvSpPr txBox="1"/>
          <p:nvPr/>
        </p:nvSpPr>
        <p:spPr>
          <a:xfrm>
            <a:off x="213360" y="6535003"/>
            <a:ext cx="17788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移位 / 采样及 ready 反馈</a:t>
            </a:r>
          </a:p>
        </p:txBody>
      </p:sp>
      <p:sp>
        <p:nvSpPr>
          <p:cNvPr id="116" name="text-116: IRQ：ERROR / SPI_EVENT；片选数量、FIFO 深度和字节顺序以"/>
          <p:cNvSpPr txBox="1"/>
          <p:nvPr/>
        </p:nvSpPr>
        <p:spPr>
          <a:xfrm>
            <a:off x="213360" y="6700357"/>
            <a:ext cx="48152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IRQ：ERROR / SPI_EVENT；片选数量、FIFO 深度和字节顺序以当前参数为准。</a:t>
            </a:r>
          </a:p>
        </p:txBody>
      </p:sp>
      <p:sp>
        <p:nvSpPr>
          <p:cNvPr id="117" name="text-117: SCK / CS / SD OE → 引脚"/>
          <p:cNvSpPr txBox="1"/>
          <p:nvPr/>
        </p:nvSpPr>
        <p:spPr>
          <a:xfrm>
            <a:off x="213360" y="6865711"/>
            <a:ext cx="192610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SCK / CS / SD OE → 引脚</a:t>
            </a:r>
          </a:p>
        </p:txBody>
      </p:sp>
      <p:sp>
        <p:nvSpPr>
          <p:cNvPr id="118" name="text-118: 配对端口表示图示连接；已有/规划状态见模块和连接表。方向与 A 版一致。虚线模块"/>
          <p:cNvSpPr txBox="1"/>
          <p:nvPr/>
        </p:nvSpPr>
        <p:spPr>
          <a:xfrm>
            <a:off x="213360" y="7414687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4  GPIO：输入滤波、边沿检测与独立的输出值 / 输出使能"/>
          <p:cNvSpPr txBox="1"/>
          <p:nvPr/>
        </p:nvSpPr>
        <p:spPr>
          <a:xfrm>
            <a:off x="213360" y="415732"/>
            <a:ext cx="497555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04  GPIO：输入滤波、边沿检测与独立的输出值 / 输出使能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690753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128141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115609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GPIO 输入 32 路"/>
          <p:cNvSpPr txBox="1"/>
          <p:nvPr/>
        </p:nvSpPr>
        <p:spPr>
          <a:xfrm>
            <a:off x="1503521" y="1325499"/>
            <a:ext cx="131349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 输入 32 路</a:t>
            </a:r>
          </a:p>
        </p:txBody>
      </p:sp>
      <p:sp>
        <p:nvSpPr>
          <p:cNvPr id="7" name="text-007: gpio_i[31:0]"/>
          <p:cNvSpPr txBox="1"/>
          <p:nvPr/>
        </p:nvSpPr>
        <p:spPr>
          <a:xfrm>
            <a:off x="1620469" y="1507708"/>
            <a:ext cx="1079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gpio_i[31:0]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180555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193890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→ N02"/>
          <p:cNvSpPr txBox="1"/>
          <p:nvPr/>
        </p:nvSpPr>
        <p:spPr>
          <a:xfrm>
            <a:off x="2957170" y="184908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2349627"/>
            <a:ext cx="3893820" cy="136550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N04  状态/存储"/>
          <p:cNvSpPr txBox="1"/>
          <p:nvPr/>
        </p:nvSpPr>
        <p:spPr>
          <a:xfrm>
            <a:off x="309372" y="2377577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3" name="text-013: 3  prim_intr_hw"/>
          <p:cNvSpPr txBox="1"/>
          <p:nvPr/>
        </p:nvSpPr>
        <p:spPr>
          <a:xfrm>
            <a:off x="1443514" y="2546985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prim_intr_hw</a:t>
            </a:r>
          </a:p>
        </p:txBody>
      </p:sp>
      <p:sp>
        <p:nvSpPr>
          <p:cNvPr id="14" name="text-014: 事件状态 + enable/test"/>
          <p:cNvSpPr txBox="1"/>
          <p:nvPr/>
        </p:nvSpPr>
        <p:spPr>
          <a:xfrm>
            <a:off x="1295362" y="2729194"/>
            <a:ext cx="17298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事件状态 + enable/test</a:t>
            </a:r>
          </a:p>
        </p:txBody>
      </p:sp>
      <p:sp>
        <p:nvSpPr>
          <p:cNvPr id="15" name="text-015: 32 路 intr_gpio_o"/>
          <p:cNvSpPr txBox="1"/>
          <p:nvPr/>
        </p:nvSpPr>
        <p:spPr>
          <a:xfrm>
            <a:off x="1439513" y="2899882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 路 intr_gpio_o</a:t>
            </a:r>
          </a:p>
        </p:txBody>
      </p:sp>
      <p:sp>
        <p:nvSpPr>
          <p:cNvPr id="16" name="rect-016"/>
          <p:cNvSpPr/>
          <p:nvPr/>
        </p:nvSpPr>
        <p:spPr>
          <a:xfrm>
            <a:off x="293370" y="319773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03-target"/>
          <p:cNvSpPr/>
          <p:nvPr/>
        </p:nvSpPr>
        <p:spPr>
          <a:xfrm>
            <a:off x="133350" y="33310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3 ← N03"/>
          <p:cNvSpPr txBox="1"/>
          <p:nvPr/>
        </p:nvSpPr>
        <p:spPr>
          <a:xfrm>
            <a:off x="474726" y="324125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19" name="E10-target"/>
          <p:cNvSpPr/>
          <p:nvPr/>
        </p:nvSpPr>
        <p:spPr>
          <a:xfrm>
            <a:off x="133350" y="351777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10 ↔ N05"/>
          <p:cNvSpPr txBox="1"/>
          <p:nvPr/>
        </p:nvSpPr>
        <p:spPr>
          <a:xfrm>
            <a:off x="474726" y="342794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N05</a:t>
            </a:r>
          </a:p>
        </p:txBody>
      </p:sp>
      <p:sp>
        <p:nvSpPr>
          <p:cNvPr id="21" name="E12-source"/>
          <p:cNvSpPr/>
          <p:nvPr/>
        </p:nvSpPr>
        <p:spPr>
          <a:xfrm>
            <a:off x="3915156" y="33310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12 → P03"/>
          <p:cNvSpPr txBox="1"/>
          <p:nvPr/>
        </p:nvSpPr>
        <p:spPr>
          <a:xfrm>
            <a:off x="2957170" y="324125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E12 → P03</a:t>
            </a:r>
          </a:p>
        </p:txBody>
      </p:sp>
      <p:sp>
        <p:nvSpPr>
          <p:cNvPr id="23" name="rect-023"/>
          <p:cNvSpPr/>
          <p:nvPr/>
        </p:nvSpPr>
        <p:spPr>
          <a:xfrm>
            <a:off x="213360" y="3928491"/>
            <a:ext cx="3893820" cy="837438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N07  状态/存储"/>
          <p:cNvSpPr txBox="1"/>
          <p:nvPr/>
        </p:nvSpPr>
        <p:spPr>
          <a:xfrm>
            <a:off x="309372" y="3956441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状态/存储</a:t>
            </a:r>
          </a:p>
        </p:txBody>
      </p:sp>
      <p:sp>
        <p:nvSpPr>
          <p:cNvPr id="25" name="text-025: 6  cio_gpio_en_q[31:0]"/>
          <p:cNvSpPr txBox="1"/>
          <p:nvPr/>
        </p:nvSpPr>
        <p:spPr>
          <a:xfrm>
            <a:off x="1140142" y="4125849"/>
            <a:ext cx="204025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cio_gpio_en_q[31:0]</a:t>
            </a:r>
          </a:p>
        </p:txBody>
      </p:sp>
      <p:sp>
        <p:nvSpPr>
          <p:cNvPr id="26" name="rect-026"/>
          <p:cNvSpPr/>
          <p:nvPr/>
        </p:nvSpPr>
        <p:spPr>
          <a:xfrm>
            <a:off x="293370" y="443522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05-target"/>
          <p:cNvSpPr/>
          <p:nvPr/>
        </p:nvSpPr>
        <p:spPr>
          <a:xfrm>
            <a:off x="133350" y="45685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5 ↔ N05"/>
          <p:cNvSpPr txBox="1"/>
          <p:nvPr/>
        </p:nvSpPr>
        <p:spPr>
          <a:xfrm>
            <a:off x="474726" y="44787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29" name="E07-source"/>
          <p:cNvSpPr/>
          <p:nvPr/>
        </p:nvSpPr>
        <p:spPr>
          <a:xfrm>
            <a:off x="3915156" y="45685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07 → P02"/>
          <p:cNvSpPr txBox="1"/>
          <p:nvPr/>
        </p:nvSpPr>
        <p:spPr>
          <a:xfrm>
            <a:off x="2957170" y="44787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P02</a:t>
            </a:r>
          </a:p>
        </p:txBody>
      </p:sp>
      <p:sp>
        <p:nvSpPr>
          <p:cNvPr id="31" name="rect-031"/>
          <p:cNvSpPr/>
          <p:nvPr/>
        </p:nvSpPr>
        <p:spPr>
          <a:xfrm>
            <a:off x="213360" y="4979289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P02  外部/组边界"/>
          <p:cNvSpPr txBox="1"/>
          <p:nvPr/>
        </p:nvSpPr>
        <p:spPr>
          <a:xfrm>
            <a:off x="309372" y="5007239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33" name="text-033: GPIO PAD 输出使能"/>
          <p:cNvSpPr txBox="1"/>
          <p:nvPr/>
        </p:nvSpPr>
        <p:spPr>
          <a:xfrm>
            <a:off x="1436846" y="5176647"/>
            <a:ext cx="14468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 PAD 输出使能</a:t>
            </a:r>
          </a:p>
        </p:txBody>
      </p:sp>
      <p:sp>
        <p:nvSpPr>
          <p:cNvPr id="34" name="rect-034"/>
          <p:cNvSpPr/>
          <p:nvPr/>
        </p:nvSpPr>
        <p:spPr>
          <a:xfrm>
            <a:off x="293370" y="548601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7-target"/>
          <p:cNvSpPr/>
          <p:nvPr/>
        </p:nvSpPr>
        <p:spPr>
          <a:xfrm>
            <a:off x="133350" y="56193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7 ← N07"/>
          <p:cNvSpPr txBox="1"/>
          <p:nvPr/>
        </p:nvSpPr>
        <p:spPr>
          <a:xfrm>
            <a:off x="474726" y="552954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N07</a:t>
            </a:r>
          </a:p>
        </p:txBody>
      </p:sp>
      <p:sp>
        <p:nvSpPr>
          <p:cNvPr id="37" name="rect-037"/>
          <p:cNvSpPr/>
          <p:nvPr/>
        </p:nvSpPr>
        <p:spPr>
          <a:xfrm>
            <a:off x="4453890" y="1128141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N02  内部工作逻辑"/>
          <p:cNvSpPr txBox="1"/>
          <p:nvPr/>
        </p:nvSpPr>
        <p:spPr>
          <a:xfrm>
            <a:off x="4549902" y="115609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9" name="text-039: 1  prim_filter_ctr × 32"/>
          <p:cNvSpPr txBox="1"/>
          <p:nvPr/>
        </p:nvSpPr>
        <p:spPr>
          <a:xfrm>
            <a:off x="5337334" y="1325499"/>
            <a:ext cx="21269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prim_filter_ctr × 32</a:t>
            </a:r>
          </a:p>
        </p:txBody>
      </p:sp>
      <p:sp>
        <p:nvSpPr>
          <p:cNvPr id="40" name="text-040: 可选输入同步"/>
          <p:cNvSpPr txBox="1"/>
          <p:nvPr/>
        </p:nvSpPr>
        <p:spPr>
          <a:xfrm>
            <a:off x="5971413" y="1507708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可选输入同步</a:t>
            </a:r>
          </a:p>
        </p:txBody>
      </p:sp>
      <p:sp>
        <p:nvSpPr>
          <p:cNvPr id="41" name="text-041: 可选计数滤波"/>
          <p:cNvSpPr txBox="1"/>
          <p:nvPr/>
        </p:nvSpPr>
        <p:spPr>
          <a:xfrm>
            <a:off x="5971413" y="1678396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可选计数滤波</a:t>
            </a:r>
          </a:p>
        </p:txBody>
      </p:sp>
      <p:sp>
        <p:nvSpPr>
          <p:cNvPr id="42" name="text-042: DATA_IN → 软件"/>
          <p:cNvSpPr txBox="1"/>
          <p:nvPr/>
        </p:nvSpPr>
        <p:spPr>
          <a:xfrm>
            <a:off x="5796591" y="1849084"/>
            <a:ext cx="12084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DATA_IN → 软件</a:t>
            </a:r>
          </a:p>
        </p:txBody>
      </p:sp>
      <p:sp>
        <p:nvSpPr>
          <p:cNvPr id="43" name="rect-043"/>
          <p:cNvSpPr/>
          <p:nvPr/>
        </p:nvSpPr>
        <p:spPr>
          <a:xfrm>
            <a:off x="4533900" y="2146935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01-target"/>
          <p:cNvSpPr/>
          <p:nvPr/>
        </p:nvSpPr>
        <p:spPr>
          <a:xfrm>
            <a:off x="4373880" y="228028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1 ← N01"/>
          <p:cNvSpPr txBox="1"/>
          <p:nvPr/>
        </p:nvSpPr>
        <p:spPr>
          <a:xfrm>
            <a:off x="4715256" y="219046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46" name="E08-target"/>
          <p:cNvSpPr/>
          <p:nvPr/>
        </p:nvSpPr>
        <p:spPr>
          <a:xfrm>
            <a:off x="4373880" y="246697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8 ← N05"/>
          <p:cNvSpPr txBox="1"/>
          <p:nvPr/>
        </p:nvSpPr>
        <p:spPr>
          <a:xfrm>
            <a:off x="4715256" y="237715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N05</a:t>
            </a:r>
          </a:p>
        </p:txBody>
      </p:sp>
      <p:sp>
        <p:nvSpPr>
          <p:cNvPr id="48" name="E02-source"/>
          <p:cNvSpPr/>
          <p:nvPr/>
        </p:nvSpPr>
        <p:spPr>
          <a:xfrm>
            <a:off x="8155686" y="228028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2 → N03"/>
          <p:cNvSpPr txBox="1"/>
          <p:nvPr/>
        </p:nvSpPr>
        <p:spPr>
          <a:xfrm>
            <a:off x="7197700" y="219046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50" name="E11-source"/>
          <p:cNvSpPr/>
          <p:nvPr/>
        </p:nvSpPr>
        <p:spPr>
          <a:xfrm>
            <a:off x="8155686" y="246697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11 → N05"/>
          <p:cNvSpPr txBox="1"/>
          <p:nvPr/>
        </p:nvSpPr>
        <p:spPr>
          <a:xfrm>
            <a:off x="7197700" y="237715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E11 → N05</a:t>
            </a:r>
          </a:p>
        </p:txBody>
      </p:sp>
      <p:sp>
        <p:nvSpPr>
          <p:cNvPr id="52" name="rect-052"/>
          <p:cNvSpPr/>
          <p:nvPr/>
        </p:nvSpPr>
        <p:spPr>
          <a:xfrm>
            <a:off x="4453890" y="2877693"/>
            <a:ext cx="3893820" cy="837438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N06  状态/存储"/>
          <p:cNvSpPr txBox="1"/>
          <p:nvPr/>
        </p:nvSpPr>
        <p:spPr>
          <a:xfrm>
            <a:off x="4549902" y="2905643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54" name="text-054: 5  cio_gpio_q[31:0]"/>
          <p:cNvSpPr txBox="1"/>
          <p:nvPr/>
        </p:nvSpPr>
        <p:spPr>
          <a:xfrm>
            <a:off x="5510689" y="3075051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cio_gpio_q[31:0]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338442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04-target"/>
          <p:cNvSpPr/>
          <p:nvPr/>
        </p:nvSpPr>
        <p:spPr>
          <a:xfrm>
            <a:off x="4373880" y="351777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4 ↔ N05"/>
          <p:cNvSpPr txBox="1"/>
          <p:nvPr/>
        </p:nvSpPr>
        <p:spPr>
          <a:xfrm>
            <a:off x="4715256" y="342794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N05</a:t>
            </a:r>
          </a:p>
        </p:txBody>
      </p:sp>
      <p:sp>
        <p:nvSpPr>
          <p:cNvPr id="58" name="E06-source"/>
          <p:cNvSpPr/>
          <p:nvPr/>
        </p:nvSpPr>
        <p:spPr>
          <a:xfrm>
            <a:off x="8155686" y="351777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6 → P01"/>
          <p:cNvSpPr txBox="1"/>
          <p:nvPr/>
        </p:nvSpPr>
        <p:spPr>
          <a:xfrm>
            <a:off x="7197700" y="342794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P01</a:t>
            </a:r>
          </a:p>
        </p:txBody>
      </p:sp>
      <p:sp>
        <p:nvSpPr>
          <p:cNvPr id="60" name="rect-060"/>
          <p:cNvSpPr/>
          <p:nvPr/>
        </p:nvSpPr>
        <p:spPr>
          <a:xfrm>
            <a:off x="4453890" y="3928491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P01  外部/组边界"/>
          <p:cNvSpPr txBox="1"/>
          <p:nvPr/>
        </p:nvSpPr>
        <p:spPr>
          <a:xfrm>
            <a:off x="4549902" y="395644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62" name="text-062: GPIO PAD 输出值"/>
          <p:cNvSpPr txBox="1"/>
          <p:nvPr/>
        </p:nvSpPr>
        <p:spPr>
          <a:xfrm>
            <a:off x="5744051" y="4125849"/>
            <a:ext cx="131349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 PAD 输出值</a:t>
            </a:r>
          </a:p>
        </p:txBody>
      </p:sp>
      <p:sp>
        <p:nvSpPr>
          <p:cNvPr id="63" name="rect-063"/>
          <p:cNvSpPr/>
          <p:nvPr/>
        </p:nvSpPr>
        <p:spPr>
          <a:xfrm>
            <a:off x="4533900" y="443522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E06-target"/>
          <p:cNvSpPr/>
          <p:nvPr/>
        </p:nvSpPr>
        <p:spPr>
          <a:xfrm>
            <a:off x="4373880" y="45685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6 ← N06"/>
          <p:cNvSpPr txBox="1"/>
          <p:nvPr/>
        </p:nvSpPr>
        <p:spPr>
          <a:xfrm>
            <a:off x="4715256" y="44787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N06</a:t>
            </a:r>
          </a:p>
        </p:txBody>
      </p:sp>
      <p:sp>
        <p:nvSpPr>
          <p:cNvPr id="66" name="rect-066"/>
          <p:cNvSpPr/>
          <p:nvPr/>
        </p:nvSpPr>
        <p:spPr>
          <a:xfrm>
            <a:off x="4453890" y="4979289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P03  外部/组边界"/>
          <p:cNvSpPr txBox="1"/>
          <p:nvPr/>
        </p:nvSpPr>
        <p:spPr>
          <a:xfrm>
            <a:off x="4549902" y="5007239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68" name="text-068: SoC GPIO IRQ"/>
          <p:cNvSpPr txBox="1"/>
          <p:nvPr/>
        </p:nvSpPr>
        <p:spPr>
          <a:xfrm>
            <a:off x="5814060" y="5176647"/>
            <a:ext cx="11734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GPIO IRQ</a:t>
            </a:r>
          </a:p>
        </p:txBody>
      </p:sp>
      <p:sp>
        <p:nvSpPr>
          <p:cNvPr id="69" name="rect-069"/>
          <p:cNvSpPr/>
          <p:nvPr/>
        </p:nvSpPr>
        <p:spPr>
          <a:xfrm>
            <a:off x="4533900" y="548601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E12-target"/>
          <p:cNvSpPr/>
          <p:nvPr/>
        </p:nvSpPr>
        <p:spPr>
          <a:xfrm>
            <a:off x="4373880" y="56193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12 ← N04"/>
          <p:cNvSpPr txBox="1"/>
          <p:nvPr/>
        </p:nvSpPr>
        <p:spPr>
          <a:xfrm>
            <a:off x="4715256" y="552954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E12 ← N04</a:t>
            </a:r>
          </a:p>
        </p:txBody>
      </p:sp>
      <p:sp>
        <p:nvSpPr>
          <p:cNvPr id="72" name="rect-072"/>
          <p:cNvSpPr/>
          <p:nvPr/>
        </p:nvSpPr>
        <p:spPr>
          <a:xfrm>
            <a:off x="8694420" y="1128141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N03  内部工作逻辑"/>
          <p:cNvSpPr txBox="1"/>
          <p:nvPr/>
        </p:nvSpPr>
        <p:spPr>
          <a:xfrm>
            <a:off x="8790432" y="115609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74" name="text-074: 2  data_in_q + 比较"/>
          <p:cNvSpPr txBox="1"/>
          <p:nvPr/>
        </p:nvSpPr>
        <p:spPr>
          <a:xfrm>
            <a:off x="9791224" y="1325499"/>
            <a:ext cx="17002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data_in_q + 比较</a:t>
            </a:r>
          </a:p>
        </p:txBody>
      </p:sp>
      <p:sp>
        <p:nvSpPr>
          <p:cNvPr id="75" name="text-075: 上升沿 / 下降沿"/>
          <p:cNvSpPr txBox="1"/>
          <p:nvPr/>
        </p:nvSpPr>
        <p:spPr>
          <a:xfrm>
            <a:off x="10092328" y="1507708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上升沿 / 下降沿</a:t>
            </a:r>
          </a:p>
        </p:txBody>
      </p:sp>
      <p:sp>
        <p:nvSpPr>
          <p:cNvPr id="76" name="text-076: 高电平 / 低电平"/>
          <p:cNvSpPr txBox="1"/>
          <p:nvPr/>
        </p:nvSpPr>
        <p:spPr>
          <a:xfrm>
            <a:off x="10092328" y="1678396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高电平 / 低电平</a:t>
            </a:r>
          </a:p>
        </p:txBody>
      </p:sp>
      <p:sp>
        <p:nvSpPr>
          <p:cNvPr id="77" name="rect-077"/>
          <p:cNvSpPr/>
          <p:nvPr/>
        </p:nvSpPr>
        <p:spPr>
          <a:xfrm>
            <a:off x="8774430" y="1976247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02-target"/>
          <p:cNvSpPr/>
          <p:nvPr/>
        </p:nvSpPr>
        <p:spPr>
          <a:xfrm>
            <a:off x="8614410" y="210959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2 ← N02"/>
          <p:cNvSpPr txBox="1"/>
          <p:nvPr/>
        </p:nvSpPr>
        <p:spPr>
          <a:xfrm>
            <a:off x="8955786" y="201977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80" name="E09-target"/>
          <p:cNvSpPr/>
          <p:nvPr/>
        </p:nvSpPr>
        <p:spPr>
          <a:xfrm>
            <a:off x="8614410" y="229628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9 ← N05"/>
          <p:cNvSpPr txBox="1"/>
          <p:nvPr/>
        </p:nvSpPr>
        <p:spPr>
          <a:xfrm>
            <a:off x="8955786" y="220646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N05</a:t>
            </a:r>
          </a:p>
        </p:txBody>
      </p:sp>
      <p:sp>
        <p:nvSpPr>
          <p:cNvPr id="82" name="E03-source"/>
          <p:cNvSpPr/>
          <p:nvPr/>
        </p:nvSpPr>
        <p:spPr>
          <a:xfrm>
            <a:off x="12396216" y="210959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3 → N04"/>
          <p:cNvSpPr txBox="1"/>
          <p:nvPr/>
        </p:nvSpPr>
        <p:spPr>
          <a:xfrm>
            <a:off x="11438230" y="201977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84" name="rect-084"/>
          <p:cNvSpPr/>
          <p:nvPr/>
        </p:nvSpPr>
        <p:spPr>
          <a:xfrm>
            <a:off x="8694420" y="2707005"/>
            <a:ext cx="3893820" cy="226695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N05  接口与配置"/>
          <p:cNvSpPr txBox="1"/>
          <p:nvPr/>
        </p:nvSpPr>
        <p:spPr>
          <a:xfrm>
            <a:off x="8790432" y="2734955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接口与配置</a:t>
            </a:r>
          </a:p>
        </p:txBody>
      </p:sp>
      <p:sp>
        <p:nvSpPr>
          <p:cNvPr id="86" name="text-086: 4  gpio_reg_top"/>
          <p:cNvSpPr txBox="1"/>
          <p:nvPr/>
        </p:nvSpPr>
        <p:spPr>
          <a:xfrm>
            <a:off x="9924574" y="2904363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gpio_reg_top</a:t>
            </a:r>
          </a:p>
        </p:txBody>
      </p:sp>
      <p:sp>
        <p:nvSpPr>
          <p:cNvPr id="87" name="text-087: DIRECT_OUT / DIRECT_OE"/>
          <p:cNvSpPr txBox="1"/>
          <p:nvPr/>
        </p:nvSpPr>
        <p:spPr>
          <a:xfrm>
            <a:off x="9702813" y="3086572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DIRECT_OUT / DIRECT_OE</a:t>
            </a:r>
          </a:p>
        </p:txBody>
      </p:sp>
      <p:sp>
        <p:nvSpPr>
          <p:cNvPr id="88" name="text-088: MASKED_OUT / MASKED_OE"/>
          <p:cNvSpPr txBox="1"/>
          <p:nvPr/>
        </p:nvSpPr>
        <p:spPr>
          <a:xfrm>
            <a:off x="9702813" y="3257260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MASKED_OUT / MASKED_OE</a:t>
            </a:r>
          </a:p>
        </p:txBody>
      </p:sp>
      <p:sp>
        <p:nvSpPr>
          <p:cNvPr id="89" name="text-089: INTR_CTRL / STATE"/>
          <p:cNvSpPr txBox="1"/>
          <p:nvPr/>
        </p:nvSpPr>
        <p:spPr>
          <a:xfrm>
            <a:off x="9902171" y="3427948"/>
            <a:ext cx="14783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INTR_CTRL / STATE</a:t>
            </a:r>
          </a:p>
        </p:txBody>
      </p:sp>
      <p:sp>
        <p:nvSpPr>
          <p:cNvPr id="90" name="text-090: INPUT_FILTER / DATA_IN"/>
          <p:cNvSpPr txBox="1"/>
          <p:nvPr/>
        </p:nvSpPr>
        <p:spPr>
          <a:xfrm>
            <a:off x="9702813" y="3598636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INPUT_FILTER / DATA_IN</a:t>
            </a:r>
          </a:p>
        </p:txBody>
      </p:sp>
      <p:sp>
        <p:nvSpPr>
          <p:cNvPr id="91" name="rect-091"/>
          <p:cNvSpPr/>
          <p:nvPr/>
        </p:nvSpPr>
        <p:spPr>
          <a:xfrm>
            <a:off x="8774430" y="3896487"/>
            <a:ext cx="3733800" cy="100279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E11-target"/>
          <p:cNvSpPr/>
          <p:nvPr/>
        </p:nvSpPr>
        <p:spPr>
          <a:xfrm>
            <a:off x="8614410" y="402983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E11 ← N02"/>
          <p:cNvSpPr txBox="1"/>
          <p:nvPr/>
        </p:nvSpPr>
        <p:spPr>
          <a:xfrm>
            <a:off x="8955786" y="394001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E11 ← N02</a:t>
            </a:r>
          </a:p>
        </p:txBody>
      </p:sp>
      <p:sp>
        <p:nvSpPr>
          <p:cNvPr id="94" name="E04-source"/>
          <p:cNvSpPr/>
          <p:nvPr/>
        </p:nvSpPr>
        <p:spPr>
          <a:xfrm>
            <a:off x="12396216" y="402983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E04 ↔ N06"/>
          <p:cNvSpPr txBox="1"/>
          <p:nvPr/>
        </p:nvSpPr>
        <p:spPr>
          <a:xfrm>
            <a:off x="11438230" y="394001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N06</a:t>
            </a:r>
          </a:p>
        </p:txBody>
      </p:sp>
      <p:sp>
        <p:nvSpPr>
          <p:cNvPr id="96" name="E05-source"/>
          <p:cNvSpPr/>
          <p:nvPr/>
        </p:nvSpPr>
        <p:spPr>
          <a:xfrm>
            <a:off x="12396216" y="42165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E05 ↔ N07"/>
          <p:cNvSpPr txBox="1"/>
          <p:nvPr/>
        </p:nvSpPr>
        <p:spPr>
          <a:xfrm>
            <a:off x="11438230" y="41267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N07</a:t>
            </a:r>
          </a:p>
        </p:txBody>
      </p:sp>
      <p:sp>
        <p:nvSpPr>
          <p:cNvPr id="98" name="E08-source"/>
          <p:cNvSpPr/>
          <p:nvPr/>
        </p:nvSpPr>
        <p:spPr>
          <a:xfrm>
            <a:off x="12396216" y="44032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9: E08 → N02"/>
          <p:cNvSpPr txBox="1"/>
          <p:nvPr/>
        </p:nvSpPr>
        <p:spPr>
          <a:xfrm>
            <a:off x="11438230" y="431339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N02</a:t>
            </a:r>
          </a:p>
        </p:txBody>
      </p:sp>
      <p:sp>
        <p:nvSpPr>
          <p:cNvPr id="100" name="E09-source"/>
          <p:cNvSpPr/>
          <p:nvPr/>
        </p:nvSpPr>
        <p:spPr>
          <a:xfrm>
            <a:off x="12396216" y="45899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1: E09 → N03"/>
          <p:cNvSpPr txBox="1"/>
          <p:nvPr/>
        </p:nvSpPr>
        <p:spPr>
          <a:xfrm>
            <a:off x="11438230" y="45000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N03</a:t>
            </a:r>
          </a:p>
        </p:txBody>
      </p:sp>
      <p:sp>
        <p:nvSpPr>
          <p:cNvPr id="102" name="E10-source"/>
          <p:cNvSpPr/>
          <p:nvPr/>
        </p:nvSpPr>
        <p:spPr>
          <a:xfrm>
            <a:off x="12396216" y="477659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-103: E10 ↔ N04"/>
          <p:cNvSpPr txBox="1"/>
          <p:nvPr/>
        </p:nvSpPr>
        <p:spPr>
          <a:xfrm>
            <a:off x="11438230" y="468677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↔ N04</a:t>
            </a:r>
          </a:p>
        </p:txBody>
      </p:sp>
      <p:sp>
        <p:nvSpPr>
          <p:cNvPr id="104" name="text-104: Regbus 请求 / 响应"/>
          <p:cNvSpPr txBox="1"/>
          <p:nvPr/>
        </p:nvSpPr>
        <p:spPr>
          <a:xfrm>
            <a:off x="213360" y="5950930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105" name="text-105: 输出值 → PAD"/>
          <p:cNvSpPr txBox="1"/>
          <p:nvPr/>
        </p:nvSpPr>
        <p:spPr>
          <a:xfrm>
            <a:off x="213360" y="6116284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输出值 → PAD</a:t>
            </a:r>
          </a:p>
        </p:txBody>
      </p:sp>
      <p:sp>
        <p:nvSpPr>
          <p:cNvPr id="106" name="text-106: 输出使能 → PAD"/>
          <p:cNvSpPr txBox="1"/>
          <p:nvPr/>
        </p:nvSpPr>
        <p:spPr>
          <a:xfrm>
            <a:off x="213360" y="6281638"/>
            <a:ext cx="113480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输出使能 → PAD</a:t>
            </a:r>
          </a:p>
        </p:txBody>
      </p:sp>
      <p:sp>
        <p:nvSpPr>
          <p:cNvPr id="107" name="text-107: 中断使能 / 清除 / 测试"/>
          <p:cNvSpPr txBox="1"/>
          <p:nvPr/>
        </p:nvSpPr>
        <p:spPr>
          <a:xfrm>
            <a:off x="213360" y="6446992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中断使能 / 清除 / 测试</a:t>
            </a:r>
          </a:p>
        </p:txBody>
      </p:sp>
      <p:sp>
        <p:nvSpPr>
          <p:cNvPr id="108" name="text-108: MASKED 写：掩码选中哪些位，只更新这些位；输入、输出值和输出使能是三条不同"/>
          <p:cNvSpPr txBox="1"/>
          <p:nvPr/>
        </p:nvSpPr>
        <p:spPr>
          <a:xfrm>
            <a:off x="213360" y="6612346"/>
            <a:ext cx="509743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MASKED 写：掩码选中哪些位，只更新这些位；输入、输出值和输出使能是三条不同路径。</a:t>
            </a:r>
          </a:p>
        </p:txBody>
      </p:sp>
      <p:sp>
        <p:nvSpPr>
          <p:cNvPr id="109" name="text-109: intr_gpio_o → SoC"/>
          <p:cNvSpPr txBox="1"/>
          <p:nvPr/>
        </p:nvSpPr>
        <p:spPr>
          <a:xfrm>
            <a:off x="213360" y="6777700"/>
            <a:ext cx="1521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intr_gpio_o → SoC</a:t>
            </a:r>
          </a:p>
        </p:txBody>
      </p:sp>
      <p:sp>
        <p:nvSpPr>
          <p:cNvPr id="110" name="text-110: 配对端口表示图示连接；已有/规划状态见模块和连接表。方向与 A 版一致。虚线模块"/>
          <p:cNvSpPr txBox="1"/>
          <p:nvPr/>
        </p:nvSpPr>
        <p:spPr>
          <a:xfrm>
            <a:off x="213360" y="7326676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5  PLIC：源侧 pending / active 与目标侧优先级选择"/>
          <p:cNvSpPr txBox="1"/>
          <p:nvPr/>
        </p:nvSpPr>
        <p:spPr>
          <a:xfrm>
            <a:off x="213360" y="1295842"/>
            <a:ext cx="51035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05  PLIC：源侧 pending / active 与目标侧优先级选择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570863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008251"/>
            <a:ext cx="3893820" cy="1178814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203620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外设 IRQ 电平"/>
          <p:cNvSpPr txBox="1"/>
          <p:nvPr/>
        </p:nvSpPr>
        <p:spPr>
          <a:xfrm>
            <a:off x="1610201" y="2205609"/>
            <a:ext cx="11001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外设 IRQ 电平</a:t>
            </a:r>
          </a:p>
        </p:txBody>
      </p:sp>
      <p:sp>
        <p:nvSpPr>
          <p:cNvPr id="7" name="text-007: IRQ Router 或旁路"/>
          <p:cNvSpPr txBox="1"/>
          <p:nvPr/>
        </p:nvSpPr>
        <p:spPr>
          <a:xfrm>
            <a:off x="1476318" y="2387818"/>
            <a:ext cx="1367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或旁路</a:t>
            </a:r>
          </a:p>
        </p:txBody>
      </p:sp>
      <p:sp>
        <p:nvSpPr>
          <p:cNvPr id="8" name="text-008: PLIC 目标分支"/>
          <p:cNvSpPr txBox="1"/>
          <p:nvPr/>
        </p:nvSpPr>
        <p:spPr>
          <a:xfrm>
            <a:off x="1654207" y="2558506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 目标分支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285635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1-source"/>
          <p:cNvSpPr/>
          <p:nvPr/>
        </p:nvSpPr>
        <p:spPr>
          <a:xfrm>
            <a:off x="3915156" y="29897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1 → N02"/>
          <p:cNvSpPr txBox="1"/>
          <p:nvPr/>
        </p:nvSpPr>
        <p:spPr>
          <a:xfrm>
            <a:off x="2957170" y="28998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2" name="rect-012"/>
          <p:cNvSpPr/>
          <p:nvPr/>
        </p:nvSpPr>
        <p:spPr>
          <a:xfrm>
            <a:off x="213360" y="3400425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N04  内部工作逻辑"/>
          <p:cNvSpPr txBox="1"/>
          <p:nvPr/>
        </p:nvSpPr>
        <p:spPr>
          <a:xfrm>
            <a:off x="309372" y="342837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14" name="text-014: 3  rv_plic_target × 目标"/>
          <p:cNvSpPr txBox="1"/>
          <p:nvPr/>
        </p:nvSpPr>
        <p:spPr>
          <a:xfrm>
            <a:off x="1093470" y="3597783"/>
            <a:ext cx="21336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rv_plic_target × 目标</a:t>
            </a:r>
          </a:p>
        </p:txBody>
      </p:sp>
      <p:sp>
        <p:nvSpPr>
          <p:cNvPr id="15" name="text-015: pending &amp; enable"/>
          <p:cNvSpPr txBox="1"/>
          <p:nvPr/>
        </p:nvSpPr>
        <p:spPr>
          <a:xfrm>
            <a:off x="1460983" y="3779992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&amp; enable</a:t>
            </a:r>
          </a:p>
        </p:txBody>
      </p:sp>
      <p:sp>
        <p:nvSpPr>
          <p:cNvPr id="16" name="text-016: priority &gt; threshold"/>
          <p:cNvSpPr txBox="1"/>
          <p:nvPr/>
        </p:nvSpPr>
        <p:spPr>
          <a:xfrm>
            <a:off x="1301496" y="3950680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priority &gt; threshold</a:t>
            </a:r>
          </a:p>
        </p:txBody>
      </p:sp>
      <p:sp>
        <p:nvSpPr>
          <p:cNvPr id="17" name="text-017: 选择获胜源 / 产生 IRQ"/>
          <p:cNvSpPr txBox="1"/>
          <p:nvPr/>
        </p:nvSpPr>
        <p:spPr>
          <a:xfrm>
            <a:off x="1390440" y="4121368"/>
            <a:ext cx="153965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选择获胜源 / 产生 IRQ</a:t>
            </a:r>
          </a:p>
        </p:txBody>
      </p:sp>
      <p:sp>
        <p:nvSpPr>
          <p:cNvPr id="18" name="rect-018"/>
          <p:cNvSpPr/>
          <p:nvPr/>
        </p:nvSpPr>
        <p:spPr>
          <a:xfrm>
            <a:off x="293370" y="441921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03-target"/>
          <p:cNvSpPr/>
          <p:nvPr/>
        </p:nvSpPr>
        <p:spPr>
          <a:xfrm>
            <a:off x="133350" y="45525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3 ← N03"/>
          <p:cNvSpPr txBox="1"/>
          <p:nvPr/>
        </p:nvSpPr>
        <p:spPr>
          <a:xfrm>
            <a:off x="474726" y="446274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1" name="E07-target"/>
          <p:cNvSpPr/>
          <p:nvPr/>
        </p:nvSpPr>
        <p:spPr>
          <a:xfrm>
            <a:off x="133350" y="47392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07 ← N05"/>
          <p:cNvSpPr txBox="1"/>
          <p:nvPr/>
        </p:nvSpPr>
        <p:spPr>
          <a:xfrm>
            <a:off x="474726" y="46494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N05</a:t>
            </a:r>
          </a:p>
        </p:txBody>
      </p:sp>
      <p:sp>
        <p:nvSpPr>
          <p:cNvPr id="23" name="E04-source"/>
          <p:cNvSpPr/>
          <p:nvPr/>
        </p:nvSpPr>
        <p:spPr>
          <a:xfrm>
            <a:off x="3915156" y="45525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4 → P01"/>
          <p:cNvSpPr txBox="1"/>
          <p:nvPr/>
        </p:nvSpPr>
        <p:spPr>
          <a:xfrm>
            <a:off x="2957170" y="446274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→ P01</a:t>
            </a:r>
          </a:p>
        </p:txBody>
      </p:sp>
      <p:sp>
        <p:nvSpPr>
          <p:cNvPr id="25" name="E06-source"/>
          <p:cNvSpPr/>
          <p:nvPr/>
        </p:nvSpPr>
        <p:spPr>
          <a:xfrm>
            <a:off x="3915156" y="47392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6 → N05"/>
          <p:cNvSpPr txBox="1"/>
          <p:nvPr/>
        </p:nvSpPr>
        <p:spPr>
          <a:xfrm>
            <a:off x="2957170" y="46494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N05</a:t>
            </a:r>
          </a:p>
        </p:txBody>
      </p:sp>
      <p:sp>
        <p:nvSpPr>
          <p:cNvPr id="27" name="rect-027"/>
          <p:cNvSpPr/>
          <p:nvPr/>
        </p:nvSpPr>
        <p:spPr>
          <a:xfrm>
            <a:off x="4453890" y="2008251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N02  内部工作逻辑"/>
          <p:cNvSpPr txBox="1"/>
          <p:nvPr/>
        </p:nvSpPr>
        <p:spPr>
          <a:xfrm>
            <a:off x="4549902" y="203620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9" name="text-029: 1  prim_flop_2sync"/>
          <p:cNvSpPr txBox="1"/>
          <p:nvPr/>
        </p:nvSpPr>
        <p:spPr>
          <a:xfrm>
            <a:off x="5554028" y="2205609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prim_flop_2sync</a:t>
            </a:r>
          </a:p>
        </p:txBody>
      </p:sp>
      <p:sp>
        <p:nvSpPr>
          <p:cNvPr id="30" name="text-030: 同步输入"/>
          <p:cNvSpPr txBox="1"/>
          <p:nvPr/>
        </p:nvSpPr>
        <p:spPr>
          <a:xfrm>
            <a:off x="6094095" y="2387818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同步输入</a:t>
            </a:r>
          </a:p>
        </p:txBody>
      </p:sp>
      <p:sp>
        <p:nvSpPr>
          <p:cNvPr id="31" name="text-031: 本集成按电平触发"/>
          <p:cNvSpPr txBox="1"/>
          <p:nvPr/>
        </p:nvSpPr>
        <p:spPr>
          <a:xfrm>
            <a:off x="5848731" y="2558506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本集成按电平触发</a:t>
            </a:r>
          </a:p>
        </p:txBody>
      </p:sp>
      <p:sp>
        <p:nvSpPr>
          <p:cNvPr id="32" name="rect-032"/>
          <p:cNvSpPr/>
          <p:nvPr/>
        </p:nvSpPr>
        <p:spPr>
          <a:xfrm>
            <a:off x="4533900" y="285635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1-target"/>
          <p:cNvSpPr/>
          <p:nvPr/>
        </p:nvSpPr>
        <p:spPr>
          <a:xfrm>
            <a:off x="4373880" y="29897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01 ← N01"/>
          <p:cNvSpPr txBox="1"/>
          <p:nvPr/>
        </p:nvSpPr>
        <p:spPr>
          <a:xfrm>
            <a:off x="4715256" y="28998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5" name="E02-source"/>
          <p:cNvSpPr/>
          <p:nvPr/>
        </p:nvSpPr>
        <p:spPr>
          <a:xfrm>
            <a:off x="8155686" y="29897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2 → N03"/>
          <p:cNvSpPr txBox="1"/>
          <p:nvPr/>
        </p:nvSpPr>
        <p:spPr>
          <a:xfrm>
            <a:off x="7197700" y="28998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37" name="rect-037"/>
          <p:cNvSpPr/>
          <p:nvPr/>
        </p:nvSpPr>
        <p:spPr>
          <a:xfrm>
            <a:off x="4453890" y="3400425"/>
            <a:ext cx="3893820" cy="153619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N05  接口与配置"/>
          <p:cNvSpPr txBox="1"/>
          <p:nvPr/>
        </p:nvSpPr>
        <p:spPr>
          <a:xfrm>
            <a:off x="4549902" y="3428375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接口与配置</a:t>
            </a:r>
          </a:p>
        </p:txBody>
      </p:sp>
      <p:sp>
        <p:nvSpPr>
          <p:cNvPr id="39" name="text-039: 4  rv_plic_reg_top"/>
          <p:cNvSpPr txBox="1"/>
          <p:nvPr/>
        </p:nvSpPr>
        <p:spPr>
          <a:xfrm>
            <a:off x="5554028" y="3597783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rv_plic_reg_top</a:t>
            </a:r>
          </a:p>
        </p:txBody>
      </p:sp>
      <p:sp>
        <p:nvSpPr>
          <p:cNvPr id="40" name="text-040: 源 priority；每目标 enable / threshold"/>
          <p:cNvSpPr txBox="1"/>
          <p:nvPr/>
        </p:nvSpPr>
        <p:spPr>
          <a:xfrm>
            <a:off x="4916348" y="3779992"/>
            <a:ext cx="2968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priority；每目标 enable / threshold</a:t>
            </a:r>
          </a:p>
        </p:txBody>
      </p:sp>
      <p:sp>
        <p:nvSpPr>
          <p:cNvPr id="41" name="text-041: 读 claim → 源 ID；写 complete ← 已处理 ID"/>
          <p:cNvSpPr txBox="1"/>
          <p:nvPr/>
        </p:nvSpPr>
        <p:spPr>
          <a:xfrm>
            <a:off x="4790599" y="3950680"/>
            <a:ext cx="32204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 claim → 源 ID；写 complete ← 已处理 ID</a:t>
            </a:r>
          </a:p>
        </p:txBody>
      </p:sp>
      <p:sp>
        <p:nvSpPr>
          <p:cNvPr id="42" name="text-042: 源 ID = 0 保留；设备自身状态需驱动清除"/>
          <p:cNvSpPr txBox="1"/>
          <p:nvPr/>
        </p:nvSpPr>
        <p:spPr>
          <a:xfrm>
            <a:off x="5100371" y="4121368"/>
            <a:ext cx="26008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ID = 0 保留；设备自身状态需驱动清除</a:t>
            </a:r>
          </a:p>
        </p:txBody>
      </p:sp>
      <p:sp>
        <p:nvSpPr>
          <p:cNvPr id="43" name="rect-043"/>
          <p:cNvSpPr/>
          <p:nvPr/>
        </p:nvSpPr>
        <p:spPr>
          <a:xfrm>
            <a:off x="4533900" y="441921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06-target"/>
          <p:cNvSpPr/>
          <p:nvPr/>
        </p:nvSpPr>
        <p:spPr>
          <a:xfrm>
            <a:off x="4373880" y="45525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6 ← N04"/>
          <p:cNvSpPr txBox="1"/>
          <p:nvPr/>
        </p:nvSpPr>
        <p:spPr>
          <a:xfrm>
            <a:off x="4715256" y="446274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N04</a:t>
            </a:r>
          </a:p>
        </p:txBody>
      </p:sp>
      <p:sp>
        <p:nvSpPr>
          <p:cNvPr id="46" name="E08-target"/>
          <p:cNvSpPr/>
          <p:nvPr/>
        </p:nvSpPr>
        <p:spPr>
          <a:xfrm>
            <a:off x="4373880" y="47392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8 ← N03"/>
          <p:cNvSpPr txBox="1"/>
          <p:nvPr/>
        </p:nvSpPr>
        <p:spPr>
          <a:xfrm>
            <a:off x="4715256" y="46494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← N03</a:t>
            </a:r>
          </a:p>
        </p:txBody>
      </p:sp>
      <p:sp>
        <p:nvSpPr>
          <p:cNvPr id="48" name="E05-source"/>
          <p:cNvSpPr/>
          <p:nvPr/>
        </p:nvSpPr>
        <p:spPr>
          <a:xfrm>
            <a:off x="8155686" y="45525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5 → N03"/>
          <p:cNvSpPr txBox="1"/>
          <p:nvPr/>
        </p:nvSpPr>
        <p:spPr>
          <a:xfrm>
            <a:off x="7197700" y="446274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N03</a:t>
            </a:r>
          </a:p>
        </p:txBody>
      </p:sp>
      <p:sp>
        <p:nvSpPr>
          <p:cNvPr id="50" name="E07-source"/>
          <p:cNvSpPr/>
          <p:nvPr/>
        </p:nvSpPr>
        <p:spPr>
          <a:xfrm>
            <a:off x="8155686" y="47392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7 → N04"/>
          <p:cNvSpPr txBox="1"/>
          <p:nvPr/>
        </p:nvSpPr>
        <p:spPr>
          <a:xfrm>
            <a:off x="7197700" y="46494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N04</a:t>
            </a:r>
          </a:p>
        </p:txBody>
      </p:sp>
      <p:sp>
        <p:nvSpPr>
          <p:cNvPr id="52" name="rect-052"/>
          <p:cNvSpPr/>
          <p:nvPr/>
        </p:nvSpPr>
        <p:spPr>
          <a:xfrm>
            <a:off x="8694420" y="2008251"/>
            <a:ext cx="3893820" cy="17068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N03  内部工作逻辑"/>
          <p:cNvSpPr txBox="1"/>
          <p:nvPr/>
        </p:nvSpPr>
        <p:spPr>
          <a:xfrm>
            <a:off x="8790432" y="203620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4" name="text-054: 2  rv_plic_gateway"/>
          <p:cNvSpPr txBox="1"/>
          <p:nvPr/>
        </p:nvSpPr>
        <p:spPr>
          <a:xfrm>
            <a:off x="9794558" y="2205609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rv_plic_gateway</a:t>
            </a:r>
          </a:p>
        </p:txBody>
      </p:sp>
      <p:sp>
        <p:nvSpPr>
          <p:cNvPr id="55" name="text-055: 每源 pending：ip"/>
          <p:cNvSpPr txBox="1"/>
          <p:nvPr/>
        </p:nvSpPr>
        <p:spPr>
          <a:xfrm>
            <a:off x="9997250" y="2387818"/>
            <a:ext cx="1288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pending：ip</a:t>
            </a:r>
          </a:p>
        </p:txBody>
      </p:sp>
      <p:sp>
        <p:nvSpPr>
          <p:cNvPr id="56" name="text-056: 每源 active：ia"/>
          <p:cNvSpPr txBox="1"/>
          <p:nvPr/>
        </p:nvSpPr>
        <p:spPr>
          <a:xfrm>
            <a:off x="10037121" y="2558506"/>
            <a:ext cx="12084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active：ia</a:t>
            </a:r>
          </a:p>
        </p:txBody>
      </p:sp>
      <p:sp>
        <p:nvSpPr>
          <p:cNvPr id="57" name="text-057: claim 清 pending"/>
          <p:cNvSpPr txBox="1"/>
          <p:nvPr/>
        </p:nvSpPr>
        <p:spPr>
          <a:xfrm>
            <a:off x="9960445" y="2729194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claim 清 pending</a:t>
            </a:r>
          </a:p>
        </p:txBody>
      </p:sp>
      <p:sp>
        <p:nvSpPr>
          <p:cNvPr id="58" name="text-058: complete 允许再触发"/>
          <p:cNvSpPr txBox="1"/>
          <p:nvPr/>
        </p:nvSpPr>
        <p:spPr>
          <a:xfrm>
            <a:off x="9914439" y="2899882"/>
            <a:ext cx="145378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complete 允许再触发</a:t>
            </a:r>
          </a:p>
        </p:txBody>
      </p:sp>
      <p:sp>
        <p:nvSpPr>
          <p:cNvPr id="59" name="rect-059"/>
          <p:cNvSpPr/>
          <p:nvPr/>
        </p:nvSpPr>
        <p:spPr>
          <a:xfrm>
            <a:off x="8774430" y="319773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02-target"/>
          <p:cNvSpPr/>
          <p:nvPr/>
        </p:nvSpPr>
        <p:spPr>
          <a:xfrm>
            <a:off x="8614410" y="33310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2 ← N02"/>
          <p:cNvSpPr txBox="1"/>
          <p:nvPr/>
        </p:nvSpPr>
        <p:spPr>
          <a:xfrm>
            <a:off x="8955786" y="324125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62" name="E05-target"/>
          <p:cNvSpPr/>
          <p:nvPr/>
        </p:nvSpPr>
        <p:spPr>
          <a:xfrm>
            <a:off x="8614410" y="351777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5 ← N05"/>
          <p:cNvSpPr txBox="1"/>
          <p:nvPr/>
        </p:nvSpPr>
        <p:spPr>
          <a:xfrm>
            <a:off x="8955786" y="342794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N05</a:t>
            </a:r>
          </a:p>
        </p:txBody>
      </p:sp>
      <p:sp>
        <p:nvSpPr>
          <p:cNvPr id="64" name="E03-source"/>
          <p:cNvSpPr/>
          <p:nvPr/>
        </p:nvSpPr>
        <p:spPr>
          <a:xfrm>
            <a:off x="12396216" y="33310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3 → N04"/>
          <p:cNvSpPr txBox="1"/>
          <p:nvPr/>
        </p:nvSpPr>
        <p:spPr>
          <a:xfrm>
            <a:off x="11438230" y="324125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66" name="E08-source"/>
          <p:cNvSpPr/>
          <p:nvPr/>
        </p:nvSpPr>
        <p:spPr>
          <a:xfrm>
            <a:off x="12396216" y="351777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8 → N05"/>
          <p:cNvSpPr txBox="1"/>
          <p:nvPr/>
        </p:nvSpPr>
        <p:spPr>
          <a:xfrm>
            <a:off x="11438230" y="342794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→ N05</a:t>
            </a:r>
          </a:p>
        </p:txBody>
      </p:sp>
      <p:sp>
        <p:nvSpPr>
          <p:cNvPr id="68" name="rect-068"/>
          <p:cNvSpPr/>
          <p:nvPr/>
        </p:nvSpPr>
        <p:spPr>
          <a:xfrm>
            <a:off x="8694420" y="3928491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P01  外部/组边界"/>
          <p:cNvSpPr txBox="1"/>
          <p:nvPr/>
        </p:nvSpPr>
        <p:spPr>
          <a:xfrm>
            <a:off x="8790432" y="395644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70" name="text-070: xeip → hart"/>
          <p:cNvSpPr txBox="1"/>
          <p:nvPr/>
        </p:nvSpPr>
        <p:spPr>
          <a:xfrm>
            <a:off x="10074592" y="4125849"/>
            <a:ext cx="113347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xeip → hart</a:t>
            </a:r>
          </a:p>
        </p:txBody>
      </p:sp>
      <p:sp>
        <p:nvSpPr>
          <p:cNvPr id="71" name="rect-071"/>
          <p:cNvSpPr/>
          <p:nvPr/>
        </p:nvSpPr>
        <p:spPr>
          <a:xfrm>
            <a:off x="8774430" y="443522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E04-target"/>
          <p:cNvSpPr/>
          <p:nvPr/>
        </p:nvSpPr>
        <p:spPr>
          <a:xfrm>
            <a:off x="8614410" y="45685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4 ← N04"/>
          <p:cNvSpPr txBox="1"/>
          <p:nvPr/>
        </p:nvSpPr>
        <p:spPr>
          <a:xfrm>
            <a:off x="8955786" y="447874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74" name="text-074: xeip → hart"/>
          <p:cNvSpPr txBox="1"/>
          <p:nvPr/>
        </p:nvSpPr>
        <p:spPr>
          <a:xfrm>
            <a:off x="213360" y="5070820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xeip → hart</a:t>
            </a:r>
          </a:p>
        </p:txBody>
      </p:sp>
      <p:sp>
        <p:nvSpPr>
          <p:cNvPr id="75" name="text-075: M / S 外部中断"/>
          <p:cNvSpPr txBox="1"/>
          <p:nvPr/>
        </p:nvSpPr>
        <p:spPr>
          <a:xfrm>
            <a:off x="213360" y="5236174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 / S 外部中断</a:t>
            </a:r>
          </a:p>
        </p:txBody>
      </p:sp>
      <p:sp>
        <p:nvSpPr>
          <p:cNvPr id="76" name="text-076: Regbus 请求 / 响应"/>
          <p:cNvSpPr txBox="1"/>
          <p:nvPr/>
        </p:nvSpPr>
        <p:spPr>
          <a:xfrm>
            <a:off x="213360" y="5401528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77" name="text-077: claim / complete"/>
          <p:cNvSpPr txBox="1"/>
          <p:nvPr/>
        </p:nvSpPr>
        <p:spPr>
          <a:xfrm>
            <a:off x="213360" y="5566882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78" name="text-078: 获胜源 ID"/>
          <p:cNvSpPr txBox="1"/>
          <p:nvPr/>
        </p:nvSpPr>
        <p:spPr>
          <a:xfrm>
            <a:off x="213360" y="5732236"/>
            <a:ext cx="7299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获胜源 ID</a:t>
            </a:r>
          </a:p>
        </p:txBody>
      </p:sp>
      <p:sp>
        <p:nvSpPr>
          <p:cNvPr id="79" name="text-079: priority / enable / threshold"/>
          <p:cNvSpPr txBox="1"/>
          <p:nvPr/>
        </p:nvSpPr>
        <p:spPr>
          <a:xfrm>
            <a:off x="213360" y="5897590"/>
            <a:ext cx="24352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priority / enable / threshold</a:t>
            </a:r>
          </a:p>
        </p:txBody>
      </p:sp>
      <p:sp>
        <p:nvSpPr>
          <p:cNvPr id="80" name="text-080: 配对端口表示图示连接；已有/规划状态见模块和连接表。方向与 A 版一致。虚线模块"/>
          <p:cNvSpPr txBox="1"/>
          <p:nvPr/>
        </p:nvSpPr>
        <p:spPr>
          <a:xfrm>
            <a:off x="213360" y="6446566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A  CLINT：RTC 边沿变为计数使能；比较器产生定时中断"/>
          <p:cNvSpPr txBox="1"/>
          <p:nvPr/>
        </p:nvSpPr>
        <p:spPr>
          <a:xfrm>
            <a:off x="213360" y="509077"/>
            <a:ext cx="49670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06A  CLINT：RTC 边沿变为计数使能；比较器产生定时中断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784098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221486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24943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clint_sync_wedge"/>
          <p:cNvSpPr txBox="1"/>
          <p:nvPr/>
        </p:nvSpPr>
        <p:spPr>
          <a:xfrm>
            <a:off x="1270159" y="1418844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clint_sync_wedge</a:t>
            </a:r>
          </a:p>
        </p:txBody>
      </p:sp>
      <p:sp>
        <p:nvSpPr>
          <p:cNvPr id="7" name="text-007: 同步 + 上升沿检测"/>
          <p:cNvSpPr txBox="1"/>
          <p:nvPr/>
        </p:nvSpPr>
        <p:spPr>
          <a:xfrm>
            <a:off x="1549927" y="1601053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 + 上升沿检测</a:t>
            </a:r>
          </a:p>
        </p:txBody>
      </p:sp>
      <p:sp>
        <p:nvSpPr>
          <p:cNvPr id="8" name="text-008: increase_timer：一拍使能"/>
          <p:cNvSpPr txBox="1"/>
          <p:nvPr/>
        </p:nvSpPr>
        <p:spPr>
          <a:xfrm>
            <a:off x="1234021" y="1771741"/>
            <a:ext cx="18524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increase_timer：一拍使能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206959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1-target"/>
          <p:cNvSpPr/>
          <p:nvPr/>
        </p:nvSpPr>
        <p:spPr>
          <a:xfrm>
            <a:off x="133350" y="220294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1 ← P01"/>
          <p:cNvSpPr txBox="1"/>
          <p:nvPr/>
        </p:nvSpPr>
        <p:spPr>
          <a:xfrm>
            <a:off x="474726" y="211311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P01</a:t>
            </a:r>
          </a:p>
        </p:txBody>
      </p:sp>
      <p:sp>
        <p:nvSpPr>
          <p:cNvPr id="12" name="E02-source"/>
          <p:cNvSpPr/>
          <p:nvPr/>
        </p:nvSpPr>
        <p:spPr>
          <a:xfrm>
            <a:off x="3915156" y="220294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2 → N02"/>
          <p:cNvSpPr txBox="1"/>
          <p:nvPr/>
        </p:nvSpPr>
        <p:spPr>
          <a:xfrm>
            <a:off x="2957170" y="211311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→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2613660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4  状态/存储"/>
          <p:cNvSpPr txBox="1"/>
          <p:nvPr/>
        </p:nvSpPr>
        <p:spPr>
          <a:xfrm>
            <a:off x="309372" y="264161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6" name="text-016: 4  MTIMECMP[63:0] 字段"/>
          <p:cNvSpPr txBox="1"/>
          <p:nvPr/>
        </p:nvSpPr>
        <p:spPr>
          <a:xfrm>
            <a:off x="1180148" y="2811018"/>
            <a:ext cx="19602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MTIMECMP[63:0] 字段</a:t>
            </a:r>
          </a:p>
        </p:txBody>
      </p:sp>
      <p:sp>
        <p:nvSpPr>
          <p:cNvPr id="17" name="text-017: reg_top 内的比较值"/>
          <p:cNvSpPr txBox="1"/>
          <p:nvPr/>
        </p:nvSpPr>
        <p:spPr>
          <a:xfrm>
            <a:off x="1473251" y="2993227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内的比较值</a:t>
            </a:r>
          </a:p>
        </p:txBody>
      </p:sp>
      <p:sp>
        <p:nvSpPr>
          <p:cNvPr id="18" name="rect-018"/>
          <p:cNvSpPr/>
          <p:nvPr/>
        </p:nvSpPr>
        <p:spPr>
          <a:xfrm>
            <a:off x="293370" y="329107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07-target"/>
          <p:cNvSpPr/>
          <p:nvPr/>
        </p:nvSpPr>
        <p:spPr>
          <a:xfrm>
            <a:off x="133350" y="34244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7 ← N05"/>
          <p:cNvSpPr txBox="1"/>
          <p:nvPr/>
        </p:nvSpPr>
        <p:spPr>
          <a:xfrm>
            <a:off x="474726" y="33346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N05</a:t>
            </a:r>
          </a:p>
        </p:txBody>
      </p:sp>
      <p:sp>
        <p:nvSpPr>
          <p:cNvPr id="21" name="E05-source"/>
          <p:cNvSpPr/>
          <p:nvPr/>
        </p:nvSpPr>
        <p:spPr>
          <a:xfrm>
            <a:off x="3915156" y="34244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05 → N03"/>
          <p:cNvSpPr txBox="1"/>
          <p:nvPr/>
        </p:nvSpPr>
        <p:spPr>
          <a:xfrm>
            <a:off x="2957170" y="33346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N03</a:t>
            </a:r>
          </a:p>
        </p:txBody>
      </p:sp>
      <p:sp>
        <p:nvSpPr>
          <p:cNvPr id="23" name="rect-023"/>
          <p:cNvSpPr/>
          <p:nvPr/>
        </p:nvSpPr>
        <p:spPr>
          <a:xfrm>
            <a:off x="213360" y="3835146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P01  外部/组边界"/>
          <p:cNvSpPr txBox="1"/>
          <p:nvPr/>
        </p:nvSpPr>
        <p:spPr>
          <a:xfrm>
            <a:off x="309372" y="386309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25" name="text-025: rtc_i"/>
          <p:cNvSpPr txBox="1"/>
          <p:nvPr/>
        </p:nvSpPr>
        <p:spPr>
          <a:xfrm>
            <a:off x="1876901" y="4032504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26" name="rect-026"/>
          <p:cNvSpPr/>
          <p:nvPr/>
        </p:nvSpPr>
        <p:spPr>
          <a:xfrm>
            <a:off x="293370" y="434187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01-source"/>
          <p:cNvSpPr/>
          <p:nvPr/>
        </p:nvSpPr>
        <p:spPr>
          <a:xfrm>
            <a:off x="3915156" y="44752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1 → N01"/>
          <p:cNvSpPr txBox="1"/>
          <p:nvPr/>
        </p:nvSpPr>
        <p:spPr>
          <a:xfrm>
            <a:off x="2957170" y="43854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N01</a:t>
            </a:r>
          </a:p>
        </p:txBody>
      </p:sp>
      <p:sp>
        <p:nvSpPr>
          <p:cNvPr id="29" name="rect-029"/>
          <p:cNvSpPr/>
          <p:nvPr/>
        </p:nvSpPr>
        <p:spPr>
          <a:xfrm>
            <a:off x="213360" y="4885944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P04  外部/组边界"/>
          <p:cNvSpPr txBox="1"/>
          <p:nvPr/>
        </p:nvSpPr>
        <p:spPr>
          <a:xfrm>
            <a:off x="309372" y="4913894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P04  外部/组边界</a:t>
            </a:r>
          </a:p>
        </p:txBody>
      </p:sp>
      <p:sp>
        <p:nvSpPr>
          <p:cNvPr id="31" name="text-031: MSIP / ipi_o"/>
          <p:cNvSpPr txBox="1"/>
          <p:nvPr/>
        </p:nvSpPr>
        <p:spPr>
          <a:xfrm>
            <a:off x="1573530" y="5083302"/>
            <a:ext cx="11734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MSIP / ipi_o</a:t>
            </a:r>
          </a:p>
        </p:txBody>
      </p:sp>
      <p:sp>
        <p:nvSpPr>
          <p:cNvPr id="32" name="rect-032"/>
          <p:cNvSpPr/>
          <p:nvPr/>
        </p:nvSpPr>
        <p:spPr>
          <a:xfrm>
            <a:off x="293370" y="539267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10-target"/>
          <p:cNvSpPr/>
          <p:nvPr/>
        </p:nvSpPr>
        <p:spPr>
          <a:xfrm>
            <a:off x="133350" y="55260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10 ← N06"/>
          <p:cNvSpPr txBox="1"/>
          <p:nvPr/>
        </p:nvSpPr>
        <p:spPr>
          <a:xfrm>
            <a:off x="474726" y="54361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← N06</a:t>
            </a:r>
          </a:p>
        </p:txBody>
      </p:sp>
      <p:sp>
        <p:nvSpPr>
          <p:cNvPr id="35" name="rect-035"/>
          <p:cNvSpPr/>
          <p:nvPr/>
        </p:nvSpPr>
        <p:spPr>
          <a:xfrm>
            <a:off x="4453890" y="1221486"/>
            <a:ext cx="3893820" cy="136550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N02  状态/存储"/>
          <p:cNvSpPr txBox="1"/>
          <p:nvPr/>
        </p:nvSpPr>
        <p:spPr>
          <a:xfrm>
            <a:off x="4549902" y="1249436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状态/存储</a:t>
            </a:r>
          </a:p>
        </p:txBody>
      </p:sp>
      <p:sp>
        <p:nvSpPr>
          <p:cNvPr id="37" name="text-037: 2  MTIME[63:0] 字段"/>
          <p:cNvSpPr txBox="1"/>
          <p:nvPr/>
        </p:nvSpPr>
        <p:spPr>
          <a:xfrm>
            <a:off x="5550694" y="1418844"/>
            <a:ext cx="17002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MTIME[63:0] 字段</a:t>
            </a:r>
          </a:p>
        </p:txBody>
      </p:sp>
      <p:sp>
        <p:nvSpPr>
          <p:cNvPr id="38" name="text-038: reg_top 存储；可由软件写"/>
          <p:cNvSpPr txBox="1"/>
          <p:nvPr/>
        </p:nvSpPr>
        <p:spPr>
          <a:xfrm>
            <a:off x="5529758" y="1601053"/>
            <a:ext cx="17420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存储；可由软件写</a:t>
            </a:r>
          </a:p>
        </p:txBody>
      </p:sp>
      <p:sp>
        <p:nvSpPr>
          <p:cNvPr id="39" name="text-039: RTC 沿使能自动加 1"/>
          <p:cNvSpPr txBox="1"/>
          <p:nvPr/>
        </p:nvSpPr>
        <p:spPr>
          <a:xfrm>
            <a:off x="5732183" y="1771741"/>
            <a:ext cx="13372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 沿使能自动加 1</a:t>
            </a:r>
          </a:p>
        </p:txBody>
      </p:sp>
      <p:sp>
        <p:nvSpPr>
          <p:cNvPr id="40" name="rect-040"/>
          <p:cNvSpPr/>
          <p:nvPr/>
        </p:nvSpPr>
        <p:spPr>
          <a:xfrm>
            <a:off x="4533900" y="206959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2-target"/>
          <p:cNvSpPr/>
          <p:nvPr/>
        </p:nvSpPr>
        <p:spPr>
          <a:xfrm>
            <a:off x="4373880" y="220294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2 ← N01"/>
          <p:cNvSpPr txBox="1"/>
          <p:nvPr/>
        </p:nvSpPr>
        <p:spPr>
          <a:xfrm>
            <a:off x="4715256" y="211311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← N01</a:t>
            </a:r>
          </a:p>
        </p:txBody>
      </p:sp>
      <p:sp>
        <p:nvSpPr>
          <p:cNvPr id="43" name="E08-target"/>
          <p:cNvSpPr/>
          <p:nvPr/>
        </p:nvSpPr>
        <p:spPr>
          <a:xfrm>
            <a:off x="4373880" y="238963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8 ↔ N05"/>
          <p:cNvSpPr txBox="1"/>
          <p:nvPr/>
        </p:nvSpPr>
        <p:spPr>
          <a:xfrm>
            <a:off x="4715256" y="229980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N05</a:t>
            </a:r>
          </a:p>
        </p:txBody>
      </p:sp>
      <p:sp>
        <p:nvSpPr>
          <p:cNvPr id="45" name="E03-source"/>
          <p:cNvSpPr/>
          <p:nvPr/>
        </p:nvSpPr>
        <p:spPr>
          <a:xfrm>
            <a:off x="8155686" y="220294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 → N03"/>
          <p:cNvSpPr txBox="1"/>
          <p:nvPr/>
        </p:nvSpPr>
        <p:spPr>
          <a:xfrm>
            <a:off x="7197700" y="211311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N03</a:t>
            </a:r>
          </a:p>
        </p:txBody>
      </p:sp>
      <p:sp>
        <p:nvSpPr>
          <p:cNvPr id="47" name="rect-047"/>
          <p:cNvSpPr/>
          <p:nvPr/>
        </p:nvSpPr>
        <p:spPr>
          <a:xfrm>
            <a:off x="4453890" y="2800350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N06  状态/存储"/>
          <p:cNvSpPr txBox="1"/>
          <p:nvPr/>
        </p:nvSpPr>
        <p:spPr>
          <a:xfrm>
            <a:off x="4549902" y="282830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49" name="text-049: 6  MSIP 字段"/>
          <p:cNvSpPr txBox="1"/>
          <p:nvPr/>
        </p:nvSpPr>
        <p:spPr>
          <a:xfrm>
            <a:off x="5854065" y="2997708"/>
            <a:ext cx="10934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MSIP 字段</a:t>
            </a:r>
          </a:p>
        </p:txBody>
      </p:sp>
      <p:sp>
        <p:nvSpPr>
          <p:cNvPr id="50" name="text-050: reg_top 内；软件写"/>
          <p:cNvSpPr txBox="1"/>
          <p:nvPr/>
        </p:nvSpPr>
        <p:spPr>
          <a:xfrm>
            <a:off x="5713781" y="3179917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内；软件写</a:t>
            </a:r>
          </a:p>
        </p:txBody>
      </p:sp>
      <p:sp>
        <p:nvSpPr>
          <p:cNvPr id="51" name="rect-051"/>
          <p:cNvSpPr/>
          <p:nvPr/>
        </p:nvSpPr>
        <p:spPr>
          <a:xfrm>
            <a:off x="4533900" y="347776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09-target"/>
          <p:cNvSpPr/>
          <p:nvPr/>
        </p:nvSpPr>
        <p:spPr>
          <a:xfrm>
            <a:off x="4373880" y="36111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9 ← N05"/>
          <p:cNvSpPr txBox="1"/>
          <p:nvPr/>
        </p:nvSpPr>
        <p:spPr>
          <a:xfrm>
            <a:off x="4715256" y="35212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← N05</a:t>
            </a:r>
          </a:p>
        </p:txBody>
      </p:sp>
      <p:sp>
        <p:nvSpPr>
          <p:cNvPr id="54" name="E10-source"/>
          <p:cNvSpPr/>
          <p:nvPr/>
        </p:nvSpPr>
        <p:spPr>
          <a:xfrm>
            <a:off x="8155686" y="36111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10 → P04"/>
          <p:cNvSpPr txBox="1"/>
          <p:nvPr/>
        </p:nvSpPr>
        <p:spPr>
          <a:xfrm>
            <a:off x="7197700" y="35212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→ P04</a:t>
            </a:r>
          </a:p>
        </p:txBody>
      </p:sp>
      <p:sp>
        <p:nvSpPr>
          <p:cNvPr id="56" name="rect-056"/>
          <p:cNvSpPr/>
          <p:nvPr/>
        </p:nvSpPr>
        <p:spPr>
          <a:xfrm>
            <a:off x="4453890" y="4021836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P02  外部/组边界"/>
          <p:cNvSpPr txBox="1"/>
          <p:nvPr/>
        </p:nvSpPr>
        <p:spPr>
          <a:xfrm>
            <a:off x="4549902" y="404978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58" name="text-058: MTIP / timer_irq_o"/>
          <p:cNvSpPr txBox="1"/>
          <p:nvPr/>
        </p:nvSpPr>
        <p:spPr>
          <a:xfrm>
            <a:off x="5554028" y="4219194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/ timer_irq_o</a:t>
            </a:r>
          </a:p>
        </p:txBody>
      </p:sp>
      <p:sp>
        <p:nvSpPr>
          <p:cNvPr id="59" name="rect-059"/>
          <p:cNvSpPr/>
          <p:nvPr/>
        </p:nvSpPr>
        <p:spPr>
          <a:xfrm>
            <a:off x="4533900" y="452856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04-target"/>
          <p:cNvSpPr/>
          <p:nvPr/>
        </p:nvSpPr>
        <p:spPr>
          <a:xfrm>
            <a:off x="4373880" y="466191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4 ← N03"/>
          <p:cNvSpPr txBox="1"/>
          <p:nvPr/>
        </p:nvSpPr>
        <p:spPr>
          <a:xfrm>
            <a:off x="4715256" y="457209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← N03</a:t>
            </a:r>
          </a:p>
        </p:txBody>
      </p:sp>
      <p:sp>
        <p:nvSpPr>
          <p:cNvPr id="62" name="rect-062"/>
          <p:cNvSpPr/>
          <p:nvPr/>
        </p:nvSpPr>
        <p:spPr>
          <a:xfrm>
            <a:off x="8694420" y="1221486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N03  内部工作逻辑"/>
          <p:cNvSpPr txBox="1"/>
          <p:nvPr/>
        </p:nvSpPr>
        <p:spPr>
          <a:xfrm>
            <a:off x="8790432" y="124943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64" name="text-064: 3  ≥ 比较"/>
          <p:cNvSpPr txBox="1"/>
          <p:nvPr/>
        </p:nvSpPr>
        <p:spPr>
          <a:xfrm>
            <a:off x="10201275" y="1418844"/>
            <a:ext cx="8801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≥ 比较</a:t>
            </a:r>
          </a:p>
        </p:txBody>
      </p:sp>
      <p:sp>
        <p:nvSpPr>
          <p:cNvPr id="65" name="text-065: 无条件保持比较"/>
          <p:cNvSpPr txBox="1"/>
          <p:nvPr/>
        </p:nvSpPr>
        <p:spPr>
          <a:xfrm>
            <a:off x="10150602" y="1601053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无条件保持比较</a:t>
            </a:r>
          </a:p>
        </p:txBody>
      </p:sp>
      <p:sp>
        <p:nvSpPr>
          <p:cNvPr id="66" name="rect-066"/>
          <p:cNvSpPr/>
          <p:nvPr/>
        </p:nvSpPr>
        <p:spPr>
          <a:xfrm>
            <a:off x="8774430" y="189890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E03-target"/>
          <p:cNvSpPr/>
          <p:nvPr/>
        </p:nvSpPr>
        <p:spPr>
          <a:xfrm>
            <a:off x="8614410" y="203225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3 ← N02"/>
          <p:cNvSpPr txBox="1"/>
          <p:nvPr/>
        </p:nvSpPr>
        <p:spPr>
          <a:xfrm>
            <a:off x="8955786" y="194242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N02</a:t>
            </a:r>
          </a:p>
        </p:txBody>
      </p:sp>
      <p:sp>
        <p:nvSpPr>
          <p:cNvPr id="69" name="E05-target"/>
          <p:cNvSpPr/>
          <p:nvPr/>
        </p:nvSpPr>
        <p:spPr>
          <a:xfrm>
            <a:off x="8614410" y="221894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5 ← N04"/>
          <p:cNvSpPr txBox="1"/>
          <p:nvPr/>
        </p:nvSpPr>
        <p:spPr>
          <a:xfrm>
            <a:off x="8955786" y="212911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N04</a:t>
            </a:r>
          </a:p>
        </p:txBody>
      </p:sp>
      <p:sp>
        <p:nvSpPr>
          <p:cNvPr id="71" name="E04-source"/>
          <p:cNvSpPr/>
          <p:nvPr/>
        </p:nvSpPr>
        <p:spPr>
          <a:xfrm>
            <a:off x="12396216" y="203225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4 → P02"/>
          <p:cNvSpPr txBox="1"/>
          <p:nvPr/>
        </p:nvSpPr>
        <p:spPr>
          <a:xfrm>
            <a:off x="11438230" y="194242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→ P02</a:t>
            </a:r>
          </a:p>
        </p:txBody>
      </p:sp>
      <p:sp>
        <p:nvSpPr>
          <p:cNvPr id="73" name="rect-073"/>
          <p:cNvSpPr/>
          <p:nvPr/>
        </p:nvSpPr>
        <p:spPr>
          <a:xfrm>
            <a:off x="8694420" y="2629662"/>
            <a:ext cx="3893820" cy="172288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N05  接口与配置"/>
          <p:cNvSpPr txBox="1"/>
          <p:nvPr/>
        </p:nvSpPr>
        <p:spPr>
          <a:xfrm>
            <a:off x="8790432" y="2657612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接口与配置</a:t>
            </a:r>
          </a:p>
        </p:txBody>
      </p:sp>
      <p:sp>
        <p:nvSpPr>
          <p:cNvPr id="75" name="text-075: 5  clint_reg_top 访问控制"/>
          <p:cNvSpPr txBox="1"/>
          <p:nvPr/>
        </p:nvSpPr>
        <p:spPr>
          <a:xfrm>
            <a:off x="9571196" y="2827020"/>
            <a:ext cx="21402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clint_reg_top 访问控制</a:t>
            </a:r>
          </a:p>
        </p:txBody>
      </p:sp>
      <p:sp>
        <p:nvSpPr>
          <p:cNvPr id="76" name="text-076: MTIME_LO / HI"/>
          <p:cNvSpPr txBox="1"/>
          <p:nvPr/>
        </p:nvSpPr>
        <p:spPr>
          <a:xfrm>
            <a:off x="10061658" y="3009229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MTIME_LO / HI</a:t>
            </a:r>
          </a:p>
        </p:txBody>
      </p:sp>
      <p:sp>
        <p:nvSpPr>
          <p:cNvPr id="77" name="text-077: MTIMECMP_LO / HI"/>
          <p:cNvSpPr txBox="1"/>
          <p:nvPr/>
        </p:nvSpPr>
        <p:spPr>
          <a:xfrm>
            <a:off x="9942043" y="3179917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MTIMECMP_LO / HI</a:t>
            </a:r>
          </a:p>
        </p:txBody>
      </p:sp>
      <p:sp>
        <p:nvSpPr>
          <p:cNvPr id="78" name="text-078: MSIP"/>
          <p:cNvSpPr txBox="1"/>
          <p:nvPr/>
        </p:nvSpPr>
        <p:spPr>
          <a:xfrm>
            <a:off x="10420502" y="3350605"/>
            <a:ext cx="4416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MSIP</a:t>
            </a:r>
          </a:p>
        </p:txBody>
      </p:sp>
      <p:sp>
        <p:nvSpPr>
          <p:cNvPr id="79" name="rect-079"/>
          <p:cNvSpPr/>
          <p:nvPr/>
        </p:nvSpPr>
        <p:spPr>
          <a:xfrm>
            <a:off x="8774430" y="3648456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E06-target"/>
          <p:cNvSpPr/>
          <p:nvPr/>
        </p:nvSpPr>
        <p:spPr>
          <a:xfrm>
            <a:off x="8614410" y="37818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6 ↔ P03"/>
          <p:cNvSpPr txBox="1"/>
          <p:nvPr/>
        </p:nvSpPr>
        <p:spPr>
          <a:xfrm>
            <a:off x="8955786" y="36919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P03</a:t>
            </a:r>
          </a:p>
        </p:txBody>
      </p:sp>
      <p:sp>
        <p:nvSpPr>
          <p:cNvPr id="82" name="E07-source"/>
          <p:cNvSpPr/>
          <p:nvPr/>
        </p:nvSpPr>
        <p:spPr>
          <a:xfrm>
            <a:off x="12396216" y="37818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7 → N04"/>
          <p:cNvSpPr txBox="1"/>
          <p:nvPr/>
        </p:nvSpPr>
        <p:spPr>
          <a:xfrm>
            <a:off x="11438230" y="36919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N04</a:t>
            </a:r>
          </a:p>
        </p:txBody>
      </p:sp>
      <p:sp>
        <p:nvSpPr>
          <p:cNvPr id="84" name="E08-source"/>
          <p:cNvSpPr/>
          <p:nvPr/>
        </p:nvSpPr>
        <p:spPr>
          <a:xfrm>
            <a:off x="12396216" y="39684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E08 ↔ N02"/>
          <p:cNvSpPr txBox="1"/>
          <p:nvPr/>
        </p:nvSpPr>
        <p:spPr>
          <a:xfrm>
            <a:off x="11438230" y="38786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N02</a:t>
            </a:r>
          </a:p>
        </p:txBody>
      </p:sp>
      <p:sp>
        <p:nvSpPr>
          <p:cNvPr id="86" name="E09-source"/>
          <p:cNvSpPr/>
          <p:nvPr/>
        </p:nvSpPr>
        <p:spPr>
          <a:xfrm>
            <a:off x="12396216" y="415518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9 → N06"/>
          <p:cNvSpPr txBox="1"/>
          <p:nvPr/>
        </p:nvSpPr>
        <p:spPr>
          <a:xfrm>
            <a:off x="11438230" y="406536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→ N06</a:t>
            </a:r>
          </a:p>
        </p:txBody>
      </p:sp>
      <p:sp>
        <p:nvSpPr>
          <p:cNvPr id="88" name="rect-088"/>
          <p:cNvSpPr/>
          <p:nvPr/>
        </p:nvSpPr>
        <p:spPr>
          <a:xfrm>
            <a:off x="8694420" y="4565904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9: P03  外部/组边界"/>
          <p:cNvSpPr txBox="1"/>
          <p:nvPr/>
        </p:nvSpPr>
        <p:spPr>
          <a:xfrm>
            <a:off x="8790432" y="4593854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90" name="text-090: Regbus 32"/>
          <p:cNvSpPr txBox="1"/>
          <p:nvPr/>
        </p:nvSpPr>
        <p:spPr>
          <a:xfrm>
            <a:off x="10184606" y="4763262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91" name="rect-091"/>
          <p:cNvSpPr/>
          <p:nvPr/>
        </p:nvSpPr>
        <p:spPr>
          <a:xfrm>
            <a:off x="8774430" y="507263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E06-source"/>
          <p:cNvSpPr/>
          <p:nvPr/>
        </p:nvSpPr>
        <p:spPr>
          <a:xfrm>
            <a:off x="12396216" y="52059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E06 ↔ N05"/>
          <p:cNvSpPr txBox="1"/>
          <p:nvPr/>
        </p:nvSpPr>
        <p:spPr>
          <a:xfrm>
            <a:off x="11438230" y="51161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N05</a:t>
            </a:r>
          </a:p>
        </p:txBody>
      </p:sp>
      <p:sp>
        <p:nvSpPr>
          <p:cNvPr id="94" name="text-094: clint：寄存器、计数器和比较器均在 clk_i / rst_ni 域"/>
          <p:cNvSpPr txBox="1"/>
          <p:nvPr/>
        </p:nvSpPr>
        <p:spPr>
          <a:xfrm>
            <a:off x="213360" y="5857585"/>
            <a:ext cx="363752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clint：寄存器、计数器和比较器均在 clk_i / rst_ni 域</a:t>
            </a:r>
          </a:p>
        </p:txBody>
      </p:sp>
      <p:sp>
        <p:nvSpPr>
          <p:cNvPr id="95" name="text-095: rtc_i"/>
          <p:cNvSpPr txBox="1"/>
          <p:nvPr/>
        </p:nvSpPr>
        <p:spPr>
          <a:xfrm>
            <a:off x="213360" y="6022939"/>
            <a:ext cx="5213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96" name="text-096: MTIP → hart"/>
          <p:cNvSpPr txBox="1"/>
          <p:nvPr/>
        </p:nvSpPr>
        <p:spPr>
          <a:xfrm>
            <a:off x="213360" y="6188293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MTIP → hart</a:t>
            </a:r>
          </a:p>
        </p:txBody>
      </p:sp>
      <p:sp>
        <p:nvSpPr>
          <p:cNvPr id="97" name="text-097: Regbus 32"/>
          <p:cNvSpPr txBox="1"/>
          <p:nvPr/>
        </p:nvSpPr>
        <p:spPr>
          <a:xfrm>
            <a:off x="213360" y="6353647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98" name="text-098: MSIP → hart"/>
          <p:cNvSpPr txBox="1"/>
          <p:nvPr/>
        </p:nvSpPr>
        <p:spPr>
          <a:xfrm>
            <a:off x="213360" y="6519001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MSIP → hart</a:t>
            </a:r>
          </a:p>
        </p:txBody>
      </p:sp>
      <p:sp>
        <p:nvSpPr>
          <p:cNvPr id="99" name="text-099: MTIP 的清除方法是让 MTIMECMP 大于 MTIME；这里没有 PLIC"/>
          <p:cNvSpPr txBox="1"/>
          <p:nvPr/>
        </p:nvSpPr>
        <p:spPr>
          <a:xfrm>
            <a:off x="213360" y="6684355"/>
            <a:ext cx="53918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MTIP 的清除方法是让 MTIMECMP 大于 MTIME；这里没有 PLIC claim / complete。</a:t>
            </a:r>
          </a:p>
        </p:txBody>
      </p:sp>
      <p:sp>
        <p:nvSpPr>
          <p:cNvPr id="100" name="text-100: 配对端口表示图示连接；已有/规划状态见模块和连接表。方向与 A 版一致。虚线模块"/>
          <p:cNvSpPr txBox="1"/>
          <p:nvPr/>
        </p:nvSpPr>
        <p:spPr>
          <a:xfrm>
            <a:off x="213360" y="7233331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B  CLIC：每个 hart 的中断选择器与 CPU 握手接口"/>
          <p:cNvSpPr txBox="1"/>
          <p:nvPr/>
        </p:nvSpPr>
        <p:spPr>
          <a:xfrm>
            <a:off x="213360" y="1365184"/>
            <a:ext cx="47792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06B  CLIC：每个 hart 的中断选择器与 CPU 握手接口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640205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077593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2105543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clic_intr 输入拼装"/>
          <p:cNvSpPr txBox="1"/>
          <p:nvPr/>
        </p:nvSpPr>
        <p:spPr>
          <a:xfrm>
            <a:off x="1263491" y="2274951"/>
            <a:ext cx="17935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clic_intr 输入拼装</a:t>
            </a:r>
          </a:p>
        </p:txBody>
      </p:sp>
      <p:sp>
        <p:nvSpPr>
          <p:cNvPr id="7" name="text-007: IRQ Router 的本 hart 分支"/>
          <p:cNvSpPr txBox="1"/>
          <p:nvPr/>
        </p:nvSpPr>
        <p:spPr>
          <a:xfrm>
            <a:off x="1175747" y="2457160"/>
            <a:ext cx="19690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的本 hart 分支</a:t>
            </a:r>
          </a:p>
        </p:txBody>
      </p:sp>
      <p:sp>
        <p:nvSpPr>
          <p:cNvPr id="8" name="text-008: MEIP / SEIP（来自 PLIC）"/>
          <p:cNvSpPr txBox="1"/>
          <p:nvPr/>
        </p:nvSpPr>
        <p:spPr>
          <a:xfrm>
            <a:off x="1215619" y="2627848"/>
            <a:ext cx="188930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MEIP / SEIP（来自 PLIC）</a:t>
            </a:r>
          </a:p>
        </p:txBody>
      </p:sp>
      <p:sp>
        <p:nvSpPr>
          <p:cNvPr id="9" name="text-009: MTIP / MSIP（来自 CLINT）"/>
          <p:cNvSpPr txBox="1"/>
          <p:nvPr/>
        </p:nvSpPr>
        <p:spPr>
          <a:xfrm>
            <a:off x="1175747" y="2798536"/>
            <a:ext cx="19690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/ MSIP（来自 CLINT）</a:t>
            </a:r>
          </a:p>
        </p:txBody>
      </p:sp>
      <p:sp>
        <p:nvSpPr>
          <p:cNvPr id="10" name="text-010: 保留源按 SoC 定义连接"/>
          <p:cNvSpPr txBox="1"/>
          <p:nvPr/>
        </p:nvSpPr>
        <p:spPr>
          <a:xfrm>
            <a:off x="1408843" y="2969224"/>
            <a:ext cx="15028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保留源按 SoC 定义连接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326707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source"/>
          <p:cNvSpPr/>
          <p:nvPr/>
        </p:nvSpPr>
        <p:spPr>
          <a:xfrm>
            <a:off x="3915156" y="340042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→ N02"/>
          <p:cNvSpPr txBox="1"/>
          <p:nvPr/>
        </p:nvSpPr>
        <p:spPr>
          <a:xfrm>
            <a:off x="2957170" y="331060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3811143"/>
            <a:ext cx="3893820" cy="152019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4  外部/组边界"/>
          <p:cNvSpPr txBox="1"/>
          <p:nvPr/>
        </p:nvSpPr>
        <p:spPr>
          <a:xfrm>
            <a:off x="309372" y="3839093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外部/组边界</a:t>
            </a:r>
          </a:p>
        </p:txBody>
      </p:sp>
      <p:sp>
        <p:nvSpPr>
          <p:cNvPr id="16" name="text-016: 4  CVA6 CLIC 接口"/>
          <p:cNvSpPr txBox="1"/>
          <p:nvPr/>
        </p:nvSpPr>
        <p:spPr>
          <a:xfrm>
            <a:off x="1396841" y="4008501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CVA6 CLIC 接口</a:t>
            </a:r>
          </a:p>
        </p:txBody>
      </p:sp>
      <p:sp>
        <p:nvSpPr>
          <p:cNvPr id="17" name="text-017: valid / ready"/>
          <p:cNvSpPr txBox="1"/>
          <p:nvPr/>
        </p:nvSpPr>
        <p:spPr>
          <a:xfrm>
            <a:off x="1580598" y="4190710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valid / ready</a:t>
            </a:r>
          </a:p>
        </p:txBody>
      </p:sp>
      <p:sp>
        <p:nvSpPr>
          <p:cNvPr id="18" name="text-018: id / level"/>
          <p:cNvSpPr txBox="1"/>
          <p:nvPr/>
        </p:nvSpPr>
        <p:spPr>
          <a:xfrm>
            <a:off x="1700212" y="4361398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id / level</a:t>
            </a:r>
          </a:p>
        </p:txBody>
      </p:sp>
      <p:sp>
        <p:nvSpPr>
          <p:cNvPr id="19" name="text-019: shv / priv"/>
          <p:cNvSpPr txBox="1"/>
          <p:nvPr/>
        </p:nvSpPr>
        <p:spPr>
          <a:xfrm>
            <a:off x="1700212" y="4532086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shv / priv</a:t>
            </a:r>
          </a:p>
        </p:txBody>
      </p:sp>
      <p:sp>
        <p:nvSpPr>
          <p:cNvPr id="20" name="text-020: kill_req / kill_ack"/>
          <p:cNvSpPr txBox="1"/>
          <p:nvPr/>
        </p:nvSpPr>
        <p:spPr>
          <a:xfrm>
            <a:off x="1341368" y="4702774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kill_req / kill_ack</a:t>
            </a:r>
          </a:p>
        </p:txBody>
      </p:sp>
      <p:sp>
        <p:nvSpPr>
          <p:cNvPr id="21" name="rect-021"/>
          <p:cNvSpPr/>
          <p:nvPr/>
        </p:nvSpPr>
        <p:spPr>
          <a:xfrm>
            <a:off x="293370" y="500062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04-target"/>
          <p:cNvSpPr/>
          <p:nvPr/>
        </p:nvSpPr>
        <p:spPr>
          <a:xfrm>
            <a:off x="133350" y="513397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4 ↔ N03"/>
          <p:cNvSpPr txBox="1"/>
          <p:nvPr/>
        </p:nvSpPr>
        <p:spPr>
          <a:xfrm>
            <a:off x="474726" y="504415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N03</a:t>
            </a:r>
          </a:p>
        </p:txBody>
      </p:sp>
      <p:sp>
        <p:nvSpPr>
          <p:cNvPr id="24" name="rect-024"/>
          <p:cNvSpPr/>
          <p:nvPr/>
        </p:nvSpPr>
        <p:spPr>
          <a:xfrm>
            <a:off x="4453890" y="2077593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N02  内部工作逻辑"/>
          <p:cNvSpPr txBox="1"/>
          <p:nvPr/>
        </p:nvSpPr>
        <p:spPr>
          <a:xfrm>
            <a:off x="4549902" y="2105543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6" name="text-026: 2  clic_gateway"/>
          <p:cNvSpPr txBox="1"/>
          <p:nvPr/>
        </p:nvSpPr>
        <p:spPr>
          <a:xfrm>
            <a:off x="5684044" y="2274951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clic_gateway</a:t>
            </a:r>
          </a:p>
        </p:txBody>
      </p:sp>
      <p:sp>
        <p:nvSpPr>
          <p:cNvPr id="27" name="text-027: 电平 / 边沿 pending"/>
          <p:cNvSpPr txBox="1"/>
          <p:nvPr/>
        </p:nvSpPr>
        <p:spPr>
          <a:xfrm>
            <a:off x="5655507" y="2457160"/>
            <a:ext cx="14905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电平 / 边沿 pending</a:t>
            </a:r>
          </a:p>
        </p:txBody>
      </p:sp>
      <p:sp>
        <p:nvSpPr>
          <p:cNvPr id="28" name="text-028: 软件置 pending"/>
          <p:cNvSpPr txBox="1"/>
          <p:nvPr/>
        </p:nvSpPr>
        <p:spPr>
          <a:xfrm>
            <a:off x="5836463" y="2627848"/>
            <a:ext cx="11286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软件置 pending</a:t>
            </a:r>
          </a:p>
        </p:txBody>
      </p:sp>
      <p:sp>
        <p:nvSpPr>
          <p:cNvPr id="29" name="text-029: 来自 target 的 claim"/>
          <p:cNvSpPr txBox="1"/>
          <p:nvPr/>
        </p:nvSpPr>
        <p:spPr>
          <a:xfrm>
            <a:off x="5597233" y="2798536"/>
            <a:ext cx="16071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target 的 claim</a:t>
            </a:r>
          </a:p>
        </p:txBody>
      </p:sp>
      <p:sp>
        <p:nvSpPr>
          <p:cNvPr id="30" name="rect-030"/>
          <p:cNvSpPr/>
          <p:nvPr/>
        </p:nvSpPr>
        <p:spPr>
          <a:xfrm>
            <a:off x="4533900" y="3096387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01-target"/>
          <p:cNvSpPr/>
          <p:nvPr/>
        </p:nvSpPr>
        <p:spPr>
          <a:xfrm>
            <a:off x="4373880" y="322973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01 ← N01"/>
          <p:cNvSpPr txBox="1"/>
          <p:nvPr/>
        </p:nvSpPr>
        <p:spPr>
          <a:xfrm>
            <a:off x="4715256" y="313991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3" name="E03-target"/>
          <p:cNvSpPr/>
          <p:nvPr/>
        </p:nvSpPr>
        <p:spPr>
          <a:xfrm>
            <a:off x="4373880" y="34164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03 ← N03"/>
          <p:cNvSpPr txBox="1"/>
          <p:nvPr/>
        </p:nvSpPr>
        <p:spPr>
          <a:xfrm>
            <a:off x="4715256" y="33266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35" name="E05-target"/>
          <p:cNvSpPr/>
          <p:nvPr/>
        </p:nvSpPr>
        <p:spPr>
          <a:xfrm>
            <a:off x="4373880" y="360311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5 ↔ N05"/>
          <p:cNvSpPr txBox="1"/>
          <p:nvPr/>
        </p:nvSpPr>
        <p:spPr>
          <a:xfrm>
            <a:off x="4715256" y="351329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37" name="E02-source"/>
          <p:cNvSpPr/>
          <p:nvPr/>
        </p:nvSpPr>
        <p:spPr>
          <a:xfrm>
            <a:off x="8155686" y="322973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02 → N03"/>
          <p:cNvSpPr txBox="1"/>
          <p:nvPr/>
        </p:nvSpPr>
        <p:spPr>
          <a:xfrm>
            <a:off x="7197700" y="313991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39" name="rect-039"/>
          <p:cNvSpPr/>
          <p:nvPr/>
        </p:nvSpPr>
        <p:spPr>
          <a:xfrm>
            <a:off x="8694420" y="2077593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N03  内部工作逻辑"/>
          <p:cNvSpPr txBox="1"/>
          <p:nvPr/>
        </p:nvSpPr>
        <p:spPr>
          <a:xfrm>
            <a:off x="8790432" y="2105543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41" name="text-041: 3  clic_target + 顶层整理"/>
          <p:cNvSpPr txBox="1"/>
          <p:nvPr/>
        </p:nvSpPr>
        <p:spPr>
          <a:xfrm>
            <a:off x="9571196" y="2274951"/>
            <a:ext cx="21402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clic_target + 顶层整理</a:t>
            </a:r>
          </a:p>
        </p:txBody>
      </p:sp>
      <p:sp>
        <p:nvSpPr>
          <p:cNvPr id="42" name="text-042: pending / enable"/>
          <p:cNvSpPr txBox="1"/>
          <p:nvPr/>
        </p:nvSpPr>
        <p:spPr>
          <a:xfrm>
            <a:off x="9942043" y="2457160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</a:t>
            </a:r>
          </a:p>
        </p:txBody>
      </p:sp>
      <p:sp>
        <p:nvSpPr>
          <p:cNvPr id="43" name="text-043: level / priority / mode"/>
          <p:cNvSpPr txBox="1"/>
          <p:nvPr/>
        </p:nvSpPr>
        <p:spPr>
          <a:xfrm>
            <a:off x="9662941" y="2627848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level / priority / mode</a:t>
            </a:r>
          </a:p>
        </p:txBody>
      </p:sp>
      <p:sp>
        <p:nvSpPr>
          <p:cNvPr id="44" name="text-044: 获胜源与 SHV / level 格式化"/>
          <p:cNvSpPr txBox="1"/>
          <p:nvPr/>
        </p:nvSpPr>
        <p:spPr>
          <a:xfrm>
            <a:off x="9632271" y="2798536"/>
            <a:ext cx="201811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获胜源与 SHV / level 格式化</a:t>
            </a:r>
          </a:p>
        </p:txBody>
      </p:sp>
      <p:sp>
        <p:nvSpPr>
          <p:cNvPr id="45" name="rect-045"/>
          <p:cNvSpPr/>
          <p:nvPr/>
        </p:nvSpPr>
        <p:spPr>
          <a:xfrm>
            <a:off x="8774430" y="3096387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2-target"/>
          <p:cNvSpPr/>
          <p:nvPr/>
        </p:nvSpPr>
        <p:spPr>
          <a:xfrm>
            <a:off x="8614410" y="322973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 ← N02"/>
          <p:cNvSpPr txBox="1"/>
          <p:nvPr/>
        </p:nvSpPr>
        <p:spPr>
          <a:xfrm>
            <a:off x="8955786" y="313991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48" name="E06-target"/>
          <p:cNvSpPr/>
          <p:nvPr/>
        </p:nvSpPr>
        <p:spPr>
          <a:xfrm>
            <a:off x="8614410" y="34164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6 ← N05"/>
          <p:cNvSpPr txBox="1"/>
          <p:nvPr/>
        </p:nvSpPr>
        <p:spPr>
          <a:xfrm>
            <a:off x="8955786" y="33266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← N05</a:t>
            </a:r>
          </a:p>
        </p:txBody>
      </p:sp>
      <p:sp>
        <p:nvSpPr>
          <p:cNvPr id="50" name="E03-source"/>
          <p:cNvSpPr/>
          <p:nvPr/>
        </p:nvSpPr>
        <p:spPr>
          <a:xfrm>
            <a:off x="12396216" y="322973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3 → N02"/>
          <p:cNvSpPr txBox="1"/>
          <p:nvPr/>
        </p:nvSpPr>
        <p:spPr>
          <a:xfrm>
            <a:off x="11438230" y="313991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N02</a:t>
            </a:r>
          </a:p>
        </p:txBody>
      </p:sp>
      <p:sp>
        <p:nvSpPr>
          <p:cNvPr id="52" name="E04-source"/>
          <p:cNvSpPr/>
          <p:nvPr/>
        </p:nvSpPr>
        <p:spPr>
          <a:xfrm>
            <a:off x="12396216" y="34164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4 ↔ N04"/>
          <p:cNvSpPr txBox="1"/>
          <p:nvPr/>
        </p:nvSpPr>
        <p:spPr>
          <a:xfrm>
            <a:off x="11438230" y="33266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N04</a:t>
            </a:r>
          </a:p>
        </p:txBody>
      </p:sp>
      <p:sp>
        <p:nvSpPr>
          <p:cNvPr id="54" name="rect-054"/>
          <p:cNvSpPr/>
          <p:nvPr/>
        </p:nvSpPr>
        <p:spPr>
          <a:xfrm>
            <a:off x="8694420" y="3827145"/>
            <a:ext cx="3893820" cy="153619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N05  接口与配置"/>
          <p:cNvSpPr txBox="1"/>
          <p:nvPr/>
        </p:nvSpPr>
        <p:spPr>
          <a:xfrm>
            <a:off x="8790432" y="3855095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接口与配置</a:t>
            </a:r>
          </a:p>
        </p:txBody>
      </p:sp>
      <p:sp>
        <p:nvSpPr>
          <p:cNvPr id="56" name="text-056: 5  mclic_reg_top + clicint_reg_top × 源"/>
          <p:cNvSpPr txBox="1"/>
          <p:nvPr/>
        </p:nvSpPr>
        <p:spPr>
          <a:xfrm>
            <a:off x="8904446" y="4024503"/>
            <a:ext cx="34737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mclic_reg_top + clicint_reg_top × 源</a:t>
            </a:r>
          </a:p>
        </p:txBody>
      </p:sp>
      <p:sp>
        <p:nvSpPr>
          <p:cNvPr id="57" name="text-057: Regbus 地址译码 → 对应寄存器"/>
          <p:cNvSpPr txBox="1"/>
          <p:nvPr/>
        </p:nvSpPr>
        <p:spPr>
          <a:xfrm>
            <a:off x="9607734" y="4206712"/>
            <a:ext cx="20671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地址译码 → 对应寄存器</a:t>
            </a:r>
          </a:p>
        </p:txBody>
      </p:sp>
      <p:sp>
        <p:nvSpPr>
          <p:cNvPr id="58" name="text-058: reg_adapter：整理 reg2hw / hw2reg 字段"/>
          <p:cNvSpPr txBox="1"/>
          <p:nvPr/>
        </p:nvSpPr>
        <p:spPr>
          <a:xfrm>
            <a:off x="9156878" y="4377400"/>
            <a:ext cx="2968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reg_adapter：整理 reg2hw / hw2reg 字段</a:t>
            </a:r>
          </a:p>
        </p:txBody>
      </p:sp>
      <p:sp>
        <p:nvSpPr>
          <p:cNvPr id="59" name="text-059: 全局 level 划分；每源 pending / enable / attr /"/>
          <p:cNvSpPr txBox="1"/>
          <p:nvPr/>
        </p:nvSpPr>
        <p:spPr>
          <a:xfrm>
            <a:off x="8675351" y="4548088"/>
            <a:ext cx="39319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全局 level 划分；每源 pending / enable / attr / ctl</a:t>
            </a:r>
          </a:p>
        </p:txBody>
      </p:sp>
      <p:sp>
        <p:nvSpPr>
          <p:cNvPr id="60" name="rect-060"/>
          <p:cNvSpPr/>
          <p:nvPr/>
        </p:nvSpPr>
        <p:spPr>
          <a:xfrm>
            <a:off x="8774430" y="484593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05-source"/>
          <p:cNvSpPr/>
          <p:nvPr/>
        </p:nvSpPr>
        <p:spPr>
          <a:xfrm>
            <a:off x="12396216" y="497928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5 ↔ N02"/>
          <p:cNvSpPr txBox="1"/>
          <p:nvPr/>
        </p:nvSpPr>
        <p:spPr>
          <a:xfrm>
            <a:off x="11438230" y="488946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↔ N02</a:t>
            </a:r>
          </a:p>
        </p:txBody>
      </p:sp>
      <p:sp>
        <p:nvSpPr>
          <p:cNvPr id="63" name="E06-source"/>
          <p:cNvSpPr/>
          <p:nvPr/>
        </p:nvSpPr>
        <p:spPr>
          <a:xfrm>
            <a:off x="12396216" y="516597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6 → N03"/>
          <p:cNvSpPr txBox="1"/>
          <p:nvPr/>
        </p:nvSpPr>
        <p:spPr>
          <a:xfrm>
            <a:off x="11438230" y="507615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→ N03</a:t>
            </a:r>
          </a:p>
        </p:txBody>
      </p:sp>
      <p:sp>
        <p:nvSpPr>
          <p:cNvPr id="65" name="text-065: claim"/>
          <p:cNvSpPr txBox="1"/>
          <p:nvPr/>
        </p:nvSpPr>
        <p:spPr>
          <a:xfrm>
            <a:off x="213360" y="5497540"/>
            <a:ext cx="5213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claim</a:t>
            </a:r>
          </a:p>
        </p:txBody>
      </p:sp>
      <p:sp>
        <p:nvSpPr>
          <p:cNvPr id="66" name="text-066: 当前默认 / FPGA：Cfg.Clic = 0"/>
          <p:cNvSpPr txBox="1"/>
          <p:nvPr/>
        </p:nvSpPr>
        <p:spPr>
          <a:xfrm>
            <a:off x="213360" y="5662894"/>
            <a:ext cx="22512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当前默认 / FPGA：Cfg.Clic = 0</a:t>
            </a:r>
          </a:p>
        </p:txBody>
      </p:sp>
      <p:sp>
        <p:nvSpPr>
          <p:cNvPr id="67" name="text-067: CLIC 不产生 RTC 计数；CPU 接受中断的握手也不等于清除了外设事件。"/>
          <p:cNvSpPr txBox="1"/>
          <p:nvPr/>
        </p:nvSpPr>
        <p:spPr>
          <a:xfrm>
            <a:off x="213360" y="5828248"/>
            <a:ext cx="4306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CLIC 不产生 RTC 计数；CPU 接受中断的握手也不等于清除了外设事件。</a:t>
            </a:r>
          </a:p>
        </p:txBody>
      </p:sp>
      <p:sp>
        <p:nvSpPr>
          <p:cNvPr id="68" name="text-068: 配对端口表示图示连接；已有/规划状态见模块和连接表。方向与 A 版一致。虚线模块"/>
          <p:cNvSpPr txBox="1"/>
          <p:nvPr/>
        </p:nvSpPr>
        <p:spPr>
          <a:xfrm>
            <a:off x="213360" y="6377224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7  IRQ Router：每条源中断对应一个目标位掩码"/>
          <p:cNvSpPr txBox="1"/>
          <p:nvPr/>
        </p:nvSpPr>
        <p:spPr>
          <a:xfrm>
            <a:off x="213360" y="1034476"/>
            <a:ext cx="42842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07  IRQ Router：每条源中断对应一个目标位掩码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309497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746885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77483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intr 源向量"/>
          <p:cNvSpPr txBox="1"/>
          <p:nvPr/>
        </p:nvSpPr>
        <p:spPr>
          <a:xfrm>
            <a:off x="1546860" y="1944243"/>
            <a:ext cx="122682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intr 源向量</a:t>
            </a:r>
          </a:p>
        </p:txBody>
      </p:sp>
      <p:sp>
        <p:nvSpPr>
          <p:cNvPr id="7" name="text-007: 片内外设 IRQ"/>
          <p:cNvSpPr txBox="1"/>
          <p:nvPr/>
        </p:nvSpPr>
        <p:spPr>
          <a:xfrm>
            <a:off x="1694078" y="2126452"/>
            <a:ext cx="93238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片内外设 IRQ</a:t>
            </a:r>
          </a:p>
        </p:txBody>
      </p:sp>
      <p:sp>
        <p:nvSpPr>
          <p:cNvPr id="8" name="text-008: 外部 IRQ 经 sync"/>
          <p:cNvSpPr txBox="1"/>
          <p:nvPr/>
        </p:nvSpPr>
        <p:spPr>
          <a:xfrm>
            <a:off x="1516190" y="2297140"/>
            <a:ext cx="1288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经 sync</a:t>
            </a:r>
          </a:p>
        </p:txBody>
      </p:sp>
      <p:sp>
        <p:nvSpPr>
          <p:cNvPr id="9" name="text-009: 源 0 固定为 0"/>
          <p:cNvSpPr txBox="1"/>
          <p:nvPr/>
        </p:nvSpPr>
        <p:spPr>
          <a:xfrm>
            <a:off x="1654207" y="2467828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0 固定为 0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76567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→ N02"/>
          <p:cNvSpPr txBox="1"/>
          <p:nvPr/>
        </p:nvSpPr>
        <p:spPr>
          <a:xfrm>
            <a:off x="2957170" y="28092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3" name="rect-013"/>
          <p:cNvSpPr/>
          <p:nvPr/>
        </p:nvSpPr>
        <p:spPr>
          <a:xfrm>
            <a:off x="213360" y="3309747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P01  外部/组边界"/>
          <p:cNvSpPr txBox="1"/>
          <p:nvPr/>
        </p:nvSpPr>
        <p:spPr>
          <a:xfrm>
            <a:off x="309372" y="3337697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15" name="text-015: target 0 → PLIC"/>
          <p:cNvSpPr txBox="1"/>
          <p:nvPr/>
        </p:nvSpPr>
        <p:spPr>
          <a:xfrm>
            <a:off x="1420178" y="3507105"/>
            <a:ext cx="148018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0 → PLIC</a:t>
            </a:r>
          </a:p>
        </p:txBody>
      </p:sp>
      <p:sp>
        <p:nvSpPr>
          <p:cNvPr id="16" name="rect-016"/>
          <p:cNvSpPr/>
          <p:nvPr/>
        </p:nvSpPr>
        <p:spPr>
          <a:xfrm>
            <a:off x="293370" y="381647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E03-target"/>
          <p:cNvSpPr/>
          <p:nvPr/>
        </p:nvSpPr>
        <p:spPr>
          <a:xfrm>
            <a:off x="133350" y="39498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E03 ← N03"/>
          <p:cNvSpPr txBox="1"/>
          <p:nvPr/>
        </p:nvSpPr>
        <p:spPr>
          <a:xfrm>
            <a:off x="474726" y="38600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19" name="rect-019"/>
          <p:cNvSpPr/>
          <p:nvPr/>
        </p:nvSpPr>
        <p:spPr>
          <a:xfrm>
            <a:off x="213360" y="4360545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P03  外部/组边界"/>
          <p:cNvSpPr txBox="1"/>
          <p:nvPr/>
        </p:nvSpPr>
        <p:spPr>
          <a:xfrm>
            <a:off x="309372" y="4388495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21" name="text-021: 后续 target → 外部 IRQ"/>
          <p:cNvSpPr txBox="1"/>
          <p:nvPr/>
        </p:nvSpPr>
        <p:spPr>
          <a:xfrm>
            <a:off x="1196816" y="4557903"/>
            <a:ext cx="192690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后续 target → 外部 IRQ</a:t>
            </a:r>
          </a:p>
        </p:txBody>
      </p:sp>
      <p:sp>
        <p:nvSpPr>
          <p:cNvPr id="22" name="rect-022"/>
          <p:cNvSpPr/>
          <p:nvPr/>
        </p:nvSpPr>
        <p:spPr>
          <a:xfrm>
            <a:off x="293370" y="486727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05-target"/>
          <p:cNvSpPr/>
          <p:nvPr/>
        </p:nvSpPr>
        <p:spPr>
          <a:xfrm>
            <a:off x="133350" y="500062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5 ← N03"/>
          <p:cNvSpPr txBox="1"/>
          <p:nvPr/>
        </p:nvSpPr>
        <p:spPr>
          <a:xfrm>
            <a:off x="474726" y="491080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N03</a:t>
            </a:r>
          </a:p>
        </p:txBody>
      </p:sp>
      <p:sp>
        <p:nvSpPr>
          <p:cNvPr id="25" name="rect-025"/>
          <p:cNvSpPr/>
          <p:nvPr/>
        </p:nvSpPr>
        <p:spPr>
          <a:xfrm>
            <a:off x="4453890" y="1746885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N02  内部工作逻辑"/>
          <p:cNvSpPr txBox="1"/>
          <p:nvPr/>
        </p:nvSpPr>
        <p:spPr>
          <a:xfrm>
            <a:off x="4549902" y="177483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7" name="text-027: 2  irqs_cloned"/>
          <p:cNvSpPr txBox="1"/>
          <p:nvPr/>
        </p:nvSpPr>
        <p:spPr>
          <a:xfrm>
            <a:off x="5727382" y="1944243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irqs_cloned</a:t>
            </a:r>
          </a:p>
        </p:txBody>
      </p:sp>
      <p:sp>
        <p:nvSpPr>
          <p:cNvPr id="28" name="text-028: 每个目标一份源向量"/>
          <p:cNvSpPr txBox="1"/>
          <p:nvPr/>
        </p:nvSpPr>
        <p:spPr>
          <a:xfrm>
            <a:off x="5787390" y="2126452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每个目标一份源向量</a:t>
            </a:r>
          </a:p>
        </p:txBody>
      </p:sp>
      <p:sp>
        <p:nvSpPr>
          <p:cNvPr id="29" name="text-029: 组合逻辑复制"/>
          <p:cNvSpPr txBox="1"/>
          <p:nvPr/>
        </p:nvSpPr>
        <p:spPr>
          <a:xfrm>
            <a:off x="5971413" y="2297140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组合逻辑复制</a:t>
            </a:r>
          </a:p>
        </p:txBody>
      </p:sp>
      <p:sp>
        <p:nvSpPr>
          <p:cNvPr id="30" name="rect-030"/>
          <p:cNvSpPr/>
          <p:nvPr/>
        </p:nvSpPr>
        <p:spPr>
          <a:xfrm>
            <a:off x="4533900" y="259499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01-target"/>
          <p:cNvSpPr/>
          <p:nvPr/>
        </p:nvSpPr>
        <p:spPr>
          <a:xfrm>
            <a:off x="4373880" y="272834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01 ← N01"/>
          <p:cNvSpPr txBox="1"/>
          <p:nvPr/>
        </p:nvSpPr>
        <p:spPr>
          <a:xfrm>
            <a:off x="4715256" y="263851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3" name="E02-source"/>
          <p:cNvSpPr/>
          <p:nvPr/>
        </p:nvSpPr>
        <p:spPr>
          <a:xfrm>
            <a:off x="8155686" y="272834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02 → N03"/>
          <p:cNvSpPr txBox="1"/>
          <p:nvPr/>
        </p:nvSpPr>
        <p:spPr>
          <a:xfrm>
            <a:off x="7197700" y="263851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35" name="rect-035"/>
          <p:cNvSpPr/>
          <p:nvPr/>
        </p:nvSpPr>
        <p:spPr>
          <a:xfrm>
            <a:off x="4453890" y="3139059"/>
            <a:ext cx="3893820" cy="134950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N04  接口与配置"/>
          <p:cNvSpPr txBox="1"/>
          <p:nvPr/>
        </p:nvSpPr>
        <p:spPr>
          <a:xfrm>
            <a:off x="4549902" y="3167009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接口与配置</a:t>
            </a:r>
          </a:p>
        </p:txBody>
      </p:sp>
      <p:sp>
        <p:nvSpPr>
          <p:cNvPr id="37" name="text-037: 4  irq_router_reg_top × 源"/>
          <p:cNvSpPr txBox="1"/>
          <p:nvPr/>
        </p:nvSpPr>
        <p:spPr>
          <a:xfrm>
            <a:off x="5227320" y="3336417"/>
            <a:ext cx="234696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irq_router_reg_top × 源</a:t>
            </a:r>
          </a:p>
        </p:txBody>
      </p:sp>
      <p:sp>
        <p:nvSpPr>
          <p:cNvPr id="38" name="text-038: 每源一个 IRQ_TARGET_MASK"/>
          <p:cNvSpPr txBox="1"/>
          <p:nvPr/>
        </p:nvSpPr>
        <p:spPr>
          <a:xfrm>
            <a:off x="5456149" y="3518626"/>
            <a:ext cx="188930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每源一个 IRQ_TARGET_MASK</a:t>
            </a:r>
          </a:p>
        </p:txBody>
      </p:sp>
      <p:sp>
        <p:nvSpPr>
          <p:cNvPr id="39" name="text-039: 地址低位 addr[15:2] 选择源"/>
          <p:cNvSpPr txBox="1"/>
          <p:nvPr/>
        </p:nvSpPr>
        <p:spPr>
          <a:xfrm>
            <a:off x="5431612" y="3689314"/>
            <a:ext cx="193837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地址低位 addr[15:2] 选择源</a:t>
            </a:r>
          </a:p>
        </p:txBody>
      </p:sp>
      <p:sp>
        <p:nvSpPr>
          <p:cNvPr id="40" name="text-040: 复位 mask = 1：仅 target 0"/>
          <p:cNvSpPr txBox="1"/>
          <p:nvPr/>
        </p:nvSpPr>
        <p:spPr>
          <a:xfrm>
            <a:off x="5376405" y="3860002"/>
            <a:ext cx="20487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复位 mask = 1：仅 target 0</a:t>
            </a:r>
          </a:p>
        </p:txBody>
      </p:sp>
      <p:sp>
        <p:nvSpPr>
          <p:cNvPr id="41" name="rect-041"/>
          <p:cNvSpPr/>
          <p:nvPr/>
        </p:nvSpPr>
        <p:spPr>
          <a:xfrm>
            <a:off x="4533900" y="415785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6-source"/>
          <p:cNvSpPr/>
          <p:nvPr/>
        </p:nvSpPr>
        <p:spPr>
          <a:xfrm>
            <a:off x="8155686" y="429120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6 → N03"/>
          <p:cNvSpPr txBox="1"/>
          <p:nvPr/>
        </p:nvSpPr>
        <p:spPr>
          <a:xfrm>
            <a:off x="7197700" y="420137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→ N03</a:t>
            </a:r>
          </a:p>
        </p:txBody>
      </p:sp>
      <p:sp>
        <p:nvSpPr>
          <p:cNvPr id="44" name="rect-044"/>
          <p:cNvSpPr/>
          <p:nvPr/>
        </p:nvSpPr>
        <p:spPr>
          <a:xfrm>
            <a:off x="8694420" y="1746885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N03  内部工作逻辑"/>
          <p:cNvSpPr txBox="1"/>
          <p:nvPr/>
        </p:nvSpPr>
        <p:spPr>
          <a:xfrm>
            <a:off x="8790432" y="177483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46" name="text-046: 3  按位 AND"/>
          <p:cNvSpPr txBox="1"/>
          <p:nvPr/>
        </p:nvSpPr>
        <p:spPr>
          <a:xfrm>
            <a:off x="10137934" y="1944243"/>
            <a:ext cx="10067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按位 AND</a:t>
            </a:r>
          </a:p>
        </p:txBody>
      </p:sp>
      <p:sp>
        <p:nvSpPr>
          <p:cNvPr id="47" name="text-047: out[target][source]"/>
          <p:cNvSpPr txBox="1"/>
          <p:nvPr/>
        </p:nvSpPr>
        <p:spPr>
          <a:xfrm>
            <a:off x="9822428" y="2126452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out[target][source]</a:t>
            </a:r>
          </a:p>
        </p:txBody>
      </p:sp>
      <p:sp>
        <p:nvSpPr>
          <p:cNvPr id="48" name="text-048: = src[source]"/>
          <p:cNvSpPr txBox="1"/>
          <p:nvPr/>
        </p:nvSpPr>
        <p:spPr>
          <a:xfrm>
            <a:off x="10061658" y="2297140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= src[source]</a:t>
            </a:r>
          </a:p>
        </p:txBody>
      </p:sp>
      <p:sp>
        <p:nvSpPr>
          <p:cNvPr id="49" name="text-049: &amp; mask[source][target]"/>
          <p:cNvSpPr txBox="1"/>
          <p:nvPr/>
        </p:nvSpPr>
        <p:spPr>
          <a:xfrm>
            <a:off x="9702813" y="2467828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&amp; mask[source][target]</a:t>
            </a:r>
          </a:p>
        </p:txBody>
      </p:sp>
      <p:sp>
        <p:nvSpPr>
          <p:cNvPr id="50" name="rect-050"/>
          <p:cNvSpPr/>
          <p:nvPr/>
        </p:nvSpPr>
        <p:spPr>
          <a:xfrm>
            <a:off x="8774430" y="2765679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02-target"/>
          <p:cNvSpPr/>
          <p:nvPr/>
        </p:nvSpPr>
        <p:spPr>
          <a:xfrm>
            <a:off x="8614410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2 ← N02"/>
          <p:cNvSpPr txBox="1"/>
          <p:nvPr/>
        </p:nvSpPr>
        <p:spPr>
          <a:xfrm>
            <a:off x="8955786" y="28092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53" name="E06-target"/>
          <p:cNvSpPr/>
          <p:nvPr/>
        </p:nvSpPr>
        <p:spPr>
          <a:xfrm>
            <a:off x="8614410" y="308571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6 ← N04"/>
          <p:cNvSpPr txBox="1"/>
          <p:nvPr/>
        </p:nvSpPr>
        <p:spPr>
          <a:xfrm>
            <a:off x="8955786" y="299589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← N04</a:t>
            </a:r>
          </a:p>
        </p:txBody>
      </p:sp>
      <p:sp>
        <p:nvSpPr>
          <p:cNvPr id="55" name="E03-source"/>
          <p:cNvSpPr/>
          <p:nvPr/>
        </p:nvSpPr>
        <p:spPr>
          <a:xfrm>
            <a:off x="12396216" y="28990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 → P01"/>
          <p:cNvSpPr txBox="1"/>
          <p:nvPr/>
        </p:nvSpPr>
        <p:spPr>
          <a:xfrm>
            <a:off x="11438230" y="28092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P01</a:t>
            </a:r>
          </a:p>
        </p:txBody>
      </p:sp>
      <p:sp>
        <p:nvSpPr>
          <p:cNvPr id="57" name="E04-source"/>
          <p:cNvSpPr/>
          <p:nvPr/>
        </p:nvSpPr>
        <p:spPr>
          <a:xfrm>
            <a:off x="12396216" y="308571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 → P02"/>
          <p:cNvSpPr txBox="1"/>
          <p:nvPr/>
        </p:nvSpPr>
        <p:spPr>
          <a:xfrm>
            <a:off x="11438230" y="299589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P02</a:t>
            </a:r>
          </a:p>
        </p:txBody>
      </p:sp>
      <p:sp>
        <p:nvSpPr>
          <p:cNvPr id="59" name="E05-source"/>
          <p:cNvSpPr/>
          <p:nvPr/>
        </p:nvSpPr>
        <p:spPr>
          <a:xfrm>
            <a:off x="12396216" y="327240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 → P03"/>
          <p:cNvSpPr txBox="1"/>
          <p:nvPr/>
        </p:nvSpPr>
        <p:spPr>
          <a:xfrm>
            <a:off x="11438230" y="318258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P03</a:t>
            </a:r>
          </a:p>
        </p:txBody>
      </p:sp>
      <p:sp>
        <p:nvSpPr>
          <p:cNvPr id="61" name="rect-061"/>
          <p:cNvSpPr/>
          <p:nvPr/>
        </p:nvSpPr>
        <p:spPr>
          <a:xfrm>
            <a:off x="8694420" y="3683127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P02  外部/组边界"/>
          <p:cNvSpPr txBox="1"/>
          <p:nvPr/>
        </p:nvSpPr>
        <p:spPr>
          <a:xfrm>
            <a:off x="8790432" y="3711077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63" name="text-063: target 1… → hart CLIC"/>
          <p:cNvSpPr txBox="1"/>
          <p:nvPr/>
        </p:nvSpPr>
        <p:spPr>
          <a:xfrm>
            <a:off x="9617869" y="3880485"/>
            <a:ext cx="20469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1… → hart CLIC</a:t>
            </a:r>
          </a:p>
        </p:txBody>
      </p:sp>
      <p:sp>
        <p:nvSpPr>
          <p:cNvPr id="64" name="rect-064"/>
          <p:cNvSpPr/>
          <p:nvPr/>
        </p:nvSpPr>
        <p:spPr>
          <a:xfrm>
            <a:off x="8774430" y="418985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04-target"/>
          <p:cNvSpPr/>
          <p:nvPr/>
        </p:nvSpPr>
        <p:spPr>
          <a:xfrm>
            <a:off x="8614410" y="432320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4 ← N03"/>
          <p:cNvSpPr txBox="1"/>
          <p:nvPr/>
        </p:nvSpPr>
        <p:spPr>
          <a:xfrm>
            <a:off x="8955786" y="423338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N03</a:t>
            </a:r>
          </a:p>
        </p:txBody>
      </p:sp>
      <p:sp>
        <p:nvSpPr>
          <p:cNvPr id="67" name="text-067: target 0 → PLIC"/>
          <p:cNvSpPr txBox="1"/>
          <p:nvPr/>
        </p:nvSpPr>
        <p:spPr>
          <a:xfrm>
            <a:off x="213360" y="5332186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target 0 → PLIC</a:t>
            </a:r>
          </a:p>
        </p:txBody>
      </p:sp>
      <p:sp>
        <p:nvSpPr>
          <p:cNvPr id="68" name="text-068: target 1… → 各 hart CLIC"/>
          <p:cNvSpPr txBox="1"/>
          <p:nvPr/>
        </p:nvSpPr>
        <p:spPr>
          <a:xfrm>
            <a:off x="213360" y="5497540"/>
            <a:ext cx="208559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target 1… → 各 hart CLIC</a:t>
            </a:r>
          </a:p>
        </p:txBody>
      </p:sp>
      <p:sp>
        <p:nvSpPr>
          <p:cNvPr id="69" name="text-069: 后续 target → 外部输出"/>
          <p:cNvSpPr txBox="1"/>
          <p:nvPr/>
        </p:nvSpPr>
        <p:spPr>
          <a:xfrm>
            <a:off x="213360" y="5662894"/>
            <a:ext cx="16991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后续 target → 外部输出</a:t>
            </a:r>
          </a:p>
        </p:txBody>
      </p:sp>
      <p:sp>
        <p:nvSpPr>
          <p:cNvPr id="70" name="text-070: Regbus 请求 / 响应"/>
          <p:cNvSpPr txBox="1"/>
          <p:nvPr/>
        </p:nvSpPr>
        <p:spPr>
          <a:xfrm>
            <a:off x="213360" y="5828248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71" name="text-071: 掩码重排为目标 × 源"/>
          <p:cNvSpPr txBox="1"/>
          <p:nvPr/>
        </p:nvSpPr>
        <p:spPr>
          <a:xfrm>
            <a:off x="213360" y="5993602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掩码重排为目标 × 源</a:t>
            </a:r>
          </a:p>
        </p:txBody>
      </p:sp>
      <p:sp>
        <p:nvSpPr>
          <p:cNvPr id="72" name="text-072: 当前默认 / FPGA 为 0；Cfg.IrqRouter = 0 时：绕过掩码"/>
          <p:cNvSpPr txBox="1"/>
          <p:nvPr/>
        </p:nvSpPr>
        <p:spPr>
          <a:xfrm>
            <a:off x="213360" y="6158956"/>
            <a:ext cx="748973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当前默认 / FPGA 为 0；Cfg.IrqRouter = 0 时：绕过掩码，原始源向量复制给各目标；模块没有 pending 或优先级队列。</a:t>
            </a:r>
          </a:p>
        </p:txBody>
      </p:sp>
      <p:sp>
        <p:nvSpPr>
          <p:cNvPr id="73" name="text-073: 配对端口表示图示连接；已有/规划状态见模块和连接表。方向与 A 版一致。虚线模块"/>
          <p:cNvSpPr txBox="1"/>
          <p:nvPr/>
        </p:nvSpPr>
        <p:spPr>
          <a:xfrm>
            <a:off x="213360" y="6707932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8  BootROM：组合 ROM 内容与 Regbus 应答延迟"/>
          <p:cNvSpPr txBox="1"/>
          <p:nvPr/>
        </p:nvSpPr>
        <p:spPr>
          <a:xfrm>
            <a:off x="213360" y="1474531"/>
            <a:ext cx="45403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08  BootROM：组合 ROM 内容与 Regbus 应答延迟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74955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186940"/>
            <a:ext cx="3893820" cy="17068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221489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reg_to_mem"/>
          <p:cNvSpPr txBox="1"/>
          <p:nvPr/>
        </p:nvSpPr>
        <p:spPr>
          <a:xfrm>
            <a:off x="1530191" y="2384298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reg_to_mem</a:t>
            </a:r>
          </a:p>
        </p:txBody>
      </p:sp>
      <p:sp>
        <p:nvSpPr>
          <p:cNvPr id="7" name="text-007: 地址截为 16-bit"/>
          <p:cNvSpPr txBox="1"/>
          <p:nvPr/>
        </p:nvSpPr>
        <p:spPr>
          <a:xfrm>
            <a:off x="1574463" y="2566507"/>
            <a:ext cx="117161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地址截为 16-bit</a:t>
            </a:r>
          </a:p>
        </p:txBody>
      </p:sp>
      <p:sp>
        <p:nvSpPr>
          <p:cNvPr id="8" name="text-008: req / we / addr"/>
          <p:cNvSpPr txBox="1"/>
          <p:nvPr/>
        </p:nvSpPr>
        <p:spPr>
          <a:xfrm>
            <a:off x="1500854" y="2737195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 / we / addr</a:t>
            </a:r>
          </a:p>
        </p:txBody>
      </p:sp>
      <p:sp>
        <p:nvSpPr>
          <p:cNvPr id="9" name="text-009: gnt = req"/>
          <p:cNvSpPr txBox="1"/>
          <p:nvPr/>
        </p:nvSpPr>
        <p:spPr>
          <a:xfrm>
            <a:off x="1740084" y="2907883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gnt = req</a:t>
            </a:r>
          </a:p>
        </p:txBody>
      </p:sp>
      <p:sp>
        <p:nvSpPr>
          <p:cNvPr id="10" name="text-010: rvalid / rerror 返回"/>
          <p:cNvSpPr txBox="1"/>
          <p:nvPr/>
        </p:nvSpPr>
        <p:spPr>
          <a:xfrm>
            <a:off x="1338301" y="3078571"/>
            <a:ext cx="164393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rvalid / rerror 返回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337642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target"/>
          <p:cNvSpPr/>
          <p:nvPr/>
        </p:nvSpPr>
        <p:spPr>
          <a:xfrm>
            <a:off x="133350" y="35097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↔ P01"/>
          <p:cNvSpPr txBox="1"/>
          <p:nvPr/>
        </p:nvSpPr>
        <p:spPr>
          <a:xfrm>
            <a:off x="474726" y="34199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P01</a:t>
            </a:r>
          </a:p>
        </p:txBody>
      </p:sp>
      <p:sp>
        <p:nvSpPr>
          <p:cNvPr id="14" name="E05-target"/>
          <p:cNvSpPr/>
          <p:nvPr/>
        </p:nvSpPr>
        <p:spPr>
          <a:xfrm>
            <a:off x="133350" y="36964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E05 ← N03"/>
          <p:cNvSpPr txBox="1"/>
          <p:nvPr/>
        </p:nvSpPr>
        <p:spPr>
          <a:xfrm>
            <a:off x="474726" y="36066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N03</a:t>
            </a:r>
          </a:p>
        </p:txBody>
      </p:sp>
      <p:sp>
        <p:nvSpPr>
          <p:cNvPr id="16" name="E02-source"/>
          <p:cNvSpPr/>
          <p:nvPr/>
        </p:nvSpPr>
        <p:spPr>
          <a:xfrm>
            <a:off x="3915156" y="35097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E02 → N02"/>
          <p:cNvSpPr txBox="1"/>
          <p:nvPr/>
        </p:nvSpPr>
        <p:spPr>
          <a:xfrm>
            <a:off x="2957170" y="34199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N02</a:t>
            </a:r>
          </a:p>
        </p:txBody>
      </p:sp>
      <p:sp>
        <p:nvSpPr>
          <p:cNvPr id="18" name="E04-source"/>
          <p:cNvSpPr/>
          <p:nvPr/>
        </p:nvSpPr>
        <p:spPr>
          <a:xfrm>
            <a:off x="3915156" y="369646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4 → N03"/>
          <p:cNvSpPr txBox="1"/>
          <p:nvPr/>
        </p:nvSpPr>
        <p:spPr>
          <a:xfrm>
            <a:off x="2957170" y="360663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→ N03</a:t>
            </a:r>
          </a:p>
        </p:txBody>
      </p:sp>
      <p:sp>
        <p:nvSpPr>
          <p:cNvPr id="20" name="rect-020"/>
          <p:cNvSpPr/>
          <p:nvPr/>
        </p:nvSpPr>
        <p:spPr>
          <a:xfrm>
            <a:off x="4453890" y="2186940"/>
            <a:ext cx="3893820" cy="152019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02  状态/存储"/>
          <p:cNvSpPr txBox="1"/>
          <p:nvPr/>
        </p:nvSpPr>
        <p:spPr>
          <a:xfrm>
            <a:off x="4549902" y="221489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状态/存储</a:t>
            </a:r>
          </a:p>
        </p:txBody>
      </p:sp>
      <p:sp>
        <p:nvSpPr>
          <p:cNvPr id="22" name="text-022: 2  cheshire_bootrom"/>
          <p:cNvSpPr txBox="1"/>
          <p:nvPr/>
        </p:nvSpPr>
        <p:spPr>
          <a:xfrm>
            <a:off x="5510689" y="2384298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cheshire_bootrom</a:t>
            </a:r>
          </a:p>
        </p:txBody>
      </p:sp>
      <p:sp>
        <p:nvSpPr>
          <p:cNvPr id="23" name="text-023: word = addr / 4"/>
          <p:cNvSpPr txBox="1"/>
          <p:nvPr/>
        </p:nvSpPr>
        <p:spPr>
          <a:xfrm>
            <a:off x="5741384" y="2566507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word = addr / 4</a:t>
            </a:r>
          </a:p>
        </p:txBody>
      </p:sp>
      <p:sp>
        <p:nvSpPr>
          <p:cNvPr id="24" name="text-024: case(word) → data[31:0]"/>
          <p:cNvSpPr txBox="1"/>
          <p:nvPr/>
        </p:nvSpPr>
        <p:spPr>
          <a:xfrm>
            <a:off x="5400942" y="2737195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case(word) → data[31:0]</a:t>
            </a:r>
          </a:p>
        </p:txBody>
      </p:sp>
      <p:sp>
        <p:nvSpPr>
          <p:cNvPr id="25" name="text-025: 当前生成内容：2048 words"/>
          <p:cNvSpPr txBox="1"/>
          <p:nvPr/>
        </p:nvSpPr>
        <p:spPr>
          <a:xfrm>
            <a:off x="5511356" y="2907883"/>
            <a:ext cx="17788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当前生成内容：2048 words</a:t>
            </a:r>
          </a:p>
        </p:txBody>
      </p:sp>
      <p:sp>
        <p:nvSpPr>
          <p:cNvPr id="26" name="text-026: 组合查表；clk / rst 未用"/>
          <p:cNvSpPr txBox="1"/>
          <p:nvPr/>
        </p:nvSpPr>
        <p:spPr>
          <a:xfrm>
            <a:off x="5511356" y="3078571"/>
            <a:ext cx="17788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组合查表；clk / rst 未用</a:t>
            </a:r>
          </a:p>
        </p:txBody>
      </p:sp>
      <p:sp>
        <p:nvSpPr>
          <p:cNvPr id="27" name="rect-027"/>
          <p:cNvSpPr/>
          <p:nvPr/>
        </p:nvSpPr>
        <p:spPr>
          <a:xfrm>
            <a:off x="4533900" y="337642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2-target"/>
          <p:cNvSpPr/>
          <p:nvPr/>
        </p:nvSpPr>
        <p:spPr>
          <a:xfrm>
            <a:off x="4373880" y="35097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E02 ← N01"/>
          <p:cNvSpPr txBox="1"/>
          <p:nvPr/>
        </p:nvSpPr>
        <p:spPr>
          <a:xfrm>
            <a:off x="4715256" y="34199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N01</a:t>
            </a:r>
          </a:p>
        </p:txBody>
      </p:sp>
      <p:sp>
        <p:nvSpPr>
          <p:cNvPr id="30" name="E03-source"/>
          <p:cNvSpPr/>
          <p:nvPr/>
        </p:nvSpPr>
        <p:spPr>
          <a:xfrm>
            <a:off x="8155686" y="35097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E03 → N03"/>
          <p:cNvSpPr txBox="1"/>
          <p:nvPr/>
        </p:nvSpPr>
        <p:spPr>
          <a:xfrm>
            <a:off x="7197700" y="34199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N03</a:t>
            </a:r>
          </a:p>
        </p:txBody>
      </p:sp>
      <p:sp>
        <p:nvSpPr>
          <p:cNvPr id="32" name="rect-032"/>
          <p:cNvSpPr/>
          <p:nvPr/>
        </p:nvSpPr>
        <p:spPr>
          <a:xfrm>
            <a:off x="4453890" y="3920490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P01  外部/组边界"/>
          <p:cNvSpPr txBox="1"/>
          <p:nvPr/>
        </p:nvSpPr>
        <p:spPr>
          <a:xfrm>
            <a:off x="4549902" y="394844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34" name="text-034: Regbus 32"/>
          <p:cNvSpPr txBox="1"/>
          <p:nvPr/>
        </p:nvSpPr>
        <p:spPr>
          <a:xfrm>
            <a:off x="5944076" y="4117848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442722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source"/>
          <p:cNvSpPr/>
          <p:nvPr/>
        </p:nvSpPr>
        <p:spPr>
          <a:xfrm>
            <a:off x="8155686" y="45605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↔ N01"/>
          <p:cNvSpPr txBox="1"/>
          <p:nvPr/>
        </p:nvSpPr>
        <p:spPr>
          <a:xfrm>
            <a:off x="7197700" y="447074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8" name="rect-038"/>
          <p:cNvSpPr/>
          <p:nvPr/>
        </p:nvSpPr>
        <p:spPr>
          <a:xfrm>
            <a:off x="8694420" y="2186940"/>
            <a:ext cx="3893820" cy="153619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3  状态/存储"/>
          <p:cNvSpPr txBox="1"/>
          <p:nvPr/>
        </p:nvSpPr>
        <p:spPr>
          <a:xfrm>
            <a:off x="8790432" y="221489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状态/存储</a:t>
            </a:r>
          </a:p>
        </p:txBody>
      </p:sp>
      <p:sp>
        <p:nvSpPr>
          <p:cNvPr id="40" name="text-040: 3  FF 延迟对齐"/>
          <p:cNvSpPr txBox="1"/>
          <p:nvPr/>
        </p:nvSpPr>
        <p:spPr>
          <a:xfrm>
            <a:off x="10047922" y="2384298"/>
            <a:ext cx="11868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FF 延迟对齐</a:t>
            </a:r>
          </a:p>
        </p:txBody>
      </p:sp>
      <p:sp>
        <p:nvSpPr>
          <p:cNvPr id="41" name="text-041: data_q ← data"/>
          <p:cNvSpPr txBox="1"/>
          <p:nvPr/>
        </p:nvSpPr>
        <p:spPr>
          <a:xfrm>
            <a:off x="10040188" y="2566507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data_q ← data</a:t>
            </a:r>
          </a:p>
        </p:txBody>
      </p:sp>
      <p:sp>
        <p:nvSpPr>
          <p:cNvPr id="42" name="text-042: req_q ← req"/>
          <p:cNvSpPr txBox="1"/>
          <p:nvPr/>
        </p:nvSpPr>
        <p:spPr>
          <a:xfrm>
            <a:off x="10119932" y="2737195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req_q ← req</a:t>
            </a:r>
          </a:p>
        </p:txBody>
      </p:sp>
      <p:sp>
        <p:nvSpPr>
          <p:cNvPr id="43" name="text-043: we_q ← we"/>
          <p:cNvSpPr txBox="1"/>
          <p:nvPr/>
        </p:nvSpPr>
        <p:spPr>
          <a:xfrm>
            <a:off x="10199675" y="290788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we_q ← we</a:t>
            </a:r>
          </a:p>
        </p:txBody>
      </p:sp>
      <p:sp>
        <p:nvSpPr>
          <p:cNvPr id="44" name="rect-044"/>
          <p:cNvSpPr/>
          <p:nvPr/>
        </p:nvSpPr>
        <p:spPr>
          <a:xfrm>
            <a:off x="8774430" y="320573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3-target"/>
          <p:cNvSpPr/>
          <p:nvPr/>
        </p:nvSpPr>
        <p:spPr>
          <a:xfrm>
            <a:off x="8614410" y="33390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 ← N02"/>
          <p:cNvSpPr txBox="1"/>
          <p:nvPr/>
        </p:nvSpPr>
        <p:spPr>
          <a:xfrm>
            <a:off x="8955786" y="32492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N02</a:t>
            </a:r>
          </a:p>
        </p:txBody>
      </p:sp>
      <p:sp>
        <p:nvSpPr>
          <p:cNvPr id="47" name="E04-target"/>
          <p:cNvSpPr/>
          <p:nvPr/>
        </p:nvSpPr>
        <p:spPr>
          <a:xfrm>
            <a:off x="8614410" y="352577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4 ← N01"/>
          <p:cNvSpPr txBox="1"/>
          <p:nvPr/>
        </p:nvSpPr>
        <p:spPr>
          <a:xfrm>
            <a:off x="8955786" y="343594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← N01</a:t>
            </a:r>
          </a:p>
        </p:txBody>
      </p:sp>
      <p:sp>
        <p:nvSpPr>
          <p:cNvPr id="49" name="E05-source"/>
          <p:cNvSpPr/>
          <p:nvPr/>
        </p:nvSpPr>
        <p:spPr>
          <a:xfrm>
            <a:off x="12396216" y="33390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5 → N01"/>
          <p:cNvSpPr txBox="1"/>
          <p:nvPr/>
        </p:nvSpPr>
        <p:spPr>
          <a:xfrm>
            <a:off x="11438230" y="32492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N01</a:t>
            </a:r>
          </a:p>
        </p:txBody>
      </p:sp>
      <p:sp>
        <p:nvSpPr>
          <p:cNvPr id="51" name="text-051: Cfg.Bootrom 生成分支；clk_i / rst_ni"/>
          <p:cNvSpPr txBox="1"/>
          <p:nvPr/>
        </p:nvSpPr>
        <p:spPr>
          <a:xfrm>
            <a:off x="213360" y="4892131"/>
            <a:ext cx="28094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Cfg.Bootrom 生成分支；clk_i / rst_ni</a:t>
            </a:r>
          </a:p>
        </p:txBody>
      </p:sp>
      <p:sp>
        <p:nvSpPr>
          <p:cNvPr id="52" name="text-052: Regbus 32"/>
          <p:cNvSpPr txBox="1"/>
          <p:nvPr/>
        </p:nvSpPr>
        <p:spPr>
          <a:xfrm>
            <a:off x="213360" y="5057485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53" name="text-053: req / we 同步延迟"/>
          <p:cNvSpPr txBox="1"/>
          <p:nvPr/>
        </p:nvSpPr>
        <p:spPr>
          <a:xfrm>
            <a:off x="213360" y="5222839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req / we 同步延迟</a:t>
            </a:r>
          </a:p>
        </p:txBody>
      </p:sp>
      <p:sp>
        <p:nvSpPr>
          <p:cNvPr id="54" name="text-054: rdata = data_q；rvalid = req_q；rerror = w"/>
          <p:cNvSpPr txBox="1"/>
          <p:nvPr/>
        </p:nvSpPr>
        <p:spPr>
          <a:xfrm>
            <a:off x="213360" y="5388193"/>
            <a:ext cx="363752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rdata = data_q；rvalid = req_q；rerror = we_q</a:t>
            </a:r>
          </a:p>
        </p:txBody>
      </p:sp>
      <p:sp>
        <p:nvSpPr>
          <p:cNvPr id="55" name="text-055: 软件源 .S / .c → 链接与 ROM 生成脚本 → cheshire_bo"/>
          <p:cNvSpPr txBox="1"/>
          <p:nvPr/>
        </p:nvSpPr>
        <p:spPr>
          <a:xfrm>
            <a:off x="213360" y="5553547"/>
            <a:ext cx="50360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软件源 .S / .c → 链接与 ROM 生成脚本 → cheshire_bootrom.sv 常量内容</a:t>
            </a:r>
          </a:p>
        </p:txBody>
      </p:sp>
      <p:sp>
        <p:nvSpPr>
          <p:cNvPr id="56" name="text-056: 写访问返回错误；16-bit 接口窗口不等于 64 KiB 唯一 ROM 内容。"/>
          <p:cNvSpPr txBox="1"/>
          <p:nvPr/>
        </p:nvSpPr>
        <p:spPr>
          <a:xfrm>
            <a:off x="213360" y="5718901"/>
            <a:ext cx="417118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写访问返回错误；16-bit 接口窗口不等于 64 KiB 唯一 ROM 内容。</a:t>
            </a:r>
          </a:p>
        </p:txBody>
      </p:sp>
      <p:sp>
        <p:nvSpPr>
          <p:cNvPr id="57" name="text-057: 配对端口表示图示连接；已有/规划状态见模块和连接表。方向与 A 版一致。虚线模块"/>
          <p:cNvSpPr txBox="1"/>
          <p:nvPr/>
        </p:nvSpPr>
        <p:spPr>
          <a:xfrm>
            <a:off x="213360" y="6267877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9  SoC Regs：软件 scratch 与只读硬件能力信息"/>
          <p:cNvSpPr txBox="1"/>
          <p:nvPr/>
        </p:nvSpPr>
        <p:spPr>
          <a:xfrm>
            <a:off x="213360" y="1618549"/>
            <a:ext cx="45488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09  SoC Regs：软件 scratch 与只读硬件能力信息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893570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330958"/>
            <a:ext cx="3893820" cy="1178814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235890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Regbus 32 请求"/>
          <p:cNvSpPr txBox="1"/>
          <p:nvPr/>
        </p:nvSpPr>
        <p:spPr>
          <a:xfrm>
            <a:off x="1526858" y="2528316"/>
            <a:ext cx="12668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请求</a:t>
            </a:r>
          </a:p>
        </p:txBody>
      </p:sp>
      <p:sp>
        <p:nvSpPr>
          <p:cNvPr id="7" name="text-007: addr / write / wstrb"/>
          <p:cNvSpPr txBox="1"/>
          <p:nvPr/>
        </p:nvSpPr>
        <p:spPr>
          <a:xfrm>
            <a:off x="1301496" y="2710525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addr / write / wstrb</a:t>
            </a:r>
          </a:p>
        </p:txBody>
      </p:sp>
      <p:sp>
        <p:nvSpPr>
          <p:cNvPr id="8" name="text-008: wdata / valid"/>
          <p:cNvSpPr txBox="1"/>
          <p:nvPr/>
        </p:nvSpPr>
        <p:spPr>
          <a:xfrm>
            <a:off x="1580598" y="2881213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wdata / valid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317906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6-target"/>
          <p:cNvSpPr/>
          <p:nvPr/>
        </p:nvSpPr>
        <p:spPr>
          <a:xfrm>
            <a:off x="133350" y="331241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6 ← N05"/>
          <p:cNvSpPr txBox="1"/>
          <p:nvPr/>
        </p:nvSpPr>
        <p:spPr>
          <a:xfrm>
            <a:off x="474726" y="322258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N05</a:t>
            </a:r>
          </a:p>
        </p:txBody>
      </p:sp>
      <p:sp>
        <p:nvSpPr>
          <p:cNvPr id="12" name="E01-source"/>
          <p:cNvSpPr/>
          <p:nvPr/>
        </p:nvSpPr>
        <p:spPr>
          <a:xfrm>
            <a:off x="3915156" y="331241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→ N02"/>
          <p:cNvSpPr txBox="1"/>
          <p:nvPr/>
        </p:nvSpPr>
        <p:spPr>
          <a:xfrm>
            <a:off x="2957170" y="322258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3723132"/>
            <a:ext cx="3893820" cy="152019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4  接口与配置"/>
          <p:cNvSpPr txBox="1"/>
          <p:nvPr/>
        </p:nvSpPr>
        <p:spPr>
          <a:xfrm>
            <a:off x="309372" y="3751082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接口与配置</a:t>
            </a:r>
          </a:p>
        </p:txBody>
      </p:sp>
      <p:sp>
        <p:nvSpPr>
          <p:cNvPr id="16" name="text-016: 3  硬件只读字段"/>
          <p:cNvSpPr txBox="1"/>
          <p:nvPr/>
        </p:nvSpPr>
        <p:spPr>
          <a:xfrm>
            <a:off x="1563529" y="3920490"/>
            <a:ext cx="11934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硬件只读字段</a:t>
            </a:r>
          </a:p>
        </p:txBody>
      </p:sp>
      <p:sp>
        <p:nvSpPr>
          <p:cNvPr id="17" name="text-017: boot_mode_i；RtcFreq；PlatformRom"/>
          <p:cNvSpPr txBox="1"/>
          <p:nvPr/>
        </p:nvSpPr>
        <p:spPr>
          <a:xfrm>
            <a:off x="819969" y="4102699"/>
            <a:ext cx="2680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boot_mode_i；RtcFreq；PlatformRom</a:t>
            </a:r>
          </a:p>
        </p:txBody>
      </p:sp>
      <p:sp>
        <p:nvSpPr>
          <p:cNvPr id="18" name="text-018: NumIntHarts；HW_FEATURES；LLC_SIZE"/>
          <p:cNvSpPr txBox="1"/>
          <p:nvPr/>
        </p:nvSpPr>
        <p:spPr>
          <a:xfrm>
            <a:off x="780098" y="4273387"/>
            <a:ext cx="2760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NumIntHarts；HW_FEATURES；LLC_SIZE</a:t>
            </a:r>
          </a:p>
        </p:txBody>
      </p:sp>
      <p:sp>
        <p:nvSpPr>
          <p:cNvPr id="19" name="text-019: VGA RGB 位宽"/>
          <p:cNvSpPr txBox="1"/>
          <p:nvPr/>
        </p:nvSpPr>
        <p:spPr>
          <a:xfrm>
            <a:off x="1657274" y="4444075"/>
            <a:ext cx="10059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VGA RGB 位宽</a:t>
            </a:r>
          </a:p>
        </p:txBody>
      </p:sp>
      <p:sp>
        <p:nvSpPr>
          <p:cNvPr id="20" name="text-020: 来自 SoC 的 hw2reg 连线"/>
          <p:cNvSpPr txBox="1"/>
          <p:nvPr/>
        </p:nvSpPr>
        <p:spPr>
          <a:xfrm>
            <a:off x="1273893" y="4614763"/>
            <a:ext cx="17727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SoC 的 hw2reg 连线</a:t>
            </a:r>
          </a:p>
        </p:txBody>
      </p:sp>
      <p:sp>
        <p:nvSpPr>
          <p:cNvPr id="21" name="rect-021"/>
          <p:cNvSpPr/>
          <p:nvPr/>
        </p:nvSpPr>
        <p:spPr>
          <a:xfrm>
            <a:off x="293370" y="491261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04-source"/>
          <p:cNvSpPr/>
          <p:nvPr/>
        </p:nvSpPr>
        <p:spPr>
          <a:xfrm>
            <a:off x="3915156" y="504596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4 → N05"/>
          <p:cNvSpPr txBox="1"/>
          <p:nvPr/>
        </p:nvSpPr>
        <p:spPr>
          <a:xfrm>
            <a:off x="2957170" y="495613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24" name="rect-024"/>
          <p:cNvSpPr/>
          <p:nvPr/>
        </p:nvSpPr>
        <p:spPr>
          <a:xfrm>
            <a:off x="4453890" y="2330958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N02  内部工作逻辑"/>
          <p:cNvSpPr txBox="1"/>
          <p:nvPr/>
        </p:nvSpPr>
        <p:spPr>
          <a:xfrm>
            <a:off x="4549902" y="2358908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6" name="text-026: 1  地址与访问译码"/>
          <p:cNvSpPr txBox="1"/>
          <p:nvPr/>
        </p:nvSpPr>
        <p:spPr>
          <a:xfrm>
            <a:off x="5737384" y="2528316"/>
            <a:ext cx="13268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地址与访问译码</a:t>
            </a:r>
          </a:p>
        </p:txBody>
      </p:sp>
      <p:sp>
        <p:nvSpPr>
          <p:cNvPr id="27" name="text-027: cheshire_reg_top"/>
          <p:cNvSpPr txBox="1"/>
          <p:nvPr/>
        </p:nvSpPr>
        <p:spPr>
          <a:xfrm>
            <a:off x="5701513" y="2710525"/>
            <a:ext cx="139857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cheshire_reg_top</a:t>
            </a:r>
          </a:p>
        </p:txBody>
      </p:sp>
      <p:sp>
        <p:nvSpPr>
          <p:cNvPr id="28" name="text-028: reg_we / reg_re"/>
          <p:cNvSpPr txBox="1"/>
          <p:nvPr/>
        </p:nvSpPr>
        <p:spPr>
          <a:xfrm>
            <a:off x="5741384" y="2881213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reg_we / reg_re</a:t>
            </a:r>
          </a:p>
        </p:txBody>
      </p:sp>
      <p:sp>
        <p:nvSpPr>
          <p:cNvPr id="29" name="text-029: 字节写使能 / 未命中错误"/>
          <p:cNvSpPr txBox="1"/>
          <p:nvPr/>
        </p:nvSpPr>
        <p:spPr>
          <a:xfrm>
            <a:off x="5606434" y="3051901"/>
            <a:ext cx="15887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字节写使能 / 未命中错误</a:t>
            </a:r>
          </a:p>
        </p:txBody>
      </p:sp>
      <p:sp>
        <p:nvSpPr>
          <p:cNvPr id="30" name="rect-030"/>
          <p:cNvSpPr/>
          <p:nvPr/>
        </p:nvSpPr>
        <p:spPr>
          <a:xfrm>
            <a:off x="4533900" y="334975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01-target"/>
          <p:cNvSpPr/>
          <p:nvPr/>
        </p:nvSpPr>
        <p:spPr>
          <a:xfrm>
            <a:off x="4373880" y="348310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01 ← N01"/>
          <p:cNvSpPr txBox="1"/>
          <p:nvPr/>
        </p:nvSpPr>
        <p:spPr>
          <a:xfrm>
            <a:off x="4715256" y="339327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3" name="E02-source"/>
          <p:cNvSpPr/>
          <p:nvPr/>
        </p:nvSpPr>
        <p:spPr>
          <a:xfrm>
            <a:off x="8155686" y="348310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E02 → N03"/>
          <p:cNvSpPr txBox="1"/>
          <p:nvPr/>
        </p:nvSpPr>
        <p:spPr>
          <a:xfrm>
            <a:off x="7197700" y="339327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35" name="E05-source"/>
          <p:cNvSpPr/>
          <p:nvPr/>
        </p:nvSpPr>
        <p:spPr>
          <a:xfrm>
            <a:off x="8155686" y="36697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5 → N05"/>
          <p:cNvSpPr txBox="1"/>
          <p:nvPr/>
        </p:nvSpPr>
        <p:spPr>
          <a:xfrm>
            <a:off x="7197700" y="357996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N05</a:t>
            </a:r>
          </a:p>
        </p:txBody>
      </p:sp>
      <p:sp>
        <p:nvSpPr>
          <p:cNvPr id="37" name="rect-037"/>
          <p:cNvSpPr/>
          <p:nvPr/>
        </p:nvSpPr>
        <p:spPr>
          <a:xfrm>
            <a:off x="8694420" y="2330958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N03  状态/存储"/>
          <p:cNvSpPr txBox="1"/>
          <p:nvPr/>
        </p:nvSpPr>
        <p:spPr>
          <a:xfrm>
            <a:off x="8790432" y="2358908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状态/存储</a:t>
            </a:r>
          </a:p>
        </p:txBody>
      </p:sp>
      <p:sp>
        <p:nvSpPr>
          <p:cNvPr id="39" name="text-039: 2  scratch[0…15]"/>
          <p:cNvSpPr txBox="1"/>
          <p:nvPr/>
        </p:nvSpPr>
        <p:spPr>
          <a:xfrm>
            <a:off x="9857899" y="2528316"/>
            <a:ext cx="156686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scratch[0…15]</a:t>
            </a:r>
          </a:p>
        </p:txBody>
      </p:sp>
      <p:sp>
        <p:nvSpPr>
          <p:cNvPr id="40" name="text-040: prim_subreg：16 × 32-bit RW"/>
          <p:cNvSpPr txBox="1"/>
          <p:nvPr/>
        </p:nvSpPr>
        <p:spPr>
          <a:xfrm>
            <a:off x="9521857" y="2710525"/>
            <a:ext cx="223894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prim_subreg：16 × 32-bit RW</a:t>
            </a:r>
          </a:p>
        </p:txBody>
      </p:sp>
      <p:sp>
        <p:nvSpPr>
          <p:cNvPr id="41" name="text-041: 保存软件数据；复位为 0；不是 SRAM"/>
          <p:cNvSpPr txBox="1"/>
          <p:nvPr/>
        </p:nvSpPr>
        <p:spPr>
          <a:xfrm>
            <a:off x="9503454" y="2881213"/>
            <a:ext cx="227575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保存软件数据；复位为 0；不是 SRAM</a:t>
            </a:r>
          </a:p>
        </p:txBody>
      </p:sp>
      <p:sp>
        <p:nvSpPr>
          <p:cNvPr id="42" name="rect-042"/>
          <p:cNvSpPr/>
          <p:nvPr/>
        </p:nvSpPr>
        <p:spPr>
          <a:xfrm>
            <a:off x="8774430" y="317906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02-target"/>
          <p:cNvSpPr/>
          <p:nvPr/>
        </p:nvSpPr>
        <p:spPr>
          <a:xfrm>
            <a:off x="8614410" y="331241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2 ← N02"/>
          <p:cNvSpPr txBox="1"/>
          <p:nvPr/>
        </p:nvSpPr>
        <p:spPr>
          <a:xfrm>
            <a:off x="8955786" y="322258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45" name="E03-source"/>
          <p:cNvSpPr/>
          <p:nvPr/>
        </p:nvSpPr>
        <p:spPr>
          <a:xfrm>
            <a:off x="12396216" y="331241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 → N05"/>
          <p:cNvSpPr txBox="1"/>
          <p:nvPr/>
        </p:nvSpPr>
        <p:spPr>
          <a:xfrm>
            <a:off x="11438230" y="322258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N05</a:t>
            </a:r>
          </a:p>
        </p:txBody>
      </p:sp>
      <p:sp>
        <p:nvSpPr>
          <p:cNvPr id="47" name="rect-047"/>
          <p:cNvSpPr/>
          <p:nvPr/>
        </p:nvSpPr>
        <p:spPr>
          <a:xfrm>
            <a:off x="8694420" y="3723132"/>
            <a:ext cx="3893820" cy="155219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N05  内部工作逻辑"/>
          <p:cNvSpPr txBox="1"/>
          <p:nvPr/>
        </p:nvSpPr>
        <p:spPr>
          <a:xfrm>
            <a:off x="8790432" y="375108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49" name="text-049: 4  读回选择 / 响应"/>
          <p:cNvSpPr txBox="1"/>
          <p:nvPr/>
        </p:nvSpPr>
        <p:spPr>
          <a:xfrm>
            <a:off x="9914572" y="3920490"/>
            <a:ext cx="14535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读回选择 / 响应</a:t>
            </a:r>
          </a:p>
        </p:txBody>
      </p:sp>
      <p:sp>
        <p:nvSpPr>
          <p:cNvPr id="50" name="text-050: rdata = 地址选中值"/>
          <p:cNvSpPr txBox="1"/>
          <p:nvPr/>
        </p:nvSpPr>
        <p:spPr>
          <a:xfrm>
            <a:off x="9954311" y="4102699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地址选中值</a:t>
            </a:r>
          </a:p>
        </p:txBody>
      </p:sp>
      <p:sp>
        <p:nvSpPr>
          <p:cNvPr id="51" name="text-051: ready = 1；error = 非法访问"/>
          <p:cNvSpPr txBox="1"/>
          <p:nvPr/>
        </p:nvSpPr>
        <p:spPr>
          <a:xfrm>
            <a:off x="9595466" y="4273387"/>
            <a:ext cx="20917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1；error = 非法访问</a:t>
            </a:r>
          </a:p>
        </p:txBody>
      </p:sp>
      <p:sp>
        <p:nvSpPr>
          <p:cNvPr id="52" name="rect-052"/>
          <p:cNvSpPr/>
          <p:nvPr/>
        </p:nvSpPr>
        <p:spPr>
          <a:xfrm>
            <a:off x="8774430" y="4571238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3-target"/>
          <p:cNvSpPr/>
          <p:nvPr/>
        </p:nvSpPr>
        <p:spPr>
          <a:xfrm>
            <a:off x="8614410" y="470458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3 ← N03"/>
          <p:cNvSpPr txBox="1"/>
          <p:nvPr/>
        </p:nvSpPr>
        <p:spPr>
          <a:xfrm>
            <a:off x="8955786" y="461476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55" name="E04-target"/>
          <p:cNvSpPr/>
          <p:nvPr/>
        </p:nvSpPr>
        <p:spPr>
          <a:xfrm>
            <a:off x="8614410" y="489127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4 ← N04"/>
          <p:cNvSpPr txBox="1"/>
          <p:nvPr/>
        </p:nvSpPr>
        <p:spPr>
          <a:xfrm>
            <a:off x="8955786" y="480145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57" name="E05-target"/>
          <p:cNvSpPr/>
          <p:nvPr/>
        </p:nvSpPr>
        <p:spPr>
          <a:xfrm>
            <a:off x="8614410" y="507796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5 ← N02"/>
          <p:cNvSpPr txBox="1"/>
          <p:nvPr/>
        </p:nvSpPr>
        <p:spPr>
          <a:xfrm>
            <a:off x="8955786" y="498814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N02</a:t>
            </a:r>
          </a:p>
        </p:txBody>
      </p:sp>
      <p:sp>
        <p:nvSpPr>
          <p:cNvPr id="59" name="E06-source"/>
          <p:cNvSpPr/>
          <p:nvPr/>
        </p:nvSpPr>
        <p:spPr>
          <a:xfrm>
            <a:off x="12396216" y="470458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6 → N01"/>
          <p:cNvSpPr txBox="1"/>
          <p:nvPr/>
        </p:nvSpPr>
        <p:spPr>
          <a:xfrm>
            <a:off x="11438230" y="461476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N01</a:t>
            </a:r>
          </a:p>
        </p:txBody>
      </p:sp>
      <p:sp>
        <p:nvSpPr>
          <p:cNvPr id="61" name="text-061: rdata / error / ready"/>
          <p:cNvSpPr txBox="1"/>
          <p:nvPr/>
        </p:nvSpPr>
        <p:spPr>
          <a:xfrm>
            <a:off x="213360" y="5409529"/>
            <a:ext cx="179729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62" name="text-062: 功能位描述当前综合配置，不是动态电源开关，也不是 PLL 或 DDR 初始化控制"/>
          <p:cNvSpPr txBox="1"/>
          <p:nvPr/>
        </p:nvSpPr>
        <p:spPr>
          <a:xfrm>
            <a:off x="213360" y="5574883"/>
            <a:ext cx="484593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功能位描述当前综合配置，不是动态电源开关，也不是 PLL 或 DDR 初始化控制器。</a:t>
            </a:r>
          </a:p>
        </p:txBody>
      </p:sp>
      <p:sp>
        <p:nvSpPr>
          <p:cNvPr id="63" name="text-063: 配对端口表示图示连接；已有/规划状态见模块和连接表。方向与 A 版一致。虚线模块"/>
          <p:cNvSpPr txBox="1"/>
          <p:nvPr/>
        </p:nvSpPr>
        <p:spPr>
          <a:xfrm>
            <a:off x="213360" y="6123859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0  JTAG Debug：DMI 控制、hart 调试与系统总线访问"/>
          <p:cNvSpPr txBox="1"/>
          <p:nvPr/>
        </p:nvSpPr>
        <p:spPr>
          <a:xfrm>
            <a:off x="213360" y="943798"/>
            <a:ext cx="494141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10  JTAG Debug：DMI 控制、hart 调试与系统总线访问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218819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656207"/>
            <a:ext cx="3893820" cy="1178814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1684157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JTAG 引脚"/>
          <p:cNvSpPr txBox="1"/>
          <p:nvPr/>
        </p:nvSpPr>
        <p:spPr>
          <a:xfrm>
            <a:off x="1743551" y="1853565"/>
            <a:ext cx="8334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引脚</a:t>
            </a:r>
          </a:p>
        </p:txBody>
      </p:sp>
      <p:sp>
        <p:nvSpPr>
          <p:cNvPr id="7" name="text-007: TCK / TMS / TDI"/>
          <p:cNvSpPr txBox="1"/>
          <p:nvPr/>
        </p:nvSpPr>
        <p:spPr>
          <a:xfrm>
            <a:off x="1500854" y="2035774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/ TMS / TDI</a:t>
            </a:r>
          </a:p>
        </p:txBody>
      </p:sp>
      <p:sp>
        <p:nvSpPr>
          <p:cNvPr id="8" name="text-008: TDO / TRSTn"/>
          <p:cNvSpPr txBox="1"/>
          <p:nvPr/>
        </p:nvSpPr>
        <p:spPr>
          <a:xfrm>
            <a:off x="1660341" y="2206462"/>
            <a:ext cx="9998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TDO / TRSTn</a:t>
            </a:r>
          </a:p>
        </p:txBody>
      </p:sp>
      <p:sp>
        <p:nvSpPr>
          <p:cNvPr id="9" name="rect-009"/>
          <p:cNvSpPr/>
          <p:nvPr/>
        </p:nvSpPr>
        <p:spPr>
          <a:xfrm>
            <a:off x="293370" y="250431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01-source"/>
          <p:cNvSpPr/>
          <p:nvPr/>
        </p:nvSpPr>
        <p:spPr>
          <a:xfrm>
            <a:off x="3915156" y="263766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E01 ↔ N02"/>
          <p:cNvSpPr txBox="1"/>
          <p:nvPr/>
        </p:nvSpPr>
        <p:spPr>
          <a:xfrm>
            <a:off x="2957170" y="254783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2" name="rect-012"/>
          <p:cNvSpPr/>
          <p:nvPr/>
        </p:nvSpPr>
        <p:spPr>
          <a:xfrm>
            <a:off x="213360" y="3048381"/>
            <a:ext cx="3893820" cy="134950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N04  状态/存储"/>
          <p:cNvSpPr txBox="1"/>
          <p:nvPr/>
        </p:nvSpPr>
        <p:spPr>
          <a:xfrm>
            <a:off x="309372" y="3076331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4" name="text-014: 3  hart 调试入口"/>
          <p:cNvSpPr txBox="1"/>
          <p:nvPr/>
        </p:nvSpPr>
        <p:spPr>
          <a:xfrm>
            <a:off x="1480185" y="3245739"/>
            <a:ext cx="13601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hart 调试入口</a:t>
            </a:r>
          </a:p>
        </p:txBody>
      </p:sp>
      <p:sp>
        <p:nvSpPr>
          <p:cNvPr id="15" name="text-015: debug_req"/>
          <p:cNvSpPr txBox="1"/>
          <p:nvPr/>
        </p:nvSpPr>
        <p:spPr>
          <a:xfrm>
            <a:off x="1740084" y="3427948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debug_req</a:t>
            </a:r>
          </a:p>
        </p:txBody>
      </p:sp>
      <p:sp>
        <p:nvSpPr>
          <p:cNvPr id="16" name="text-016: 执行 debug ROM"/>
          <p:cNvSpPr txBox="1"/>
          <p:nvPr/>
        </p:nvSpPr>
        <p:spPr>
          <a:xfrm>
            <a:off x="1577530" y="3598636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debug ROM</a:t>
            </a:r>
          </a:p>
        </p:txBody>
      </p:sp>
      <p:sp>
        <p:nvSpPr>
          <p:cNvPr id="17" name="text-017: 访问程序缓冲区"/>
          <p:cNvSpPr txBox="1"/>
          <p:nvPr/>
        </p:nvSpPr>
        <p:spPr>
          <a:xfrm>
            <a:off x="1669542" y="3769324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访问程序缓冲区</a:t>
            </a:r>
          </a:p>
        </p:txBody>
      </p:sp>
      <p:sp>
        <p:nvSpPr>
          <p:cNvPr id="18" name="rect-018"/>
          <p:cNvSpPr/>
          <p:nvPr/>
        </p:nvSpPr>
        <p:spPr>
          <a:xfrm>
            <a:off x="293370" y="406717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03-target"/>
          <p:cNvSpPr/>
          <p:nvPr/>
        </p:nvSpPr>
        <p:spPr>
          <a:xfrm>
            <a:off x="133350" y="420052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E03 ← N03"/>
          <p:cNvSpPr txBox="1"/>
          <p:nvPr/>
        </p:nvSpPr>
        <p:spPr>
          <a:xfrm>
            <a:off x="474726" y="411070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1" name="rect-021"/>
          <p:cNvSpPr/>
          <p:nvPr/>
        </p:nvSpPr>
        <p:spPr>
          <a:xfrm>
            <a:off x="213360" y="4611243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P01  外部/组边界"/>
          <p:cNvSpPr txBox="1"/>
          <p:nvPr/>
        </p:nvSpPr>
        <p:spPr>
          <a:xfrm>
            <a:off x="309372" y="4639193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23" name="text-023: 主 AXI：AxiIn.dbg"/>
          <p:cNvSpPr txBox="1"/>
          <p:nvPr/>
        </p:nvSpPr>
        <p:spPr>
          <a:xfrm>
            <a:off x="1396841" y="4808601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AXI：AxiIn.dbg</a:t>
            </a:r>
          </a:p>
        </p:txBody>
      </p:sp>
      <p:sp>
        <p:nvSpPr>
          <p:cNvPr id="24" name="rect-024"/>
          <p:cNvSpPr/>
          <p:nvPr/>
        </p:nvSpPr>
        <p:spPr>
          <a:xfrm>
            <a:off x="293370" y="511797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05-target"/>
          <p:cNvSpPr/>
          <p:nvPr/>
        </p:nvSpPr>
        <p:spPr>
          <a:xfrm>
            <a:off x="133350" y="525132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5 ↔ N05"/>
          <p:cNvSpPr txBox="1"/>
          <p:nvPr/>
        </p:nvSpPr>
        <p:spPr>
          <a:xfrm>
            <a:off x="474726" y="516149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27" name="rect-027"/>
          <p:cNvSpPr/>
          <p:nvPr/>
        </p:nvSpPr>
        <p:spPr>
          <a:xfrm>
            <a:off x="4453890" y="1656207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N02  内部工作逻辑"/>
          <p:cNvSpPr txBox="1"/>
          <p:nvPr/>
        </p:nvSpPr>
        <p:spPr>
          <a:xfrm>
            <a:off x="4549902" y="168415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9" name="text-029: 1  dmi_jtag"/>
          <p:cNvSpPr txBox="1"/>
          <p:nvPr/>
        </p:nvSpPr>
        <p:spPr>
          <a:xfrm>
            <a:off x="5857399" y="1853565"/>
            <a:ext cx="10868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dmi_jtag</a:t>
            </a:r>
          </a:p>
        </p:txBody>
      </p:sp>
      <p:sp>
        <p:nvSpPr>
          <p:cNvPr id="30" name="text-030: JTAG TAP / DTM"/>
          <p:cNvSpPr txBox="1"/>
          <p:nvPr/>
        </p:nvSpPr>
        <p:spPr>
          <a:xfrm>
            <a:off x="5781256" y="2035774"/>
            <a:ext cx="123908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TAP / DTM</a:t>
            </a:r>
          </a:p>
        </p:txBody>
      </p:sp>
      <p:sp>
        <p:nvSpPr>
          <p:cNvPr id="31" name="text-031: DMI 请求 / 响应跨域"/>
          <p:cNvSpPr txBox="1"/>
          <p:nvPr/>
        </p:nvSpPr>
        <p:spPr>
          <a:xfrm>
            <a:off x="5692311" y="2206462"/>
            <a:ext cx="141697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 请求 / 响应跨域</a:t>
            </a:r>
          </a:p>
        </p:txBody>
      </p:sp>
      <p:sp>
        <p:nvSpPr>
          <p:cNvPr id="32" name="text-032: TCK 域 ↔ clk_i 域"/>
          <p:cNvSpPr txBox="1"/>
          <p:nvPr/>
        </p:nvSpPr>
        <p:spPr>
          <a:xfrm>
            <a:off x="5676976" y="2377150"/>
            <a:ext cx="14476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域 ↔ clk_i 域</a:t>
            </a:r>
          </a:p>
        </p:txBody>
      </p:sp>
      <p:sp>
        <p:nvSpPr>
          <p:cNvPr id="33" name="rect-033"/>
          <p:cNvSpPr/>
          <p:nvPr/>
        </p:nvSpPr>
        <p:spPr>
          <a:xfrm>
            <a:off x="4533900" y="267500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1-target"/>
          <p:cNvSpPr/>
          <p:nvPr/>
        </p:nvSpPr>
        <p:spPr>
          <a:xfrm>
            <a:off x="4373880" y="280835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 ↔ N01"/>
          <p:cNvSpPr txBox="1"/>
          <p:nvPr/>
        </p:nvSpPr>
        <p:spPr>
          <a:xfrm>
            <a:off x="4715256" y="271852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6" name="E02-source"/>
          <p:cNvSpPr/>
          <p:nvPr/>
        </p:nvSpPr>
        <p:spPr>
          <a:xfrm>
            <a:off x="8155686" y="280835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 ↔ N03"/>
          <p:cNvSpPr txBox="1"/>
          <p:nvPr/>
        </p:nvSpPr>
        <p:spPr>
          <a:xfrm>
            <a:off x="7197700" y="271852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38" name="rect-038"/>
          <p:cNvSpPr/>
          <p:nvPr/>
        </p:nvSpPr>
        <p:spPr>
          <a:xfrm>
            <a:off x="4453890" y="3219069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5  内部工作逻辑"/>
          <p:cNvSpPr txBox="1"/>
          <p:nvPr/>
        </p:nvSpPr>
        <p:spPr>
          <a:xfrm>
            <a:off x="4549902" y="3247019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40" name="text-040: 4  axi_from_mem"/>
          <p:cNvSpPr txBox="1"/>
          <p:nvPr/>
        </p:nvSpPr>
        <p:spPr>
          <a:xfrm>
            <a:off x="5684044" y="3416427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axi_from_mem</a:t>
            </a:r>
          </a:p>
        </p:txBody>
      </p:sp>
      <p:sp>
        <p:nvSpPr>
          <p:cNvPr id="41" name="text-041: SBA req / gnt / rvalid"/>
          <p:cNvSpPr txBox="1"/>
          <p:nvPr/>
        </p:nvSpPr>
        <p:spPr>
          <a:xfrm>
            <a:off x="5462283" y="3598636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SBA req / gnt / rvalid</a:t>
            </a:r>
          </a:p>
        </p:txBody>
      </p:sp>
      <p:sp>
        <p:nvSpPr>
          <p:cNvPr id="42" name="text-042: → AXI master"/>
          <p:cNvSpPr txBox="1"/>
          <p:nvPr/>
        </p:nvSpPr>
        <p:spPr>
          <a:xfrm>
            <a:off x="5839530" y="3769324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AXI master</a:t>
            </a:r>
          </a:p>
        </p:txBody>
      </p:sp>
      <p:sp>
        <p:nvSpPr>
          <p:cNvPr id="43" name="text-043: AxiIn.dbg"/>
          <p:cNvSpPr txBox="1"/>
          <p:nvPr/>
        </p:nvSpPr>
        <p:spPr>
          <a:xfrm>
            <a:off x="5980614" y="3940012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AxiIn.dbg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423786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4-target"/>
          <p:cNvSpPr/>
          <p:nvPr/>
        </p:nvSpPr>
        <p:spPr>
          <a:xfrm>
            <a:off x="4373880" y="437121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4 ↔ N03"/>
          <p:cNvSpPr txBox="1"/>
          <p:nvPr/>
        </p:nvSpPr>
        <p:spPr>
          <a:xfrm>
            <a:off x="4715256" y="428138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N03</a:t>
            </a:r>
          </a:p>
        </p:txBody>
      </p:sp>
      <p:sp>
        <p:nvSpPr>
          <p:cNvPr id="47" name="E05-source"/>
          <p:cNvSpPr/>
          <p:nvPr/>
        </p:nvSpPr>
        <p:spPr>
          <a:xfrm>
            <a:off x="8155686" y="437121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5 ↔ P01"/>
          <p:cNvSpPr txBox="1"/>
          <p:nvPr/>
        </p:nvSpPr>
        <p:spPr>
          <a:xfrm>
            <a:off x="7197700" y="428138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P01</a:t>
            </a:r>
          </a:p>
        </p:txBody>
      </p:sp>
      <p:sp>
        <p:nvSpPr>
          <p:cNvPr id="49" name="rect-049"/>
          <p:cNvSpPr/>
          <p:nvPr/>
        </p:nvSpPr>
        <p:spPr>
          <a:xfrm>
            <a:off x="4453890" y="4781931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P02  外部/组边界"/>
          <p:cNvSpPr txBox="1"/>
          <p:nvPr/>
        </p:nvSpPr>
        <p:spPr>
          <a:xfrm>
            <a:off x="4549902" y="480988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51" name="text-051: 主 AXI：AxiOut.dbg"/>
          <p:cNvSpPr txBox="1"/>
          <p:nvPr/>
        </p:nvSpPr>
        <p:spPr>
          <a:xfrm>
            <a:off x="5594032" y="4979289"/>
            <a:ext cx="16135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AXI：AxiOut.dbg</a:t>
            </a:r>
          </a:p>
        </p:txBody>
      </p:sp>
      <p:sp>
        <p:nvSpPr>
          <p:cNvPr id="52" name="rect-052"/>
          <p:cNvSpPr/>
          <p:nvPr/>
        </p:nvSpPr>
        <p:spPr>
          <a:xfrm>
            <a:off x="4533900" y="528866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6-source"/>
          <p:cNvSpPr/>
          <p:nvPr/>
        </p:nvSpPr>
        <p:spPr>
          <a:xfrm>
            <a:off x="8155686" y="542201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6 ↔ N06"/>
          <p:cNvSpPr txBox="1"/>
          <p:nvPr/>
        </p:nvSpPr>
        <p:spPr>
          <a:xfrm>
            <a:off x="7197700" y="533218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55" name="rect-055"/>
          <p:cNvSpPr/>
          <p:nvPr/>
        </p:nvSpPr>
        <p:spPr>
          <a:xfrm>
            <a:off x="8694420" y="1656207"/>
            <a:ext cx="3893820" cy="170688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N03  接口与配置"/>
          <p:cNvSpPr txBox="1"/>
          <p:nvPr/>
        </p:nvSpPr>
        <p:spPr>
          <a:xfrm>
            <a:off x="8790432" y="1684157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接口与配置</a:t>
            </a:r>
          </a:p>
        </p:txBody>
      </p:sp>
      <p:sp>
        <p:nvSpPr>
          <p:cNvPr id="57" name="text-057: 2  dm_top"/>
          <p:cNvSpPr txBox="1"/>
          <p:nvPr/>
        </p:nvSpPr>
        <p:spPr>
          <a:xfrm>
            <a:off x="10184606" y="1853565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dm_top</a:t>
            </a:r>
          </a:p>
        </p:txBody>
      </p:sp>
      <p:sp>
        <p:nvSpPr>
          <p:cNvPr id="58" name="text-058: dm_csrs：DMI 配置"/>
          <p:cNvSpPr txBox="1"/>
          <p:nvPr/>
        </p:nvSpPr>
        <p:spPr>
          <a:xfrm>
            <a:off x="9957378" y="2035774"/>
            <a:ext cx="13679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dm_csrs：DMI 配置</a:t>
            </a:r>
          </a:p>
        </p:txBody>
      </p:sp>
      <p:sp>
        <p:nvSpPr>
          <p:cNvPr id="59" name="text-059: dm_mem：调试执行存储窗"/>
          <p:cNvSpPr txBox="1"/>
          <p:nvPr/>
        </p:nvSpPr>
        <p:spPr>
          <a:xfrm>
            <a:off x="9850031" y="2206462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dm_mem：调试执行存储窗</a:t>
            </a:r>
          </a:p>
        </p:txBody>
      </p:sp>
      <p:sp>
        <p:nvSpPr>
          <p:cNvPr id="60" name="text-060: dm_sba：系统总线访问"/>
          <p:cNvSpPr txBox="1"/>
          <p:nvPr/>
        </p:nvSpPr>
        <p:spPr>
          <a:xfrm>
            <a:off x="9911372" y="2377150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dm_sba：系统总线访问</a:t>
            </a:r>
          </a:p>
        </p:txBody>
      </p:sp>
      <p:sp>
        <p:nvSpPr>
          <p:cNvPr id="61" name="text-061: dmactive → dbg_active_o"/>
          <p:cNvSpPr txBox="1"/>
          <p:nvPr/>
        </p:nvSpPr>
        <p:spPr>
          <a:xfrm>
            <a:off x="9641472" y="2547838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dmactive → dbg_active_o</a:t>
            </a:r>
          </a:p>
        </p:txBody>
      </p:sp>
      <p:sp>
        <p:nvSpPr>
          <p:cNvPr id="62" name="rect-062"/>
          <p:cNvSpPr/>
          <p:nvPr/>
        </p:nvSpPr>
        <p:spPr>
          <a:xfrm>
            <a:off x="8774430" y="284568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E02-target"/>
          <p:cNvSpPr/>
          <p:nvPr/>
        </p:nvSpPr>
        <p:spPr>
          <a:xfrm>
            <a:off x="8614410" y="297903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2 ↔ N02"/>
          <p:cNvSpPr txBox="1"/>
          <p:nvPr/>
        </p:nvSpPr>
        <p:spPr>
          <a:xfrm>
            <a:off x="8955786" y="288921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65" name="E07-target"/>
          <p:cNvSpPr/>
          <p:nvPr/>
        </p:nvSpPr>
        <p:spPr>
          <a:xfrm>
            <a:off x="8614410" y="31657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7 ↔ N06"/>
          <p:cNvSpPr txBox="1"/>
          <p:nvPr/>
        </p:nvSpPr>
        <p:spPr>
          <a:xfrm>
            <a:off x="8955786" y="30759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N06</a:t>
            </a:r>
          </a:p>
        </p:txBody>
      </p:sp>
      <p:sp>
        <p:nvSpPr>
          <p:cNvPr id="67" name="E03-source"/>
          <p:cNvSpPr/>
          <p:nvPr/>
        </p:nvSpPr>
        <p:spPr>
          <a:xfrm>
            <a:off x="12396216" y="297903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3 → N04"/>
          <p:cNvSpPr txBox="1"/>
          <p:nvPr/>
        </p:nvSpPr>
        <p:spPr>
          <a:xfrm>
            <a:off x="11438230" y="288921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69" name="E04-source"/>
          <p:cNvSpPr/>
          <p:nvPr/>
        </p:nvSpPr>
        <p:spPr>
          <a:xfrm>
            <a:off x="12396216" y="31657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4 ↔ N05"/>
          <p:cNvSpPr txBox="1"/>
          <p:nvPr/>
        </p:nvSpPr>
        <p:spPr>
          <a:xfrm>
            <a:off x="11438230" y="30759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N05</a:t>
            </a:r>
          </a:p>
        </p:txBody>
      </p:sp>
      <p:sp>
        <p:nvSpPr>
          <p:cNvPr id="71" name="rect-071"/>
          <p:cNvSpPr/>
          <p:nvPr/>
        </p:nvSpPr>
        <p:spPr>
          <a:xfrm>
            <a:off x="8694420" y="3576447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N06  内部工作逻辑"/>
          <p:cNvSpPr txBox="1"/>
          <p:nvPr/>
        </p:nvSpPr>
        <p:spPr>
          <a:xfrm>
            <a:off x="8790432" y="360439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3" name="text-073: 5  调试存储窗适配"/>
          <p:cNvSpPr txBox="1"/>
          <p:nvPr/>
        </p:nvSpPr>
        <p:spPr>
          <a:xfrm>
            <a:off x="9977914" y="3773805"/>
            <a:ext cx="13268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调试存储窗适配</a:t>
            </a:r>
          </a:p>
        </p:txBody>
      </p:sp>
      <p:sp>
        <p:nvSpPr>
          <p:cNvPr id="74" name="text-074: AXI atomics / cut"/>
          <p:cNvSpPr txBox="1"/>
          <p:nvPr/>
        </p:nvSpPr>
        <p:spPr>
          <a:xfrm>
            <a:off x="9902171" y="3956014"/>
            <a:ext cx="14783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atomics / cut</a:t>
            </a:r>
          </a:p>
        </p:txBody>
      </p:sp>
      <p:sp>
        <p:nvSpPr>
          <p:cNvPr id="75" name="text-075: axi_to_mem_interleaved"/>
          <p:cNvSpPr txBox="1"/>
          <p:nvPr/>
        </p:nvSpPr>
        <p:spPr>
          <a:xfrm>
            <a:off x="9702813" y="4126702"/>
            <a:ext cx="18770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axi_to_mem_interleaved</a:t>
            </a:r>
          </a:p>
        </p:txBody>
      </p:sp>
      <p:sp>
        <p:nvSpPr>
          <p:cNvPr id="76" name="text-076: → dm_top.slave_*"/>
          <p:cNvSpPr txBox="1"/>
          <p:nvPr/>
        </p:nvSpPr>
        <p:spPr>
          <a:xfrm>
            <a:off x="9920573" y="4297390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dm_top.slave_*</a:t>
            </a:r>
          </a:p>
        </p:txBody>
      </p:sp>
      <p:sp>
        <p:nvSpPr>
          <p:cNvPr id="77" name="text-077: 供 hart 执行调试代码"/>
          <p:cNvSpPr txBox="1"/>
          <p:nvPr/>
        </p:nvSpPr>
        <p:spPr>
          <a:xfrm>
            <a:off x="9911372" y="4468078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供 hart 执行调试代码</a:t>
            </a:r>
          </a:p>
        </p:txBody>
      </p:sp>
      <p:sp>
        <p:nvSpPr>
          <p:cNvPr id="78" name="rect-078"/>
          <p:cNvSpPr/>
          <p:nvPr/>
        </p:nvSpPr>
        <p:spPr>
          <a:xfrm>
            <a:off x="8774430" y="476592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06-target"/>
          <p:cNvSpPr/>
          <p:nvPr/>
        </p:nvSpPr>
        <p:spPr>
          <a:xfrm>
            <a:off x="8614410" y="489927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6 ↔ P02"/>
          <p:cNvSpPr txBox="1"/>
          <p:nvPr/>
        </p:nvSpPr>
        <p:spPr>
          <a:xfrm>
            <a:off x="8955786" y="480945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P02</a:t>
            </a:r>
          </a:p>
        </p:txBody>
      </p:sp>
      <p:sp>
        <p:nvSpPr>
          <p:cNvPr id="81" name="E07-source"/>
          <p:cNvSpPr/>
          <p:nvPr/>
        </p:nvSpPr>
        <p:spPr>
          <a:xfrm>
            <a:off x="12396216" y="489927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07 ↔ N03"/>
          <p:cNvSpPr txBox="1"/>
          <p:nvPr/>
        </p:nvSpPr>
        <p:spPr>
          <a:xfrm>
            <a:off x="11438230" y="480945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N03</a:t>
            </a:r>
          </a:p>
        </p:txBody>
      </p:sp>
      <p:sp>
        <p:nvSpPr>
          <p:cNvPr id="83" name="text-083: DMI"/>
          <p:cNvSpPr txBox="1"/>
          <p:nvPr/>
        </p:nvSpPr>
        <p:spPr>
          <a:xfrm>
            <a:off x="213360" y="5753572"/>
            <a:ext cx="361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DMI</a:t>
            </a:r>
          </a:p>
        </p:txBody>
      </p:sp>
      <p:sp>
        <p:nvSpPr>
          <p:cNvPr id="84" name="text-084: 访问系统地址空间"/>
          <p:cNvSpPr txBox="1"/>
          <p:nvPr/>
        </p:nvSpPr>
        <p:spPr>
          <a:xfrm>
            <a:off x="213360" y="5918926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访问系统地址空间</a:t>
            </a:r>
          </a:p>
        </p:txBody>
      </p:sp>
      <p:sp>
        <p:nvSpPr>
          <p:cNvPr id="85" name="text-085: AxiOut.dbg"/>
          <p:cNvSpPr txBox="1"/>
          <p:nvPr/>
        </p:nvSpPr>
        <p:spPr>
          <a:xfrm>
            <a:off x="213360" y="6084280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AxiOut.dbg</a:t>
            </a:r>
          </a:p>
        </p:txBody>
      </p:sp>
      <p:sp>
        <p:nvSpPr>
          <p:cNvPr id="86" name="text-086: 当前 ndmreset_o 未接出；不能由 DMI 寄存器存在就推断 SoC 复"/>
          <p:cNvSpPr txBox="1"/>
          <p:nvPr/>
        </p:nvSpPr>
        <p:spPr>
          <a:xfrm>
            <a:off x="213360" y="6249634"/>
            <a:ext cx="469872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当前 ndmreset_o 未接出；不能由 DMI 寄存器存在就推断 SoC 复位已实现。</a:t>
            </a:r>
          </a:p>
        </p:txBody>
      </p:sp>
      <p:sp>
        <p:nvSpPr>
          <p:cNvPr id="87" name="text-087: 配对端口表示图示连接；已有/规划状态见模块和连接表。方向与 A 版一致。虚线模块"/>
          <p:cNvSpPr txBox="1"/>
          <p:nvPr/>
        </p:nvSpPr>
        <p:spPr>
          <a:xfrm>
            <a:off x="213360" y="6798610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1  Serial Link：AXI 通道编码、流控与源同步物理传输"/>
          <p:cNvSpPr txBox="1"/>
          <p:nvPr/>
        </p:nvSpPr>
        <p:spPr>
          <a:xfrm>
            <a:off x="213360" y="1015807"/>
            <a:ext cx="500969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11  Serial Link：AXI 通道编码、流控与源同步物理传输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290828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728216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75616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SoC 外层适配"/>
          <p:cNvSpPr txBox="1"/>
          <p:nvPr/>
        </p:nvSpPr>
        <p:spPr>
          <a:xfrm>
            <a:off x="1523524" y="1925574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SoC 外层适配</a:t>
            </a:r>
          </a:p>
        </p:txBody>
      </p:sp>
      <p:sp>
        <p:nvSpPr>
          <p:cNvPr id="7" name="text-007: 出站地址 domain / mask"/>
          <p:cNvSpPr txBox="1"/>
          <p:nvPr/>
        </p:nvSpPr>
        <p:spPr>
          <a:xfrm>
            <a:off x="1295362" y="2107783"/>
            <a:ext cx="17298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出站地址 domain / mask</a:t>
            </a:r>
          </a:p>
        </p:txBody>
      </p:sp>
      <p:sp>
        <p:nvSpPr>
          <p:cNvPr id="8" name="text-008: axi_id_remap"/>
          <p:cNvSpPr txBox="1"/>
          <p:nvPr/>
        </p:nvSpPr>
        <p:spPr>
          <a:xfrm>
            <a:off x="1620469" y="2278471"/>
            <a:ext cx="1079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axi_id_remap</a:t>
            </a:r>
          </a:p>
        </p:txBody>
      </p:sp>
      <p:sp>
        <p:nvSpPr>
          <p:cNvPr id="9" name="text-009: AMO 标记适配"/>
          <p:cNvSpPr txBox="1"/>
          <p:nvPr/>
        </p:nvSpPr>
        <p:spPr>
          <a:xfrm>
            <a:off x="1694078" y="2449159"/>
            <a:ext cx="93238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AMO 标记适配</a:t>
            </a:r>
          </a:p>
        </p:txBody>
      </p:sp>
      <p:sp>
        <p:nvSpPr>
          <p:cNvPr id="10" name="text-010: 对端入站 → 本地 AXI"/>
          <p:cNvSpPr txBox="1"/>
          <p:nvPr/>
        </p:nvSpPr>
        <p:spPr>
          <a:xfrm>
            <a:off x="1430312" y="2619847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对端入站 → 本地 AXI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291769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source"/>
          <p:cNvSpPr/>
          <p:nvPr/>
        </p:nvSpPr>
        <p:spPr>
          <a:xfrm>
            <a:off x="3915156" y="30510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↔ N02"/>
          <p:cNvSpPr txBox="1"/>
          <p:nvPr/>
        </p:nvSpPr>
        <p:spPr>
          <a:xfrm>
            <a:off x="2957170" y="29612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3461766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5  内部工作逻辑"/>
          <p:cNvSpPr txBox="1"/>
          <p:nvPr/>
        </p:nvSpPr>
        <p:spPr>
          <a:xfrm>
            <a:off x="309372" y="348971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16" name="text-016: 5  serial_link_physical × 通道"/>
          <p:cNvSpPr txBox="1"/>
          <p:nvPr/>
        </p:nvSpPr>
        <p:spPr>
          <a:xfrm>
            <a:off x="833438" y="3659124"/>
            <a:ext cx="265366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serial_link_physical × 通道</a:t>
            </a:r>
          </a:p>
        </p:txBody>
      </p:sp>
      <p:sp>
        <p:nvSpPr>
          <p:cNvPr id="17" name="text-017: 发送时钟分频 / 相位控制"/>
          <p:cNvSpPr txBox="1"/>
          <p:nvPr/>
        </p:nvSpPr>
        <p:spPr>
          <a:xfrm>
            <a:off x="1365904" y="3841333"/>
            <a:ext cx="15887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发送时钟分频 / 相位控制</a:t>
            </a:r>
          </a:p>
        </p:txBody>
      </p:sp>
      <p:sp>
        <p:nvSpPr>
          <p:cNvPr id="18" name="text-018: DDR 引脚收发 / 接收跨域"/>
          <p:cNvSpPr txBox="1"/>
          <p:nvPr/>
        </p:nvSpPr>
        <p:spPr>
          <a:xfrm>
            <a:off x="1329099" y="4012021"/>
            <a:ext cx="166234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引脚收发 / 接收跨域</a:t>
            </a:r>
          </a:p>
        </p:txBody>
      </p:sp>
      <p:sp>
        <p:nvSpPr>
          <p:cNvPr id="19" name="text-019: ddr_rcv_clk + ddr 数据 lanes"/>
          <p:cNvSpPr txBox="1"/>
          <p:nvPr/>
        </p:nvSpPr>
        <p:spPr>
          <a:xfrm>
            <a:off x="1019327" y="4182709"/>
            <a:ext cx="228188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ddr_rcv_clk + ddr 数据 lanes</a:t>
            </a:r>
          </a:p>
        </p:txBody>
      </p:sp>
      <p:sp>
        <p:nvSpPr>
          <p:cNvPr id="20" name="rect-020"/>
          <p:cNvSpPr/>
          <p:nvPr/>
        </p:nvSpPr>
        <p:spPr>
          <a:xfrm>
            <a:off x="293370" y="448056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04-target"/>
          <p:cNvSpPr/>
          <p:nvPr/>
        </p:nvSpPr>
        <p:spPr>
          <a:xfrm>
            <a:off x="133350" y="461391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E04 ↔ N04"/>
          <p:cNvSpPr txBox="1"/>
          <p:nvPr/>
        </p:nvSpPr>
        <p:spPr>
          <a:xfrm>
            <a:off x="474726" y="452408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N04</a:t>
            </a:r>
          </a:p>
        </p:txBody>
      </p:sp>
      <p:sp>
        <p:nvSpPr>
          <p:cNvPr id="23" name="E06-target"/>
          <p:cNvSpPr/>
          <p:nvPr/>
        </p:nvSpPr>
        <p:spPr>
          <a:xfrm>
            <a:off x="133350" y="480060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6 ← N06"/>
          <p:cNvSpPr txBox="1"/>
          <p:nvPr/>
        </p:nvSpPr>
        <p:spPr>
          <a:xfrm>
            <a:off x="474726" y="471077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← N06</a:t>
            </a:r>
          </a:p>
        </p:txBody>
      </p:sp>
      <p:sp>
        <p:nvSpPr>
          <p:cNvPr id="25" name="E05-source"/>
          <p:cNvSpPr/>
          <p:nvPr/>
        </p:nvSpPr>
        <p:spPr>
          <a:xfrm>
            <a:off x="3915156" y="461391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5 ↔ P01"/>
          <p:cNvSpPr txBox="1"/>
          <p:nvPr/>
        </p:nvSpPr>
        <p:spPr>
          <a:xfrm>
            <a:off x="2957170" y="452408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P01</a:t>
            </a:r>
          </a:p>
        </p:txBody>
      </p:sp>
      <p:sp>
        <p:nvSpPr>
          <p:cNvPr id="27" name="rect-027"/>
          <p:cNvSpPr/>
          <p:nvPr/>
        </p:nvSpPr>
        <p:spPr>
          <a:xfrm>
            <a:off x="4453890" y="1728216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N02  内部工作逻辑"/>
          <p:cNvSpPr txBox="1"/>
          <p:nvPr/>
        </p:nvSpPr>
        <p:spPr>
          <a:xfrm>
            <a:off x="4549902" y="175616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29" name="text-029: 2  serial_link_network"/>
          <p:cNvSpPr txBox="1"/>
          <p:nvPr/>
        </p:nvSpPr>
        <p:spPr>
          <a:xfrm>
            <a:off x="5380672" y="1925574"/>
            <a:ext cx="204025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serial_link_network</a:t>
            </a:r>
          </a:p>
        </p:txBody>
      </p:sp>
      <p:sp>
        <p:nvSpPr>
          <p:cNvPr id="30" name="text-030: AXI AW / W / B / AR / R"/>
          <p:cNvSpPr txBox="1"/>
          <p:nvPr/>
        </p:nvSpPr>
        <p:spPr>
          <a:xfrm>
            <a:off x="5422411" y="2107783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AW / W / B / AR / R</a:t>
            </a:r>
          </a:p>
        </p:txBody>
      </p:sp>
      <p:sp>
        <p:nvSpPr>
          <p:cNvPr id="31" name="text-031: 通道仲裁 / 封装 / 还原"/>
          <p:cNvSpPr txBox="1"/>
          <p:nvPr/>
        </p:nvSpPr>
        <p:spPr>
          <a:xfrm>
            <a:off x="5609501" y="2278471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通道仲裁 / 封装 / 还原</a:t>
            </a:r>
          </a:p>
        </p:txBody>
      </p:sp>
      <p:sp>
        <p:nvSpPr>
          <p:cNvPr id="32" name="text-032: AXI ↔ payload stream"/>
          <p:cNvSpPr txBox="1"/>
          <p:nvPr/>
        </p:nvSpPr>
        <p:spPr>
          <a:xfrm>
            <a:off x="5520557" y="2449159"/>
            <a:ext cx="176048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payload stream</a:t>
            </a:r>
          </a:p>
        </p:txBody>
      </p:sp>
      <p:sp>
        <p:nvSpPr>
          <p:cNvPr id="33" name="rect-033"/>
          <p:cNvSpPr/>
          <p:nvPr/>
        </p:nvSpPr>
        <p:spPr>
          <a:xfrm>
            <a:off x="4533900" y="274701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1-target"/>
          <p:cNvSpPr/>
          <p:nvPr/>
        </p:nvSpPr>
        <p:spPr>
          <a:xfrm>
            <a:off x="4373880" y="28803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 ↔ N01"/>
          <p:cNvSpPr txBox="1"/>
          <p:nvPr/>
        </p:nvSpPr>
        <p:spPr>
          <a:xfrm>
            <a:off x="4715256" y="27905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6" name="E02-source"/>
          <p:cNvSpPr/>
          <p:nvPr/>
        </p:nvSpPr>
        <p:spPr>
          <a:xfrm>
            <a:off x="8155686" y="28803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 ↔ N03"/>
          <p:cNvSpPr txBox="1"/>
          <p:nvPr/>
        </p:nvSpPr>
        <p:spPr>
          <a:xfrm>
            <a:off x="7197700" y="27905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38" name="rect-038"/>
          <p:cNvSpPr/>
          <p:nvPr/>
        </p:nvSpPr>
        <p:spPr>
          <a:xfrm>
            <a:off x="4453890" y="3291078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4  内部工作逻辑"/>
          <p:cNvSpPr txBox="1"/>
          <p:nvPr/>
        </p:nvSpPr>
        <p:spPr>
          <a:xfrm>
            <a:off x="4549902" y="3319028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40" name="text-040: 4  channel_allocator"/>
          <p:cNvSpPr txBox="1"/>
          <p:nvPr/>
        </p:nvSpPr>
        <p:spPr>
          <a:xfrm>
            <a:off x="5467350" y="3488436"/>
            <a:ext cx="18669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channel_allocator</a:t>
            </a:r>
          </a:p>
        </p:txBody>
      </p:sp>
      <p:sp>
        <p:nvSpPr>
          <p:cNvPr id="41" name="text-041: NumChannels &gt; 1 时"/>
          <p:cNvSpPr txBox="1"/>
          <p:nvPr/>
        </p:nvSpPr>
        <p:spPr>
          <a:xfrm>
            <a:off x="5640172" y="3670645"/>
            <a:ext cx="152125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NumChannels &gt; 1 时</a:t>
            </a:r>
          </a:p>
        </p:txBody>
      </p:sp>
      <p:sp>
        <p:nvSpPr>
          <p:cNvPr id="42" name="text-042: 分配与还原通道"/>
          <p:cNvSpPr txBox="1"/>
          <p:nvPr/>
        </p:nvSpPr>
        <p:spPr>
          <a:xfrm>
            <a:off x="5910072" y="3841333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分配与还原通道</a:t>
            </a:r>
          </a:p>
        </p:txBody>
      </p:sp>
      <p:sp>
        <p:nvSpPr>
          <p:cNvPr id="43" name="text-043: 单通道直接连接"/>
          <p:cNvSpPr txBox="1"/>
          <p:nvPr/>
        </p:nvSpPr>
        <p:spPr>
          <a:xfrm>
            <a:off x="5910072" y="4012021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单通道直接连接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430987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3-target"/>
          <p:cNvSpPr/>
          <p:nvPr/>
        </p:nvSpPr>
        <p:spPr>
          <a:xfrm>
            <a:off x="4373880" y="44432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 ↔ N03"/>
          <p:cNvSpPr txBox="1"/>
          <p:nvPr/>
        </p:nvSpPr>
        <p:spPr>
          <a:xfrm>
            <a:off x="4715256" y="43533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N03</a:t>
            </a:r>
          </a:p>
        </p:txBody>
      </p:sp>
      <p:sp>
        <p:nvSpPr>
          <p:cNvPr id="47" name="E08-target"/>
          <p:cNvSpPr/>
          <p:nvPr/>
        </p:nvSpPr>
        <p:spPr>
          <a:xfrm>
            <a:off x="4373880" y="462991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8 ← N06"/>
          <p:cNvSpPr txBox="1"/>
          <p:nvPr/>
        </p:nvSpPr>
        <p:spPr>
          <a:xfrm>
            <a:off x="4715256" y="454008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N06</a:t>
            </a:r>
          </a:p>
        </p:txBody>
      </p:sp>
      <p:sp>
        <p:nvSpPr>
          <p:cNvPr id="49" name="E04-source"/>
          <p:cNvSpPr/>
          <p:nvPr/>
        </p:nvSpPr>
        <p:spPr>
          <a:xfrm>
            <a:off x="8155686" y="44432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4 ↔ N05"/>
          <p:cNvSpPr txBox="1"/>
          <p:nvPr/>
        </p:nvSpPr>
        <p:spPr>
          <a:xfrm>
            <a:off x="7197700" y="43533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N05</a:t>
            </a:r>
          </a:p>
        </p:txBody>
      </p:sp>
      <p:sp>
        <p:nvSpPr>
          <p:cNvPr id="51" name="rect-051"/>
          <p:cNvSpPr/>
          <p:nvPr/>
        </p:nvSpPr>
        <p:spPr>
          <a:xfrm>
            <a:off x="4453890" y="5040630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P01  外部/组边界"/>
          <p:cNvSpPr txBox="1"/>
          <p:nvPr/>
        </p:nvSpPr>
        <p:spPr>
          <a:xfrm>
            <a:off x="4549902" y="5068580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53" name="text-053: 链路 DDR 引脚"/>
          <p:cNvSpPr txBox="1"/>
          <p:nvPr/>
        </p:nvSpPr>
        <p:spPr>
          <a:xfrm>
            <a:off x="5850731" y="5237988"/>
            <a:ext cx="11001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链路 DDR 引脚</a:t>
            </a:r>
          </a:p>
        </p:txBody>
      </p:sp>
      <p:sp>
        <p:nvSpPr>
          <p:cNvPr id="54" name="rect-054"/>
          <p:cNvSpPr/>
          <p:nvPr/>
        </p:nvSpPr>
        <p:spPr>
          <a:xfrm>
            <a:off x="4533900" y="554736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05-target"/>
          <p:cNvSpPr/>
          <p:nvPr/>
        </p:nvSpPr>
        <p:spPr>
          <a:xfrm>
            <a:off x="4373880" y="568071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5 ↔ N05"/>
          <p:cNvSpPr txBox="1"/>
          <p:nvPr/>
        </p:nvSpPr>
        <p:spPr>
          <a:xfrm>
            <a:off x="4715256" y="559088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57" name="rect-057"/>
          <p:cNvSpPr/>
          <p:nvPr/>
        </p:nvSpPr>
        <p:spPr>
          <a:xfrm>
            <a:off x="8694420" y="1728216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N03  内部工作逻辑"/>
          <p:cNvSpPr txBox="1"/>
          <p:nvPr/>
        </p:nvSpPr>
        <p:spPr>
          <a:xfrm>
            <a:off x="8790432" y="175616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9" name="text-059: 3  serial_link_data_link"/>
          <p:cNvSpPr txBox="1"/>
          <p:nvPr/>
        </p:nvSpPr>
        <p:spPr>
          <a:xfrm>
            <a:off x="9534525" y="1925574"/>
            <a:ext cx="22136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serial_link_data_link</a:t>
            </a:r>
          </a:p>
        </p:txBody>
      </p:sp>
      <p:sp>
        <p:nvSpPr>
          <p:cNvPr id="60" name="text-060: 接收缓冲 / 流控"/>
          <p:cNvSpPr txBox="1"/>
          <p:nvPr/>
        </p:nvSpPr>
        <p:spPr>
          <a:xfrm>
            <a:off x="10092328" y="2107783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接收缓冲 / 流控</a:t>
            </a:r>
          </a:p>
        </p:txBody>
      </p:sp>
      <p:sp>
        <p:nvSpPr>
          <p:cNvPr id="61" name="text-061: payload 拆分 / 重组"/>
          <p:cNvSpPr txBox="1"/>
          <p:nvPr/>
        </p:nvSpPr>
        <p:spPr>
          <a:xfrm>
            <a:off x="9896037" y="2278471"/>
            <a:ext cx="14905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payload 拆分 / 重组</a:t>
            </a:r>
          </a:p>
        </p:txBody>
      </p:sp>
      <p:sp>
        <p:nvSpPr>
          <p:cNvPr id="62" name="text-062: raw mode 支路"/>
          <p:cNvSpPr txBox="1"/>
          <p:nvPr/>
        </p:nvSpPr>
        <p:spPr>
          <a:xfrm>
            <a:off x="10098462" y="2449159"/>
            <a:ext cx="108573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raw mode 支路</a:t>
            </a:r>
          </a:p>
        </p:txBody>
      </p:sp>
      <p:sp>
        <p:nvSpPr>
          <p:cNvPr id="63" name="rect-063"/>
          <p:cNvSpPr/>
          <p:nvPr/>
        </p:nvSpPr>
        <p:spPr>
          <a:xfrm>
            <a:off x="8774430" y="274701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E02-target"/>
          <p:cNvSpPr/>
          <p:nvPr/>
        </p:nvSpPr>
        <p:spPr>
          <a:xfrm>
            <a:off x="8614410" y="28803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2 ↔ N02"/>
          <p:cNvSpPr txBox="1"/>
          <p:nvPr/>
        </p:nvSpPr>
        <p:spPr>
          <a:xfrm>
            <a:off x="8955786" y="27905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66" name="E07-target"/>
          <p:cNvSpPr/>
          <p:nvPr/>
        </p:nvSpPr>
        <p:spPr>
          <a:xfrm>
            <a:off x="8614410" y="30670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7 ↔ N06"/>
          <p:cNvSpPr txBox="1"/>
          <p:nvPr/>
        </p:nvSpPr>
        <p:spPr>
          <a:xfrm>
            <a:off x="8955786" y="297722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↔ N06</a:t>
            </a:r>
          </a:p>
        </p:txBody>
      </p:sp>
      <p:sp>
        <p:nvSpPr>
          <p:cNvPr id="68" name="E03-source"/>
          <p:cNvSpPr/>
          <p:nvPr/>
        </p:nvSpPr>
        <p:spPr>
          <a:xfrm>
            <a:off x="12396216" y="28803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3 ↔ N04"/>
          <p:cNvSpPr txBox="1"/>
          <p:nvPr/>
        </p:nvSpPr>
        <p:spPr>
          <a:xfrm>
            <a:off x="11438230" y="27905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N04</a:t>
            </a:r>
          </a:p>
        </p:txBody>
      </p:sp>
      <p:sp>
        <p:nvSpPr>
          <p:cNvPr id="70" name="rect-070"/>
          <p:cNvSpPr/>
          <p:nvPr/>
        </p:nvSpPr>
        <p:spPr>
          <a:xfrm>
            <a:off x="8694420" y="3477768"/>
            <a:ext cx="3893820" cy="1722882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N06  接口与配置"/>
          <p:cNvSpPr txBox="1"/>
          <p:nvPr/>
        </p:nvSpPr>
        <p:spPr>
          <a:xfrm>
            <a:off x="8790432" y="3505718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接口与配置</a:t>
            </a:r>
          </a:p>
        </p:txBody>
      </p:sp>
      <p:sp>
        <p:nvSpPr>
          <p:cNvPr id="72" name="text-072: 6  serial_link_reg_top"/>
          <p:cNvSpPr txBox="1"/>
          <p:nvPr/>
        </p:nvSpPr>
        <p:spPr>
          <a:xfrm>
            <a:off x="9621202" y="3675126"/>
            <a:ext cx="204025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serial_link_reg_top</a:t>
            </a:r>
          </a:p>
        </p:txBody>
      </p:sp>
      <p:sp>
        <p:nvSpPr>
          <p:cNvPr id="73" name="text-073: Regbus → 可选 reg_cdc → 配置"/>
          <p:cNvSpPr txBox="1"/>
          <p:nvPr/>
        </p:nvSpPr>
        <p:spPr>
          <a:xfrm>
            <a:off x="9494253" y="3857335"/>
            <a:ext cx="229415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→ 可选 reg_cdc → 配置</a:t>
            </a:r>
          </a:p>
        </p:txBody>
      </p:sp>
      <p:sp>
        <p:nvSpPr>
          <p:cNvPr id="74" name="text-074: TX clk_div / raw mode / FIFO 控制"/>
          <p:cNvSpPr txBox="1"/>
          <p:nvPr/>
        </p:nvSpPr>
        <p:spPr>
          <a:xfrm>
            <a:off x="9301029" y="4028023"/>
            <a:ext cx="2680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clk_div / raw mode / FIFO 控制</a:t>
            </a:r>
          </a:p>
        </p:txBody>
      </p:sp>
      <p:sp>
        <p:nvSpPr>
          <p:cNvPr id="75" name="text-075: 当前 SoC 的三路逻辑时钟都接 clk_i"/>
          <p:cNvSpPr txBox="1"/>
          <p:nvPr/>
        </p:nvSpPr>
        <p:spPr>
          <a:xfrm>
            <a:off x="9466650" y="4198711"/>
            <a:ext cx="234936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SoC 的三路逻辑时钟都接 clk_i</a:t>
            </a:r>
          </a:p>
        </p:txBody>
      </p:sp>
      <p:sp>
        <p:nvSpPr>
          <p:cNvPr id="76" name="rect-076"/>
          <p:cNvSpPr/>
          <p:nvPr/>
        </p:nvSpPr>
        <p:spPr>
          <a:xfrm>
            <a:off x="8774430" y="4496562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E06-source"/>
          <p:cNvSpPr/>
          <p:nvPr/>
        </p:nvSpPr>
        <p:spPr>
          <a:xfrm>
            <a:off x="12396216" y="462991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06 → N05"/>
          <p:cNvSpPr txBox="1"/>
          <p:nvPr/>
        </p:nvSpPr>
        <p:spPr>
          <a:xfrm>
            <a:off x="11438230" y="454008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→ N05</a:t>
            </a:r>
          </a:p>
        </p:txBody>
      </p:sp>
      <p:sp>
        <p:nvSpPr>
          <p:cNvPr id="79" name="E07-source"/>
          <p:cNvSpPr/>
          <p:nvPr/>
        </p:nvSpPr>
        <p:spPr>
          <a:xfrm>
            <a:off x="12396216" y="481660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7 ↔ N03"/>
          <p:cNvSpPr txBox="1"/>
          <p:nvPr/>
        </p:nvSpPr>
        <p:spPr>
          <a:xfrm>
            <a:off x="11438230" y="472677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↔ N03</a:t>
            </a:r>
          </a:p>
        </p:txBody>
      </p:sp>
      <p:sp>
        <p:nvSpPr>
          <p:cNvPr id="81" name="E08-source"/>
          <p:cNvSpPr/>
          <p:nvPr/>
        </p:nvSpPr>
        <p:spPr>
          <a:xfrm>
            <a:off x="12396216" y="50032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08 → N04"/>
          <p:cNvSpPr txBox="1"/>
          <p:nvPr/>
        </p:nvSpPr>
        <p:spPr>
          <a:xfrm>
            <a:off x="11438230" y="491346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N04</a:t>
            </a:r>
          </a:p>
        </p:txBody>
      </p:sp>
      <p:sp>
        <p:nvSpPr>
          <p:cNvPr id="83" name="text-083: 外部串行链路；此处 DDR 指双边沿传输"/>
          <p:cNvSpPr txBox="1"/>
          <p:nvPr/>
        </p:nvSpPr>
        <p:spPr>
          <a:xfrm>
            <a:off x="213360" y="6012271"/>
            <a:ext cx="23616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外部串行链路；此处 DDR 指双边沿传输</a:t>
            </a:r>
          </a:p>
        </p:txBody>
      </p:sp>
      <p:sp>
        <p:nvSpPr>
          <p:cNvPr id="84" name="text-084: AXI 事务跨芯片传输，不是 UART，也不自动提供缓存一致性。"/>
          <p:cNvSpPr txBox="1"/>
          <p:nvPr/>
        </p:nvSpPr>
        <p:spPr>
          <a:xfrm>
            <a:off x="213360" y="6177625"/>
            <a:ext cx="36620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 事务跨芯片传输，不是 UART，也不自动提供缓存一致性。</a:t>
            </a:r>
          </a:p>
        </p:txBody>
      </p:sp>
      <p:sp>
        <p:nvSpPr>
          <p:cNvPr id="85" name="text-085: 配对端口表示图示连接；已有/规划状态见模块和连接表。方向与 A 版一致。虚线模块"/>
          <p:cNvSpPr txBox="1"/>
          <p:nvPr/>
        </p:nvSpPr>
        <p:spPr>
          <a:xfrm>
            <a:off x="213360" y="6726601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2  VGA：AXI 读取帧缓冲，再按像素节拍消耗数据"/>
          <p:cNvSpPr txBox="1"/>
          <p:nvPr/>
        </p:nvSpPr>
        <p:spPr>
          <a:xfrm>
            <a:off x="213360" y="522412"/>
            <a:ext cx="429280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12  VGA：AXI 读取帧缓冲，再按像素节拍消耗数据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797433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234821"/>
            <a:ext cx="3893820" cy="170688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接口与配置"/>
          <p:cNvSpPr txBox="1"/>
          <p:nvPr/>
        </p:nvSpPr>
        <p:spPr>
          <a:xfrm>
            <a:off x="309372" y="1262771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接口与配置</a:t>
            </a:r>
          </a:p>
        </p:txBody>
      </p:sp>
      <p:sp>
        <p:nvSpPr>
          <p:cNvPr id="6" name="text-006: 1  axi_vga_reg_top"/>
          <p:cNvSpPr txBox="1"/>
          <p:nvPr/>
        </p:nvSpPr>
        <p:spPr>
          <a:xfrm>
            <a:off x="1313498" y="1432179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axi_vga_reg_top</a:t>
            </a:r>
          </a:p>
        </p:txBody>
      </p:sp>
      <p:sp>
        <p:nvSpPr>
          <p:cNvPr id="7" name="text-007: START_ADDR / FRAME_SIZE"/>
          <p:cNvSpPr txBox="1"/>
          <p:nvPr/>
        </p:nvSpPr>
        <p:spPr>
          <a:xfrm>
            <a:off x="1181881" y="1614388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START_ADDR / FRAME_SIZE</a:t>
            </a:r>
          </a:p>
        </p:txBody>
      </p:sp>
      <p:sp>
        <p:nvSpPr>
          <p:cNvPr id="8" name="text-008: BURST_LEN / ENABLE"/>
          <p:cNvSpPr txBox="1"/>
          <p:nvPr/>
        </p:nvSpPr>
        <p:spPr>
          <a:xfrm>
            <a:off x="1381239" y="1785076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BURST_LEN / ENABLE</a:t>
            </a:r>
          </a:p>
        </p:txBody>
      </p:sp>
      <p:sp>
        <p:nvSpPr>
          <p:cNvPr id="9" name="text-009: 水平 / 垂直时序"/>
          <p:cNvSpPr txBox="1"/>
          <p:nvPr/>
        </p:nvSpPr>
        <p:spPr>
          <a:xfrm>
            <a:off x="1611268" y="1955764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垂直时序</a:t>
            </a:r>
          </a:p>
        </p:txBody>
      </p:sp>
      <p:sp>
        <p:nvSpPr>
          <p:cNvPr id="10" name="text-010: CLK_DIV"/>
          <p:cNvSpPr txBox="1"/>
          <p:nvPr/>
        </p:nvSpPr>
        <p:spPr>
          <a:xfrm>
            <a:off x="1819827" y="2126452"/>
            <a:ext cx="68088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CLK_DIV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242430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source"/>
          <p:cNvSpPr/>
          <p:nvPr/>
        </p:nvSpPr>
        <p:spPr>
          <a:xfrm>
            <a:off x="3915156" y="255765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→ N02"/>
          <p:cNvSpPr txBox="1"/>
          <p:nvPr/>
        </p:nvSpPr>
        <p:spPr>
          <a:xfrm>
            <a:off x="2957170" y="246782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4" name="E09-source"/>
          <p:cNvSpPr/>
          <p:nvPr/>
        </p:nvSpPr>
        <p:spPr>
          <a:xfrm>
            <a:off x="3915156" y="274434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E09 → N03"/>
          <p:cNvSpPr txBox="1"/>
          <p:nvPr/>
        </p:nvSpPr>
        <p:spPr>
          <a:xfrm>
            <a:off x="2957170" y="265451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N03</a:t>
            </a:r>
          </a:p>
        </p:txBody>
      </p:sp>
      <p:sp>
        <p:nvSpPr>
          <p:cNvPr id="16" name="rect-016"/>
          <p:cNvSpPr/>
          <p:nvPr/>
        </p:nvSpPr>
        <p:spPr>
          <a:xfrm>
            <a:off x="213360" y="3155061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P01  外部/组边界"/>
          <p:cNvSpPr txBox="1"/>
          <p:nvPr/>
        </p:nvSpPr>
        <p:spPr>
          <a:xfrm>
            <a:off x="309372" y="3183011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18" name="text-018: RGB / HS / VS 引脚"/>
          <p:cNvSpPr txBox="1"/>
          <p:nvPr/>
        </p:nvSpPr>
        <p:spPr>
          <a:xfrm>
            <a:off x="1353502" y="3352419"/>
            <a:ext cx="16135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 / HS / VS 引脚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366179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3-target"/>
          <p:cNvSpPr/>
          <p:nvPr/>
        </p:nvSpPr>
        <p:spPr>
          <a:xfrm>
            <a:off x="133350" y="379514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3 ← N03"/>
          <p:cNvSpPr txBox="1"/>
          <p:nvPr/>
        </p:nvSpPr>
        <p:spPr>
          <a:xfrm>
            <a:off x="474726" y="3705316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2" name="rect-022"/>
          <p:cNvSpPr/>
          <p:nvPr/>
        </p:nvSpPr>
        <p:spPr>
          <a:xfrm>
            <a:off x="213360" y="4205859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P02  外部/组边界"/>
          <p:cNvSpPr txBox="1"/>
          <p:nvPr/>
        </p:nvSpPr>
        <p:spPr>
          <a:xfrm>
            <a:off x="309372" y="4233809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24" name="text-024: 系统 AXI AR"/>
          <p:cNvSpPr txBox="1"/>
          <p:nvPr/>
        </p:nvSpPr>
        <p:spPr>
          <a:xfrm>
            <a:off x="1656874" y="4403217"/>
            <a:ext cx="10067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系统 AXI AR</a:t>
            </a:r>
          </a:p>
        </p:txBody>
      </p:sp>
      <p:sp>
        <p:nvSpPr>
          <p:cNvPr id="25" name="rect-025"/>
          <p:cNvSpPr/>
          <p:nvPr/>
        </p:nvSpPr>
        <p:spPr>
          <a:xfrm>
            <a:off x="293370" y="471258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05-target"/>
          <p:cNvSpPr/>
          <p:nvPr/>
        </p:nvSpPr>
        <p:spPr>
          <a:xfrm>
            <a:off x="133350" y="484593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E05 ← N04"/>
          <p:cNvSpPr txBox="1"/>
          <p:nvPr/>
        </p:nvSpPr>
        <p:spPr>
          <a:xfrm>
            <a:off x="474726" y="475611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N04</a:t>
            </a:r>
          </a:p>
        </p:txBody>
      </p:sp>
      <p:sp>
        <p:nvSpPr>
          <p:cNvPr id="28" name="rect-028"/>
          <p:cNvSpPr/>
          <p:nvPr/>
        </p:nvSpPr>
        <p:spPr>
          <a:xfrm>
            <a:off x="4453890" y="1234821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N02  内部工作逻辑"/>
          <p:cNvSpPr txBox="1"/>
          <p:nvPr/>
        </p:nvSpPr>
        <p:spPr>
          <a:xfrm>
            <a:off x="4549902" y="126277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0" name="text-030: 2  axi_vga_fetcher"/>
          <p:cNvSpPr txBox="1"/>
          <p:nvPr/>
        </p:nvSpPr>
        <p:spPr>
          <a:xfrm>
            <a:off x="5554028" y="1432179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axi_vga_fetcher</a:t>
            </a:r>
          </a:p>
        </p:txBody>
      </p:sp>
      <p:sp>
        <p:nvSpPr>
          <p:cNvPr id="31" name="text-031: 地址 / 长度状态机"/>
          <p:cNvSpPr txBox="1"/>
          <p:nvPr/>
        </p:nvSpPr>
        <p:spPr>
          <a:xfrm>
            <a:off x="5790457" y="1614388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长度状态机</a:t>
            </a:r>
          </a:p>
        </p:txBody>
      </p:sp>
      <p:sp>
        <p:nvSpPr>
          <p:cNvPr id="32" name="text-032: 拆取 RGB 像素"/>
          <p:cNvSpPr txBox="1"/>
          <p:nvPr/>
        </p:nvSpPr>
        <p:spPr>
          <a:xfrm>
            <a:off x="5894737" y="1785076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拆取 RGB 像素</a:t>
            </a:r>
          </a:p>
        </p:txBody>
      </p:sp>
      <p:sp>
        <p:nvSpPr>
          <p:cNvPr id="33" name="text-033: 保持 beat / pixel offset"/>
          <p:cNvSpPr txBox="1"/>
          <p:nvPr/>
        </p:nvSpPr>
        <p:spPr>
          <a:xfrm>
            <a:off x="5419344" y="1955764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保持 beat / pixel offset</a:t>
            </a:r>
          </a:p>
        </p:txBody>
      </p:sp>
      <p:sp>
        <p:nvSpPr>
          <p:cNvPr id="34" name="rect-034"/>
          <p:cNvSpPr/>
          <p:nvPr/>
        </p:nvSpPr>
        <p:spPr>
          <a:xfrm>
            <a:off x="4533900" y="2253615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1-target"/>
          <p:cNvSpPr/>
          <p:nvPr/>
        </p:nvSpPr>
        <p:spPr>
          <a:xfrm>
            <a:off x="4373880" y="238696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1 ← N01"/>
          <p:cNvSpPr txBox="1"/>
          <p:nvPr/>
        </p:nvSpPr>
        <p:spPr>
          <a:xfrm>
            <a:off x="4715256" y="229714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7" name="E08-target"/>
          <p:cNvSpPr/>
          <p:nvPr/>
        </p:nvSpPr>
        <p:spPr>
          <a:xfrm>
            <a:off x="4373880" y="257365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08 ← N04"/>
          <p:cNvSpPr txBox="1"/>
          <p:nvPr/>
        </p:nvSpPr>
        <p:spPr>
          <a:xfrm>
            <a:off x="4715256" y="248383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← N04</a:t>
            </a:r>
          </a:p>
        </p:txBody>
      </p:sp>
      <p:sp>
        <p:nvSpPr>
          <p:cNvPr id="39" name="E02-source"/>
          <p:cNvSpPr/>
          <p:nvPr/>
        </p:nvSpPr>
        <p:spPr>
          <a:xfrm>
            <a:off x="8155686" y="238696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E02 → N03"/>
          <p:cNvSpPr txBox="1"/>
          <p:nvPr/>
        </p:nvSpPr>
        <p:spPr>
          <a:xfrm>
            <a:off x="7197700" y="229714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1" name="E04-source"/>
          <p:cNvSpPr/>
          <p:nvPr/>
        </p:nvSpPr>
        <p:spPr>
          <a:xfrm>
            <a:off x="8155686" y="257365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4 → N04"/>
          <p:cNvSpPr txBox="1"/>
          <p:nvPr/>
        </p:nvSpPr>
        <p:spPr>
          <a:xfrm>
            <a:off x="7197700" y="248383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N04</a:t>
            </a:r>
          </a:p>
        </p:txBody>
      </p:sp>
      <p:sp>
        <p:nvSpPr>
          <p:cNvPr id="43" name="rect-043"/>
          <p:cNvSpPr/>
          <p:nvPr/>
        </p:nvSpPr>
        <p:spPr>
          <a:xfrm>
            <a:off x="4453890" y="2984373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N04  内部工作逻辑"/>
          <p:cNvSpPr txBox="1"/>
          <p:nvPr/>
        </p:nvSpPr>
        <p:spPr>
          <a:xfrm>
            <a:off x="4549902" y="3012323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45" name="text-045: 4  splitter + 信用门控"/>
          <p:cNvSpPr txBox="1"/>
          <p:nvPr/>
        </p:nvSpPr>
        <p:spPr>
          <a:xfrm>
            <a:off x="5460682" y="3181731"/>
            <a:ext cx="18802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splitter + 信用门控</a:t>
            </a:r>
          </a:p>
        </p:txBody>
      </p:sp>
      <p:sp>
        <p:nvSpPr>
          <p:cNvPr id="46" name="text-046: axi_burst_splitter"/>
          <p:cNvSpPr txBox="1"/>
          <p:nvPr/>
        </p:nvSpPr>
        <p:spPr>
          <a:xfrm>
            <a:off x="5621769" y="3363940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axi_burst_splitter</a:t>
            </a:r>
          </a:p>
        </p:txBody>
      </p:sp>
      <p:sp>
        <p:nvSpPr>
          <p:cNvPr id="47" name="text-047: 顶层 credit / stream_join"/>
          <p:cNvSpPr txBox="1"/>
          <p:nvPr/>
        </p:nvSpPr>
        <p:spPr>
          <a:xfrm>
            <a:off x="5379472" y="3534628"/>
            <a:ext cx="20426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顶层 credit / stream_join</a:t>
            </a:r>
          </a:p>
        </p:txBody>
      </p:sp>
      <p:sp>
        <p:nvSpPr>
          <p:cNvPr id="48" name="rect-048"/>
          <p:cNvSpPr/>
          <p:nvPr/>
        </p:nvSpPr>
        <p:spPr>
          <a:xfrm>
            <a:off x="4533900" y="383247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E04-target"/>
          <p:cNvSpPr/>
          <p:nvPr/>
        </p:nvSpPr>
        <p:spPr>
          <a:xfrm>
            <a:off x="4373880" y="39658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4 ← N02"/>
          <p:cNvSpPr txBox="1"/>
          <p:nvPr/>
        </p:nvSpPr>
        <p:spPr>
          <a:xfrm>
            <a:off x="4715256" y="38760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N02</a:t>
            </a:r>
          </a:p>
        </p:txBody>
      </p:sp>
      <p:sp>
        <p:nvSpPr>
          <p:cNvPr id="51" name="E07-target"/>
          <p:cNvSpPr/>
          <p:nvPr/>
        </p:nvSpPr>
        <p:spPr>
          <a:xfrm>
            <a:off x="4373880" y="415251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7 ← N05"/>
          <p:cNvSpPr txBox="1"/>
          <p:nvPr/>
        </p:nvSpPr>
        <p:spPr>
          <a:xfrm>
            <a:off x="4715256" y="406269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← N05</a:t>
            </a:r>
          </a:p>
        </p:txBody>
      </p:sp>
      <p:sp>
        <p:nvSpPr>
          <p:cNvPr id="53" name="E05-source"/>
          <p:cNvSpPr/>
          <p:nvPr/>
        </p:nvSpPr>
        <p:spPr>
          <a:xfrm>
            <a:off x="8155686" y="39658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 → P02"/>
          <p:cNvSpPr txBox="1"/>
          <p:nvPr/>
        </p:nvSpPr>
        <p:spPr>
          <a:xfrm>
            <a:off x="7197700" y="38760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P02</a:t>
            </a:r>
          </a:p>
        </p:txBody>
      </p:sp>
      <p:sp>
        <p:nvSpPr>
          <p:cNvPr id="55" name="E08-source"/>
          <p:cNvSpPr/>
          <p:nvPr/>
        </p:nvSpPr>
        <p:spPr>
          <a:xfrm>
            <a:off x="8155686" y="415251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8 → N02"/>
          <p:cNvSpPr txBox="1"/>
          <p:nvPr/>
        </p:nvSpPr>
        <p:spPr>
          <a:xfrm>
            <a:off x="7197700" y="406269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→ N02</a:t>
            </a:r>
          </a:p>
        </p:txBody>
      </p:sp>
      <p:sp>
        <p:nvSpPr>
          <p:cNvPr id="57" name="rect-057"/>
          <p:cNvSpPr/>
          <p:nvPr/>
        </p:nvSpPr>
        <p:spPr>
          <a:xfrm>
            <a:off x="8694420" y="1234821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N03  内部工作逻辑"/>
          <p:cNvSpPr txBox="1"/>
          <p:nvPr/>
        </p:nvSpPr>
        <p:spPr>
          <a:xfrm>
            <a:off x="8790432" y="126277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9" name="text-059: 3  timing_fsm"/>
          <p:cNvSpPr txBox="1"/>
          <p:nvPr/>
        </p:nvSpPr>
        <p:spPr>
          <a:xfrm>
            <a:off x="10011251" y="1432179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timing_fsm</a:t>
            </a:r>
          </a:p>
        </p:txBody>
      </p:sp>
      <p:sp>
        <p:nvSpPr>
          <p:cNvPr id="60" name="text-060: 水平 / 垂直计数"/>
          <p:cNvSpPr txBox="1"/>
          <p:nvPr/>
        </p:nvSpPr>
        <p:spPr>
          <a:xfrm>
            <a:off x="10092328" y="1614388"/>
            <a:ext cx="109800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垂直计数</a:t>
            </a:r>
          </a:p>
        </p:txBody>
      </p:sp>
      <p:sp>
        <p:nvSpPr>
          <p:cNvPr id="61" name="text-061: 可见区与消隐区"/>
          <p:cNvSpPr txBox="1"/>
          <p:nvPr/>
        </p:nvSpPr>
        <p:spPr>
          <a:xfrm>
            <a:off x="10150602" y="1785076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可见区与消隐区</a:t>
            </a:r>
          </a:p>
        </p:txBody>
      </p:sp>
      <p:sp>
        <p:nvSpPr>
          <p:cNvPr id="62" name="text-062: 消费像素 valid / ready"/>
          <p:cNvSpPr txBox="1"/>
          <p:nvPr/>
        </p:nvSpPr>
        <p:spPr>
          <a:xfrm>
            <a:off x="9776422" y="1955764"/>
            <a:ext cx="17298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消费像素 valid / ready</a:t>
            </a:r>
          </a:p>
        </p:txBody>
      </p:sp>
      <p:sp>
        <p:nvSpPr>
          <p:cNvPr id="63" name="rect-063"/>
          <p:cNvSpPr/>
          <p:nvPr/>
        </p:nvSpPr>
        <p:spPr>
          <a:xfrm>
            <a:off x="8774430" y="2253615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E02-target"/>
          <p:cNvSpPr/>
          <p:nvPr/>
        </p:nvSpPr>
        <p:spPr>
          <a:xfrm>
            <a:off x="8614410" y="238696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2 ← N02"/>
          <p:cNvSpPr txBox="1"/>
          <p:nvPr/>
        </p:nvSpPr>
        <p:spPr>
          <a:xfrm>
            <a:off x="8955786" y="229714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66" name="E09-target"/>
          <p:cNvSpPr/>
          <p:nvPr/>
        </p:nvSpPr>
        <p:spPr>
          <a:xfrm>
            <a:off x="8614410" y="257365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9 ← N01"/>
          <p:cNvSpPr txBox="1"/>
          <p:nvPr/>
        </p:nvSpPr>
        <p:spPr>
          <a:xfrm>
            <a:off x="8955786" y="248383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N01</a:t>
            </a:r>
          </a:p>
        </p:txBody>
      </p:sp>
      <p:sp>
        <p:nvSpPr>
          <p:cNvPr id="68" name="E03-source"/>
          <p:cNvSpPr/>
          <p:nvPr/>
        </p:nvSpPr>
        <p:spPr>
          <a:xfrm>
            <a:off x="12396216" y="238696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3 → P01"/>
          <p:cNvSpPr txBox="1"/>
          <p:nvPr/>
        </p:nvSpPr>
        <p:spPr>
          <a:xfrm>
            <a:off x="11438230" y="229714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P01</a:t>
            </a:r>
          </a:p>
        </p:txBody>
      </p:sp>
      <p:sp>
        <p:nvSpPr>
          <p:cNvPr id="70" name="rect-070"/>
          <p:cNvSpPr/>
          <p:nvPr/>
        </p:nvSpPr>
        <p:spPr>
          <a:xfrm>
            <a:off x="8694420" y="2984373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N05  状态/存储"/>
          <p:cNvSpPr txBox="1"/>
          <p:nvPr/>
        </p:nvSpPr>
        <p:spPr>
          <a:xfrm>
            <a:off x="8790432" y="3012323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状态/存储</a:t>
            </a:r>
          </a:p>
        </p:txBody>
      </p:sp>
      <p:sp>
        <p:nvSpPr>
          <p:cNvPr id="72" name="text-072: 5  R 通道 FIFO"/>
          <p:cNvSpPr txBox="1"/>
          <p:nvPr/>
        </p:nvSpPr>
        <p:spPr>
          <a:xfrm>
            <a:off x="10007918" y="3181731"/>
            <a:ext cx="12668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 通道 FIFO</a:t>
            </a:r>
          </a:p>
        </p:txBody>
      </p:sp>
      <p:sp>
        <p:nvSpPr>
          <p:cNvPr id="73" name="text-073: BufferDepth + 1"/>
          <p:cNvSpPr txBox="1"/>
          <p:nvPr/>
        </p:nvSpPr>
        <p:spPr>
          <a:xfrm>
            <a:off x="9981914" y="3363940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BufferDepth + 1</a:t>
            </a:r>
          </a:p>
        </p:txBody>
      </p:sp>
      <p:sp>
        <p:nvSpPr>
          <p:cNvPr id="74" name="text-074: 缓冲存储器返回数据"/>
          <p:cNvSpPr txBox="1"/>
          <p:nvPr/>
        </p:nvSpPr>
        <p:spPr>
          <a:xfrm>
            <a:off x="10027920" y="3534628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缓冲存储器返回数据</a:t>
            </a:r>
          </a:p>
        </p:txBody>
      </p:sp>
      <p:sp>
        <p:nvSpPr>
          <p:cNvPr id="75" name="rect-075"/>
          <p:cNvSpPr/>
          <p:nvPr/>
        </p:nvSpPr>
        <p:spPr>
          <a:xfrm>
            <a:off x="8774430" y="383247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E06-target"/>
          <p:cNvSpPr/>
          <p:nvPr/>
        </p:nvSpPr>
        <p:spPr>
          <a:xfrm>
            <a:off x="8614410" y="39658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E06 ← P03"/>
          <p:cNvSpPr txBox="1"/>
          <p:nvPr/>
        </p:nvSpPr>
        <p:spPr>
          <a:xfrm>
            <a:off x="8955786" y="38760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P03</a:t>
            </a:r>
          </a:p>
        </p:txBody>
      </p:sp>
      <p:sp>
        <p:nvSpPr>
          <p:cNvPr id="78" name="E07-source"/>
          <p:cNvSpPr/>
          <p:nvPr/>
        </p:nvSpPr>
        <p:spPr>
          <a:xfrm>
            <a:off x="12396216" y="396582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7 → N04"/>
          <p:cNvSpPr txBox="1"/>
          <p:nvPr/>
        </p:nvSpPr>
        <p:spPr>
          <a:xfrm>
            <a:off x="11438230" y="387600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→ N04</a:t>
            </a:r>
          </a:p>
        </p:txBody>
      </p:sp>
      <p:sp>
        <p:nvSpPr>
          <p:cNvPr id="80" name="rect-080"/>
          <p:cNvSpPr/>
          <p:nvPr/>
        </p:nvSpPr>
        <p:spPr>
          <a:xfrm>
            <a:off x="8694420" y="4376547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P03  外部/组边界"/>
          <p:cNvSpPr txBox="1"/>
          <p:nvPr/>
        </p:nvSpPr>
        <p:spPr>
          <a:xfrm>
            <a:off x="8790432" y="4404497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82" name="text-082: 系统 AXI R"/>
          <p:cNvSpPr txBox="1"/>
          <p:nvPr/>
        </p:nvSpPr>
        <p:spPr>
          <a:xfrm>
            <a:off x="10181272" y="4573905"/>
            <a:ext cx="9201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系统 AXI R</a:t>
            </a:r>
          </a:p>
        </p:txBody>
      </p:sp>
      <p:sp>
        <p:nvSpPr>
          <p:cNvPr id="83" name="rect-083"/>
          <p:cNvSpPr/>
          <p:nvPr/>
        </p:nvSpPr>
        <p:spPr>
          <a:xfrm>
            <a:off x="8774430" y="488327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E06-source"/>
          <p:cNvSpPr/>
          <p:nvPr/>
        </p:nvSpPr>
        <p:spPr>
          <a:xfrm>
            <a:off x="12396216" y="50166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E06 → N05"/>
          <p:cNvSpPr txBox="1"/>
          <p:nvPr/>
        </p:nvSpPr>
        <p:spPr>
          <a:xfrm>
            <a:off x="11438230" y="49268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N05</a:t>
            </a:r>
          </a:p>
        </p:txBody>
      </p:sp>
      <p:sp>
        <p:nvSpPr>
          <p:cNvPr id="86" name="text-086: Regbus 32"/>
          <p:cNvSpPr txBox="1"/>
          <p:nvPr/>
        </p:nvSpPr>
        <p:spPr>
          <a:xfrm>
            <a:off x="213360" y="5348188"/>
            <a:ext cx="8403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87" name="text-087: RGB"/>
          <p:cNvSpPr txBox="1"/>
          <p:nvPr/>
        </p:nvSpPr>
        <p:spPr>
          <a:xfrm>
            <a:off x="213360" y="5513542"/>
            <a:ext cx="361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RGB</a:t>
            </a:r>
          </a:p>
        </p:txBody>
      </p:sp>
      <p:sp>
        <p:nvSpPr>
          <p:cNvPr id="88" name="text-088: RGB / HS / VS"/>
          <p:cNvSpPr txBox="1"/>
          <p:nvPr/>
        </p:nvSpPr>
        <p:spPr>
          <a:xfrm>
            <a:off x="213360" y="5678896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RGB / HS / VS</a:t>
            </a:r>
          </a:p>
        </p:txBody>
      </p:sp>
      <p:sp>
        <p:nvSpPr>
          <p:cNvPr id="89" name="text-089: AR 请求"/>
          <p:cNvSpPr txBox="1"/>
          <p:nvPr/>
        </p:nvSpPr>
        <p:spPr>
          <a:xfrm>
            <a:off x="213360" y="5844250"/>
            <a:ext cx="60727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AR 请求</a:t>
            </a:r>
          </a:p>
        </p:txBody>
      </p:sp>
      <p:sp>
        <p:nvSpPr>
          <p:cNvPr id="90" name="text-090: AR → 内存"/>
          <p:cNvSpPr txBox="1"/>
          <p:nvPr/>
        </p:nvSpPr>
        <p:spPr>
          <a:xfrm>
            <a:off x="213360" y="6009604"/>
            <a:ext cx="80970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AR → 内存</a:t>
            </a:r>
          </a:p>
        </p:txBody>
      </p:sp>
      <p:sp>
        <p:nvSpPr>
          <p:cNvPr id="91" name="text-091: R ← 内存"/>
          <p:cNvSpPr txBox="1"/>
          <p:nvPr/>
        </p:nvSpPr>
        <p:spPr>
          <a:xfrm>
            <a:off x="213360" y="6174958"/>
            <a:ext cx="7299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 ← 内存</a:t>
            </a:r>
          </a:p>
        </p:txBody>
      </p:sp>
      <p:sp>
        <p:nvSpPr>
          <p:cNvPr id="92" name="text-092: 返回 beat"/>
          <p:cNvSpPr txBox="1"/>
          <p:nvPr/>
        </p:nvSpPr>
        <p:spPr>
          <a:xfrm>
            <a:off x="213360" y="6340312"/>
            <a:ext cx="76676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返回 beat</a:t>
            </a:r>
          </a:p>
        </p:txBody>
      </p:sp>
      <p:sp>
        <p:nvSpPr>
          <p:cNvPr id="93" name="text-093: clk_cnt_q == 0 → fsm_en"/>
          <p:cNvSpPr txBox="1"/>
          <p:nvPr/>
        </p:nvSpPr>
        <p:spPr>
          <a:xfrm>
            <a:off x="213360" y="6505666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clk_cnt_q == 0 → fsm_en</a:t>
            </a:r>
          </a:p>
        </p:txBody>
      </p:sp>
      <p:sp>
        <p:nvSpPr>
          <p:cNvPr id="94" name="text-094: 同一个 clk_i 域；CLK_DIV 控制像素状态机使能。"/>
          <p:cNvSpPr txBox="1"/>
          <p:nvPr/>
        </p:nvSpPr>
        <p:spPr>
          <a:xfrm>
            <a:off x="213360" y="6671020"/>
            <a:ext cx="315906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同一个 clk_i 域；CLK_DIV 控制像素状态机使能。</a:t>
            </a:r>
          </a:p>
        </p:txBody>
      </p:sp>
      <p:sp>
        <p:nvSpPr>
          <p:cNvPr id="95" name="text-095: 配对端口表示图示连接；已有/规划状态见模块和连接表。方向与 A 版一致。虚线模块"/>
          <p:cNvSpPr txBox="1"/>
          <p:nvPr/>
        </p:nvSpPr>
        <p:spPr>
          <a:xfrm>
            <a:off x="213360" y="7219996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3  USB OHCI：控制适配、描述符 DMA 与独立 PHY 时钟域"/>
          <p:cNvSpPr txBox="1"/>
          <p:nvPr/>
        </p:nvSpPr>
        <p:spPr>
          <a:xfrm>
            <a:off x="213360" y="589087"/>
            <a:ext cx="51718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13  USB OHCI：控制适配、描述符 DMA 与独立 PHY 时钟域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864108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301496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132944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Regbus 32"/>
          <p:cNvSpPr txBox="1"/>
          <p:nvPr/>
        </p:nvSpPr>
        <p:spPr>
          <a:xfrm>
            <a:off x="1703546" y="1498854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7" name="text-007: ctrl_req / ctrl_rsp"/>
          <p:cNvSpPr txBox="1"/>
          <p:nvPr/>
        </p:nvSpPr>
        <p:spPr>
          <a:xfrm>
            <a:off x="1341368" y="1681063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ctrl_req / ctrl_rsp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197891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211226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↔ N02"/>
          <p:cNvSpPr txBox="1"/>
          <p:nvPr/>
        </p:nvSpPr>
        <p:spPr>
          <a:xfrm>
            <a:off x="2957170" y="202243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2522982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N04  内部工作逻辑"/>
          <p:cNvSpPr txBox="1"/>
          <p:nvPr/>
        </p:nvSpPr>
        <p:spPr>
          <a:xfrm>
            <a:off x="309372" y="255093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13" name="text-013: 5  AXI DMA 适配"/>
          <p:cNvSpPr txBox="1"/>
          <p:nvPr/>
        </p:nvSpPr>
        <p:spPr>
          <a:xfrm>
            <a:off x="1483519" y="2720340"/>
            <a:ext cx="13535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 DMA 适配</a:t>
            </a:r>
          </a:p>
        </p:txBody>
      </p:sp>
      <p:sp>
        <p:nvSpPr>
          <p:cNvPr id="14" name="text-014: axi_dw_converter：32 → 系统"/>
          <p:cNvSpPr txBox="1"/>
          <p:nvPr/>
        </p:nvSpPr>
        <p:spPr>
          <a:xfrm>
            <a:off x="1056132" y="2902549"/>
            <a:ext cx="220827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axi_dw_converter：32 → 系统</a:t>
            </a:r>
          </a:p>
        </p:txBody>
      </p:sp>
      <p:sp>
        <p:nvSpPr>
          <p:cNvPr id="15" name="text-015: axi_modify_address"/>
          <p:cNvSpPr txBox="1"/>
          <p:nvPr/>
        </p:nvSpPr>
        <p:spPr>
          <a:xfrm>
            <a:off x="1381239" y="3073237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axi_modify_address</a:t>
            </a:r>
          </a:p>
        </p:txBody>
      </p:sp>
      <p:sp>
        <p:nvSpPr>
          <p:cNvPr id="16" name="text-016: 32-bit 地址 domain / mask"/>
          <p:cNvSpPr txBox="1"/>
          <p:nvPr/>
        </p:nvSpPr>
        <p:spPr>
          <a:xfrm>
            <a:off x="1138942" y="3243925"/>
            <a:ext cx="20426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地址 domain / mask</a:t>
            </a:r>
          </a:p>
        </p:txBody>
      </p:sp>
      <p:sp>
        <p:nvSpPr>
          <p:cNvPr id="17" name="rect-017"/>
          <p:cNvSpPr/>
          <p:nvPr/>
        </p:nvSpPr>
        <p:spPr>
          <a:xfrm>
            <a:off x="293370" y="354177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E03-target"/>
          <p:cNvSpPr/>
          <p:nvPr/>
        </p:nvSpPr>
        <p:spPr>
          <a:xfrm>
            <a:off x="133350" y="36751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3 ↔ N03"/>
          <p:cNvSpPr txBox="1"/>
          <p:nvPr/>
        </p:nvSpPr>
        <p:spPr>
          <a:xfrm>
            <a:off x="474726" y="35853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N03</a:t>
            </a:r>
          </a:p>
        </p:txBody>
      </p:sp>
      <p:sp>
        <p:nvSpPr>
          <p:cNvPr id="20" name="E04-source"/>
          <p:cNvSpPr/>
          <p:nvPr/>
        </p:nvSpPr>
        <p:spPr>
          <a:xfrm>
            <a:off x="3915156" y="36751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4 ↔ P01"/>
          <p:cNvSpPr txBox="1"/>
          <p:nvPr/>
        </p:nvSpPr>
        <p:spPr>
          <a:xfrm>
            <a:off x="2957170" y="35853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P01</a:t>
            </a:r>
          </a:p>
        </p:txBody>
      </p:sp>
      <p:sp>
        <p:nvSpPr>
          <p:cNvPr id="22" name="rect-022"/>
          <p:cNvSpPr/>
          <p:nvPr/>
        </p:nvSpPr>
        <p:spPr>
          <a:xfrm>
            <a:off x="213360" y="4085844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P01  外部/组边界"/>
          <p:cNvSpPr txBox="1"/>
          <p:nvPr/>
        </p:nvSpPr>
        <p:spPr>
          <a:xfrm>
            <a:off x="309372" y="4113794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24" name="text-024: 主 AXI：AxiIn.usb"/>
          <p:cNvSpPr txBox="1"/>
          <p:nvPr/>
        </p:nvSpPr>
        <p:spPr>
          <a:xfrm>
            <a:off x="1396841" y="4283202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AXI：AxiIn.usb</a:t>
            </a:r>
          </a:p>
        </p:txBody>
      </p:sp>
      <p:sp>
        <p:nvSpPr>
          <p:cNvPr id="25" name="rect-025"/>
          <p:cNvSpPr/>
          <p:nvPr/>
        </p:nvSpPr>
        <p:spPr>
          <a:xfrm>
            <a:off x="293370" y="459257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04-target"/>
          <p:cNvSpPr/>
          <p:nvPr/>
        </p:nvSpPr>
        <p:spPr>
          <a:xfrm>
            <a:off x="133350" y="47259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E04 ↔ N04"/>
          <p:cNvSpPr txBox="1"/>
          <p:nvPr/>
        </p:nvSpPr>
        <p:spPr>
          <a:xfrm>
            <a:off x="474726" y="46360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N04</a:t>
            </a:r>
          </a:p>
        </p:txBody>
      </p:sp>
      <p:sp>
        <p:nvSpPr>
          <p:cNvPr id="28" name="rect-028"/>
          <p:cNvSpPr/>
          <p:nvPr/>
        </p:nvSpPr>
        <p:spPr>
          <a:xfrm>
            <a:off x="4453890" y="1301496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N02  内部工作逻辑"/>
          <p:cNvSpPr txBox="1"/>
          <p:nvPr/>
        </p:nvSpPr>
        <p:spPr>
          <a:xfrm>
            <a:off x="4549902" y="132944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0" name="text-030: 1  reg_to_axi"/>
          <p:cNvSpPr txBox="1"/>
          <p:nvPr/>
        </p:nvSpPr>
        <p:spPr>
          <a:xfrm>
            <a:off x="5770721" y="1498854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reg_to_axi</a:t>
            </a:r>
          </a:p>
        </p:txBody>
      </p:sp>
      <p:sp>
        <p:nvSpPr>
          <p:cNvPr id="31" name="text-031: 32-bit Reg → AXI32"/>
          <p:cNvSpPr txBox="1"/>
          <p:nvPr/>
        </p:nvSpPr>
        <p:spPr>
          <a:xfrm>
            <a:off x="5600300" y="1681063"/>
            <a:ext cx="16010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Reg → AXI32</a:t>
            </a:r>
          </a:p>
        </p:txBody>
      </p:sp>
      <p:sp>
        <p:nvSpPr>
          <p:cNvPr id="32" name="text-032: 控制地址取低 12 位"/>
          <p:cNvSpPr txBox="1"/>
          <p:nvPr/>
        </p:nvSpPr>
        <p:spPr>
          <a:xfrm>
            <a:off x="5750585" y="1851751"/>
            <a:ext cx="1300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控制地址取低 12 位</a:t>
            </a:r>
          </a:p>
        </p:txBody>
      </p:sp>
      <p:sp>
        <p:nvSpPr>
          <p:cNvPr id="33" name="rect-033"/>
          <p:cNvSpPr/>
          <p:nvPr/>
        </p:nvSpPr>
        <p:spPr>
          <a:xfrm>
            <a:off x="4533900" y="214960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1-target"/>
          <p:cNvSpPr/>
          <p:nvPr/>
        </p:nvSpPr>
        <p:spPr>
          <a:xfrm>
            <a:off x="4373880" y="228295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 ↔ N01"/>
          <p:cNvSpPr txBox="1"/>
          <p:nvPr/>
        </p:nvSpPr>
        <p:spPr>
          <a:xfrm>
            <a:off x="4715256" y="219312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6" name="E02-source"/>
          <p:cNvSpPr/>
          <p:nvPr/>
        </p:nvSpPr>
        <p:spPr>
          <a:xfrm>
            <a:off x="8155686" y="228295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 ↔ N03"/>
          <p:cNvSpPr txBox="1"/>
          <p:nvPr/>
        </p:nvSpPr>
        <p:spPr>
          <a:xfrm>
            <a:off x="7197700" y="219312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38" name="rect-038"/>
          <p:cNvSpPr/>
          <p:nvPr/>
        </p:nvSpPr>
        <p:spPr>
          <a:xfrm>
            <a:off x="4453890" y="2693670"/>
            <a:ext cx="3893820" cy="134950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N05  状态/存储"/>
          <p:cNvSpPr txBox="1"/>
          <p:nvPr/>
        </p:nvSpPr>
        <p:spPr>
          <a:xfrm>
            <a:off x="4549902" y="272162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状态/存储</a:t>
            </a:r>
          </a:p>
        </p:txBody>
      </p:sp>
      <p:sp>
        <p:nvSpPr>
          <p:cNvPr id="40" name="text-040: 3  CtrlCc"/>
          <p:cNvSpPr txBox="1"/>
          <p:nvPr/>
        </p:nvSpPr>
        <p:spPr>
          <a:xfrm>
            <a:off x="5944076" y="2891028"/>
            <a:ext cx="9134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CtrlCc</a:t>
            </a:r>
          </a:p>
        </p:txBody>
      </p:sp>
      <p:sp>
        <p:nvSpPr>
          <p:cNvPr id="41" name="text-041: 命令 / 数据 / 状态跨域"/>
          <p:cNvSpPr txBox="1"/>
          <p:nvPr/>
        </p:nvSpPr>
        <p:spPr>
          <a:xfrm>
            <a:off x="5609501" y="3073237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数据 / 状态跨域</a:t>
            </a:r>
          </a:p>
        </p:txBody>
      </p:sp>
      <p:sp>
        <p:nvSpPr>
          <p:cNvPr id="42" name="text-042: 生成 RTL 的握手同步"/>
          <p:cNvSpPr txBox="1"/>
          <p:nvPr/>
        </p:nvSpPr>
        <p:spPr>
          <a:xfrm>
            <a:off x="5710714" y="3243925"/>
            <a:ext cx="13801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生成 RTL 的握手同步</a:t>
            </a:r>
          </a:p>
        </p:txBody>
      </p:sp>
      <p:sp>
        <p:nvSpPr>
          <p:cNvPr id="43" name="text-043: 两域分别复位"/>
          <p:cNvSpPr txBox="1"/>
          <p:nvPr/>
        </p:nvSpPr>
        <p:spPr>
          <a:xfrm>
            <a:off x="5971413" y="3414613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两域分别复位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371246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5-target"/>
          <p:cNvSpPr/>
          <p:nvPr/>
        </p:nvSpPr>
        <p:spPr>
          <a:xfrm>
            <a:off x="4373880" y="384581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5 ↔ N03"/>
          <p:cNvSpPr txBox="1"/>
          <p:nvPr/>
        </p:nvSpPr>
        <p:spPr>
          <a:xfrm>
            <a:off x="4715256" y="375598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N03</a:t>
            </a:r>
          </a:p>
        </p:txBody>
      </p:sp>
      <p:sp>
        <p:nvSpPr>
          <p:cNvPr id="47" name="E06-source"/>
          <p:cNvSpPr/>
          <p:nvPr/>
        </p:nvSpPr>
        <p:spPr>
          <a:xfrm>
            <a:off x="8155686" y="384581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6 ↔ N06"/>
          <p:cNvSpPr txBox="1"/>
          <p:nvPr/>
        </p:nvSpPr>
        <p:spPr>
          <a:xfrm>
            <a:off x="7197700" y="375598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49" name="rect-049"/>
          <p:cNvSpPr/>
          <p:nvPr/>
        </p:nvSpPr>
        <p:spPr>
          <a:xfrm>
            <a:off x="4453890" y="4256532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P02  外部/组边界"/>
          <p:cNvSpPr txBox="1"/>
          <p:nvPr/>
        </p:nvSpPr>
        <p:spPr>
          <a:xfrm>
            <a:off x="4549902" y="4284482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P02  外部/组边界</a:t>
            </a:r>
          </a:p>
        </p:txBody>
      </p:sp>
      <p:sp>
        <p:nvSpPr>
          <p:cNvPr id="51" name="text-051: SoC USB IRQ"/>
          <p:cNvSpPr txBox="1"/>
          <p:nvPr/>
        </p:nvSpPr>
        <p:spPr>
          <a:xfrm>
            <a:off x="5857399" y="4453890"/>
            <a:ext cx="10868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USB IRQ</a:t>
            </a:r>
          </a:p>
        </p:txBody>
      </p:sp>
      <p:sp>
        <p:nvSpPr>
          <p:cNvPr id="52" name="rect-052"/>
          <p:cNvSpPr/>
          <p:nvPr/>
        </p:nvSpPr>
        <p:spPr>
          <a:xfrm>
            <a:off x="4533900" y="476326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7-target"/>
          <p:cNvSpPr/>
          <p:nvPr/>
        </p:nvSpPr>
        <p:spPr>
          <a:xfrm>
            <a:off x="4373880" y="489661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7 ← N03"/>
          <p:cNvSpPr txBox="1"/>
          <p:nvPr/>
        </p:nvSpPr>
        <p:spPr>
          <a:xfrm>
            <a:off x="4715256" y="480678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N03</a:t>
            </a:r>
          </a:p>
        </p:txBody>
      </p:sp>
      <p:sp>
        <p:nvSpPr>
          <p:cNvPr id="55" name="rect-055"/>
          <p:cNvSpPr/>
          <p:nvPr/>
        </p:nvSpPr>
        <p:spPr>
          <a:xfrm>
            <a:off x="8694420" y="1301496"/>
            <a:ext cx="3893820" cy="189357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N03  内部工作逻辑"/>
          <p:cNvSpPr txBox="1"/>
          <p:nvPr/>
        </p:nvSpPr>
        <p:spPr>
          <a:xfrm>
            <a:off x="8790432" y="132944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7" name="text-057: 2  UsbOhciAxi4：前端"/>
          <p:cNvSpPr txBox="1"/>
          <p:nvPr/>
        </p:nvSpPr>
        <p:spPr>
          <a:xfrm>
            <a:off x="9767888" y="1498854"/>
            <a:ext cx="174688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UsbOhciAxi4：前端</a:t>
            </a:r>
          </a:p>
        </p:txBody>
      </p:sp>
      <p:sp>
        <p:nvSpPr>
          <p:cNvPr id="58" name="text-058: ctrlBridge → front_ohci"/>
          <p:cNvSpPr txBox="1"/>
          <p:nvPr/>
        </p:nvSpPr>
        <p:spPr>
          <a:xfrm>
            <a:off x="9641472" y="1681063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ctrlBridge → front_ohci</a:t>
            </a:r>
          </a:p>
        </p:txBody>
      </p:sp>
      <p:sp>
        <p:nvSpPr>
          <p:cNvPr id="59" name="text-059: OHCI 寄存器 / 帧调度"/>
          <p:cNvSpPr txBox="1"/>
          <p:nvPr/>
        </p:nvSpPr>
        <p:spPr>
          <a:xfrm>
            <a:off x="9892970" y="1851751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OHCI 寄存器 / 帧调度</a:t>
            </a:r>
          </a:p>
        </p:txBody>
      </p:sp>
      <p:sp>
        <p:nvSpPr>
          <p:cNvPr id="60" name="text-060: 读取 ED / TD、搬运数据"/>
          <p:cNvSpPr txBox="1"/>
          <p:nvPr/>
        </p:nvSpPr>
        <p:spPr>
          <a:xfrm>
            <a:off x="9831629" y="2022439"/>
            <a:ext cx="16194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读取 ED / TD、搬运数据</a:t>
            </a:r>
          </a:p>
        </p:txBody>
      </p:sp>
      <p:sp>
        <p:nvSpPr>
          <p:cNvPr id="61" name="text-061: 完成状态 / IRQ"/>
          <p:cNvSpPr txBox="1"/>
          <p:nvPr/>
        </p:nvSpPr>
        <p:spPr>
          <a:xfrm>
            <a:off x="10095395" y="2193127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完成状态 / IRQ</a:t>
            </a:r>
          </a:p>
        </p:txBody>
      </p:sp>
      <p:sp>
        <p:nvSpPr>
          <p:cNvPr id="62" name="rect-062"/>
          <p:cNvSpPr/>
          <p:nvPr/>
        </p:nvSpPr>
        <p:spPr>
          <a:xfrm>
            <a:off x="8774430" y="2490978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E02-target"/>
          <p:cNvSpPr/>
          <p:nvPr/>
        </p:nvSpPr>
        <p:spPr>
          <a:xfrm>
            <a:off x="8614410" y="26243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2 ↔ N02"/>
          <p:cNvSpPr txBox="1"/>
          <p:nvPr/>
        </p:nvSpPr>
        <p:spPr>
          <a:xfrm>
            <a:off x="8955786" y="25345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65" name="E03-source"/>
          <p:cNvSpPr/>
          <p:nvPr/>
        </p:nvSpPr>
        <p:spPr>
          <a:xfrm>
            <a:off x="12396216" y="262432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3 ↔ N04"/>
          <p:cNvSpPr txBox="1"/>
          <p:nvPr/>
        </p:nvSpPr>
        <p:spPr>
          <a:xfrm>
            <a:off x="11438230" y="253450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N04</a:t>
            </a:r>
          </a:p>
        </p:txBody>
      </p:sp>
      <p:sp>
        <p:nvSpPr>
          <p:cNvPr id="67" name="E05-source"/>
          <p:cNvSpPr/>
          <p:nvPr/>
        </p:nvSpPr>
        <p:spPr>
          <a:xfrm>
            <a:off x="12396216" y="281101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5 ↔ N05"/>
          <p:cNvSpPr txBox="1"/>
          <p:nvPr/>
        </p:nvSpPr>
        <p:spPr>
          <a:xfrm>
            <a:off x="11438230" y="272119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69" name="E07-source"/>
          <p:cNvSpPr/>
          <p:nvPr/>
        </p:nvSpPr>
        <p:spPr>
          <a:xfrm>
            <a:off x="12396216" y="299770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7 → P02"/>
          <p:cNvSpPr txBox="1"/>
          <p:nvPr/>
        </p:nvSpPr>
        <p:spPr>
          <a:xfrm>
            <a:off x="11438230" y="290788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P02</a:t>
            </a:r>
          </a:p>
        </p:txBody>
      </p:sp>
      <p:sp>
        <p:nvSpPr>
          <p:cNvPr id="71" name="rect-071"/>
          <p:cNvSpPr/>
          <p:nvPr/>
        </p:nvSpPr>
        <p:spPr>
          <a:xfrm>
            <a:off x="8694420" y="3408426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N06  内部工作逻辑"/>
          <p:cNvSpPr txBox="1"/>
          <p:nvPr/>
        </p:nvSpPr>
        <p:spPr>
          <a:xfrm>
            <a:off x="8790432" y="343637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3" name="text-073: 4  UsbLsFsPhy"/>
          <p:cNvSpPr txBox="1"/>
          <p:nvPr/>
        </p:nvSpPr>
        <p:spPr>
          <a:xfrm>
            <a:off x="10011251" y="3605784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UsbLsFsPhy</a:t>
            </a:r>
          </a:p>
        </p:txBody>
      </p:sp>
      <p:sp>
        <p:nvSpPr>
          <p:cNvPr id="74" name="text-074: 数字收发逻辑"/>
          <p:cNvSpPr txBox="1"/>
          <p:nvPr/>
        </p:nvSpPr>
        <p:spPr>
          <a:xfrm>
            <a:off x="10211943" y="3787993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数字收发逻辑</a:t>
            </a:r>
          </a:p>
        </p:txBody>
      </p:sp>
      <p:sp>
        <p:nvSpPr>
          <p:cNvPr id="75" name="text-075: LS / FS；4 个端口"/>
          <p:cNvSpPr txBox="1"/>
          <p:nvPr/>
        </p:nvSpPr>
        <p:spPr>
          <a:xfrm>
            <a:off x="9975780" y="3958681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LS / FS；4 个端口</a:t>
            </a:r>
          </a:p>
        </p:txBody>
      </p:sp>
      <p:sp>
        <p:nvSpPr>
          <p:cNvPr id="76" name="text-076: DP / DM + OE"/>
          <p:cNvSpPr txBox="1"/>
          <p:nvPr/>
        </p:nvSpPr>
        <p:spPr>
          <a:xfrm>
            <a:off x="10101529" y="4129369"/>
            <a:ext cx="1079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DP / DM + OE</a:t>
            </a:r>
          </a:p>
        </p:txBody>
      </p:sp>
      <p:sp>
        <p:nvSpPr>
          <p:cNvPr id="77" name="rect-077"/>
          <p:cNvSpPr/>
          <p:nvPr/>
        </p:nvSpPr>
        <p:spPr>
          <a:xfrm>
            <a:off x="8774430" y="442722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06-target"/>
          <p:cNvSpPr/>
          <p:nvPr/>
        </p:nvSpPr>
        <p:spPr>
          <a:xfrm>
            <a:off x="8614410" y="45605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6 ↔ N05"/>
          <p:cNvSpPr txBox="1"/>
          <p:nvPr/>
        </p:nvSpPr>
        <p:spPr>
          <a:xfrm>
            <a:off x="8955786" y="447074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N05</a:t>
            </a:r>
          </a:p>
        </p:txBody>
      </p:sp>
      <p:sp>
        <p:nvSpPr>
          <p:cNvPr id="80" name="E08-source"/>
          <p:cNvSpPr/>
          <p:nvPr/>
        </p:nvSpPr>
        <p:spPr>
          <a:xfrm>
            <a:off x="12396216" y="456057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8 ↔ P03"/>
          <p:cNvSpPr txBox="1"/>
          <p:nvPr/>
        </p:nvSpPr>
        <p:spPr>
          <a:xfrm>
            <a:off x="11438230" y="447074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P03</a:t>
            </a:r>
          </a:p>
        </p:txBody>
      </p:sp>
      <p:sp>
        <p:nvSpPr>
          <p:cNvPr id="82" name="rect-082"/>
          <p:cNvSpPr/>
          <p:nvPr/>
        </p:nvSpPr>
        <p:spPr>
          <a:xfrm>
            <a:off x="8694420" y="4971288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P03  外部/组边界"/>
          <p:cNvSpPr txBox="1"/>
          <p:nvPr/>
        </p:nvSpPr>
        <p:spPr>
          <a:xfrm>
            <a:off x="8790432" y="499923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P03  外部/组边界</a:t>
            </a:r>
          </a:p>
        </p:txBody>
      </p:sp>
      <p:sp>
        <p:nvSpPr>
          <p:cNvPr id="84" name="text-084: DP / DM / OE 引脚"/>
          <p:cNvSpPr txBox="1"/>
          <p:nvPr/>
        </p:nvSpPr>
        <p:spPr>
          <a:xfrm>
            <a:off x="9877901" y="5168646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DP / DM / OE 引脚</a:t>
            </a:r>
          </a:p>
        </p:txBody>
      </p:sp>
      <p:sp>
        <p:nvSpPr>
          <p:cNvPr id="85" name="rect-085"/>
          <p:cNvSpPr/>
          <p:nvPr/>
        </p:nvSpPr>
        <p:spPr>
          <a:xfrm>
            <a:off x="8774430" y="547801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08-target"/>
          <p:cNvSpPr/>
          <p:nvPr/>
        </p:nvSpPr>
        <p:spPr>
          <a:xfrm>
            <a:off x="8614410" y="561136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8 ↔ N06"/>
          <p:cNvSpPr txBox="1"/>
          <p:nvPr/>
        </p:nvSpPr>
        <p:spPr>
          <a:xfrm>
            <a:off x="8955786" y="552154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N06</a:t>
            </a:r>
          </a:p>
        </p:txBody>
      </p:sp>
      <p:sp>
        <p:nvSpPr>
          <p:cNvPr id="88" name="text-088: spinal_usb_ohci：控制 / DMA 在 soc_clk_i；PHY"/>
          <p:cNvSpPr txBox="1"/>
          <p:nvPr/>
        </p:nvSpPr>
        <p:spPr>
          <a:xfrm>
            <a:off x="213360" y="5942929"/>
            <a:ext cx="46496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spinal_usb_ohci：控制 / DMA 在 soc_clk_i；PHY 使用 phy_clk_i</a:t>
            </a:r>
          </a:p>
        </p:txBody>
      </p:sp>
      <p:sp>
        <p:nvSpPr>
          <p:cNvPr id="89" name="text-089: AXI DMA ↔ 内存"/>
          <p:cNvSpPr txBox="1"/>
          <p:nvPr/>
        </p:nvSpPr>
        <p:spPr>
          <a:xfrm>
            <a:off x="213360" y="6108283"/>
            <a:ext cx="12084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 DMA ↔ 内存</a:t>
            </a:r>
          </a:p>
        </p:txBody>
      </p:sp>
      <p:sp>
        <p:nvSpPr>
          <p:cNvPr id="90" name="text-090: intr_o → SoC"/>
          <p:cNvSpPr txBox="1"/>
          <p:nvPr/>
        </p:nvSpPr>
        <p:spPr>
          <a:xfrm>
            <a:off x="213360" y="6273637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intr_o → SoC</a:t>
            </a:r>
          </a:p>
        </p:txBody>
      </p:sp>
      <p:sp>
        <p:nvSpPr>
          <p:cNvPr id="91" name="text-091: PAD / 电气 / VBUS 由平台实现"/>
          <p:cNvSpPr txBox="1"/>
          <p:nvPr/>
        </p:nvSpPr>
        <p:spPr>
          <a:xfrm>
            <a:off x="213360" y="6438991"/>
            <a:ext cx="209786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PAD / 电气 / VBUS 由平台实现</a:t>
            </a:r>
          </a:p>
        </p:txBody>
      </p:sp>
      <p:sp>
        <p:nvSpPr>
          <p:cNvPr id="92" name="text-092: DMA 内核地址为 32-bit；系统 AXI 更宽不会自动解除这一限制。"/>
          <p:cNvSpPr txBox="1"/>
          <p:nvPr/>
        </p:nvSpPr>
        <p:spPr>
          <a:xfrm>
            <a:off x="213360" y="6604345"/>
            <a:ext cx="39748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DMA 内核地址为 32-bit；系统 AXI 更宽不会自动解除这一限制。</a:t>
            </a:r>
          </a:p>
        </p:txBody>
      </p:sp>
      <p:sp>
        <p:nvSpPr>
          <p:cNvPr id="93" name="text-093: 配对端口表示图示连接；已有/规划状态见模块和连接表。方向与 A 版一致。虚线模块"/>
          <p:cNvSpPr txBox="1"/>
          <p:nvPr/>
        </p:nvSpPr>
        <p:spPr>
          <a:xfrm>
            <a:off x="213360" y="7153321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4  iDMA：AXI 控制入口、任务前端与独立搬运后端"/>
          <p:cNvSpPr txBox="1"/>
          <p:nvPr/>
        </p:nvSpPr>
        <p:spPr>
          <a:xfrm>
            <a:off x="213360" y="845119"/>
            <a:ext cx="44037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14  iDMA：AXI 控制入口、任务前端与独立搬运后端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120140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557528"/>
            <a:ext cx="3893820" cy="1349502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外部/组边界"/>
          <p:cNvSpPr txBox="1"/>
          <p:nvPr/>
        </p:nvSpPr>
        <p:spPr>
          <a:xfrm>
            <a:off x="309372" y="1585478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外部/组边界</a:t>
            </a:r>
          </a:p>
        </p:txBody>
      </p:sp>
      <p:sp>
        <p:nvSpPr>
          <p:cNvPr id="6" name="text-006: AXI slave 控制口"/>
          <p:cNvSpPr txBox="1"/>
          <p:nvPr/>
        </p:nvSpPr>
        <p:spPr>
          <a:xfrm>
            <a:off x="1460182" y="1754886"/>
            <a:ext cx="140017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slave 控制口</a:t>
            </a:r>
          </a:p>
        </p:txBody>
      </p:sp>
      <p:sp>
        <p:nvSpPr>
          <p:cNvPr id="7" name="text-007: AxiOut.dma"/>
          <p:cNvSpPr txBox="1"/>
          <p:nvPr/>
        </p:nvSpPr>
        <p:spPr>
          <a:xfrm>
            <a:off x="1700212" y="1937095"/>
            <a:ext cx="92011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AxiOut.dma</a:t>
            </a:r>
          </a:p>
        </p:txBody>
      </p:sp>
      <p:sp>
        <p:nvSpPr>
          <p:cNvPr id="8" name="text-008: atomics / cut"/>
          <p:cNvSpPr txBox="1"/>
          <p:nvPr/>
        </p:nvSpPr>
        <p:spPr>
          <a:xfrm>
            <a:off x="1580598" y="2107783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atomics / cut</a:t>
            </a:r>
          </a:p>
        </p:txBody>
      </p:sp>
      <p:sp>
        <p:nvSpPr>
          <p:cNvPr id="9" name="text-009: CPU 发起配置访问"/>
          <p:cNvSpPr txBox="1"/>
          <p:nvPr/>
        </p:nvSpPr>
        <p:spPr>
          <a:xfrm>
            <a:off x="1571396" y="2278471"/>
            <a:ext cx="117774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发起配置访问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57632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27096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↔ N02"/>
          <p:cNvSpPr txBox="1"/>
          <p:nvPr/>
        </p:nvSpPr>
        <p:spPr>
          <a:xfrm>
            <a:off x="2957170" y="26198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3" name="rect-013"/>
          <p:cNvSpPr/>
          <p:nvPr/>
        </p:nvSpPr>
        <p:spPr>
          <a:xfrm>
            <a:off x="213360" y="3120390"/>
            <a:ext cx="3893820" cy="172288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N04  状态/存储"/>
          <p:cNvSpPr txBox="1"/>
          <p:nvPr/>
        </p:nvSpPr>
        <p:spPr>
          <a:xfrm>
            <a:off x="309372" y="314834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5" name="text-015: 3  Job FIFO + midend"/>
          <p:cNvSpPr txBox="1"/>
          <p:nvPr/>
        </p:nvSpPr>
        <p:spPr>
          <a:xfrm>
            <a:off x="1226820" y="3317748"/>
            <a:ext cx="18669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Job FIFO + midend</a:t>
            </a:r>
          </a:p>
        </p:txBody>
      </p:sp>
      <p:sp>
        <p:nvSpPr>
          <p:cNvPr id="16" name="text-016: 入口握手 issue ID"/>
          <p:cNvSpPr txBox="1"/>
          <p:nvPr/>
        </p:nvSpPr>
        <p:spPr>
          <a:xfrm>
            <a:off x="1494720" y="3499957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入口握手 issue ID</a:t>
            </a:r>
          </a:p>
        </p:txBody>
      </p:sp>
      <p:sp>
        <p:nvSpPr>
          <p:cNvPr id="17" name="text-017: 2D：展开并汇总完成"/>
          <p:cNvSpPr txBox="1"/>
          <p:nvPr/>
        </p:nvSpPr>
        <p:spPr>
          <a:xfrm>
            <a:off x="1528458" y="3670645"/>
            <a:ext cx="12636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2D：展开并汇总完成</a:t>
            </a:r>
          </a:p>
        </p:txBody>
      </p:sp>
      <p:sp>
        <p:nvSpPr>
          <p:cNvPr id="18" name="text-018: 1D：不生成 midend"/>
          <p:cNvSpPr txBox="1"/>
          <p:nvPr/>
        </p:nvSpPr>
        <p:spPr>
          <a:xfrm>
            <a:off x="1494720" y="3841333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1D：不生成 midend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4139184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3-target"/>
          <p:cNvSpPr/>
          <p:nvPr/>
        </p:nvSpPr>
        <p:spPr>
          <a:xfrm>
            <a:off x="133350" y="42725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3 ← N03"/>
          <p:cNvSpPr txBox="1"/>
          <p:nvPr/>
        </p:nvSpPr>
        <p:spPr>
          <a:xfrm>
            <a:off x="474726" y="418270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2" name="E04-source"/>
          <p:cNvSpPr/>
          <p:nvPr/>
        </p:nvSpPr>
        <p:spPr>
          <a:xfrm>
            <a:off x="3915156" y="42725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4 ↔ N05"/>
          <p:cNvSpPr txBox="1"/>
          <p:nvPr/>
        </p:nvSpPr>
        <p:spPr>
          <a:xfrm>
            <a:off x="2957170" y="418270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N05</a:t>
            </a:r>
          </a:p>
        </p:txBody>
      </p:sp>
      <p:sp>
        <p:nvSpPr>
          <p:cNvPr id="24" name="E07-source"/>
          <p:cNvSpPr/>
          <p:nvPr/>
        </p:nvSpPr>
        <p:spPr>
          <a:xfrm>
            <a:off x="3915156" y="44592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E07 → N07"/>
          <p:cNvSpPr txBox="1"/>
          <p:nvPr/>
        </p:nvSpPr>
        <p:spPr>
          <a:xfrm>
            <a:off x="2957170" y="43693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N07</a:t>
            </a:r>
          </a:p>
        </p:txBody>
      </p:sp>
      <p:sp>
        <p:nvSpPr>
          <p:cNvPr id="26" name="E08-source"/>
          <p:cNvSpPr/>
          <p:nvPr/>
        </p:nvSpPr>
        <p:spPr>
          <a:xfrm>
            <a:off x="3915156" y="464591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E08 → N07"/>
          <p:cNvSpPr txBox="1"/>
          <p:nvPr/>
        </p:nvSpPr>
        <p:spPr>
          <a:xfrm>
            <a:off x="2957170" y="455608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N07</a:t>
            </a:r>
          </a:p>
        </p:txBody>
      </p:sp>
      <p:sp>
        <p:nvSpPr>
          <p:cNvPr id="28" name="rect-028"/>
          <p:cNvSpPr/>
          <p:nvPr/>
        </p:nvSpPr>
        <p:spPr>
          <a:xfrm>
            <a:off x="4453890" y="1557528"/>
            <a:ext cx="3893820" cy="134950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N02  内部工作逻辑"/>
          <p:cNvSpPr txBox="1"/>
          <p:nvPr/>
        </p:nvSpPr>
        <p:spPr>
          <a:xfrm>
            <a:off x="4549902" y="1585478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0" name="text-030: 1  axi_to_reg"/>
          <p:cNvSpPr txBox="1"/>
          <p:nvPr/>
        </p:nvSpPr>
        <p:spPr>
          <a:xfrm>
            <a:off x="5770721" y="1754886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axi_to_reg</a:t>
            </a:r>
          </a:p>
        </p:txBody>
      </p:sp>
      <p:sp>
        <p:nvSpPr>
          <p:cNvPr id="31" name="text-031: i_axi_translate"/>
          <p:cNvSpPr txBox="1"/>
          <p:nvPr/>
        </p:nvSpPr>
        <p:spPr>
          <a:xfrm>
            <a:off x="5741384" y="1937095"/>
            <a:ext cx="13188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i_axi_translate</a:t>
            </a:r>
          </a:p>
        </p:txBody>
      </p:sp>
      <p:sp>
        <p:nvSpPr>
          <p:cNvPr id="32" name="text-032: 内部 Reg 数据宽度"/>
          <p:cNvSpPr txBox="1"/>
          <p:nvPr/>
        </p:nvSpPr>
        <p:spPr>
          <a:xfrm>
            <a:off x="5772055" y="2107783"/>
            <a:ext cx="125749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 Reg 数据宽度</a:t>
            </a:r>
          </a:p>
        </p:txBody>
      </p:sp>
      <p:sp>
        <p:nvSpPr>
          <p:cNvPr id="33" name="text-033: 随 AxiDataWidth"/>
          <p:cNvSpPr txBox="1"/>
          <p:nvPr/>
        </p:nvSpPr>
        <p:spPr>
          <a:xfrm>
            <a:off x="5759787" y="2278471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随 AxiDataWidth</a:t>
            </a:r>
          </a:p>
        </p:txBody>
      </p:sp>
      <p:sp>
        <p:nvSpPr>
          <p:cNvPr id="34" name="rect-034"/>
          <p:cNvSpPr/>
          <p:nvPr/>
        </p:nvSpPr>
        <p:spPr>
          <a:xfrm>
            <a:off x="4533900" y="257632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1-target"/>
          <p:cNvSpPr/>
          <p:nvPr/>
        </p:nvSpPr>
        <p:spPr>
          <a:xfrm>
            <a:off x="4373880" y="27096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1 ↔ N01"/>
          <p:cNvSpPr txBox="1"/>
          <p:nvPr/>
        </p:nvSpPr>
        <p:spPr>
          <a:xfrm>
            <a:off x="4715256" y="26198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7" name="E02-source"/>
          <p:cNvSpPr/>
          <p:nvPr/>
        </p:nvSpPr>
        <p:spPr>
          <a:xfrm>
            <a:off x="8155686" y="270967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02 ↔ N03"/>
          <p:cNvSpPr txBox="1"/>
          <p:nvPr/>
        </p:nvSpPr>
        <p:spPr>
          <a:xfrm>
            <a:off x="7197700" y="261984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N03</a:t>
            </a:r>
          </a:p>
        </p:txBody>
      </p:sp>
      <p:sp>
        <p:nvSpPr>
          <p:cNvPr id="39" name="rect-039"/>
          <p:cNvSpPr/>
          <p:nvPr/>
        </p:nvSpPr>
        <p:spPr>
          <a:xfrm>
            <a:off x="4453890" y="3120390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N05  内部工作逻辑"/>
          <p:cNvSpPr txBox="1"/>
          <p:nvPr/>
        </p:nvSpPr>
        <p:spPr>
          <a:xfrm>
            <a:off x="4549902" y="3148340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41" name="text-041: 4  idma_backend_rw_axi"/>
          <p:cNvSpPr txBox="1"/>
          <p:nvPr/>
        </p:nvSpPr>
        <p:spPr>
          <a:xfrm>
            <a:off x="5380672" y="3317748"/>
            <a:ext cx="204025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idma_backend_rw_axi</a:t>
            </a:r>
          </a:p>
        </p:txBody>
      </p:sp>
      <p:sp>
        <p:nvSpPr>
          <p:cNvPr id="42" name="text-042: legalizer：长度 / 地址 / burst 合法化"/>
          <p:cNvSpPr txBox="1"/>
          <p:nvPr/>
        </p:nvSpPr>
        <p:spPr>
          <a:xfrm>
            <a:off x="5011426" y="3499957"/>
            <a:ext cx="277874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legalizer：长度 / 地址 / burst 合法化</a:t>
            </a:r>
          </a:p>
        </p:txBody>
      </p:sp>
      <p:sp>
        <p:nvSpPr>
          <p:cNvPr id="43" name="text-043: transport：读数据、移位 / 缓冲、写数据"/>
          <p:cNvSpPr txBox="1"/>
          <p:nvPr/>
        </p:nvSpPr>
        <p:spPr>
          <a:xfrm>
            <a:off x="5063566" y="3670645"/>
            <a:ext cx="26744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transport：读数据、移位 / 缓冲、写数据</a:t>
            </a:r>
          </a:p>
        </p:txBody>
      </p:sp>
      <p:sp>
        <p:nvSpPr>
          <p:cNvPr id="44" name="text-044: 独立 AXI read / write 通道"/>
          <p:cNvSpPr txBox="1"/>
          <p:nvPr/>
        </p:nvSpPr>
        <p:spPr>
          <a:xfrm>
            <a:off x="5376405" y="3841333"/>
            <a:ext cx="20487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AXI read / write 通道</a:t>
            </a:r>
          </a:p>
        </p:txBody>
      </p:sp>
      <p:sp>
        <p:nvSpPr>
          <p:cNvPr id="45" name="text-045: 当前 ErrorCap = NO_ERROR_HANDLING"/>
          <p:cNvSpPr txBox="1"/>
          <p:nvPr/>
        </p:nvSpPr>
        <p:spPr>
          <a:xfrm>
            <a:off x="5060499" y="4012021"/>
            <a:ext cx="2680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ErrorCap = NO_ERROR_HANDLING</a:t>
            </a:r>
          </a:p>
        </p:txBody>
      </p:sp>
      <p:sp>
        <p:nvSpPr>
          <p:cNvPr id="46" name="rect-046"/>
          <p:cNvSpPr/>
          <p:nvPr/>
        </p:nvSpPr>
        <p:spPr>
          <a:xfrm>
            <a:off x="4533900" y="430987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4-target"/>
          <p:cNvSpPr/>
          <p:nvPr/>
        </p:nvSpPr>
        <p:spPr>
          <a:xfrm>
            <a:off x="4373880" y="44432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4 ↔ N04"/>
          <p:cNvSpPr txBox="1"/>
          <p:nvPr/>
        </p:nvSpPr>
        <p:spPr>
          <a:xfrm>
            <a:off x="4715256" y="43533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N04</a:t>
            </a:r>
          </a:p>
        </p:txBody>
      </p:sp>
      <p:sp>
        <p:nvSpPr>
          <p:cNvPr id="49" name="E05-source"/>
          <p:cNvSpPr/>
          <p:nvPr/>
        </p:nvSpPr>
        <p:spPr>
          <a:xfrm>
            <a:off x="8155686" y="44432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5 ↔ N06"/>
          <p:cNvSpPr txBox="1"/>
          <p:nvPr/>
        </p:nvSpPr>
        <p:spPr>
          <a:xfrm>
            <a:off x="7197700" y="43533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N06</a:t>
            </a:r>
          </a:p>
        </p:txBody>
      </p:sp>
      <p:sp>
        <p:nvSpPr>
          <p:cNvPr id="51" name="rect-051"/>
          <p:cNvSpPr/>
          <p:nvPr/>
        </p:nvSpPr>
        <p:spPr>
          <a:xfrm>
            <a:off x="4453890" y="4853940"/>
            <a:ext cx="3893820" cy="119481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N07  状态/存储"/>
          <p:cNvSpPr txBox="1"/>
          <p:nvPr/>
        </p:nvSpPr>
        <p:spPr>
          <a:xfrm>
            <a:off x="4549902" y="4881890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状态/存储</a:t>
            </a:r>
          </a:p>
        </p:txBody>
      </p:sp>
      <p:sp>
        <p:nvSpPr>
          <p:cNvPr id="53" name="text-053: 6  transfer_id_gen"/>
          <p:cNvSpPr txBox="1"/>
          <p:nvPr/>
        </p:nvSpPr>
        <p:spPr>
          <a:xfrm>
            <a:off x="5554028" y="5051298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transfer_id_gen</a:t>
            </a:r>
          </a:p>
        </p:txBody>
      </p:sp>
      <p:sp>
        <p:nvSpPr>
          <p:cNvPr id="54" name="text-054: issue / retire → ID"/>
          <p:cNvSpPr txBox="1"/>
          <p:nvPr/>
        </p:nvSpPr>
        <p:spPr>
          <a:xfrm>
            <a:off x="5560428" y="5233507"/>
            <a:ext cx="16807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issue / retire → ID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553135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07-target"/>
          <p:cNvSpPr/>
          <p:nvPr/>
        </p:nvSpPr>
        <p:spPr>
          <a:xfrm>
            <a:off x="4373880" y="566470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7 ← N04"/>
          <p:cNvSpPr txBox="1"/>
          <p:nvPr/>
        </p:nvSpPr>
        <p:spPr>
          <a:xfrm>
            <a:off x="4715256" y="557488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N04</a:t>
            </a:r>
          </a:p>
        </p:txBody>
      </p:sp>
      <p:sp>
        <p:nvSpPr>
          <p:cNvPr id="58" name="E08-target"/>
          <p:cNvSpPr/>
          <p:nvPr/>
        </p:nvSpPr>
        <p:spPr>
          <a:xfrm>
            <a:off x="4373880" y="585139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8 ← N04"/>
          <p:cNvSpPr txBox="1"/>
          <p:nvPr/>
        </p:nvSpPr>
        <p:spPr>
          <a:xfrm>
            <a:off x="4715256" y="576157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N04</a:t>
            </a:r>
          </a:p>
        </p:txBody>
      </p:sp>
      <p:sp>
        <p:nvSpPr>
          <p:cNvPr id="60" name="E09-source"/>
          <p:cNvSpPr/>
          <p:nvPr/>
        </p:nvSpPr>
        <p:spPr>
          <a:xfrm>
            <a:off x="8155686" y="566470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9 → N03"/>
          <p:cNvSpPr txBox="1"/>
          <p:nvPr/>
        </p:nvSpPr>
        <p:spPr>
          <a:xfrm>
            <a:off x="7197700" y="557488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→ N03</a:t>
            </a:r>
          </a:p>
        </p:txBody>
      </p:sp>
      <p:sp>
        <p:nvSpPr>
          <p:cNvPr id="62" name="rect-062"/>
          <p:cNvSpPr/>
          <p:nvPr/>
        </p:nvSpPr>
        <p:spPr>
          <a:xfrm>
            <a:off x="8694420" y="1557528"/>
            <a:ext cx="3893820" cy="170688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N03  接口与配置"/>
          <p:cNvSpPr txBox="1"/>
          <p:nvPr/>
        </p:nvSpPr>
        <p:spPr>
          <a:xfrm>
            <a:off x="8790432" y="1585478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接口与配置</a:t>
            </a:r>
          </a:p>
        </p:txBody>
      </p:sp>
      <p:sp>
        <p:nvSpPr>
          <p:cNvPr id="64" name="text-064: 2  idma_reg64_1d / 2d"/>
          <p:cNvSpPr txBox="1"/>
          <p:nvPr/>
        </p:nvSpPr>
        <p:spPr>
          <a:xfrm>
            <a:off x="9664541" y="1754886"/>
            <a:ext cx="195357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idma_reg64_1d / 2d</a:t>
            </a:r>
          </a:p>
        </p:txBody>
      </p:sp>
      <p:sp>
        <p:nvSpPr>
          <p:cNvPr id="65" name="text-065: SRC / DST / LENGTH"/>
          <p:cNvSpPr txBox="1"/>
          <p:nvPr/>
        </p:nvSpPr>
        <p:spPr>
          <a:xfrm>
            <a:off x="9862299" y="1937095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SRC / DST / LENGTH</a:t>
            </a:r>
          </a:p>
        </p:txBody>
      </p:sp>
      <p:sp>
        <p:nvSpPr>
          <p:cNvPr id="66" name="text-066: STRIDE / REPS（2D）"/>
          <p:cNvSpPr txBox="1"/>
          <p:nvPr/>
        </p:nvSpPr>
        <p:spPr>
          <a:xfrm>
            <a:off x="9859232" y="2107783"/>
            <a:ext cx="15641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STRIDE / REPS（2D）</a:t>
            </a:r>
          </a:p>
        </p:txBody>
      </p:sp>
      <p:sp>
        <p:nvSpPr>
          <p:cNvPr id="67" name="text-067: NEXT_ID / DONE_ID"/>
          <p:cNvSpPr txBox="1"/>
          <p:nvPr/>
        </p:nvSpPr>
        <p:spPr>
          <a:xfrm>
            <a:off x="9902171" y="2278471"/>
            <a:ext cx="14783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NEXT_ID / DONE_ID</a:t>
            </a:r>
          </a:p>
        </p:txBody>
      </p:sp>
      <p:sp>
        <p:nvSpPr>
          <p:cNvPr id="68" name="text-068: 访问触发任务提交"/>
          <p:cNvSpPr txBox="1"/>
          <p:nvPr/>
        </p:nvSpPr>
        <p:spPr>
          <a:xfrm>
            <a:off x="10089261" y="2449159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访问触发任务提交</a:t>
            </a:r>
          </a:p>
        </p:txBody>
      </p:sp>
      <p:sp>
        <p:nvSpPr>
          <p:cNvPr id="69" name="rect-069"/>
          <p:cNvSpPr/>
          <p:nvPr/>
        </p:nvSpPr>
        <p:spPr>
          <a:xfrm>
            <a:off x="8774430" y="274701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E02-target"/>
          <p:cNvSpPr/>
          <p:nvPr/>
        </p:nvSpPr>
        <p:spPr>
          <a:xfrm>
            <a:off x="8614410" y="28803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2 ↔ N02"/>
          <p:cNvSpPr txBox="1"/>
          <p:nvPr/>
        </p:nvSpPr>
        <p:spPr>
          <a:xfrm>
            <a:off x="8955786" y="27905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N02</a:t>
            </a:r>
          </a:p>
        </p:txBody>
      </p:sp>
      <p:sp>
        <p:nvSpPr>
          <p:cNvPr id="72" name="E09-target"/>
          <p:cNvSpPr/>
          <p:nvPr/>
        </p:nvSpPr>
        <p:spPr>
          <a:xfrm>
            <a:off x="8614410" y="30670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9 ← N07"/>
          <p:cNvSpPr txBox="1"/>
          <p:nvPr/>
        </p:nvSpPr>
        <p:spPr>
          <a:xfrm>
            <a:off x="8955786" y="297722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← N07</a:t>
            </a:r>
          </a:p>
        </p:txBody>
      </p:sp>
      <p:sp>
        <p:nvSpPr>
          <p:cNvPr id="74" name="E03-source"/>
          <p:cNvSpPr/>
          <p:nvPr/>
        </p:nvSpPr>
        <p:spPr>
          <a:xfrm>
            <a:off x="12396216" y="288036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E03 → N04"/>
          <p:cNvSpPr txBox="1"/>
          <p:nvPr/>
        </p:nvSpPr>
        <p:spPr>
          <a:xfrm>
            <a:off x="11438230" y="279053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76" name="rect-076"/>
          <p:cNvSpPr/>
          <p:nvPr/>
        </p:nvSpPr>
        <p:spPr>
          <a:xfrm>
            <a:off x="8694420" y="3477768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N06  内部工作逻辑"/>
          <p:cNvSpPr txBox="1"/>
          <p:nvPr/>
        </p:nvSpPr>
        <p:spPr>
          <a:xfrm>
            <a:off x="8790432" y="3505718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8" name="text-078: 5  axi_rw_join"/>
          <p:cNvSpPr txBox="1"/>
          <p:nvPr/>
        </p:nvSpPr>
        <p:spPr>
          <a:xfrm>
            <a:off x="9967912" y="3675126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axi_rw_join</a:t>
            </a:r>
          </a:p>
        </p:txBody>
      </p:sp>
      <p:sp>
        <p:nvSpPr>
          <p:cNvPr id="79" name="text-079: 合并 AXI 读写端口"/>
          <p:cNvSpPr txBox="1"/>
          <p:nvPr/>
        </p:nvSpPr>
        <p:spPr>
          <a:xfrm>
            <a:off x="10012585" y="3857335"/>
            <a:ext cx="125749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合并 AXI 读写端口</a:t>
            </a:r>
          </a:p>
        </p:txBody>
      </p:sp>
      <p:sp>
        <p:nvSpPr>
          <p:cNvPr id="80" name="text-080: AXI master → AxiIn.dma"/>
          <p:cNvSpPr txBox="1"/>
          <p:nvPr/>
        </p:nvSpPr>
        <p:spPr>
          <a:xfrm>
            <a:off x="9681343" y="4028023"/>
            <a:ext cx="191997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master → AxiIn.dma</a:t>
            </a:r>
          </a:p>
        </p:txBody>
      </p:sp>
      <p:sp>
        <p:nvSpPr>
          <p:cNvPr id="81" name="rect-081"/>
          <p:cNvSpPr/>
          <p:nvPr/>
        </p:nvSpPr>
        <p:spPr>
          <a:xfrm>
            <a:off x="8774430" y="4325874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E05-target"/>
          <p:cNvSpPr/>
          <p:nvPr/>
        </p:nvSpPr>
        <p:spPr>
          <a:xfrm>
            <a:off x="8614410" y="44592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5 ↔ N05"/>
          <p:cNvSpPr txBox="1"/>
          <p:nvPr/>
        </p:nvSpPr>
        <p:spPr>
          <a:xfrm>
            <a:off x="8955786" y="43693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N05</a:t>
            </a:r>
          </a:p>
        </p:txBody>
      </p:sp>
      <p:sp>
        <p:nvSpPr>
          <p:cNvPr id="84" name="E06-source"/>
          <p:cNvSpPr/>
          <p:nvPr/>
        </p:nvSpPr>
        <p:spPr>
          <a:xfrm>
            <a:off x="12396216" y="44592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E06 ↔ P01"/>
          <p:cNvSpPr txBox="1"/>
          <p:nvPr/>
        </p:nvSpPr>
        <p:spPr>
          <a:xfrm>
            <a:off x="11438230" y="43693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P01</a:t>
            </a:r>
          </a:p>
        </p:txBody>
      </p:sp>
      <p:sp>
        <p:nvSpPr>
          <p:cNvPr id="86" name="rect-086"/>
          <p:cNvSpPr/>
          <p:nvPr/>
        </p:nvSpPr>
        <p:spPr>
          <a:xfrm>
            <a:off x="8694420" y="4869942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P01  外部/组边界"/>
          <p:cNvSpPr txBox="1"/>
          <p:nvPr/>
        </p:nvSpPr>
        <p:spPr>
          <a:xfrm>
            <a:off x="8790432" y="4897892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88" name="text-088: 主 AXI：AxiIn.dma"/>
          <p:cNvSpPr txBox="1"/>
          <p:nvPr/>
        </p:nvSpPr>
        <p:spPr>
          <a:xfrm>
            <a:off x="9877901" y="5067300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AXI：AxiIn.dma</a:t>
            </a:r>
          </a:p>
        </p:txBody>
      </p:sp>
      <p:sp>
        <p:nvSpPr>
          <p:cNvPr id="89" name="rect-089"/>
          <p:cNvSpPr/>
          <p:nvPr/>
        </p:nvSpPr>
        <p:spPr>
          <a:xfrm>
            <a:off x="8774430" y="537667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E06-target"/>
          <p:cNvSpPr/>
          <p:nvPr/>
        </p:nvSpPr>
        <p:spPr>
          <a:xfrm>
            <a:off x="8614410" y="55100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E06 ↔ N06"/>
          <p:cNvSpPr txBox="1"/>
          <p:nvPr/>
        </p:nvSpPr>
        <p:spPr>
          <a:xfrm>
            <a:off x="8955786" y="54201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92" name="text-092: AXI ↔ SRC / DST 内存"/>
          <p:cNvSpPr txBox="1"/>
          <p:nvPr/>
        </p:nvSpPr>
        <p:spPr>
          <a:xfrm>
            <a:off x="213360" y="6182959"/>
            <a:ext cx="16868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 ↔ SRC / DST 内存</a:t>
            </a:r>
          </a:p>
        </p:txBody>
      </p:sp>
      <p:sp>
        <p:nvSpPr>
          <p:cNvPr id="93" name="text-093: 既有控制宽度缺口未关闭；wrapper 未导出任务完成 IRQ；总线错误 IRQ"/>
          <p:cNvSpPr txBox="1"/>
          <p:nvPr/>
        </p:nvSpPr>
        <p:spPr>
          <a:xfrm>
            <a:off x="213360" y="6348313"/>
            <a:ext cx="50360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既有控制宽度缺口未关闭；wrapper 未导出任务完成 IRQ；总线错误 IRQ 是另一路。</a:t>
            </a:r>
          </a:p>
        </p:txBody>
      </p:sp>
      <p:sp>
        <p:nvSpPr>
          <p:cNvPr id="94" name="text-094: 配对端口表示图示连接；已有/规划状态见模块和连接表。方向与 A 版一致。虚线模块"/>
          <p:cNvSpPr txBox="1"/>
          <p:nvPr/>
        </p:nvSpPr>
        <p:spPr>
          <a:xfrm>
            <a:off x="213360" y="6897289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5  CVA6 Trap：异步中断与同步异常在提交路径汇合"/>
          <p:cNvSpPr txBox="1"/>
          <p:nvPr/>
        </p:nvSpPr>
        <p:spPr>
          <a:xfrm>
            <a:off x="213360" y="583753"/>
            <a:ext cx="451469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 CVA6 Trap：异步中断与同步异常在提交路径汇合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858774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296162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32411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平台中断输入"/>
          <p:cNvSpPr txBox="1"/>
          <p:nvPr/>
        </p:nvSpPr>
        <p:spPr>
          <a:xfrm>
            <a:off x="1563529" y="1493520"/>
            <a:ext cx="11934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平台中断输入</a:t>
            </a:r>
          </a:p>
        </p:txBody>
      </p:sp>
      <p:sp>
        <p:nvSpPr>
          <p:cNvPr id="7" name="text-007: PLIC：irq_i（M / S）"/>
          <p:cNvSpPr txBox="1"/>
          <p:nvPr/>
        </p:nvSpPr>
        <p:spPr>
          <a:xfrm>
            <a:off x="1356703" y="1675729"/>
            <a:ext cx="16071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PLIC：irq_i（M / S）</a:t>
            </a:r>
          </a:p>
        </p:txBody>
      </p:sp>
      <p:sp>
        <p:nvSpPr>
          <p:cNvPr id="8" name="text-008: CLINT：time_irq_i / ipi_i"/>
          <p:cNvSpPr txBox="1"/>
          <p:nvPr/>
        </p:nvSpPr>
        <p:spPr>
          <a:xfrm>
            <a:off x="1120540" y="1846417"/>
            <a:ext cx="207946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CLINT：time_irq_i / ipi_i</a:t>
            </a:r>
          </a:p>
        </p:txBody>
      </p:sp>
      <p:sp>
        <p:nvSpPr>
          <p:cNvPr id="9" name="text-009: 可选 CLIC 握手"/>
          <p:cNvSpPr txBox="1"/>
          <p:nvPr/>
        </p:nvSpPr>
        <p:spPr>
          <a:xfrm>
            <a:off x="1614335" y="2017105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 CLIC 握手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31495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244830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→ N02"/>
          <p:cNvSpPr txBox="1"/>
          <p:nvPr/>
        </p:nvSpPr>
        <p:spPr>
          <a:xfrm>
            <a:off x="2957170" y="235848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3" name="E09-source"/>
          <p:cNvSpPr/>
          <p:nvPr/>
        </p:nvSpPr>
        <p:spPr>
          <a:xfrm>
            <a:off x="3915156" y="263499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09 → N03"/>
          <p:cNvSpPr txBox="1"/>
          <p:nvPr/>
        </p:nvSpPr>
        <p:spPr>
          <a:xfrm>
            <a:off x="2957170" y="254517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N03</a:t>
            </a:r>
          </a:p>
        </p:txBody>
      </p:sp>
      <p:sp>
        <p:nvSpPr>
          <p:cNvPr id="15" name="rect-015"/>
          <p:cNvSpPr/>
          <p:nvPr/>
        </p:nvSpPr>
        <p:spPr>
          <a:xfrm>
            <a:off x="213360" y="3045714"/>
            <a:ext cx="3893820" cy="153619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N04  状态/存储"/>
          <p:cNvSpPr txBox="1"/>
          <p:nvPr/>
        </p:nvSpPr>
        <p:spPr>
          <a:xfrm>
            <a:off x="309372" y="3073664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7" name="text-017: 4  issue_stage"/>
          <p:cNvSpPr txBox="1"/>
          <p:nvPr/>
        </p:nvSpPr>
        <p:spPr>
          <a:xfrm>
            <a:off x="1486852" y="3243072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issue_stage</a:t>
            </a:r>
          </a:p>
        </p:txBody>
      </p:sp>
      <p:sp>
        <p:nvSpPr>
          <p:cNvPr id="18" name="text-018: / scoreboard"/>
          <p:cNvSpPr txBox="1"/>
          <p:nvPr/>
        </p:nvSpPr>
        <p:spPr>
          <a:xfrm>
            <a:off x="1620469" y="3425281"/>
            <a:ext cx="10796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/ scoreboard</a:t>
            </a:r>
          </a:p>
        </p:txBody>
      </p:sp>
      <p:sp>
        <p:nvSpPr>
          <p:cNvPr id="19" name="text-019: 指令与结果关联"/>
          <p:cNvSpPr txBox="1"/>
          <p:nvPr/>
        </p:nvSpPr>
        <p:spPr>
          <a:xfrm>
            <a:off x="1669542" y="3595969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指令与结果关联</a:t>
            </a:r>
          </a:p>
        </p:txBody>
      </p:sp>
      <p:sp>
        <p:nvSpPr>
          <p:cNvPr id="20" name="text-020: ex 随指令保存"/>
          <p:cNvSpPr txBox="1"/>
          <p:nvPr/>
        </p:nvSpPr>
        <p:spPr>
          <a:xfrm>
            <a:off x="1672609" y="3766657"/>
            <a:ext cx="97532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 随指令保存</a:t>
            </a:r>
          </a:p>
        </p:txBody>
      </p:sp>
      <p:sp>
        <p:nvSpPr>
          <p:cNvPr id="21" name="rect-021"/>
          <p:cNvSpPr/>
          <p:nvPr/>
        </p:nvSpPr>
        <p:spPr>
          <a:xfrm>
            <a:off x="293370" y="406450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03-target"/>
          <p:cNvSpPr/>
          <p:nvPr/>
        </p:nvSpPr>
        <p:spPr>
          <a:xfrm>
            <a:off x="133350" y="41978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3 ← N03"/>
          <p:cNvSpPr txBox="1"/>
          <p:nvPr/>
        </p:nvSpPr>
        <p:spPr>
          <a:xfrm>
            <a:off x="474726" y="41080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24" name="E05-target"/>
          <p:cNvSpPr/>
          <p:nvPr/>
        </p:nvSpPr>
        <p:spPr>
          <a:xfrm>
            <a:off x="133350" y="43845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E05 ← N06"/>
          <p:cNvSpPr txBox="1"/>
          <p:nvPr/>
        </p:nvSpPr>
        <p:spPr>
          <a:xfrm>
            <a:off x="474726" y="42947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N06</a:t>
            </a:r>
          </a:p>
        </p:txBody>
      </p:sp>
      <p:sp>
        <p:nvSpPr>
          <p:cNvPr id="26" name="E04-source"/>
          <p:cNvSpPr/>
          <p:nvPr/>
        </p:nvSpPr>
        <p:spPr>
          <a:xfrm>
            <a:off x="3915156" y="41978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E04 → N05"/>
          <p:cNvSpPr txBox="1"/>
          <p:nvPr/>
        </p:nvSpPr>
        <p:spPr>
          <a:xfrm>
            <a:off x="2957170" y="41080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N05</a:t>
            </a:r>
          </a:p>
        </p:txBody>
      </p:sp>
      <p:sp>
        <p:nvSpPr>
          <p:cNvPr id="28" name="rect-028"/>
          <p:cNvSpPr/>
          <p:nvPr/>
        </p:nvSpPr>
        <p:spPr>
          <a:xfrm>
            <a:off x="213360" y="4795266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P01  外部/组边界"/>
          <p:cNvSpPr txBox="1"/>
          <p:nvPr/>
        </p:nvSpPr>
        <p:spPr>
          <a:xfrm>
            <a:off x="309372" y="4823216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30" name="text-030: 处理程序取指（逻辑结果）"/>
          <p:cNvSpPr txBox="1"/>
          <p:nvPr/>
        </p:nvSpPr>
        <p:spPr>
          <a:xfrm>
            <a:off x="1293495" y="4992624"/>
            <a:ext cx="17335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处理程序取指（逻辑结果）</a:t>
            </a:r>
          </a:p>
        </p:txBody>
      </p:sp>
      <p:sp>
        <p:nvSpPr>
          <p:cNvPr id="31" name="rect-031"/>
          <p:cNvSpPr/>
          <p:nvPr/>
        </p:nvSpPr>
        <p:spPr>
          <a:xfrm>
            <a:off x="293370" y="530199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08-target"/>
          <p:cNvSpPr/>
          <p:nvPr/>
        </p:nvSpPr>
        <p:spPr>
          <a:xfrm>
            <a:off x="133350" y="54353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E08 ← N07"/>
          <p:cNvSpPr txBox="1"/>
          <p:nvPr/>
        </p:nvSpPr>
        <p:spPr>
          <a:xfrm>
            <a:off x="474726" y="534552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← N07</a:t>
            </a:r>
          </a:p>
        </p:txBody>
      </p:sp>
      <p:sp>
        <p:nvSpPr>
          <p:cNvPr id="34" name="rect-034"/>
          <p:cNvSpPr/>
          <p:nvPr/>
        </p:nvSpPr>
        <p:spPr>
          <a:xfrm>
            <a:off x="4453890" y="1296162"/>
            <a:ext cx="3893820" cy="170688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N02  接口与配置"/>
          <p:cNvSpPr txBox="1"/>
          <p:nvPr/>
        </p:nvSpPr>
        <p:spPr>
          <a:xfrm>
            <a:off x="4549902" y="1324112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接口与配置</a:t>
            </a:r>
          </a:p>
        </p:txBody>
      </p:sp>
      <p:sp>
        <p:nvSpPr>
          <p:cNvPr id="36" name="text-036: 2  csr_regfile"/>
          <p:cNvSpPr txBox="1"/>
          <p:nvPr/>
        </p:nvSpPr>
        <p:spPr>
          <a:xfrm>
            <a:off x="5727382" y="1493520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csr_regfile</a:t>
            </a:r>
          </a:p>
        </p:txBody>
      </p:sp>
      <p:sp>
        <p:nvSpPr>
          <p:cNvPr id="37" name="text-037: pending / enable / 委托"/>
          <p:cNvSpPr txBox="1"/>
          <p:nvPr/>
        </p:nvSpPr>
        <p:spPr>
          <a:xfrm>
            <a:off x="5459216" y="1675729"/>
            <a:ext cx="188316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 / 委托</a:t>
            </a:r>
          </a:p>
        </p:txBody>
      </p:sp>
      <p:sp>
        <p:nvSpPr>
          <p:cNvPr id="38" name="text-038: mip / mie / mstatus …"/>
          <p:cNvSpPr txBox="1"/>
          <p:nvPr/>
        </p:nvSpPr>
        <p:spPr>
          <a:xfrm>
            <a:off x="5480685" y="1846417"/>
            <a:ext cx="18402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mip / mie / mstatus …</a:t>
            </a:r>
          </a:p>
        </p:txBody>
      </p:sp>
      <p:sp>
        <p:nvSpPr>
          <p:cNvPr id="39" name="text-039: trap 状态：epc / cause / tval"/>
          <p:cNvSpPr txBox="1"/>
          <p:nvPr/>
        </p:nvSpPr>
        <p:spPr>
          <a:xfrm>
            <a:off x="5238388" y="2017105"/>
            <a:ext cx="232482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 状态：epc / cause / tval</a:t>
            </a:r>
          </a:p>
        </p:txBody>
      </p:sp>
      <p:sp>
        <p:nvSpPr>
          <p:cNvPr id="40" name="text-040: trap_vector_base / eret"/>
          <p:cNvSpPr txBox="1"/>
          <p:nvPr/>
        </p:nvSpPr>
        <p:spPr>
          <a:xfrm>
            <a:off x="5422411" y="2187793"/>
            <a:ext cx="195677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trap_vector_base / eret</a:t>
            </a:r>
          </a:p>
        </p:txBody>
      </p:sp>
      <p:sp>
        <p:nvSpPr>
          <p:cNvPr id="41" name="rect-041"/>
          <p:cNvSpPr/>
          <p:nvPr/>
        </p:nvSpPr>
        <p:spPr>
          <a:xfrm>
            <a:off x="4533900" y="248564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1-target"/>
          <p:cNvSpPr/>
          <p:nvPr/>
        </p:nvSpPr>
        <p:spPr>
          <a:xfrm>
            <a:off x="4373880" y="26189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1 ← N01"/>
          <p:cNvSpPr txBox="1"/>
          <p:nvPr/>
        </p:nvSpPr>
        <p:spPr>
          <a:xfrm>
            <a:off x="4715256" y="25291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44" name="E06-target"/>
          <p:cNvSpPr/>
          <p:nvPr/>
        </p:nvSpPr>
        <p:spPr>
          <a:xfrm>
            <a:off x="4373880" y="28056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6 ← N05"/>
          <p:cNvSpPr txBox="1"/>
          <p:nvPr/>
        </p:nvSpPr>
        <p:spPr>
          <a:xfrm>
            <a:off x="4715256" y="27158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← N05</a:t>
            </a:r>
          </a:p>
        </p:txBody>
      </p:sp>
      <p:sp>
        <p:nvSpPr>
          <p:cNvPr id="46" name="E02-source"/>
          <p:cNvSpPr/>
          <p:nvPr/>
        </p:nvSpPr>
        <p:spPr>
          <a:xfrm>
            <a:off x="8155686" y="26189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 → N03"/>
          <p:cNvSpPr txBox="1"/>
          <p:nvPr/>
        </p:nvSpPr>
        <p:spPr>
          <a:xfrm>
            <a:off x="7197700" y="25291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8" name="E07-source"/>
          <p:cNvSpPr/>
          <p:nvPr/>
        </p:nvSpPr>
        <p:spPr>
          <a:xfrm>
            <a:off x="8155686" y="28056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7 → N07"/>
          <p:cNvSpPr txBox="1"/>
          <p:nvPr/>
        </p:nvSpPr>
        <p:spPr>
          <a:xfrm>
            <a:off x="7197700" y="27158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N07</a:t>
            </a:r>
          </a:p>
        </p:txBody>
      </p:sp>
      <p:sp>
        <p:nvSpPr>
          <p:cNvPr id="50" name="rect-050"/>
          <p:cNvSpPr/>
          <p:nvPr/>
        </p:nvSpPr>
        <p:spPr>
          <a:xfrm>
            <a:off x="4453890" y="3216402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N05  内部工作逻辑"/>
          <p:cNvSpPr txBox="1"/>
          <p:nvPr/>
        </p:nvSpPr>
        <p:spPr>
          <a:xfrm>
            <a:off x="4549902" y="324435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52" name="text-052: 5  commit_stage"/>
          <p:cNvSpPr txBox="1"/>
          <p:nvPr/>
        </p:nvSpPr>
        <p:spPr>
          <a:xfrm>
            <a:off x="5684044" y="3413760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commit_stage</a:t>
            </a:r>
          </a:p>
        </p:txBody>
      </p:sp>
      <p:sp>
        <p:nvSpPr>
          <p:cNvPr id="53" name="text-053: 按提交顺序选异常"/>
          <p:cNvSpPr txBox="1"/>
          <p:nvPr/>
        </p:nvSpPr>
        <p:spPr>
          <a:xfrm>
            <a:off x="5848731" y="3595969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按提交顺序选异常</a:t>
            </a:r>
          </a:p>
        </p:txBody>
      </p:sp>
      <p:sp>
        <p:nvSpPr>
          <p:cNvPr id="54" name="text-054: 阻止错误指令提交"/>
          <p:cNvSpPr txBox="1"/>
          <p:nvPr/>
        </p:nvSpPr>
        <p:spPr>
          <a:xfrm>
            <a:off x="5848731" y="3766657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阻止错误指令提交</a:t>
            </a:r>
          </a:p>
        </p:txBody>
      </p:sp>
      <p:sp>
        <p:nvSpPr>
          <p:cNvPr id="55" name="text-055: ex_commit → CSR"/>
          <p:cNvSpPr txBox="1"/>
          <p:nvPr/>
        </p:nvSpPr>
        <p:spPr>
          <a:xfrm>
            <a:off x="5719915" y="3937345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→ CSR</a:t>
            </a:r>
          </a:p>
        </p:txBody>
      </p:sp>
      <p:sp>
        <p:nvSpPr>
          <p:cNvPr id="56" name="rect-056"/>
          <p:cNvSpPr/>
          <p:nvPr/>
        </p:nvSpPr>
        <p:spPr>
          <a:xfrm>
            <a:off x="4533900" y="4235196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E04-target"/>
          <p:cNvSpPr/>
          <p:nvPr/>
        </p:nvSpPr>
        <p:spPr>
          <a:xfrm>
            <a:off x="4373880" y="43685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 ← N04"/>
          <p:cNvSpPr txBox="1"/>
          <p:nvPr/>
        </p:nvSpPr>
        <p:spPr>
          <a:xfrm>
            <a:off x="4715256" y="427872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N04</a:t>
            </a:r>
          </a:p>
        </p:txBody>
      </p:sp>
      <p:sp>
        <p:nvSpPr>
          <p:cNvPr id="59" name="E06-source"/>
          <p:cNvSpPr/>
          <p:nvPr/>
        </p:nvSpPr>
        <p:spPr>
          <a:xfrm>
            <a:off x="8155686" y="436854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6 → N02"/>
          <p:cNvSpPr txBox="1"/>
          <p:nvPr/>
        </p:nvSpPr>
        <p:spPr>
          <a:xfrm>
            <a:off x="7197700" y="427872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→ N02</a:t>
            </a:r>
          </a:p>
        </p:txBody>
      </p:sp>
      <p:sp>
        <p:nvSpPr>
          <p:cNvPr id="61" name="E10-source"/>
          <p:cNvSpPr/>
          <p:nvPr/>
        </p:nvSpPr>
        <p:spPr>
          <a:xfrm>
            <a:off x="8155686" y="45552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10 → N07"/>
          <p:cNvSpPr txBox="1"/>
          <p:nvPr/>
        </p:nvSpPr>
        <p:spPr>
          <a:xfrm>
            <a:off x="7197700" y="44654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→ N07</a:t>
            </a:r>
          </a:p>
        </p:txBody>
      </p:sp>
      <p:sp>
        <p:nvSpPr>
          <p:cNvPr id="63" name="rect-063"/>
          <p:cNvSpPr/>
          <p:nvPr/>
        </p:nvSpPr>
        <p:spPr>
          <a:xfrm>
            <a:off x="8694420" y="1296162"/>
            <a:ext cx="3893820" cy="17068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N03  内部工作逻辑"/>
          <p:cNvSpPr txBox="1"/>
          <p:nvPr/>
        </p:nvSpPr>
        <p:spPr>
          <a:xfrm>
            <a:off x="8790432" y="132411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65" name="text-065: 3  decoder / id_stage"/>
          <p:cNvSpPr txBox="1"/>
          <p:nvPr/>
        </p:nvSpPr>
        <p:spPr>
          <a:xfrm>
            <a:off x="9664541" y="1493520"/>
            <a:ext cx="195357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decoder / id_stage</a:t>
            </a:r>
          </a:p>
        </p:txBody>
      </p:sp>
      <p:sp>
        <p:nvSpPr>
          <p:cNvPr id="66" name="text-066: 结合特权级与 IRQ 控制"/>
          <p:cNvSpPr txBox="1"/>
          <p:nvPr/>
        </p:nvSpPr>
        <p:spPr>
          <a:xfrm>
            <a:off x="9889903" y="1675729"/>
            <a:ext cx="15028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结合特权级与 IRQ 控制</a:t>
            </a:r>
          </a:p>
        </p:txBody>
      </p:sp>
      <p:sp>
        <p:nvSpPr>
          <p:cNvPr id="67" name="text-067: 选出可接受的中断"/>
          <p:cNvSpPr txBox="1"/>
          <p:nvPr/>
        </p:nvSpPr>
        <p:spPr>
          <a:xfrm>
            <a:off x="10089261" y="1846417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选出可接受的中断</a:t>
            </a:r>
          </a:p>
        </p:txBody>
      </p:sp>
      <p:sp>
        <p:nvSpPr>
          <p:cNvPr id="68" name="text-068: 或生成译码异常"/>
          <p:cNvSpPr txBox="1"/>
          <p:nvPr/>
        </p:nvSpPr>
        <p:spPr>
          <a:xfrm>
            <a:off x="10150602" y="2017105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或生成译码异常</a:t>
            </a:r>
          </a:p>
        </p:txBody>
      </p:sp>
      <p:sp>
        <p:nvSpPr>
          <p:cNvPr id="69" name="text-069: 写入指令的 ex 信息"/>
          <p:cNvSpPr txBox="1"/>
          <p:nvPr/>
        </p:nvSpPr>
        <p:spPr>
          <a:xfrm>
            <a:off x="9991115" y="2187793"/>
            <a:ext cx="1300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写入指令的 ex 信息</a:t>
            </a:r>
          </a:p>
        </p:txBody>
      </p:sp>
      <p:sp>
        <p:nvSpPr>
          <p:cNvPr id="70" name="rect-070"/>
          <p:cNvSpPr/>
          <p:nvPr/>
        </p:nvSpPr>
        <p:spPr>
          <a:xfrm>
            <a:off x="8774430" y="248564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E02-target"/>
          <p:cNvSpPr/>
          <p:nvPr/>
        </p:nvSpPr>
        <p:spPr>
          <a:xfrm>
            <a:off x="8614410" y="26189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2 ← N02"/>
          <p:cNvSpPr txBox="1"/>
          <p:nvPr/>
        </p:nvSpPr>
        <p:spPr>
          <a:xfrm>
            <a:off x="8955786" y="25291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73" name="E09-target"/>
          <p:cNvSpPr/>
          <p:nvPr/>
        </p:nvSpPr>
        <p:spPr>
          <a:xfrm>
            <a:off x="8614410" y="280568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9 ← N01"/>
          <p:cNvSpPr txBox="1"/>
          <p:nvPr/>
        </p:nvSpPr>
        <p:spPr>
          <a:xfrm>
            <a:off x="8955786" y="271585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N01</a:t>
            </a:r>
          </a:p>
        </p:txBody>
      </p:sp>
      <p:sp>
        <p:nvSpPr>
          <p:cNvPr id="75" name="E03-source"/>
          <p:cNvSpPr/>
          <p:nvPr/>
        </p:nvSpPr>
        <p:spPr>
          <a:xfrm>
            <a:off x="12396216" y="261899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3 → N04"/>
          <p:cNvSpPr txBox="1"/>
          <p:nvPr/>
        </p:nvSpPr>
        <p:spPr>
          <a:xfrm>
            <a:off x="11438230" y="252916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77" name="rect-077"/>
          <p:cNvSpPr/>
          <p:nvPr/>
        </p:nvSpPr>
        <p:spPr>
          <a:xfrm>
            <a:off x="8694420" y="3216402"/>
            <a:ext cx="3893820" cy="117881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N06  内部工作逻辑"/>
          <p:cNvSpPr txBox="1"/>
          <p:nvPr/>
        </p:nvSpPr>
        <p:spPr>
          <a:xfrm>
            <a:off x="8790432" y="3244352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内部工作逻辑</a:t>
            </a:r>
          </a:p>
        </p:txBody>
      </p:sp>
      <p:sp>
        <p:nvSpPr>
          <p:cNvPr id="79" name="text-079: 执行 / 访存异常"/>
          <p:cNvSpPr txBox="1"/>
          <p:nvPr/>
        </p:nvSpPr>
        <p:spPr>
          <a:xfrm>
            <a:off x="10044589" y="3413760"/>
            <a:ext cx="11934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/ 访存异常</a:t>
            </a:r>
          </a:p>
        </p:txBody>
      </p:sp>
      <p:sp>
        <p:nvSpPr>
          <p:cNvPr id="80" name="text-080: 非法操作 / 访问故障等"/>
          <p:cNvSpPr txBox="1"/>
          <p:nvPr/>
        </p:nvSpPr>
        <p:spPr>
          <a:xfrm>
            <a:off x="9908305" y="3595969"/>
            <a:ext cx="146605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非法操作 / 访问故障等</a:t>
            </a:r>
          </a:p>
        </p:txBody>
      </p:sp>
      <p:sp>
        <p:nvSpPr>
          <p:cNvPr id="81" name="text-081: 结果携带 exception_t"/>
          <p:cNvSpPr txBox="1"/>
          <p:nvPr/>
        </p:nvSpPr>
        <p:spPr>
          <a:xfrm>
            <a:off x="9856165" y="3766657"/>
            <a:ext cx="15703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结果携带 exception_t</a:t>
            </a:r>
          </a:p>
        </p:txBody>
      </p:sp>
      <p:sp>
        <p:nvSpPr>
          <p:cNvPr id="82" name="rect-082"/>
          <p:cNvSpPr/>
          <p:nvPr/>
        </p:nvSpPr>
        <p:spPr>
          <a:xfrm>
            <a:off x="8774430" y="406450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E05-source"/>
          <p:cNvSpPr/>
          <p:nvPr/>
        </p:nvSpPr>
        <p:spPr>
          <a:xfrm>
            <a:off x="12396216" y="41978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E05 → N04"/>
          <p:cNvSpPr txBox="1"/>
          <p:nvPr/>
        </p:nvSpPr>
        <p:spPr>
          <a:xfrm>
            <a:off x="11438230" y="41080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N04</a:t>
            </a:r>
          </a:p>
        </p:txBody>
      </p:sp>
      <p:sp>
        <p:nvSpPr>
          <p:cNvPr id="85" name="rect-085"/>
          <p:cNvSpPr/>
          <p:nvPr/>
        </p:nvSpPr>
        <p:spPr>
          <a:xfrm>
            <a:off x="8694420" y="4608576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N07  内部工作逻辑"/>
          <p:cNvSpPr txBox="1"/>
          <p:nvPr/>
        </p:nvSpPr>
        <p:spPr>
          <a:xfrm>
            <a:off x="8790432" y="4636526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87" name="text-087: 6  controller + frontend"/>
          <p:cNvSpPr txBox="1"/>
          <p:nvPr/>
        </p:nvSpPr>
        <p:spPr>
          <a:xfrm>
            <a:off x="9534525" y="4805934"/>
            <a:ext cx="22136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controller + frontend</a:t>
            </a:r>
          </a:p>
        </p:txBody>
      </p:sp>
      <p:sp>
        <p:nvSpPr>
          <p:cNvPr id="88" name="text-088: flush 错误路径流水线"/>
          <p:cNvSpPr txBox="1"/>
          <p:nvPr/>
        </p:nvSpPr>
        <p:spPr>
          <a:xfrm>
            <a:off x="9911372" y="4988143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flush 错误路径流水线</a:t>
            </a:r>
          </a:p>
        </p:txBody>
      </p:sp>
      <p:sp>
        <p:nvSpPr>
          <p:cNvPr id="89" name="text-089: PC 转向 trap 入口"/>
          <p:cNvSpPr txBox="1"/>
          <p:nvPr/>
        </p:nvSpPr>
        <p:spPr>
          <a:xfrm>
            <a:off x="9975780" y="5158831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PC 转向 trap 入口</a:t>
            </a:r>
          </a:p>
        </p:txBody>
      </p:sp>
      <p:sp>
        <p:nvSpPr>
          <p:cNvPr id="90" name="text-090: xRET 恢复返回 PC"/>
          <p:cNvSpPr txBox="1"/>
          <p:nvPr/>
        </p:nvSpPr>
        <p:spPr>
          <a:xfrm>
            <a:off x="10015652" y="5329519"/>
            <a:ext cx="12513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xRET 恢复返回 PC</a:t>
            </a:r>
          </a:p>
        </p:txBody>
      </p:sp>
      <p:sp>
        <p:nvSpPr>
          <p:cNvPr id="91" name="rect-091"/>
          <p:cNvSpPr/>
          <p:nvPr/>
        </p:nvSpPr>
        <p:spPr>
          <a:xfrm>
            <a:off x="8774430" y="562737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E07-target"/>
          <p:cNvSpPr/>
          <p:nvPr/>
        </p:nvSpPr>
        <p:spPr>
          <a:xfrm>
            <a:off x="8614410" y="57607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E07 ← N02"/>
          <p:cNvSpPr txBox="1"/>
          <p:nvPr/>
        </p:nvSpPr>
        <p:spPr>
          <a:xfrm>
            <a:off x="8955786" y="567089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N02</a:t>
            </a:r>
          </a:p>
        </p:txBody>
      </p:sp>
      <p:sp>
        <p:nvSpPr>
          <p:cNvPr id="94" name="E10-target"/>
          <p:cNvSpPr/>
          <p:nvPr/>
        </p:nvSpPr>
        <p:spPr>
          <a:xfrm>
            <a:off x="8614410" y="594741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E10 ← N05"/>
          <p:cNvSpPr txBox="1"/>
          <p:nvPr/>
        </p:nvSpPr>
        <p:spPr>
          <a:xfrm>
            <a:off x="8955786" y="585758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← N05</a:t>
            </a:r>
          </a:p>
        </p:txBody>
      </p:sp>
      <p:sp>
        <p:nvSpPr>
          <p:cNvPr id="96" name="E08-source"/>
          <p:cNvSpPr/>
          <p:nvPr/>
        </p:nvSpPr>
        <p:spPr>
          <a:xfrm>
            <a:off x="12396216" y="57607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E08 → P01"/>
          <p:cNvSpPr txBox="1"/>
          <p:nvPr/>
        </p:nvSpPr>
        <p:spPr>
          <a:xfrm>
            <a:off x="11438230" y="567089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→ P01</a:t>
            </a:r>
          </a:p>
        </p:txBody>
      </p:sp>
      <p:sp>
        <p:nvSpPr>
          <p:cNvPr id="98" name="text-098: ex_commit / PC"/>
          <p:cNvSpPr txBox="1"/>
          <p:nvPr/>
        </p:nvSpPr>
        <p:spPr>
          <a:xfrm>
            <a:off x="213360" y="6278971"/>
            <a:ext cx="123908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ex_commit / PC</a:t>
            </a:r>
          </a:p>
        </p:txBody>
      </p:sp>
      <p:sp>
        <p:nvSpPr>
          <p:cNvPr id="99" name="text-099: CPU 开始执行处理程序"/>
          <p:cNvSpPr txBox="1"/>
          <p:nvPr/>
        </p:nvSpPr>
        <p:spPr>
          <a:xfrm>
            <a:off x="213360" y="6444325"/>
            <a:ext cx="142311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CPU 开始执行处理程序</a:t>
            </a:r>
          </a:p>
        </p:txBody>
      </p:sp>
      <p:sp>
        <p:nvSpPr>
          <p:cNvPr id="100" name="text-100: 图中软件处理程序不在硬件中：保存现场、处理设备 / 控制器、恢复现场，再执行返回"/>
          <p:cNvSpPr txBox="1"/>
          <p:nvPr/>
        </p:nvSpPr>
        <p:spPr>
          <a:xfrm>
            <a:off x="213360" y="6609679"/>
            <a:ext cx="52691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图中软件处理程序不在硬件中：保存现场、处理设备 / 控制器、恢复现场，再执行返回指令。</a:t>
            </a:r>
          </a:p>
        </p:txBody>
      </p:sp>
      <p:sp>
        <p:nvSpPr>
          <p:cNvPr id="101" name="text-101: 配对端口表示图示连接；已有/规划状态见模块和连接表。方向与 A 版一致。虚线模块"/>
          <p:cNvSpPr txBox="1"/>
          <p:nvPr/>
        </p:nvSpPr>
        <p:spPr>
          <a:xfrm>
            <a:off x="213360" y="7158655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A  LLC：描述符命中 / 缺失路径与共享数据 SRAM"/>
          <p:cNvSpPr txBox="1"/>
          <p:nvPr/>
        </p:nvSpPr>
        <p:spPr>
          <a:xfrm>
            <a:off x="213360" y="495742"/>
            <a:ext cx="450616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16A  LLC：描述符命中 / 缺失路径与共享数据 SRAM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770763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208151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内部工作逻辑"/>
          <p:cNvSpPr txBox="1"/>
          <p:nvPr/>
        </p:nvSpPr>
        <p:spPr>
          <a:xfrm>
            <a:off x="309372" y="123610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内部工作逻辑</a:t>
            </a:r>
          </a:p>
        </p:txBody>
      </p:sp>
      <p:sp>
        <p:nvSpPr>
          <p:cNvPr id="6" name="text-006: 1  isolate / demux"/>
          <p:cNvSpPr txBox="1"/>
          <p:nvPr/>
        </p:nvSpPr>
        <p:spPr>
          <a:xfrm>
            <a:off x="1313498" y="1405509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isolate / demux</a:t>
            </a:r>
          </a:p>
        </p:txBody>
      </p:sp>
      <p:sp>
        <p:nvSpPr>
          <p:cNvPr id="7" name="text-007: 入口隔离与 bypass"/>
          <p:cNvSpPr txBox="1"/>
          <p:nvPr/>
        </p:nvSpPr>
        <p:spPr>
          <a:xfrm>
            <a:off x="1513122" y="1587718"/>
            <a:ext cx="129429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入口隔离与 bypass</a:t>
            </a:r>
          </a:p>
        </p:txBody>
      </p:sp>
      <p:sp>
        <p:nvSpPr>
          <p:cNvPr id="8" name="text-008: chan_splitter / 仲裁"/>
          <p:cNvSpPr txBox="1"/>
          <p:nvPr/>
        </p:nvSpPr>
        <p:spPr>
          <a:xfrm>
            <a:off x="1338301" y="1758406"/>
            <a:ext cx="164393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chan_splitter / 仲裁</a:t>
            </a:r>
          </a:p>
        </p:txBody>
      </p:sp>
      <p:sp>
        <p:nvSpPr>
          <p:cNvPr id="9" name="text-009: AW / AR → 描述符"/>
          <p:cNvSpPr txBox="1"/>
          <p:nvPr/>
        </p:nvSpPr>
        <p:spPr>
          <a:xfrm>
            <a:off x="1494720" y="1929094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/ AR → 描述符</a:t>
            </a:r>
          </a:p>
        </p:txBody>
      </p:sp>
      <p:sp>
        <p:nvSpPr>
          <p:cNvPr id="10" name="rect-010"/>
          <p:cNvSpPr/>
          <p:nvPr/>
        </p:nvSpPr>
        <p:spPr>
          <a:xfrm>
            <a:off x="293370" y="2226945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E01-source"/>
          <p:cNvSpPr/>
          <p:nvPr/>
        </p:nvSpPr>
        <p:spPr>
          <a:xfrm>
            <a:off x="3915156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→ N02"/>
          <p:cNvSpPr txBox="1"/>
          <p:nvPr/>
        </p:nvSpPr>
        <p:spPr>
          <a:xfrm>
            <a:off x="2957170" y="227047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N02</a:t>
            </a:r>
          </a:p>
        </p:txBody>
      </p:sp>
      <p:sp>
        <p:nvSpPr>
          <p:cNvPr id="13" name="E08-source"/>
          <p:cNvSpPr/>
          <p:nvPr/>
        </p:nvSpPr>
        <p:spPr>
          <a:xfrm>
            <a:off x="3915156" y="254698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08 ↔ N07"/>
          <p:cNvSpPr txBox="1"/>
          <p:nvPr/>
        </p:nvSpPr>
        <p:spPr>
          <a:xfrm>
            <a:off x="2957170" y="245716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N07</a:t>
            </a:r>
          </a:p>
        </p:txBody>
      </p:sp>
      <p:sp>
        <p:nvSpPr>
          <p:cNvPr id="15" name="E10-source"/>
          <p:cNvSpPr/>
          <p:nvPr/>
        </p:nvSpPr>
        <p:spPr>
          <a:xfrm>
            <a:off x="3915156" y="273367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E10 ↔ N05"/>
          <p:cNvSpPr txBox="1"/>
          <p:nvPr/>
        </p:nvSpPr>
        <p:spPr>
          <a:xfrm>
            <a:off x="2957170" y="264385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N05</a:t>
            </a:r>
          </a:p>
        </p:txBody>
      </p:sp>
      <p:sp>
        <p:nvSpPr>
          <p:cNvPr id="17" name="rect-017"/>
          <p:cNvSpPr/>
          <p:nvPr/>
        </p:nvSpPr>
        <p:spPr>
          <a:xfrm>
            <a:off x="213360" y="3144393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N05  内部工作逻辑"/>
          <p:cNvSpPr txBox="1"/>
          <p:nvPr/>
        </p:nvSpPr>
        <p:spPr>
          <a:xfrm>
            <a:off x="309372" y="3172343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内部工作逻辑</a:t>
            </a:r>
          </a:p>
        </p:txBody>
      </p:sp>
      <p:sp>
        <p:nvSpPr>
          <p:cNvPr id="19" name="text-019: 5  read_unit / write_unit"/>
          <p:cNvSpPr txBox="1"/>
          <p:nvPr/>
        </p:nvSpPr>
        <p:spPr>
          <a:xfrm>
            <a:off x="1010126" y="3341751"/>
            <a:ext cx="230028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read_unit / write_unit</a:t>
            </a:r>
          </a:p>
        </p:txBody>
      </p:sp>
      <p:sp>
        <p:nvSpPr>
          <p:cNvPr id="20" name="text-020: 连接 AXI R / W / B"/>
          <p:cNvSpPr txBox="1"/>
          <p:nvPr/>
        </p:nvSpPr>
        <p:spPr>
          <a:xfrm>
            <a:off x="1418044" y="3523960"/>
            <a:ext cx="148445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连接 AXI R / W / B</a:t>
            </a:r>
          </a:p>
        </p:txBody>
      </p:sp>
      <p:sp>
        <p:nvSpPr>
          <p:cNvPr id="21" name="text-021: 访问选定的数据 way"/>
          <p:cNvSpPr txBox="1"/>
          <p:nvPr/>
        </p:nvSpPr>
        <p:spPr>
          <a:xfrm>
            <a:off x="1510055" y="3694648"/>
            <a:ext cx="1300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访问选定的数据 way</a:t>
            </a:r>
          </a:p>
        </p:txBody>
      </p:sp>
      <p:sp>
        <p:nvSpPr>
          <p:cNvPr id="22" name="rect-022"/>
          <p:cNvSpPr/>
          <p:nvPr/>
        </p:nvSpPr>
        <p:spPr>
          <a:xfrm>
            <a:off x="293370" y="399249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05-target"/>
          <p:cNvSpPr/>
          <p:nvPr/>
        </p:nvSpPr>
        <p:spPr>
          <a:xfrm>
            <a:off x="133350" y="412584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E05 ← N04"/>
          <p:cNvSpPr txBox="1"/>
          <p:nvPr/>
        </p:nvSpPr>
        <p:spPr>
          <a:xfrm>
            <a:off x="474726" y="403602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← N04</a:t>
            </a:r>
          </a:p>
        </p:txBody>
      </p:sp>
      <p:sp>
        <p:nvSpPr>
          <p:cNvPr id="25" name="E10-target"/>
          <p:cNvSpPr/>
          <p:nvPr/>
        </p:nvSpPr>
        <p:spPr>
          <a:xfrm>
            <a:off x="133350" y="431253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10 ↔ N01"/>
          <p:cNvSpPr txBox="1"/>
          <p:nvPr/>
        </p:nvSpPr>
        <p:spPr>
          <a:xfrm>
            <a:off x="474726" y="422271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N01</a:t>
            </a:r>
          </a:p>
        </p:txBody>
      </p:sp>
      <p:sp>
        <p:nvSpPr>
          <p:cNvPr id="27" name="E06-source"/>
          <p:cNvSpPr/>
          <p:nvPr/>
        </p:nvSpPr>
        <p:spPr>
          <a:xfrm>
            <a:off x="3915156" y="412584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6 ↔ N06"/>
          <p:cNvSpPr txBox="1"/>
          <p:nvPr/>
        </p:nvSpPr>
        <p:spPr>
          <a:xfrm>
            <a:off x="2957170" y="403602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N06</a:t>
            </a:r>
          </a:p>
        </p:txBody>
      </p:sp>
      <p:sp>
        <p:nvSpPr>
          <p:cNvPr id="29" name="rect-029"/>
          <p:cNvSpPr/>
          <p:nvPr/>
        </p:nvSpPr>
        <p:spPr>
          <a:xfrm>
            <a:off x="4453890" y="1208151"/>
            <a:ext cx="3893820" cy="153619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N02  内部工作逻辑"/>
          <p:cNvSpPr txBox="1"/>
          <p:nvPr/>
        </p:nvSpPr>
        <p:spPr>
          <a:xfrm>
            <a:off x="4549902" y="123610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1" name="text-031: 2  axi_llc_hit_miss"/>
          <p:cNvSpPr txBox="1"/>
          <p:nvPr/>
        </p:nvSpPr>
        <p:spPr>
          <a:xfrm>
            <a:off x="5510689" y="1405509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axi_llc_hit_miss</a:t>
            </a:r>
          </a:p>
        </p:txBody>
      </p:sp>
      <p:sp>
        <p:nvSpPr>
          <p:cNvPr id="32" name="text-032: tag_store / valid / dirty"/>
          <p:cNvSpPr txBox="1"/>
          <p:nvPr/>
        </p:nvSpPr>
        <p:spPr>
          <a:xfrm>
            <a:off x="5342668" y="1587718"/>
            <a:ext cx="211626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tag_store / valid / dirty</a:t>
            </a:r>
          </a:p>
        </p:txBody>
      </p:sp>
      <p:sp>
        <p:nvSpPr>
          <p:cNvPr id="33" name="text-033: 锁定与同 ID 顺序约束"/>
          <p:cNvSpPr txBox="1"/>
          <p:nvPr/>
        </p:nvSpPr>
        <p:spPr>
          <a:xfrm>
            <a:off x="5689244" y="1758406"/>
            <a:ext cx="142311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锁定与同 ID 顺序约束</a:t>
            </a:r>
          </a:p>
        </p:txBody>
      </p:sp>
      <p:sp>
        <p:nvSpPr>
          <p:cNvPr id="34" name="text-034: cache 或 SPM 地址判定"/>
          <p:cNvSpPr txBox="1"/>
          <p:nvPr/>
        </p:nvSpPr>
        <p:spPr>
          <a:xfrm>
            <a:off x="5594166" y="1929094"/>
            <a:ext cx="16132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或 SPM 地址判定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2226945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target"/>
          <p:cNvSpPr/>
          <p:nvPr/>
        </p:nvSpPr>
        <p:spPr>
          <a:xfrm>
            <a:off x="4373880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← N01"/>
          <p:cNvSpPr txBox="1"/>
          <p:nvPr/>
        </p:nvSpPr>
        <p:spPr>
          <a:xfrm>
            <a:off x="4715256" y="227047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N01</a:t>
            </a:r>
          </a:p>
        </p:txBody>
      </p:sp>
      <p:sp>
        <p:nvSpPr>
          <p:cNvPr id="38" name="E02-source"/>
          <p:cNvSpPr/>
          <p:nvPr/>
        </p:nvSpPr>
        <p:spPr>
          <a:xfrm>
            <a:off x="8155686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→ N03"/>
          <p:cNvSpPr txBox="1"/>
          <p:nvPr/>
        </p:nvSpPr>
        <p:spPr>
          <a:xfrm>
            <a:off x="7197700" y="227047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0" name="E04-source"/>
          <p:cNvSpPr/>
          <p:nvPr/>
        </p:nvSpPr>
        <p:spPr>
          <a:xfrm>
            <a:off x="8155686" y="254698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4 → N04"/>
          <p:cNvSpPr txBox="1"/>
          <p:nvPr/>
        </p:nvSpPr>
        <p:spPr>
          <a:xfrm>
            <a:off x="7197700" y="245716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→ N04</a:t>
            </a:r>
          </a:p>
        </p:txBody>
      </p:sp>
      <p:sp>
        <p:nvSpPr>
          <p:cNvPr id="42" name="rect-042"/>
          <p:cNvSpPr/>
          <p:nvPr/>
        </p:nvSpPr>
        <p:spPr>
          <a:xfrm>
            <a:off x="4453890" y="2957703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N04  内部工作逻辑"/>
          <p:cNvSpPr txBox="1"/>
          <p:nvPr/>
        </p:nvSpPr>
        <p:spPr>
          <a:xfrm>
            <a:off x="4549902" y="2985653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内部工作逻辑</a:t>
            </a:r>
          </a:p>
        </p:txBody>
      </p:sp>
      <p:sp>
        <p:nvSpPr>
          <p:cNvPr id="44" name="text-044: 4  merge_unit"/>
          <p:cNvSpPr txBox="1"/>
          <p:nvPr/>
        </p:nvSpPr>
        <p:spPr>
          <a:xfrm>
            <a:off x="5770721" y="3155061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merge_unit</a:t>
            </a:r>
          </a:p>
        </p:txBody>
      </p:sp>
      <p:sp>
        <p:nvSpPr>
          <p:cNvPr id="45" name="text-045: 汇合命中 / 补入路径"/>
          <p:cNvSpPr txBox="1"/>
          <p:nvPr/>
        </p:nvSpPr>
        <p:spPr>
          <a:xfrm>
            <a:off x="5729116" y="3337270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汇合命中 / 补入路径</a:t>
            </a:r>
          </a:p>
        </p:txBody>
      </p:sp>
      <p:sp>
        <p:nvSpPr>
          <p:cNvPr id="46" name="text-046: 分发 read / write"/>
          <p:cNvSpPr txBox="1"/>
          <p:nvPr/>
        </p:nvSpPr>
        <p:spPr>
          <a:xfrm>
            <a:off x="5698446" y="3507958"/>
            <a:ext cx="140470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分发 read / write</a:t>
            </a:r>
          </a:p>
        </p:txBody>
      </p:sp>
      <p:sp>
        <p:nvSpPr>
          <p:cNvPr id="47" name="rect-047"/>
          <p:cNvSpPr/>
          <p:nvPr/>
        </p:nvSpPr>
        <p:spPr>
          <a:xfrm>
            <a:off x="4533900" y="3805809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3-target"/>
          <p:cNvSpPr/>
          <p:nvPr/>
        </p:nvSpPr>
        <p:spPr>
          <a:xfrm>
            <a:off x="4373880" y="39391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3 ← N03"/>
          <p:cNvSpPr txBox="1"/>
          <p:nvPr/>
        </p:nvSpPr>
        <p:spPr>
          <a:xfrm>
            <a:off x="4715256" y="38493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50" name="E04-target"/>
          <p:cNvSpPr/>
          <p:nvPr/>
        </p:nvSpPr>
        <p:spPr>
          <a:xfrm>
            <a:off x="4373880" y="412584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4 ← N02"/>
          <p:cNvSpPr txBox="1"/>
          <p:nvPr/>
        </p:nvSpPr>
        <p:spPr>
          <a:xfrm>
            <a:off x="4715256" y="403602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← N02</a:t>
            </a:r>
          </a:p>
        </p:txBody>
      </p:sp>
      <p:sp>
        <p:nvSpPr>
          <p:cNvPr id="52" name="E05-source"/>
          <p:cNvSpPr/>
          <p:nvPr/>
        </p:nvSpPr>
        <p:spPr>
          <a:xfrm>
            <a:off x="8155686" y="393915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5 → N05"/>
          <p:cNvSpPr txBox="1"/>
          <p:nvPr/>
        </p:nvSpPr>
        <p:spPr>
          <a:xfrm>
            <a:off x="7197700" y="384933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→ N05</a:t>
            </a:r>
          </a:p>
        </p:txBody>
      </p:sp>
      <p:sp>
        <p:nvSpPr>
          <p:cNvPr id="54" name="rect-054"/>
          <p:cNvSpPr/>
          <p:nvPr/>
        </p:nvSpPr>
        <p:spPr>
          <a:xfrm>
            <a:off x="4453890" y="4536567"/>
            <a:ext cx="3893820" cy="1365504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N07  内部工作逻辑"/>
          <p:cNvSpPr txBox="1"/>
          <p:nvPr/>
        </p:nvSpPr>
        <p:spPr>
          <a:xfrm>
            <a:off x="4549902" y="4564517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内部工作逻辑</a:t>
            </a:r>
          </a:p>
        </p:txBody>
      </p:sp>
      <p:sp>
        <p:nvSpPr>
          <p:cNvPr id="56" name="text-056: 7  AXI 外存出口"/>
          <p:cNvSpPr txBox="1"/>
          <p:nvPr/>
        </p:nvSpPr>
        <p:spPr>
          <a:xfrm>
            <a:off x="5764054" y="4733925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AXI 外存出口</a:t>
            </a:r>
          </a:p>
        </p:txBody>
      </p:sp>
      <p:sp>
        <p:nvSpPr>
          <p:cNvPr id="57" name="text-057: bypass 与 refill / evict"/>
          <p:cNvSpPr txBox="1"/>
          <p:nvPr/>
        </p:nvSpPr>
        <p:spPr>
          <a:xfrm>
            <a:off x="5400942" y="4916134"/>
            <a:ext cx="19997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 与 refill / evict</a:t>
            </a:r>
          </a:p>
        </p:txBody>
      </p:sp>
      <p:sp>
        <p:nvSpPr>
          <p:cNvPr id="58" name="text-058: 经 axi_bypass_mux 汇合"/>
          <p:cNvSpPr txBox="1"/>
          <p:nvPr/>
        </p:nvSpPr>
        <p:spPr>
          <a:xfrm>
            <a:off x="5517490" y="5086822"/>
            <a:ext cx="176662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经 axi_bypass_mux 汇合</a:t>
            </a:r>
          </a:p>
        </p:txBody>
      </p:sp>
      <p:sp>
        <p:nvSpPr>
          <p:cNvPr id="59" name="rect-059"/>
          <p:cNvSpPr/>
          <p:nvPr/>
        </p:nvSpPr>
        <p:spPr>
          <a:xfrm>
            <a:off x="4533900" y="538467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08-target"/>
          <p:cNvSpPr/>
          <p:nvPr/>
        </p:nvSpPr>
        <p:spPr>
          <a:xfrm>
            <a:off x="4373880" y="551802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8 ↔ N01"/>
          <p:cNvSpPr txBox="1"/>
          <p:nvPr/>
        </p:nvSpPr>
        <p:spPr>
          <a:xfrm>
            <a:off x="4715256" y="542819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N01</a:t>
            </a:r>
          </a:p>
        </p:txBody>
      </p:sp>
      <p:sp>
        <p:nvSpPr>
          <p:cNvPr id="62" name="E09-target"/>
          <p:cNvSpPr/>
          <p:nvPr/>
        </p:nvSpPr>
        <p:spPr>
          <a:xfrm>
            <a:off x="4373880" y="570471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9 ↔ N03"/>
          <p:cNvSpPr txBox="1"/>
          <p:nvPr/>
        </p:nvSpPr>
        <p:spPr>
          <a:xfrm>
            <a:off x="4715256" y="561488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N03</a:t>
            </a:r>
          </a:p>
        </p:txBody>
      </p:sp>
      <p:sp>
        <p:nvSpPr>
          <p:cNvPr id="64" name="rect-064"/>
          <p:cNvSpPr/>
          <p:nvPr/>
        </p:nvSpPr>
        <p:spPr>
          <a:xfrm>
            <a:off x="8694420" y="1208151"/>
            <a:ext cx="3893820" cy="1722882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N03  内部工作逻辑"/>
          <p:cNvSpPr txBox="1"/>
          <p:nvPr/>
        </p:nvSpPr>
        <p:spPr>
          <a:xfrm>
            <a:off x="8790432" y="1236101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66" name="text-066: 3  evict → refill"/>
          <p:cNvSpPr txBox="1"/>
          <p:nvPr/>
        </p:nvSpPr>
        <p:spPr>
          <a:xfrm>
            <a:off x="9814560" y="1405509"/>
            <a:ext cx="165354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evict → refill</a:t>
            </a:r>
          </a:p>
        </p:txBody>
      </p:sp>
      <p:sp>
        <p:nvSpPr>
          <p:cNvPr id="67" name="text-067: 必要时写回脏行"/>
          <p:cNvSpPr txBox="1"/>
          <p:nvPr/>
        </p:nvSpPr>
        <p:spPr>
          <a:xfrm>
            <a:off x="10150602" y="1587718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68" name="text-068: 从外存补入 cache line"/>
          <p:cNvSpPr txBox="1"/>
          <p:nvPr/>
        </p:nvSpPr>
        <p:spPr>
          <a:xfrm>
            <a:off x="9834696" y="1758406"/>
            <a:ext cx="16132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从外存补入 cache line</a:t>
            </a:r>
          </a:p>
        </p:txBody>
      </p:sp>
      <p:sp>
        <p:nvSpPr>
          <p:cNvPr id="69" name="text-069: 完成后传递描述符"/>
          <p:cNvSpPr txBox="1"/>
          <p:nvPr/>
        </p:nvSpPr>
        <p:spPr>
          <a:xfrm>
            <a:off x="10089261" y="1929094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完成后传递描述符</a:t>
            </a:r>
          </a:p>
        </p:txBody>
      </p:sp>
      <p:sp>
        <p:nvSpPr>
          <p:cNvPr id="70" name="rect-070"/>
          <p:cNvSpPr/>
          <p:nvPr/>
        </p:nvSpPr>
        <p:spPr>
          <a:xfrm>
            <a:off x="8774430" y="2226945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E02-target"/>
          <p:cNvSpPr/>
          <p:nvPr/>
        </p:nvSpPr>
        <p:spPr>
          <a:xfrm>
            <a:off x="8614410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2 ← N02"/>
          <p:cNvSpPr txBox="1"/>
          <p:nvPr/>
        </p:nvSpPr>
        <p:spPr>
          <a:xfrm>
            <a:off x="8955786" y="227047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73" name="E03-source"/>
          <p:cNvSpPr/>
          <p:nvPr/>
        </p:nvSpPr>
        <p:spPr>
          <a:xfrm>
            <a:off x="12396216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3 → N04"/>
          <p:cNvSpPr txBox="1"/>
          <p:nvPr/>
        </p:nvSpPr>
        <p:spPr>
          <a:xfrm>
            <a:off x="11438230" y="227047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N04</a:t>
            </a:r>
          </a:p>
        </p:txBody>
      </p:sp>
      <p:sp>
        <p:nvSpPr>
          <p:cNvPr id="75" name="E07-source"/>
          <p:cNvSpPr/>
          <p:nvPr/>
        </p:nvSpPr>
        <p:spPr>
          <a:xfrm>
            <a:off x="12396216" y="254698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7 ↔ N06"/>
          <p:cNvSpPr txBox="1"/>
          <p:nvPr/>
        </p:nvSpPr>
        <p:spPr>
          <a:xfrm>
            <a:off x="11438230" y="245716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N06</a:t>
            </a:r>
          </a:p>
        </p:txBody>
      </p:sp>
      <p:sp>
        <p:nvSpPr>
          <p:cNvPr id="77" name="E09-source"/>
          <p:cNvSpPr/>
          <p:nvPr/>
        </p:nvSpPr>
        <p:spPr>
          <a:xfrm>
            <a:off x="12396216" y="273367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09 ↔ N07"/>
          <p:cNvSpPr txBox="1"/>
          <p:nvPr/>
        </p:nvSpPr>
        <p:spPr>
          <a:xfrm>
            <a:off x="11438230" y="264385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N07</a:t>
            </a:r>
          </a:p>
        </p:txBody>
      </p:sp>
      <p:sp>
        <p:nvSpPr>
          <p:cNvPr id="79" name="rect-079"/>
          <p:cNvSpPr/>
          <p:nvPr/>
        </p:nvSpPr>
        <p:spPr>
          <a:xfrm>
            <a:off x="8694420" y="3144393"/>
            <a:ext cx="3893820" cy="1536192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N06  状态/存储"/>
          <p:cNvSpPr txBox="1"/>
          <p:nvPr/>
        </p:nvSpPr>
        <p:spPr>
          <a:xfrm>
            <a:off x="8790432" y="3172343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81" name="text-081: 6  axi_llc_ways"/>
          <p:cNvSpPr txBox="1"/>
          <p:nvPr/>
        </p:nvSpPr>
        <p:spPr>
          <a:xfrm>
            <a:off x="9924574" y="3341751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axi_llc_ways</a:t>
            </a:r>
          </a:p>
        </p:txBody>
      </p:sp>
      <p:sp>
        <p:nvSpPr>
          <p:cNvPr id="82" name="text-082: read / write / evict / refill 仲裁"/>
          <p:cNvSpPr txBox="1"/>
          <p:nvPr/>
        </p:nvSpPr>
        <p:spPr>
          <a:xfrm>
            <a:off x="9261158" y="3523960"/>
            <a:ext cx="2760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 / write / evict / refill 仲裁</a:t>
            </a:r>
          </a:p>
        </p:txBody>
      </p:sp>
      <p:sp>
        <p:nvSpPr>
          <p:cNvPr id="83" name="text-083: 每个 way 的 SRAM"/>
          <p:cNvSpPr txBox="1"/>
          <p:nvPr/>
        </p:nvSpPr>
        <p:spPr>
          <a:xfrm>
            <a:off x="9997250" y="3694648"/>
            <a:ext cx="1288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 way 的 SRAM</a:t>
            </a:r>
          </a:p>
        </p:txBody>
      </p:sp>
      <p:sp>
        <p:nvSpPr>
          <p:cNvPr id="84" name="text-084: 按地址、way、byte strobe 访问"/>
          <p:cNvSpPr txBox="1"/>
          <p:nvPr/>
        </p:nvSpPr>
        <p:spPr>
          <a:xfrm>
            <a:off x="9552527" y="3865336"/>
            <a:ext cx="217760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按地址、way、byte strobe 访问</a:t>
            </a:r>
          </a:p>
        </p:txBody>
      </p:sp>
      <p:sp>
        <p:nvSpPr>
          <p:cNvPr id="85" name="rect-085"/>
          <p:cNvSpPr/>
          <p:nvPr/>
        </p:nvSpPr>
        <p:spPr>
          <a:xfrm>
            <a:off x="8774430" y="4163187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06-target"/>
          <p:cNvSpPr/>
          <p:nvPr/>
        </p:nvSpPr>
        <p:spPr>
          <a:xfrm>
            <a:off x="8614410" y="429653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6 ↔ N05"/>
          <p:cNvSpPr txBox="1"/>
          <p:nvPr/>
        </p:nvSpPr>
        <p:spPr>
          <a:xfrm>
            <a:off x="8955786" y="420671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N05</a:t>
            </a:r>
          </a:p>
        </p:txBody>
      </p:sp>
      <p:sp>
        <p:nvSpPr>
          <p:cNvPr id="88" name="E07-target"/>
          <p:cNvSpPr/>
          <p:nvPr/>
        </p:nvSpPr>
        <p:spPr>
          <a:xfrm>
            <a:off x="8614410" y="448322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9: E07 ↔ N03"/>
          <p:cNvSpPr txBox="1"/>
          <p:nvPr/>
        </p:nvSpPr>
        <p:spPr>
          <a:xfrm>
            <a:off x="8955786" y="439340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N03</a:t>
            </a:r>
          </a:p>
        </p:txBody>
      </p:sp>
      <p:sp>
        <p:nvSpPr>
          <p:cNvPr id="90" name="text-090: miss"/>
          <p:cNvSpPr txBox="1"/>
          <p:nvPr/>
        </p:nvSpPr>
        <p:spPr>
          <a:xfrm>
            <a:off x="213360" y="6036274"/>
            <a:ext cx="44165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miss</a:t>
            </a:r>
          </a:p>
        </p:txBody>
      </p:sp>
      <p:sp>
        <p:nvSpPr>
          <p:cNvPr id="91" name="text-091: hit / SPM 快路径（仍受顺序约束）"/>
          <p:cNvSpPr txBox="1"/>
          <p:nvPr/>
        </p:nvSpPr>
        <p:spPr>
          <a:xfrm>
            <a:off x="213360" y="6201628"/>
            <a:ext cx="226961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hit / SPM 快路径（仍受顺序约束）</a:t>
            </a:r>
          </a:p>
        </p:txBody>
      </p:sp>
      <p:sp>
        <p:nvSpPr>
          <p:cNvPr id="92" name="text-092: bypass"/>
          <p:cNvSpPr txBox="1"/>
          <p:nvPr/>
        </p:nvSpPr>
        <p:spPr>
          <a:xfrm>
            <a:off x="213360" y="6366982"/>
            <a:ext cx="60114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bypass</a:t>
            </a:r>
          </a:p>
        </p:txBody>
      </p:sp>
      <p:sp>
        <p:nvSpPr>
          <p:cNvPr id="93" name="text-093: 外存读 / 写"/>
          <p:cNvSpPr txBox="1"/>
          <p:nvPr/>
        </p:nvSpPr>
        <p:spPr>
          <a:xfrm>
            <a:off x="213360" y="6532336"/>
            <a:ext cx="8526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外存读 / 写</a:t>
            </a:r>
          </a:p>
        </p:txBody>
      </p:sp>
      <p:sp>
        <p:nvSpPr>
          <p:cNvPr id="94" name="text-094: 实线表示描述符或数据路径，标签区分；图中省略返回 ID 队列与逐通道握手。"/>
          <p:cNvSpPr txBox="1"/>
          <p:nvPr/>
        </p:nvSpPr>
        <p:spPr>
          <a:xfrm>
            <a:off x="213360" y="6697690"/>
            <a:ext cx="4490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实线表示描述符或数据路径，标签区分；图中省略返回 ID 队列与逐通道握手。</a:t>
            </a:r>
          </a:p>
        </p:txBody>
      </p:sp>
      <p:sp>
        <p:nvSpPr>
          <p:cNvPr id="95" name="text-095: 配对端口表示图示连接；已有/规划状态见模块和连接表。方向与 A 版一致。虚线模块"/>
          <p:cNvSpPr txBox="1"/>
          <p:nvPr/>
        </p:nvSpPr>
        <p:spPr>
          <a:xfrm>
            <a:off x="213360" y="7246666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B  LLC / SPM：相同 SRAM 的 way 分配与配置提交"/>
          <p:cNvSpPr txBox="1"/>
          <p:nvPr/>
        </p:nvSpPr>
        <p:spPr>
          <a:xfrm>
            <a:off x="213360" y="607756"/>
            <a:ext cx="48219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16B  LLC / SPM：相同 SRAM 的 way 分配与配置提交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882777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320165"/>
            <a:ext cx="3893820" cy="152019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N01  接口与配置"/>
          <p:cNvSpPr txBox="1"/>
          <p:nvPr/>
        </p:nvSpPr>
        <p:spPr>
          <a:xfrm>
            <a:off x="309372" y="1348115"/>
            <a:ext cx="108546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N01  接口与配置</a:t>
            </a:r>
          </a:p>
        </p:txBody>
      </p:sp>
      <p:sp>
        <p:nvSpPr>
          <p:cNvPr id="6" name="text-006: 1  axi_llc_reg_top"/>
          <p:cNvSpPr txBox="1"/>
          <p:nvPr/>
        </p:nvSpPr>
        <p:spPr>
          <a:xfrm>
            <a:off x="1313498" y="1517523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axi_llc_reg_top</a:t>
            </a:r>
          </a:p>
        </p:txBody>
      </p:sp>
      <p:sp>
        <p:nvSpPr>
          <p:cNvPr id="7" name="text-007: CFG_SPM / CFG_FLUSH"/>
          <p:cNvSpPr txBox="1"/>
          <p:nvPr/>
        </p:nvSpPr>
        <p:spPr>
          <a:xfrm>
            <a:off x="1341368" y="1699732"/>
            <a:ext cx="163780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CFG_SPM / CFG_FLUSH</a:t>
            </a:r>
          </a:p>
        </p:txBody>
      </p:sp>
      <p:sp>
        <p:nvSpPr>
          <p:cNvPr id="8" name="text-008: COMMIT_CFG / FLUSHED"/>
          <p:cNvSpPr txBox="1"/>
          <p:nvPr/>
        </p:nvSpPr>
        <p:spPr>
          <a:xfrm>
            <a:off x="1301496" y="1870420"/>
            <a:ext cx="171754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COMMIT_CFG / FLUSHED</a:t>
            </a:r>
          </a:p>
        </p:txBody>
      </p:sp>
      <p:sp>
        <p:nvSpPr>
          <p:cNvPr id="9" name="text-009: BIST / 容量 / 版本"/>
          <p:cNvSpPr txBox="1"/>
          <p:nvPr/>
        </p:nvSpPr>
        <p:spPr>
          <a:xfrm>
            <a:off x="1454848" y="2041108"/>
            <a:ext cx="141084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BIST / 容量 / 版本</a:t>
            </a:r>
          </a:p>
        </p:txBody>
      </p:sp>
      <p:sp>
        <p:nvSpPr>
          <p:cNvPr id="10" name="text-010: 当前控制接口：Regbus"/>
          <p:cNvSpPr txBox="1"/>
          <p:nvPr/>
        </p:nvSpPr>
        <p:spPr>
          <a:xfrm>
            <a:off x="1430312" y="2211796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当前控制接口：Regbus</a:t>
            </a:r>
          </a:p>
        </p:txBody>
      </p:sp>
      <p:sp>
        <p:nvSpPr>
          <p:cNvPr id="11" name="rect-011"/>
          <p:cNvSpPr/>
          <p:nvPr/>
        </p:nvSpPr>
        <p:spPr>
          <a:xfrm>
            <a:off x="293370" y="250964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E01-source"/>
          <p:cNvSpPr/>
          <p:nvPr/>
        </p:nvSpPr>
        <p:spPr>
          <a:xfrm>
            <a:off x="3915156" y="264299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E01 ↔ N02"/>
          <p:cNvSpPr txBox="1"/>
          <p:nvPr/>
        </p:nvSpPr>
        <p:spPr>
          <a:xfrm>
            <a:off x="2957170" y="255317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N02</a:t>
            </a:r>
          </a:p>
        </p:txBody>
      </p:sp>
      <p:sp>
        <p:nvSpPr>
          <p:cNvPr id="14" name="rect-014"/>
          <p:cNvSpPr/>
          <p:nvPr/>
        </p:nvSpPr>
        <p:spPr>
          <a:xfrm>
            <a:off x="213360" y="3053715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N04  状态/存储"/>
          <p:cNvSpPr txBox="1"/>
          <p:nvPr/>
        </p:nvSpPr>
        <p:spPr>
          <a:xfrm>
            <a:off x="309372" y="3081665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N04  状态/存储</a:t>
            </a:r>
          </a:p>
        </p:txBody>
      </p:sp>
      <p:sp>
        <p:nvSpPr>
          <p:cNvPr id="16" name="text-016: way 0"/>
          <p:cNvSpPr txBox="1"/>
          <p:nvPr/>
        </p:nvSpPr>
        <p:spPr>
          <a:xfrm>
            <a:off x="1876901" y="3251073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17" name="text-017: SPM"/>
          <p:cNvSpPr txBox="1"/>
          <p:nvPr/>
        </p:nvSpPr>
        <p:spPr>
          <a:xfrm>
            <a:off x="1979314" y="3433282"/>
            <a:ext cx="361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18" name="text-018: 相同 data SRAM"/>
          <p:cNvSpPr txBox="1"/>
          <p:nvPr/>
        </p:nvSpPr>
        <p:spPr>
          <a:xfrm>
            <a:off x="1577530" y="3603970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390182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存储分区示意；包含关系见所属组"/>
          <p:cNvSpPr txBox="1"/>
          <p:nvPr/>
        </p:nvSpPr>
        <p:spPr>
          <a:xfrm>
            <a:off x="1178814" y="3945346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存储分区示意；包含关系见所属组</a:t>
            </a:r>
          </a:p>
        </p:txBody>
      </p:sp>
      <p:sp>
        <p:nvSpPr>
          <p:cNvPr id="21" name="rect-021"/>
          <p:cNvSpPr/>
          <p:nvPr/>
        </p:nvSpPr>
        <p:spPr>
          <a:xfrm>
            <a:off x="213360" y="4445889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N07  状态/存储"/>
          <p:cNvSpPr txBox="1"/>
          <p:nvPr/>
        </p:nvSpPr>
        <p:spPr>
          <a:xfrm>
            <a:off x="309372" y="4473839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N07  状态/存储</a:t>
            </a:r>
          </a:p>
        </p:txBody>
      </p:sp>
      <p:sp>
        <p:nvSpPr>
          <p:cNvPr id="23" name="text-023: way 3"/>
          <p:cNvSpPr txBox="1"/>
          <p:nvPr/>
        </p:nvSpPr>
        <p:spPr>
          <a:xfrm>
            <a:off x="1876901" y="4643247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24" name="text-024: Cache"/>
          <p:cNvSpPr txBox="1"/>
          <p:nvPr/>
        </p:nvSpPr>
        <p:spPr>
          <a:xfrm>
            <a:off x="1899571" y="4825456"/>
            <a:ext cx="5213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25" name="text-025: 相同 data SRAM"/>
          <p:cNvSpPr txBox="1"/>
          <p:nvPr/>
        </p:nvSpPr>
        <p:spPr>
          <a:xfrm>
            <a:off x="1577530" y="4996144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26" name="rect-026"/>
          <p:cNvSpPr/>
          <p:nvPr/>
        </p:nvSpPr>
        <p:spPr>
          <a:xfrm>
            <a:off x="293370" y="529399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存储分区示意；包含关系见所属组"/>
          <p:cNvSpPr txBox="1"/>
          <p:nvPr/>
        </p:nvSpPr>
        <p:spPr>
          <a:xfrm>
            <a:off x="1178814" y="5337520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存储分区示意；包含关系见所属组</a:t>
            </a:r>
          </a:p>
        </p:txBody>
      </p:sp>
      <p:sp>
        <p:nvSpPr>
          <p:cNvPr id="28" name="rect-028"/>
          <p:cNvSpPr/>
          <p:nvPr/>
        </p:nvSpPr>
        <p:spPr>
          <a:xfrm>
            <a:off x="4453890" y="1320165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N02  内部工作逻辑"/>
          <p:cNvSpPr txBox="1"/>
          <p:nvPr/>
        </p:nvSpPr>
        <p:spPr>
          <a:xfrm>
            <a:off x="4549902" y="134811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N02  内部工作逻辑</a:t>
            </a:r>
          </a:p>
        </p:txBody>
      </p:sp>
      <p:sp>
        <p:nvSpPr>
          <p:cNvPr id="30" name="text-030: 2  axi_llc_config"/>
          <p:cNvSpPr txBox="1"/>
          <p:nvPr/>
        </p:nvSpPr>
        <p:spPr>
          <a:xfrm>
            <a:off x="5597366" y="1517523"/>
            <a:ext cx="16068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axi_llc_config</a:t>
            </a:r>
          </a:p>
        </p:txBody>
      </p:sp>
      <p:sp>
        <p:nvSpPr>
          <p:cNvPr id="31" name="text-031: 提交新配置 / 停止接收新事务"/>
          <p:cNvSpPr txBox="1"/>
          <p:nvPr/>
        </p:nvSpPr>
        <p:spPr>
          <a:xfrm>
            <a:off x="5483752" y="1699732"/>
            <a:ext cx="18340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提交新配置 / 停止接收新事务</a:t>
            </a:r>
          </a:p>
        </p:txBody>
      </p:sp>
      <p:sp>
        <p:nvSpPr>
          <p:cNvPr id="32" name="text-032: 等待在途工作 / 发 flush 描述符"/>
          <p:cNvSpPr txBox="1"/>
          <p:nvPr/>
        </p:nvSpPr>
        <p:spPr>
          <a:xfrm>
            <a:off x="5327332" y="1870420"/>
            <a:ext cx="21469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等待在途工作 / 发 flush 描述符</a:t>
            </a:r>
          </a:p>
        </p:txBody>
      </p:sp>
      <p:sp>
        <p:nvSpPr>
          <p:cNvPr id="33" name="text-033: 必要时写回脏行"/>
          <p:cNvSpPr txBox="1"/>
          <p:nvPr/>
        </p:nvSpPr>
        <p:spPr>
          <a:xfrm>
            <a:off x="5910072" y="2041108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34" name="text-034: 更新 spm_lock / flushed"/>
          <p:cNvSpPr txBox="1"/>
          <p:nvPr/>
        </p:nvSpPr>
        <p:spPr>
          <a:xfrm>
            <a:off x="5459216" y="2211796"/>
            <a:ext cx="188316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更新 spm_lock / flushed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250964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target"/>
          <p:cNvSpPr/>
          <p:nvPr/>
        </p:nvSpPr>
        <p:spPr>
          <a:xfrm>
            <a:off x="4373880" y="264299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↔ N01"/>
          <p:cNvSpPr txBox="1"/>
          <p:nvPr/>
        </p:nvSpPr>
        <p:spPr>
          <a:xfrm>
            <a:off x="4715256" y="255317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N01</a:t>
            </a:r>
          </a:p>
        </p:txBody>
      </p:sp>
      <p:sp>
        <p:nvSpPr>
          <p:cNvPr id="38" name="E02-source"/>
          <p:cNvSpPr/>
          <p:nvPr/>
        </p:nvSpPr>
        <p:spPr>
          <a:xfrm>
            <a:off x="8155686" y="264299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→ N03"/>
          <p:cNvSpPr txBox="1"/>
          <p:nvPr/>
        </p:nvSpPr>
        <p:spPr>
          <a:xfrm>
            <a:off x="7197700" y="255317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→ N03</a:t>
            </a:r>
          </a:p>
        </p:txBody>
      </p:sp>
      <p:sp>
        <p:nvSpPr>
          <p:cNvPr id="40" name="rect-040"/>
          <p:cNvSpPr/>
          <p:nvPr/>
        </p:nvSpPr>
        <p:spPr>
          <a:xfrm>
            <a:off x="4453890" y="3053715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N05  状态/存储"/>
          <p:cNvSpPr txBox="1"/>
          <p:nvPr/>
        </p:nvSpPr>
        <p:spPr>
          <a:xfrm>
            <a:off x="4549902" y="3081665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N05  状态/存储</a:t>
            </a:r>
          </a:p>
        </p:txBody>
      </p:sp>
      <p:sp>
        <p:nvSpPr>
          <p:cNvPr id="42" name="text-042: way 1"/>
          <p:cNvSpPr txBox="1"/>
          <p:nvPr/>
        </p:nvSpPr>
        <p:spPr>
          <a:xfrm>
            <a:off x="6117431" y="3251073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43" name="text-043: SPM"/>
          <p:cNvSpPr txBox="1"/>
          <p:nvPr/>
        </p:nvSpPr>
        <p:spPr>
          <a:xfrm>
            <a:off x="6219844" y="3433282"/>
            <a:ext cx="361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44" name="text-044: 相同 data SRAM"/>
          <p:cNvSpPr txBox="1"/>
          <p:nvPr/>
        </p:nvSpPr>
        <p:spPr>
          <a:xfrm>
            <a:off x="5818060" y="3603970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5" name="rect-045"/>
          <p:cNvSpPr/>
          <p:nvPr/>
        </p:nvSpPr>
        <p:spPr>
          <a:xfrm>
            <a:off x="4533900" y="390182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存储分区示意；包含关系见所属组"/>
          <p:cNvSpPr txBox="1"/>
          <p:nvPr/>
        </p:nvSpPr>
        <p:spPr>
          <a:xfrm>
            <a:off x="5419344" y="3945346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存储分区示意；包含关系见所属组</a:t>
            </a:r>
          </a:p>
        </p:txBody>
      </p:sp>
      <p:sp>
        <p:nvSpPr>
          <p:cNvPr id="47" name="rect-047"/>
          <p:cNvSpPr/>
          <p:nvPr/>
        </p:nvSpPr>
        <p:spPr>
          <a:xfrm>
            <a:off x="4453890" y="4445889"/>
            <a:ext cx="3893820" cy="837438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P01  外部/组边界"/>
          <p:cNvSpPr txBox="1"/>
          <p:nvPr/>
        </p:nvSpPr>
        <p:spPr>
          <a:xfrm>
            <a:off x="4549902" y="4473839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P01  外部/组边界</a:t>
            </a:r>
          </a:p>
        </p:txBody>
      </p:sp>
      <p:sp>
        <p:nvSpPr>
          <p:cNvPr id="49" name="text-049: 同一组 data SRAM（way 0…3 示例）"/>
          <p:cNvSpPr txBox="1"/>
          <p:nvPr/>
        </p:nvSpPr>
        <p:spPr>
          <a:xfrm>
            <a:off x="5063966" y="4643247"/>
            <a:ext cx="26736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同一组 data SRAM（way 0…3 示例）</a:t>
            </a:r>
          </a:p>
        </p:txBody>
      </p:sp>
      <p:sp>
        <p:nvSpPr>
          <p:cNvPr id="50" name="rect-050"/>
          <p:cNvSpPr/>
          <p:nvPr/>
        </p:nvSpPr>
        <p:spPr>
          <a:xfrm>
            <a:off x="4533900" y="495261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03-target"/>
          <p:cNvSpPr/>
          <p:nvPr/>
        </p:nvSpPr>
        <p:spPr>
          <a:xfrm>
            <a:off x="4373880" y="50859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3 ← N03"/>
          <p:cNvSpPr txBox="1"/>
          <p:nvPr/>
        </p:nvSpPr>
        <p:spPr>
          <a:xfrm>
            <a:off x="4715256" y="4996144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← N03</a:t>
            </a:r>
          </a:p>
        </p:txBody>
      </p:sp>
      <p:sp>
        <p:nvSpPr>
          <p:cNvPr id="53" name="rect-053"/>
          <p:cNvSpPr/>
          <p:nvPr/>
        </p:nvSpPr>
        <p:spPr>
          <a:xfrm>
            <a:off x="8694420" y="1320165"/>
            <a:ext cx="3893820" cy="152019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N03  内部工作逻辑"/>
          <p:cNvSpPr txBox="1"/>
          <p:nvPr/>
        </p:nvSpPr>
        <p:spPr>
          <a:xfrm>
            <a:off x="8790432" y="134811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N03  内部工作逻辑</a:t>
            </a:r>
          </a:p>
        </p:txBody>
      </p:sp>
      <p:sp>
        <p:nvSpPr>
          <p:cNvPr id="55" name="text-055: 3  地址与 way 选择"/>
          <p:cNvSpPr txBox="1"/>
          <p:nvPr/>
        </p:nvSpPr>
        <p:spPr>
          <a:xfrm>
            <a:off x="9894570" y="1517523"/>
            <a:ext cx="149352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地址与 way 选择</a:t>
            </a:r>
          </a:p>
        </p:txBody>
      </p:sp>
      <p:sp>
        <p:nvSpPr>
          <p:cNvPr id="56" name="text-056: cache 地址：tag lookup → cache way"/>
          <p:cNvSpPr txBox="1"/>
          <p:nvPr/>
        </p:nvSpPr>
        <p:spPr>
          <a:xfrm>
            <a:off x="9258090" y="1699732"/>
            <a:ext cx="2766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地址：tag lookup → cache way</a:t>
            </a:r>
          </a:p>
        </p:txBody>
      </p:sp>
      <p:sp>
        <p:nvSpPr>
          <p:cNvPr id="57" name="text-057: SPM 地址：直接选择被锁定的 way"/>
          <p:cNvSpPr txBox="1"/>
          <p:nvPr/>
        </p:nvSpPr>
        <p:spPr>
          <a:xfrm>
            <a:off x="9586265" y="1870420"/>
            <a:ext cx="211013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地址：直接选择被锁定的 way</a:t>
            </a:r>
          </a:p>
        </p:txBody>
      </p:sp>
      <p:sp>
        <p:nvSpPr>
          <p:cNvPr id="58" name="text-058: 未配置为 SPM 的对应 way 不可当 RAM 用"/>
          <p:cNvSpPr txBox="1"/>
          <p:nvPr/>
        </p:nvSpPr>
        <p:spPr>
          <a:xfrm>
            <a:off x="9307163" y="2041108"/>
            <a:ext cx="26683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未配置为 SPM 的对应 way 不可当 RAM 用</a:t>
            </a:r>
          </a:p>
        </p:txBody>
      </p:sp>
      <p:sp>
        <p:nvSpPr>
          <p:cNvPr id="59" name="text-059: SPM 访问不进行外存 refill"/>
          <p:cNvSpPr txBox="1"/>
          <p:nvPr/>
        </p:nvSpPr>
        <p:spPr>
          <a:xfrm>
            <a:off x="9712014" y="2211796"/>
            <a:ext cx="18586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访问不进行外存 refill</a:t>
            </a:r>
          </a:p>
        </p:txBody>
      </p:sp>
      <p:sp>
        <p:nvSpPr>
          <p:cNvPr id="60" name="rect-060"/>
          <p:cNvSpPr/>
          <p:nvPr/>
        </p:nvSpPr>
        <p:spPr>
          <a:xfrm>
            <a:off x="8774430" y="250964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02-target"/>
          <p:cNvSpPr/>
          <p:nvPr/>
        </p:nvSpPr>
        <p:spPr>
          <a:xfrm>
            <a:off x="8614410" y="264299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2 ← N02"/>
          <p:cNvSpPr txBox="1"/>
          <p:nvPr/>
        </p:nvSpPr>
        <p:spPr>
          <a:xfrm>
            <a:off x="8955786" y="255317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← N02</a:t>
            </a:r>
          </a:p>
        </p:txBody>
      </p:sp>
      <p:sp>
        <p:nvSpPr>
          <p:cNvPr id="63" name="E03-source"/>
          <p:cNvSpPr/>
          <p:nvPr/>
        </p:nvSpPr>
        <p:spPr>
          <a:xfrm>
            <a:off x="12396216" y="264299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3 → P01"/>
          <p:cNvSpPr txBox="1"/>
          <p:nvPr/>
        </p:nvSpPr>
        <p:spPr>
          <a:xfrm>
            <a:off x="11438230" y="2553172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→ P01</a:t>
            </a:r>
          </a:p>
        </p:txBody>
      </p:sp>
      <p:sp>
        <p:nvSpPr>
          <p:cNvPr id="65" name="rect-065"/>
          <p:cNvSpPr/>
          <p:nvPr/>
        </p:nvSpPr>
        <p:spPr>
          <a:xfrm>
            <a:off x="8694420" y="3053715"/>
            <a:ext cx="3893820" cy="1178814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N06  状态/存储"/>
          <p:cNvSpPr txBox="1"/>
          <p:nvPr/>
        </p:nvSpPr>
        <p:spPr>
          <a:xfrm>
            <a:off x="8790432" y="3081665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N06  状态/存储</a:t>
            </a:r>
          </a:p>
        </p:txBody>
      </p:sp>
      <p:sp>
        <p:nvSpPr>
          <p:cNvPr id="67" name="text-067: way 2"/>
          <p:cNvSpPr txBox="1"/>
          <p:nvPr/>
        </p:nvSpPr>
        <p:spPr>
          <a:xfrm>
            <a:off x="10357961" y="3251073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68" name="text-068: Cache"/>
          <p:cNvSpPr txBox="1"/>
          <p:nvPr/>
        </p:nvSpPr>
        <p:spPr>
          <a:xfrm>
            <a:off x="10380631" y="3433282"/>
            <a:ext cx="5213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69" name="text-069: 相同 data SRAM"/>
          <p:cNvSpPr txBox="1"/>
          <p:nvPr/>
        </p:nvSpPr>
        <p:spPr>
          <a:xfrm>
            <a:off x="10058590" y="3603970"/>
            <a:ext cx="1165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70" name="rect-070"/>
          <p:cNvSpPr/>
          <p:nvPr/>
        </p:nvSpPr>
        <p:spPr>
          <a:xfrm>
            <a:off x="8774430" y="390182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存储分区示意；包含关系见所属组"/>
          <p:cNvSpPr txBox="1"/>
          <p:nvPr/>
        </p:nvSpPr>
        <p:spPr>
          <a:xfrm>
            <a:off x="9659874" y="3945346"/>
            <a:ext cx="196291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存储分区示意；包含关系见所属组</a:t>
            </a:r>
          </a:p>
        </p:txBody>
      </p:sp>
      <p:sp>
        <p:nvSpPr>
          <p:cNvPr id="72" name="text-072: 4  同一组数据 SRAM：下图仅为分区示例，不代表当前运行配置"/>
          <p:cNvSpPr txBox="1"/>
          <p:nvPr/>
        </p:nvSpPr>
        <p:spPr>
          <a:xfrm>
            <a:off x="213360" y="5758906"/>
            <a:ext cx="370499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4  同一组数据 SRAM：下图仅为分区示例，不代表当前运行配置</a:t>
            </a:r>
          </a:p>
        </p:txBody>
      </p:sp>
      <p:sp>
        <p:nvSpPr>
          <p:cNvPr id="73" name="text-073: SoC 的 SPM 地址别名"/>
          <p:cNvSpPr txBox="1"/>
          <p:nvPr/>
        </p:nvSpPr>
        <p:spPr>
          <a:xfrm>
            <a:off x="213360" y="5924260"/>
            <a:ext cx="145378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SoC 的 SPM 地址别名</a:t>
            </a:r>
          </a:p>
        </p:txBody>
      </p:sp>
      <p:sp>
        <p:nvSpPr>
          <p:cNvPr id="74" name="text-074: AmSpm / AmSpmBaseUncached"/>
          <p:cNvSpPr txBox="1"/>
          <p:nvPr/>
        </p:nvSpPr>
        <p:spPr>
          <a:xfrm>
            <a:off x="213360" y="6089614"/>
            <a:ext cx="211626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AmSpm / AmSpmBaseUncached</a:t>
            </a:r>
          </a:p>
        </p:txBody>
      </p:sp>
      <p:sp>
        <p:nvSpPr>
          <p:cNvPr id="75" name="text-075: 外层地址重映射到同一存储"/>
          <p:cNvSpPr txBox="1"/>
          <p:nvPr/>
        </p:nvSpPr>
        <p:spPr>
          <a:xfrm>
            <a:off x="213360" y="6254968"/>
            <a:ext cx="159486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外层地址重映射到同一存储</a:t>
            </a:r>
          </a:p>
        </p:txBody>
      </p:sp>
      <p:sp>
        <p:nvSpPr>
          <p:cNvPr id="76" name="text-076: CPU 缓存属性需另外匹配"/>
          <p:cNvSpPr txBox="1"/>
          <p:nvPr/>
        </p:nvSpPr>
        <p:spPr>
          <a:xfrm>
            <a:off x="213360" y="6420322"/>
            <a:ext cx="154579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CPU 缓存属性需另外匹配</a:t>
            </a:r>
          </a:p>
        </p:txBody>
      </p:sp>
      <p:sp>
        <p:nvSpPr>
          <p:cNvPr id="77" name="text-077: LLC/SPM 不是独立 Global Buffer；DDR 旁路 master"/>
          <p:cNvSpPr txBox="1"/>
          <p:nvPr/>
        </p:nvSpPr>
        <p:spPr>
          <a:xfrm>
            <a:off x="213360" y="6585676"/>
            <a:ext cx="6164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LLC/SPM 不是独立 Global Buffer；DDR 旁路 master 也不会自动窥探 CPU / LLC 中的脏数据。</a:t>
            </a:r>
          </a:p>
        </p:txBody>
      </p:sp>
      <p:sp>
        <p:nvSpPr>
          <p:cNvPr id="78" name="text-078: 配对端口表示图示连接；已有/规划状态见模块和连接表。方向与 A 版一致。虚线模块"/>
          <p:cNvSpPr txBox="1"/>
          <p:nvPr/>
        </p:nvSpPr>
        <p:spPr>
          <a:xfrm>
            <a:off x="213360" y="7134652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外部 IP 的 AXI 数据口与 Reg 控制口"/>
          <p:cNvSpPr txBox="1"/>
          <p:nvPr/>
        </p:nvSpPr>
        <p:spPr>
          <a:xfrm>
            <a:off x="213360" y="837118"/>
            <a:ext cx="34308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IP 的 AXI 数据口与 Reg 控制口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112139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549527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ip_mst  内部工作逻辑 · 规划/待确认"/>
          <p:cNvSpPr txBox="1"/>
          <p:nvPr/>
        </p:nvSpPr>
        <p:spPr>
          <a:xfrm>
            <a:off x="309372" y="1577477"/>
            <a:ext cx="232349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ip_mst  内部工作逻辑 · 规划/待确认</a:t>
            </a:r>
          </a:p>
        </p:txBody>
      </p:sp>
      <p:sp>
        <p:nvSpPr>
          <p:cNvPr id="6" name="text-006: 新增数据 master"/>
          <p:cNvSpPr txBox="1"/>
          <p:nvPr/>
        </p:nvSpPr>
        <p:spPr>
          <a:xfrm>
            <a:off x="1523524" y="1746885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新增数据 master</a:t>
            </a:r>
          </a:p>
        </p:txBody>
      </p:sp>
      <p:sp>
        <p:nvSpPr>
          <p:cNvPr id="7" name="text-007: NPU / DMA（规划）"/>
          <p:cNvSpPr txBox="1"/>
          <p:nvPr/>
        </p:nvSpPr>
        <p:spPr>
          <a:xfrm>
            <a:off x="1494720" y="1929094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DMA（规划）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222694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↔ adapter"/>
          <p:cNvSpPr txBox="1"/>
          <p:nvPr/>
        </p:nvSpPr>
        <p:spPr>
          <a:xfrm>
            <a:off x="2638196" y="2270470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adapter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2771013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xbar  内部工作逻辑"/>
          <p:cNvSpPr txBox="1"/>
          <p:nvPr/>
        </p:nvSpPr>
        <p:spPr>
          <a:xfrm>
            <a:off x="309372" y="2798963"/>
            <a:ext cx="1279093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xbar  内部工作逻辑</a:t>
            </a:r>
          </a:p>
        </p:txBody>
      </p:sp>
      <p:sp>
        <p:nvSpPr>
          <p:cNvPr id="13" name="text-013: i_axi_xbar"/>
          <p:cNvSpPr txBox="1"/>
          <p:nvPr/>
        </p:nvSpPr>
        <p:spPr>
          <a:xfrm>
            <a:off x="1660208" y="2968371"/>
            <a:ext cx="10001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i_axi_xbar</a:t>
            </a:r>
          </a:p>
        </p:txBody>
      </p:sp>
      <p:sp>
        <p:nvSpPr>
          <p:cNvPr id="14" name="text-014: 规则选择目标"/>
          <p:cNvSpPr txBox="1"/>
          <p:nvPr/>
        </p:nvSpPr>
        <p:spPr>
          <a:xfrm>
            <a:off x="1730883" y="3150580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规则选择目标</a:t>
            </a:r>
          </a:p>
        </p:txBody>
      </p:sp>
      <p:sp>
        <p:nvSpPr>
          <p:cNvPr id="15" name="rect-015"/>
          <p:cNvSpPr/>
          <p:nvPr/>
        </p:nvSpPr>
        <p:spPr>
          <a:xfrm>
            <a:off x="293370" y="3448431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03-target"/>
          <p:cNvSpPr/>
          <p:nvPr/>
        </p:nvSpPr>
        <p:spPr>
          <a:xfrm>
            <a:off x="133350" y="358178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E03 ↔ rt"/>
          <p:cNvSpPr txBox="1"/>
          <p:nvPr/>
        </p:nvSpPr>
        <p:spPr>
          <a:xfrm>
            <a:off x="474726" y="3491956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rt</a:t>
            </a:r>
          </a:p>
        </p:txBody>
      </p:sp>
      <p:sp>
        <p:nvSpPr>
          <p:cNvPr id="18" name="E04-source"/>
          <p:cNvSpPr/>
          <p:nvPr/>
        </p:nvSpPr>
        <p:spPr>
          <a:xfrm>
            <a:off x="3915156" y="358178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4 ↔ axi_out"/>
          <p:cNvSpPr txBox="1"/>
          <p:nvPr/>
        </p:nvSpPr>
        <p:spPr>
          <a:xfrm>
            <a:off x="2638196" y="3491956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axi_out</a:t>
            </a:r>
          </a:p>
        </p:txBody>
      </p:sp>
      <p:sp>
        <p:nvSpPr>
          <p:cNvPr id="20" name="E06-source"/>
          <p:cNvSpPr/>
          <p:nvPr/>
        </p:nvSpPr>
        <p:spPr>
          <a:xfrm>
            <a:off x="3915156" y="376847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6 ↔ reg_bridge"/>
          <p:cNvSpPr txBox="1"/>
          <p:nvPr/>
        </p:nvSpPr>
        <p:spPr>
          <a:xfrm>
            <a:off x="2398966" y="3678646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↔ reg_bridge</a:t>
            </a:r>
          </a:p>
        </p:txBody>
      </p:sp>
      <p:sp>
        <p:nvSpPr>
          <p:cNvPr id="22" name="rect-022"/>
          <p:cNvSpPr/>
          <p:nvPr/>
        </p:nvSpPr>
        <p:spPr>
          <a:xfrm>
            <a:off x="213360" y="4179189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reg_out  外部/组边界"/>
          <p:cNvSpPr txBox="1"/>
          <p:nvPr/>
        </p:nvSpPr>
        <p:spPr>
          <a:xfrm>
            <a:off x="309372" y="4207139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reg_out  外部/组边界</a:t>
            </a:r>
          </a:p>
        </p:txBody>
      </p:sp>
      <p:sp>
        <p:nvSpPr>
          <p:cNvPr id="24" name="text-024: Reg 外部 slave 口"/>
          <p:cNvSpPr txBox="1"/>
          <p:nvPr/>
        </p:nvSpPr>
        <p:spPr>
          <a:xfrm>
            <a:off x="1416844" y="4376547"/>
            <a:ext cx="148685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 外部 slave 口</a:t>
            </a:r>
          </a:p>
        </p:txBody>
      </p:sp>
      <p:sp>
        <p:nvSpPr>
          <p:cNvPr id="25" name="text-025: 默认数量 0"/>
          <p:cNvSpPr txBox="1"/>
          <p:nvPr/>
        </p:nvSpPr>
        <p:spPr>
          <a:xfrm>
            <a:off x="1773822" y="4558756"/>
            <a:ext cx="7728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26" name="rect-026"/>
          <p:cNvSpPr/>
          <p:nvPr/>
        </p:nvSpPr>
        <p:spPr>
          <a:xfrm>
            <a:off x="293370" y="485660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08-target"/>
          <p:cNvSpPr/>
          <p:nvPr/>
        </p:nvSpPr>
        <p:spPr>
          <a:xfrm>
            <a:off x="133350" y="498995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8 ↔ reg_demux"/>
          <p:cNvSpPr txBox="1"/>
          <p:nvPr/>
        </p:nvSpPr>
        <p:spPr>
          <a:xfrm>
            <a:off x="474726" y="4900132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↔ reg_demux</a:t>
            </a:r>
          </a:p>
        </p:txBody>
      </p:sp>
      <p:sp>
        <p:nvSpPr>
          <p:cNvPr id="29" name="E09-source"/>
          <p:cNvSpPr/>
          <p:nvPr/>
        </p:nvSpPr>
        <p:spPr>
          <a:xfrm>
            <a:off x="3915156" y="498995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09 ↔ reg_ip"/>
          <p:cNvSpPr txBox="1"/>
          <p:nvPr/>
        </p:nvSpPr>
        <p:spPr>
          <a:xfrm>
            <a:off x="2717940" y="4900132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↔ reg_ip</a:t>
            </a:r>
          </a:p>
        </p:txBody>
      </p:sp>
      <p:sp>
        <p:nvSpPr>
          <p:cNvPr id="31" name="rect-031"/>
          <p:cNvSpPr/>
          <p:nvPr/>
        </p:nvSpPr>
        <p:spPr>
          <a:xfrm>
            <a:off x="4453890" y="1549527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adapter  内部工作逻辑 · 规划/待确认"/>
          <p:cNvSpPr txBox="1"/>
          <p:nvPr/>
        </p:nvSpPr>
        <p:spPr>
          <a:xfrm>
            <a:off x="4549902" y="1577477"/>
            <a:ext cx="239976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adapter  内部工作逻辑 · 规划/待确认</a:t>
            </a:r>
          </a:p>
        </p:txBody>
      </p:sp>
      <p:sp>
        <p:nvSpPr>
          <p:cNvPr id="33" name="text-033: DW / ID / CDC"/>
          <p:cNvSpPr txBox="1"/>
          <p:nvPr/>
        </p:nvSpPr>
        <p:spPr>
          <a:xfrm>
            <a:off x="5770721" y="1746885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DW / ID / CDC</a:t>
            </a:r>
          </a:p>
        </p:txBody>
      </p:sp>
      <p:sp>
        <p:nvSpPr>
          <p:cNvPr id="34" name="text-034: 按接口差异选配"/>
          <p:cNvSpPr txBox="1"/>
          <p:nvPr/>
        </p:nvSpPr>
        <p:spPr>
          <a:xfrm>
            <a:off x="5910072" y="1929094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按接口差异选配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222694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target"/>
          <p:cNvSpPr/>
          <p:nvPr/>
        </p:nvSpPr>
        <p:spPr>
          <a:xfrm>
            <a:off x="4373880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↔ ip_mst"/>
          <p:cNvSpPr txBox="1"/>
          <p:nvPr/>
        </p:nvSpPr>
        <p:spPr>
          <a:xfrm>
            <a:off x="4715256" y="2270470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↔ ip_mst</a:t>
            </a:r>
          </a:p>
        </p:txBody>
      </p:sp>
      <p:sp>
        <p:nvSpPr>
          <p:cNvPr id="38" name="E02-source"/>
          <p:cNvSpPr/>
          <p:nvPr/>
        </p:nvSpPr>
        <p:spPr>
          <a:xfrm>
            <a:off x="8155686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↔ rt"/>
          <p:cNvSpPr txBox="1"/>
          <p:nvPr/>
        </p:nvSpPr>
        <p:spPr>
          <a:xfrm>
            <a:off x="7277443" y="2270470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rt</a:t>
            </a:r>
          </a:p>
        </p:txBody>
      </p:sp>
      <p:sp>
        <p:nvSpPr>
          <p:cNvPr id="40" name="rect-040"/>
          <p:cNvSpPr/>
          <p:nvPr/>
        </p:nvSpPr>
        <p:spPr>
          <a:xfrm>
            <a:off x="4453890" y="2771013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axi_out  外部/组边界"/>
          <p:cNvSpPr txBox="1"/>
          <p:nvPr/>
        </p:nvSpPr>
        <p:spPr>
          <a:xfrm>
            <a:off x="4549902" y="2798963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axi_out  外部/组边界</a:t>
            </a:r>
          </a:p>
        </p:txBody>
      </p:sp>
      <p:sp>
        <p:nvSpPr>
          <p:cNvPr id="42" name="text-042: AXI 外部 slave 口"/>
          <p:cNvSpPr txBox="1"/>
          <p:nvPr/>
        </p:nvSpPr>
        <p:spPr>
          <a:xfrm>
            <a:off x="5657374" y="2968371"/>
            <a:ext cx="148685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外部 slave 口</a:t>
            </a:r>
          </a:p>
        </p:txBody>
      </p:sp>
      <p:sp>
        <p:nvSpPr>
          <p:cNvPr id="43" name="text-043: 默认数量 0"/>
          <p:cNvSpPr txBox="1"/>
          <p:nvPr/>
        </p:nvSpPr>
        <p:spPr>
          <a:xfrm>
            <a:off x="6014352" y="3150580"/>
            <a:ext cx="7728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344843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4-target"/>
          <p:cNvSpPr/>
          <p:nvPr/>
        </p:nvSpPr>
        <p:spPr>
          <a:xfrm>
            <a:off x="4373880" y="358178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4 ↔ xbar"/>
          <p:cNvSpPr txBox="1"/>
          <p:nvPr/>
        </p:nvSpPr>
        <p:spPr>
          <a:xfrm>
            <a:off x="4715256" y="3491956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xbar</a:t>
            </a:r>
          </a:p>
        </p:txBody>
      </p:sp>
      <p:sp>
        <p:nvSpPr>
          <p:cNvPr id="47" name="E05-source"/>
          <p:cNvSpPr/>
          <p:nvPr/>
        </p:nvSpPr>
        <p:spPr>
          <a:xfrm>
            <a:off x="8155686" y="358178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5 ↔ axi_ip"/>
          <p:cNvSpPr txBox="1"/>
          <p:nvPr/>
        </p:nvSpPr>
        <p:spPr>
          <a:xfrm>
            <a:off x="6958470" y="3491956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axi_ip</a:t>
            </a:r>
          </a:p>
        </p:txBody>
      </p:sp>
      <p:sp>
        <p:nvSpPr>
          <p:cNvPr id="49" name="rect-049"/>
          <p:cNvSpPr/>
          <p:nvPr/>
        </p:nvSpPr>
        <p:spPr>
          <a:xfrm>
            <a:off x="4453890" y="3992499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reg_bridge  接口与配置"/>
          <p:cNvSpPr txBox="1"/>
          <p:nvPr/>
        </p:nvSpPr>
        <p:spPr>
          <a:xfrm>
            <a:off x="4549902" y="4020449"/>
            <a:ext cx="161940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reg_bridge  接口与配置</a:t>
            </a:r>
          </a:p>
        </p:txBody>
      </p:sp>
      <p:sp>
        <p:nvSpPr>
          <p:cNvPr id="51" name="text-051: axi_to_reg_v2"/>
          <p:cNvSpPr txBox="1"/>
          <p:nvPr/>
        </p:nvSpPr>
        <p:spPr>
          <a:xfrm>
            <a:off x="5770721" y="4189857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axi_to_reg_v2</a:t>
            </a:r>
          </a:p>
        </p:txBody>
      </p:sp>
      <p:sp>
        <p:nvSpPr>
          <p:cNvPr id="52" name="text-052: 64 → 32（默认）"/>
          <p:cNvSpPr txBox="1"/>
          <p:nvPr/>
        </p:nvSpPr>
        <p:spPr>
          <a:xfrm>
            <a:off x="5793524" y="4372066"/>
            <a:ext cx="121455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 → 32（默认）</a:t>
            </a:r>
          </a:p>
        </p:txBody>
      </p:sp>
      <p:sp>
        <p:nvSpPr>
          <p:cNvPr id="53" name="rect-053"/>
          <p:cNvSpPr/>
          <p:nvPr/>
        </p:nvSpPr>
        <p:spPr>
          <a:xfrm>
            <a:off x="4533900" y="466991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E06-target"/>
          <p:cNvSpPr/>
          <p:nvPr/>
        </p:nvSpPr>
        <p:spPr>
          <a:xfrm>
            <a:off x="4373880" y="480326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6 ↔ xbar"/>
          <p:cNvSpPr txBox="1"/>
          <p:nvPr/>
        </p:nvSpPr>
        <p:spPr>
          <a:xfrm>
            <a:off x="4715256" y="4713442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↔ xbar</a:t>
            </a:r>
          </a:p>
        </p:txBody>
      </p:sp>
      <p:sp>
        <p:nvSpPr>
          <p:cNvPr id="56" name="E07-source"/>
          <p:cNvSpPr/>
          <p:nvPr/>
        </p:nvSpPr>
        <p:spPr>
          <a:xfrm>
            <a:off x="8155686" y="480326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7 ↔ reg_demux"/>
          <p:cNvSpPr txBox="1"/>
          <p:nvPr/>
        </p:nvSpPr>
        <p:spPr>
          <a:xfrm>
            <a:off x="6719240" y="4713442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↔ reg_demux</a:t>
            </a:r>
          </a:p>
        </p:txBody>
      </p:sp>
      <p:sp>
        <p:nvSpPr>
          <p:cNvPr id="58" name="rect-058"/>
          <p:cNvSpPr/>
          <p:nvPr/>
        </p:nvSpPr>
        <p:spPr>
          <a:xfrm>
            <a:off x="4453890" y="5213985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reg_ip  接口与配置 · 规划/待确认"/>
          <p:cNvSpPr txBox="1"/>
          <p:nvPr/>
        </p:nvSpPr>
        <p:spPr>
          <a:xfrm>
            <a:off x="4549902" y="5241935"/>
            <a:ext cx="220614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reg_ip  接口与配置 · 规划/待确认</a:t>
            </a:r>
          </a:p>
        </p:txBody>
      </p:sp>
      <p:sp>
        <p:nvSpPr>
          <p:cNvPr id="60" name="text-060: 新增配置寄存器"/>
          <p:cNvSpPr txBox="1"/>
          <p:nvPr/>
        </p:nvSpPr>
        <p:spPr>
          <a:xfrm>
            <a:off x="5867400" y="5411343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新增配置寄存器</a:t>
            </a:r>
          </a:p>
        </p:txBody>
      </p:sp>
      <p:sp>
        <p:nvSpPr>
          <p:cNvPr id="61" name="text-061: IP 控制 / 状态"/>
          <p:cNvSpPr txBox="1"/>
          <p:nvPr/>
        </p:nvSpPr>
        <p:spPr>
          <a:xfrm>
            <a:off x="5854865" y="5593552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控制 / 状态</a:t>
            </a:r>
          </a:p>
        </p:txBody>
      </p:sp>
      <p:sp>
        <p:nvSpPr>
          <p:cNvPr id="62" name="rect-062"/>
          <p:cNvSpPr/>
          <p:nvPr/>
        </p:nvSpPr>
        <p:spPr>
          <a:xfrm>
            <a:off x="4533900" y="589140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E09-target"/>
          <p:cNvSpPr/>
          <p:nvPr/>
        </p:nvSpPr>
        <p:spPr>
          <a:xfrm>
            <a:off x="4373880" y="602475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9 ↔ reg_out"/>
          <p:cNvSpPr txBox="1"/>
          <p:nvPr/>
        </p:nvSpPr>
        <p:spPr>
          <a:xfrm>
            <a:off x="4715256" y="5934928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↔ reg_out</a:t>
            </a:r>
          </a:p>
        </p:txBody>
      </p:sp>
      <p:sp>
        <p:nvSpPr>
          <p:cNvPr id="65" name="rect-065"/>
          <p:cNvSpPr/>
          <p:nvPr/>
        </p:nvSpPr>
        <p:spPr>
          <a:xfrm>
            <a:off x="8694420" y="1549527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rt  接口与配置"/>
          <p:cNvSpPr txBox="1"/>
          <p:nvPr/>
        </p:nvSpPr>
        <p:spPr>
          <a:xfrm>
            <a:off x="8790432" y="1577477"/>
            <a:ext cx="1009193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rt  接口与配置</a:t>
            </a:r>
          </a:p>
        </p:txBody>
      </p:sp>
      <p:sp>
        <p:nvSpPr>
          <p:cNvPr id="67" name="text-067: AXI RT / 直连"/>
          <p:cNvSpPr txBox="1"/>
          <p:nvPr/>
        </p:nvSpPr>
        <p:spPr>
          <a:xfrm>
            <a:off x="10051256" y="1746885"/>
            <a:ext cx="11801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RT / 直连</a:t>
            </a:r>
          </a:p>
        </p:txBody>
      </p:sp>
      <p:sp>
        <p:nvSpPr>
          <p:cNvPr id="68" name="text-068: 已有；默认 RT 关闭"/>
          <p:cNvSpPr txBox="1"/>
          <p:nvPr/>
        </p:nvSpPr>
        <p:spPr>
          <a:xfrm>
            <a:off x="9991115" y="1929094"/>
            <a:ext cx="1300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已有；默认 RT 关闭</a:t>
            </a:r>
          </a:p>
        </p:txBody>
      </p:sp>
      <p:sp>
        <p:nvSpPr>
          <p:cNvPr id="69" name="rect-069"/>
          <p:cNvSpPr/>
          <p:nvPr/>
        </p:nvSpPr>
        <p:spPr>
          <a:xfrm>
            <a:off x="8774430" y="222694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E02-target"/>
          <p:cNvSpPr/>
          <p:nvPr/>
        </p:nvSpPr>
        <p:spPr>
          <a:xfrm>
            <a:off x="8614410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2 ↔ adapter"/>
          <p:cNvSpPr txBox="1"/>
          <p:nvPr/>
        </p:nvSpPr>
        <p:spPr>
          <a:xfrm>
            <a:off x="8955786" y="2270470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adapter</a:t>
            </a:r>
          </a:p>
        </p:txBody>
      </p:sp>
      <p:sp>
        <p:nvSpPr>
          <p:cNvPr id="72" name="E03-source"/>
          <p:cNvSpPr/>
          <p:nvPr/>
        </p:nvSpPr>
        <p:spPr>
          <a:xfrm>
            <a:off x="12396216" y="236029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3 ↔ xbar"/>
          <p:cNvSpPr txBox="1"/>
          <p:nvPr/>
        </p:nvSpPr>
        <p:spPr>
          <a:xfrm>
            <a:off x="11358486" y="2270470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↔ xbar</a:t>
            </a:r>
          </a:p>
        </p:txBody>
      </p:sp>
      <p:sp>
        <p:nvSpPr>
          <p:cNvPr id="74" name="rect-074"/>
          <p:cNvSpPr/>
          <p:nvPr/>
        </p:nvSpPr>
        <p:spPr>
          <a:xfrm>
            <a:off x="8694420" y="2771013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axi_ip  状态/存储 · 规划/待确认"/>
          <p:cNvSpPr txBox="1"/>
          <p:nvPr/>
        </p:nvSpPr>
        <p:spPr>
          <a:xfrm>
            <a:off x="8790432" y="2798963"/>
            <a:ext cx="216507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axi_ip  状态/存储 · 规划/待确认</a:t>
            </a:r>
          </a:p>
        </p:txBody>
      </p:sp>
      <p:sp>
        <p:nvSpPr>
          <p:cNvPr id="76" name="text-076: 新增 AXI slave"/>
          <p:cNvSpPr txBox="1"/>
          <p:nvPr/>
        </p:nvSpPr>
        <p:spPr>
          <a:xfrm>
            <a:off x="10007918" y="2968371"/>
            <a:ext cx="126682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 AXI slave</a:t>
            </a:r>
          </a:p>
        </p:txBody>
      </p:sp>
      <p:sp>
        <p:nvSpPr>
          <p:cNvPr id="77" name="text-077: 存储 / IP 窗口"/>
          <p:cNvSpPr txBox="1"/>
          <p:nvPr/>
        </p:nvSpPr>
        <p:spPr>
          <a:xfrm>
            <a:off x="10095395" y="3150580"/>
            <a:ext cx="10918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存储 / IP 窗口</a:t>
            </a:r>
          </a:p>
        </p:txBody>
      </p:sp>
      <p:sp>
        <p:nvSpPr>
          <p:cNvPr id="78" name="rect-078"/>
          <p:cNvSpPr/>
          <p:nvPr/>
        </p:nvSpPr>
        <p:spPr>
          <a:xfrm>
            <a:off x="8774430" y="3448431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05-target"/>
          <p:cNvSpPr/>
          <p:nvPr/>
        </p:nvSpPr>
        <p:spPr>
          <a:xfrm>
            <a:off x="8614410" y="3581781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5 ↔ axi_out"/>
          <p:cNvSpPr txBox="1"/>
          <p:nvPr/>
        </p:nvSpPr>
        <p:spPr>
          <a:xfrm>
            <a:off x="8955786" y="3491956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axi_out</a:t>
            </a:r>
          </a:p>
        </p:txBody>
      </p:sp>
      <p:sp>
        <p:nvSpPr>
          <p:cNvPr id="81" name="rect-081"/>
          <p:cNvSpPr/>
          <p:nvPr/>
        </p:nvSpPr>
        <p:spPr>
          <a:xfrm>
            <a:off x="8694420" y="3992499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reg_demux  接口与配置"/>
          <p:cNvSpPr txBox="1"/>
          <p:nvPr/>
        </p:nvSpPr>
        <p:spPr>
          <a:xfrm>
            <a:off x="8790432" y="4020449"/>
            <a:ext cx="1543126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reg_demux  接口与配置</a:t>
            </a:r>
          </a:p>
        </p:txBody>
      </p:sp>
      <p:sp>
        <p:nvSpPr>
          <p:cNvPr id="83" name="text-083: Reg decode / demux"/>
          <p:cNvSpPr txBox="1"/>
          <p:nvPr/>
        </p:nvSpPr>
        <p:spPr>
          <a:xfrm>
            <a:off x="9794558" y="4189857"/>
            <a:ext cx="1693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 decode / demux</a:t>
            </a:r>
          </a:p>
        </p:txBody>
      </p:sp>
      <p:sp>
        <p:nvSpPr>
          <p:cNvPr id="84" name="text-084: 第二级地址选择"/>
          <p:cNvSpPr txBox="1"/>
          <p:nvPr/>
        </p:nvSpPr>
        <p:spPr>
          <a:xfrm>
            <a:off x="10150602" y="4372066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第二级地址选择</a:t>
            </a:r>
          </a:p>
        </p:txBody>
      </p:sp>
      <p:sp>
        <p:nvSpPr>
          <p:cNvPr id="85" name="rect-085"/>
          <p:cNvSpPr/>
          <p:nvPr/>
        </p:nvSpPr>
        <p:spPr>
          <a:xfrm>
            <a:off x="8774430" y="4669917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07-target"/>
          <p:cNvSpPr/>
          <p:nvPr/>
        </p:nvSpPr>
        <p:spPr>
          <a:xfrm>
            <a:off x="8614410" y="480326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7 ↔ reg_bridge"/>
          <p:cNvSpPr txBox="1"/>
          <p:nvPr/>
        </p:nvSpPr>
        <p:spPr>
          <a:xfrm>
            <a:off x="8955786" y="4713442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↔ reg_bridge</a:t>
            </a:r>
          </a:p>
        </p:txBody>
      </p:sp>
      <p:sp>
        <p:nvSpPr>
          <p:cNvPr id="88" name="E08-source"/>
          <p:cNvSpPr/>
          <p:nvPr/>
        </p:nvSpPr>
        <p:spPr>
          <a:xfrm>
            <a:off x="12396216" y="4803267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9: E08 ↔ reg_out"/>
          <p:cNvSpPr txBox="1"/>
          <p:nvPr/>
        </p:nvSpPr>
        <p:spPr>
          <a:xfrm>
            <a:off x="11119256" y="4713442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↔ reg_out</a:t>
            </a:r>
          </a:p>
        </p:txBody>
      </p:sp>
      <p:sp>
        <p:nvSpPr>
          <p:cNvPr id="90" name="text-090: 已有扩展逻辑默认端口数为 0。规划模块尚未接入；AXI 双箭头概括请求和响应，m"/>
          <p:cNvSpPr txBox="1"/>
          <p:nvPr/>
        </p:nvSpPr>
        <p:spPr>
          <a:xfrm>
            <a:off x="213360" y="6356314"/>
            <a:ext cx="60666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已有扩展逻辑默认端口数为 0。规划模块尚未接入；AXI 双箭头概括请求和响应，master 由边说明指定。</a:t>
            </a:r>
          </a:p>
        </p:txBody>
      </p:sp>
      <p:sp>
        <p:nvSpPr>
          <p:cNvPr id="91" name="text-091: 配对端口表示图示连接；已有/规划状态见模块和连接表。方向与 A 版一致。虚线模块"/>
          <p:cNvSpPr txBox="1"/>
          <p:nvPr/>
        </p:nvSpPr>
        <p:spPr>
          <a:xfrm>
            <a:off x="213360" y="6905290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异域 IP 的配置、时钟复位与 IRQ 边界"/>
          <p:cNvSpPr txBox="1"/>
          <p:nvPr/>
        </p:nvSpPr>
        <p:spPr>
          <a:xfrm>
            <a:off x="213360" y="1074481"/>
            <a:ext cx="33881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异域 IP 的配置、时钟复位与 IRQ 边界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349502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786890"/>
            <a:ext cx="3893820" cy="119481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soc_clock  外部/组边界"/>
          <p:cNvSpPr txBox="1"/>
          <p:nvPr/>
        </p:nvSpPr>
        <p:spPr>
          <a:xfrm>
            <a:off x="309372" y="1814840"/>
            <a:ext cx="161940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soc_clock  外部/组边界</a:t>
            </a:r>
          </a:p>
        </p:txBody>
      </p:sp>
      <p:sp>
        <p:nvSpPr>
          <p:cNvPr id="6" name="text-006: clk_i / rst_ni"/>
          <p:cNvSpPr txBox="1"/>
          <p:nvPr/>
        </p:nvSpPr>
        <p:spPr>
          <a:xfrm>
            <a:off x="1486852" y="1984248"/>
            <a:ext cx="134683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clk_i / rst_ni</a:t>
            </a:r>
          </a:p>
        </p:txBody>
      </p:sp>
      <p:sp>
        <p:nvSpPr>
          <p:cNvPr id="7" name="text-007: SoC 外部输入"/>
          <p:cNvSpPr txBox="1"/>
          <p:nvPr/>
        </p:nvSpPr>
        <p:spPr>
          <a:xfrm>
            <a:off x="1694078" y="2166457"/>
            <a:ext cx="93238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外部输入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2464308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25976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→ regbus"/>
          <p:cNvSpPr txBox="1"/>
          <p:nvPr/>
        </p:nvSpPr>
        <p:spPr>
          <a:xfrm>
            <a:off x="2717940" y="2507833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→ regbus</a:t>
            </a:r>
          </a:p>
        </p:txBody>
      </p:sp>
      <p:sp>
        <p:nvSpPr>
          <p:cNvPr id="11" name="E03-source"/>
          <p:cNvSpPr/>
          <p:nvPr/>
        </p:nvSpPr>
        <p:spPr>
          <a:xfrm>
            <a:off x="3915156" y="27843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3 → cdc"/>
          <p:cNvSpPr txBox="1"/>
          <p:nvPr/>
        </p:nvSpPr>
        <p:spPr>
          <a:xfrm>
            <a:off x="2957170" y="269452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→ cdc</a:t>
            </a:r>
          </a:p>
        </p:txBody>
      </p:sp>
      <p:sp>
        <p:nvSpPr>
          <p:cNvPr id="13" name="rect-013"/>
          <p:cNvSpPr/>
          <p:nvPr/>
        </p:nvSpPr>
        <p:spPr>
          <a:xfrm>
            <a:off x="213360" y="3195066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ip_engine  内部工作逻辑 · 规划/待确认"/>
          <p:cNvSpPr txBox="1"/>
          <p:nvPr/>
        </p:nvSpPr>
        <p:spPr>
          <a:xfrm>
            <a:off x="309372" y="3223016"/>
            <a:ext cx="255231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ip_engine  内部工作逻辑 · 规划/待确认</a:t>
            </a:r>
          </a:p>
        </p:txBody>
      </p:sp>
      <p:sp>
        <p:nvSpPr>
          <p:cNvPr id="15" name="text-015: IP 工作逻辑"/>
          <p:cNvSpPr txBox="1"/>
          <p:nvPr/>
        </p:nvSpPr>
        <p:spPr>
          <a:xfrm>
            <a:off x="1696879" y="3392424"/>
            <a:ext cx="9267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16" name="text-016: 计算 / 搬运（规划）"/>
          <p:cNvSpPr txBox="1"/>
          <p:nvPr/>
        </p:nvSpPr>
        <p:spPr>
          <a:xfrm>
            <a:off x="1488586" y="3574633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搬运（规划）</a:t>
            </a:r>
          </a:p>
        </p:txBody>
      </p:sp>
      <p:sp>
        <p:nvSpPr>
          <p:cNvPr id="17" name="rect-017"/>
          <p:cNvSpPr/>
          <p:nvPr/>
        </p:nvSpPr>
        <p:spPr>
          <a:xfrm>
            <a:off x="293370" y="387248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E07-target"/>
          <p:cNvSpPr/>
          <p:nvPr/>
        </p:nvSpPr>
        <p:spPr>
          <a:xfrm>
            <a:off x="133350" y="40058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7 ← ip_clock"/>
          <p:cNvSpPr txBox="1"/>
          <p:nvPr/>
        </p:nvSpPr>
        <p:spPr>
          <a:xfrm>
            <a:off x="474726" y="3916009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← ip_clock</a:t>
            </a:r>
          </a:p>
        </p:txBody>
      </p:sp>
      <p:sp>
        <p:nvSpPr>
          <p:cNvPr id="20" name="E08-target"/>
          <p:cNvSpPr/>
          <p:nvPr/>
        </p:nvSpPr>
        <p:spPr>
          <a:xfrm>
            <a:off x="133350" y="41925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8 ↔ ip_regs"/>
          <p:cNvSpPr txBox="1"/>
          <p:nvPr/>
        </p:nvSpPr>
        <p:spPr>
          <a:xfrm>
            <a:off x="474726" y="4102699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↔ ip_regs</a:t>
            </a:r>
          </a:p>
        </p:txBody>
      </p:sp>
      <p:sp>
        <p:nvSpPr>
          <p:cNvPr id="22" name="E09-source"/>
          <p:cNvSpPr/>
          <p:nvPr/>
        </p:nvSpPr>
        <p:spPr>
          <a:xfrm>
            <a:off x="3915156" y="40058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9 → irq_state"/>
          <p:cNvSpPr txBox="1"/>
          <p:nvPr/>
        </p:nvSpPr>
        <p:spPr>
          <a:xfrm>
            <a:off x="2478710" y="3916009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→ irq_state</a:t>
            </a:r>
          </a:p>
        </p:txBody>
      </p:sp>
      <p:sp>
        <p:nvSpPr>
          <p:cNvPr id="24" name="rect-024"/>
          <p:cNvSpPr/>
          <p:nvPr/>
        </p:nvSpPr>
        <p:spPr>
          <a:xfrm>
            <a:off x="213360" y="4603242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irq_target  接口与配置"/>
          <p:cNvSpPr txBox="1"/>
          <p:nvPr/>
        </p:nvSpPr>
        <p:spPr>
          <a:xfrm>
            <a:off x="309372" y="4631192"/>
            <a:ext cx="161940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irq_target  接口与配置</a:t>
            </a:r>
          </a:p>
        </p:txBody>
      </p:sp>
      <p:sp>
        <p:nvSpPr>
          <p:cNvPr id="26" name="text-026: Router / PLIC / CLIC"/>
          <p:cNvSpPr txBox="1"/>
          <p:nvPr/>
        </p:nvSpPr>
        <p:spPr>
          <a:xfrm>
            <a:off x="1226820" y="4800600"/>
            <a:ext cx="18669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Router / PLIC / CLIC</a:t>
            </a:r>
          </a:p>
        </p:txBody>
      </p:sp>
      <p:sp>
        <p:nvSpPr>
          <p:cNvPr id="27" name="text-027: 按 Cfg 选择目标"/>
          <p:cNvSpPr txBox="1"/>
          <p:nvPr/>
        </p:nvSpPr>
        <p:spPr>
          <a:xfrm>
            <a:off x="1592866" y="4982809"/>
            <a:ext cx="113480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Cfg 选择目标</a:t>
            </a:r>
          </a:p>
        </p:txBody>
      </p:sp>
      <p:sp>
        <p:nvSpPr>
          <p:cNvPr id="28" name="rect-028"/>
          <p:cNvSpPr/>
          <p:nvPr/>
        </p:nvSpPr>
        <p:spPr>
          <a:xfrm>
            <a:off x="293370" y="528066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11-target"/>
          <p:cNvSpPr/>
          <p:nvPr/>
        </p:nvSpPr>
        <p:spPr>
          <a:xfrm>
            <a:off x="133350" y="541401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11 ← irq_sync"/>
          <p:cNvSpPr txBox="1"/>
          <p:nvPr/>
        </p:nvSpPr>
        <p:spPr>
          <a:xfrm>
            <a:off x="474726" y="5324185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← irq_sync</a:t>
            </a:r>
          </a:p>
        </p:txBody>
      </p:sp>
      <p:sp>
        <p:nvSpPr>
          <p:cNvPr id="31" name="rect-031"/>
          <p:cNvSpPr/>
          <p:nvPr/>
        </p:nvSpPr>
        <p:spPr>
          <a:xfrm>
            <a:off x="4453890" y="1786890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regbus  接口与配置"/>
          <p:cNvSpPr txBox="1"/>
          <p:nvPr/>
        </p:nvSpPr>
        <p:spPr>
          <a:xfrm>
            <a:off x="4549902" y="1814840"/>
            <a:ext cx="131429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regbus  接口与配置</a:t>
            </a:r>
          </a:p>
        </p:txBody>
      </p:sp>
      <p:sp>
        <p:nvSpPr>
          <p:cNvPr id="33" name="text-033: AXI → Reg / demux"/>
          <p:cNvSpPr txBox="1"/>
          <p:nvPr/>
        </p:nvSpPr>
        <p:spPr>
          <a:xfrm>
            <a:off x="5574030" y="1984248"/>
            <a:ext cx="165354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→ Reg / demux</a:t>
            </a:r>
          </a:p>
        </p:txBody>
      </p:sp>
      <p:sp>
        <p:nvSpPr>
          <p:cNvPr id="34" name="text-034: 现有配置通路"/>
          <p:cNvSpPr txBox="1"/>
          <p:nvPr/>
        </p:nvSpPr>
        <p:spPr>
          <a:xfrm>
            <a:off x="5971413" y="2166457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现有配置通路</a:t>
            </a:r>
          </a:p>
        </p:txBody>
      </p:sp>
      <p:sp>
        <p:nvSpPr>
          <p:cNvPr id="35" name="rect-035"/>
          <p:cNvSpPr/>
          <p:nvPr/>
        </p:nvSpPr>
        <p:spPr>
          <a:xfrm>
            <a:off x="4533900" y="246430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1-target"/>
          <p:cNvSpPr/>
          <p:nvPr/>
        </p:nvSpPr>
        <p:spPr>
          <a:xfrm>
            <a:off x="4373880" y="25976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1 ← soc_clock"/>
          <p:cNvSpPr txBox="1"/>
          <p:nvPr/>
        </p:nvSpPr>
        <p:spPr>
          <a:xfrm>
            <a:off x="4715256" y="2507833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← soc_clock</a:t>
            </a:r>
          </a:p>
        </p:txBody>
      </p:sp>
      <p:sp>
        <p:nvSpPr>
          <p:cNvPr id="38" name="E02-source"/>
          <p:cNvSpPr/>
          <p:nvPr/>
        </p:nvSpPr>
        <p:spPr>
          <a:xfrm>
            <a:off x="8155686" y="25976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2 ↔ cdc"/>
          <p:cNvSpPr txBox="1"/>
          <p:nvPr/>
        </p:nvSpPr>
        <p:spPr>
          <a:xfrm>
            <a:off x="7197700" y="2507833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↔ cdc</a:t>
            </a:r>
          </a:p>
        </p:txBody>
      </p:sp>
      <p:sp>
        <p:nvSpPr>
          <p:cNvPr id="40" name="rect-040"/>
          <p:cNvSpPr/>
          <p:nvPr/>
        </p:nvSpPr>
        <p:spPr>
          <a:xfrm>
            <a:off x="4453890" y="3008376"/>
            <a:ext cx="3893820" cy="119481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ip_regs  接口与配置 · 规划/待确认"/>
          <p:cNvSpPr txBox="1"/>
          <p:nvPr/>
        </p:nvSpPr>
        <p:spPr>
          <a:xfrm>
            <a:off x="4549902" y="3036326"/>
            <a:ext cx="228241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ip_regs  接口与配置 · 规划/待确认</a:t>
            </a:r>
          </a:p>
        </p:txBody>
      </p:sp>
      <p:sp>
        <p:nvSpPr>
          <p:cNvPr id="42" name="text-042: IP 配置寄存器"/>
          <p:cNvSpPr txBox="1"/>
          <p:nvPr/>
        </p:nvSpPr>
        <p:spPr>
          <a:xfrm>
            <a:off x="5870734" y="3205734"/>
            <a:ext cx="106013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配置寄存器</a:t>
            </a:r>
          </a:p>
        </p:txBody>
      </p:sp>
      <p:sp>
        <p:nvSpPr>
          <p:cNvPr id="43" name="text-043: 命令 / 状态（规划）"/>
          <p:cNvSpPr txBox="1"/>
          <p:nvPr/>
        </p:nvSpPr>
        <p:spPr>
          <a:xfrm>
            <a:off x="5729116" y="3387943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状态（规划）</a:t>
            </a:r>
          </a:p>
        </p:txBody>
      </p:sp>
      <p:sp>
        <p:nvSpPr>
          <p:cNvPr id="44" name="rect-044"/>
          <p:cNvSpPr/>
          <p:nvPr/>
        </p:nvSpPr>
        <p:spPr>
          <a:xfrm>
            <a:off x="4533900" y="3685794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4-target"/>
          <p:cNvSpPr/>
          <p:nvPr/>
        </p:nvSpPr>
        <p:spPr>
          <a:xfrm>
            <a:off x="4373880" y="381914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4 ↔ cdc"/>
          <p:cNvSpPr txBox="1"/>
          <p:nvPr/>
        </p:nvSpPr>
        <p:spPr>
          <a:xfrm>
            <a:off x="4715256" y="372931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↔ cdc</a:t>
            </a:r>
          </a:p>
        </p:txBody>
      </p:sp>
      <p:sp>
        <p:nvSpPr>
          <p:cNvPr id="47" name="E06-target"/>
          <p:cNvSpPr/>
          <p:nvPr/>
        </p:nvSpPr>
        <p:spPr>
          <a:xfrm>
            <a:off x="4373880" y="400583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6 ← ip_clock"/>
          <p:cNvSpPr txBox="1"/>
          <p:nvPr/>
        </p:nvSpPr>
        <p:spPr>
          <a:xfrm>
            <a:off x="4715256" y="3916009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← ip_clock</a:t>
            </a:r>
          </a:p>
        </p:txBody>
      </p:sp>
      <p:sp>
        <p:nvSpPr>
          <p:cNvPr id="49" name="E08-source"/>
          <p:cNvSpPr/>
          <p:nvPr/>
        </p:nvSpPr>
        <p:spPr>
          <a:xfrm>
            <a:off x="8155686" y="381914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8 ↔ ip_engine"/>
          <p:cNvSpPr txBox="1"/>
          <p:nvPr/>
        </p:nvSpPr>
        <p:spPr>
          <a:xfrm>
            <a:off x="6719240" y="3729319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E08 ↔ ip_engine</a:t>
            </a:r>
          </a:p>
        </p:txBody>
      </p:sp>
      <p:sp>
        <p:nvSpPr>
          <p:cNvPr id="51" name="rect-051"/>
          <p:cNvSpPr/>
          <p:nvPr/>
        </p:nvSpPr>
        <p:spPr>
          <a:xfrm>
            <a:off x="4453890" y="4416552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irq_sync  接口与配置"/>
          <p:cNvSpPr txBox="1"/>
          <p:nvPr/>
        </p:nvSpPr>
        <p:spPr>
          <a:xfrm>
            <a:off x="4549902" y="4444502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irq_sync  接口与配置</a:t>
            </a:r>
          </a:p>
        </p:txBody>
      </p:sp>
      <p:sp>
        <p:nvSpPr>
          <p:cNvPr id="53" name="text-053: i_ext_intr_sync"/>
          <p:cNvSpPr txBox="1"/>
          <p:nvPr/>
        </p:nvSpPr>
        <p:spPr>
          <a:xfrm>
            <a:off x="5684044" y="4613910"/>
            <a:ext cx="143351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i_ext_intr_sync</a:t>
            </a:r>
          </a:p>
        </p:txBody>
      </p:sp>
      <p:sp>
        <p:nvSpPr>
          <p:cNvPr id="54" name="text-054: 外部 IRQ 同步"/>
          <p:cNvSpPr txBox="1"/>
          <p:nvPr/>
        </p:nvSpPr>
        <p:spPr>
          <a:xfrm>
            <a:off x="5894737" y="4796119"/>
            <a:ext cx="101212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同步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509397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10-target"/>
          <p:cNvSpPr/>
          <p:nvPr/>
        </p:nvSpPr>
        <p:spPr>
          <a:xfrm>
            <a:off x="4373880" y="52273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10 ← irq_state"/>
          <p:cNvSpPr txBox="1"/>
          <p:nvPr/>
        </p:nvSpPr>
        <p:spPr>
          <a:xfrm>
            <a:off x="4715256" y="5137495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← irq_state</a:t>
            </a:r>
          </a:p>
        </p:txBody>
      </p:sp>
      <p:sp>
        <p:nvSpPr>
          <p:cNvPr id="58" name="E11-source"/>
          <p:cNvSpPr/>
          <p:nvPr/>
        </p:nvSpPr>
        <p:spPr>
          <a:xfrm>
            <a:off x="8155686" y="522732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11 → irq_target"/>
          <p:cNvSpPr txBox="1"/>
          <p:nvPr/>
        </p:nvSpPr>
        <p:spPr>
          <a:xfrm>
            <a:off x="6639496" y="5137495"/>
            <a:ext cx="144151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E11 → irq_target</a:t>
            </a:r>
          </a:p>
        </p:txBody>
      </p:sp>
      <p:sp>
        <p:nvSpPr>
          <p:cNvPr id="60" name="rect-060"/>
          <p:cNvSpPr/>
          <p:nvPr/>
        </p:nvSpPr>
        <p:spPr>
          <a:xfrm>
            <a:off x="8694420" y="1786890"/>
            <a:ext cx="3893820" cy="138150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cdc  接口与配置 · 规划/待确认"/>
          <p:cNvSpPr txBox="1"/>
          <p:nvPr/>
        </p:nvSpPr>
        <p:spPr>
          <a:xfrm>
            <a:off x="8790432" y="1814840"/>
            <a:ext cx="1977314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cdc  接口与配置 · 规划/待确认</a:t>
            </a:r>
          </a:p>
        </p:txBody>
      </p:sp>
      <p:sp>
        <p:nvSpPr>
          <p:cNvPr id="62" name="text-062: reg_cdc（拟增实例）"/>
          <p:cNvSpPr txBox="1"/>
          <p:nvPr/>
        </p:nvSpPr>
        <p:spPr>
          <a:xfrm>
            <a:off x="9871234" y="1984248"/>
            <a:ext cx="15401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reg_cdc（拟增实例）</a:t>
            </a:r>
          </a:p>
        </p:txBody>
      </p:sp>
      <p:sp>
        <p:nvSpPr>
          <p:cNvPr id="63" name="text-063: 请求与响应成组跨域"/>
          <p:cNvSpPr txBox="1"/>
          <p:nvPr/>
        </p:nvSpPr>
        <p:spPr>
          <a:xfrm>
            <a:off x="10027920" y="2166457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请求与响应成组跨域</a:t>
            </a:r>
          </a:p>
        </p:txBody>
      </p:sp>
      <p:sp>
        <p:nvSpPr>
          <p:cNvPr id="64" name="rect-064"/>
          <p:cNvSpPr/>
          <p:nvPr/>
        </p:nvSpPr>
        <p:spPr>
          <a:xfrm>
            <a:off x="8774430" y="2464308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02-target"/>
          <p:cNvSpPr/>
          <p:nvPr/>
        </p:nvSpPr>
        <p:spPr>
          <a:xfrm>
            <a:off x="8614410" y="25976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2 ↔ regbus"/>
          <p:cNvSpPr txBox="1"/>
          <p:nvPr/>
        </p:nvSpPr>
        <p:spPr>
          <a:xfrm>
            <a:off x="8955786" y="2507833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E02 ↔ regbus</a:t>
            </a:r>
          </a:p>
        </p:txBody>
      </p:sp>
      <p:sp>
        <p:nvSpPr>
          <p:cNvPr id="67" name="E03-target"/>
          <p:cNvSpPr/>
          <p:nvPr/>
        </p:nvSpPr>
        <p:spPr>
          <a:xfrm>
            <a:off x="8614410" y="278434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3 ← soc_clock"/>
          <p:cNvSpPr txBox="1"/>
          <p:nvPr/>
        </p:nvSpPr>
        <p:spPr>
          <a:xfrm>
            <a:off x="8955786" y="2694523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← soc_clock</a:t>
            </a:r>
          </a:p>
        </p:txBody>
      </p:sp>
      <p:sp>
        <p:nvSpPr>
          <p:cNvPr id="69" name="E05-target"/>
          <p:cNvSpPr/>
          <p:nvPr/>
        </p:nvSpPr>
        <p:spPr>
          <a:xfrm>
            <a:off x="8614410" y="297103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5 ← ip_clock"/>
          <p:cNvSpPr txBox="1"/>
          <p:nvPr/>
        </p:nvSpPr>
        <p:spPr>
          <a:xfrm>
            <a:off x="8955786" y="2881213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← ip_clock</a:t>
            </a:r>
          </a:p>
        </p:txBody>
      </p:sp>
      <p:sp>
        <p:nvSpPr>
          <p:cNvPr id="71" name="E04-source"/>
          <p:cNvSpPr/>
          <p:nvPr/>
        </p:nvSpPr>
        <p:spPr>
          <a:xfrm>
            <a:off x="12396216" y="259765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4 ↔ ip_regs"/>
          <p:cNvSpPr txBox="1"/>
          <p:nvPr/>
        </p:nvSpPr>
        <p:spPr>
          <a:xfrm>
            <a:off x="11119256" y="2507833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↔ ip_regs</a:t>
            </a:r>
          </a:p>
        </p:txBody>
      </p:sp>
      <p:sp>
        <p:nvSpPr>
          <p:cNvPr id="73" name="rect-073"/>
          <p:cNvSpPr/>
          <p:nvPr/>
        </p:nvSpPr>
        <p:spPr>
          <a:xfrm>
            <a:off x="8694420" y="3381756"/>
            <a:ext cx="3893820" cy="138150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ip_clock  外部/组边界 · 规划/待确认"/>
          <p:cNvSpPr txBox="1"/>
          <p:nvPr/>
        </p:nvSpPr>
        <p:spPr>
          <a:xfrm>
            <a:off x="8790432" y="3409706"/>
            <a:ext cx="243497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ip_clock  外部/组边界 · 规划/待确认</a:t>
            </a:r>
          </a:p>
        </p:txBody>
      </p:sp>
      <p:sp>
        <p:nvSpPr>
          <p:cNvPr id="75" name="text-075: IP 时钟 / 复位"/>
          <p:cNvSpPr txBox="1"/>
          <p:nvPr/>
        </p:nvSpPr>
        <p:spPr>
          <a:xfrm>
            <a:off x="10047922" y="3579114"/>
            <a:ext cx="11868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时钟 / 复位</a:t>
            </a:r>
          </a:p>
        </p:txBody>
      </p:sp>
      <p:sp>
        <p:nvSpPr>
          <p:cNvPr id="76" name="text-076: 平台域划分待定"/>
          <p:cNvSpPr txBox="1"/>
          <p:nvPr/>
        </p:nvSpPr>
        <p:spPr>
          <a:xfrm>
            <a:off x="10150602" y="3761323"/>
            <a:ext cx="98145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平台域划分待定</a:t>
            </a:r>
          </a:p>
        </p:txBody>
      </p:sp>
      <p:sp>
        <p:nvSpPr>
          <p:cNvPr id="77" name="rect-077"/>
          <p:cNvSpPr/>
          <p:nvPr/>
        </p:nvSpPr>
        <p:spPr>
          <a:xfrm>
            <a:off x="8774430" y="4059174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05-source"/>
          <p:cNvSpPr/>
          <p:nvPr/>
        </p:nvSpPr>
        <p:spPr>
          <a:xfrm>
            <a:off x="12396216" y="419252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5 → cdc"/>
          <p:cNvSpPr txBox="1"/>
          <p:nvPr/>
        </p:nvSpPr>
        <p:spPr>
          <a:xfrm>
            <a:off x="11438230" y="4102699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E05 → cdc</a:t>
            </a:r>
          </a:p>
        </p:txBody>
      </p:sp>
      <p:sp>
        <p:nvSpPr>
          <p:cNvPr id="80" name="E06-source"/>
          <p:cNvSpPr/>
          <p:nvPr/>
        </p:nvSpPr>
        <p:spPr>
          <a:xfrm>
            <a:off x="12396216" y="437921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6 → ip_regs"/>
          <p:cNvSpPr txBox="1"/>
          <p:nvPr/>
        </p:nvSpPr>
        <p:spPr>
          <a:xfrm>
            <a:off x="11119256" y="4289389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E06 → ip_regs</a:t>
            </a:r>
          </a:p>
        </p:txBody>
      </p:sp>
      <p:sp>
        <p:nvSpPr>
          <p:cNvPr id="82" name="E07-source"/>
          <p:cNvSpPr/>
          <p:nvPr/>
        </p:nvSpPr>
        <p:spPr>
          <a:xfrm>
            <a:off x="12396216" y="4565904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7 → ip_engine"/>
          <p:cNvSpPr txBox="1"/>
          <p:nvPr/>
        </p:nvSpPr>
        <p:spPr>
          <a:xfrm>
            <a:off x="10959770" y="4476079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E07 → ip_engine</a:t>
            </a:r>
          </a:p>
        </p:txBody>
      </p:sp>
      <p:sp>
        <p:nvSpPr>
          <p:cNvPr id="84" name="rect-084"/>
          <p:cNvSpPr/>
          <p:nvPr/>
        </p:nvSpPr>
        <p:spPr>
          <a:xfrm>
            <a:off x="8694420" y="4976622"/>
            <a:ext cx="3893820" cy="100812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irq_state  接口与配置 · 规划/待确认"/>
          <p:cNvSpPr txBox="1"/>
          <p:nvPr/>
        </p:nvSpPr>
        <p:spPr>
          <a:xfrm>
            <a:off x="8790432" y="5004572"/>
            <a:ext cx="243497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irq_state  接口与配置 · 规划/待确认</a:t>
            </a:r>
          </a:p>
        </p:txBody>
      </p:sp>
      <p:sp>
        <p:nvSpPr>
          <p:cNvPr id="86" name="text-086: IP IRQ 状态保持"/>
          <p:cNvSpPr txBox="1"/>
          <p:nvPr/>
        </p:nvSpPr>
        <p:spPr>
          <a:xfrm>
            <a:off x="10004584" y="5173980"/>
            <a:ext cx="127349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IRQ 状态保持</a:t>
            </a:r>
          </a:p>
        </p:txBody>
      </p:sp>
      <p:sp>
        <p:nvSpPr>
          <p:cNvPr id="87" name="text-087: 原因记录 / 软件清除"/>
          <p:cNvSpPr txBox="1"/>
          <p:nvPr/>
        </p:nvSpPr>
        <p:spPr>
          <a:xfrm>
            <a:off x="9969646" y="5356189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原因记录 / 软件清除</a:t>
            </a:r>
          </a:p>
        </p:txBody>
      </p:sp>
      <p:sp>
        <p:nvSpPr>
          <p:cNvPr id="88" name="rect-088"/>
          <p:cNvSpPr/>
          <p:nvPr/>
        </p:nvSpPr>
        <p:spPr>
          <a:xfrm>
            <a:off x="8774430" y="565404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E09-target"/>
          <p:cNvSpPr/>
          <p:nvPr/>
        </p:nvSpPr>
        <p:spPr>
          <a:xfrm>
            <a:off x="8614410" y="578739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E09 ← ip_engine"/>
          <p:cNvSpPr txBox="1"/>
          <p:nvPr/>
        </p:nvSpPr>
        <p:spPr>
          <a:xfrm>
            <a:off x="8955786" y="5697565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E09 ← ip_engine</a:t>
            </a:r>
          </a:p>
        </p:txBody>
      </p:sp>
      <p:sp>
        <p:nvSpPr>
          <p:cNvPr id="91" name="E10-source"/>
          <p:cNvSpPr/>
          <p:nvPr/>
        </p:nvSpPr>
        <p:spPr>
          <a:xfrm>
            <a:off x="12396216" y="578739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E10 → irq_sync"/>
          <p:cNvSpPr txBox="1"/>
          <p:nvPr/>
        </p:nvSpPr>
        <p:spPr>
          <a:xfrm>
            <a:off x="11039513" y="5697565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E10 → irq_sync</a:t>
            </a:r>
          </a:p>
        </p:txBody>
      </p:sp>
      <p:sp>
        <p:nvSpPr>
          <p:cNvPr id="93" name="text-093: 候选接法：寄存器银行位于 IP 域。reg_cdc 源码已有，图中接入实例未实现"/>
          <p:cNvSpPr txBox="1"/>
          <p:nvPr/>
        </p:nvSpPr>
        <p:spPr>
          <a:xfrm>
            <a:off x="213360" y="6118951"/>
            <a:ext cx="650828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候选接法：寄存器银行位于 IP 域。reg_cdc 源码已有，图中接入实例未实现；本图不规定 PLL 频率或域划分。</a:t>
            </a:r>
          </a:p>
        </p:txBody>
      </p:sp>
      <p:sp>
        <p:nvSpPr>
          <p:cNvPr id="94" name="text-094: 配对端口表示图示连接；已有/规划状态见模块和连接表。方向与 A 版一致。虚线模块"/>
          <p:cNvSpPr txBox="1"/>
          <p:nvPr/>
        </p:nvSpPr>
        <p:spPr>
          <a:xfrm>
            <a:off x="213360" y="6667927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规划图像链与 DDR / GB 搬运职责"/>
          <p:cNvSpPr txBox="1"/>
          <p:nvPr/>
        </p:nvSpPr>
        <p:spPr>
          <a:xfrm>
            <a:off x="213360" y="743773"/>
            <a:ext cx="29870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规划图像链与 DDR / GB 搬运职责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018794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1456182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lvds  内部工作逻辑 · 规划/待确认"/>
          <p:cNvSpPr txBox="1"/>
          <p:nvPr/>
        </p:nvSpPr>
        <p:spPr>
          <a:xfrm>
            <a:off x="309372" y="1484132"/>
            <a:ext cx="217093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lvds  内部工作逻辑 · 规划/待确认</a:t>
            </a:r>
          </a:p>
        </p:txBody>
      </p:sp>
      <p:sp>
        <p:nvSpPr>
          <p:cNvPr id="6" name="text-006: LVDS 接收前端"/>
          <p:cNvSpPr txBox="1"/>
          <p:nvPr/>
        </p:nvSpPr>
        <p:spPr>
          <a:xfrm>
            <a:off x="1610201" y="1653540"/>
            <a:ext cx="11001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LVDS 接收前端</a:t>
            </a:r>
          </a:p>
        </p:txBody>
      </p:sp>
      <p:sp>
        <p:nvSpPr>
          <p:cNvPr id="7" name="text-007: 解串 / 字行帧对齐"/>
          <p:cNvSpPr txBox="1"/>
          <p:nvPr/>
        </p:nvSpPr>
        <p:spPr>
          <a:xfrm>
            <a:off x="1549927" y="1835749"/>
            <a:ext cx="12206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解串 / 字行帧对齐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213360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1-source"/>
          <p:cNvSpPr/>
          <p:nvPr/>
        </p:nvSpPr>
        <p:spPr>
          <a:xfrm>
            <a:off x="3915156" y="22669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1 → fifo"/>
          <p:cNvSpPr txBox="1"/>
          <p:nvPr/>
        </p:nvSpPr>
        <p:spPr>
          <a:xfrm>
            <a:off x="2877426" y="2177125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→ fifo</a:t>
            </a:r>
          </a:p>
        </p:txBody>
      </p:sp>
      <p:sp>
        <p:nvSpPr>
          <p:cNvPr id="11" name="rect-011"/>
          <p:cNvSpPr/>
          <p:nvPr/>
        </p:nvSpPr>
        <p:spPr>
          <a:xfrm>
            <a:off x="213360" y="2677668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frame_dma  内部工作逻辑 · 规划/待确认"/>
          <p:cNvSpPr txBox="1"/>
          <p:nvPr/>
        </p:nvSpPr>
        <p:spPr>
          <a:xfrm>
            <a:off x="309372" y="2705618"/>
            <a:ext cx="2552319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frame_dma  内部工作逻辑 · 规划/待确认</a:t>
            </a:r>
          </a:p>
        </p:txBody>
      </p:sp>
      <p:sp>
        <p:nvSpPr>
          <p:cNvPr id="13" name="text-013: 帧写入 DMA"/>
          <p:cNvSpPr txBox="1"/>
          <p:nvPr/>
        </p:nvSpPr>
        <p:spPr>
          <a:xfrm>
            <a:off x="1720215" y="2875026"/>
            <a:ext cx="88011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帧写入 DMA</a:t>
            </a:r>
          </a:p>
        </p:txBody>
      </p:sp>
      <p:sp>
        <p:nvSpPr>
          <p:cNvPr id="14" name="text-014: 地址 / W打包 / B计数"/>
          <p:cNvSpPr txBox="1"/>
          <p:nvPr/>
        </p:nvSpPr>
        <p:spPr>
          <a:xfrm>
            <a:off x="1411910" y="3057235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W打包 / B计数</a:t>
            </a:r>
          </a:p>
        </p:txBody>
      </p:sp>
      <p:sp>
        <p:nvSpPr>
          <p:cNvPr id="15" name="rect-015"/>
          <p:cNvSpPr/>
          <p:nvPr/>
        </p:nvSpPr>
        <p:spPr>
          <a:xfrm>
            <a:off x="293370" y="335508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E03-target"/>
          <p:cNvSpPr/>
          <p:nvPr/>
        </p:nvSpPr>
        <p:spPr>
          <a:xfrm>
            <a:off x="133350" y="34884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E03 ← isp"/>
          <p:cNvSpPr txBox="1"/>
          <p:nvPr/>
        </p:nvSpPr>
        <p:spPr>
          <a:xfrm>
            <a:off x="474726" y="33986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← isp</a:t>
            </a:r>
          </a:p>
        </p:txBody>
      </p:sp>
      <p:sp>
        <p:nvSpPr>
          <p:cNvPr id="18" name="E04-source"/>
          <p:cNvSpPr/>
          <p:nvPr/>
        </p:nvSpPr>
        <p:spPr>
          <a:xfrm>
            <a:off x="3915156" y="34884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E04 ↔ ddr"/>
          <p:cNvSpPr txBox="1"/>
          <p:nvPr/>
        </p:nvSpPr>
        <p:spPr>
          <a:xfrm>
            <a:off x="2957170" y="339861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ddr</a:t>
            </a:r>
          </a:p>
        </p:txBody>
      </p:sp>
      <p:sp>
        <p:nvSpPr>
          <p:cNvPr id="20" name="rect-020"/>
          <p:cNvSpPr/>
          <p:nvPr/>
        </p:nvSpPr>
        <p:spPr>
          <a:xfrm>
            <a:off x="213360" y="3899154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move  内部工作逻辑 · 规划/待确认"/>
          <p:cNvSpPr txBox="1"/>
          <p:nvPr/>
        </p:nvSpPr>
        <p:spPr>
          <a:xfrm>
            <a:off x="309372" y="3927104"/>
            <a:ext cx="217093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move  内部工作逻辑 · 规划/待确认</a:t>
            </a:r>
          </a:p>
        </p:txBody>
      </p:sp>
      <p:sp>
        <p:nvSpPr>
          <p:cNvPr id="22" name="text-022: NPU / GB 搬运器"/>
          <p:cNvSpPr txBox="1"/>
          <p:nvPr/>
        </p:nvSpPr>
        <p:spPr>
          <a:xfrm>
            <a:off x="1503521" y="4096512"/>
            <a:ext cx="131349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GB 搬运器</a:t>
            </a:r>
          </a:p>
        </p:txBody>
      </p:sp>
      <p:sp>
        <p:nvSpPr>
          <p:cNvPr id="23" name="text-023: DDR ↔ GB 显式搬运"/>
          <p:cNvSpPr txBox="1"/>
          <p:nvPr/>
        </p:nvSpPr>
        <p:spPr>
          <a:xfrm>
            <a:off x="1473251" y="4278721"/>
            <a:ext cx="13740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↔ GB 显式搬运</a:t>
            </a:r>
          </a:p>
        </p:txBody>
      </p:sp>
      <p:sp>
        <p:nvSpPr>
          <p:cNvPr id="24" name="rect-024"/>
          <p:cNvSpPr/>
          <p:nvPr/>
        </p:nvSpPr>
        <p:spPr>
          <a:xfrm>
            <a:off x="293370" y="4576572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06-source"/>
          <p:cNvSpPr/>
          <p:nvPr/>
        </p:nvSpPr>
        <p:spPr>
          <a:xfrm>
            <a:off x="3915156" y="470992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E06 ↔ ddr"/>
          <p:cNvSpPr txBox="1"/>
          <p:nvPr/>
        </p:nvSpPr>
        <p:spPr>
          <a:xfrm>
            <a:off x="2957170" y="462009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ddr</a:t>
            </a:r>
          </a:p>
        </p:txBody>
      </p:sp>
      <p:sp>
        <p:nvSpPr>
          <p:cNvPr id="27" name="E07-source"/>
          <p:cNvSpPr/>
          <p:nvPr/>
        </p:nvSpPr>
        <p:spPr>
          <a:xfrm>
            <a:off x="3915156" y="489661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E07 ↔ gb_adapt"/>
          <p:cNvSpPr txBox="1"/>
          <p:nvPr/>
        </p:nvSpPr>
        <p:spPr>
          <a:xfrm>
            <a:off x="2558453" y="4806787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gb_adapt</a:t>
            </a:r>
          </a:p>
        </p:txBody>
      </p:sp>
      <p:sp>
        <p:nvSpPr>
          <p:cNvPr id="29" name="rect-029"/>
          <p:cNvSpPr/>
          <p:nvPr/>
        </p:nvSpPr>
        <p:spPr>
          <a:xfrm>
            <a:off x="213360" y="5307330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npu  内部工作逻辑 · 规划/待确认"/>
          <p:cNvSpPr txBox="1"/>
          <p:nvPr/>
        </p:nvSpPr>
        <p:spPr>
          <a:xfrm>
            <a:off x="309372" y="5335280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npu  内部工作逻辑 · 规划/待确认</a:t>
            </a:r>
          </a:p>
        </p:txBody>
      </p:sp>
      <p:sp>
        <p:nvSpPr>
          <p:cNvPr id="31" name="text-031: NPU 计算引擎"/>
          <p:cNvSpPr txBox="1"/>
          <p:nvPr/>
        </p:nvSpPr>
        <p:spPr>
          <a:xfrm>
            <a:off x="1653540" y="5504688"/>
            <a:ext cx="101346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计算引擎</a:t>
            </a:r>
          </a:p>
        </p:txBody>
      </p:sp>
      <p:sp>
        <p:nvSpPr>
          <p:cNvPr id="32" name="text-032: 消费 / 产生局部数据"/>
          <p:cNvSpPr txBox="1"/>
          <p:nvPr/>
        </p:nvSpPr>
        <p:spPr>
          <a:xfrm>
            <a:off x="1488586" y="5686897"/>
            <a:ext cx="134336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 / 产生局部数据</a:t>
            </a:r>
          </a:p>
        </p:txBody>
      </p:sp>
      <p:sp>
        <p:nvSpPr>
          <p:cNvPr id="33" name="rect-033"/>
          <p:cNvSpPr/>
          <p:nvPr/>
        </p:nvSpPr>
        <p:spPr>
          <a:xfrm>
            <a:off x="293370" y="5984748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8-source"/>
          <p:cNvSpPr/>
          <p:nvPr/>
        </p:nvSpPr>
        <p:spPr>
          <a:xfrm>
            <a:off x="3915156" y="6118098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8 ↔ gb_adapt"/>
          <p:cNvSpPr txBox="1"/>
          <p:nvPr/>
        </p:nvSpPr>
        <p:spPr>
          <a:xfrm>
            <a:off x="2558453" y="6028273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gb_adapt</a:t>
            </a:r>
          </a:p>
        </p:txBody>
      </p:sp>
      <p:sp>
        <p:nvSpPr>
          <p:cNvPr id="36" name="rect-036"/>
          <p:cNvSpPr/>
          <p:nvPr/>
        </p:nvSpPr>
        <p:spPr>
          <a:xfrm>
            <a:off x="4453890" y="1456182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fifo  内部工作逻辑 · 规划/待确认"/>
          <p:cNvSpPr txBox="1"/>
          <p:nvPr/>
        </p:nvSpPr>
        <p:spPr>
          <a:xfrm>
            <a:off x="4549902" y="1484132"/>
            <a:ext cx="217093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fifo  内部工作逻辑 · 规划/待确认</a:t>
            </a:r>
          </a:p>
        </p:txBody>
      </p:sp>
      <p:sp>
        <p:nvSpPr>
          <p:cNvPr id="38" name="text-038: 打包 / CDC FIFO"/>
          <p:cNvSpPr txBox="1"/>
          <p:nvPr/>
        </p:nvSpPr>
        <p:spPr>
          <a:xfrm>
            <a:off x="5724049" y="1653540"/>
            <a:ext cx="135350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打包 / CDC FIFO</a:t>
            </a:r>
          </a:p>
        </p:txBody>
      </p:sp>
      <p:sp>
        <p:nvSpPr>
          <p:cNvPr id="39" name="text-039: 像素与同步标志配对"/>
          <p:cNvSpPr txBox="1"/>
          <p:nvPr/>
        </p:nvSpPr>
        <p:spPr>
          <a:xfrm>
            <a:off x="5787390" y="1835749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像素与同步标志配对</a:t>
            </a:r>
          </a:p>
        </p:txBody>
      </p:sp>
      <p:sp>
        <p:nvSpPr>
          <p:cNvPr id="40" name="rect-040"/>
          <p:cNvSpPr/>
          <p:nvPr/>
        </p:nvSpPr>
        <p:spPr>
          <a:xfrm>
            <a:off x="4533900" y="2133600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1-target"/>
          <p:cNvSpPr/>
          <p:nvPr/>
        </p:nvSpPr>
        <p:spPr>
          <a:xfrm>
            <a:off x="4373880" y="22669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1 ← lvds"/>
          <p:cNvSpPr txBox="1"/>
          <p:nvPr/>
        </p:nvSpPr>
        <p:spPr>
          <a:xfrm>
            <a:off x="4715256" y="2177125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E01 ← lvds</a:t>
            </a:r>
          </a:p>
        </p:txBody>
      </p:sp>
      <p:sp>
        <p:nvSpPr>
          <p:cNvPr id="43" name="E02-source"/>
          <p:cNvSpPr/>
          <p:nvPr/>
        </p:nvSpPr>
        <p:spPr>
          <a:xfrm>
            <a:off x="8155686" y="22669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2 → isp"/>
          <p:cNvSpPr txBox="1"/>
          <p:nvPr/>
        </p:nvSpPr>
        <p:spPr>
          <a:xfrm>
            <a:off x="7197700" y="2177125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→ isp</a:t>
            </a:r>
          </a:p>
        </p:txBody>
      </p:sp>
      <p:sp>
        <p:nvSpPr>
          <p:cNvPr id="45" name="rect-045"/>
          <p:cNvSpPr/>
          <p:nvPr/>
        </p:nvSpPr>
        <p:spPr>
          <a:xfrm>
            <a:off x="4453890" y="2677668"/>
            <a:ext cx="3893820" cy="138150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ddr  外部/组边界 · 规划/待确认"/>
          <p:cNvSpPr txBox="1"/>
          <p:nvPr/>
        </p:nvSpPr>
        <p:spPr>
          <a:xfrm>
            <a:off x="4549902" y="2705618"/>
            <a:ext cx="205359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ddr  外部/组边界 · 规划/待确认</a:t>
            </a:r>
          </a:p>
        </p:txBody>
      </p:sp>
      <p:sp>
        <p:nvSpPr>
          <p:cNvPr id="47" name="text-047: DDR Controller / PHY"/>
          <p:cNvSpPr txBox="1"/>
          <p:nvPr/>
        </p:nvSpPr>
        <p:spPr>
          <a:xfrm>
            <a:off x="5467350" y="2875026"/>
            <a:ext cx="18669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Controller / PHY</a:t>
            </a:r>
          </a:p>
        </p:txBody>
      </p:sp>
      <p:sp>
        <p:nvSpPr>
          <p:cNvPr id="48" name="text-048: 端口 / 训练 / 仲裁待定"/>
          <p:cNvSpPr txBox="1"/>
          <p:nvPr/>
        </p:nvSpPr>
        <p:spPr>
          <a:xfrm>
            <a:off x="5609501" y="3057235"/>
            <a:ext cx="158259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端口 / 训练 / 仲裁待定</a:t>
            </a:r>
          </a:p>
        </p:txBody>
      </p:sp>
      <p:sp>
        <p:nvSpPr>
          <p:cNvPr id="49" name="rect-049"/>
          <p:cNvSpPr/>
          <p:nvPr/>
        </p:nvSpPr>
        <p:spPr>
          <a:xfrm>
            <a:off x="4533900" y="3355086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04-target"/>
          <p:cNvSpPr/>
          <p:nvPr/>
        </p:nvSpPr>
        <p:spPr>
          <a:xfrm>
            <a:off x="4373880" y="348843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4 ↔ frame_dma"/>
          <p:cNvSpPr txBox="1"/>
          <p:nvPr/>
        </p:nvSpPr>
        <p:spPr>
          <a:xfrm>
            <a:off x="4715256" y="3398611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E04 ↔ frame_dma</a:t>
            </a:r>
          </a:p>
        </p:txBody>
      </p:sp>
      <p:sp>
        <p:nvSpPr>
          <p:cNvPr id="52" name="E05-target"/>
          <p:cNvSpPr/>
          <p:nvPr/>
        </p:nvSpPr>
        <p:spPr>
          <a:xfrm>
            <a:off x="4373880" y="36751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5 ↔ llc_out"/>
          <p:cNvSpPr txBox="1"/>
          <p:nvPr/>
        </p:nvSpPr>
        <p:spPr>
          <a:xfrm>
            <a:off x="4715256" y="3585301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llc_out</a:t>
            </a:r>
          </a:p>
        </p:txBody>
      </p:sp>
      <p:sp>
        <p:nvSpPr>
          <p:cNvPr id="54" name="E06-target"/>
          <p:cNvSpPr/>
          <p:nvPr/>
        </p:nvSpPr>
        <p:spPr>
          <a:xfrm>
            <a:off x="4373880" y="386181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6 ↔ move"/>
          <p:cNvSpPr txBox="1"/>
          <p:nvPr/>
        </p:nvSpPr>
        <p:spPr>
          <a:xfrm>
            <a:off x="4715256" y="3771991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move</a:t>
            </a:r>
          </a:p>
        </p:txBody>
      </p:sp>
      <p:sp>
        <p:nvSpPr>
          <p:cNvPr id="56" name="rect-056"/>
          <p:cNvSpPr/>
          <p:nvPr/>
        </p:nvSpPr>
        <p:spPr>
          <a:xfrm>
            <a:off x="4453890" y="4272534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gb  状态/存储 · 规划/待确认"/>
          <p:cNvSpPr txBox="1"/>
          <p:nvPr/>
        </p:nvSpPr>
        <p:spPr>
          <a:xfrm>
            <a:off x="4549902" y="4300484"/>
            <a:ext cx="1859966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gb  状态/存储 · 规划/待确认</a:t>
            </a:r>
          </a:p>
        </p:txBody>
      </p:sp>
      <p:sp>
        <p:nvSpPr>
          <p:cNvPr id="58" name="text-058: Global Buffer"/>
          <p:cNvSpPr txBox="1"/>
          <p:nvPr/>
        </p:nvSpPr>
        <p:spPr>
          <a:xfrm>
            <a:off x="5770721" y="4469892"/>
            <a:ext cx="12601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Global Buffer</a:t>
            </a:r>
          </a:p>
        </p:txBody>
      </p:sp>
      <p:sp>
        <p:nvSpPr>
          <p:cNvPr id="59" name="text-059: 独立 SRAM；容量待定"/>
          <p:cNvSpPr txBox="1"/>
          <p:nvPr/>
        </p:nvSpPr>
        <p:spPr>
          <a:xfrm>
            <a:off x="5710714" y="4652101"/>
            <a:ext cx="138017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SRAM；容量待定</a:t>
            </a:r>
          </a:p>
        </p:txBody>
      </p:sp>
      <p:sp>
        <p:nvSpPr>
          <p:cNvPr id="60" name="rect-060"/>
          <p:cNvSpPr/>
          <p:nvPr/>
        </p:nvSpPr>
        <p:spPr>
          <a:xfrm>
            <a:off x="4533900" y="4949952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10-target"/>
          <p:cNvSpPr/>
          <p:nvPr/>
        </p:nvSpPr>
        <p:spPr>
          <a:xfrm>
            <a:off x="4373880" y="508330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10 ↔ gb_adapt"/>
          <p:cNvSpPr txBox="1"/>
          <p:nvPr/>
        </p:nvSpPr>
        <p:spPr>
          <a:xfrm>
            <a:off x="4715256" y="4993477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gb_adapt</a:t>
            </a:r>
          </a:p>
        </p:txBody>
      </p:sp>
      <p:sp>
        <p:nvSpPr>
          <p:cNvPr id="63" name="rect-063"/>
          <p:cNvSpPr/>
          <p:nvPr/>
        </p:nvSpPr>
        <p:spPr>
          <a:xfrm>
            <a:off x="8694420" y="1456182"/>
            <a:ext cx="3893820" cy="119481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isp  内部工作逻辑 · 规划/待确认"/>
          <p:cNvSpPr txBox="1"/>
          <p:nvPr/>
        </p:nvSpPr>
        <p:spPr>
          <a:xfrm>
            <a:off x="8790432" y="1484132"/>
            <a:ext cx="209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isp  内部工作逻辑 · 规划/待确认</a:t>
            </a:r>
          </a:p>
        </p:txBody>
      </p:sp>
      <p:sp>
        <p:nvSpPr>
          <p:cNvPr id="65" name="text-065: ISP / RAW 选择组"/>
          <p:cNvSpPr txBox="1"/>
          <p:nvPr/>
        </p:nvSpPr>
        <p:spPr>
          <a:xfrm>
            <a:off x="9941242" y="1653540"/>
            <a:ext cx="140017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ISP / RAW 选择组</a:t>
            </a:r>
          </a:p>
        </p:txBody>
      </p:sp>
      <p:sp>
        <p:nvSpPr>
          <p:cNvPr id="66" name="text-066: 帧边界选择一路输出"/>
          <p:cNvSpPr txBox="1"/>
          <p:nvPr/>
        </p:nvSpPr>
        <p:spPr>
          <a:xfrm>
            <a:off x="10027920" y="1835749"/>
            <a:ext cx="12268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帧边界选择一路输出</a:t>
            </a:r>
          </a:p>
        </p:txBody>
      </p:sp>
      <p:sp>
        <p:nvSpPr>
          <p:cNvPr id="67" name="rect-067"/>
          <p:cNvSpPr/>
          <p:nvPr/>
        </p:nvSpPr>
        <p:spPr>
          <a:xfrm>
            <a:off x="8774430" y="2133600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E02-target"/>
          <p:cNvSpPr/>
          <p:nvPr/>
        </p:nvSpPr>
        <p:spPr>
          <a:xfrm>
            <a:off x="8614410" y="22669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2 ← fifo"/>
          <p:cNvSpPr txBox="1"/>
          <p:nvPr/>
        </p:nvSpPr>
        <p:spPr>
          <a:xfrm>
            <a:off x="8955786" y="2177125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← fifo</a:t>
            </a:r>
          </a:p>
        </p:txBody>
      </p:sp>
      <p:sp>
        <p:nvSpPr>
          <p:cNvPr id="70" name="E03-source"/>
          <p:cNvSpPr/>
          <p:nvPr/>
        </p:nvSpPr>
        <p:spPr>
          <a:xfrm>
            <a:off x="12396216" y="226695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3 → frame_dma"/>
          <p:cNvSpPr txBox="1"/>
          <p:nvPr/>
        </p:nvSpPr>
        <p:spPr>
          <a:xfrm>
            <a:off x="10959770" y="2177125"/>
            <a:ext cx="136177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E03 → frame_dma</a:t>
            </a:r>
          </a:p>
        </p:txBody>
      </p:sp>
      <p:sp>
        <p:nvSpPr>
          <p:cNvPr id="72" name="E09-source"/>
          <p:cNvSpPr/>
          <p:nvPr/>
        </p:nvSpPr>
        <p:spPr>
          <a:xfrm>
            <a:off x="12396216" y="2453640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9 ↔ gb_adapt"/>
          <p:cNvSpPr txBox="1"/>
          <p:nvPr/>
        </p:nvSpPr>
        <p:spPr>
          <a:xfrm>
            <a:off x="11039513" y="2363815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gb_adapt</a:t>
            </a:r>
          </a:p>
        </p:txBody>
      </p:sp>
      <p:sp>
        <p:nvSpPr>
          <p:cNvPr id="74" name="rect-074"/>
          <p:cNvSpPr/>
          <p:nvPr/>
        </p:nvSpPr>
        <p:spPr>
          <a:xfrm>
            <a:off x="8694420" y="2864358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llc_out  外部/组边界"/>
          <p:cNvSpPr txBox="1"/>
          <p:nvPr/>
        </p:nvSpPr>
        <p:spPr>
          <a:xfrm>
            <a:off x="8790432" y="2892308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llc_out  外部/组边界</a:t>
            </a:r>
          </a:p>
        </p:txBody>
      </p:sp>
      <p:sp>
        <p:nvSpPr>
          <p:cNvPr id="76" name="text-076: 现有 LLC 外存出口"/>
          <p:cNvSpPr txBox="1"/>
          <p:nvPr/>
        </p:nvSpPr>
        <p:spPr>
          <a:xfrm>
            <a:off x="9957911" y="3061716"/>
            <a:ext cx="13668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 LLC 外存出口</a:t>
            </a:r>
          </a:p>
        </p:txBody>
      </p:sp>
      <p:sp>
        <p:nvSpPr>
          <p:cNvPr id="77" name="text-077: axi_llc_mst_*"/>
          <p:cNvSpPr txBox="1"/>
          <p:nvPr/>
        </p:nvSpPr>
        <p:spPr>
          <a:xfrm>
            <a:off x="10061658" y="3243925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78" name="rect-078"/>
          <p:cNvSpPr/>
          <p:nvPr/>
        </p:nvSpPr>
        <p:spPr>
          <a:xfrm>
            <a:off x="8774430" y="3541776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E05-source"/>
          <p:cNvSpPr/>
          <p:nvPr/>
        </p:nvSpPr>
        <p:spPr>
          <a:xfrm>
            <a:off x="12396216" y="3675126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5 ↔ ddr"/>
          <p:cNvSpPr txBox="1"/>
          <p:nvPr/>
        </p:nvSpPr>
        <p:spPr>
          <a:xfrm>
            <a:off x="11438230" y="3585301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ddr</a:t>
            </a:r>
          </a:p>
        </p:txBody>
      </p:sp>
      <p:sp>
        <p:nvSpPr>
          <p:cNvPr id="81" name="rect-081"/>
          <p:cNvSpPr/>
          <p:nvPr/>
        </p:nvSpPr>
        <p:spPr>
          <a:xfrm>
            <a:off x="8694420" y="4085844"/>
            <a:ext cx="3893820" cy="138150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gb_adapt  内部工作逻辑 · 规划/待确认"/>
          <p:cNvSpPr txBox="1"/>
          <p:nvPr/>
        </p:nvSpPr>
        <p:spPr>
          <a:xfrm>
            <a:off x="8790432" y="4113794"/>
            <a:ext cx="2476043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gb_adapt  内部工作逻辑 · 规划/待确认</a:t>
            </a:r>
          </a:p>
        </p:txBody>
      </p:sp>
      <p:sp>
        <p:nvSpPr>
          <p:cNvPr id="83" name="text-083: GB 访问适配"/>
          <p:cNvSpPr txBox="1"/>
          <p:nvPr/>
        </p:nvSpPr>
        <p:spPr>
          <a:xfrm>
            <a:off x="10177939" y="4283202"/>
            <a:ext cx="92678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GB 访问适配</a:t>
            </a:r>
          </a:p>
        </p:txBody>
      </p:sp>
      <p:sp>
        <p:nvSpPr>
          <p:cNvPr id="84" name="text-084: 局部仲裁 / bank 路由"/>
          <p:cNvSpPr txBox="1"/>
          <p:nvPr/>
        </p:nvSpPr>
        <p:spPr>
          <a:xfrm>
            <a:off x="9892970" y="4465411"/>
            <a:ext cx="149672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局部仲裁 / bank 路由</a:t>
            </a:r>
          </a:p>
        </p:txBody>
      </p:sp>
      <p:sp>
        <p:nvSpPr>
          <p:cNvPr id="85" name="rect-085"/>
          <p:cNvSpPr/>
          <p:nvPr/>
        </p:nvSpPr>
        <p:spPr>
          <a:xfrm>
            <a:off x="8774430" y="4763262"/>
            <a:ext cx="3733800" cy="62941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E07-target"/>
          <p:cNvSpPr/>
          <p:nvPr/>
        </p:nvSpPr>
        <p:spPr>
          <a:xfrm>
            <a:off x="8614410" y="489661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7 ↔ move"/>
          <p:cNvSpPr txBox="1"/>
          <p:nvPr/>
        </p:nvSpPr>
        <p:spPr>
          <a:xfrm>
            <a:off x="8955786" y="4806787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move</a:t>
            </a:r>
          </a:p>
        </p:txBody>
      </p:sp>
      <p:sp>
        <p:nvSpPr>
          <p:cNvPr id="88" name="E08-target"/>
          <p:cNvSpPr/>
          <p:nvPr/>
        </p:nvSpPr>
        <p:spPr>
          <a:xfrm>
            <a:off x="8614410" y="508330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9: E08 ↔ npu"/>
          <p:cNvSpPr txBox="1"/>
          <p:nvPr/>
        </p:nvSpPr>
        <p:spPr>
          <a:xfrm>
            <a:off x="8955786" y="499347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npu</a:t>
            </a:r>
          </a:p>
        </p:txBody>
      </p:sp>
      <p:sp>
        <p:nvSpPr>
          <p:cNvPr id="90" name="E09-target"/>
          <p:cNvSpPr/>
          <p:nvPr/>
        </p:nvSpPr>
        <p:spPr>
          <a:xfrm>
            <a:off x="8614410" y="526999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E09 ↔ isp"/>
          <p:cNvSpPr txBox="1"/>
          <p:nvPr/>
        </p:nvSpPr>
        <p:spPr>
          <a:xfrm>
            <a:off x="8955786" y="5180167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isp</a:t>
            </a:r>
          </a:p>
        </p:txBody>
      </p:sp>
      <p:sp>
        <p:nvSpPr>
          <p:cNvPr id="92" name="E10-source"/>
          <p:cNvSpPr/>
          <p:nvPr/>
        </p:nvSpPr>
        <p:spPr>
          <a:xfrm>
            <a:off x="12396216" y="4896612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E10 ↔ gb"/>
          <p:cNvSpPr txBox="1"/>
          <p:nvPr/>
        </p:nvSpPr>
        <p:spPr>
          <a:xfrm>
            <a:off x="11517973" y="4806787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gb</a:t>
            </a:r>
          </a:p>
        </p:txBody>
      </p:sp>
      <p:sp>
        <p:nvSpPr>
          <p:cNvPr id="94" name="text-094: 除 LLC 出口外均为规划或待确认边界；像素流向与 AXI 事务方向分别标注。端"/>
          <p:cNvSpPr txBox="1"/>
          <p:nvPr/>
        </p:nvSpPr>
        <p:spPr>
          <a:xfrm>
            <a:off x="213360" y="6449659"/>
            <a:ext cx="659415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除 LLC 出口外均为规划或待确认边界；像素流向与 AXI 事务方向分别标注。端口数、宽度、地址和 IRQ 未冻结。</a:t>
            </a:r>
          </a:p>
        </p:txBody>
      </p:sp>
      <p:sp>
        <p:nvSpPr>
          <p:cNvPr id="95" name="text-095: 配对端口表示图示连接；已有/规划状态见模块和连接表。方向与 A 版一致。虚线模块"/>
          <p:cNvSpPr txBox="1"/>
          <p:nvPr/>
        </p:nvSpPr>
        <p:spPr>
          <a:xfrm>
            <a:off x="213360" y="6998635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Ara 访存和 CPU 失效请求的实际边界"/>
          <p:cNvSpPr txBox="1"/>
          <p:nvPr/>
        </p:nvSpPr>
        <p:spPr>
          <a:xfrm>
            <a:off x="213360" y="1354516"/>
            <a:ext cx="32174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Ara 访存和 CPU 失效请求的实际边界</a:t>
            </a:r>
          </a:p>
        </p:txBody>
      </p:sp>
      <p:sp>
        <p:nvSpPr>
          <p:cNvPr id="3" name="text-003: B  工业端口图：同一 E 编号的两端相连；完整信号组、方向与用途见共用连接表。"/>
          <p:cNvSpPr txBox="1"/>
          <p:nvPr/>
        </p:nvSpPr>
        <p:spPr>
          <a:xfrm>
            <a:off x="213360" y="1629537"/>
            <a:ext cx="51873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B  工业端口图：同一 E 编号的两端相连；完整信号组、方向与用途见共用连接表。</a:t>
            </a:r>
          </a:p>
        </p:txBody>
      </p:sp>
      <p:sp>
        <p:nvSpPr>
          <p:cNvPr id="4" name="rect-004"/>
          <p:cNvSpPr/>
          <p:nvPr/>
        </p:nvSpPr>
        <p:spPr>
          <a:xfrm>
            <a:off x="213360" y="2066925"/>
            <a:ext cx="3893820" cy="119481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dispatch  接口与配置"/>
          <p:cNvSpPr txBox="1"/>
          <p:nvPr/>
        </p:nvSpPr>
        <p:spPr>
          <a:xfrm>
            <a:off x="309372" y="2094875"/>
            <a:ext cx="14668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dispatch  接口与配置</a:t>
            </a:r>
          </a:p>
        </p:txBody>
      </p:sp>
      <p:sp>
        <p:nvSpPr>
          <p:cNvPr id="6" name="text-006: CVA6 acc_dispatcher"/>
          <p:cNvSpPr txBox="1"/>
          <p:nvPr/>
        </p:nvSpPr>
        <p:spPr>
          <a:xfrm>
            <a:off x="1270159" y="2264283"/>
            <a:ext cx="1780222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CVA6 acc_dispatcher</a:t>
            </a:r>
          </a:p>
        </p:txBody>
      </p:sp>
      <p:sp>
        <p:nvSpPr>
          <p:cNvPr id="7" name="text-007: 指令 / MMU / 状态"/>
          <p:cNvSpPr txBox="1"/>
          <p:nvPr/>
        </p:nvSpPr>
        <p:spPr>
          <a:xfrm>
            <a:off x="1494720" y="2446492"/>
            <a:ext cx="133110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 / MMU / 状态</a:t>
            </a:r>
          </a:p>
        </p:txBody>
      </p:sp>
      <p:sp>
        <p:nvSpPr>
          <p:cNvPr id="8" name="rect-008"/>
          <p:cNvSpPr/>
          <p:nvPr/>
        </p:nvSpPr>
        <p:spPr>
          <a:xfrm>
            <a:off x="293370" y="274434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E03-target"/>
          <p:cNvSpPr/>
          <p:nvPr/>
        </p:nvSpPr>
        <p:spPr>
          <a:xfrm>
            <a:off x="133350" y="28776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E03 ↔ filter"/>
          <p:cNvSpPr txBox="1"/>
          <p:nvPr/>
        </p:nvSpPr>
        <p:spPr>
          <a:xfrm>
            <a:off x="474726" y="2787868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↔ filter</a:t>
            </a:r>
          </a:p>
        </p:txBody>
      </p:sp>
      <p:sp>
        <p:nvSpPr>
          <p:cNvPr id="11" name="E01-source"/>
          <p:cNvSpPr/>
          <p:nvPr/>
        </p:nvSpPr>
        <p:spPr>
          <a:xfrm>
            <a:off x="3915156" y="28776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E01 ↔ ara"/>
          <p:cNvSpPr txBox="1"/>
          <p:nvPr/>
        </p:nvSpPr>
        <p:spPr>
          <a:xfrm>
            <a:off x="2957170" y="278786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↔ ara</a:t>
            </a:r>
          </a:p>
        </p:txBody>
      </p:sp>
      <p:sp>
        <p:nvSpPr>
          <p:cNvPr id="13" name="E04-source"/>
          <p:cNvSpPr/>
          <p:nvPr/>
        </p:nvSpPr>
        <p:spPr>
          <a:xfrm>
            <a:off x="3915156" y="30643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E04 ↔ cache"/>
          <p:cNvSpPr txBox="1"/>
          <p:nvPr/>
        </p:nvSpPr>
        <p:spPr>
          <a:xfrm>
            <a:off x="2797683" y="2974558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↔ cache</a:t>
            </a:r>
          </a:p>
        </p:txBody>
      </p:sp>
      <p:sp>
        <p:nvSpPr>
          <p:cNvPr id="15" name="rect-015"/>
          <p:cNvSpPr/>
          <p:nvPr/>
        </p:nvSpPr>
        <p:spPr>
          <a:xfrm>
            <a:off x="213360" y="3475101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dw  内部工作逻辑"/>
          <p:cNvSpPr txBox="1"/>
          <p:nvPr/>
        </p:nvSpPr>
        <p:spPr>
          <a:xfrm>
            <a:off x="309372" y="3503051"/>
            <a:ext cx="112654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dw  内部工作逻辑</a:t>
            </a:r>
          </a:p>
        </p:txBody>
      </p:sp>
      <p:sp>
        <p:nvSpPr>
          <p:cNvPr id="17" name="text-017: axi_dw_converter"/>
          <p:cNvSpPr txBox="1"/>
          <p:nvPr/>
        </p:nvSpPr>
        <p:spPr>
          <a:xfrm>
            <a:off x="1400175" y="3672459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</a:t>
            </a:r>
          </a:p>
        </p:txBody>
      </p:sp>
      <p:sp>
        <p:nvSpPr>
          <p:cNvPr id="18" name="text-018: Ara 宽度 → 系统宽度"/>
          <p:cNvSpPr txBox="1"/>
          <p:nvPr/>
        </p:nvSpPr>
        <p:spPr>
          <a:xfrm>
            <a:off x="1430312" y="3854668"/>
            <a:ext cx="14599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Ara 宽度 → 系统宽度</a:t>
            </a:r>
          </a:p>
        </p:txBody>
      </p:sp>
      <p:sp>
        <p:nvSpPr>
          <p:cNvPr id="19" name="rect-019"/>
          <p:cNvSpPr/>
          <p:nvPr/>
        </p:nvSpPr>
        <p:spPr>
          <a:xfrm>
            <a:off x="293370" y="415251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5-target"/>
          <p:cNvSpPr/>
          <p:nvPr/>
        </p:nvSpPr>
        <p:spPr>
          <a:xfrm>
            <a:off x="133350" y="42858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E05 ↔ filter"/>
          <p:cNvSpPr txBox="1"/>
          <p:nvPr/>
        </p:nvSpPr>
        <p:spPr>
          <a:xfrm>
            <a:off x="474726" y="4196044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filter</a:t>
            </a:r>
          </a:p>
        </p:txBody>
      </p:sp>
      <p:sp>
        <p:nvSpPr>
          <p:cNvPr id="22" name="E06-source"/>
          <p:cNvSpPr/>
          <p:nvPr/>
        </p:nvSpPr>
        <p:spPr>
          <a:xfrm>
            <a:off x="3915156" y="42858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E06 ↔ xbar"/>
          <p:cNvSpPr txBox="1"/>
          <p:nvPr/>
        </p:nvSpPr>
        <p:spPr>
          <a:xfrm>
            <a:off x="2877426" y="4196044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xbar</a:t>
            </a:r>
          </a:p>
        </p:txBody>
      </p:sp>
      <p:sp>
        <p:nvSpPr>
          <p:cNvPr id="24" name="rect-024"/>
          <p:cNvSpPr/>
          <p:nvPr/>
        </p:nvSpPr>
        <p:spPr>
          <a:xfrm>
            <a:off x="213360" y="4696587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llc  状态/存储"/>
          <p:cNvSpPr txBox="1"/>
          <p:nvPr/>
        </p:nvSpPr>
        <p:spPr>
          <a:xfrm>
            <a:off x="309372" y="4724537"/>
            <a:ext cx="104439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llc  状态/存储</a:t>
            </a:r>
          </a:p>
        </p:txBody>
      </p:sp>
      <p:sp>
        <p:nvSpPr>
          <p:cNvPr id="26" name="text-026: 原子适配 → LLC"/>
          <p:cNvSpPr txBox="1"/>
          <p:nvPr/>
        </p:nvSpPr>
        <p:spPr>
          <a:xfrm>
            <a:off x="1543526" y="4893945"/>
            <a:ext cx="123348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原子适配 → LLC</a:t>
            </a:r>
          </a:p>
        </p:txBody>
      </p:sp>
      <p:sp>
        <p:nvSpPr>
          <p:cNvPr id="27" name="text-027: 当前普通主存路径"/>
          <p:cNvSpPr txBox="1"/>
          <p:nvPr/>
        </p:nvSpPr>
        <p:spPr>
          <a:xfrm>
            <a:off x="1608201" y="5076154"/>
            <a:ext cx="110413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当前普通主存路径</a:t>
            </a:r>
          </a:p>
        </p:txBody>
      </p:sp>
      <p:sp>
        <p:nvSpPr>
          <p:cNvPr id="28" name="rect-028"/>
          <p:cNvSpPr/>
          <p:nvPr/>
        </p:nvSpPr>
        <p:spPr>
          <a:xfrm>
            <a:off x="293370" y="537400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09-target"/>
          <p:cNvSpPr/>
          <p:nvPr/>
        </p:nvSpPr>
        <p:spPr>
          <a:xfrm>
            <a:off x="133350" y="550735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E09 ↔ xbar"/>
          <p:cNvSpPr txBox="1"/>
          <p:nvPr/>
        </p:nvSpPr>
        <p:spPr>
          <a:xfrm>
            <a:off x="474726" y="5417530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xbar</a:t>
            </a:r>
          </a:p>
        </p:txBody>
      </p:sp>
      <p:sp>
        <p:nvSpPr>
          <p:cNvPr id="31" name="E10-source"/>
          <p:cNvSpPr/>
          <p:nvPr/>
        </p:nvSpPr>
        <p:spPr>
          <a:xfrm>
            <a:off x="3915156" y="550735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E10 ↔ out"/>
          <p:cNvSpPr txBox="1"/>
          <p:nvPr/>
        </p:nvSpPr>
        <p:spPr>
          <a:xfrm>
            <a:off x="2957170" y="541753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out</a:t>
            </a:r>
          </a:p>
        </p:txBody>
      </p:sp>
      <p:sp>
        <p:nvSpPr>
          <p:cNvPr id="33" name="rect-033"/>
          <p:cNvSpPr/>
          <p:nvPr/>
        </p:nvSpPr>
        <p:spPr>
          <a:xfrm>
            <a:off x="4453890" y="2066925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ara  内部工作逻辑"/>
          <p:cNvSpPr txBox="1"/>
          <p:nvPr/>
        </p:nvSpPr>
        <p:spPr>
          <a:xfrm>
            <a:off x="4549902" y="2094875"/>
            <a:ext cx="120281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ara  内部工作逻辑</a:t>
            </a:r>
          </a:p>
        </p:txBody>
      </p:sp>
      <p:sp>
        <p:nvSpPr>
          <p:cNvPr id="35" name="text-035: i_ara"/>
          <p:cNvSpPr txBox="1"/>
          <p:nvPr/>
        </p:nvSpPr>
        <p:spPr>
          <a:xfrm>
            <a:off x="6117431" y="2264283"/>
            <a:ext cx="56673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i_ara</a:t>
            </a:r>
          </a:p>
        </p:txBody>
      </p:sp>
      <p:sp>
        <p:nvSpPr>
          <p:cNvPr id="36" name="text-036: RVV 执行与访存"/>
          <p:cNvSpPr txBox="1"/>
          <p:nvPr/>
        </p:nvSpPr>
        <p:spPr>
          <a:xfrm>
            <a:off x="5873267" y="2446492"/>
            <a:ext cx="105506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RVV 执行与访存</a:t>
            </a:r>
          </a:p>
        </p:txBody>
      </p:sp>
      <p:sp>
        <p:nvSpPr>
          <p:cNvPr id="37" name="rect-037"/>
          <p:cNvSpPr/>
          <p:nvPr/>
        </p:nvSpPr>
        <p:spPr>
          <a:xfrm>
            <a:off x="4533900" y="2744343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1-target"/>
          <p:cNvSpPr/>
          <p:nvPr/>
        </p:nvSpPr>
        <p:spPr>
          <a:xfrm>
            <a:off x="4373880" y="28776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1 ↔ dispatch"/>
          <p:cNvSpPr txBox="1"/>
          <p:nvPr/>
        </p:nvSpPr>
        <p:spPr>
          <a:xfrm>
            <a:off x="4715256" y="2787868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E01 ↔ dispatch</a:t>
            </a:r>
          </a:p>
        </p:txBody>
      </p:sp>
      <p:sp>
        <p:nvSpPr>
          <p:cNvPr id="40" name="E02-source"/>
          <p:cNvSpPr/>
          <p:nvPr/>
        </p:nvSpPr>
        <p:spPr>
          <a:xfrm>
            <a:off x="8155686" y="28776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2 ↔ filter"/>
          <p:cNvSpPr txBox="1"/>
          <p:nvPr/>
        </p:nvSpPr>
        <p:spPr>
          <a:xfrm>
            <a:off x="6958470" y="2787868"/>
            <a:ext cx="112254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filter</a:t>
            </a:r>
          </a:p>
        </p:txBody>
      </p:sp>
      <p:sp>
        <p:nvSpPr>
          <p:cNvPr id="42" name="rect-042"/>
          <p:cNvSpPr/>
          <p:nvPr/>
        </p:nvSpPr>
        <p:spPr>
          <a:xfrm>
            <a:off x="4453890" y="3288411"/>
            <a:ext cx="3893820" cy="1008126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ache  状态/存储"/>
          <p:cNvSpPr txBox="1"/>
          <p:nvPr/>
        </p:nvSpPr>
        <p:spPr>
          <a:xfrm>
            <a:off x="4549902" y="3316361"/>
            <a:ext cx="119695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cache  状态/存储</a:t>
            </a:r>
          </a:p>
        </p:txBody>
      </p:sp>
      <p:sp>
        <p:nvSpPr>
          <p:cNvPr id="44" name="text-044: CVA6 L1D 路径"/>
          <p:cNvSpPr txBox="1"/>
          <p:nvPr/>
        </p:nvSpPr>
        <p:spPr>
          <a:xfrm>
            <a:off x="5810726" y="3485769"/>
            <a:ext cx="118014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CVA6 L1D 路径</a:t>
            </a:r>
          </a:p>
        </p:txBody>
      </p:sp>
      <p:sp>
        <p:nvSpPr>
          <p:cNvPr id="45" name="text-045: 当前向量 profile：WT"/>
          <p:cNvSpPr txBox="1"/>
          <p:nvPr/>
        </p:nvSpPr>
        <p:spPr>
          <a:xfrm>
            <a:off x="5634038" y="3667978"/>
            <a:ext cx="15335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当前向量 profile：WT</a:t>
            </a:r>
          </a:p>
        </p:txBody>
      </p:sp>
      <p:sp>
        <p:nvSpPr>
          <p:cNvPr id="46" name="rect-046"/>
          <p:cNvSpPr/>
          <p:nvPr/>
        </p:nvSpPr>
        <p:spPr>
          <a:xfrm>
            <a:off x="4533900" y="396582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4-target"/>
          <p:cNvSpPr/>
          <p:nvPr/>
        </p:nvSpPr>
        <p:spPr>
          <a:xfrm>
            <a:off x="4373880" y="409917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4 ↔ dispatch"/>
          <p:cNvSpPr txBox="1"/>
          <p:nvPr/>
        </p:nvSpPr>
        <p:spPr>
          <a:xfrm>
            <a:off x="4715256" y="4009354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E04 ↔ dispatch</a:t>
            </a:r>
          </a:p>
        </p:txBody>
      </p:sp>
      <p:sp>
        <p:nvSpPr>
          <p:cNvPr id="49" name="E07-source"/>
          <p:cNvSpPr/>
          <p:nvPr/>
        </p:nvSpPr>
        <p:spPr>
          <a:xfrm>
            <a:off x="8155686" y="409917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7 ↔ cpu_axi"/>
          <p:cNvSpPr txBox="1"/>
          <p:nvPr/>
        </p:nvSpPr>
        <p:spPr>
          <a:xfrm>
            <a:off x="6878726" y="4009354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cpu_axi</a:t>
            </a:r>
          </a:p>
        </p:txBody>
      </p:sp>
      <p:sp>
        <p:nvSpPr>
          <p:cNvPr id="51" name="rect-051"/>
          <p:cNvSpPr/>
          <p:nvPr/>
        </p:nvSpPr>
        <p:spPr>
          <a:xfrm>
            <a:off x="4453890" y="4509897"/>
            <a:ext cx="3893820" cy="119481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xbar  外部/组边界"/>
          <p:cNvSpPr txBox="1"/>
          <p:nvPr/>
        </p:nvSpPr>
        <p:spPr>
          <a:xfrm>
            <a:off x="4549902" y="4537847"/>
            <a:ext cx="123802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xbar  外部/组边界</a:t>
            </a:r>
          </a:p>
        </p:txBody>
      </p:sp>
      <p:sp>
        <p:nvSpPr>
          <p:cNvPr id="53" name="text-053: 主 AXI Xbar"/>
          <p:cNvSpPr txBox="1"/>
          <p:nvPr/>
        </p:nvSpPr>
        <p:spPr>
          <a:xfrm>
            <a:off x="5877401" y="4707255"/>
            <a:ext cx="104679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 Xbar</a:t>
            </a:r>
          </a:p>
        </p:txBody>
      </p:sp>
      <p:sp>
        <p:nvSpPr>
          <p:cNvPr id="54" name="text-054: 普通数据访问"/>
          <p:cNvSpPr txBox="1"/>
          <p:nvPr/>
        </p:nvSpPr>
        <p:spPr>
          <a:xfrm>
            <a:off x="5971413" y="4889464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普通数据访问</a:t>
            </a:r>
          </a:p>
        </p:txBody>
      </p:sp>
      <p:sp>
        <p:nvSpPr>
          <p:cNvPr id="55" name="rect-055"/>
          <p:cNvSpPr/>
          <p:nvPr/>
        </p:nvSpPr>
        <p:spPr>
          <a:xfrm>
            <a:off x="4533900" y="5187315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06-target"/>
          <p:cNvSpPr/>
          <p:nvPr/>
        </p:nvSpPr>
        <p:spPr>
          <a:xfrm>
            <a:off x="4373880" y="532066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6 ↔ dw"/>
          <p:cNvSpPr txBox="1"/>
          <p:nvPr/>
        </p:nvSpPr>
        <p:spPr>
          <a:xfrm>
            <a:off x="4715256" y="5230840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E06 ↔ dw</a:t>
            </a:r>
          </a:p>
        </p:txBody>
      </p:sp>
      <p:sp>
        <p:nvSpPr>
          <p:cNvPr id="58" name="E08-target"/>
          <p:cNvSpPr/>
          <p:nvPr/>
        </p:nvSpPr>
        <p:spPr>
          <a:xfrm>
            <a:off x="4373880" y="550735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8 ↔ cpu_axi"/>
          <p:cNvSpPr txBox="1"/>
          <p:nvPr/>
        </p:nvSpPr>
        <p:spPr>
          <a:xfrm>
            <a:off x="4715256" y="5417530"/>
            <a:ext cx="120228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cpu_axi</a:t>
            </a:r>
          </a:p>
        </p:txBody>
      </p:sp>
      <p:sp>
        <p:nvSpPr>
          <p:cNvPr id="60" name="E09-source"/>
          <p:cNvSpPr/>
          <p:nvPr/>
        </p:nvSpPr>
        <p:spPr>
          <a:xfrm>
            <a:off x="8155686" y="532066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9 ↔ llc"/>
          <p:cNvSpPr txBox="1"/>
          <p:nvPr/>
        </p:nvSpPr>
        <p:spPr>
          <a:xfrm>
            <a:off x="7197700" y="523084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E09 ↔ llc</a:t>
            </a:r>
          </a:p>
        </p:txBody>
      </p:sp>
      <p:sp>
        <p:nvSpPr>
          <p:cNvPr id="62" name="rect-062"/>
          <p:cNvSpPr/>
          <p:nvPr/>
        </p:nvSpPr>
        <p:spPr>
          <a:xfrm>
            <a:off x="8694420" y="2066925"/>
            <a:ext cx="3893820" cy="1194816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filter  接口与配置"/>
          <p:cNvSpPr txBox="1"/>
          <p:nvPr/>
        </p:nvSpPr>
        <p:spPr>
          <a:xfrm>
            <a:off x="8790432" y="2094875"/>
            <a:ext cx="1314298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filter  接口与配置</a:t>
            </a:r>
          </a:p>
        </p:txBody>
      </p:sp>
      <p:sp>
        <p:nvSpPr>
          <p:cNvPr id="64" name="text-064: axi_inval_filter"/>
          <p:cNvSpPr txBox="1"/>
          <p:nvPr/>
        </p:nvSpPr>
        <p:spPr>
          <a:xfrm>
            <a:off x="9881235" y="2264283"/>
            <a:ext cx="152019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axi_inval_filter</a:t>
            </a:r>
          </a:p>
        </p:txBody>
      </p:sp>
      <p:sp>
        <p:nvSpPr>
          <p:cNvPr id="65" name="text-065: AW FIFO / 行失效"/>
          <p:cNvSpPr txBox="1"/>
          <p:nvPr/>
        </p:nvSpPr>
        <p:spPr>
          <a:xfrm>
            <a:off x="9997250" y="2446492"/>
            <a:ext cx="12881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FIFO / 行失效</a:t>
            </a:r>
          </a:p>
        </p:txBody>
      </p:sp>
      <p:sp>
        <p:nvSpPr>
          <p:cNvPr id="66" name="rect-066"/>
          <p:cNvSpPr/>
          <p:nvPr/>
        </p:nvSpPr>
        <p:spPr>
          <a:xfrm>
            <a:off x="8774430" y="2744343"/>
            <a:ext cx="3733800" cy="44272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E02-target"/>
          <p:cNvSpPr/>
          <p:nvPr/>
        </p:nvSpPr>
        <p:spPr>
          <a:xfrm>
            <a:off x="8614410" y="28776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2 ↔ ara"/>
          <p:cNvSpPr txBox="1"/>
          <p:nvPr/>
        </p:nvSpPr>
        <p:spPr>
          <a:xfrm>
            <a:off x="8955786" y="2787868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E02 ↔ ara</a:t>
            </a:r>
          </a:p>
        </p:txBody>
      </p:sp>
      <p:sp>
        <p:nvSpPr>
          <p:cNvPr id="69" name="E03-source"/>
          <p:cNvSpPr/>
          <p:nvPr/>
        </p:nvSpPr>
        <p:spPr>
          <a:xfrm>
            <a:off x="12396216" y="287769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765489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3 ↔ dispatch"/>
          <p:cNvSpPr txBox="1"/>
          <p:nvPr/>
        </p:nvSpPr>
        <p:spPr>
          <a:xfrm>
            <a:off x="11039513" y="2787868"/>
            <a:ext cx="128202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WenQuanYi Zen Hei"/>
                <a:ea typeface="WenQuanYi Zen Hei"/>
                <a:cs typeface="WenQuanYi Zen Hei"/>
              </a:rPr>
              <a:t>E03 ↔ dispatch</a:t>
            </a:r>
          </a:p>
        </p:txBody>
      </p:sp>
      <p:sp>
        <p:nvSpPr>
          <p:cNvPr id="71" name="E05-source"/>
          <p:cNvSpPr/>
          <p:nvPr/>
        </p:nvSpPr>
        <p:spPr>
          <a:xfrm>
            <a:off x="12396216" y="3064383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5 ↔ dw"/>
          <p:cNvSpPr txBox="1"/>
          <p:nvPr/>
        </p:nvSpPr>
        <p:spPr>
          <a:xfrm>
            <a:off x="11517973" y="2974558"/>
            <a:ext cx="80356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E05 ↔ dw</a:t>
            </a:r>
          </a:p>
        </p:txBody>
      </p:sp>
      <p:sp>
        <p:nvSpPr>
          <p:cNvPr id="73" name="rect-073"/>
          <p:cNvSpPr/>
          <p:nvPr/>
        </p:nvSpPr>
        <p:spPr>
          <a:xfrm>
            <a:off x="8694420" y="3475101"/>
            <a:ext cx="3893820" cy="1008126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cpu_axi  内部工作逻辑"/>
          <p:cNvSpPr txBox="1"/>
          <p:nvPr/>
        </p:nvSpPr>
        <p:spPr>
          <a:xfrm>
            <a:off x="8790432" y="3503051"/>
            <a:ext cx="150792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cpu_axi  内部工作逻辑</a:t>
            </a:r>
          </a:p>
        </p:txBody>
      </p:sp>
      <p:sp>
        <p:nvSpPr>
          <p:cNvPr id="75" name="text-075: CPU AXI / ID 适配"/>
          <p:cNvSpPr txBox="1"/>
          <p:nvPr/>
        </p:nvSpPr>
        <p:spPr>
          <a:xfrm>
            <a:off x="9877901" y="3672459"/>
            <a:ext cx="152685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AXI / ID 适配</a:t>
            </a:r>
          </a:p>
        </p:txBody>
      </p:sp>
      <p:sp>
        <p:nvSpPr>
          <p:cNvPr id="76" name="text-076: i_axi_id_serialize"/>
          <p:cNvSpPr txBox="1"/>
          <p:nvPr/>
        </p:nvSpPr>
        <p:spPr>
          <a:xfrm>
            <a:off x="9862299" y="3854668"/>
            <a:ext cx="15580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i_axi_id_serialize</a:t>
            </a:r>
          </a:p>
        </p:txBody>
      </p:sp>
      <p:sp>
        <p:nvSpPr>
          <p:cNvPr id="77" name="rect-077"/>
          <p:cNvSpPr/>
          <p:nvPr/>
        </p:nvSpPr>
        <p:spPr>
          <a:xfrm>
            <a:off x="8774430" y="4152519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07-target"/>
          <p:cNvSpPr/>
          <p:nvPr/>
        </p:nvSpPr>
        <p:spPr>
          <a:xfrm>
            <a:off x="8614410" y="42858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7 ↔ cache"/>
          <p:cNvSpPr txBox="1"/>
          <p:nvPr/>
        </p:nvSpPr>
        <p:spPr>
          <a:xfrm>
            <a:off x="8955786" y="4196044"/>
            <a:ext cx="104279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E07 ↔ cache</a:t>
            </a:r>
          </a:p>
        </p:txBody>
      </p:sp>
      <p:sp>
        <p:nvSpPr>
          <p:cNvPr id="80" name="E08-source"/>
          <p:cNvSpPr/>
          <p:nvPr/>
        </p:nvSpPr>
        <p:spPr>
          <a:xfrm>
            <a:off x="12396216" y="4285869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8 ↔ xbar"/>
          <p:cNvSpPr txBox="1"/>
          <p:nvPr/>
        </p:nvSpPr>
        <p:spPr>
          <a:xfrm>
            <a:off x="11358486" y="4196044"/>
            <a:ext cx="96305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E08 ↔ xbar</a:t>
            </a:r>
          </a:p>
        </p:txBody>
      </p:sp>
      <p:sp>
        <p:nvSpPr>
          <p:cNvPr id="82" name="rect-082"/>
          <p:cNvSpPr/>
          <p:nvPr/>
        </p:nvSpPr>
        <p:spPr>
          <a:xfrm>
            <a:off x="8694420" y="4696587"/>
            <a:ext cx="3893820" cy="1008126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out  外部/组边界"/>
          <p:cNvSpPr txBox="1"/>
          <p:nvPr/>
        </p:nvSpPr>
        <p:spPr>
          <a:xfrm>
            <a:off x="8790432" y="4724537"/>
            <a:ext cx="116174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out  外部/组边界</a:t>
            </a:r>
          </a:p>
        </p:txBody>
      </p:sp>
      <p:sp>
        <p:nvSpPr>
          <p:cNvPr id="84" name="text-084: LLC 外存 AXI"/>
          <p:cNvSpPr txBox="1"/>
          <p:nvPr/>
        </p:nvSpPr>
        <p:spPr>
          <a:xfrm>
            <a:off x="10094595" y="4893945"/>
            <a:ext cx="109347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LLC 外存 AXI</a:t>
            </a:r>
          </a:p>
        </p:txBody>
      </p:sp>
      <p:sp>
        <p:nvSpPr>
          <p:cNvPr id="85" name="text-085: axi_llc_mst_*"/>
          <p:cNvSpPr txBox="1"/>
          <p:nvPr/>
        </p:nvSpPr>
        <p:spPr>
          <a:xfrm>
            <a:off x="10061658" y="5076154"/>
            <a:ext cx="115934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86" name="rect-086"/>
          <p:cNvSpPr/>
          <p:nvPr/>
        </p:nvSpPr>
        <p:spPr>
          <a:xfrm>
            <a:off x="8774430" y="5374005"/>
            <a:ext cx="3733800" cy="256032"/>
          </a:xfrm>
          <a:prstGeom prst="rect">
            <a:avLst/>
          </a:prstGeom>
          <a:solidFill>
            <a:srgbClr val="FFFFFF"/>
          </a:solidFill>
          <a:ln w="5334" cap="flat">
            <a:solidFill>
              <a:srgbClr val="B8BD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E10-target"/>
          <p:cNvSpPr/>
          <p:nvPr/>
        </p:nvSpPr>
        <p:spPr>
          <a:xfrm>
            <a:off x="8614410" y="5507355"/>
            <a:ext cx="272034" cy="1"/>
          </a:xfrm>
          <a:custGeom>
            <a:avLst/>
            <a:gdLst/>
            <a:ahLst/>
            <a:cxnLst/>
            <a:rect l="0" t="0" r="r" b="b"/>
            <a:pathLst>
              <a:path w="272034" h="1" fill="none">
                <a:moveTo>
                  <a:pt x="0" y="0"/>
                </a:moveTo>
                <a:lnTo>
                  <a:pt x="272034" y="0"/>
                </a:lnTo>
              </a:path>
            </a:pathLst>
          </a:custGeom>
          <a:noFill/>
          <a:ln w="133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10 ↔ llc"/>
          <p:cNvSpPr txBox="1"/>
          <p:nvPr/>
        </p:nvSpPr>
        <p:spPr>
          <a:xfrm>
            <a:off x="8955786" y="5417530"/>
            <a:ext cx="8833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WenQuanYi Zen Hei"/>
                <a:ea typeface="WenQuanYi Zen Hei"/>
                <a:cs typeface="WenQuanYi Zen Hei"/>
              </a:rPr>
              <a:t>E10 ↔ llc</a:t>
            </a:r>
          </a:p>
        </p:txBody>
      </p:sp>
      <p:sp>
        <p:nvSpPr>
          <p:cNvPr id="89" name="text-089: 表示 Cfg.Ara=1 分支；默认配置未启用 Ara。失效反馈经 acc_re"/>
          <p:cNvSpPr txBox="1"/>
          <p:nvPr/>
        </p:nvSpPr>
        <p:spPr>
          <a:xfrm>
            <a:off x="213360" y="5838916"/>
            <a:ext cx="794366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表示 Cfg.Ara=1 分支；默认配置未启用 Ara。失效反馈经 acc_resp_pack 与 CVA6 dispatcher；不覆盖新 NPU/ISP 旁路写。</a:t>
            </a:r>
          </a:p>
        </p:txBody>
      </p:sp>
      <p:sp>
        <p:nvSpPr>
          <p:cNvPr id="90" name="text-090: 配对端口表示图示连接；已有/规划状态见模块和连接表。方向与 A 版一致。虚线模块"/>
          <p:cNvSpPr txBox="1"/>
          <p:nvPr/>
        </p:nvSpPr>
        <p:spPr>
          <a:xfrm>
            <a:off x="213360" y="6387892"/>
            <a:ext cx="570951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WenQuanYi Zen Hei"/>
                <a:ea typeface="WenQuanYi Zen Hei"/>
                <a:cs typeface="WenQuanYi Zen Hei"/>
              </a:rPr>
              <a:t>配对端口表示图示连接；已有/规划状态见模块和连接表。方向与 A 版一致。虚线模块表示规划。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