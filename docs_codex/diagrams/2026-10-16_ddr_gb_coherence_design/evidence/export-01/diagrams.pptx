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205740" y="84856"/>
            <a:ext cx="3547965" cy="314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219456" y="393558"/>
            <a:ext cx="310560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274320" y="914400"/>
            <a:ext cx="3840480" cy="196596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1535410" y="962863"/>
            <a:ext cx="131830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411480" y="1325880"/>
            <a:ext cx="100584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700745" y="1462034"/>
            <a:ext cx="4273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o8: L1D / 写缓冲"/>
          <p:cNvSpPr txBox="1"/>
          <p:nvPr/>
        </p:nvSpPr>
        <p:spPr>
          <a:xfrm>
            <a:off x="537049" y="1637233"/>
            <a:ext cx="754701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9" name="ara"/>
          <p:cNvSpPr/>
          <p:nvPr/>
        </p:nvSpPr>
        <p:spPr>
          <a:xfrm>
            <a:off x="1828800" y="1325880"/>
            <a:ext cx="2125980" cy="5029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2737017" y="1404884"/>
            <a:ext cx="30954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2400318" y="1580083"/>
            <a:ext cx="98294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1828800" y="2080260"/>
            <a:ext cx="57150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18288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19636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2514600" y="2080260"/>
            <a:ext cx="571500" cy="45720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25146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26494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3200400" y="2080260"/>
            <a:ext cx="75438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329184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3326130" y="2316815"/>
            <a:ext cx="50292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2112264" y="1828800"/>
            <a:ext cx="0" cy="2514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24003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30861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4251960" y="914400"/>
            <a:ext cx="4114800" cy="196596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5564896" y="962863"/>
            <a:ext cx="1488929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4389120" y="1394460"/>
            <a:ext cx="1005840" cy="64008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4561867" y="1542044"/>
            <a:ext cx="66034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4507992" y="1717243"/>
            <a:ext cx="7680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5554980" y="1394460"/>
            <a:ext cx="1143000" cy="64008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共享数据代理"/>
          <p:cNvSpPr txBox="1"/>
          <p:nvPr/>
        </p:nvSpPr>
        <p:spPr>
          <a:xfrm>
            <a:off x="5678424" y="1542044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5658154" y="1717243"/>
            <a:ext cx="936653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6858000" y="1394460"/>
            <a:ext cx="1325880" cy="64008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7093937" y="1464320"/>
            <a:ext cx="85400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7008840" y="1639519"/>
            <a:ext cx="102419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7075491" y="1794967"/>
            <a:ext cx="890897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6858000" y="2263140"/>
            <a:ext cx="1325880" cy="45720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7037305" y="2319284"/>
            <a:ext cx="9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7201882" y="2494483"/>
            <a:ext cx="638115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539496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669798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6126480" y="2034540"/>
            <a:ext cx="731520" cy="457200"/>
          </a:xfrm>
          <a:custGeom>
            <a:avLst/>
            <a:gdLst/>
            <a:ahLst/>
            <a:cxnLst/>
            <a:rect l="0" t="0" r="r" b="b"/>
            <a:pathLst>
              <a:path w="731520" h="457200" fill="none">
                <a:moveTo>
                  <a:pt x="731520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3086100" y="1280160"/>
            <a:ext cx="2674620" cy="891540"/>
          </a:xfrm>
          <a:custGeom>
            <a:avLst/>
            <a:gdLst/>
            <a:ahLst/>
            <a:cxnLst/>
            <a:rect l="0" t="0" r="r" b="b"/>
            <a:pathLst>
              <a:path w="2674620" h="891540" fill="none">
                <a:moveTo>
                  <a:pt x="0" y="891540"/>
                </a:moveTo>
                <a:lnTo>
                  <a:pt x="50292" y="891540"/>
                </a:lnTo>
                <a:lnTo>
                  <a:pt x="50292" y="662940"/>
                </a:lnTo>
                <a:lnTo>
                  <a:pt x="1088136" y="662940"/>
                </a:lnTo>
                <a:lnTo>
                  <a:pt x="1088136" y="0"/>
                </a:lnTo>
                <a:lnTo>
                  <a:pt x="2674620" y="0"/>
                </a:lnTo>
                <a:lnTo>
                  <a:pt x="267462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8503920" y="914400"/>
            <a:ext cx="4023360" cy="196596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9714807" y="962863"/>
            <a:ext cx="1601586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866394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8785587" y="1811701"/>
            <a:ext cx="396785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8704209" y="1996775"/>
            <a:ext cx="559541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939546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9400782" y="1811701"/>
            <a:ext cx="62943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9486900" y="1996775"/>
            <a:ext cx="457200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1012698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10302084" y="1811701"/>
            <a:ext cx="289872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10148947" y="1996775"/>
            <a:ext cx="596146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1085850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10940796" y="1811701"/>
            <a:ext cx="47548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10924526" y="1996775"/>
            <a:ext cx="508028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11590020" y="1691640"/>
            <a:ext cx="73152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11697951" y="1811701"/>
            <a:ext cx="515657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11681678" y="1996775"/>
            <a:ext cx="548204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930402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1003554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1076706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1149858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10081260" y="1508760"/>
            <a:ext cx="1097280" cy="411480"/>
          </a:xfrm>
          <a:custGeom>
            <a:avLst/>
            <a:gdLst/>
            <a:ahLst/>
            <a:cxnLst/>
            <a:rect l="0" t="0" r="r" b="b"/>
            <a:pathLst>
              <a:path w="1097280" h="411480" fill="none">
                <a:moveTo>
                  <a:pt x="0" y="411480"/>
                </a:moveTo>
                <a:lnTo>
                  <a:pt x="0" y="0"/>
                </a:lnTo>
                <a:lnTo>
                  <a:pt x="1097280" y="0"/>
                </a:lnTo>
                <a:lnTo>
                  <a:pt x="1097280" y="182880"/>
                </a:lnTo>
              </a:path>
            </a:pathLst>
          </a:custGeom>
          <a:noFill/>
          <a:ln w="1371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10062972" y="1901952"/>
            <a:ext cx="36576" cy="36576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11163560" y="1345265"/>
            <a:ext cx="53288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6400800" y="1280160"/>
            <a:ext cx="4128516" cy="411480"/>
          </a:xfrm>
          <a:custGeom>
            <a:avLst/>
            <a:gdLst/>
            <a:ahLst/>
            <a:cxnLst/>
            <a:rect l="0" t="0" r="r" b="b"/>
            <a:pathLst>
              <a:path w="4128516" h="411480" fill="none">
                <a:moveTo>
                  <a:pt x="4046220" y="411480"/>
                </a:moveTo>
                <a:lnTo>
                  <a:pt x="4046220" y="274320"/>
                </a:lnTo>
                <a:cubicBezTo>
                  <a:pt x="4128516" y="274320"/>
                  <a:pt x="4128516" y="182880"/>
                  <a:pt x="4046220" y="182880"/>
                </a:cubicBezTo>
                <a:lnTo>
                  <a:pt x="4046220" y="0"/>
                </a:lnTo>
                <a:lnTo>
                  <a:pt x="0" y="0"/>
                </a:lnTo>
                <a:lnTo>
                  <a:pt x="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8409044" y="1144463"/>
            <a:ext cx="64695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320040" y="3657600"/>
            <a:ext cx="5760720" cy="54864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2570550" y="3735781"/>
            <a:ext cx="12597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2876895" y="3945545"/>
            <a:ext cx="64700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914400" y="1943100"/>
            <a:ext cx="228600" cy="1714500"/>
          </a:xfrm>
          <a:custGeom>
            <a:avLst/>
            <a:gdLst/>
            <a:ahLst/>
            <a:cxnLst/>
            <a:rect l="0" t="0" r="r" b="b"/>
            <a:pathLst>
              <a:path w="228600" h="1714500" fill="none">
                <a:moveTo>
                  <a:pt x="0" y="0"/>
                </a:moveTo>
                <a:lnTo>
                  <a:pt x="0" y="1257300"/>
                </a:lnTo>
                <a:lnTo>
                  <a:pt x="228600" y="1257300"/>
                </a:lnTo>
                <a:lnTo>
                  <a:pt x="228600" y="171450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3200400" y="2537460"/>
            <a:ext cx="374904" cy="1120140"/>
          </a:xfrm>
          <a:custGeom>
            <a:avLst/>
            <a:gdLst/>
            <a:ahLst/>
            <a:cxnLst/>
            <a:rect l="0" t="0" r="r" b="b"/>
            <a:pathLst>
              <a:path w="374904" h="1120140" fill="none">
                <a:moveTo>
                  <a:pt x="374904" y="0"/>
                </a:moveTo>
                <a:lnTo>
                  <a:pt x="374904" y="754380"/>
                </a:lnTo>
                <a:lnTo>
                  <a:pt x="0" y="754380"/>
                </a:lnTo>
                <a:lnTo>
                  <a:pt x="0" y="112014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1828800" y="4800600"/>
            <a:ext cx="118872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2103120" y="4936754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2065740" y="5111953"/>
            <a:ext cx="71483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3566160" y="4800600"/>
            <a:ext cx="132588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3861922" y="4936754"/>
            <a:ext cx="7343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79" name="o79: WB 缓存 / 片上 SPM"/>
          <p:cNvSpPr txBox="1"/>
          <p:nvPr/>
        </p:nvSpPr>
        <p:spPr>
          <a:xfrm>
            <a:off x="3671941" y="5111953"/>
            <a:ext cx="111431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WB 缓存 / 片上 SPM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2423160" y="4206240"/>
            <a:ext cx="0" cy="5943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3017520" y="5106924"/>
            <a:ext cx="5486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6400800" y="3657600"/>
            <a:ext cx="4800600" cy="24460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7904645" y="5868985"/>
            <a:ext cx="1792910" cy="212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667512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689886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6763485" y="4493179"/>
            <a:ext cx="55479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704088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845820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868194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8559634" y="4493179"/>
            <a:ext cx="5286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882396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1024128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1046502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10405872" y="4493179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1060704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4892040" y="4091940"/>
            <a:ext cx="2148840" cy="1014984"/>
          </a:xfrm>
          <a:custGeom>
            <a:avLst/>
            <a:gdLst/>
            <a:ahLst/>
            <a:cxnLst/>
            <a:rect l="0" t="0" r="r" b="b"/>
            <a:pathLst>
              <a:path w="2148840" h="1014984" fill="none">
                <a:moveTo>
                  <a:pt x="0" y="1014984"/>
                </a:moveTo>
                <a:lnTo>
                  <a:pt x="1325880" y="1014984"/>
                </a:lnTo>
                <a:lnTo>
                  <a:pt x="1325880" y="0"/>
                </a:lnTo>
                <a:lnTo>
                  <a:pt x="2148840" y="0"/>
                </a:lnTo>
                <a:lnTo>
                  <a:pt x="2148840" y="1600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8183880" y="2491740"/>
            <a:ext cx="640080" cy="1760220"/>
          </a:xfrm>
          <a:custGeom>
            <a:avLst/>
            <a:gdLst/>
            <a:ahLst/>
            <a:cxnLst/>
            <a:rect l="0" t="0" r="r" b="b"/>
            <a:pathLst>
              <a:path w="640080" h="1760220" fill="none">
                <a:moveTo>
                  <a:pt x="0" y="0"/>
                </a:moveTo>
                <a:lnTo>
                  <a:pt x="228600" y="0"/>
                </a:lnTo>
                <a:lnTo>
                  <a:pt x="228600" y="845820"/>
                </a:lnTo>
                <a:lnTo>
                  <a:pt x="640080" y="845820"/>
                </a:lnTo>
                <a:lnTo>
                  <a:pt x="640080" y="1760220"/>
                </a:lnTo>
              </a:path>
            </a:pathLst>
          </a:custGeom>
          <a:noFill/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10607040" y="2263140"/>
            <a:ext cx="1348740" cy="1988820"/>
          </a:xfrm>
          <a:custGeom>
            <a:avLst/>
            <a:gdLst/>
            <a:ahLst/>
            <a:cxnLst/>
            <a:rect l="0" t="0" r="r" b="b"/>
            <a:pathLst>
              <a:path w="1348740" h="1988820" fill="none">
                <a:moveTo>
                  <a:pt x="1348740" y="0"/>
                </a:moveTo>
                <a:lnTo>
                  <a:pt x="1348740" y="1074420"/>
                </a:lnTo>
                <a:lnTo>
                  <a:pt x="0" y="1074420"/>
                </a:lnTo>
                <a:lnTo>
                  <a:pt x="0" y="19888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7040880" y="4914900"/>
            <a:ext cx="3566160" cy="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6675120" y="5212080"/>
            <a:ext cx="141732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6875774" y="5336804"/>
            <a:ext cx="101601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6970264" y="5512003"/>
            <a:ext cx="82703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8412480" y="5212080"/>
            <a:ext cx="251460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8815552" y="5421295"/>
            <a:ext cx="170845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7383780" y="4914900"/>
            <a:ext cx="0" cy="29718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8092440" y="5509260"/>
            <a:ext cx="3200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11430000" y="5212080"/>
            <a:ext cx="1051560" cy="59436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11582283" y="5336804"/>
            <a:ext cx="74699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11681460" y="5512003"/>
            <a:ext cx="54864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10927080" y="5509260"/>
            <a:ext cx="502920" cy="0"/>
          </a:xfrm>
          <a:prstGeom prst="line">
            <a:avLst/>
          </a:prstGeom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2300230" y="5993160"/>
            <a:ext cx="1937499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2268044" y="6198900"/>
            <a:ext cx="2001872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251460" y="6995160"/>
            <a:ext cx="297180" cy="0"/>
          </a:xfrm>
          <a:prstGeom prst="line">
            <a:avLst/>
          </a:prstGeom>
          <a:ln w="1143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617220" y="6923105"/>
            <a:ext cx="752123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2674620" y="6995160"/>
            <a:ext cx="297180" cy="0"/>
          </a:xfrm>
          <a:prstGeom prst="line">
            <a:avLst/>
          </a:prstGeom>
          <a:ln w="11430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3040380" y="6923105"/>
            <a:ext cx="661654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5097780" y="6995160"/>
            <a:ext cx="297180" cy="0"/>
          </a:xfrm>
          <a:prstGeom prst="line">
            <a:avLst/>
          </a:prstGeom>
          <a:ln w="1143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5463540" y="6923105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19" name="coh-coordinator"/>
          <p:cNvSpPr/>
          <p:nvPr/>
        </p:nvSpPr>
        <p:spPr>
          <a:xfrm>
            <a:off x="4389120" y="2971800"/>
            <a:ext cx="3886200" cy="57150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0: 范围维护引擎（规划）"/>
          <p:cNvSpPr txBox="1"/>
          <p:nvPr/>
        </p:nvSpPr>
        <p:spPr>
          <a:xfrm>
            <a:off x="5653278" y="3092226"/>
            <a:ext cx="1357884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范围维护引擎（规划）</a:t>
            </a:r>
          </a:p>
        </p:txBody>
      </p:sp>
      <p:sp>
        <p:nvSpPr>
          <p:cNvPr id="121" name="text-121: 软件触发 / L1D 与 LLC 维护 / 搬运准入 / 完成确认"/>
          <p:cNvSpPr txBox="1"/>
          <p:nvPr/>
        </p:nvSpPr>
        <p:spPr>
          <a:xfrm>
            <a:off x="5035522" y="3267060"/>
            <a:ext cx="25933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软件触发 / L1D 与 LLC 维护 / 搬运准入 / 完成确认</a:t>
            </a:r>
          </a:p>
        </p:txBody>
      </p:sp>
      <p:sp>
        <p:nvSpPr>
          <p:cNvPr id="122" name="coh-cpu"/>
          <p:cNvSpPr/>
          <p:nvPr/>
        </p:nvSpPr>
        <p:spPr>
          <a:xfrm>
            <a:off x="914400" y="731520"/>
            <a:ext cx="3474720" cy="2377440"/>
          </a:xfrm>
          <a:custGeom>
            <a:avLst/>
            <a:gdLst/>
            <a:ahLst/>
            <a:cxnLst/>
            <a:rect l="0" t="0" r="r" b="b"/>
            <a:pathLst>
              <a:path w="3474720" h="2377440" fill="none">
                <a:moveTo>
                  <a:pt x="3474720" y="2377440"/>
                </a:moveTo>
                <a:lnTo>
                  <a:pt x="3314700" y="2377440"/>
                </a:lnTo>
                <a:lnTo>
                  <a:pt x="3314700" y="585216"/>
                </a:lnTo>
                <a:cubicBezTo>
                  <a:pt x="3354324" y="560832"/>
                  <a:pt x="3354324" y="536448"/>
                  <a:pt x="3314700" y="512064"/>
                </a:cubicBezTo>
                <a:lnTo>
                  <a:pt x="3314700" y="0"/>
                </a:lnTo>
                <a:lnTo>
                  <a:pt x="0" y="0"/>
                </a:lnTo>
                <a:lnTo>
                  <a:pt x="0" y="59436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3: 软件请求 / L1D 排空与失效"/>
          <p:cNvSpPr txBox="1"/>
          <p:nvPr/>
        </p:nvSpPr>
        <p:spPr>
          <a:xfrm>
            <a:off x="1143000" y="572232"/>
            <a:ext cx="138571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软件请求 / L1D 排空与失效</a:t>
            </a:r>
          </a:p>
        </p:txBody>
      </p:sp>
      <p:sp>
        <p:nvSpPr>
          <p:cNvPr id="124" name="coh-atomics"/>
          <p:cNvSpPr/>
          <p:nvPr/>
        </p:nvSpPr>
        <p:spPr>
          <a:xfrm>
            <a:off x="182880" y="3320796"/>
            <a:ext cx="4206240" cy="2348484"/>
          </a:xfrm>
          <a:custGeom>
            <a:avLst/>
            <a:gdLst/>
            <a:ahLst/>
            <a:cxnLst/>
            <a:rect l="0" t="0" r="r" b="b"/>
            <a:pathLst>
              <a:path w="4206240" h="2348484" fill="none">
                <a:moveTo>
                  <a:pt x="4206240" y="39624"/>
                </a:moveTo>
                <a:lnTo>
                  <a:pt x="3054096" y="39624"/>
                </a:lnTo>
                <a:cubicBezTo>
                  <a:pt x="3029712" y="0"/>
                  <a:pt x="3005328" y="0"/>
                  <a:pt x="2980944" y="39624"/>
                </a:cubicBezTo>
                <a:lnTo>
                  <a:pt x="996696" y="39624"/>
                </a:lnTo>
                <a:cubicBezTo>
                  <a:pt x="972312" y="0"/>
                  <a:pt x="947928" y="0"/>
                  <a:pt x="923544" y="39624"/>
                </a:cubicBezTo>
                <a:lnTo>
                  <a:pt x="0" y="39624"/>
                </a:lnTo>
                <a:lnTo>
                  <a:pt x="0" y="2348484"/>
                </a:lnTo>
                <a:lnTo>
                  <a:pt x="2240280" y="2348484"/>
                </a:lnTo>
                <a:lnTo>
                  <a:pt x="2240280" y="209702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5: 原子域评审"/>
          <p:cNvSpPr txBox="1"/>
          <p:nvPr/>
        </p:nvSpPr>
        <p:spPr>
          <a:xfrm>
            <a:off x="320040" y="3384012"/>
            <a:ext cx="63093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原子域评审</a:t>
            </a:r>
          </a:p>
        </p:txBody>
      </p:sp>
      <p:sp>
        <p:nvSpPr>
          <p:cNvPr id="126" name="coh-llc"/>
          <p:cNvSpPr/>
          <p:nvPr/>
        </p:nvSpPr>
        <p:spPr>
          <a:xfrm>
            <a:off x="4229100" y="3543300"/>
            <a:ext cx="1937004" cy="2034540"/>
          </a:xfrm>
          <a:custGeom>
            <a:avLst/>
            <a:gdLst/>
            <a:ahLst/>
            <a:cxnLst/>
            <a:rect l="0" t="0" r="r" b="b"/>
            <a:pathLst>
              <a:path w="1937004" h="2034540" fill="none">
                <a:moveTo>
                  <a:pt x="1897380" y="0"/>
                </a:moveTo>
                <a:lnTo>
                  <a:pt x="1897380" y="1527048"/>
                </a:lnTo>
                <a:cubicBezTo>
                  <a:pt x="1937004" y="1551432"/>
                  <a:pt x="1937004" y="1575816"/>
                  <a:pt x="1897380" y="1600200"/>
                </a:cubicBezTo>
                <a:lnTo>
                  <a:pt x="1897380" y="2034540"/>
                </a:lnTo>
                <a:lnTo>
                  <a:pt x="0" y="2034540"/>
                </a:lnTo>
                <a:lnTo>
                  <a:pt x="0" y="187452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7: LLC 范围清理 / 失效确认"/>
          <p:cNvSpPr txBox="1"/>
          <p:nvPr/>
        </p:nvSpPr>
        <p:spPr>
          <a:xfrm>
            <a:off x="4572000" y="5601432"/>
            <a:ext cx="1265880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范围清理 / 失效确认</a:t>
            </a:r>
          </a:p>
        </p:txBody>
      </p:sp>
      <p:sp>
        <p:nvSpPr>
          <p:cNvPr id="128" name="coh-s1"/>
          <p:cNvSpPr/>
          <p:nvPr/>
        </p:nvSpPr>
        <p:spPr>
          <a:xfrm>
            <a:off x="8275320" y="3160776"/>
            <a:ext cx="1097280" cy="1319784"/>
          </a:xfrm>
          <a:custGeom>
            <a:avLst/>
            <a:gdLst/>
            <a:ahLst/>
            <a:cxnLst/>
            <a:rect l="0" t="0" r="r" b="b"/>
            <a:pathLst>
              <a:path w="1097280" h="1319784" fill="none">
                <a:moveTo>
                  <a:pt x="0" y="39624"/>
                </a:moveTo>
                <a:lnTo>
                  <a:pt x="100584" y="39624"/>
                </a:lnTo>
                <a:cubicBezTo>
                  <a:pt x="124968" y="0"/>
                  <a:pt x="149352" y="0"/>
                  <a:pt x="173736" y="39624"/>
                </a:cubicBezTo>
                <a:lnTo>
                  <a:pt x="1097280" y="39624"/>
                </a:lnTo>
                <a:lnTo>
                  <a:pt x="1097280" y="1319784"/>
                </a:lnTo>
                <a:lnTo>
                  <a:pt x="914400" y="131978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9: S1 维护后准入 / 完成"/>
          <p:cNvSpPr txBox="1"/>
          <p:nvPr/>
        </p:nvSpPr>
        <p:spPr>
          <a:xfrm>
            <a:off x="9441180" y="3018252"/>
            <a:ext cx="111861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S1 维护后准入 / 完成</a:t>
            </a:r>
          </a:p>
        </p:txBody>
      </p:sp>
      <p:sp>
        <p:nvSpPr>
          <p:cNvPr id="130" name="coh-s2"/>
          <p:cNvSpPr/>
          <p:nvPr/>
        </p:nvSpPr>
        <p:spPr>
          <a:xfrm>
            <a:off x="8275320" y="3366516"/>
            <a:ext cx="2788920" cy="1114044"/>
          </a:xfrm>
          <a:custGeom>
            <a:avLst/>
            <a:gdLst/>
            <a:ahLst/>
            <a:cxnLst/>
            <a:rect l="0" t="0" r="r" b="b"/>
            <a:pathLst>
              <a:path w="2788920" h="1114044" fill="none">
                <a:moveTo>
                  <a:pt x="0" y="39624"/>
                </a:moveTo>
                <a:lnTo>
                  <a:pt x="512064" y="39624"/>
                </a:lnTo>
                <a:cubicBezTo>
                  <a:pt x="536448" y="0"/>
                  <a:pt x="560832" y="0"/>
                  <a:pt x="585216" y="39624"/>
                </a:cubicBezTo>
                <a:lnTo>
                  <a:pt x="1060704" y="39624"/>
                </a:lnTo>
                <a:cubicBezTo>
                  <a:pt x="1085088" y="0"/>
                  <a:pt x="1109472" y="0"/>
                  <a:pt x="1133856" y="39624"/>
                </a:cubicBezTo>
                <a:lnTo>
                  <a:pt x="1325880" y="39624"/>
                </a:lnTo>
                <a:lnTo>
                  <a:pt x="1325880" y="748284"/>
                </a:lnTo>
                <a:lnTo>
                  <a:pt x="2295144" y="748284"/>
                </a:lnTo>
                <a:cubicBezTo>
                  <a:pt x="2319528" y="708660"/>
                  <a:pt x="2343912" y="708660"/>
                  <a:pt x="2368296" y="748284"/>
                </a:cubicBezTo>
                <a:lnTo>
                  <a:pt x="2788920" y="748284"/>
                </a:lnTo>
                <a:lnTo>
                  <a:pt x="2788920" y="1114044"/>
                </a:lnTo>
                <a:lnTo>
                  <a:pt x="2697480" y="111404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S2 维护后准入 / 完成"/>
          <p:cNvSpPr txBox="1"/>
          <p:nvPr/>
        </p:nvSpPr>
        <p:spPr>
          <a:xfrm>
            <a:off x="11132820" y="3978372"/>
            <a:ext cx="111861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S2 维护后准入 / 完成</a:t>
            </a:r>
          </a:p>
        </p:txBody>
      </p:sp>
      <p:sp>
        <p:nvSpPr>
          <p:cNvPr id="132" name="coh-ddr"/>
          <p:cNvSpPr/>
          <p:nvPr/>
        </p:nvSpPr>
        <p:spPr>
          <a:xfrm>
            <a:off x="7909560" y="3543300"/>
            <a:ext cx="39624" cy="1668780"/>
          </a:xfrm>
          <a:custGeom>
            <a:avLst/>
            <a:gdLst/>
            <a:ahLst/>
            <a:cxnLst/>
            <a:rect l="0" t="0" r="r" b="b"/>
            <a:pathLst>
              <a:path w="39624" h="1668780" fill="none">
                <a:moveTo>
                  <a:pt x="0" y="0"/>
                </a:moveTo>
                <a:lnTo>
                  <a:pt x="0" y="1335024"/>
                </a:lnTo>
                <a:cubicBezTo>
                  <a:pt x="39624" y="1359408"/>
                  <a:pt x="39624" y="1383792"/>
                  <a:pt x="0" y="1408176"/>
                </a:cubicBezTo>
                <a:lnTo>
                  <a:pt x="0" y="166878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33: 跨口可见 / 完成"/>
          <p:cNvSpPr txBox="1"/>
          <p:nvPr/>
        </p:nvSpPr>
        <p:spPr>
          <a:xfrm>
            <a:off x="8001000" y="4961352"/>
            <a:ext cx="85377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跨口可见 / 完成</a:t>
            </a:r>
          </a:p>
        </p:txBody>
      </p:sp>
      <p:sp>
        <p:nvSpPr>
          <p:cNvPr id="134" name="coh-legend"/>
          <p:cNvSpPr/>
          <p:nvPr/>
        </p:nvSpPr>
        <p:spPr>
          <a:xfrm>
            <a:off x="7863840" y="699516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135: 软件交接与硬件维护（规划）"/>
          <p:cNvSpPr txBox="1"/>
          <p:nvPr/>
        </p:nvSpPr>
        <p:spPr>
          <a:xfrm>
            <a:off x="8252460" y="6923105"/>
            <a:ext cx="140817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软件交接与硬件维护（规划）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1194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976651" y="136998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8" name="text-008: 命中副本 x = 2"/>
          <p:cNvSpPr txBox="1"/>
          <p:nvPr/>
        </p:nvSpPr>
        <p:spPr>
          <a:xfrm>
            <a:off x="90434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命中副本 x = 2</a:t>
            </a:r>
          </a:p>
        </p:txBody>
      </p:sp>
      <p:sp>
        <p:nvSpPr>
          <p:cNvPr id="9" name="text-009: CPU 已执行 store"/>
          <p:cNvSpPr txBox="1"/>
          <p:nvPr/>
        </p:nvSpPr>
        <p:spPr>
          <a:xfrm>
            <a:off x="832896" y="1760647"/>
            <a:ext cx="110788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已执行 store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448660" y="1573957"/>
            <a:ext cx="8369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6033683" y="136998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86496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49810" y="1760647"/>
            <a:ext cx="13952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6239" y="136998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620494" y="1573957"/>
            <a:ext cx="4145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4018" y="136998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953598" y="1573957"/>
            <a:ext cx="7089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721882" y="1760647"/>
            <a:ext cx="117239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49690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27323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976651" y="331689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905592" y="352086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803205" y="370755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58857" y="3316895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802204" y="3520867"/>
            <a:ext cx="10905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6239" y="331689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621744" y="3520867"/>
            <a:ext cx="4120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4018" y="331689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954848" y="352086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61637" y="3707557"/>
            <a:ext cx="10928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485329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37984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976651" y="526380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90559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720007" y="5654467"/>
            <a:ext cx="133366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60274" y="5654467"/>
            <a:ext cx="10137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6033683" y="526380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86621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6239" y="526380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377339" y="5467777"/>
            <a:ext cx="9008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4018" y="526380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954848" y="546777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39726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31660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16422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裸机同步调用与硬件动作沿时间依次完成"/>
          <p:cNvSpPr txBox="1"/>
          <p:nvPr/>
        </p:nvSpPr>
        <p:spPr>
          <a:xfrm>
            <a:off x="228600" y="69129"/>
            <a:ext cx="3127248" cy="2633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裸机同步调用与硬件动作沿时间依次完成</a:t>
            </a:r>
          </a:p>
        </p:txBody>
      </p:sp>
      <p:sp>
        <p:nvSpPr>
          <p:cNvPr id="3" name="text-003: 时间向下；紫色为命令与完成依赖，蓝色为缓存写入，绿色为 DDR–GB 搬运。"/>
          <p:cNvSpPr txBox="1"/>
          <p:nvPr/>
        </p:nvSpPr>
        <p:spPr>
          <a:xfrm>
            <a:off x="228600" y="320406"/>
            <a:ext cx="388119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时间向下；紫色为命令与完成依赖，蓝色为缓存写入，绿色为 DDR–GB 搬运。</a:t>
            </a:r>
          </a:p>
        </p:txBody>
      </p:sp>
      <p:sp>
        <p:nvSpPr>
          <p:cNvPr id="4" name="lane0"/>
          <p:cNvSpPr/>
          <p:nvPr/>
        </p:nvSpPr>
        <p:spPr>
          <a:xfrm>
            <a:off x="160020" y="594360"/>
            <a:ext cx="1737360" cy="434340"/>
          </a:xfrm>
          <a:prstGeom prst="rect">
            <a:avLst/>
          </a:prstGeom>
          <a:solidFill>
            <a:srgbClr val="F1D7D9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PU 裸机程序"/>
          <p:cNvSpPr txBox="1"/>
          <p:nvPr/>
        </p:nvSpPr>
        <p:spPr>
          <a:xfrm>
            <a:off x="589352" y="646206"/>
            <a:ext cx="878696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裸机程序</a:t>
            </a:r>
          </a:p>
        </p:txBody>
      </p:sp>
      <p:sp>
        <p:nvSpPr>
          <p:cNvPr id="6" name="text-006: 调用 HAL / 轮询"/>
          <p:cNvSpPr txBox="1"/>
          <p:nvPr/>
        </p:nvSpPr>
        <p:spPr>
          <a:xfrm>
            <a:off x="582233" y="821040"/>
            <a:ext cx="892933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调用 HAL / 轮询</a:t>
            </a:r>
          </a:p>
        </p:txBody>
      </p:sp>
      <p:cxnSp>
        <p:nvCxnSpPr>
          <p:cNvPr id="7" name="life0"/>
          <p:cNvCxnSpPr/>
          <p:nvPr/>
        </p:nvCxnSpPr>
        <p:spPr>
          <a:xfrm>
            <a:off x="102870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8" name="lane1"/>
          <p:cNvSpPr/>
          <p:nvPr/>
        </p:nvSpPr>
        <p:spPr>
          <a:xfrm>
            <a:off x="2308860" y="594360"/>
            <a:ext cx="1737360" cy="43434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范围维护引擎"/>
          <p:cNvSpPr txBox="1"/>
          <p:nvPr/>
        </p:nvSpPr>
        <p:spPr>
          <a:xfrm>
            <a:off x="2745486" y="646206"/>
            <a:ext cx="864108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范围维护引擎</a:t>
            </a:r>
          </a:p>
        </p:txBody>
      </p:sp>
      <p:sp>
        <p:nvSpPr>
          <p:cNvPr id="10" name="text-010: 规划：汇合维护确认"/>
          <p:cNvSpPr txBox="1"/>
          <p:nvPr/>
        </p:nvSpPr>
        <p:spPr>
          <a:xfrm>
            <a:off x="2628900" y="821040"/>
            <a:ext cx="109728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规划：汇合维护确认</a:t>
            </a:r>
          </a:p>
        </p:txBody>
      </p:sp>
      <p:cxnSp>
        <p:nvCxnSpPr>
          <p:cNvPr id="11" name="life1"/>
          <p:cNvCxnSpPr/>
          <p:nvPr/>
        </p:nvCxnSpPr>
        <p:spPr>
          <a:xfrm>
            <a:off x="317754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2" name="lane2"/>
          <p:cNvSpPr/>
          <p:nvPr/>
        </p:nvSpPr>
        <p:spPr>
          <a:xfrm>
            <a:off x="4457700" y="594360"/>
            <a:ext cx="1737360" cy="434340"/>
          </a:xfrm>
          <a:prstGeom prst="rect">
            <a:avLst/>
          </a:prstGeom>
          <a:solidFill>
            <a:srgbClr val="F1D7D9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1D / 写缓冲"/>
          <p:cNvSpPr txBox="1"/>
          <p:nvPr/>
        </p:nvSpPr>
        <p:spPr>
          <a:xfrm>
            <a:off x="4901856" y="646206"/>
            <a:ext cx="849049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4" name="text-014: 排空与失效"/>
          <p:cNvSpPr txBox="1"/>
          <p:nvPr/>
        </p:nvSpPr>
        <p:spPr>
          <a:xfrm>
            <a:off x="4997196" y="821040"/>
            <a:ext cx="65836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</a:t>
            </a:r>
          </a:p>
        </p:txBody>
      </p:sp>
      <p:cxnSp>
        <p:nvCxnSpPr>
          <p:cNvPr id="15" name="life2"/>
          <p:cNvCxnSpPr/>
          <p:nvPr/>
        </p:nvCxnSpPr>
        <p:spPr>
          <a:xfrm>
            <a:off x="532638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6" name="lane3"/>
          <p:cNvSpPr/>
          <p:nvPr/>
        </p:nvSpPr>
        <p:spPr>
          <a:xfrm>
            <a:off x="6606540" y="594360"/>
            <a:ext cx="1737360" cy="434340"/>
          </a:xfrm>
          <a:prstGeom prst="rect">
            <a:avLst/>
          </a:prstGeom>
          <a:solidFill>
            <a:srgbClr val="D8E8F4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WB LLC"/>
          <p:cNvSpPr txBox="1"/>
          <p:nvPr/>
        </p:nvSpPr>
        <p:spPr>
          <a:xfrm>
            <a:off x="7206269" y="646206"/>
            <a:ext cx="537903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8" name="text-018: 清理与失效"/>
          <p:cNvSpPr txBox="1"/>
          <p:nvPr/>
        </p:nvSpPr>
        <p:spPr>
          <a:xfrm>
            <a:off x="7146036" y="821040"/>
            <a:ext cx="65836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清理与失效</a:t>
            </a:r>
          </a:p>
        </p:txBody>
      </p:sp>
      <p:cxnSp>
        <p:nvCxnSpPr>
          <p:cNvPr id="19" name="life3"/>
          <p:cNvCxnSpPr/>
          <p:nvPr/>
        </p:nvCxnSpPr>
        <p:spPr>
          <a:xfrm>
            <a:off x="747522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0" name="lane4"/>
          <p:cNvSpPr/>
          <p:nvPr/>
        </p:nvSpPr>
        <p:spPr>
          <a:xfrm>
            <a:off x="8755380" y="594360"/>
            <a:ext cx="1737360" cy="434340"/>
          </a:xfrm>
          <a:prstGeom prst="rect">
            <a:avLst/>
          </a:prstGeom>
          <a:solidFill>
            <a:srgbClr val="D8E8F4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/ 搬运器"/>
          <p:cNvSpPr txBox="1"/>
          <p:nvPr/>
        </p:nvSpPr>
        <p:spPr>
          <a:xfrm>
            <a:off x="9188502" y="646206"/>
            <a:ext cx="871116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/ 搬运器</a:t>
            </a:r>
          </a:p>
        </p:txBody>
      </p:sp>
      <p:sp>
        <p:nvSpPr>
          <p:cNvPr id="22" name="text-022: 跨端口数据可见"/>
          <p:cNvSpPr txBox="1"/>
          <p:nvPr/>
        </p:nvSpPr>
        <p:spPr>
          <a:xfrm>
            <a:off x="9185148" y="821040"/>
            <a:ext cx="87782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跨端口数据可见</a:t>
            </a:r>
          </a:p>
        </p:txBody>
      </p:sp>
      <p:cxnSp>
        <p:nvCxnSpPr>
          <p:cNvPr id="23" name="life4"/>
          <p:cNvCxnSpPr/>
          <p:nvPr/>
        </p:nvCxnSpPr>
        <p:spPr>
          <a:xfrm>
            <a:off x="962406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4" name="lane5"/>
          <p:cNvSpPr/>
          <p:nvPr/>
        </p:nvSpPr>
        <p:spPr>
          <a:xfrm>
            <a:off x="10904220" y="594360"/>
            <a:ext cx="1737360" cy="434340"/>
          </a:xfrm>
          <a:prstGeom prst="rect">
            <a:avLst/>
          </a:prstGeom>
          <a:solidFill>
            <a:srgbClr val="D9EEE8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共享代理 / GB / NPU"/>
          <p:cNvSpPr txBox="1"/>
          <p:nvPr/>
        </p:nvSpPr>
        <p:spPr>
          <a:xfrm>
            <a:off x="11132524" y="646206"/>
            <a:ext cx="1280753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/ GB / NPU</a:t>
            </a:r>
          </a:p>
        </p:txBody>
      </p:sp>
      <p:sp>
        <p:nvSpPr>
          <p:cNvPr id="26" name="text-026: 装入、计算、搬出"/>
          <p:cNvSpPr txBox="1"/>
          <p:nvPr/>
        </p:nvSpPr>
        <p:spPr>
          <a:xfrm>
            <a:off x="11279124" y="821040"/>
            <a:ext cx="98755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装入、计算、搬出</a:t>
            </a:r>
          </a:p>
        </p:txBody>
      </p:sp>
      <p:cxnSp>
        <p:nvCxnSpPr>
          <p:cNvPr id="27" name="life5"/>
          <p:cNvCxnSpPr/>
          <p:nvPr/>
        </p:nvCxnSpPr>
        <p:spPr>
          <a:xfrm>
            <a:off x="1177290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8" name="prepare"/>
          <p:cNvSpPr/>
          <p:nvPr/>
        </p:nvSpPr>
        <p:spPr>
          <a:xfrm>
            <a:off x="1028700" y="132588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1493330" y="1133856"/>
            <a:ext cx="12195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同步输入 + 准备输出"/>
          <p:cNvSpPr txBox="1"/>
          <p:nvPr/>
        </p:nvSpPr>
        <p:spPr>
          <a:xfrm>
            <a:off x="1520233" y="1133856"/>
            <a:ext cx="1165774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同步输入 + 准备输出</a:t>
            </a:r>
          </a:p>
        </p:txBody>
      </p:sp>
      <p:sp>
        <p:nvSpPr>
          <p:cNvPr id="31" name="drain"/>
          <p:cNvSpPr/>
          <p:nvPr/>
        </p:nvSpPr>
        <p:spPr>
          <a:xfrm>
            <a:off x="3177540" y="169164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3642170" y="1499616"/>
            <a:ext cx="12195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排空旧写 / 输出失效"/>
          <p:cNvSpPr txBox="1"/>
          <p:nvPr/>
        </p:nvSpPr>
        <p:spPr>
          <a:xfrm>
            <a:off x="3673648" y="1499616"/>
            <a:ext cx="1156623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排空旧写 / 输出失效</a:t>
            </a:r>
          </a:p>
        </p:txBody>
      </p:sp>
      <p:sp>
        <p:nvSpPr>
          <p:cNvPr id="34" name="wt-store"/>
          <p:cNvSpPr/>
          <p:nvPr/>
        </p:nvSpPr>
        <p:spPr>
          <a:xfrm>
            <a:off x="5326380" y="205740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5962460" y="1865376"/>
            <a:ext cx="8766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WT 先行写推进"/>
          <p:cNvSpPr txBox="1"/>
          <p:nvPr/>
        </p:nvSpPr>
        <p:spPr>
          <a:xfrm>
            <a:off x="5965367" y="1865376"/>
            <a:ext cx="870866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WT 先行写推进</a:t>
            </a:r>
          </a:p>
        </p:txBody>
      </p:sp>
      <p:sp>
        <p:nvSpPr>
          <p:cNvPr id="37" name="clean"/>
          <p:cNvSpPr/>
          <p:nvPr/>
        </p:nvSpPr>
        <p:spPr>
          <a:xfrm>
            <a:off x="3177540" y="2423160"/>
            <a:ext cx="4297680" cy="1"/>
          </a:xfrm>
          <a:custGeom>
            <a:avLst/>
            <a:gdLst/>
            <a:ahLst/>
            <a:cxnLst/>
            <a:rect l="0" t="0" r="r" b="b"/>
            <a:pathLst>
              <a:path w="4297680" h="1" fill="none">
                <a:moveTo>
                  <a:pt x="0" y="0"/>
                </a:moveTo>
                <a:lnTo>
                  <a:pt x="429768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4171378" y="2231136"/>
            <a:ext cx="2310003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输入 clean；输出 clean + invalidate"/>
          <p:cNvSpPr txBox="1"/>
          <p:nvPr/>
        </p:nvSpPr>
        <p:spPr>
          <a:xfrm>
            <a:off x="4375258" y="2231136"/>
            <a:ext cx="1902245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输入 clean；输出 clean + invalidate</a:t>
            </a:r>
          </a:p>
        </p:txBody>
      </p:sp>
      <p:sp>
        <p:nvSpPr>
          <p:cNvPr id="40" name="writeback"/>
          <p:cNvSpPr/>
          <p:nvPr/>
        </p:nvSpPr>
        <p:spPr>
          <a:xfrm>
            <a:off x="7475220" y="278892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8193024" y="2596896"/>
            <a:ext cx="7132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经 S0 写回"/>
          <p:cNvSpPr txBox="1"/>
          <p:nvPr/>
        </p:nvSpPr>
        <p:spPr>
          <a:xfrm>
            <a:off x="8217120" y="2596896"/>
            <a:ext cx="66504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经 S0 写回</a:t>
            </a:r>
          </a:p>
        </p:txBody>
      </p:sp>
      <p:sp>
        <p:nvSpPr>
          <p:cNvPr id="43" name="ddr-visible"/>
          <p:cNvSpPr/>
          <p:nvPr/>
        </p:nvSpPr>
        <p:spPr>
          <a:xfrm>
            <a:off x="3177540" y="3154680"/>
            <a:ext cx="6446520" cy="1"/>
          </a:xfrm>
          <a:custGeom>
            <a:avLst/>
            <a:gdLst/>
            <a:ahLst/>
            <a:cxnLst/>
            <a:rect l="0" t="0" r="r" b="b"/>
            <a:pathLst>
              <a:path w="6446520" h="1" fill="none">
                <a:moveTo>
                  <a:pt x="644652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5545836" y="2962656"/>
            <a:ext cx="17099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跨端口可见；汇合缓存完成确认"/>
          <p:cNvSpPr txBox="1"/>
          <p:nvPr/>
        </p:nvSpPr>
        <p:spPr>
          <a:xfrm>
            <a:off x="5543550" y="2962656"/>
            <a:ext cx="1714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跨端口可见；汇合缓存完成确认</a:t>
            </a:r>
          </a:p>
        </p:txBody>
      </p:sp>
      <p:sp>
        <p:nvSpPr>
          <p:cNvPr id="46" name="prepared"/>
          <p:cNvSpPr/>
          <p:nvPr/>
        </p:nvSpPr>
        <p:spPr>
          <a:xfrm>
            <a:off x="1028700" y="352044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214884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1533906" y="3328416"/>
            <a:ext cx="11384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维护完成，返回应用"/>
          <p:cNvSpPr txBox="1"/>
          <p:nvPr/>
        </p:nvSpPr>
        <p:spPr>
          <a:xfrm>
            <a:off x="1531620" y="3328416"/>
            <a:ext cx="11430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维护完成，返回应用</a:t>
            </a:r>
          </a:p>
        </p:txBody>
      </p:sp>
      <p:sp>
        <p:nvSpPr>
          <p:cNvPr id="49" name="submit"/>
          <p:cNvSpPr/>
          <p:nvPr/>
        </p:nvSpPr>
        <p:spPr>
          <a:xfrm>
            <a:off x="1028700" y="3886200"/>
            <a:ext cx="8595360" cy="1"/>
          </a:xfrm>
          <a:custGeom>
            <a:avLst/>
            <a:gdLst/>
            <a:ahLst/>
            <a:cxnLst/>
            <a:rect l="0" t="0" r="r" b="b"/>
            <a:pathLst>
              <a:path w="8595360" h="1" fill="none">
                <a:moveTo>
                  <a:pt x="0" y="0"/>
                </a:moveTo>
                <a:lnTo>
                  <a:pt x="859536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0"/>
          <p:cNvSpPr/>
          <p:nvPr/>
        </p:nvSpPr>
        <p:spPr>
          <a:xfrm>
            <a:off x="4414266" y="3694176"/>
            <a:ext cx="18242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提交任务：依次搬入、计算、搬出"/>
          <p:cNvSpPr txBox="1"/>
          <p:nvPr/>
        </p:nvSpPr>
        <p:spPr>
          <a:xfrm>
            <a:off x="4411980" y="3694176"/>
            <a:ext cx="1828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提交任务：依次搬入、计算、搬出</a:t>
            </a:r>
          </a:p>
        </p:txBody>
      </p:sp>
      <p:sp>
        <p:nvSpPr>
          <p:cNvPr id="52" name="dma-in"/>
          <p:cNvSpPr/>
          <p:nvPr/>
        </p:nvSpPr>
        <p:spPr>
          <a:xfrm>
            <a:off x="9624060" y="425196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10317290" y="4059936"/>
            <a:ext cx="7623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输入搬入 GB"/>
          <p:cNvSpPr txBox="1"/>
          <p:nvPr/>
        </p:nvSpPr>
        <p:spPr>
          <a:xfrm>
            <a:off x="10322540" y="4059936"/>
            <a:ext cx="75188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输入搬入 GB</a:t>
            </a:r>
          </a:p>
        </p:txBody>
      </p:sp>
      <p:sp>
        <p:nvSpPr>
          <p:cNvPr id="55" name="compute"/>
          <p:cNvSpPr/>
          <p:nvPr/>
        </p:nvSpPr>
        <p:spPr>
          <a:xfrm>
            <a:off x="10904220" y="4434840"/>
            <a:ext cx="1737360" cy="297180"/>
          </a:xfrm>
          <a:prstGeom prst="rect">
            <a:avLst/>
          </a:prstGeom>
          <a:solidFill>
            <a:srgbClr val="D9EEE8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NPU 计算，结果留在 GB"/>
          <p:cNvSpPr txBox="1"/>
          <p:nvPr/>
        </p:nvSpPr>
        <p:spPr>
          <a:xfrm>
            <a:off x="11048506" y="4495830"/>
            <a:ext cx="1448788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计算，结果留在 GB</a:t>
            </a:r>
          </a:p>
        </p:txBody>
      </p:sp>
      <p:sp>
        <p:nvSpPr>
          <p:cNvPr id="57" name="dma-out"/>
          <p:cNvSpPr/>
          <p:nvPr/>
        </p:nvSpPr>
        <p:spPr>
          <a:xfrm>
            <a:off x="9624060" y="498348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214884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8"/>
          <p:cNvSpPr/>
          <p:nvPr/>
        </p:nvSpPr>
        <p:spPr>
          <a:xfrm>
            <a:off x="10284714" y="4791456"/>
            <a:ext cx="8275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结果写入 DDR"/>
          <p:cNvSpPr txBox="1"/>
          <p:nvPr/>
        </p:nvSpPr>
        <p:spPr>
          <a:xfrm>
            <a:off x="10284868" y="4791456"/>
            <a:ext cx="827225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结果写入 DDR</a:t>
            </a:r>
          </a:p>
        </p:txBody>
      </p:sp>
      <p:sp>
        <p:nvSpPr>
          <p:cNvPr id="60" name="task-done"/>
          <p:cNvSpPr/>
          <p:nvPr/>
        </p:nvSpPr>
        <p:spPr>
          <a:xfrm>
            <a:off x="1028700" y="5349240"/>
            <a:ext cx="8595360" cy="1"/>
          </a:xfrm>
          <a:custGeom>
            <a:avLst/>
            <a:gdLst/>
            <a:ahLst/>
            <a:cxnLst/>
            <a:rect l="0" t="0" r="r" b="b"/>
            <a:pathLst>
              <a:path w="8595360" h="1" fill="none">
                <a:moveTo>
                  <a:pt x="859536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4585716" y="5157216"/>
            <a:ext cx="14813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任务完成：结果跨端口可见"/>
          <p:cNvSpPr txBox="1"/>
          <p:nvPr/>
        </p:nvSpPr>
        <p:spPr>
          <a:xfrm>
            <a:off x="4583430" y="5157216"/>
            <a:ext cx="14859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任务完成：结果跨端口可见</a:t>
            </a:r>
          </a:p>
        </p:txBody>
      </p:sp>
      <p:sp>
        <p:nvSpPr>
          <p:cNvPr id="63" name="acquire"/>
          <p:cNvSpPr/>
          <p:nvPr/>
        </p:nvSpPr>
        <p:spPr>
          <a:xfrm>
            <a:off x="1028700" y="571500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-064"/>
          <p:cNvSpPr/>
          <p:nvPr/>
        </p:nvSpPr>
        <p:spPr>
          <a:xfrm>
            <a:off x="1819656" y="5522976"/>
            <a:ext cx="5669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同步输出"/>
          <p:cNvSpPr txBox="1"/>
          <p:nvPr/>
        </p:nvSpPr>
        <p:spPr>
          <a:xfrm>
            <a:off x="1817370" y="5522976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同步输出</a:t>
            </a:r>
          </a:p>
        </p:txBody>
      </p:sp>
      <p:sp>
        <p:nvSpPr>
          <p:cNvPr id="66" name="post-l1"/>
          <p:cNvSpPr/>
          <p:nvPr/>
        </p:nvSpPr>
        <p:spPr>
          <a:xfrm>
            <a:off x="3177540" y="608076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7"/>
          <p:cNvSpPr/>
          <p:nvPr/>
        </p:nvSpPr>
        <p:spPr>
          <a:xfrm>
            <a:off x="3739896" y="5888736"/>
            <a:ext cx="10241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失效与旧回填处理"/>
          <p:cNvSpPr txBox="1"/>
          <p:nvPr/>
        </p:nvSpPr>
        <p:spPr>
          <a:xfrm>
            <a:off x="3737610" y="5888736"/>
            <a:ext cx="10287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失效与旧回填处理</a:t>
            </a:r>
          </a:p>
        </p:txBody>
      </p:sp>
      <p:sp>
        <p:nvSpPr>
          <p:cNvPr id="69" name="post-llc"/>
          <p:cNvSpPr/>
          <p:nvPr/>
        </p:nvSpPr>
        <p:spPr>
          <a:xfrm>
            <a:off x="3177540" y="6332220"/>
            <a:ext cx="4297680" cy="1"/>
          </a:xfrm>
          <a:custGeom>
            <a:avLst/>
            <a:gdLst/>
            <a:ahLst/>
            <a:cxnLst/>
            <a:rect l="0" t="0" r="r" b="b"/>
            <a:pathLst>
              <a:path w="4297680" h="1" fill="none">
                <a:moveTo>
                  <a:pt x="0" y="0"/>
                </a:moveTo>
                <a:lnTo>
                  <a:pt x="429768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70"/>
          <p:cNvSpPr/>
          <p:nvPr/>
        </p:nvSpPr>
        <p:spPr>
          <a:xfrm>
            <a:off x="4741164" y="6140196"/>
            <a:ext cx="11704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LLC 同步清除旧副本"/>
          <p:cNvSpPr txBox="1"/>
          <p:nvPr/>
        </p:nvSpPr>
        <p:spPr>
          <a:xfrm>
            <a:off x="4759513" y="6140196"/>
            <a:ext cx="1133735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同步清除旧副本</a:t>
            </a:r>
          </a:p>
        </p:txBody>
      </p:sp>
      <p:sp>
        <p:nvSpPr>
          <p:cNvPr id="72" name="acquired"/>
          <p:cNvSpPr/>
          <p:nvPr/>
        </p:nvSpPr>
        <p:spPr>
          <a:xfrm>
            <a:off x="1028700" y="669798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214884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3"/>
          <p:cNvSpPr/>
          <p:nvPr/>
        </p:nvSpPr>
        <p:spPr>
          <a:xfrm>
            <a:off x="1403604" y="6505956"/>
            <a:ext cx="13990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收齐确认；CPU 可读结果"/>
          <p:cNvSpPr txBox="1"/>
          <p:nvPr/>
        </p:nvSpPr>
        <p:spPr>
          <a:xfrm>
            <a:off x="1410569" y="6505956"/>
            <a:ext cx="1385102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收齐确认；CPU 可读结果</a:t>
            </a:r>
          </a:p>
        </p:txBody>
      </p:sp>
      <p:sp>
        <p:nvSpPr>
          <p:cNvPr id="75" name="text-075: 同步函数等待实际完成才返回；任务超时或错误时保留缓冲区，恢复逻辑处理迟到事务后再"/>
          <p:cNvSpPr txBox="1"/>
          <p:nvPr/>
        </p:nvSpPr>
        <p:spPr>
          <a:xfrm>
            <a:off x="251460" y="6903354"/>
            <a:ext cx="523036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同步函数等待实际完成才返回；任务超时或错误时保留缓冲区，恢复逻辑处理迟到事务后再释放。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