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693920" y="1315720"/>
            <a:ext cx="483616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876040" y="1834896"/>
            <a:ext cx="1173480" cy="1970024"/>
          </a:xfrm>
          <a:custGeom>
            <a:avLst/>
            <a:gdLst/>
            <a:ahLst/>
            <a:cxnLst/>
            <a:rect l="0" t="0" r="r" b="b"/>
            <a:pathLst>
              <a:path w="1173480" h="1970024" fill="none">
                <a:moveTo>
                  <a:pt x="0" y="0"/>
                </a:moveTo>
                <a:lnTo>
                  <a:pt x="497840" y="0"/>
                </a:lnTo>
                <a:lnTo>
                  <a:pt x="497840" y="1970024"/>
                </a:lnTo>
                <a:lnTo>
                  <a:pt x="1173480" y="1970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3876040" y="2723896"/>
            <a:ext cx="1173480" cy="1081024"/>
          </a:xfrm>
          <a:custGeom>
            <a:avLst/>
            <a:gdLst/>
            <a:ahLst/>
            <a:cxnLst/>
            <a:rect l="0" t="0" r="r" b="b"/>
            <a:pathLst>
              <a:path w="1173480" h="1081024" fill="none">
                <a:moveTo>
                  <a:pt x="0" y="0"/>
                </a:moveTo>
                <a:lnTo>
                  <a:pt x="497840" y="0"/>
                </a:lnTo>
                <a:lnTo>
                  <a:pt x="497840" y="1081024"/>
                </a:lnTo>
                <a:lnTo>
                  <a:pt x="1173480" y="1081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3876040" y="3612896"/>
            <a:ext cx="1173480" cy="192024"/>
          </a:xfrm>
          <a:custGeom>
            <a:avLst/>
            <a:gdLst/>
            <a:ahLst/>
            <a:cxnLst/>
            <a:rect l="0" t="0" r="r" b="b"/>
            <a:pathLst>
              <a:path w="1173480" h="192024" fill="none">
                <a:moveTo>
                  <a:pt x="0" y="0"/>
                </a:moveTo>
                <a:lnTo>
                  <a:pt x="497840" y="0"/>
                </a:lnTo>
                <a:lnTo>
                  <a:pt x="497840" y="192024"/>
                </a:lnTo>
                <a:lnTo>
                  <a:pt x="1173480" y="192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3876040" y="3804920"/>
            <a:ext cx="1173480" cy="696976"/>
          </a:xfrm>
          <a:custGeom>
            <a:avLst/>
            <a:gdLst/>
            <a:ahLst/>
            <a:cxnLst/>
            <a:rect l="0" t="0" r="r" b="b"/>
            <a:pathLst>
              <a:path w="1173480" h="696976" fill="none">
                <a:moveTo>
                  <a:pt x="0" y="696976"/>
                </a:moveTo>
                <a:lnTo>
                  <a:pt x="497840" y="696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3876040" y="3804920"/>
            <a:ext cx="1173480" cy="1585976"/>
          </a:xfrm>
          <a:custGeom>
            <a:avLst/>
            <a:gdLst/>
            <a:ahLst/>
            <a:cxnLst/>
            <a:rect l="0" t="0" r="r" b="b"/>
            <a:pathLst>
              <a:path w="1173480" h="1585976" fill="none">
                <a:moveTo>
                  <a:pt x="0" y="1585976"/>
                </a:moveTo>
                <a:lnTo>
                  <a:pt x="497840" y="1585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9174480" y="3769360"/>
            <a:ext cx="1066800" cy="35560"/>
          </a:xfrm>
          <a:custGeom>
            <a:avLst/>
            <a:gdLst/>
            <a:ahLst/>
            <a:cxnLst/>
            <a:rect l="0" t="0" r="r" b="b"/>
            <a:pathLst>
              <a:path w="1066800" h="35560" fill="none">
                <a:moveTo>
                  <a:pt x="0" y="3556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11148060" y="4267200"/>
            <a:ext cx="160020" cy="853440"/>
          </a:xfrm>
          <a:custGeom>
            <a:avLst/>
            <a:gdLst/>
            <a:ahLst/>
            <a:cxnLst/>
            <a:rect l="0" t="0" r="r" b="b"/>
            <a:pathLst>
              <a:path w="160020" h="853440" fill="none">
                <a:moveTo>
                  <a:pt x="16002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20: 当前时钟与事件：SoC 主域、异步入口、FPGA DDR 域"/>
          <p:cNvSpPr txBox="1"/>
          <p:nvPr/>
        </p:nvSpPr>
        <p:spPr>
          <a:xfrm>
            <a:off x="483616" y="271109"/>
            <a:ext cx="677204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当前时钟与事件：SoC 主域、异步入口、FPGA DDR 域</a:t>
            </a:r>
          </a:p>
        </p:txBody>
      </p:sp>
      <p:sp>
        <p:nvSpPr>
          <p:cNvPr id="14" name="text-021: 时钟域由真实连接划分；UART / SPI / I2C 的分频节拍不自动成为独立"/>
          <p:cNvSpPr txBox="1"/>
          <p:nvPr/>
        </p:nvSpPr>
        <p:spPr>
          <a:xfrm>
            <a:off x="483616" y="676778"/>
            <a:ext cx="70828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时钟域由真实连接划分；UART / SPI / I2C 的分频节拍不自动成为独立 SoC 输入时钟。</a:t>
            </a:r>
          </a:p>
        </p:txBody>
      </p:sp>
      <p:sp>
        <p:nvSpPr>
          <p:cNvPr id="15" name="text-022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3: 源码：cheshire_soc.sv；target/xilinx/src/dra"/>
          <p:cNvSpPr txBox="1"/>
          <p:nvPr/>
        </p:nvSpPr>
        <p:spPr>
          <a:xfrm>
            <a:off x="341376" y="7726477"/>
            <a:ext cx="6934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源码：cheshire_soc.sv；target/xilinx/src/dram_wrapper_xilinx.sv；各外设同步逻辑</a:t>
            </a:r>
          </a:p>
        </p:txBody>
      </p:sp>
      <p:sp>
        <p:nvSpPr>
          <p:cNvPr id="17" name="text-024: clk_i / rst_ni：SoC 主时钟域"/>
          <p:cNvSpPr txBox="1"/>
          <p:nvPr/>
        </p:nvSpPr>
        <p:spPr>
          <a:xfrm>
            <a:off x="4821936" y="1372616"/>
            <a:ext cx="314706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clk_i / rst_ni：SoC 主时钟域</a:t>
            </a:r>
          </a:p>
        </p:txBody>
      </p:sp>
      <p:sp>
        <p:nvSpPr>
          <p:cNvPr id="18" name="rect-025"/>
          <p:cNvSpPr/>
          <p:nvPr/>
        </p:nvSpPr>
        <p:spPr>
          <a:xfrm>
            <a:off x="5049520" y="3235960"/>
            <a:ext cx="41249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6"/>
          <p:cNvSpPr/>
          <p:nvPr/>
        </p:nvSpPr>
        <p:spPr>
          <a:xfrm>
            <a:off x="5049520" y="323596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7: CVA6 / Ara / AXI / LLC / Reg"/>
          <p:cNvSpPr txBox="1"/>
          <p:nvPr/>
        </p:nvSpPr>
        <p:spPr>
          <a:xfrm>
            <a:off x="5170424" y="3263839"/>
            <a:ext cx="35503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/ Ara / AXI / LLC / Reg</a:t>
            </a:r>
          </a:p>
        </p:txBody>
      </p:sp>
      <p:sp>
        <p:nvSpPr>
          <p:cNvPr id="21" name="text-028: LLC 下游 AXI 仍属于 clk_i"/>
          <p:cNvSpPr txBox="1"/>
          <p:nvPr/>
        </p:nvSpPr>
        <p:spPr>
          <a:xfrm>
            <a:off x="5170424" y="3535233"/>
            <a:ext cx="26883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仍属于 clk_i</a:t>
            </a:r>
          </a:p>
        </p:txBody>
      </p:sp>
      <p:sp>
        <p:nvSpPr>
          <p:cNvPr id="22" name="text-029: 外设状态机在其实际连接域运行"/>
          <p:cNvSpPr txBox="1"/>
          <p:nvPr/>
        </p:nvSpPr>
        <p:spPr>
          <a:xfrm>
            <a:off x="5170424" y="37485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外设状态机在其实际连接域运行</a:t>
            </a:r>
          </a:p>
        </p:txBody>
      </p:sp>
      <p:sp>
        <p:nvSpPr>
          <p:cNvPr id="23" name="text-030: DM ndmreset_o 在本 SoC 未连接"/>
          <p:cNvSpPr txBox="1"/>
          <p:nvPr/>
        </p:nvSpPr>
        <p:spPr>
          <a:xfrm>
            <a:off x="5170424" y="3961953"/>
            <a:ext cx="31321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 ndmreset_o 在本 SoC 未连接</a:t>
            </a:r>
          </a:p>
        </p:txBody>
      </p:sp>
      <p:sp>
        <p:nvSpPr>
          <p:cNvPr id="24" name="rect-031"/>
          <p:cNvSpPr/>
          <p:nvPr/>
        </p:nvSpPr>
        <p:spPr>
          <a:xfrm>
            <a:off x="426720" y="1493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2"/>
          <p:cNvSpPr/>
          <p:nvPr/>
        </p:nvSpPr>
        <p:spPr>
          <a:xfrm>
            <a:off x="426720" y="1493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3: rtc_i"/>
          <p:cNvSpPr txBox="1"/>
          <p:nvPr/>
        </p:nvSpPr>
        <p:spPr>
          <a:xfrm>
            <a:off x="547624" y="1521399"/>
            <a:ext cx="7858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27" name="text-034: CLINT 同步后计数"/>
          <p:cNvSpPr txBox="1"/>
          <p:nvPr/>
        </p:nvSpPr>
        <p:spPr>
          <a:xfrm>
            <a:off x="547624" y="1808155"/>
            <a:ext cx="15489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同步后计数</a:t>
            </a:r>
          </a:p>
        </p:txBody>
      </p:sp>
      <p:sp>
        <p:nvSpPr>
          <p:cNvPr id="28" name="rect-035"/>
          <p:cNvSpPr/>
          <p:nvPr/>
        </p:nvSpPr>
        <p:spPr>
          <a:xfrm>
            <a:off x="426720" y="2382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6"/>
          <p:cNvSpPr/>
          <p:nvPr/>
        </p:nvSpPr>
        <p:spPr>
          <a:xfrm>
            <a:off x="426720" y="2382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7: JTAG tck / trst_n"/>
          <p:cNvSpPr txBox="1"/>
          <p:nvPr/>
        </p:nvSpPr>
        <p:spPr>
          <a:xfrm>
            <a:off x="547624" y="2410399"/>
            <a:ext cx="22281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JTAG tck / trst_n</a:t>
            </a:r>
          </a:p>
        </p:txBody>
      </p:sp>
      <p:sp>
        <p:nvSpPr>
          <p:cNvPr id="31" name="text-038: DTM → DMI 跨域"/>
          <p:cNvSpPr txBox="1"/>
          <p:nvPr/>
        </p:nvSpPr>
        <p:spPr>
          <a:xfrm>
            <a:off x="547624" y="2697155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DTM → DMI 跨域</a:t>
            </a:r>
          </a:p>
        </p:txBody>
      </p:sp>
      <p:sp>
        <p:nvSpPr>
          <p:cNvPr id="32" name="rect-039"/>
          <p:cNvSpPr/>
          <p:nvPr/>
        </p:nvSpPr>
        <p:spPr>
          <a:xfrm>
            <a:off x="426720" y="3271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40"/>
          <p:cNvSpPr/>
          <p:nvPr/>
        </p:nvSpPr>
        <p:spPr>
          <a:xfrm>
            <a:off x="426720" y="3271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1: Serial Link RX clock"/>
          <p:cNvSpPr txBox="1"/>
          <p:nvPr/>
        </p:nvSpPr>
        <p:spPr>
          <a:xfrm>
            <a:off x="547624" y="329939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Serial Link RX clock</a:t>
            </a:r>
          </a:p>
        </p:txBody>
      </p:sp>
      <p:sp>
        <p:nvSpPr>
          <p:cNvPr id="35" name="text-042: 源同步接收与跨域 FIFO"/>
          <p:cNvSpPr txBox="1"/>
          <p:nvPr/>
        </p:nvSpPr>
        <p:spPr>
          <a:xfrm>
            <a:off x="547624" y="3586155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源同步接收与跨域 FIFO</a:t>
            </a:r>
          </a:p>
        </p:txBody>
      </p:sp>
      <p:sp>
        <p:nvSpPr>
          <p:cNvPr id="36" name="rect-043"/>
          <p:cNvSpPr/>
          <p:nvPr/>
        </p:nvSpPr>
        <p:spPr>
          <a:xfrm>
            <a:off x="426720" y="4160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426720" y="4160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USB PHY clock/reset"/>
          <p:cNvSpPr txBox="1"/>
          <p:nvPr/>
        </p:nvSpPr>
        <p:spPr>
          <a:xfrm>
            <a:off x="547624" y="4188399"/>
            <a:ext cx="246857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USB PHY clock/reset</a:t>
            </a:r>
          </a:p>
        </p:txBody>
      </p:sp>
      <p:sp>
        <p:nvSpPr>
          <p:cNvPr id="39" name="text-046: PHY 域与系统逻辑"/>
          <p:cNvSpPr txBox="1"/>
          <p:nvPr/>
        </p:nvSpPr>
        <p:spPr>
          <a:xfrm>
            <a:off x="547624" y="4475155"/>
            <a:ext cx="1502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PHY 域与系统逻辑</a:t>
            </a:r>
          </a:p>
        </p:txBody>
      </p:sp>
      <p:sp>
        <p:nvSpPr>
          <p:cNvPr id="40" name="rect-047"/>
          <p:cNvSpPr/>
          <p:nvPr/>
        </p:nvSpPr>
        <p:spPr>
          <a:xfrm>
            <a:off x="426720" y="5049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8"/>
          <p:cNvSpPr/>
          <p:nvPr/>
        </p:nvSpPr>
        <p:spPr>
          <a:xfrm>
            <a:off x="426720" y="5049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9: GPIO / 外部 IRQ"/>
          <p:cNvSpPr txBox="1"/>
          <p:nvPr/>
        </p:nvSpPr>
        <p:spPr>
          <a:xfrm>
            <a:off x="547624" y="507739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GPIO / 外部 IRQ</a:t>
            </a:r>
          </a:p>
        </p:txBody>
      </p:sp>
      <p:sp>
        <p:nvSpPr>
          <p:cNvPr id="43" name="text-050: 按配置同步 → 中断控制"/>
          <p:cNvSpPr txBox="1"/>
          <p:nvPr/>
        </p:nvSpPr>
        <p:spPr>
          <a:xfrm>
            <a:off x="547624" y="5364155"/>
            <a:ext cx="19245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按配置同步 → 中断控制</a:t>
            </a:r>
          </a:p>
        </p:txBody>
      </p:sp>
      <p:sp>
        <p:nvSpPr>
          <p:cNvPr id="44" name="rect-051"/>
          <p:cNvSpPr/>
          <p:nvPr/>
        </p:nvSpPr>
        <p:spPr>
          <a:xfrm>
            <a:off x="10241280" y="3271520"/>
            <a:ext cx="2133600" cy="995680"/>
          </a:xfrm>
          <a:prstGeom prst="roundRect">
            <a:avLst>
              <a:gd name="adj" fmla="val 5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2"/>
          <p:cNvSpPr/>
          <p:nvPr/>
        </p:nvSpPr>
        <p:spPr>
          <a:xfrm>
            <a:off x="10241280" y="3271520"/>
            <a:ext cx="35560" cy="9956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3: AXI CDC"/>
          <p:cNvSpPr txBox="1"/>
          <p:nvPr/>
        </p:nvSpPr>
        <p:spPr>
          <a:xfrm>
            <a:off x="10362184" y="329939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AXI CDC</a:t>
            </a:r>
          </a:p>
        </p:txBody>
      </p:sp>
      <p:sp>
        <p:nvSpPr>
          <p:cNvPr id="47" name="text-054: FPGA 平台"/>
          <p:cNvSpPr txBox="1"/>
          <p:nvPr/>
        </p:nvSpPr>
        <p:spPr>
          <a:xfrm>
            <a:off x="10362184" y="3570793"/>
            <a:ext cx="10668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FPGA 平台</a:t>
            </a:r>
          </a:p>
        </p:txBody>
      </p:sp>
      <p:sp>
        <p:nvSpPr>
          <p:cNvPr id="48" name="text-055: 跨域事务队列"/>
          <p:cNvSpPr txBox="1"/>
          <p:nvPr/>
        </p:nvSpPr>
        <p:spPr>
          <a:xfrm>
            <a:off x="10362184" y="3784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跨域事务队列</a:t>
            </a:r>
          </a:p>
        </p:txBody>
      </p:sp>
      <p:sp>
        <p:nvSpPr>
          <p:cNvPr id="49" name="rect-056"/>
          <p:cNvSpPr/>
          <p:nvPr/>
        </p:nvSpPr>
        <p:spPr>
          <a:xfrm>
            <a:off x="9885680" y="5120640"/>
            <a:ext cx="252476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7"/>
          <p:cNvSpPr/>
          <p:nvPr/>
        </p:nvSpPr>
        <p:spPr>
          <a:xfrm>
            <a:off x="9885680" y="512064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8: MIG UI clock 域"/>
          <p:cNvSpPr txBox="1"/>
          <p:nvPr/>
        </p:nvSpPr>
        <p:spPr>
          <a:xfrm>
            <a:off x="10006584" y="5148519"/>
            <a:ext cx="19323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MIG UI clock 域</a:t>
            </a:r>
          </a:p>
        </p:txBody>
      </p:sp>
      <p:sp>
        <p:nvSpPr>
          <p:cNvPr id="52" name="text-059: DDR 控制器 / PHY"/>
          <p:cNvSpPr txBox="1"/>
          <p:nvPr/>
        </p:nvSpPr>
        <p:spPr>
          <a:xfrm>
            <a:off x="10006584" y="5419913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控制器 / PHY</a:t>
            </a:r>
          </a:p>
        </p:txBody>
      </p:sp>
      <p:sp>
        <p:nvSpPr>
          <p:cNvPr id="53" name="text-060: 平台复位与校准"/>
          <p:cNvSpPr txBox="1"/>
          <p:nvPr/>
        </p:nvSpPr>
        <p:spPr>
          <a:xfrm>
            <a:off x="10006584" y="56332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平台复位与校准</a:t>
            </a:r>
          </a:p>
        </p:txBody>
      </p:sp>
      <p:sp>
        <p:nvSpPr>
          <p:cNvPr id="54" name="rect-061"/>
          <p:cNvSpPr/>
          <p:nvPr/>
        </p:nvSpPr>
        <p:spPr>
          <a:xfrm>
            <a:off x="426720" y="6578600"/>
            <a:ext cx="1194816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62"/>
          <p:cNvSpPr/>
          <p:nvPr/>
        </p:nvSpPr>
        <p:spPr>
          <a:xfrm>
            <a:off x="426720" y="657860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63: 跨域不是只给信号加寄存器"/>
          <p:cNvSpPr txBox="1"/>
          <p:nvPr/>
        </p:nvSpPr>
        <p:spPr>
          <a:xfrm>
            <a:off x="547624" y="66064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跨域不是只给信号加寄存器</a:t>
            </a:r>
          </a:p>
        </p:txBody>
      </p:sp>
      <p:sp>
        <p:nvSpPr>
          <p:cNvPr id="57" name="text-064: 单比特事件、计数、多位数据和 AXI 事务需不同同步契约；FIFO / CDC "/>
          <p:cNvSpPr txBox="1"/>
          <p:nvPr/>
        </p:nvSpPr>
        <p:spPr>
          <a:xfrm>
            <a:off x="547624" y="6893235"/>
            <a:ext cx="77293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单比特事件、计数、多位数据和 AXI 事务需不同同步契约；FIFO / CDC 的两侧复位还需协调在途事务。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