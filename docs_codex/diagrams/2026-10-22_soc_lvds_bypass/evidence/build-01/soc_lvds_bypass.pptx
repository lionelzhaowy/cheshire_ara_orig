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824" r:id="rId2"/>
  </p:sldIdLst>
  <p:sldSz cx="13885333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文尧 赵" initials="文尧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0F3F6"/>
    <a:srgbClr val="FFF0E4"/>
    <a:srgbClr val="E8F4F1"/>
    <a:srgbClr val="EAF3FC"/>
    <a:srgbClr val="F0EAF8"/>
    <a:srgbClr val="AD6631"/>
    <a:srgbClr val="00FFFF"/>
    <a:srgbClr val="FFCC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10" autoAdjust="0"/>
    <p:restoredTop sz="97321" autoAdjust="0"/>
  </p:normalViewPr>
  <p:slideViewPr>
    <p:cSldViewPr snapToGrid="0">
      <p:cViewPr varScale="1">
        <p:scale>
          <a:sx n="160" d="100"/>
          <a:sy n="160" d="100"/>
        </p:scale>
        <p:origin x="464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tags" Target="tags/tag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B469C68-B96B-4B00-A936-4ED691395EEA}" type="datetimeFigureOut">
              <a:rPr lang="zh-CN" altLang="en-US" smtClean="0"/>
              <a:t>2026/10/22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957953-4CC8-4E4A-AD2D-7A5A0B36E81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873125"/>
            <a:ext cx="4869867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>
              <a:defRPr lang="zh-CN" altLang="en-US" sz="2400" b="1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dist" fontAlgn="base"/>
            <a:r>
              <a:rPr lang="zh-CN" altLang="en-US" dirty="0"/>
              <a:t>单击此处标题</a:t>
            </a:r>
          </a:p>
        </p:txBody>
      </p:sp>
      <p:sp>
        <p:nvSpPr>
          <p:cNvPr id="121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12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1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522388" y="2973614"/>
            <a:ext cx="51472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6000" b="1" spc="600" dirty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lvl="0" algn="dist" fontAlgn="base"/>
            <a:r>
              <a:rPr lang="zh-CN" altLang="en-US" dirty="0"/>
              <a:t>输入标题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645556" y="1886726"/>
            <a:ext cx="900888" cy="8309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lang="zh-CN" altLang="en-US" sz="6000" spc="0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algn="dist" fontAlgn="base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2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12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3808179" y="2645581"/>
            <a:ext cx="4575642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spc="3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3885333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934136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1002" name="soc-boundary"/>
          <p:cNvSpPr/>
          <p:nvPr/>
        </p:nvSpPr>
        <p:spPr>
          <a:xfrm>
            <a:off x="71967" y="603149"/>
            <a:ext cx="12661900" cy="6180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7" name="lvds-io-region"/>
          <p:cNvSpPr/>
          <p:nvPr/>
        </p:nvSpPr>
        <p:spPr>
          <a:xfrm>
            <a:off x="11294533" y="823942"/>
            <a:ext cx="1388533" cy="5283200"/>
          </a:xfrm>
          <a:prstGeom prst="rect">
            <a:avLst/>
          </a:prstGeom>
          <a:solidFill>
            <a:srgbClr val="F1EC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3" name="compute"/>
          <p:cNvSpPr/>
          <p:nvPr/>
        </p:nvSpPr>
        <p:spPr>
          <a:xfrm>
            <a:off x="241300" y="823932"/>
            <a:ext cx="3166533" cy="135401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04" name="gb-region"/>
          <p:cNvSpPr/>
          <p:nvPr/>
        </p:nvSpPr>
        <p:spPr>
          <a:xfrm>
            <a:off x="3594100" y="823932"/>
            <a:ext cx="3843867" cy="135401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05" name="image-rx"/>
          <p:cNvSpPr/>
          <p:nvPr/>
        </p:nvSpPr>
        <p:spPr>
          <a:xfrm>
            <a:off x="7607300" y="823932"/>
            <a:ext cx="3606800" cy="135401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06" name="reg-region"/>
          <p:cNvSpPr/>
          <p:nvPr/>
        </p:nvSpPr>
        <p:spPr>
          <a:xfrm>
            <a:off x="173567" y="4311549"/>
            <a:ext cx="5825067" cy="1513840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7" name="ddr-controller"/>
          <p:cNvSpPr/>
          <p:nvPr/>
        </p:nvSpPr>
        <p:spPr>
          <a:xfrm>
            <a:off x="6129867" y="5835549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8" name="roi-region"/>
          <p:cNvSpPr/>
          <p:nvPr/>
        </p:nvSpPr>
        <p:spPr>
          <a:xfrm>
            <a:off x="10160000" y="4311549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9" name="compression-front"/>
          <p:cNvSpPr/>
          <p:nvPr/>
        </p:nvSpPr>
        <p:spPr>
          <a:xfrm>
            <a:off x="6129867" y="4375896"/>
            <a:ext cx="3793067" cy="133434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0" name="shared-payload-services"/>
          <p:cNvSpPr/>
          <p:nvPr/>
        </p:nvSpPr>
        <p:spPr>
          <a:xfrm>
            <a:off x="7095067" y="4768749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1" name="cpu-ara-command"/>
          <p:cNvSpPr/>
          <p:nvPr/>
        </p:nvSpPr>
        <p:spPr>
          <a:xfrm>
            <a:off x="1172633" y="12127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12" name="ara-filter-edge"/>
          <p:cNvSpPr/>
          <p:nvPr/>
        </p:nvSpPr>
        <p:spPr>
          <a:xfrm>
            <a:off x="1731433" y="1432882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13" name="filter-width"/>
          <p:cNvSpPr/>
          <p:nvPr/>
        </p:nvSpPr>
        <p:spPr>
          <a:xfrm>
            <a:off x="2053167" y="1730909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14" name="npu-gb"/>
          <p:cNvSpPr/>
          <p:nvPr/>
        </p:nvSpPr>
        <p:spPr>
          <a:xfrm>
            <a:off x="4593167" y="1382082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15" name="adapter-sram"/>
          <p:cNvSpPr/>
          <p:nvPr/>
        </p:nvSpPr>
        <p:spPr>
          <a:xfrm>
            <a:off x="5490633" y="14498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16" name="mover-gb"/>
          <p:cNvSpPr/>
          <p:nvPr/>
        </p:nvSpPr>
        <p:spPr>
          <a:xfrm>
            <a:off x="5490633" y="19070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17" name="lvds-rx-to-rx-cdc"/>
          <p:cNvSpPr/>
          <p:nvPr/>
        </p:nvSpPr>
        <p:spPr>
          <a:xfrm>
            <a:off x="104690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101600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18" name="rx-cdc-to-isp"/>
          <p:cNvSpPr/>
          <p:nvPr/>
        </p:nvSpPr>
        <p:spPr>
          <a:xfrm>
            <a:off x="98255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101600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19" name="isp-to-frame-select"/>
          <p:cNvSpPr/>
          <p:nvPr/>
        </p:nvSpPr>
        <p:spPr>
          <a:xfrm>
            <a:off x="91651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101600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20" name="frame-select-to-frame-dma"/>
          <p:cNvSpPr/>
          <p:nvPr/>
        </p:nvSpPr>
        <p:spPr>
          <a:xfrm>
            <a:off x="8437033" y="1517549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11853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21" name="raw-bypass"/>
          <p:cNvSpPr/>
          <p:nvPr/>
        </p:nvSpPr>
        <p:spPr>
          <a:xfrm>
            <a:off x="8860367" y="1060349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1337733" y="152400"/>
                </a:moveTo>
                <a:lnTo>
                  <a:pt x="1337733" y="0"/>
                </a:lnTo>
                <a:lnTo>
                  <a:pt x="0" y="0"/>
                </a:ln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22" name="isp-gb"/>
          <p:cNvSpPr/>
          <p:nvPr/>
        </p:nvSpPr>
        <p:spPr>
          <a:xfrm>
            <a:off x="5101167" y="1703816"/>
            <a:ext cx="4165600" cy="524933"/>
          </a:xfrm>
          <a:custGeom>
            <a:avLst/>
            <a:gdLst/>
            <a:ahLst/>
            <a:cxnLst/>
            <a:rect l="0" t="0" r="r" b="b"/>
            <a:pathLst>
              <a:path w="4165600" h="524933" fill="none">
                <a:moveTo>
                  <a:pt x="4165600" y="0"/>
                </a:moveTo>
                <a:lnTo>
                  <a:pt x="4110567" y="0"/>
                </a:lnTo>
                <a:lnTo>
                  <a:pt x="4110567" y="209973"/>
                </a:lnTo>
                <a:cubicBezTo>
                  <a:pt x="4146691" y="228035"/>
                  <a:pt x="4146691" y="246097"/>
                  <a:pt x="4110567" y="264159"/>
                </a:cubicBezTo>
                <a:lnTo>
                  <a:pt x="4110567" y="311573"/>
                </a:lnTo>
                <a:cubicBezTo>
                  <a:pt x="4146691" y="329636"/>
                  <a:pt x="4146691" y="347698"/>
                  <a:pt x="4110567" y="365760"/>
                </a:cubicBezTo>
                <a:lnTo>
                  <a:pt x="4110567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23" name="master-1"/>
          <p:cNvSpPr/>
          <p:nvPr/>
        </p:nvSpPr>
        <p:spPr>
          <a:xfrm>
            <a:off x="1838678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24" name="master-3"/>
          <p:cNvSpPr/>
          <p:nvPr/>
        </p:nvSpPr>
        <p:spPr>
          <a:xfrm>
            <a:off x="3968515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25" name="master-4"/>
          <p:cNvSpPr/>
          <p:nvPr/>
        </p:nvSpPr>
        <p:spPr>
          <a:xfrm>
            <a:off x="5033433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26" name="master-5"/>
          <p:cNvSpPr/>
          <p:nvPr/>
        </p:nvSpPr>
        <p:spPr>
          <a:xfrm>
            <a:off x="6098352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27" name="master-6"/>
          <p:cNvSpPr/>
          <p:nvPr/>
        </p:nvSpPr>
        <p:spPr>
          <a:xfrm>
            <a:off x="7163270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28" name="master-7"/>
          <p:cNvSpPr/>
          <p:nvPr/>
        </p:nvSpPr>
        <p:spPr>
          <a:xfrm>
            <a:off x="8228189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29" name="master-8"/>
          <p:cNvSpPr/>
          <p:nvPr/>
        </p:nvSpPr>
        <p:spPr>
          <a:xfrm>
            <a:off x="9293107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30" name="cpu-xbar"/>
          <p:cNvSpPr/>
          <p:nvPr/>
        </p:nvSpPr>
        <p:spPr>
          <a:xfrm>
            <a:off x="773759" y="1737682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31" name="ara-xbar"/>
          <p:cNvSpPr/>
          <p:nvPr/>
        </p:nvSpPr>
        <p:spPr>
          <a:xfrm>
            <a:off x="2903596" y="1876536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32" name="target-0"/>
          <p:cNvSpPr/>
          <p:nvPr/>
        </p:nvSpPr>
        <p:spPr>
          <a:xfrm>
            <a:off x="925890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33" name="target-1"/>
          <p:cNvSpPr/>
          <p:nvPr/>
        </p:nvSpPr>
        <p:spPr>
          <a:xfrm>
            <a:off x="2295071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34" name="target-2"/>
          <p:cNvSpPr/>
          <p:nvPr/>
        </p:nvSpPr>
        <p:spPr>
          <a:xfrm>
            <a:off x="3664252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35" name="atomics-llc"/>
          <p:cNvSpPr/>
          <p:nvPr/>
        </p:nvSpPr>
        <p:spPr>
          <a:xfrm>
            <a:off x="3647319" y="3928856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36" name="target-3"/>
          <p:cNvSpPr/>
          <p:nvPr/>
        </p:nvSpPr>
        <p:spPr>
          <a:xfrm>
            <a:off x="5033433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37" name="target-4"/>
          <p:cNvSpPr/>
          <p:nvPr/>
        </p:nvSpPr>
        <p:spPr>
          <a:xfrm>
            <a:off x="6402614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38" name="target-5"/>
          <p:cNvSpPr/>
          <p:nvPr/>
        </p:nvSpPr>
        <p:spPr>
          <a:xfrm>
            <a:off x="7771795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39" name="target-6"/>
          <p:cNvSpPr/>
          <p:nvPr/>
        </p:nvSpPr>
        <p:spPr>
          <a:xfrm>
            <a:off x="9140976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40" name="m5-gb"/>
          <p:cNvSpPr/>
          <p:nvPr/>
        </p:nvSpPr>
        <p:spPr>
          <a:xfrm>
            <a:off x="4910667" y="2059416"/>
            <a:ext cx="5063067" cy="1524000"/>
          </a:xfrm>
          <a:custGeom>
            <a:avLst/>
            <a:gdLst/>
            <a:ahLst/>
            <a:cxnLst/>
            <a:rect l="0" t="0" r="r" b="b"/>
            <a:pathLst>
              <a:path w="5063067" h="1524000" fill="none">
                <a:moveTo>
                  <a:pt x="3386061" y="1524000"/>
                </a:moveTo>
                <a:lnTo>
                  <a:pt x="3386061" y="1422400"/>
                </a:lnTo>
                <a:lnTo>
                  <a:pt x="4203216" y="1422400"/>
                </a:lnTo>
                <a:cubicBezTo>
                  <a:pt x="4221278" y="1386276"/>
                  <a:pt x="4239340" y="1386276"/>
                  <a:pt x="4257402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41" name="emmc-physical"/>
          <p:cNvSpPr/>
          <p:nvPr/>
        </p:nvSpPr>
        <p:spPr>
          <a:xfrm>
            <a:off x="8228189" y="2330349"/>
            <a:ext cx="4962877" cy="84667"/>
          </a:xfrm>
          <a:custGeom>
            <a:avLst/>
            <a:gdLst/>
            <a:ahLst/>
            <a:cxnLst/>
            <a:rect l="0" t="0" r="r" b="b"/>
            <a:pathLst>
              <a:path w="4962877" h="84667" fill="none">
                <a:moveTo>
                  <a:pt x="4962877" y="84667"/>
                </a:moveTo>
                <a:lnTo>
                  <a:pt x="4962877" y="0"/>
                </a:lnTo>
                <a:lnTo>
                  <a:pt x="3195037" y="0"/>
                </a:lnTo>
                <a:cubicBezTo>
                  <a:pt x="3176975" y="36124"/>
                  <a:pt x="3158913" y="36124"/>
                  <a:pt x="3140850" y="0"/>
                </a:cubicBezTo>
                <a:lnTo>
                  <a:pt x="1975837" y="0"/>
                </a:lnTo>
                <a:cubicBezTo>
                  <a:pt x="1957775" y="36124"/>
                  <a:pt x="1939713" y="36124"/>
                  <a:pt x="1921650" y="0"/>
                </a:cubicBezTo>
                <a:lnTo>
                  <a:pt x="1874237" y="0"/>
                </a:lnTo>
                <a:cubicBezTo>
                  <a:pt x="1856175" y="36124"/>
                  <a:pt x="1838113" y="36124"/>
                  <a:pt x="1820050" y="0"/>
                </a:cubicBezTo>
                <a:lnTo>
                  <a:pt x="1772637" y="0"/>
                </a:lnTo>
                <a:cubicBezTo>
                  <a:pt x="1754575" y="36124"/>
                  <a:pt x="1736513" y="36124"/>
                  <a:pt x="1718450" y="0"/>
                </a:cubicBezTo>
                <a:lnTo>
                  <a:pt x="0" y="0"/>
                </a:ln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42" name="bridge-regbus"/>
          <p:cNvSpPr/>
          <p:nvPr/>
        </p:nvSpPr>
        <p:spPr>
          <a:xfrm>
            <a:off x="2295071" y="4108349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43" name="reg-column-0"/>
          <p:cNvSpPr/>
          <p:nvPr/>
        </p:nvSpPr>
        <p:spPr>
          <a:xfrm>
            <a:off x="2853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4" name="bootrom-cfg"/>
          <p:cNvSpPr/>
          <p:nvPr/>
        </p:nvSpPr>
        <p:spPr>
          <a:xfrm>
            <a:off x="2853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5" name="uart-cfg"/>
          <p:cNvSpPr/>
          <p:nvPr/>
        </p:nvSpPr>
        <p:spPr>
          <a:xfrm>
            <a:off x="2853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6" name="vga-regs-cfg"/>
          <p:cNvSpPr/>
          <p:nvPr/>
        </p:nvSpPr>
        <p:spPr>
          <a:xfrm>
            <a:off x="2853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7" name="irq-router-cfg"/>
          <p:cNvSpPr/>
          <p:nvPr/>
        </p:nvSpPr>
        <p:spPr>
          <a:xfrm>
            <a:off x="2853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8" name="reg-column-1"/>
          <p:cNvSpPr/>
          <p:nvPr/>
        </p:nvSpPr>
        <p:spPr>
          <a:xfrm>
            <a:off x="14029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9" name="clint-cfg"/>
          <p:cNvSpPr/>
          <p:nvPr/>
        </p:nvSpPr>
        <p:spPr>
          <a:xfrm>
            <a:off x="14029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0" name="i2c-cfg"/>
          <p:cNvSpPr/>
          <p:nvPr/>
        </p:nvSpPr>
        <p:spPr>
          <a:xfrm>
            <a:off x="14029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1" name="usb-regs-cfg"/>
          <p:cNvSpPr/>
          <p:nvPr/>
        </p:nvSpPr>
        <p:spPr>
          <a:xfrm>
            <a:off x="14029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2" name="axi-rt-config-cfg"/>
          <p:cNvSpPr/>
          <p:nvPr/>
        </p:nvSpPr>
        <p:spPr>
          <a:xfrm>
            <a:off x="14029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3" name="reg-column-2"/>
          <p:cNvSpPr/>
          <p:nvPr/>
        </p:nvSpPr>
        <p:spPr>
          <a:xfrm>
            <a:off x="25205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4" name="soc-regs-cfg"/>
          <p:cNvSpPr/>
          <p:nvPr/>
        </p:nvSpPr>
        <p:spPr>
          <a:xfrm>
            <a:off x="25205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5" name="spi-cfg"/>
          <p:cNvSpPr/>
          <p:nvPr/>
        </p:nvSpPr>
        <p:spPr>
          <a:xfrm>
            <a:off x="25205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6" name="err-vga-cfg"/>
          <p:cNvSpPr/>
          <p:nvPr/>
        </p:nvSpPr>
        <p:spPr>
          <a:xfrm>
            <a:off x="25205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7" name="clic-cfg"/>
          <p:cNvSpPr/>
          <p:nvPr/>
        </p:nvSpPr>
        <p:spPr>
          <a:xfrm>
            <a:off x="25205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8" name="reg-column-3"/>
          <p:cNvSpPr/>
          <p:nvPr/>
        </p:nvSpPr>
        <p:spPr>
          <a:xfrm>
            <a:off x="36381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9" name="plic-cfg"/>
          <p:cNvSpPr/>
          <p:nvPr/>
        </p:nvSpPr>
        <p:spPr>
          <a:xfrm>
            <a:off x="36381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0" name="gpio-cfg"/>
          <p:cNvSpPr/>
          <p:nvPr/>
        </p:nvSpPr>
        <p:spPr>
          <a:xfrm>
            <a:off x="36381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1" name="err-dma-cfg"/>
          <p:cNvSpPr/>
          <p:nvPr/>
        </p:nvSpPr>
        <p:spPr>
          <a:xfrm>
            <a:off x="36381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2" name="reg-error-cfg"/>
          <p:cNvSpPr/>
          <p:nvPr/>
        </p:nvSpPr>
        <p:spPr>
          <a:xfrm>
            <a:off x="36381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3" name="reg-column-4"/>
          <p:cNvSpPr/>
          <p:nvPr/>
        </p:nvSpPr>
        <p:spPr>
          <a:xfrm>
            <a:off x="47557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4" name="llc-regs-cfg"/>
          <p:cNvSpPr/>
          <p:nvPr/>
        </p:nvSpPr>
        <p:spPr>
          <a:xfrm>
            <a:off x="47557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5" name="slink-regs-cfg"/>
          <p:cNvSpPr/>
          <p:nvPr/>
        </p:nvSpPr>
        <p:spPr>
          <a:xfrm>
            <a:off x="47557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6" name="err-cpu-cfg"/>
          <p:cNvSpPr/>
          <p:nvPr/>
        </p:nvSpPr>
        <p:spPr>
          <a:xfrm>
            <a:off x="47557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7" name="reg-ext-cfg"/>
          <p:cNvSpPr/>
          <p:nvPr/>
        </p:nvSpPr>
        <p:spPr>
          <a:xfrm>
            <a:off x="47557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8" name="ddr-arb-0"/>
          <p:cNvSpPr/>
          <p:nvPr/>
        </p:nvSpPr>
        <p:spPr>
          <a:xfrm>
            <a:off x="6604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69" name="ddr-arb-1"/>
          <p:cNvSpPr/>
          <p:nvPr/>
        </p:nvSpPr>
        <p:spPr>
          <a:xfrm>
            <a:off x="7535333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70" name="ddr-arb-2"/>
          <p:cNvSpPr/>
          <p:nvPr/>
        </p:nvSpPr>
        <p:spPr>
          <a:xfrm>
            <a:off x="8466667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71" name="ddr-arb-3"/>
          <p:cNvSpPr/>
          <p:nvPr/>
        </p:nvSpPr>
        <p:spPr>
          <a:xfrm>
            <a:off x="9398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72" name="arb-rw"/>
          <p:cNvSpPr/>
          <p:nvPr/>
        </p:nvSpPr>
        <p:spPr>
          <a:xfrm>
            <a:off x="7001933" y="6072616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73" name="rw-command"/>
          <p:cNvSpPr/>
          <p:nvPr/>
        </p:nvSpPr>
        <p:spPr>
          <a:xfrm>
            <a:off x="7806267" y="6191149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74" name="controller-phy"/>
          <p:cNvSpPr/>
          <p:nvPr/>
        </p:nvSpPr>
        <p:spPr>
          <a:xfrm>
            <a:off x="9855200" y="6191149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5" name="phy-ddr"/>
          <p:cNvSpPr/>
          <p:nvPr/>
        </p:nvSpPr>
        <p:spPr>
          <a:xfrm>
            <a:off x="11125200" y="6326616"/>
            <a:ext cx="1710267" cy="1"/>
          </a:xfrm>
          <a:custGeom>
            <a:avLst/>
            <a:gdLst/>
            <a:ahLst/>
            <a:cxnLst/>
            <a:rect l="0" t="0" r="r" b="b"/>
            <a:pathLst>
              <a:path w="1710267" h="1" fill="none">
                <a:moveTo>
                  <a:pt x="0" y="0"/>
                </a:moveTo>
                <a:lnTo>
                  <a:pt x="17102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6" name="roi-vdma-control"/>
          <p:cNvSpPr/>
          <p:nvPr/>
        </p:nvSpPr>
        <p:spPr>
          <a:xfrm>
            <a:off x="10701867" y="4971949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7" name="vdma-pixels"/>
          <p:cNvSpPr/>
          <p:nvPr/>
        </p:nvSpPr>
        <p:spPr>
          <a:xfrm>
            <a:off x="10701867" y="53614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8" name="fifo-lvds"/>
          <p:cNvSpPr/>
          <p:nvPr/>
        </p:nvSpPr>
        <p:spPr>
          <a:xfrm>
            <a:off x="10701867" y="56662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9" name="llc-f0"/>
          <p:cNvSpPr/>
          <p:nvPr/>
        </p:nvSpPr>
        <p:spPr>
          <a:xfrm>
            <a:off x="4019852" y="4071096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80" name="mover-f1"/>
          <p:cNvSpPr/>
          <p:nvPr/>
        </p:nvSpPr>
        <p:spPr>
          <a:xfrm>
            <a:off x="7336367" y="2042483"/>
            <a:ext cx="2738966" cy="2272453"/>
          </a:xfrm>
          <a:custGeom>
            <a:avLst/>
            <a:gdLst/>
            <a:ahLst/>
            <a:cxnLst/>
            <a:rect l="0" t="0" r="r" b="b"/>
            <a:pathLst>
              <a:path w="2738966" h="2272453" fill="none">
                <a:moveTo>
                  <a:pt x="0" y="0"/>
                </a:moveTo>
                <a:lnTo>
                  <a:pt x="2738966" y="0"/>
                </a:lnTo>
                <a:lnTo>
                  <a:pt x="2738966" y="2116666"/>
                </a:lnTo>
                <a:lnTo>
                  <a:pt x="198967" y="2116666"/>
                </a:lnTo>
                <a:lnTo>
                  <a:pt x="198967" y="2272453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81" name="frame-f2"/>
          <p:cNvSpPr/>
          <p:nvPr/>
        </p:nvSpPr>
        <p:spPr>
          <a:xfrm>
            <a:off x="8072967" y="1839282"/>
            <a:ext cx="2103966" cy="2475654"/>
          </a:xfrm>
          <a:custGeom>
            <a:avLst/>
            <a:gdLst/>
            <a:ahLst/>
            <a:cxnLst/>
            <a:rect l="0" t="0" r="r" b="b"/>
            <a:pathLst>
              <a:path w="2103966" h="2475654" fill="none">
                <a:moveTo>
                  <a:pt x="0" y="0"/>
                </a:moveTo>
                <a:lnTo>
                  <a:pt x="0" y="101600"/>
                </a:lnTo>
                <a:lnTo>
                  <a:pt x="2103966" y="101600"/>
                </a:lnTo>
                <a:lnTo>
                  <a:pt x="2103966" y="2377440"/>
                </a:lnTo>
                <a:lnTo>
                  <a:pt x="393700" y="2377440"/>
                </a:lnTo>
                <a:lnTo>
                  <a:pt x="393700" y="2475654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82" name="roi-f3-request"/>
          <p:cNvSpPr/>
          <p:nvPr/>
        </p:nvSpPr>
        <p:spPr>
          <a:xfrm>
            <a:off x="9398000" y="4277682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3" name="front-input-0"/>
          <p:cNvSpPr/>
          <p:nvPr/>
        </p:nvSpPr>
        <p:spPr>
          <a:xfrm>
            <a:off x="6604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84" name="front-input-1"/>
          <p:cNvSpPr/>
          <p:nvPr/>
        </p:nvSpPr>
        <p:spPr>
          <a:xfrm>
            <a:off x="7535333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85" name="front-input-2"/>
          <p:cNvSpPr/>
          <p:nvPr/>
        </p:nvSpPr>
        <p:spPr>
          <a:xfrm>
            <a:off x="8466667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86" name="front-input-3"/>
          <p:cNvSpPr/>
          <p:nvPr/>
        </p:nvSpPr>
        <p:spPr>
          <a:xfrm>
            <a:off x="9398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87" name="adapt-address"/>
          <p:cNvSpPr/>
          <p:nvPr/>
        </p:nvSpPr>
        <p:spPr>
          <a:xfrm>
            <a:off x="6587067" y="4667149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8" name="address-downstream"/>
          <p:cNvSpPr/>
          <p:nvPr/>
        </p:nvSpPr>
        <p:spPr>
          <a:xfrm>
            <a:off x="6976533" y="4938082"/>
            <a:ext cx="40640" cy="552027"/>
          </a:xfrm>
          <a:custGeom>
            <a:avLst/>
            <a:gdLst/>
            <a:ahLst/>
            <a:cxnLst/>
            <a:rect l="0" t="0" r="r" b="b"/>
            <a:pathLst>
              <a:path w="40640" h="552027" fill="none">
                <a:moveTo>
                  <a:pt x="0" y="0"/>
                </a:moveTo>
                <a:lnTo>
                  <a:pt x="40640" y="0"/>
                </a:lnTo>
                <a:lnTo>
                  <a:pt x="40640" y="5520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9" name="b-response"/>
          <p:cNvSpPr/>
          <p:nvPr/>
        </p:nvSpPr>
        <p:spPr>
          <a:xfrm>
            <a:off x="6163733" y="4667149"/>
            <a:ext cx="84667" cy="907627"/>
          </a:xfrm>
          <a:custGeom>
            <a:avLst/>
            <a:gdLst/>
            <a:ahLst/>
            <a:cxnLst/>
            <a:rect l="0" t="0" r="r" b="b"/>
            <a:pathLst>
              <a:path w="84667" h="907627" fill="none">
                <a:moveTo>
                  <a:pt x="33867" y="907627"/>
                </a:moveTo>
                <a:lnTo>
                  <a:pt x="0" y="90762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0" name="metadata-control"/>
          <p:cNvSpPr/>
          <p:nvPr/>
        </p:nvSpPr>
        <p:spPr>
          <a:xfrm>
            <a:off x="6587067" y="5107416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1" name="metadata-storage"/>
          <p:cNvSpPr/>
          <p:nvPr/>
        </p:nvSpPr>
        <p:spPr>
          <a:xfrm>
            <a:off x="6587067" y="5378349"/>
            <a:ext cx="1" cy="111760"/>
          </a:xfrm>
          <a:custGeom>
            <a:avLst/>
            <a:gdLst/>
            <a:ahLst/>
            <a:cxnLst/>
            <a:rect l="0" t="0" r="r" b="b"/>
            <a:pathLst>
              <a:path w="1" h="111760" fill="none">
                <a:moveTo>
                  <a:pt x="0" y="0"/>
                </a:moveTo>
                <a:lnTo>
                  <a:pt x="0" y="11176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2" name="adapt-compressor"/>
          <p:cNvSpPr/>
          <p:nvPr/>
        </p:nvSpPr>
        <p:spPr>
          <a:xfrm>
            <a:off x="7577667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3" name="compressor-route"/>
          <p:cNvSpPr/>
          <p:nvPr/>
        </p:nvSpPr>
        <p:spPr>
          <a:xfrm>
            <a:off x="7577667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4" name="read-to-decoder"/>
          <p:cNvSpPr/>
          <p:nvPr/>
        </p:nvSpPr>
        <p:spPr>
          <a:xfrm>
            <a:off x="8483600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19642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5" name="decoder-up"/>
          <p:cNvSpPr/>
          <p:nvPr/>
        </p:nvSpPr>
        <p:spPr>
          <a:xfrm>
            <a:off x="8483600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6" name="adapt-plain-bypass"/>
          <p:cNvSpPr/>
          <p:nvPr/>
        </p:nvSpPr>
        <p:spPr>
          <a:xfrm>
            <a:off x="9389533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7" name="plain-bypass-route"/>
          <p:cNvSpPr/>
          <p:nvPr/>
        </p:nvSpPr>
        <p:spPr>
          <a:xfrm>
            <a:off x="9389533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8" name="front-ddr-0"/>
          <p:cNvSpPr/>
          <p:nvPr/>
        </p:nvSpPr>
        <p:spPr>
          <a:xfrm>
            <a:off x="6604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99" name="front-ddr-1"/>
          <p:cNvSpPr/>
          <p:nvPr/>
        </p:nvSpPr>
        <p:spPr>
          <a:xfrm>
            <a:off x="7535333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00" name="front-ddr-2"/>
          <p:cNvSpPr/>
          <p:nvPr/>
        </p:nvSpPr>
        <p:spPr>
          <a:xfrm>
            <a:off x="8466667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01" name="front-ddr-3"/>
          <p:cNvSpPr/>
          <p:nvPr/>
        </p:nvSpPr>
        <p:spPr>
          <a:xfrm>
            <a:off x="9398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02" name="regext-config"/>
          <p:cNvSpPr/>
          <p:nvPr/>
        </p:nvSpPr>
        <p:spPr>
          <a:xfrm>
            <a:off x="5846233" y="5659442"/>
            <a:ext cx="198967" cy="643805"/>
          </a:xfrm>
          <a:custGeom>
            <a:avLst/>
            <a:gdLst/>
            <a:ahLst/>
            <a:cxnLst/>
            <a:rect l="0" t="0" r="r" b="b"/>
            <a:pathLst>
              <a:path w="198967" h="643805" fill="none">
                <a:moveTo>
                  <a:pt x="0" y="0"/>
                </a:moveTo>
                <a:lnTo>
                  <a:pt x="198967" y="0"/>
                </a:lnTo>
                <a:lnTo>
                  <a:pt x="198967" y="643805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3" name="config-trunk-1"/>
          <p:cNvSpPr/>
          <p:nvPr/>
        </p:nvSpPr>
        <p:spPr>
          <a:xfrm>
            <a:off x="576157" y="5849096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4" name="cfg-C1"/>
          <p:cNvSpPr/>
          <p:nvPr/>
        </p:nvSpPr>
        <p:spPr>
          <a:xfrm>
            <a:off x="57615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5" name="cfg-C2"/>
          <p:cNvSpPr/>
          <p:nvPr/>
        </p:nvSpPr>
        <p:spPr>
          <a:xfrm>
            <a:off x="129328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6" name="cfg-C3"/>
          <p:cNvSpPr/>
          <p:nvPr/>
        </p:nvSpPr>
        <p:spPr>
          <a:xfrm>
            <a:off x="201041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7" name="cfg-C4"/>
          <p:cNvSpPr/>
          <p:nvPr/>
        </p:nvSpPr>
        <p:spPr>
          <a:xfrm>
            <a:off x="272753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8" name="cfg-C5"/>
          <p:cNvSpPr/>
          <p:nvPr/>
        </p:nvSpPr>
        <p:spPr>
          <a:xfrm>
            <a:off x="344466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9" name="cfg-C6"/>
          <p:cNvSpPr/>
          <p:nvPr/>
        </p:nvSpPr>
        <p:spPr>
          <a:xfrm>
            <a:off x="416179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0" name="cfg-C7"/>
          <p:cNvSpPr/>
          <p:nvPr/>
        </p:nvSpPr>
        <p:spPr>
          <a:xfrm>
            <a:off x="487891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1" name="cfg-C8"/>
          <p:cNvSpPr/>
          <p:nvPr/>
        </p:nvSpPr>
        <p:spPr>
          <a:xfrm>
            <a:off x="559604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2" name="config-trunk-2"/>
          <p:cNvSpPr/>
          <p:nvPr/>
        </p:nvSpPr>
        <p:spPr>
          <a:xfrm>
            <a:off x="576157" y="6303248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3" name="cfg-C9"/>
          <p:cNvSpPr/>
          <p:nvPr/>
        </p:nvSpPr>
        <p:spPr>
          <a:xfrm>
            <a:off x="57615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4" name="cfg-C10"/>
          <p:cNvSpPr/>
          <p:nvPr/>
        </p:nvSpPr>
        <p:spPr>
          <a:xfrm>
            <a:off x="129328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5" name="cfg-C11"/>
          <p:cNvSpPr/>
          <p:nvPr/>
        </p:nvSpPr>
        <p:spPr>
          <a:xfrm>
            <a:off x="201041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6" name="cfg-C12"/>
          <p:cNvSpPr/>
          <p:nvPr/>
        </p:nvSpPr>
        <p:spPr>
          <a:xfrm>
            <a:off x="272753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7" name="cfg-C13"/>
          <p:cNvSpPr/>
          <p:nvPr/>
        </p:nvSpPr>
        <p:spPr>
          <a:xfrm>
            <a:off x="344466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8" name="cfg-C14"/>
          <p:cNvSpPr/>
          <p:nvPr/>
        </p:nvSpPr>
        <p:spPr>
          <a:xfrm>
            <a:off x="416179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9" name="cfg-C15"/>
          <p:cNvSpPr/>
          <p:nvPr/>
        </p:nvSpPr>
        <p:spPr>
          <a:xfrm>
            <a:off x="487891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0" name="cfg-C16"/>
          <p:cNvSpPr/>
          <p:nvPr/>
        </p:nvSpPr>
        <p:spPr>
          <a:xfrm>
            <a:off x="559604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1" name="legend-axi-interface"/>
          <p:cNvSpPr/>
          <p:nvPr/>
        </p:nvSpPr>
        <p:spPr>
          <a:xfrm>
            <a:off x="10265604" y="276760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22" name="legend-axi-request"/>
          <p:cNvSpPr/>
          <p:nvPr/>
        </p:nvSpPr>
        <p:spPr>
          <a:xfrm>
            <a:off x="10265604" y="293016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23" name="legend-gb"/>
          <p:cNvSpPr/>
          <p:nvPr/>
        </p:nvSpPr>
        <p:spPr>
          <a:xfrm>
            <a:off x="10265604" y="309272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24" name="legend-pixel"/>
          <p:cNvSpPr/>
          <p:nvPr/>
        </p:nvSpPr>
        <p:spPr>
          <a:xfrm>
            <a:off x="10265604" y="325528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25" name="legend-cfg"/>
          <p:cNvSpPr/>
          <p:nvPr/>
        </p:nvSpPr>
        <p:spPr>
          <a:xfrm>
            <a:off x="10265604" y="341784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26" name="legend-optional"/>
          <p:cNvSpPr/>
          <p:nvPr/>
        </p:nvSpPr>
        <p:spPr>
          <a:xfrm>
            <a:off x="10265604" y="358040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27" name="junction-84.25-1407.0951771653542"/>
          <p:cNvSpPr/>
          <p:nvPr/>
        </p:nvSpPr>
        <p:spPr>
          <a:xfrm>
            <a:off x="2683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8" name="junction-84.25-1495.0951771653542"/>
          <p:cNvSpPr/>
          <p:nvPr/>
        </p:nvSpPr>
        <p:spPr>
          <a:xfrm>
            <a:off x="2683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9" name="junction-84.25-1583.0951771653542"/>
          <p:cNvSpPr/>
          <p:nvPr/>
        </p:nvSpPr>
        <p:spPr>
          <a:xfrm>
            <a:off x="2683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0" name="junction-84.25-1671.0951771653542"/>
          <p:cNvSpPr/>
          <p:nvPr/>
        </p:nvSpPr>
        <p:spPr>
          <a:xfrm>
            <a:off x="2683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1" name="junction-414.25-1407.0951771653542"/>
          <p:cNvSpPr/>
          <p:nvPr/>
        </p:nvSpPr>
        <p:spPr>
          <a:xfrm>
            <a:off x="13859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2" name="junction-414.25-1495.0951771653542"/>
          <p:cNvSpPr/>
          <p:nvPr/>
        </p:nvSpPr>
        <p:spPr>
          <a:xfrm>
            <a:off x="13859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3" name="junction-414.25-1583.0951771653542"/>
          <p:cNvSpPr/>
          <p:nvPr/>
        </p:nvSpPr>
        <p:spPr>
          <a:xfrm>
            <a:off x="13859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4" name="junction-414.25-1671.0951771653542"/>
          <p:cNvSpPr/>
          <p:nvPr/>
        </p:nvSpPr>
        <p:spPr>
          <a:xfrm>
            <a:off x="13859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5" name="junction-744.25-1407.0951771653542"/>
          <p:cNvSpPr/>
          <p:nvPr/>
        </p:nvSpPr>
        <p:spPr>
          <a:xfrm>
            <a:off x="25035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6" name="junction-744.25-1495.0951771653542"/>
          <p:cNvSpPr/>
          <p:nvPr/>
        </p:nvSpPr>
        <p:spPr>
          <a:xfrm>
            <a:off x="25035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7" name="junction-744.25-1583.0951771653542"/>
          <p:cNvSpPr/>
          <p:nvPr/>
        </p:nvSpPr>
        <p:spPr>
          <a:xfrm>
            <a:off x="25035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8" name="junction-744.25-1671.0951771653542"/>
          <p:cNvSpPr/>
          <p:nvPr/>
        </p:nvSpPr>
        <p:spPr>
          <a:xfrm>
            <a:off x="25035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9" name="junction-1074.25-1407.0951771653542"/>
          <p:cNvSpPr/>
          <p:nvPr/>
        </p:nvSpPr>
        <p:spPr>
          <a:xfrm>
            <a:off x="36211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0" name="junction-1074.25-1495.0951771653542"/>
          <p:cNvSpPr/>
          <p:nvPr/>
        </p:nvSpPr>
        <p:spPr>
          <a:xfrm>
            <a:off x="36211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1" name="junction-1074.25-1583.0951771653542"/>
          <p:cNvSpPr/>
          <p:nvPr/>
        </p:nvSpPr>
        <p:spPr>
          <a:xfrm>
            <a:off x="36211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2" name="junction-1074.25-1671.0951771653542"/>
          <p:cNvSpPr/>
          <p:nvPr/>
        </p:nvSpPr>
        <p:spPr>
          <a:xfrm>
            <a:off x="36211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3" name="junction-1404.25-1407.0951771653542"/>
          <p:cNvSpPr/>
          <p:nvPr/>
        </p:nvSpPr>
        <p:spPr>
          <a:xfrm>
            <a:off x="47387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4" name="junction-1404.25-1495.0951771653542"/>
          <p:cNvSpPr/>
          <p:nvPr/>
        </p:nvSpPr>
        <p:spPr>
          <a:xfrm>
            <a:off x="47387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5" name="junction-1404.25-1583.0951771653542"/>
          <p:cNvSpPr/>
          <p:nvPr/>
        </p:nvSpPr>
        <p:spPr>
          <a:xfrm>
            <a:off x="47387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6" name="junction-1404.25-1671.0951771653542"/>
          <p:cNvSpPr/>
          <p:nvPr/>
        </p:nvSpPr>
        <p:spPr>
          <a:xfrm>
            <a:off x="47387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7" name="junction-1785-1727.0951771653542"/>
          <p:cNvSpPr/>
          <p:nvPr/>
        </p:nvSpPr>
        <p:spPr>
          <a:xfrm>
            <a:off x="602826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8" name="junction-170.125-1727.0951771653542"/>
          <p:cNvSpPr/>
          <p:nvPr/>
        </p:nvSpPr>
        <p:spPr>
          <a:xfrm>
            <a:off x="55922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9" name="junction-381.875-1727.0951771653542"/>
          <p:cNvSpPr/>
          <p:nvPr/>
        </p:nvSpPr>
        <p:spPr>
          <a:xfrm>
            <a:off x="127635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0" name="junction-593.625-1727.0951771653542"/>
          <p:cNvSpPr/>
          <p:nvPr/>
        </p:nvSpPr>
        <p:spPr>
          <a:xfrm>
            <a:off x="199347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1" name="junction-805.375-1727.0951771653542"/>
          <p:cNvSpPr/>
          <p:nvPr/>
        </p:nvSpPr>
        <p:spPr>
          <a:xfrm>
            <a:off x="271060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2" name="junction-1017.125-1727.0951771653542"/>
          <p:cNvSpPr/>
          <p:nvPr/>
        </p:nvSpPr>
        <p:spPr>
          <a:xfrm>
            <a:off x="342773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3" name="junction-1228.875-1727.0951771653542"/>
          <p:cNvSpPr/>
          <p:nvPr/>
        </p:nvSpPr>
        <p:spPr>
          <a:xfrm>
            <a:off x="414485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4" name="junction-1440.625-1727.0951771653542"/>
          <p:cNvSpPr/>
          <p:nvPr/>
        </p:nvSpPr>
        <p:spPr>
          <a:xfrm>
            <a:off x="486198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5" name="junction-1652.375-1727.0951771653542"/>
          <p:cNvSpPr/>
          <p:nvPr/>
        </p:nvSpPr>
        <p:spPr>
          <a:xfrm>
            <a:off x="557911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6" name="junction-1785-1861.1951771653542"/>
          <p:cNvSpPr/>
          <p:nvPr/>
        </p:nvSpPr>
        <p:spPr>
          <a:xfrm>
            <a:off x="602826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7" name="junction-170.125-1861.1951771653542"/>
          <p:cNvSpPr/>
          <p:nvPr/>
        </p:nvSpPr>
        <p:spPr>
          <a:xfrm>
            <a:off x="55922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8" name="junction-381.875-1861.1951771653542"/>
          <p:cNvSpPr/>
          <p:nvPr/>
        </p:nvSpPr>
        <p:spPr>
          <a:xfrm>
            <a:off x="127635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9" name="junction-593.625-1861.1951771653542"/>
          <p:cNvSpPr/>
          <p:nvPr/>
        </p:nvSpPr>
        <p:spPr>
          <a:xfrm>
            <a:off x="199347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0" name="junction-805.375-1861.1951771653542"/>
          <p:cNvSpPr/>
          <p:nvPr/>
        </p:nvSpPr>
        <p:spPr>
          <a:xfrm>
            <a:off x="271060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1" name="junction-1017.125-1861.1951771653542"/>
          <p:cNvSpPr/>
          <p:nvPr/>
        </p:nvSpPr>
        <p:spPr>
          <a:xfrm>
            <a:off x="342773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2" name="junction-1228.875-1861.1951771653542"/>
          <p:cNvSpPr/>
          <p:nvPr/>
        </p:nvSpPr>
        <p:spPr>
          <a:xfrm>
            <a:off x="414485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3" name="junction-1440.625-1861.1951771653542"/>
          <p:cNvSpPr/>
          <p:nvPr/>
        </p:nvSpPr>
        <p:spPr>
          <a:xfrm>
            <a:off x="486198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4" name="junction-1652.375-1861.1951771653542"/>
          <p:cNvSpPr/>
          <p:nvPr/>
        </p:nvSpPr>
        <p:spPr>
          <a:xfrm>
            <a:off x="557911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5" name="cva6"/>
          <p:cNvSpPr/>
          <p:nvPr/>
        </p:nvSpPr>
        <p:spPr>
          <a:xfrm>
            <a:off x="325967" y="1009549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66" name="ara"/>
          <p:cNvSpPr/>
          <p:nvPr/>
        </p:nvSpPr>
        <p:spPr>
          <a:xfrm>
            <a:off x="1341967" y="1009549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67" name="ara-filter"/>
          <p:cNvSpPr/>
          <p:nvPr/>
        </p:nvSpPr>
        <p:spPr>
          <a:xfrm>
            <a:off x="1409700" y="1585282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68" name="ara-width"/>
          <p:cNvSpPr/>
          <p:nvPr/>
        </p:nvSpPr>
        <p:spPr>
          <a:xfrm>
            <a:off x="2798233" y="1585282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69" name="npu"/>
          <p:cNvSpPr/>
          <p:nvPr/>
        </p:nvSpPr>
        <p:spPr>
          <a:xfrm>
            <a:off x="3678767" y="1009549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70" name="badge-C10"/>
          <p:cNvSpPr/>
          <p:nvPr/>
        </p:nvSpPr>
        <p:spPr>
          <a:xfrm>
            <a:off x="4389967" y="145997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71" name="gb-adapter"/>
          <p:cNvSpPr/>
          <p:nvPr/>
        </p:nvSpPr>
        <p:spPr>
          <a:xfrm>
            <a:off x="4711700" y="1263549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72" name="global-buffer"/>
          <p:cNvSpPr/>
          <p:nvPr/>
        </p:nvSpPr>
        <p:spPr>
          <a:xfrm>
            <a:off x="5626100" y="1009549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73" name="badge-C12"/>
          <p:cNvSpPr/>
          <p:nvPr/>
        </p:nvSpPr>
        <p:spPr>
          <a:xfrm>
            <a:off x="7133167" y="144981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74" name="gb-mover"/>
          <p:cNvSpPr/>
          <p:nvPr/>
        </p:nvSpPr>
        <p:spPr>
          <a:xfrm>
            <a:off x="5626100" y="1703816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75" name="badge-C11"/>
          <p:cNvSpPr/>
          <p:nvPr/>
        </p:nvSpPr>
        <p:spPr>
          <a:xfrm>
            <a:off x="7133167" y="198152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76" name="lvds-rx"/>
          <p:cNvSpPr/>
          <p:nvPr/>
        </p:nvSpPr>
        <p:spPr>
          <a:xfrm>
            <a:off x="10570634" y="1212749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77" name="rx-cdc"/>
          <p:cNvSpPr/>
          <p:nvPr/>
        </p:nvSpPr>
        <p:spPr>
          <a:xfrm>
            <a:off x="9927167" y="1212749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78" name="isp"/>
          <p:cNvSpPr/>
          <p:nvPr/>
        </p:nvSpPr>
        <p:spPr>
          <a:xfrm>
            <a:off x="9266766" y="1212749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79" name="frame-select"/>
          <p:cNvSpPr/>
          <p:nvPr/>
        </p:nvSpPr>
        <p:spPr>
          <a:xfrm>
            <a:off x="8555566" y="1212749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80" name="frame-dma"/>
          <p:cNvSpPr/>
          <p:nvPr/>
        </p:nvSpPr>
        <p:spPr>
          <a:xfrm>
            <a:off x="7708900" y="1212749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81" name="badge-C4"/>
          <p:cNvSpPr/>
          <p:nvPr/>
        </p:nvSpPr>
        <p:spPr>
          <a:xfrm>
            <a:off x="10926234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82" name="badge-C9"/>
          <p:cNvSpPr/>
          <p:nvPr/>
        </p:nvSpPr>
        <p:spPr>
          <a:xfrm>
            <a:off x="9622366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83" name="badge-C6"/>
          <p:cNvSpPr/>
          <p:nvPr/>
        </p:nvSpPr>
        <p:spPr>
          <a:xfrm>
            <a:off x="8233833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84" name="axi-crossbar"/>
          <p:cNvSpPr/>
          <p:nvPr/>
        </p:nvSpPr>
        <p:spPr>
          <a:xfrm>
            <a:off x="241300" y="2906082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85" name="xbar-in-S0"/>
          <p:cNvSpPr/>
          <p:nvPr/>
        </p:nvSpPr>
        <p:spPr>
          <a:xfrm>
            <a:off x="61119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86" name="xbar-in-S1"/>
          <p:cNvSpPr/>
          <p:nvPr/>
        </p:nvSpPr>
        <p:spPr>
          <a:xfrm>
            <a:off x="1676118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87" name="xbar-in-S2"/>
          <p:cNvSpPr/>
          <p:nvPr/>
        </p:nvSpPr>
        <p:spPr>
          <a:xfrm>
            <a:off x="2741036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88" name="xbar-in-S3"/>
          <p:cNvSpPr/>
          <p:nvPr/>
        </p:nvSpPr>
        <p:spPr>
          <a:xfrm>
            <a:off x="3805955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89" name="xbar-in-S4"/>
          <p:cNvSpPr/>
          <p:nvPr/>
        </p:nvSpPr>
        <p:spPr>
          <a:xfrm>
            <a:off x="4870873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90" name="xbar-in-S5"/>
          <p:cNvSpPr/>
          <p:nvPr/>
        </p:nvSpPr>
        <p:spPr>
          <a:xfrm>
            <a:off x="5935792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91" name="xbar-in-S6"/>
          <p:cNvSpPr/>
          <p:nvPr/>
        </p:nvSpPr>
        <p:spPr>
          <a:xfrm>
            <a:off x="7000710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92" name="xbar-in-S7"/>
          <p:cNvSpPr/>
          <p:nvPr/>
        </p:nvSpPr>
        <p:spPr>
          <a:xfrm>
            <a:off x="806562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93" name="xbar-in-S_EXT"/>
          <p:cNvSpPr/>
          <p:nvPr/>
        </p:nvSpPr>
        <p:spPr>
          <a:xfrm>
            <a:off x="9130547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94" name="debug-sba"/>
          <p:cNvSpPr/>
          <p:nvPr/>
        </p:nvSpPr>
        <p:spPr>
          <a:xfrm>
            <a:off x="1354384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95" name="idma-master"/>
          <p:cNvSpPr/>
          <p:nvPr/>
        </p:nvSpPr>
        <p:spPr>
          <a:xfrm>
            <a:off x="3484221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96" name="slink-rx"/>
          <p:cNvSpPr/>
          <p:nvPr/>
        </p:nvSpPr>
        <p:spPr>
          <a:xfrm>
            <a:off x="4549140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97" name="vga"/>
          <p:cNvSpPr/>
          <p:nvPr/>
        </p:nvSpPr>
        <p:spPr>
          <a:xfrm>
            <a:off x="5614059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98" name="usb-dma"/>
          <p:cNvSpPr/>
          <p:nvPr/>
        </p:nvSpPr>
        <p:spPr>
          <a:xfrm>
            <a:off x="6678977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99" name="emmc-host"/>
          <p:cNvSpPr/>
          <p:nvPr/>
        </p:nvSpPr>
        <p:spPr>
          <a:xfrm>
            <a:off x="7743896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00" name="ext-master"/>
          <p:cNvSpPr/>
          <p:nvPr/>
        </p:nvSpPr>
        <p:spPr>
          <a:xfrm>
            <a:off x="8808814" y="2415016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01" name="badge-C13"/>
          <p:cNvSpPr/>
          <p:nvPr/>
        </p:nvSpPr>
        <p:spPr>
          <a:xfrm>
            <a:off x="8505896" y="26486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02" name="xbar-out-M0"/>
          <p:cNvSpPr/>
          <p:nvPr/>
        </p:nvSpPr>
        <p:spPr>
          <a:xfrm>
            <a:off x="763330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03" name="debug-target"/>
          <p:cNvSpPr/>
          <p:nvPr/>
        </p:nvSpPr>
        <p:spPr>
          <a:xfrm>
            <a:off x="316290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04" name="xbar-out-M1"/>
          <p:cNvSpPr/>
          <p:nvPr/>
        </p:nvSpPr>
        <p:spPr>
          <a:xfrm>
            <a:off x="2132511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05" name="reg-bridge"/>
          <p:cNvSpPr/>
          <p:nvPr/>
        </p:nvSpPr>
        <p:spPr>
          <a:xfrm>
            <a:off x="1685471" y="3583416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06" name="xbar-out-M2"/>
          <p:cNvSpPr/>
          <p:nvPr/>
        </p:nvSpPr>
        <p:spPr>
          <a:xfrm>
            <a:off x="3501692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07" name="memory-target"/>
          <p:cNvSpPr/>
          <p:nvPr/>
        </p:nvSpPr>
        <p:spPr>
          <a:xfrm>
            <a:off x="2986919" y="3583416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08" name="atomics"/>
          <p:cNvSpPr/>
          <p:nvPr/>
        </p:nvSpPr>
        <p:spPr>
          <a:xfrm>
            <a:off x="3020786" y="3786616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09" name="llc-spm"/>
          <p:cNvSpPr/>
          <p:nvPr/>
        </p:nvSpPr>
        <p:spPr>
          <a:xfrm>
            <a:off x="3731986" y="3786616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10" name="xbar-out-M3"/>
          <p:cNvSpPr/>
          <p:nvPr/>
        </p:nvSpPr>
        <p:spPr>
          <a:xfrm>
            <a:off x="4870873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11" name="idma-config"/>
          <p:cNvSpPr/>
          <p:nvPr/>
        </p:nvSpPr>
        <p:spPr>
          <a:xfrm>
            <a:off x="4423833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12" name="xbar-out-M4"/>
          <p:cNvSpPr/>
          <p:nvPr/>
        </p:nvSpPr>
        <p:spPr>
          <a:xfrm>
            <a:off x="6240054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13" name="slink-tx"/>
          <p:cNvSpPr/>
          <p:nvPr/>
        </p:nvSpPr>
        <p:spPr>
          <a:xfrm>
            <a:off x="5793014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14" name="xbar-out-M5"/>
          <p:cNvSpPr/>
          <p:nvPr/>
        </p:nvSpPr>
        <p:spPr>
          <a:xfrm>
            <a:off x="7609235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15" name="gb-interface"/>
          <p:cNvSpPr/>
          <p:nvPr/>
        </p:nvSpPr>
        <p:spPr>
          <a:xfrm>
            <a:off x="7162195" y="3583416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16" name="xbar-out-M_EXT"/>
          <p:cNvSpPr/>
          <p:nvPr/>
        </p:nvSpPr>
        <p:spPr>
          <a:xfrm>
            <a:off x="8978416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17" name="ext-target"/>
          <p:cNvSpPr/>
          <p:nvPr/>
        </p:nvSpPr>
        <p:spPr>
          <a:xfrm>
            <a:off x="8531376" y="3583416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18" name="emmc-device"/>
          <p:cNvSpPr/>
          <p:nvPr/>
        </p:nvSpPr>
        <p:spPr>
          <a:xfrm>
            <a:off x="12835467" y="2415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19" name="regbus"/>
          <p:cNvSpPr/>
          <p:nvPr/>
        </p:nvSpPr>
        <p:spPr>
          <a:xfrm>
            <a:off x="241300" y="4379282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0" name="bootrom"/>
          <p:cNvSpPr/>
          <p:nvPr/>
        </p:nvSpPr>
        <p:spPr>
          <a:xfrm>
            <a:off x="3598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1" name="uart"/>
          <p:cNvSpPr/>
          <p:nvPr/>
        </p:nvSpPr>
        <p:spPr>
          <a:xfrm>
            <a:off x="3598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2" name="vga-regs"/>
          <p:cNvSpPr/>
          <p:nvPr/>
        </p:nvSpPr>
        <p:spPr>
          <a:xfrm>
            <a:off x="3598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3" name="irq-router"/>
          <p:cNvSpPr/>
          <p:nvPr/>
        </p:nvSpPr>
        <p:spPr>
          <a:xfrm>
            <a:off x="3598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4" name="clint"/>
          <p:cNvSpPr/>
          <p:nvPr/>
        </p:nvSpPr>
        <p:spPr>
          <a:xfrm>
            <a:off x="14774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5" name="i2c"/>
          <p:cNvSpPr/>
          <p:nvPr/>
        </p:nvSpPr>
        <p:spPr>
          <a:xfrm>
            <a:off x="14774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6" name="usb-regs"/>
          <p:cNvSpPr/>
          <p:nvPr/>
        </p:nvSpPr>
        <p:spPr>
          <a:xfrm>
            <a:off x="14774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7" name="axi-rt-config"/>
          <p:cNvSpPr/>
          <p:nvPr/>
        </p:nvSpPr>
        <p:spPr>
          <a:xfrm>
            <a:off x="14774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8" name="soc-regs"/>
          <p:cNvSpPr/>
          <p:nvPr/>
        </p:nvSpPr>
        <p:spPr>
          <a:xfrm>
            <a:off x="25950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9" name="spi"/>
          <p:cNvSpPr/>
          <p:nvPr/>
        </p:nvSpPr>
        <p:spPr>
          <a:xfrm>
            <a:off x="25950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0" name="err-vga"/>
          <p:cNvSpPr/>
          <p:nvPr/>
        </p:nvSpPr>
        <p:spPr>
          <a:xfrm>
            <a:off x="25950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1" name="clic"/>
          <p:cNvSpPr/>
          <p:nvPr/>
        </p:nvSpPr>
        <p:spPr>
          <a:xfrm>
            <a:off x="25950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2" name="plic"/>
          <p:cNvSpPr/>
          <p:nvPr/>
        </p:nvSpPr>
        <p:spPr>
          <a:xfrm>
            <a:off x="37126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3" name="gpio"/>
          <p:cNvSpPr/>
          <p:nvPr/>
        </p:nvSpPr>
        <p:spPr>
          <a:xfrm>
            <a:off x="37126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4" name="err-dma"/>
          <p:cNvSpPr/>
          <p:nvPr/>
        </p:nvSpPr>
        <p:spPr>
          <a:xfrm>
            <a:off x="37126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5" name="reg-error"/>
          <p:cNvSpPr/>
          <p:nvPr/>
        </p:nvSpPr>
        <p:spPr>
          <a:xfrm>
            <a:off x="37126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6" name="llc-regs"/>
          <p:cNvSpPr/>
          <p:nvPr/>
        </p:nvSpPr>
        <p:spPr>
          <a:xfrm>
            <a:off x="48302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7" name="slink-regs"/>
          <p:cNvSpPr/>
          <p:nvPr/>
        </p:nvSpPr>
        <p:spPr>
          <a:xfrm>
            <a:off x="48302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8" name="err-cpu"/>
          <p:cNvSpPr/>
          <p:nvPr/>
        </p:nvSpPr>
        <p:spPr>
          <a:xfrm>
            <a:off x="48302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9" name="reg-ext"/>
          <p:cNvSpPr/>
          <p:nvPr/>
        </p:nvSpPr>
        <p:spPr>
          <a:xfrm>
            <a:off x="48302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0" name="ddr-S0"/>
          <p:cNvSpPr/>
          <p:nvPr/>
        </p:nvSpPr>
        <p:spPr>
          <a:xfrm>
            <a:off x="6350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41" name="ddr-S1"/>
          <p:cNvSpPr/>
          <p:nvPr/>
        </p:nvSpPr>
        <p:spPr>
          <a:xfrm>
            <a:off x="7281333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42" name="ddr-S2"/>
          <p:cNvSpPr/>
          <p:nvPr/>
        </p:nvSpPr>
        <p:spPr>
          <a:xfrm>
            <a:off x="8212667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43" name="ddr-S3"/>
          <p:cNvSpPr/>
          <p:nvPr/>
        </p:nvSpPr>
        <p:spPr>
          <a:xfrm>
            <a:off x="9144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44" name="ddr-arb"/>
          <p:cNvSpPr/>
          <p:nvPr/>
        </p:nvSpPr>
        <p:spPr>
          <a:xfrm>
            <a:off x="6197600" y="5937149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45" name="ddr-rw"/>
          <p:cNvSpPr/>
          <p:nvPr/>
        </p:nvSpPr>
        <p:spPr>
          <a:xfrm>
            <a:off x="6197600" y="6106482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46" name="ddr-command"/>
          <p:cNvSpPr/>
          <p:nvPr/>
        </p:nvSpPr>
        <p:spPr>
          <a:xfrm>
            <a:off x="8212667" y="6106482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47" name="badge-C2"/>
          <p:cNvSpPr/>
          <p:nvPr/>
        </p:nvSpPr>
        <p:spPr>
          <a:xfrm>
            <a:off x="9652000" y="629274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48" name="ddr-phy"/>
          <p:cNvSpPr/>
          <p:nvPr/>
        </p:nvSpPr>
        <p:spPr>
          <a:xfrm>
            <a:off x="10261600" y="6191149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9" name="badge-C3"/>
          <p:cNvSpPr/>
          <p:nvPr/>
        </p:nvSpPr>
        <p:spPr>
          <a:xfrm>
            <a:off x="10905067" y="64214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0" name="ddr-device"/>
          <p:cNvSpPr/>
          <p:nvPr/>
        </p:nvSpPr>
        <p:spPr>
          <a:xfrm>
            <a:off x="12835467" y="6191149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1" name="pll"/>
          <p:cNvSpPr/>
          <p:nvPr/>
        </p:nvSpPr>
        <p:spPr>
          <a:xfrm>
            <a:off x="7200900" y="6472581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52" name="badge-C1"/>
          <p:cNvSpPr/>
          <p:nvPr/>
        </p:nvSpPr>
        <p:spPr>
          <a:xfrm>
            <a:off x="8738447" y="654370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53" name="config-C1"/>
          <p:cNvSpPr/>
          <p:nvPr/>
        </p:nvSpPr>
        <p:spPr>
          <a:xfrm>
            <a:off x="24130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4" name="reg-badge-C1"/>
          <p:cNvSpPr/>
          <p:nvPr/>
        </p:nvSpPr>
        <p:spPr>
          <a:xfrm>
            <a:off x="26500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5" name="config-C2"/>
          <p:cNvSpPr/>
          <p:nvPr/>
        </p:nvSpPr>
        <p:spPr>
          <a:xfrm>
            <a:off x="95842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6" name="reg-badge-C2"/>
          <p:cNvSpPr/>
          <p:nvPr/>
        </p:nvSpPr>
        <p:spPr>
          <a:xfrm>
            <a:off x="98213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7" name="config-C3"/>
          <p:cNvSpPr/>
          <p:nvPr/>
        </p:nvSpPr>
        <p:spPr>
          <a:xfrm>
            <a:off x="167555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8" name="reg-badge-C3"/>
          <p:cNvSpPr/>
          <p:nvPr/>
        </p:nvSpPr>
        <p:spPr>
          <a:xfrm>
            <a:off x="169926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9" name="config-C4"/>
          <p:cNvSpPr/>
          <p:nvPr/>
        </p:nvSpPr>
        <p:spPr>
          <a:xfrm>
            <a:off x="239268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0" name="reg-badge-C4"/>
          <p:cNvSpPr/>
          <p:nvPr/>
        </p:nvSpPr>
        <p:spPr>
          <a:xfrm>
            <a:off x="241638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1" name="config-C9"/>
          <p:cNvSpPr/>
          <p:nvPr/>
        </p:nvSpPr>
        <p:spPr>
          <a:xfrm>
            <a:off x="241300" y="6364207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2" name="reg-badge-C9"/>
          <p:cNvSpPr/>
          <p:nvPr/>
        </p:nvSpPr>
        <p:spPr>
          <a:xfrm>
            <a:off x="265006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3" name="config-C10"/>
          <p:cNvSpPr/>
          <p:nvPr/>
        </p:nvSpPr>
        <p:spPr>
          <a:xfrm>
            <a:off x="958426" y="6364207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4" name="reg-badge-C10"/>
          <p:cNvSpPr/>
          <p:nvPr/>
        </p:nvSpPr>
        <p:spPr>
          <a:xfrm>
            <a:off x="98213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5" name="config-C11"/>
          <p:cNvSpPr/>
          <p:nvPr/>
        </p:nvSpPr>
        <p:spPr>
          <a:xfrm>
            <a:off x="1675553" y="6364207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6" name="reg-badge-C11"/>
          <p:cNvSpPr/>
          <p:nvPr/>
        </p:nvSpPr>
        <p:spPr>
          <a:xfrm>
            <a:off x="169926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7" name="config-C6"/>
          <p:cNvSpPr/>
          <p:nvPr/>
        </p:nvSpPr>
        <p:spPr>
          <a:xfrm>
            <a:off x="3826934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8" name="reg-badge-C6"/>
          <p:cNvSpPr/>
          <p:nvPr/>
        </p:nvSpPr>
        <p:spPr>
          <a:xfrm>
            <a:off x="385064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9" name="config-C12"/>
          <p:cNvSpPr/>
          <p:nvPr/>
        </p:nvSpPr>
        <p:spPr>
          <a:xfrm>
            <a:off x="239268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0" name="reg-badge-C12"/>
          <p:cNvSpPr/>
          <p:nvPr/>
        </p:nvSpPr>
        <p:spPr>
          <a:xfrm>
            <a:off x="241638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1" name="config-C13"/>
          <p:cNvSpPr/>
          <p:nvPr/>
        </p:nvSpPr>
        <p:spPr>
          <a:xfrm>
            <a:off x="310980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2" name="reg-badge-C13"/>
          <p:cNvSpPr/>
          <p:nvPr/>
        </p:nvSpPr>
        <p:spPr>
          <a:xfrm>
            <a:off x="313351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3" name="config-C8"/>
          <p:cNvSpPr/>
          <p:nvPr/>
        </p:nvSpPr>
        <p:spPr>
          <a:xfrm>
            <a:off x="5261186" y="5910395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4" name="reg-badge-C8"/>
          <p:cNvSpPr/>
          <p:nvPr/>
        </p:nvSpPr>
        <p:spPr>
          <a:xfrm>
            <a:off x="528489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5" name="config-C14"/>
          <p:cNvSpPr/>
          <p:nvPr/>
        </p:nvSpPr>
        <p:spPr>
          <a:xfrm>
            <a:off x="382693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6" name="reg-badge-C14"/>
          <p:cNvSpPr/>
          <p:nvPr/>
        </p:nvSpPr>
        <p:spPr>
          <a:xfrm>
            <a:off x="385064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7" name="config-C7"/>
          <p:cNvSpPr/>
          <p:nvPr/>
        </p:nvSpPr>
        <p:spPr>
          <a:xfrm>
            <a:off x="4544060" y="5910395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8" name="reg-badge-C7"/>
          <p:cNvSpPr/>
          <p:nvPr/>
        </p:nvSpPr>
        <p:spPr>
          <a:xfrm>
            <a:off x="4567766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9" name="config-C5"/>
          <p:cNvSpPr/>
          <p:nvPr/>
        </p:nvSpPr>
        <p:spPr>
          <a:xfrm>
            <a:off x="3109806" y="5910395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0" name="reg-badge-C5"/>
          <p:cNvSpPr/>
          <p:nvPr/>
        </p:nvSpPr>
        <p:spPr>
          <a:xfrm>
            <a:off x="313351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1" name="config-C15"/>
          <p:cNvSpPr/>
          <p:nvPr/>
        </p:nvSpPr>
        <p:spPr>
          <a:xfrm>
            <a:off x="454406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2" name="reg-badge-C15"/>
          <p:cNvSpPr/>
          <p:nvPr/>
        </p:nvSpPr>
        <p:spPr>
          <a:xfrm>
            <a:off x="456776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3" name="config-C16"/>
          <p:cNvSpPr/>
          <p:nvPr/>
        </p:nvSpPr>
        <p:spPr>
          <a:xfrm>
            <a:off x="526118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4" name="reg-badge-C16"/>
          <p:cNvSpPr/>
          <p:nvPr/>
        </p:nvSpPr>
        <p:spPr>
          <a:xfrm>
            <a:off x="528489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5" name="front-F0"/>
          <p:cNvSpPr/>
          <p:nvPr/>
        </p:nvSpPr>
        <p:spPr>
          <a:xfrm>
            <a:off x="6316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86" name="front-F1"/>
          <p:cNvSpPr/>
          <p:nvPr/>
        </p:nvSpPr>
        <p:spPr>
          <a:xfrm>
            <a:off x="7247467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87" name="front-F2"/>
          <p:cNvSpPr/>
          <p:nvPr/>
        </p:nvSpPr>
        <p:spPr>
          <a:xfrm>
            <a:off x="8178800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88" name="front-F3"/>
          <p:cNvSpPr/>
          <p:nvPr/>
        </p:nvSpPr>
        <p:spPr>
          <a:xfrm>
            <a:off x="9110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89" name="front-adapt"/>
          <p:cNvSpPr/>
          <p:nvPr/>
        </p:nvSpPr>
        <p:spPr>
          <a:xfrm>
            <a:off x="6197600" y="4491042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0" name="badge-C14"/>
          <p:cNvSpPr/>
          <p:nvPr/>
        </p:nvSpPr>
        <p:spPr>
          <a:xfrm>
            <a:off x="9652000" y="453506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1" name="address-control"/>
          <p:cNvSpPr/>
          <p:nvPr/>
        </p:nvSpPr>
        <p:spPr>
          <a:xfrm>
            <a:off x="6197600" y="4768749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2" name="metadata"/>
          <p:cNvSpPr/>
          <p:nvPr/>
        </p:nvSpPr>
        <p:spPr>
          <a:xfrm>
            <a:off x="6197600" y="5209016"/>
            <a:ext cx="778933" cy="1693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3" name="compressor"/>
          <p:cNvSpPr/>
          <p:nvPr/>
        </p:nvSpPr>
        <p:spPr>
          <a:xfrm>
            <a:off x="7179733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4" name="badge-C15"/>
          <p:cNvSpPr/>
          <p:nvPr/>
        </p:nvSpPr>
        <p:spPr>
          <a:xfrm>
            <a:off x="7206827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5" name="decompressor"/>
          <p:cNvSpPr/>
          <p:nvPr/>
        </p:nvSpPr>
        <p:spPr>
          <a:xfrm>
            <a:off x="8085667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6" name="badge-C16"/>
          <p:cNvSpPr/>
          <p:nvPr/>
        </p:nvSpPr>
        <p:spPr>
          <a:xfrm>
            <a:off x="8112760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7" name="plain-bypass"/>
          <p:cNvSpPr/>
          <p:nvPr/>
        </p:nvSpPr>
        <p:spPr>
          <a:xfrm>
            <a:off x="8991600" y="4904216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8" name="front-route"/>
          <p:cNvSpPr/>
          <p:nvPr/>
        </p:nvSpPr>
        <p:spPr>
          <a:xfrm>
            <a:off x="6197600" y="5490109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9" name="roi-scheduler"/>
          <p:cNvSpPr/>
          <p:nvPr/>
        </p:nvSpPr>
        <p:spPr>
          <a:xfrm>
            <a:off x="10261600" y="4633282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0" name="badge-C8"/>
          <p:cNvSpPr/>
          <p:nvPr/>
        </p:nvSpPr>
        <p:spPr>
          <a:xfrm>
            <a:off x="10938933" y="464682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1" name="roi-vdma"/>
          <p:cNvSpPr/>
          <p:nvPr/>
        </p:nvSpPr>
        <p:spPr>
          <a:xfrm>
            <a:off x="10261600" y="5022749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2" name="badge-C7"/>
          <p:cNvSpPr/>
          <p:nvPr/>
        </p:nvSpPr>
        <p:spPr>
          <a:xfrm>
            <a:off x="10938933" y="50362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3" name="roi-fifo"/>
          <p:cNvSpPr/>
          <p:nvPr/>
        </p:nvSpPr>
        <p:spPr>
          <a:xfrm>
            <a:off x="10261600" y="5412216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4" name="lvds-tx"/>
          <p:cNvSpPr/>
          <p:nvPr/>
        </p:nvSpPr>
        <p:spPr>
          <a:xfrm>
            <a:off x="10261600" y="5717016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5" name="badge-C5"/>
          <p:cNvSpPr/>
          <p:nvPr/>
        </p:nvSpPr>
        <p:spPr>
          <a:xfrm>
            <a:off x="10938933" y="57305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6" name="compute-title: CVA6–Ara 计算平台"/>
          <p:cNvSpPr txBox="1"/>
          <p:nvPr/>
        </p:nvSpPr>
        <p:spPr>
          <a:xfrm>
            <a:off x="1225845" y="844166"/>
            <a:ext cx="1197444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1307" name="gb-region-title: NPU / 独立 Global Buffer 子系统"/>
          <p:cNvSpPr txBox="1"/>
          <p:nvPr/>
        </p:nvSpPr>
        <p:spPr>
          <a:xfrm>
            <a:off x="4510950" y="844166"/>
            <a:ext cx="2010167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1308" name="image-rx-title: 图像采集与 ISP"/>
          <p:cNvSpPr txBox="1"/>
          <p:nvPr/>
        </p:nvSpPr>
        <p:spPr>
          <a:xfrm>
            <a:off x="8968271" y="844166"/>
            <a:ext cx="884858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1309" name="cva6-t0: CVA6 core 0"/>
          <p:cNvSpPr txBox="1"/>
          <p:nvPr/>
        </p:nvSpPr>
        <p:spPr>
          <a:xfrm>
            <a:off x="396639" y="1175563"/>
            <a:ext cx="70532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1310" name="cva6-t1: L1 I / D cache"/>
          <p:cNvSpPr txBox="1"/>
          <p:nvPr/>
        </p:nvSpPr>
        <p:spPr>
          <a:xfrm>
            <a:off x="374998" y="1306560"/>
            <a:ext cx="748603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1311" name="cva6-t2: MMU / AXI 适配"/>
          <p:cNvSpPr txBox="1"/>
          <p:nvPr/>
        </p:nvSpPr>
        <p:spPr>
          <a:xfrm>
            <a:off x="355763" y="1429428"/>
            <a:ext cx="7870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1312" name="ara-t0: Ara 向量处理器"/>
          <p:cNvSpPr txBox="1"/>
          <p:nvPr/>
        </p:nvSpPr>
        <p:spPr>
          <a:xfrm>
            <a:off x="1916938" y="1080059"/>
            <a:ext cx="81432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1313" name="ara-t1: 2 lanes · VLSU / AXI：64 bit"/>
          <p:cNvSpPr txBox="1"/>
          <p:nvPr/>
        </p:nvSpPr>
        <p:spPr>
          <a:xfrm>
            <a:off x="1569887" y="1211056"/>
            <a:ext cx="1508426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1314" name="ara-filter-t0: 失效过滤"/>
          <p:cNvSpPr txBox="1"/>
          <p:nvPr/>
        </p:nvSpPr>
        <p:spPr>
          <a:xfrm>
            <a:off x="1500600" y="1602893"/>
            <a:ext cx="46166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315" name="ara-filter-t1: 现有 filter"/>
          <p:cNvSpPr txBox="1"/>
          <p:nvPr/>
        </p:nvSpPr>
        <p:spPr>
          <a:xfrm>
            <a:off x="1501402" y="1726710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1316" name="ara-width-t0: 等宽透传"/>
          <p:cNvSpPr txBox="1"/>
          <p:nvPr/>
        </p:nvSpPr>
        <p:spPr>
          <a:xfrm>
            <a:off x="2821400" y="1602893"/>
            <a:ext cx="46166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1317" name="ara-width-t1: 64 → 64 bit"/>
          <p:cNvSpPr txBox="1"/>
          <p:nvPr/>
        </p:nvSpPr>
        <p:spPr>
          <a:xfrm>
            <a:off x="2767700" y="1726710"/>
            <a:ext cx="5690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1318" name="command-label: 指令 / MMU"/>
          <p:cNvSpPr txBox="1"/>
          <p:nvPr/>
        </p:nvSpPr>
        <p:spPr>
          <a:xfrm>
            <a:off x="1146029" y="1446599"/>
            <a:ext cx="5883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</a:t>
            </a:r>
            <a:r>
              <a:rPr sz="800" b="0" i="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MMU</a:t>
            </a:r>
          </a:p>
        </p:txBody>
      </p:sp>
      <p:sp>
        <p:nvSpPr>
          <p:cNvPr id="1319" name="npu-t0: NPU 计算引擎"/>
          <p:cNvSpPr txBox="1"/>
          <p:nvPr/>
        </p:nvSpPr>
        <p:spPr>
          <a:xfrm>
            <a:off x="3756856" y="1177866"/>
            <a:ext cx="758221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1320" name="npu-t1: GB 数据读写"/>
          <p:cNvSpPr txBox="1"/>
          <p:nvPr/>
        </p:nvSpPr>
        <p:spPr>
          <a:xfrm>
            <a:off x="3845021" y="1301683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1321" name="badge-C10-text: C10"/>
          <p:cNvSpPr txBox="1"/>
          <p:nvPr/>
        </p:nvSpPr>
        <p:spPr>
          <a:xfrm>
            <a:off x="4393152" y="1450899"/>
            <a:ext cx="17312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322" name="gb-adapter-t0: GB 访问适配"/>
          <p:cNvSpPr txBox="1"/>
          <p:nvPr/>
        </p:nvSpPr>
        <p:spPr>
          <a:xfrm>
            <a:off x="4770146" y="1480634"/>
            <a:ext cx="662041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1323" name="gb-adapter-t1: 局部仲裁 / 路由"/>
          <p:cNvSpPr txBox="1"/>
          <p:nvPr/>
        </p:nvSpPr>
        <p:spPr>
          <a:xfrm>
            <a:off x="4741293" y="1604451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1324" name="gb-adapter-t2: bank 冲突处理"/>
          <p:cNvSpPr txBox="1"/>
          <p:nvPr/>
        </p:nvSpPr>
        <p:spPr>
          <a:xfrm>
            <a:off x="4760529" y="1710115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1325" name="global-buffer-t0: Global Buffer"/>
          <p:cNvSpPr txBox="1"/>
          <p:nvPr/>
        </p:nvSpPr>
        <p:spPr>
          <a:xfrm>
            <a:off x="6094910" y="1103427"/>
            <a:ext cx="77264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1326" name="global-buffer-t1: 独立 SRAM · 分 bank"/>
          <p:cNvSpPr txBox="1"/>
          <p:nvPr/>
        </p:nvSpPr>
        <p:spPr>
          <a:xfrm>
            <a:off x="5984302" y="1235372"/>
            <a:ext cx="9938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1327" name="global-buffer-t2: CPU / Ara / NPU / ISP"/>
          <p:cNvSpPr txBox="1"/>
          <p:nvPr/>
        </p:nvSpPr>
        <p:spPr>
          <a:xfrm>
            <a:off x="5949838" y="1349164"/>
            <a:ext cx="10627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1328" name="badge-C12-text: C12"/>
          <p:cNvSpPr txBox="1"/>
          <p:nvPr/>
        </p:nvSpPr>
        <p:spPr>
          <a:xfrm>
            <a:off x="7136352" y="1440739"/>
            <a:ext cx="17312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329" name="gb-mover-t0: NPU / GB 搬运引擎"/>
          <p:cNvSpPr txBox="1"/>
          <p:nvPr/>
        </p:nvSpPr>
        <p:spPr>
          <a:xfrm>
            <a:off x="5957853" y="1779000"/>
            <a:ext cx="1046761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1330" name="gb-mover-t1: DDR ↔ GB · AXI 主口"/>
          <p:cNvSpPr txBox="1"/>
          <p:nvPr/>
        </p:nvSpPr>
        <p:spPr>
          <a:xfrm>
            <a:off x="5953044" y="1902816"/>
            <a:ext cx="10563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1331" name="badge-C11-text: C11"/>
          <p:cNvSpPr txBox="1"/>
          <p:nvPr/>
        </p:nvSpPr>
        <p:spPr>
          <a:xfrm>
            <a:off x="7136352" y="1972446"/>
            <a:ext cx="17312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332" name="lvds-rx-t0: LVDS 接收"/>
          <p:cNvSpPr txBox="1"/>
          <p:nvPr/>
        </p:nvSpPr>
        <p:spPr>
          <a:xfrm>
            <a:off x="10565500" y="1398000"/>
            <a:ext cx="56906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1333" name="lvds-rx-t1: 解串 / 帧行"/>
          <p:cNvSpPr txBox="1"/>
          <p:nvPr/>
        </p:nvSpPr>
        <p:spPr>
          <a:xfrm>
            <a:off x="10592752" y="1521816"/>
            <a:ext cx="5145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1334" name="rx-cdc-t0: CDC / FIFO"/>
          <p:cNvSpPr txBox="1"/>
          <p:nvPr/>
        </p:nvSpPr>
        <p:spPr>
          <a:xfrm>
            <a:off x="9883911" y="1398000"/>
            <a:ext cx="62837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1335" name="rx-cdc-t1: 像素流缓冲"/>
          <p:cNvSpPr txBox="1"/>
          <p:nvPr/>
        </p:nvSpPr>
        <p:spPr>
          <a:xfrm>
            <a:off x="9941619" y="1521816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1336" name="isp-t0: ISP"/>
          <p:cNvSpPr txBox="1"/>
          <p:nvPr/>
        </p:nvSpPr>
        <p:spPr>
          <a:xfrm>
            <a:off x="9454795" y="1398000"/>
            <a:ext cx="18274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337" name="isp-t1: 行缓存 / 处理"/>
          <p:cNvSpPr txBox="1"/>
          <p:nvPr/>
        </p:nvSpPr>
        <p:spPr>
          <a:xfrm>
            <a:off x="9237588" y="1521816"/>
            <a:ext cx="6171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1338" name="frame-select-t0: 帧边界选择"/>
          <p:cNvSpPr txBox="1"/>
          <p:nvPr/>
        </p:nvSpPr>
        <p:spPr>
          <a:xfrm>
            <a:off x="8571825" y="1398000"/>
            <a:ext cx="577081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1339" name="frame-select-t1: RAW / ISP"/>
          <p:cNvSpPr txBox="1"/>
          <p:nvPr/>
        </p:nvSpPr>
        <p:spPr>
          <a:xfrm>
            <a:off x="8610298" y="1521816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1340" name="frame-dma-t0: 帧写入 DMA"/>
          <p:cNvSpPr txBox="1"/>
          <p:nvPr/>
        </p:nvSpPr>
        <p:spPr>
          <a:xfrm>
            <a:off x="7734733" y="1398000"/>
            <a:ext cx="67646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341" name="frame-dma-t1: 地址 / stride"/>
          <p:cNvSpPr txBox="1"/>
          <p:nvPr/>
        </p:nvSpPr>
        <p:spPr>
          <a:xfrm>
            <a:off x="7780419" y="1521816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1342" name="raw-bypass-label: RAW 旁路"/>
          <p:cNvSpPr txBox="1"/>
          <p:nvPr/>
        </p:nvSpPr>
        <p:spPr>
          <a:xfrm>
            <a:off x="9276240" y="1080059"/>
            <a:ext cx="47929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dirty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</a:t>
            </a:r>
            <a:r>
              <a:rPr sz="800" b="0" i="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旁路</a:t>
            </a:r>
            <a:endParaRPr sz="800" b="0" i="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43" name="badge-C4-text: C4"/>
          <p:cNvSpPr txBox="1"/>
          <p:nvPr/>
        </p:nvSpPr>
        <p:spPr>
          <a:xfrm>
            <a:off x="10957471" y="1687966"/>
            <a:ext cx="11701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344" name="badge-C9-text: C9"/>
          <p:cNvSpPr txBox="1"/>
          <p:nvPr/>
        </p:nvSpPr>
        <p:spPr>
          <a:xfrm>
            <a:off x="9653603" y="1687966"/>
            <a:ext cx="11701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345" name="badge-C6-text: C6"/>
          <p:cNvSpPr txBox="1"/>
          <p:nvPr/>
        </p:nvSpPr>
        <p:spPr>
          <a:xfrm>
            <a:off x="8265071" y="1687966"/>
            <a:ext cx="11701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346" name="isp-gb-label: ISP 中间数据 ↔ GB"/>
          <p:cNvSpPr txBox="1"/>
          <p:nvPr/>
        </p:nvSpPr>
        <p:spPr>
          <a:xfrm>
            <a:off x="7964722" y="2065918"/>
            <a:ext cx="9361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1347" name="crossbar-title: AXI Crossbar"/>
          <p:cNvSpPr txBox="1"/>
          <p:nvPr/>
        </p:nvSpPr>
        <p:spPr>
          <a:xfrm>
            <a:off x="4617454" y="2979526"/>
            <a:ext cx="83195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1348" name="crossbar-caption: 8 × 6 固定端口 + 扩展 | 64 bit 数据 / 48 bit 地址 "/>
          <p:cNvSpPr txBox="1"/>
          <p:nvPr/>
        </p:nvSpPr>
        <p:spPr>
          <a:xfrm>
            <a:off x="3339860" y="3151569"/>
            <a:ext cx="338714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1349" name="crossbar-rt-note: 输入侧 AXI RT · 按配置可选"/>
          <p:cNvSpPr txBox="1"/>
          <p:nvPr/>
        </p:nvSpPr>
        <p:spPr>
          <a:xfrm>
            <a:off x="429898" y="3207767"/>
            <a:ext cx="110447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1350" name="crossbar-error-note: 未映射请求：DECERR"/>
          <p:cNvSpPr txBox="1"/>
          <p:nvPr/>
        </p:nvSpPr>
        <p:spPr>
          <a:xfrm>
            <a:off x="8735438" y="3207767"/>
            <a:ext cx="8848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1351" name="xbar-in-S0-t0: S0"/>
          <p:cNvSpPr txBox="1"/>
          <p:nvPr/>
        </p:nvSpPr>
        <p:spPr>
          <a:xfrm>
            <a:off x="718455" y="2849694"/>
            <a:ext cx="1106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352" name="xbar-in-S1-t0: S1"/>
          <p:cNvSpPr txBox="1"/>
          <p:nvPr/>
        </p:nvSpPr>
        <p:spPr>
          <a:xfrm>
            <a:off x="1783373" y="2849694"/>
            <a:ext cx="1106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353" name="xbar-in-S2-t0: S2"/>
          <p:cNvSpPr txBox="1"/>
          <p:nvPr/>
        </p:nvSpPr>
        <p:spPr>
          <a:xfrm>
            <a:off x="2848292" y="2849694"/>
            <a:ext cx="1106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354" name="xbar-in-S3-t0: S3"/>
          <p:cNvSpPr txBox="1"/>
          <p:nvPr/>
        </p:nvSpPr>
        <p:spPr>
          <a:xfrm>
            <a:off x="3913210" y="2849694"/>
            <a:ext cx="1106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1355" name="xbar-in-S4-t0: S4"/>
          <p:cNvSpPr txBox="1"/>
          <p:nvPr/>
        </p:nvSpPr>
        <p:spPr>
          <a:xfrm>
            <a:off x="4978129" y="2849694"/>
            <a:ext cx="1106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1356" name="xbar-in-S5-t0: S5"/>
          <p:cNvSpPr txBox="1"/>
          <p:nvPr/>
        </p:nvSpPr>
        <p:spPr>
          <a:xfrm>
            <a:off x="6043047" y="2849694"/>
            <a:ext cx="1106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1357" name="xbar-in-S6-t0: S6"/>
          <p:cNvSpPr txBox="1"/>
          <p:nvPr/>
        </p:nvSpPr>
        <p:spPr>
          <a:xfrm>
            <a:off x="7107966" y="2849694"/>
            <a:ext cx="1106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1358" name="xbar-in-S7-t0: S7"/>
          <p:cNvSpPr txBox="1"/>
          <p:nvPr/>
        </p:nvSpPr>
        <p:spPr>
          <a:xfrm>
            <a:off x="8172885" y="2849694"/>
            <a:ext cx="1106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1359" name="xbar-in-S_EXT-t0: S_EXT"/>
          <p:cNvSpPr txBox="1"/>
          <p:nvPr/>
        </p:nvSpPr>
        <p:spPr>
          <a:xfrm>
            <a:off x="9160859" y="2849694"/>
            <a:ext cx="26449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1360" name="debug-sba-t0: Debug / SBA"/>
          <p:cNvSpPr txBox="1"/>
          <p:nvPr/>
        </p:nvSpPr>
        <p:spPr>
          <a:xfrm>
            <a:off x="1466782" y="2456333"/>
            <a:ext cx="743793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1361" name="debug-sba-t1: JTAG 总线访问"/>
          <p:cNvSpPr txBox="1"/>
          <p:nvPr/>
        </p:nvSpPr>
        <p:spPr>
          <a:xfrm>
            <a:off x="1494032" y="2580150"/>
            <a:ext cx="6892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1362" name="idma-master-t0: iDMA 数据主口"/>
          <p:cNvSpPr txBox="1"/>
          <p:nvPr/>
        </p:nvSpPr>
        <p:spPr>
          <a:xfrm>
            <a:off x="3555741" y="2456333"/>
            <a:ext cx="8255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1363" name="idma-master-t1: 内存 → 内存"/>
          <p:cNvSpPr txBox="1"/>
          <p:nvPr/>
        </p:nvSpPr>
        <p:spPr>
          <a:xfrm>
            <a:off x="3681577" y="2580150"/>
            <a:ext cx="5738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1364" name="slink-rx-t0: Serial Link RX"/>
          <p:cNvSpPr txBox="1"/>
          <p:nvPr/>
        </p:nvSpPr>
        <p:spPr>
          <a:xfrm>
            <a:off x="4639094" y="2456333"/>
            <a:ext cx="78867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1365" name="slink-rx-t1: 远端请求入口"/>
          <p:cNvSpPr txBox="1"/>
          <p:nvPr/>
        </p:nvSpPr>
        <p:spPr>
          <a:xfrm>
            <a:off x="4725657" y="2580150"/>
            <a:ext cx="61555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1366" name="vga-t0: VGA"/>
          <p:cNvSpPr txBox="1"/>
          <p:nvPr/>
        </p:nvSpPr>
        <p:spPr>
          <a:xfrm>
            <a:off x="5970112" y="2456333"/>
            <a:ext cx="256480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1367" name="vga-t1: 帧缓冲读取"/>
          <p:cNvSpPr txBox="1"/>
          <p:nvPr/>
        </p:nvSpPr>
        <p:spPr>
          <a:xfrm>
            <a:off x="5841871" y="2580150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1368" name="usb-dma-t0: USB DMA"/>
          <p:cNvSpPr txBox="1"/>
          <p:nvPr/>
        </p:nvSpPr>
        <p:spPr>
          <a:xfrm>
            <a:off x="6879539" y="2456333"/>
            <a:ext cx="567463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1369" name="usb-dma-t1: OHCI 主口"/>
          <p:cNvSpPr txBox="1"/>
          <p:nvPr/>
        </p:nvSpPr>
        <p:spPr>
          <a:xfrm>
            <a:off x="6914004" y="2580150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1370" name="emmc-host-t0: eMMC Host / DMA"/>
          <p:cNvSpPr txBox="1"/>
          <p:nvPr/>
        </p:nvSpPr>
        <p:spPr>
          <a:xfrm>
            <a:off x="7673549" y="2456333"/>
            <a:ext cx="1109279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1371" name="emmc-host-t1: 存储块 ↔ 内存"/>
          <p:cNvSpPr txBox="1"/>
          <p:nvPr/>
        </p:nvSpPr>
        <p:spPr>
          <a:xfrm>
            <a:off x="7802987" y="2580150"/>
            <a:ext cx="7149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1372" name="ext-master-t0: AXI 外部 master"/>
          <p:cNvSpPr txBox="1"/>
          <p:nvPr/>
        </p:nvSpPr>
        <p:spPr>
          <a:xfrm>
            <a:off x="8839457" y="2456333"/>
            <a:ext cx="907301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1373" name="ext-master-t1: 可选扩展入口"/>
          <p:cNvSpPr txBox="1"/>
          <p:nvPr/>
        </p:nvSpPr>
        <p:spPr>
          <a:xfrm>
            <a:off x="8985331" y="2580150"/>
            <a:ext cx="61555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1374" name="badge-C13-text: C13"/>
          <p:cNvSpPr txBox="1"/>
          <p:nvPr/>
        </p:nvSpPr>
        <p:spPr>
          <a:xfrm>
            <a:off x="8509081" y="2639619"/>
            <a:ext cx="17312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375" name="xbar-out-M0-t0: M0"/>
          <p:cNvSpPr txBox="1"/>
          <p:nvPr/>
        </p:nvSpPr>
        <p:spPr>
          <a:xfrm>
            <a:off x="851351" y="3306894"/>
            <a:ext cx="14907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1376" name="debug-target-t0: Debug 目标"/>
          <p:cNvSpPr txBox="1"/>
          <p:nvPr/>
        </p:nvSpPr>
        <p:spPr>
          <a:xfrm>
            <a:off x="599679" y="3717866"/>
            <a:ext cx="652423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1377" name="debug-target-t1: 调试模块窗口"/>
          <p:cNvSpPr txBox="1"/>
          <p:nvPr/>
        </p:nvSpPr>
        <p:spPr>
          <a:xfrm>
            <a:off x="618114" y="3841683"/>
            <a:ext cx="61555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1378" name="xbar-out-M1-t0: M1"/>
          <p:cNvSpPr txBox="1"/>
          <p:nvPr/>
        </p:nvSpPr>
        <p:spPr>
          <a:xfrm>
            <a:off x="2220532" y="3306894"/>
            <a:ext cx="14907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1379" name="reg-bridge-t0: AXI → Regbus"/>
          <p:cNvSpPr txBox="1"/>
          <p:nvPr/>
        </p:nvSpPr>
        <p:spPr>
          <a:xfrm>
            <a:off x="1883901" y="3717866"/>
            <a:ext cx="822341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1380" name="reg-bridge-t1: 原子适配 / 32 bit 桥"/>
          <p:cNvSpPr txBox="1"/>
          <p:nvPr/>
        </p:nvSpPr>
        <p:spPr>
          <a:xfrm>
            <a:off x="1829400" y="3841683"/>
            <a:ext cx="93134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1381" name="xbar-out-M2-t0: M2"/>
          <p:cNvSpPr txBox="1"/>
          <p:nvPr/>
        </p:nvSpPr>
        <p:spPr>
          <a:xfrm>
            <a:off x="3589713" y="3306894"/>
            <a:ext cx="14907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1382" name="memory-title: 主存 / SPM 共用目标"/>
          <p:cNvSpPr txBox="1"/>
          <p:nvPr/>
        </p:nvSpPr>
        <p:spPr>
          <a:xfrm>
            <a:off x="3108812" y="3608714"/>
            <a:ext cx="111088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</a:t>
            </a:r>
            <a:r>
              <a:rPr sz="900" b="1" i="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SPM </a:t>
            </a:r>
            <a:r>
              <a:rPr sz="900" b="1" i="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共用目标</a:t>
            </a:r>
            <a:endParaRPr sz="900" b="1" i="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83" name="atomics-t0: 原子适配"/>
          <p:cNvSpPr txBox="1"/>
          <p:nvPr/>
        </p:nvSpPr>
        <p:spPr>
          <a:xfrm>
            <a:off x="3128868" y="3802110"/>
            <a:ext cx="41036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1384" name="atomics-t1: AMO / LRSC"/>
          <p:cNvSpPr txBox="1"/>
          <p:nvPr/>
        </p:nvSpPr>
        <p:spPr>
          <a:xfrm>
            <a:off x="2991811" y="3907012"/>
            <a:ext cx="684483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1385" name="llc-spm-t0: LLC / SPM"/>
          <p:cNvSpPr txBox="1"/>
          <p:nvPr/>
        </p:nvSpPr>
        <p:spPr>
          <a:xfrm>
            <a:off x="3756960" y="3806174"/>
            <a:ext cx="52578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1386" name="llc-spm-t1: SRAM 阵列"/>
          <p:cNvSpPr txBox="1"/>
          <p:nvPr/>
        </p:nvSpPr>
        <p:spPr>
          <a:xfrm>
            <a:off x="3752151" y="3912024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1387" name="xbar-out-M3-t0: M3"/>
          <p:cNvSpPr txBox="1"/>
          <p:nvPr/>
        </p:nvSpPr>
        <p:spPr>
          <a:xfrm>
            <a:off x="4958894" y="3306894"/>
            <a:ext cx="14907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1388" name="idma-config-t0: iDMA 配置"/>
          <p:cNvSpPr txBox="1"/>
          <p:nvPr/>
        </p:nvSpPr>
        <p:spPr>
          <a:xfrm>
            <a:off x="4736076" y="3665034"/>
            <a:ext cx="59471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1389" name="idma-config-t1: 原子适配 → AXI→Reg"/>
          <p:cNvSpPr txBox="1"/>
          <p:nvPr/>
        </p:nvSpPr>
        <p:spPr>
          <a:xfrm>
            <a:off x="4515663" y="3788851"/>
            <a:ext cx="10355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1390" name="idma-config-t2: wrapper 内部寄存器"/>
          <p:cNvSpPr txBox="1"/>
          <p:nvPr/>
        </p:nvSpPr>
        <p:spPr>
          <a:xfrm>
            <a:off x="4559746" y="3894515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1391" name="xbar-out-M4-t0: M4"/>
          <p:cNvSpPr txBox="1"/>
          <p:nvPr/>
        </p:nvSpPr>
        <p:spPr>
          <a:xfrm>
            <a:off x="6328075" y="3306894"/>
            <a:ext cx="14907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1392" name="slink-tx-t0: Serial Link TX"/>
          <p:cNvSpPr txBox="1"/>
          <p:nvPr/>
        </p:nvSpPr>
        <p:spPr>
          <a:xfrm>
            <a:off x="6012283" y="3717866"/>
            <a:ext cx="780663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1393" name="slink-tx-t1: 远端目标窗口"/>
          <p:cNvSpPr txBox="1"/>
          <p:nvPr/>
        </p:nvSpPr>
        <p:spPr>
          <a:xfrm>
            <a:off x="6094838" y="3841683"/>
            <a:ext cx="61555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1394" name="xbar-out-M5-t0: M5"/>
          <p:cNvSpPr txBox="1"/>
          <p:nvPr/>
        </p:nvSpPr>
        <p:spPr>
          <a:xfrm>
            <a:off x="7697256" y="3306894"/>
            <a:ext cx="14907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95" name="gb-interface-t0: GB AXI 接口"/>
          <p:cNvSpPr txBox="1"/>
          <p:nvPr/>
        </p:nvSpPr>
        <p:spPr>
          <a:xfrm>
            <a:off x="7436767" y="3665034"/>
            <a:ext cx="670056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96" name="gb-interface-t1: CPU / Ara / eMMC DMA"/>
          <p:cNvSpPr txBox="1"/>
          <p:nvPr/>
        </p:nvSpPr>
        <p:spPr>
          <a:xfrm>
            <a:off x="7174676" y="3788851"/>
            <a:ext cx="11942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1397" name="gb-interface-t2: 64-bit 数据窗口 · 共用"/>
          <p:cNvSpPr txBox="1"/>
          <p:nvPr/>
        </p:nvSpPr>
        <p:spPr>
          <a:xfrm>
            <a:off x="7257231" y="3894515"/>
            <a:ext cx="10291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1398" name="xbar-out-M_EXT-t0: M_EXT"/>
          <p:cNvSpPr txBox="1"/>
          <p:nvPr/>
        </p:nvSpPr>
        <p:spPr>
          <a:xfrm>
            <a:off x="8989493" y="3306894"/>
            <a:ext cx="3029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1399" name="ext-target-t0: AXI 外部 slave"/>
          <p:cNvSpPr txBox="1"/>
          <p:nvPr/>
        </p:nvSpPr>
        <p:spPr>
          <a:xfrm>
            <a:off x="8742630" y="3717866"/>
            <a:ext cx="796693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1400" name="ext-target-t1: 可选外部目标扩展"/>
          <p:cNvSpPr txBox="1"/>
          <p:nvPr/>
        </p:nvSpPr>
        <p:spPr>
          <a:xfrm>
            <a:off x="8730607" y="3841683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1401" name="emmc-device-t0: eMMC"/>
          <p:cNvSpPr txBox="1"/>
          <p:nvPr/>
        </p:nvSpPr>
        <p:spPr>
          <a:xfrm>
            <a:off x="12978669" y="2446308"/>
            <a:ext cx="424795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1402" name="emmc-device-t1: 模型 / 校正参数"/>
          <p:cNvSpPr txBox="1"/>
          <p:nvPr/>
        </p:nvSpPr>
        <p:spPr>
          <a:xfrm>
            <a:off x="12831193" y="2588278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1403" name="regbus-t0: Regbus decode / demux · 32 bit"/>
          <p:cNvSpPr txBox="1"/>
          <p:nvPr/>
        </p:nvSpPr>
        <p:spPr>
          <a:xfrm>
            <a:off x="2213213" y="4404140"/>
            <a:ext cx="1745774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1404" name="bootrom-t0: Boot ROM"/>
          <p:cNvSpPr txBox="1"/>
          <p:nvPr/>
        </p:nvSpPr>
        <p:spPr>
          <a:xfrm>
            <a:off x="592799" y="4637346"/>
            <a:ext cx="55006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1405" name="bootrom-t1: 启动代码"/>
          <p:cNvSpPr txBox="1"/>
          <p:nvPr/>
        </p:nvSpPr>
        <p:spPr>
          <a:xfrm>
            <a:off x="647700" y="4761163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1406" name="uart-t0: UART"/>
          <p:cNvSpPr txBox="1"/>
          <p:nvPr/>
        </p:nvSpPr>
        <p:spPr>
          <a:xfrm>
            <a:off x="699259" y="4935373"/>
            <a:ext cx="33714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1407" name="uart-t1: 串口控制"/>
          <p:cNvSpPr txBox="1"/>
          <p:nvPr/>
        </p:nvSpPr>
        <p:spPr>
          <a:xfrm>
            <a:off x="6477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1408" name="vga-regs-t0: VGA 配置"/>
          <p:cNvSpPr txBox="1"/>
          <p:nvPr/>
        </p:nvSpPr>
        <p:spPr>
          <a:xfrm>
            <a:off x="609865" y="5233400"/>
            <a:ext cx="51593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409" name="vga-regs-t1: 时序 / 帧地址"/>
          <p:cNvSpPr txBox="1"/>
          <p:nvPr/>
        </p:nvSpPr>
        <p:spPr>
          <a:xfrm>
            <a:off x="554400" y="5357216"/>
            <a:ext cx="6268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1410" name="irq-router-t0: IRQ router"/>
          <p:cNvSpPr txBox="1"/>
          <p:nvPr/>
        </p:nvSpPr>
        <p:spPr>
          <a:xfrm>
            <a:off x="592849" y="5531426"/>
            <a:ext cx="5499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411" name="irq-router-t1: 可选中断路由"/>
          <p:cNvSpPr txBox="1"/>
          <p:nvPr/>
        </p:nvSpPr>
        <p:spPr>
          <a:xfrm>
            <a:off x="5596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1412" name="clint-t0: CLINT"/>
          <p:cNvSpPr txBox="1"/>
          <p:nvPr/>
        </p:nvSpPr>
        <p:spPr>
          <a:xfrm>
            <a:off x="1805697" y="4637346"/>
            <a:ext cx="35947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1413" name="clint-t1: 软件 / 定时中断"/>
          <p:cNvSpPr txBox="1"/>
          <p:nvPr/>
        </p:nvSpPr>
        <p:spPr>
          <a:xfrm>
            <a:off x="1627973" y="4761163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1414" name="i2c-t0: I²C"/>
          <p:cNvSpPr txBox="1"/>
          <p:nvPr/>
        </p:nvSpPr>
        <p:spPr>
          <a:xfrm>
            <a:off x="1871726" y="4935373"/>
            <a:ext cx="22741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1415" name="i2c-t1: 两线串行接口"/>
          <p:cNvSpPr txBox="1"/>
          <p:nvPr/>
        </p:nvSpPr>
        <p:spPr>
          <a:xfrm>
            <a:off x="1677247" y="5059190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1416" name="usb-regs-t0: USB 配置"/>
          <p:cNvSpPr txBox="1"/>
          <p:nvPr/>
        </p:nvSpPr>
        <p:spPr>
          <a:xfrm>
            <a:off x="1722403" y="5233400"/>
            <a:ext cx="52606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417" name="usb-regs-t1: OHCI 寄存器"/>
          <p:cNvSpPr txBox="1"/>
          <p:nvPr/>
        </p:nvSpPr>
        <p:spPr>
          <a:xfrm>
            <a:off x="1699384" y="5357216"/>
            <a:ext cx="57209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1418" name="axi-rt-config-t0: AXI RT 配置"/>
          <p:cNvSpPr txBox="1"/>
          <p:nvPr/>
        </p:nvSpPr>
        <p:spPr>
          <a:xfrm>
            <a:off x="1676712" y="5531426"/>
            <a:ext cx="61744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419" name="axi-rt-config-t1: 可选流量调节"/>
          <p:cNvSpPr txBox="1"/>
          <p:nvPr/>
        </p:nvSpPr>
        <p:spPr>
          <a:xfrm>
            <a:off x="16772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1420" name="soc-regs-t0: SoC 寄存器"/>
          <p:cNvSpPr txBox="1"/>
          <p:nvPr/>
        </p:nvSpPr>
        <p:spPr>
          <a:xfrm>
            <a:off x="2794312" y="4637346"/>
            <a:ext cx="61744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1421" name="soc-regs-t1: 平台信息 / scratch"/>
          <p:cNvSpPr txBox="1"/>
          <p:nvPr/>
        </p:nvSpPr>
        <p:spPr>
          <a:xfrm>
            <a:off x="2692945" y="4761163"/>
            <a:ext cx="82017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1422" name="spi-t0: SPI Host"/>
          <p:cNvSpPr txBox="1"/>
          <p:nvPr/>
        </p:nvSpPr>
        <p:spPr>
          <a:xfrm>
            <a:off x="2860442" y="4935373"/>
            <a:ext cx="48518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1423" name="spi-t1: Flash / SD"/>
          <p:cNvSpPr txBox="1"/>
          <p:nvPr/>
        </p:nvSpPr>
        <p:spPr>
          <a:xfrm>
            <a:off x="2851468" y="5059190"/>
            <a:ext cx="50313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1424" name="err-vga-t0: Bus-error · VGA"/>
          <p:cNvSpPr txBox="1"/>
          <p:nvPr/>
        </p:nvSpPr>
        <p:spPr>
          <a:xfrm>
            <a:off x="2715387" y="5233400"/>
            <a:ext cx="77529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425" name="err-vga-t1: 错误记录"/>
          <p:cNvSpPr txBox="1"/>
          <p:nvPr/>
        </p:nvSpPr>
        <p:spPr>
          <a:xfrm>
            <a:off x="2882900" y="5357216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1426" name="clic-t0: CLIC"/>
          <p:cNvSpPr txBox="1"/>
          <p:nvPr/>
        </p:nvSpPr>
        <p:spPr>
          <a:xfrm>
            <a:off x="2950729" y="5531426"/>
            <a:ext cx="30460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427" name="clic-t1: 可选每核中断控制"/>
          <p:cNvSpPr txBox="1"/>
          <p:nvPr/>
        </p:nvSpPr>
        <p:spPr>
          <a:xfrm>
            <a:off x="2706793" y="5655243"/>
            <a:ext cx="792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1428" name="plic-t0: PLIC"/>
          <p:cNvSpPr txBox="1"/>
          <p:nvPr/>
        </p:nvSpPr>
        <p:spPr>
          <a:xfrm>
            <a:off x="4071355" y="4637346"/>
            <a:ext cx="2985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1429" name="plic-t1: 外部中断控制"/>
          <p:cNvSpPr txBox="1"/>
          <p:nvPr/>
        </p:nvSpPr>
        <p:spPr>
          <a:xfrm>
            <a:off x="3912447" y="476116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1430" name="gpio-t0: GPIO"/>
          <p:cNvSpPr txBox="1"/>
          <p:nvPr/>
        </p:nvSpPr>
        <p:spPr>
          <a:xfrm>
            <a:off x="4061238" y="4935373"/>
            <a:ext cx="31879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1431" name="gpio-t1: 通用 IO"/>
          <p:cNvSpPr txBox="1"/>
          <p:nvPr/>
        </p:nvSpPr>
        <p:spPr>
          <a:xfrm>
            <a:off x="4034893" y="5059190"/>
            <a:ext cx="371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1432" name="err-dma-t0: Bus-error · iDMA"/>
          <p:cNvSpPr txBox="1"/>
          <p:nvPr/>
        </p:nvSpPr>
        <p:spPr>
          <a:xfrm>
            <a:off x="3807637" y="5233400"/>
            <a:ext cx="82599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433" name="err-dma-t1: 每传输错误记录"/>
          <p:cNvSpPr txBox="1"/>
          <p:nvPr/>
        </p:nvSpPr>
        <p:spPr>
          <a:xfrm>
            <a:off x="3868420" y="5357216"/>
            <a:ext cx="70442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1434" name="reg-error-t0: reg_err_slv"/>
          <p:cNvSpPr txBox="1"/>
          <p:nvPr/>
        </p:nvSpPr>
        <p:spPr>
          <a:xfrm>
            <a:off x="3929327" y="5531426"/>
            <a:ext cx="58261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435" name="reg-error-t1: 未匹配地址"/>
          <p:cNvSpPr txBox="1"/>
          <p:nvPr/>
        </p:nvSpPr>
        <p:spPr>
          <a:xfrm>
            <a:off x="3956473" y="5655243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1436" name="llc-regs-t0: LLC 配置"/>
          <p:cNvSpPr txBox="1"/>
          <p:nvPr/>
        </p:nvSpPr>
        <p:spPr>
          <a:xfrm>
            <a:off x="5088350" y="4637346"/>
            <a:ext cx="49976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1437" name="llc-regs-t1: SPM way / cache"/>
          <p:cNvSpPr txBox="1"/>
          <p:nvPr/>
        </p:nvSpPr>
        <p:spPr>
          <a:xfrm>
            <a:off x="4959099" y="4761163"/>
            <a:ext cx="75826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1438" name="slink-regs-t0: Serial Link 配置"/>
          <p:cNvSpPr txBox="1"/>
          <p:nvPr/>
        </p:nvSpPr>
        <p:spPr>
          <a:xfrm>
            <a:off x="4938281" y="4935373"/>
            <a:ext cx="79990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439" name="slink-regs-t1: 链路控制"/>
          <p:cNvSpPr txBox="1"/>
          <p:nvPr/>
        </p:nvSpPr>
        <p:spPr>
          <a:xfrm>
            <a:off x="51181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1440" name="err-cpu-t0: Bus-error · CPU"/>
          <p:cNvSpPr txBox="1"/>
          <p:nvPr/>
        </p:nvSpPr>
        <p:spPr>
          <a:xfrm>
            <a:off x="4948552" y="5233400"/>
            <a:ext cx="77936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441" name="err-cpu-t1: 每核错误记录"/>
          <p:cNvSpPr txBox="1"/>
          <p:nvPr/>
        </p:nvSpPr>
        <p:spPr>
          <a:xfrm>
            <a:off x="5030047" y="5357216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1442" name="reg-ext-t0: RegExt 扩展"/>
          <p:cNvSpPr txBox="1"/>
          <p:nvPr/>
        </p:nvSpPr>
        <p:spPr>
          <a:xfrm>
            <a:off x="5019392" y="5531426"/>
            <a:ext cx="63768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443" name="reg-ext-t1: 新增 IP 配置出口"/>
          <p:cNvSpPr txBox="1"/>
          <p:nvPr/>
        </p:nvSpPr>
        <p:spPr>
          <a:xfrm>
            <a:off x="4967573" y="5655243"/>
            <a:ext cx="741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1444" name="ddr-S0-t0: DDR.S0"/>
          <p:cNvSpPr txBox="1"/>
          <p:nvPr/>
        </p:nvSpPr>
        <p:spPr>
          <a:xfrm>
            <a:off x="6434082" y="5779161"/>
            <a:ext cx="33983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1445" name="ddr-S1-t0: DDR.S1"/>
          <p:cNvSpPr txBox="1"/>
          <p:nvPr/>
        </p:nvSpPr>
        <p:spPr>
          <a:xfrm>
            <a:off x="7365415" y="5779161"/>
            <a:ext cx="33983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1446" name="ddr-S2-t0: DDR.S2"/>
          <p:cNvSpPr txBox="1"/>
          <p:nvPr/>
        </p:nvSpPr>
        <p:spPr>
          <a:xfrm>
            <a:off x="8296748" y="5779161"/>
            <a:ext cx="33983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1447" name="ddr-S3-t0: DDR.S3"/>
          <p:cNvSpPr txBox="1"/>
          <p:nvPr/>
        </p:nvSpPr>
        <p:spPr>
          <a:xfrm>
            <a:off x="9228082" y="5779161"/>
            <a:ext cx="33983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1448" name="ddr-arb-t0: 四口仲裁 / QoS · 共享 DDR 带宽"/>
          <p:cNvSpPr txBox="1"/>
          <p:nvPr/>
        </p:nvSpPr>
        <p:spPr>
          <a:xfrm>
            <a:off x="7253752" y="5934711"/>
            <a:ext cx="154529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1449" name="ddr-rw-t0: 读写调度 · Bank / Row"/>
          <p:cNvSpPr txBox="1"/>
          <p:nvPr/>
        </p:nvSpPr>
        <p:spPr>
          <a:xfrm>
            <a:off x="6379166" y="6115965"/>
            <a:ext cx="1245534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1450" name="ddr-command-t0: 命令调度 · Controller → PHY"/>
          <p:cNvSpPr txBox="1"/>
          <p:nvPr/>
        </p:nvSpPr>
        <p:spPr>
          <a:xfrm>
            <a:off x="8324604" y="6120977"/>
            <a:ext cx="141865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1451" name="ddr-title: DDR Controller · 4 个 AXI slave"/>
          <p:cNvSpPr txBox="1"/>
          <p:nvPr/>
        </p:nvSpPr>
        <p:spPr>
          <a:xfrm>
            <a:off x="7133527" y="6267688"/>
            <a:ext cx="1785746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1452" name="badge-C2-text: C2"/>
          <p:cNvSpPr txBox="1"/>
          <p:nvPr/>
        </p:nvSpPr>
        <p:spPr>
          <a:xfrm>
            <a:off x="9683237" y="6283673"/>
            <a:ext cx="11701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53" name="ddr-phy-t0: DDR PHY"/>
          <p:cNvSpPr txBox="1"/>
          <p:nvPr/>
        </p:nvSpPr>
        <p:spPr>
          <a:xfrm>
            <a:off x="10438606" y="6228402"/>
            <a:ext cx="50958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454" name="ddr-phy-t1: 训练 / 校准"/>
          <p:cNvSpPr txBox="1"/>
          <p:nvPr/>
        </p:nvSpPr>
        <p:spPr>
          <a:xfrm>
            <a:off x="10335535" y="6351271"/>
            <a:ext cx="580263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455" name="badge-C3-text: C3"/>
          <p:cNvSpPr txBox="1"/>
          <p:nvPr/>
        </p:nvSpPr>
        <p:spPr>
          <a:xfrm>
            <a:off x="10915915" y="641236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56" name="ddr-device-t0: DDR"/>
          <p:cNvSpPr txBox="1"/>
          <p:nvPr/>
        </p:nvSpPr>
        <p:spPr>
          <a:xfrm>
            <a:off x="12920342" y="6218378"/>
            <a:ext cx="338249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57" name="ddr-device-t1: 片外器件"/>
          <p:cNvSpPr txBox="1"/>
          <p:nvPr/>
        </p:nvSpPr>
        <p:spPr>
          <a:xfrm>
            <a:off x="12852400" y="6359399"/>
            <a:ext cx="474133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1458" name="roi-title: 图像裁切输出"/>
          <p:cNvSpPr txBox="1"/>
          <p:nvPr/>
        </p:nvSpPr>
        <p:spPr>
          <a:xfrm>
            <a:off x="10355618" y="4313039"/>
            <a:ext cx="69249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1459" name="roi-count: ≤256 ROI / 帧"/>
          <p:cNvSpPr txBox="1"/>
          <p:nvPr/>
        </p:nvSpPr>
        <p:spPr>
          <a:xfrm>
            <a:off x="10367788" y="4429811"/>
            <a:ext cx="66815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1460" name="roi-no-scale: 纯裁切 · 不缩放"/>
          <p:cNvSpPr txBox="1"/>
          <p:nvPr/>
        </p:nvSpPr>
        <p:spPr>
          <a:xfrm>
            <a:off x="10356747" y="4517865"/>
            <a:ext cx="69024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1461" name="pll-title: PLL / 时钟与复位分发"/>
          <p:cNvSpPr txBox="1"/>
          <p:nvPr/>
        </p:nvSpPr>
        <p:spPr>
          <a:xfrm>
            <a:off x="7393608" y="6514372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1462" name="badge-C1-text: C1"/>
          <p:cNvSpPr txBox="1"/>
          <p:nvPr/>
        </p:nvSpPr>
        <p:spPr>
          <a:xfrm>
            <a:off x="8769684" y="6534625"/>
            <a:ext cx="11701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3" name="pll-interface: RefClk / POR → clk_i / rst_ni"/>
          <p:cNvSpPr txBox="1"/>
          <p:nvPr/>
        </p:nvSpPr>
        <p:spPr>
          <a:xfrm>
            <a:off x="8978416" y="6533203"/>
            <a:ext cx="122278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693" b="0" i="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693" b="0" i="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693" b="0" i="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693" b="0" i="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693" b="0" i="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64" name="reg-badge-C1-text: C1"/>
          <p:cNvSpPr txBox="1"/>
          <p:nvPr/>
        </p:nvSpPr>
        <p:spPr>
          <a:xfrm>
            <a:off x="27585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5" name="config-C1-title-0: PLL / 时钟"/>
          <p:cNvSpPr txBox="1"/>
          <p:nvPr/>
        </p:nvSpPr>
        <p:spPr>
          <a:xfrm>
            <a:off x="287679" y="6020800"/>
            <a:ext cx="5769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1466" name="config-C1-title-1: 复位"/>
          <p:cNvSpPr txBox="1"/>
          <p:nvPr/>
        </p:nvSpPr>
        <p:spPr>
          <a:xfrm>
            <a:off x="42375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1467" name="reg-badge-C2-text: C2"/>
          <p:cNvSpPr txBox="1"/>
          <p:nvPr/>
        </p:nvSpPr>
        <p:spPr>
          <a:xfrm>
            <a:off x="99298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68" name="config-C2-title-0: DDR"/>
          <p:cNvSpPr txBox="1"/>
          <p:nvPr/>
        </p:nvSpPr>
        <p:spPr>
          <a:xfrm>
            <a:off x="1144058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69" name="config-C2-title-1: Controller"/>
          <p:cNvSpPr txBox="1"/>
          <p:nvPr/>
        </p:nvSpPr>
        <p:spPr>
          <a:xfrm>
            <a:off x="1028517" y="6129173"/>
            <a:ext cx="5295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1470" name="reg-badge-C3-text: C3"/>
          <p:cNvSpPr txBox="1"/>
          <p:nvPr/>
        </p:nvSpPr>
        <p:spPr>
          <a:xfrm>
            <a:off x="171010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71" name="config-C3-title-0: DDR"/>
          <p:cNvSpPr txBox="1"/>
          <p:nvPr/>
        </p:nvSpPr>
        <p:spPr>
          <a:xfrm>
            <a:off x="1861185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72" name="config-C3-title-1: PHY"/>
          <p:cNvSpPr txBox="1"/>
          <p:nvPr/>
        </p:nvSpPr>
        <p:spPr>
          <a:xfrm>
            <a:off x="1869271" y="6129173"/>
            <a:ext cx="2822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1473" name="reg-badge-C4-text: C4"/>
          <p:cNvSpPr txBox="1"/>
          <p:nvPr/>
        </p:nvSpPr>
        <p:spPr>
          <a:xfrm>
            <a:off x="242723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474" name="config-C4-title-0: LVDS"/>
          <p:cNvSpPr txBox="1"/>
          <p:nvPr/>
        </p:nvSpPr>
        <p:spPr>
          <a:xfrm>
            <a:off x="2557970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475" name="config-C4-title-1: RX"/>
          <p:cNvSpPr txBox="1"/>
          <p:nvPr/>
        </p:nvSpPr>
        <p:spPr>
          <a:xfrm>
            <a:off x="2617899" y="6129173"/>
            <a:ext cx="21927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1476" name="reg-badge-C9-text: C9"/>
          <p:cNvSpPr txBox="1"/>
          <p:nvPr/>
        </p:nvSpPr>
        <p:spPr>
          <a:xfrm>
            <a:off x="271780" y="6372064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477" name="config-C9-title-0: ISP"/>
          <p:cNvSpPr txBox="1"/>
          <p:nvPr/>
        </p:nvSpPr>
        <p:spPr>
          <a:xfrm>
            <a:off x="452278" y="6528799"/>
            <a:ext cx="2477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478" name="reg-badge-C10-text: C10"/>
          <p:cNvSpPr txBox="1"/>
          <p:nvPr/>
        </p:nvSpPr>
        <p:spPr>
          <a:xfrm>
            <a:off x="988906" y="6372064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479" name="config-C10-title-0: NPU"/>
          <p:cNvSpPr txBox="1"/>
          <p:nvPr/>
        </p:nvSpPr>
        <p:spPr>
          <a:xfrm>
            <a:off x="1148077" y="6474613"/>
            <a:ext cx="29041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1480" name="config-C10-title-1: 计算"/>
          <p:cNvSpPr txBox="1"/>
          <p:nvPr/>
        </p:nvSpPr>
        <p:spPr>
          <a:xfrm>
            <a:off x="1140883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481" name="reg-badge-C11-text: C11"/>
          <p:cNvSpPr txBox="1"/>
          <p:nvPr/>
        </p:nvSpPr>
        <p:spPr>
          <a:xfrm>
            <a:off x="1706034" y="6372064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482" name="config-C11-title-0: GB"/>
          <p:cNvSpPr txBox="1"/>
          <p:nvPr/>
        </p:nvSpPr>
        <p:spPr>
          <a:xfrm>
            <a:off x="1743413" y="6474613"/>
            <a:ext cx="53399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483" name="config-C11-title-1: 搬运"/>
          <p:cNvSpPr txBox="1"/>
          <p:nvPr/>
        </p:nvSpPr>
        <p:spPr>
          <a:xfrm>
            <a:off x="1858010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1484" name="reg-badge-C6-text: C6"/>
          <p:cNvSpPr txBox="1"/>
          <p:nvPr/>
        </p:nvSpPr>
        <p:spPr>
          <a:xfrm>
            <a:off x="3857414" y="5918251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485" name="config-C6-title-0: 帧写入"/>
          <p:cNvSpPr txBox="1"/>
          <p:nvPr/>
        </p:nvSpPr>
        <p:spPr>
          <a:xfrm>
            <a:off x="3958590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1486" name="config-C6-title-1: DMA"/>
          <p:cNvSpPr txBox="1"/>
          <p:nvPr/>
        </p:nvSpPr>
        <p:spPr>
          <a:xfrm>
            <a:off x="4007456" y="6129173"/>
            <a:ext cx="3086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487" name="reg-badge-C12-text: C12"/>
          <p:cNvSpPr txBox="1"/>
          <p:nvPr/>
        </p:nvSpPr>
        <p:spPr>
          <a:xfrm>
            <a:off x="2423160" y="6372065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488" name="config-C12-title-0: GB"/>
          <p:cNvSpPr txBox="1"/>
          <p:nvPr/>
        </p:nvSpPr>
        <p:spPr>
          <a:xfrm>
            <a:off x="2611797" y="6474613"/>
            <a:ext cx="2314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489" name="config-C12-title-1: 管理"/>
          <p:cNvSpPr txBox="1"/>
          <p:nvPr/>
        </p:nvSpPr>
        <p:spPr>
          <a:xfrm>
            <a:off x="257513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1490" name="reg-badge-C13-text: C13"/>
          <p:cNvSpPr txBox="1"/>
          <p:nvPr/>
        </p:nvSpPr>
        <p:spPr>
          <a:xfrm>
            <a:off x="3140286" y="6372065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491" name="config-C13-title-0: eMMC Host"/>
          <p:cNvSpPr txBox="1"/>
          <p:nvPr/>
        </p:nvSpPr>
        <p:spPr>
          <a:xfrm>
            <a:off x="3133069" y="6474613"/>
            <a:ext cx="62318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1492" name="config-C13-title-1: / DMA"/>
          <p:cNvSpPr txBox="1"/>
          <p:nvPr/>
        </p:nvSpPr>
        <p:spPr>
          <a:xfrm>
            <a:off x="3248708" y="6582986"/>
            <a:ext cx="39191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1493" name="reg-badge-C8-text: C8"/>
          <p:cNvSpPr txBox="1"/>
          <p:nvPr/>
        </p:nvSpPr>
        <p:spPr>
          <a:xfrm>
            <a:off x="5291666" y="5918252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494" name="config-C8-title-0: ROI 任务"/>
          <p:cNvSpPr txBox="1"/>
          <p:nvPr/>
        </p:nvSpPr>
        <p:spPr>
          <a:xfrm>
            <a:off x="5350277" y="6020800"/>
            <a:ext cx="4915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1495" name="config-C8-title-1: / 调度"/>
          <p:cNvSpPr txBox="1"/>
          <p:nvPr/>
        </p:nvSpPr>
        <p:spPr>
          <a:xfrm>
            <a:off x="5402021" y="6129173"/>
            <a:ext cx="38804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1496" name="reg-badge-C14-text: C14"/>
          <p:cNvSpPr txBox="1"/>
          <p:nvPr/>
        </p:nvSpPr>
        <p:spPr>
          <a:xfrm>
            <a:off x="3857413" y="6372065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497" name="config-C14-title-0: 压缩公共"/>
          <p:cNvSpPr txBox="1"/>
          <p:nvPr/>
        </p:nvSpPr>
        <p:spPr>
          <a:xfrm>
            <a:off x="3907790" y="6474613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压缩公共</a:t>
            </a:r>
          </a:p>
        </p:txBody>
      </p:sp>
      <p:sp>
        <p:nvSpPr>
          <p:cNvPr id="1498" name="config-C14-title-1: 控制"/>
          <p:cNvSpPr txBox="1"/>
          <p:nvPr/>
        </p:nvSpPr>
        <p:spPr>
          <a:xfrm>
            <a:off x="4009390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1499" name="reg-badge-C7-text: C7"/>
          <p:cNvSpPr txBox="1"/>
          <p:nvPr/>
        </p:nvSpPr>
        <p:spPr>
          <a:xfrm>
            <a:off x="4574539" y="5918252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500" name="config-C7-title-0: 帧输出"/>
          <p:cNvSpPr txBox="1"/>
          <p:nvPr/>
        </p:nvSpPr>
        <p:spPr>
          <a:xfrm>
            <a:off x="4675716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1501" name="config-C7-title-1: DMA"/>
          <p:cNvSpPr txBox="1"/>
          <p:nvPr/>
        </p:nvSpPr>
        <p:spPr>
          <a:xfrm>
            <a:off x="4696155" y="6129173"/>
            <a:ext cx="36552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502" name="reg-badge-C5-text: C5"/>
          <p:cNvSpPr txBox="1"/>
          <p:nvPr/>
        </p:nvSpPr>
        <p:spPr>
          <a:xfrm>
            <a:off x="3140286" y="5918252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503" name="config-C5-title-0: LVDS"/>
          <p:cNvSpPr txBox="1"/>
          <p:nvPr/>
        </p:nvSpPr>
        <p:spPr>
          <a:xfrm>
            <a:off x="3275097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504" name="config-C5-title-1: TX"/>
          <p:cNvSpPr txBox="1"/>
          <p:nvPr/>
        </p:nvSpPr>
        <p:spPr>
          <a:xfrm>
            <a:off x="3341079" y="6129173"/>
            <a:ext cx="20716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1505" name="reg-badge-C15-text: C15"/>
          <p:cNvSpPr txBox="1"/>
          <p:nvPr/>
        </p:nvSpPr>
        <p:spPr>
          <a:xfrm>
            <a:off x="455729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06" name="config-C15-title-0: 压缩器"/>
          <p:cNvSpPr txBox="1"/>
          <p:nvPr/>
        </p:nvSpPr>
        <p:spPr>
          <a:xfrm>
            <a:off x="4675717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1507" name="reg-badge-C16-text: C16"/>
          <p:cNvSpPr txBox="1"/>
          <p:nvPr/>
        </p:nvSpPr>
        <p:spPr>
          <a:xfrm>
            <a:off x="527441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08" name="config-C16-title-0: 解压器"/>
          <p:cNvSpPr txBox="1"/>
          <p:nvPr/>
        </p:nvSpPr>
        <p:spPr>
          <a:xfrm>
            <a:off x="5392843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1509" name="front-F0-t0: F0 · LLC"/>
          <p:cNvSpPr txBox="1"/>
          <p:nvPr/>
        </p:nvSpPr>
        <p:spPr>
          <a:xfrm>
            <a:off x="6423662" y="4319508"/>
            <a:ext cx="36067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1510" name="front-F1-t0: F1 · GB 搬运"/>
          <p:cNvSpPr txBox="1"/>
          <p:nvPr/>
        </p:nvSpPr>
        <p:spPr>
          <a:xfrm>
            <a:off x="7266830" y="4319508"/>
            <a:ext cx="53700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1511" name="front-F2-t0: F2 · 帧写"/>
          <p:cNvSpPr txBox="1"/>
          <p:nvPr/>
        </p:nvSpPr>
        <p:spPr>
          <a:xfrm>
            <a:off x="8276711" y="4319508"/>
            <a:ext cx="37991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1512" name="front-F3-t0: F3 · 帧读"/>
          <p:cNvSpPr txBox="1"/>
          <p:nvPr/>
        </p:nvSpPr>
        <p:spPr>
          <a:xfrm>
            <a:off x="9208044" y="4319508"/>
            <a:ext cx="37991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1513" name="front-adapt-t0: 共享压缩前端 · 四口区域选择 / 事务跟踪"/>
          <p:cNvSpPr txBox="1"/>
          <p:nvPr/>
        </p:nvSpPr>
        <p:spPr>
          <a:xfrm>
            <a:off x="7063335" y="4503912"/>
            <a:ext cx="192613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</a:t>
            </a:r>
            <a:r>
              <a:rPr sz="800" b="1" i="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800" b="1" i="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四口区域选择</a:t>
            </a:r>
            <a:r>
              <a:rPr sz="800" b="1" i="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b="1" i="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事务跟踪</a:t>
            </a:r>
            <a:endParaRPr sz="800" b="1" i="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14" name="badge-C14-text: C14"/>
          <p:cNvSpPr txBox="1"/>
          <p:nvPr/>
        </p:nvSpPr>
        <p:spPr>
          <a:xfrm>
            <a:off x="9658773" y="4525993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15" name="address-control-t0: 地址 / 事务"/>
          <p:cNvSpPr txBox="1"/>
          <p:nvPr/>
        </p:nvSpPr>
        <p:spPr>
          <a:xfrm>
            <a:off x="6276216" y="4810066"/>
            <a:ext cx="62170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1516" name="address-control-t1: AR / AW 映射"/>
          <p:cNvSpPr txBox="1"/>
          <p:nvPr/>
        </p:nvSpPr>
        <p:spPr>
          <a:xfrm>
            <a:off x="6279909" y="4933883"/>
            <a:ext cx="61431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1517" name="metadata-t0: 块地址 / 元数据"/>
          <p:cNvSpPr txBox="1"/>
          <p:nvPr/>
        </p:nvSpPr>
        <p:spPr>
          <a:xfrm>
            <a:off x="6202108" y="5223511"/>
            <a:ext cx="769916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1518" name="badge-C15-text: C15"/>
          <p:cNvSpPr txBox="1"/>
          <p:nvPr/>
        </p:nvSpPr>
        <p:spPr>
          <a:xfrm>
            <a:off x="7196352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19" name="compressor-title: 共享压缩器"/>
          <p:cNvSpPr txBox="1"/>
          <p:nvPr/>
        </p:nvSpPr>
        <p:spPr>
          <a:xfrm>
            <a:off x="7272867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1520" name="compressor-detail: W 写数据"/>
          <p:cNvSpPr txBox="1"/>
          <p:nvPr/>
        </p:nvSpPr>
        <p:spPr>
          <a:xfrm>
            <a:off x="7352287" y="5130851"/>
            <a:ext cx="4507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1521" name="badge-C16-text: C16"/>
          <p:cNvSpPr txBox="1"/>
          <p:nvPr/>
        </p:nvSpPr>
        <p:spPr>
          <a:xfrm>
            <a:off x="8102285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22" name="decompressor-title: 共享解压器"/>
          <p:cNvSpPr txBox="1"/>
          <p:nvPr/>
        </p:nvSpPr>
        <p:spPr>
          <a:xfrm>
            <a:off x="8178800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1523" name="decompressor-detail: R 读数据"/>
          <p:cNvSpPr txBox="1"/>
          <p:nvPr/>
        </p:nvSpPr>
        <p:spPr>
          <a:xfrm>
            <a:off x="8267033" y="5130851"/>
            <a:ext cx="43313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1524" name="plain-bypass-title: 普通数据旁路"/>
          <p:cNvSpPr txBox="1"/>
          <p:nvPr/>
        </p:nvSpPr>
        <p:spPr>
          <a:xfrm>
            <a:off x="9033933" y="5007848"/>
            <a:ext cx="7112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1525" name="plain-bypass-detail: W / R 原样"/>
          <p:cNvSpPr txBox="1"/>
          <p:nvPr/>
        </p:nvSpPr>
        <p:spPr>
          <a:xfrm>
            <a:off x="9131647" y="5130851"/>
            <a:ext cx="5157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1526" name="front-route-t0: 下游 AXI 路由 / R、B 响应匹配"/>
          <p:cNvSpPr txBox="1"/>
          <p:nvPr/>
        </p:nvSpPr>
        <p:spPr>
          <a:xfrm>
            <a:off x="7283945" y="5499592"/>
            <a:ext cx="148491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1527" name="b-response-label: B"/>
          <p:cNvSpPr txBox="1"/>
          <p:nvPr/>
        </p:nvSpPr>
        <p:spPr>
          <a:xfrm>
            <a:off x="6250331" y="4667420"/>
            <a:ext cx="13160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528" name="badge-C8-text: C8"/>
          <p:cNvSpPr txBox="1"/>
          <p:nvPr/>
        </p:nvSpPr>
        <p:spPr>
          <a:xfrm>
            <a:off x="10945706" y="4637753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529" name="roi-scheduler-title: ROI 任务表"/>
          <p:cNvSpPr txBox="1"/>
          <p:nvPr/>
        </p:nvSpPr>
        <p:spPr>
          <a:xfrm>
            <a:off x="10405300" y="4733528"/>
            <a:ext cx="593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1530" name="roi-scheduler-detail: 顺序调度"/>
          <p:cNvSpPr txBox="1"/>
          <p:nvPr/>
        </p:nvSpPr>
        <p:spPr>
          <a:xfrm>
            <a:off x="10481733" y="4849758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1531" name="badge-C7-text: C7"/>
          <p:cNvSpPr txBox="1"/>
          <p:nvPr/>
        </p:nvSpPr>
        <p:spPr>
          <a:xfrm>
            <a:off x="10945706" y="5027219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532" name="roi-vdma-title: 帧输出 DMA"/>
          <p:cNvSpPr txBox="1"/>
          <p:nvPr/>
        </p:nvSpPr>
        <p:spPr>
          <a:xfrm>
            <a:off x="10351476" y="5122994"/>
            <a:ext cx="70078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DMA</a:t>
            </a:r>
          </a:p>
        </p:txBody>
      </p:sp>
      <p:sp>
        <p:nvSpPr>
          <p:cNvPr id="1533" name="roi-vdma-detail: 二维 AXI 读"/>
          <p:cNvSpPr txBox="1"/>
          <p:nvPr/>
        </p:nvSpPr>
        <p:spPr>
          <a:xfrm>
            <a:off x="10439553" y="5239225"/>
            <a:ext cx="52462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1534" name="roi-fifo-t0: 像素整理"/>
          <p:cNvSpPr txBox="1"/>
          <p:nvPr/>
        </p:nvSpPr>
        <p:spPr>
          <a:xfrm>
            <a:off x="10447867" y="5411200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1535" name="roi-fifo-t1: 输出 FIFO"/>
          <p:cNvSpPr txBox="1"/>
          <p:nvPr/>
        </p:nvSpPr>
        <p:spPr>
          <a:xfrm>
            <a:off x="10473904" y="5535016"/>
            <a:ext cx="45592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1536" name="badge-C5-text: C5"/>
          <p:cNvSpPr txBox="1"/>
          <p:nvPr/>
        </p:nvSpPr>
        <p:spPr>
          <a:xfrm>
            <a:off x="10945706" y="5721486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537" name="lvds-tx-title: LVDS TX"/>
          <p:cNvSpPr txBox="1"/>
          <p:nvPr/>
        </p:nvSpPr>
        <p:spPr>
          <a:xfrm>
            <a:off x="10278533" y="5817261"/>
            <a:ext cx="84666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 封装/串化</a:t>
            </a:r>
          </a:p>
        </p:txBody>
      </p:sp>
      <p:sp>
        <p:nvSpPr>
          <p:cNvPr id="1538" name="lvds-tx-detail: 子图帧行封装"/>
          <p:cNvSpPr txBox="1"/>
          <p:nvPr/>
        </p:nvSpPr>
        <p:spPr>
          <a:xfrm>
            <a:off x="10393680" y="5933491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1539" name="legend-axi-interface-text: AXI 请求 / 响应"/>
          <p:cNvSpPr txBox="1"/>
          <p:nvPr/>
        </p:nvSpPr>
        <p:spPr>
          <a:xfrm>
            <a:off x="10484669" y="2706374"/>
            <a:ext cx="7133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 / 响应</a:t>
            </a:r>
          </a:p>
        </p:txBody>
      </p:sp>
      <p:sp>
        <p:nvSpPr>
          <p:cNvPr id="1540" name="legend-axi-request-text: AXI 请求方向"/>
          <p:cNvSpPr txBox="1"/>
          <p:nvPr/>
        </p:nvSpPr>
        <p:spPr>
          <a:xfrm>
            <a:off x="10536766" y="2868935"/>
            <a:ext cx="6091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1541" name="legend-gb-text: GB 局部读写"/>
          <p:cNvSpPr txBox="1"/>
          <p:nvPr/>
        </p:nvSpPr>
        <p:spPr>
          <a:xfrm>
            <a:off x="10550391" y="3031494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1542" name="legend-pixel-text: 像素流"/>
          <p:cNvSpPr txBox="1"/>
          <p:nvPr/>
        </p:nvSpPr>
        <p:spPr>
          <a:xfrm>
            <a:off x="10687448" y="3194054"/>
            <a:ext cx="6096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像素/串行流</a:t>
            </a:r>
          </a:p>
        </p:txBody>
      </p:sp>
      <p:sp>
        <p:nvSpPr>
          <p:cNvPr id="1543" name="legend-cfg-text: 配置 / 控制"/>
          <p:cNvSpPr txBox="1"/>
          <p:nvPr/>
        </p:nvSpPr>
        <p:spPr>
          <a:xfrm>
            <a:off x="10584055" y="3356615"/>
            <a:ext cx="5145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1544" name="legend-optional-text: eMMC 接口"/>
          <p:cNvSpPr txBox="1"/>
          <p:nvPr/>
        </p:nvSpPr>
        <p:spPr>
          <a:xfrm>
            <a:off x="10559208" y="3519174"/>
            <a:ext cx="56425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1545" name="legend-return: 单箭头接口：省略响应"/>
          <p:cNvSpPr txBox="1"/>
          <p:nvPr/>
        </p:nvSpPr>
        <p:spPr>
          <a:xfrm>
            <a:off x="10324763" y="3790650"/>
            <a:ext cx="8976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单箭头接口：省略响应</a:t>
            </a:r>
          </a:p>
        </p:txBody>
      </p:sp>
      <p:sp>
        <p:nvSpPr>
          <p:cNvPr id="1546" name="legend-status: 虚实与箭头方向独立"/>
          <p:cNvSpPr txBox="1"/>
          <p:nvPr/>
        </p:nvSpPr>
        <p:spPr>
          <a:xfrm>
            <a:off x="10369647" y="3878703"/>
            <a:ext cx="80791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虚实与箭头方向独立</a:t>
            </a:r>
          </a:p>
        </p:txBody>
      </p:sp>
      <p:sp>
        <p:nvSpPr>
          <p:cNvPr id="1547" name="legend-dashed"/>
          <p:cNvSpPr/>
          <p:nvPr/>
        </p:nvSpPr>
        <p:spPr>
          <a:xfrm>
            <a:off x="10265604" y="374296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48" name="legend-dashed-text: 虚线：规划 / 可选"/>
          <p:cNvSpPr txBox="1"/>
          <p:nvPr/>
        </p:nvSpPr>
        <p:spPr>
          <a:xfrm>
            <a:off x="10430167" y="3681734"/>
            <a:ext cx="8223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虚线：规划 / 可选</a:t>
            </a:r>
          </a:p>
        </p:txBody>
      </p:sp>
      <p:sp>
        <p:nvSpPr>
          <p:cNvPr id="1549" name="sensor-rx"/>
          <p:cNvSpPr/>
          <p:nvPr/>
        </p:nvSpPr>
        <p:spPr>
          <a:xfrm>
            <a:off x="11129433" y="1517549"/>
            <a:ext cx="385233" cy="1"/>
          </a:xfrm>
          <a:custGeom>
            <a:avLst/>
            <a:gdLst/>
            <a:ahLst/>
            <a:cxnLst/>
            <a:rect l="0" t="0" r="r" b="b"/>
            <a:pathLst>
              <a:path w="385233" h="1" fill="none">
                <a:moveTo>
                  <a:pt x="38523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50" name="tx-processor"/>
          <p:cNvSpPr/>
          <p:nvPr/>
        </p:nvSpPr>
        <p:spPr>
          <a:xfrm>
            <a:off x="11142133" y="5886349"/>
            <a:ext cx="338667" cy="1"/>
          </a:xfrm>
          <a:custGeom>
            <a:avLst/>
            <a:gdLst/>
            <a:ahLst/>
            <a:cxnLst/>
            <a:rect l="0" t="0" r="r" b="b"/>
            <a:pathLst>
              <a:path w="338667" h="1" fill="none">
                <a:moveTo>
                  <a:pt x="0" y="0"/>
                </a:moveTo>
                <a:lnTo>
                  <a:pt x="338667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1" name="image-sensor"/>
          <p:cNvSpPr/>
          <p:nvPr/>
        </p:nvSpPr>
        <p:spPr>
          <a:xfrm>
            <a:off x="12835467" y="13482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52" name="image-sensor-t0: 图像传感器"/>
          <p:cNvSpPr txBox="1"/>
          <p:nvPr/>
        </p:nvSpPr>
        <p:spPr>
          <a:xfrm>
            <a:off x="12870466" y="1379508"/>
            <a:ext cx="641201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图像传感器</a:t>
            </a:r>
          </a:p>
        </p:txBody>
      </p:sp>
      <p:sp>
        <p:nvSpPr>
          <p:cNvPr id="1553" name="image-sensor-t1: LVDS 输出"/>
          <p:cNvSpPr txBox="1"/>
          <p:nvPr/>
        </p:nvSpPr>
        <p:spPr>
          <a:xfrm>
            <a:off x="12943403" y="1521478"/>
            <a:ext cx="49532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输出</a:t>
            </a:r>
          </a:p>
        </p:txBody>
      </p:sp>
      <p:sp>
        <p:nvSpPr>
          <p:cNvPr id="1554" name="output-processor"/>
          <p:cNvSpPr/>
          <p:nvPr/>
        </p:nvSpPr>
        <p:spPr>
          <a:xfrm>
            <a:off x="12835467" y="5717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5" name="output-processor-t0: 后级处理"/>
          <p:cNvSpPr txBox="1"/>
          <p:nvPr/>
        </p:nvSpPr>
        <p:spPr>
          <a:xfrm>
            <a:off x="12869333" y="5748308"/>
            <a:ext cx="643467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后级处理</a:t>
            </a:r>
          </a:p>
        </p:txBody>
      </p:sp>
      <p:sp>
        <p:nvSpPr>
          <p:cNvPr id="1556" name="output-processor-t1: LVDS 接收"/>
          <p:cNvSpPr txBox="1"/>
          <p:nvPr/>
        </p:nvSpPr>
        <p:spPr>
          <a:xfrm>
            <a:off x="12869334" y="5890278"/>
            <a:ext cx="6434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559" name="object-005: SoC">
            <a:extLst>
              <a:ext uri="{FF2B5EF4-FFF2-40B4-BE49-F238E27FC236}">
                <a16:creationId xmlns:a16="http://schemas.microsoft.com/office/drawing/2014/main" id="{C6101E8D-31DD-4095-9680-7895433D2331}"/>
              </a:ext>
            </a:extLst>
          </p:cNvPr>
          <p:cNvSpPr txBox="1"/>
          <p:nvPr/>
        </p:nvSpPr>
        <p:spPr>
          <a:xfrm>
            <a:off x="4709583" y="608488"/>
            <a:ext cx="3386667" cy="2154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架构(v1) · LVDS 原始直通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sz="1400" b="1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58" name="lvds-io-region-title: LVDS I/O / 直通"/>
          <p:cNvSpPr txBox="1"/>
          <p:nvPr/>
        </p:nvSpPr>
        <p:spPr>
          <a:xfrm>
            <a:off x="11523583" y="861704"/>
            <a:ext cx="930434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I/O / 直通</a:t>
            </a:r>
          </a:p>
        </p:txBody>
      </p:sp>
      <p:sp>
        <p:nvSpPr>
          <p:cNvPr id="1559" name="lvds-io-region-status: PAD / PHY 待确认"/>
          <p:cNvSpPr txBox="1"/>
          <p:nvPr/>
        </p:nvSpPr>
        <p:spPr>
          <a:xfrm>
            <a:off x="11595213" y="1036320"/>
            <a:ext cx="787172" cy="1354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PAD / PHY 待确认</a:t>
            </a:r>
          </a:p>
        </p:txBody>
      </p:sp>
      <p:sp>
        <p:nvSpPr>
          <p:cNvPr id="1560" name="lvds-input-buffer"/>
          <p:cNvSpPr/>
          <p:nvPr/>
        </p:nvSpPr>
        <p:spPr>
          <a:xfrm>
            <a:off x="11514666" y="1348216"/>
            <a:ext cx="609600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1" name="lvds-input-title: LVDS 输入"/>
          <p:cNvSpPr txBox="1"/>
          <p:nvPr/>
        </p:nvSpPr>
        <p:spPr>
          <a:xfrm>
            <a:off x="11540170" y="1384657"/>
            <a:ext cx="55859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输入</a:t>
            </a:r>
          </a:p>
        </p:txBody>
      </p:sp>
      <p:sp>
        <p:nvSpPr>
          <p:cNvPr id="1562" name="lvds-input-detail: 电气缓冲"/>
          <p:cNvSpPr txBox="1"/>
          <p:nvPr/>
        </p:nvSpPr>
        <p:spPr>
          <a:xfrm>
            <a:off x="11607800" y="1524323"/>
            <a:ext cx="423333" cy="1354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电气缓冲</a:t>
            </a:r>
          </a:p>
        </p:txBody>
      </p:sp>
      <p:sp>
        <p:nvSpPr>
          <p:cNvPr id="1563" name="lvds-output-select"/>
          <p:cNvSpPr/>
          <p:nvPr/>
        </p:nvSpPr>
        <p:spPr>
          <a:xfrm>
            <a:off x="11480800" y="5717016"/>
            <a:ext cx="440267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4" name="lvds-select-title: 二选一"/>
          <p:cNvSpPr txBox="1"/>
          <p:nvPr/>
        </p:nvSpPr>
        <p:spPr>
          <a:xfrm>
            <a:off x="11511280" y="5753456"/>
            <a:ext cx="379307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二选一</a:t>
            </a:r>
          </a:p>
        </p:txBody>
      </p:sp>
      <p:sp>
        <p:nvSpPr>
          <p:cNvPr id="1565" name="lvds-select-detail: 数据/时钟"/>
          <p:cNvSpPr txBox="1"/>
          <p:nvPr/>
        </p:nvSpPr>
        <p:spPr>
          <a:xfrm>
            <a:off x="11489560" y="5900438"/>
            <a:ext cx="422746" cy="1246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数据/时钟</a:t>
            </a:r>
          </a:p>
        </p:txBody>
      </p:sp>
      <p:sp>
        <p:nvSpPr>
          <p:cNvPr id="1566" name="lvds-common-driver"/>
          <p:cNvSpPr/>
          <p:nvPr/>
        </p:nvSpPr>
        <p:spPr>
          <a:xfrm>
            <a:off x="12022666" y="5717016"/>
            <a:ext cx="609600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7" name="lvds-driver-title: LVDS 输出"/>
          <p:cNvSpPr txBox="1"/>
          <p:nvPr/>
        </p:nvSpPr>
        <p:spPr>
          <a:xfrm>
            <a:off x="12048170" y="5753456"/>
            <a:ext cx="55859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输出</a:t>
            </a:r>
          </a:p>
        </p:txBody>
      </p:sp>
      <p:sp>
        <p:nvSpPr>
          <p:cNvPr id="1568" name="lvds-driver-detail: 共用驱动"/>
          <p:cNvSpPr txBox="1"/>
          <p:nvPr/>
        </p:nvSpPr>
        <p:spPr>
          <a:xfrm>
            <a:off x="12115800" y="5893123"/>
            <a:ext cx="423333" cy="1354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共用驱动</a:t>
            </a:r>
          </a:p>
        </p:txBody>
      </p:sp>
      <p:sp>
        <p:nvSpPr>
          <p:cNvPr id="1569" name="lvds-mode-control"/>
          <p:cNvSpPr/>
          <p:nvPr/>
        </p:nvSpPr>
        <p:spPr>
          <a:xfrm>
            <a:off x="11514666" y="4944533"/>
            <a:ext cx="1117600" cy="406400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0" name="lvds-control-title: C5 · 模式选择"/>
          <p:cNvSpPr txBox="1"/>
          <p:nvPr/>
        </p:nvSpPr>
        <p:spPr>
          <a:xfrm>
            <a:off x="11713752" y="4956996"/>
            <a:ext cx="719429" cy="15714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C5 · 模式选择</a:t>
            </a:r>
          </a:p>
        </p:txBody>
      </p:sp>
      <p:sp>
        <p:nvSpPr>
          <p:cNvPr id="1571" name="lvds-control-priority: 软件选择 / 外部强制优先"/>
          <p:cNvSpPr txBox="1"/>
          <p:nvPr/>
        </p:nvSpPr>
        <p:spPr>
          <a:xfrm>
            <a:off x="11585011" y="5093818"/>
            <a:ext cx="97691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软件选择 / 外部强制优先</a:t>
            </a:r>
          </a:p>
        </p:txBody>
      </p:sp>
      <p:sp>
        <p:nvSpPr>
          <p:cNvPr id="1572" name="lvds-control-independent: 无需 CPU / DDR"/>
          <p:cNvSpPr txBox="1"/>
          <p:nvPr/>
        </p:nvSpPr>
        <p:spPr>
          <a:xfrm>
            <a:off x="11727267" y="5215738"/>
            <a:ext cx="692399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无需 CPU / DDR</a:t>
            </a:r>
          </a:p>
        </p:txBody>
      </p:sp>
      <p:sp>
        <p:nvSpPr>
          <p:cNvPr id="1573" name="lvds-force-external"/>
          <p:cNvSpPr/>
          <p:nvPr/>
        </p:nvSpPr>
        <p:spPr>
          <a:xfrm>
            <a:off x="12835466" y="4944533"/>
            <a:ext cx="711200" cy="406400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4" name="lvds-force-title: 外部强制"/>
          <p:cNvSpPr txBox="1"/>
          <p:nvPr/>
        </p:nvSpPr>
        <p:spPr>
          <a:xfrm>
            <a:off x="12945533" y="4963770"/>
            <a:ext cx="491067" cy="15714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外部强制</a:t>
            </a:r>
          </a:p>
        </p:txBody>
      </p:sp>
      <p:sp>
        <p:nvSpPr>
          <p:cNvPr id="1575" name="lvds-force-signal: BYPASS_FORCE"/>
          <p:cNvSpPr txBox="1"/>
          <p:nvPr/>
        </p:nvSpPr>
        <p:spPr>
          <a:xfrm>
            <a:off x="12870399" y="5111022"/>
            <a:ext cx="641334" cy="1246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BYPASS_FORCE</a:t>
            </a:r>
          </a:p>
        </p:txBody>
      </p:sp>
      <p:sp>
        <p:nvSpPr>
          <p:cNvPr id="1576" name="lvds-force-pin-status: 管脚待分配"/>
          <p:cNvSpPr txBox="1"/>
          <p:nvPr/>
        </p:nvSpPr>
        <p:spPr>
          <a:xfrm>
            <a:off x="12957386" y="5216008"/>
            <a:ext cx="467360" cy="1246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管脚待分配</a:t>
            </a:r>
          </a:p>
        </p:txBody>
      </p:sp>
      <p:sp>
        <p:nvSpPr>
          <p:cNvPr id="1577" name="lvds-bypass-title: 解串前串行旁路"/>
          <p:cNvSpPr txBox="1"/>
          <p:nvPr/>
        </p:nvSpPr>
        <p:spPr>
          <a:xfrm>
            <a:off x="11616266" y="3022939"/>
            <a:ext cx="812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解串前串行旁路</a:t>
            </a:r>
          </a:p>
        </p:txBody>
      </p:sp>
      <p:sp>
        <p:nvSpPr>
          <p:cNvPr id="1578" name="lvds-bypass-lanes: 128 对数据＋1 对时钟"/>
          <p:cNvSpPr txBox="1"/>
          <p:nvPr/>
        </p:nvSpPr>
        <p:spPr>
          <a:xfrm>
            <a:off x="11559646" y="3193627"/>
            <a:ext cx="926042" cy="1354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6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128 对数据＋1 对时钟</a:t>
            </a:r>
          </a:p>
        </p:txBody>
      </p:sp>
      <p:sp>
        <p:nvSpPr>
          <p:cNvPr id="1579" name="lvds-bypass-protocol: 保持传感器原始协议"/>
          <p:cNvSpPr txBox="1"/>
          <p:nvPr/>
        </p:nvSpPr>
        <p:spPr>
          <a:xfrm>
            <a:off x="11599333" y="3342640"/>
            <a:ext cx="846667" cy="1354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6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保持传感器原始协议</a:t>
            </a:r>
          </a:p>
        </p:txBody>
      </p:sp>
      <p:sp>
        <p:nvSpPr>
          <p:cNvPr id="1580" name="lvds-processor-compatibility: 需支持原始协议"/>
          <p:cNvSpPr txBox="1"/>
          <p:nvPr/>
        </p:nvSpPr>
        <p:spPr>
          <a:xfrm>
            <a:off x="12879493" y="6059288"/>
            <a:ext cx="623147" cy="1246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需支持原始协议</a:t>
            </a:r>
          </a:p>
        </p:txBody>
      </p:sp>
      <p:sp>
        <p:nvSpPr>
          <p:cNvPr id="1581" name="sensor-to-input-buffer"/>
          <p:cNvSpPr/>
          <p:nvPr/>
        </p:nvSpPr>
        <p:spPr>
          <a:xfrm>
            <a:off x="12124266" y="1517549"/>
            <a:ext cx="711200" cy="1"/>
          </a:xfrm>
          <a:custGeom>
            <a:avLst/>
            <a:gdLst/>
            <a:ahLst/>
            <a:cxnLst/>
            <a:rect l="0" t="0" r="r" b="b"/>
            <a:pathLst>
              <a:path w="711200" h="1" fill="none">
                <a:moveTo>
                  <a:pt x="711200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2" name="lvds-raw-bypass"/>
          <p:cNvSpPr/>
          <p:nvPr/>
        </p:nvSpPr>
        <p:spPr>
          <a:xfrm>
            <a:off x="11396133" y="1517549"/>
            <a:ext cx="203200" cy="4199467"/>
          </a:xfrm>
          <a:custGeom>
            <a:avLst/>
            <a:gdLst/>
            <a:ahLst/>
            <a:cxnLst/>
            <a:rect l="0" t="0" r="r" b="b"/>
            <a:pathLst>
              <a:path w="203200" h="4199467" fill="none">
                <a:moveTo>
                  <a:pt x="0" y="0"/>
                </a:moveTo>
                <a:lnTo>
                  <a:pt x="0" y="4070451"/>
                </a:lnTo>
                <a:lnTo>
                  <a:pt x="203200" y="4070451"/>
                </a:lnTo>
                <a:lnTo>
                  <a:pt x="203200" y="4199467"/>
                </a:lnTo>
              </a:path>
            </a:pathLst>
          </a:custGeom>
          <a:noFill/>
          <a:ln w="16256" cap="flat">
            <a:solidFill>
              <a:srgbClr val="B96043"/>
            </a:solidFill>
            <a:custDash>
              <a:ds d="291667" sp="1875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3" name="lvds-serial-branch"/>
          <p:cNvSpPr/>
          <p:nvPr/>
        </p:nvSpPr>
        <p:spPr>
          <a:xfrm>
            <a:off x="11379200" y="1500616"/>
            <a:ext cx="33867" cy="33867"/>
          </a:xfrm>
          <a:prstGeom prst="ellipse">
            <a:avLst/>
          </a:prstGeom>
          <a:solidFill>
            <a:srgbClr val="B96043"/>
          </a:solidFill>
          <a:ln w="3387" cap="flat">
            <a:solidFill>
              <a:srgbClr val="B9604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4" name="lvds-select-to-driver"/>
          <p:cNvSpPr/>
          <p:nvPr/>
        </p:nvSpPr>
        <p:spPr>
          <a:xfrm>
            <a:off x="11921066" y="58863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5" name="lvds-driver-to-processor"/>
          <p:cNvSpPr/>
          <p:nvPr/>
        </p:nvSpPr>
        <p:spPr>
          <a:xfrm>
            <a:off x="12632266" y="5886349"/>
            <a:ext cx="203200" cy="1"/>
          </a:xfrm>
          <a:custGeom>
            <a:avLst/>
            <a:gdLst/>
            <a:ahLst/>
            <a:cxnLst/>
            <a:rect l="0" t="0" r="r" b="b"/>
            <a:pathLst>
              <a:path w="203200" h="1" fill="none">
                <a:moveTo>
                  <a:pt x="0" y="0"/>
                </a:moveTo>
                <a:lnTo>
                  <a:pt x="2032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6" name="lvds-force-to-control"/>
          <p:cNvSpPr/>
          <p:nvPr/>
        </p:nvSpPr>
        <p:spPr>
          <a:xfrm>
            <a:off x="12632266" y="5147733"/>
            <a:ext cx="203200" cy="1"/>
          </a:xfrm>
          <a:custGeom>
            <a:avLst/>
            <a:gdLst/>
            <a:ahLst/>
            <a:cxnLst/>
            <a:rect l="0" t="0" r="r" b="b"/>
            <a:pathLst>
              <a:path w="203200" h="1" fill="none">
                <a:moveTo>
                  <a:pt x="203200" y="0"/>
                </a:moveTo>
                <a:lnTo>
                  <a:pt x="0" y="0"/>
                </a:lnTo>
              </a:path>
            </a:pathLst>
          </a:custGeom>
          <a:noFill/>
          <a:ln w="10837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7" name="lvds-control-to-select"/>
          <p:cNvSpPr/>
          <p:nvPr/>
        </p:nvSpPr>
        <p:spPr>
          <a:xfrm>
            <a:off x="11819466" y="5350933"/>
            <a:ext cx="33867" cy="366083"/>
          </a:xfrm>
          <a:custGeom>
            <a:avLst/>
            <a:gdLst/>
            <a:ahLst/>
            <a:cxnLst/>
            <a:rect l="0" t="0" r="r" b="b"/>
            <a:pathLst>
              <a:path w="33867" h="366083" fill="none">
                <a:moveTo>
                  <a:pt x="33867" y="0"/>
                </a:moveTo>
                <a:lnTo>
                  <a:pt x="33867" y="203200"/>
                </a:lnTo>
                <a:lnTo>
                  <a:pt x="0" y="203200"/>
                </a:lnTo>
                <a:lnTo>
                  <a:pt x="0" y="366083"/>
                </a:lnTo>
              </a:path>
            </a:pathLst>
          </a:custGeom>
          <a:noFill/>
          <a:ln w="10837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337009152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Moderate&quot;,&quot;Name&quot;:&quot;适中&quot;,&quot;Kind&quot;:&quot;System&quot;,&quot;OldGuidesSetting&quot;:{&quot;HeaderHeight&quot;:13.0,&quot;FooterHeight&quot;:6.0,&quot;SideMargin&quot;:4.0,&quot;TopMargin&quot;:0.0,&quot;BottomMargin&quot;:0.0,&quot;IntervalMargin&quot;:1.5}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14660</TotalTime>
  <Words>563</Words>
  <Application>Microsoft Office PowerPoint</Application>
  <PresentationFormat>宽屏</PresentationFormat>
  <Paragraphs>249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Microsoft YaHei</vt:lpstr>
      <vt:lpstr>Microsoft YaHei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2314981968@qq.com</dc:creator>
  <cp:lastModifiedBy>文尧 赵</cp:lastModifiedBy>
  <cp:revision>5912</cp:revision>
  <dcterms:created xsi:type="dcterms:W3CDTF">2019-11-26T03:41:00Z</dcterms:created>
  <dcterms:modified xsi:type="dcterms:W3CDTF">2026-10-22T08:33:54Z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BC69EB345F4F457288BFAD1BFA019858</vt:lpwstr>
  </property>
  <property fmtid="{D5CDD505-2E9C-101B-9397-08002B2CF9AE}" pid="3" name="KSOProductBuildVer">
    <vt:lpwstr>2052-12.1.0.25225</vt:lpwstr>
  </property>
</Properties>
</file>