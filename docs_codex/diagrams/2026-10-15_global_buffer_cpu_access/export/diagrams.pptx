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方案一：CPU 标量端不直接访问 GB"/>
          <p:cNvSpPr txBox="1"/>
          <p:nvPr/>
        </p:nvSpPr>
        <p:spPr>
          <a:xfrm>
            <a:off x="300038" y="88211"/>
            <a:ext cx="3506673" cy="336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方案一：CPU 标量端不直接访问 GB</a:t>
            </a:r>
          </a:p>
        </p:txBody>
      </p:sp>
      <p:sp>
        <p:nvSpPr>
          <p:cNvPr id="3" name="text-003: CPU 后处理前，由 Ara 转存到预留 SPM，或由搬运器转存到 DDR"/>
          <p:cNvSpPr txBox="1"/>
          <p:nvPr/>
        </p:nvSpPr>
        <p:spPr>
          <a:xfrm>
            <a:off x="300038" y="408851"/>
            <a:ext cx="4154496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后处理前，由 Ara 转存到预留 SPM，或由搬运器转存到 DDR</a:t>
            </a:r>
          </a:p>
        </p:txBody>
      </p:sp>
      <p:sp>
        <p:nvSpPr>
          <p:cNvPr id="4" name="host-domain"/>
          <p:cNvSpPr/>
          <p:nvPr/>
        </p:nvSpPr>
        <p:spPr>
          <a:xfrm>
            <a:off x="300038" y="800100"/>
            <a:ext cx="7550944" cy="2150269"/>
          </a:xfrm>
          <a:prstGeom prst="rect">
            <a:avLst/>
          </a:prstGeom>
          <a:solidFill>
            <a:srgbClr val="F8ECEC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 / Ara 计算与访存"/>
          <p:cNvSpPr txBox="1"/>
          <p:nvPr/>
        </p:nvSpPr>
        <p:spPr>
          <a:xfrm>
            <a:off x="425053" y="848106"/>
            <a:ext cx="1676436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/ Ara 计算与访存</a:t>
            </a:r>
          </a:p>
        </p:txBody>
      </p:sp>
      <p:sp>
        <p:nvSpPr>
          <p:cNvPr id="6" name="accelerator-domain"/>
          <p:cNvSpPr/>
          <p:nvPr/>
        </p:nvSpPr>
        <p:spPr>
          <a:xfrm>
            <a:off x="8901112" y="800100"/>
            <a:ext cx="3600450" cy="2150269"/>
          </a:xfrm>
          <a:prstGeom prst="rect">
            <a:avLst/>
          </a:prstGeom>
          <a:solidFill>
            <a:srgbClr val="ECF2F7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NPU 与显式搬运（规划）"/>
          <p:cNvSpPr txBox="1"/>
          <p:nvPr/>
        </p:nvSpPr>
        <p:spPr>
          <a:xfrm>
            <a:off x="9026128" y="848106"/>
            <a:ext cx="1823955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与显式搬运（规划）</a:t>
            </a:r>
          </a:p>
        </p:txBody>
      </p:sp>
      <p:sp>
        <p:nvSpPr>
          <p:cNvPr id="8" name="gb-domain"/>
          <p:cNvSpPr/>
          <p:nvPr/>
        </p:nvSpPr>
        <p:spPr>
          <a:xfrm>
            <a:off x="8901112" y="3100388"/>
            <a:ext cx="3600450" cy="2600325"/>
          </a:xfrm>
          <a:prstGeom prst="rect">
            <a:avLst/>
          </a:prstGeom>
          <a:solidFill>
            <a:srgbClr val="EEF7F3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独立片上共享存储（规划）"/>
          <p:cNvSpPr txBox="1"/>
          <p:nvPr/>
        </p:nvSpPr>
        <p:spPr>
          <a:xfrm>
            <a:off x="9766221" y="3154194"/>
            <a:ext cx="1820228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独立片上共享存储（规划）</a:t>
            </a:r>
          </a:p>
        </p:txBody>
      </p:sp>
      <p:sp>
        <p:nvSpPr>
          <p:cNvPr id="10" name="cpu"/>
          <p:cNvSpPr/>
          <p:nvPr/>
        </p:nvSpPr>
        <p:spPr>
          <a:xfrm>
            <a:off x="550069" y="1200150"/>
            <a:ext cx="1500188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CVA6"/>
          <p:cNvSpPr txBox="1"/>
          <p:nvPr/>
        </p:nvSpPr>
        <p:spPr>
          <a:xfrm>
            <a:off x="1049784" y="1273159"/>
            <a:ext cx="500758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text-012: 标量 load / store"/>
          <p:cNvSpPr txBox="1"/>
          <p:nvPr/>
        </p:nvSpPr>
        <p:spPr>
          <a:xfrm>
            <a:off x="746828" y="1484786"/>
            <a:ext cx="110667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标量 load / store</a:t>
            </a:r>
          </a:p>
        </p:txBody>
      </p:sp>
      <p:sp>
        <p:nvSpPr>
          <p:cNvPr id="13" name="text-013: GB 访问属性单独配置"/>
          <p:cNvSpPr txBox="1"/>
          <p:nvPr/>
        </p:nvSpPr>
        <p:spPr>
          <a:xfrm>
            <a:off x="612495" y="1674809"/>
            <a:ext cx="137533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访问属性单独配置</a:t>
            </a:r>
          </a:p>
        </p:txBody>
      </p:sp>
      <p:sp>
        <p:nvSpPr>
          <p:cNvPr id="14" name="ara"/>
          <p:cNvSpPr/>
          <p:nvPr/>
        </p:nvSpPr>
        <p:spPr>
          <a:xfrm>
            <a:off x="2800350" y="1200150"/>
            <a:ext cx="1400175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Ara"/>
          <p:cNvSpPr txBox="1"/>
          <p:nvPr/>
        </p:nvSpPr>
        <p:spPr>
          <a:xfrm>
            <a:off x="3319067" y="1368171"/>
            <a:ext cx="36274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6" name="text-016: RVV / 单一 AXI 出口"/>
          <p:cNvSpPr txBox="1"/>
          <p:nvPr/>
        </p:nvSpPr>
        <p:spPr>
          <a:xfrm>
            <a:off x="2862350" y="1579797"/>
            <a:ext cx="127617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/ 单一 AXI 出口</a:t>
            </a:r>
          </a:p>
        </p:txBody>
      </p:sp>
      <p:sp>
        <p:nvSpPr>
          <p:cNvPr id="17" name="filter"/>
          <p:cNvSpPr/>
          <p:nvPr/>
        </p:nvSpPr>
        <p:spPr>
          <a:xfrm>
            <a:off x="4700588" y="1200150"/>
            <a:ext cx="1300162" cy="750094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现有失效过滤"/>
          <p:cNvSpPr txBox="1"/>
          <p:nvPr/>
        </p:nvSpPr>
        <p:spPr>
          <a:xfrm>
            <a:off x="4825603" y="1368171"/>
            <a:ext cx="105013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现有失效过滤</a:t>
            </a:r>
          </a:p>
        </p:txBody>
      </p:sp>
      <p:sp>
        <p:nvSpPr>
          <p:cNvPr id="19" name="text-019: 关联 CVA6 L1D"/>
          <p:cNvSpPr txBox="1"/>
          <p:nvPr/>
        </p:nvSpPr>
        <p:spPr>
          <a:xfrm>
            <a:off x="4850341" y="1579797"/>
            <a:ext cx="100065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关联 CVA6 L1D</a:t>
            </a:r>
          </a:p>
        </p:txBody>
      </p:sp>
      <p:sp>
        <p:nvSpPr>
          <p:cNvPr id="20" name="split"/>
          <p:cNvSpPr/>
          <p:nvPr/>
        </p:nvSpPr>
        <p:spPr>
          <a:xfrm>
            <a:off x="6500812" y="1200150"/>
            <a:ext cx="1100138" cy="750094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地址分流"/>
          <p:cNvSpPr txBox="1"/>
          <p:nvPr/>
        </p:nvSpPr>
        <p:spPr>
          <a:xfrm>
            <a:off x="6675834" y="1368171"/>
            <a:ext cx="75009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2" name="text-022: 普通 / GB"/>
          <p:cNvSpPr txBox="1"/>
          <p:nvPr/>
        </p:nvSpPr>
        <p:spPr>
          <a:xfrm>
            <a:off x="6699998" y="1579797"/>
            <a:ext cx="701767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 / GB</a:t>
            </a:r>
          </a:p>
        </p:txBody>
      </p:sp>
      <p:sp>
        <p:nvSpPr>
          <p:cNvPr id="23" name="converter"/>
          <p:cNvSpPr/>
          <p:nvPr/>
        </p:nvSpPr>
        <p:spPr>
          <a:xfrm>
            <a:off x="3500438" y="2150269"/>
            <a:ext cx="2000250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Ara 普通路径宽度适配"/>
          <p:cNvSpPr txBox="1"/>
          <p:nvPr/>
        </p:nvSpPr>
        <p:spPr>
          <a:xfrm>
            <a:off x="3696630" y="2243280"/>
            <a:ext cx="1607865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普通路径宽度适配</a:t>
            </a:r>
          </a:p>
        </p:txBody>
      </p:sp>
      <p:sp>
        <p:nvSpPr>
          <p:cNvPr id="25" name="text-025: 32 × NrLanes → 64-bit"/>
          <p:cNvSpPr txBox="1"/>
          <p:nvPr/>
        </p:nvSpPr>
        <p:spPr>
          <a:xfrm>
            <a:off x="3771807" y="2454907"/>
            <a:ext cx="145751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32 × NrLanes → 64-bit</a:t>
            </a:r>
          </a:p>
        </p:txBody>
      </p:sp>
      <p:sp>
        <p:nvSpPr>
          <p:cNvPr id="26" name="interrupt"/>
          <p:cNvSpPr/>
          <p:nvPr/>
        </p:nvSpPr>
        <p:spPr>
          <a:xfrm>
            <a:off x="2200275" y="2350294"/>
            <a:ext cx="950119" cy="450056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外部中断"/>
          <p:cNvSpPr txBox="1"/>
          <p:nvPr/>
        </p:nvSpPr>
        <p:spPr>
          <a:xfrm>
            <a:off x="2300288" y="2368296"/>
            <a:ext cx="75009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</a:t>
            </a:r>
          </a:p>
        </p:txBody>
      </p:sp>
      <p:sp>
        <p:nvSpPr>
          <p:cNvPr id="28" name="text-028: PLIC / CLIC"/>
          <p:cNvSpPr txBox="1"/>
          <p:nvPr/>
        </p:nvSpPr>
        <p:spPr>
          <a:xfrm>
            <a:off x="2281656" y="2579922"/>
            <a:ext cx="78735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 / CLIC</a:t>
            </a:r>
          </a:p>
        </p:txBody>
      </p:sp>
      <p:sp>
        <p:nvSpPr>
          <p:cNvPr id="29" name="npu"/>
          <p:cNvSpPr/>
          <p:nvPr/>
        </p:nvSpPr>
        <p:spPr>
          <a:xfrm>
            <a:off x="9101138" y="1175147"/>
            <a:ext cx="1400175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NPU 计算"/>
          <p:cNvSpPr txBox="1"/>
          <p:nvPr/>
        </p:nvSpPr>
        <p:spPr>
          <a:xfrm>
            <a:off x="9414313" y="1343168"/>
            <a:ext cx="773823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1" name="text-031: GB 数据读写"/>
          <p:cNvSpPr txBox="1"/>
          <p:nvPr/>
        </p:nvSpPr>
        <p:spPr>
          <a:xfrm>
            <a:off x="9373590" y="1554794"/>
            <a:ext cx="85527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2" name="mover"/>
          <p:cNvSpPr/>
          <p:nvPr/>
        </p:nvSpPr>
        <p:spPr>
          <a:xfrm>
            <a:off x="10901362" y="1175147"/>
            <a:ext cx="1400175" cy="750094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DDR ↔ GB 搬运器"/>
          <p:cNvSpPr txBox="1"/>
          <p:nvPr/>
        </p:nvSpPr>
        <p:spPr>
          <a:xfrm>
            <a:off x="10917724" y="1343168"/>
            <a:ext cx="1367452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34" name="text-034: 引擎实现待定"/>
          <p:cNvSpPr txBox="1"/>
          <p:nvPr/>
        </p:nvSpPr>
        <p:spPr>
          <a:xfrm>
            <a:off x="11146393" y="1554794"/>
            <a:ext cx="91011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引擎实现待定</a:t>
            </a:r>
          </a:p>
        </p:txBody>
      </p:sp>
      <p:sp>
        <p:nvSpPr>
          <p:cNvPr id="35" name="device-regs"/>
          <p:cNvSpPr/>
          <p:nvPr/>
        </p:nvSpPr>
        <p:spPr>
          <a:xfrm>
            <a:off x="9101138" y="2400300"/>
            <a:ext cx="3200400" cy="400050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NPU / 搬运器控制与完成状态"/>
          <p:cNvSpPr txBox="1"/>
          <p:nvPr/>
        </p:nvSpPr>
        <p:spPr>
          <a:xfrm>
            <a:off x="9652894" y="2488311"/>
            <a:ext cx="2096887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搬运器控制与完成状态</a:t>
            </a:r>
          </a:p>
        </p:txBody>
      </p:sp>
      <p:sp>
        <p:nvSpPr>
          <p:cNvPr id="37" name="xbar"/>
          <p:cNvSpPr/>
          <p:nvPr/>
        </p:nvSpPr>
        <p:spPr>
          <a:xfrm>
            <a:off x="550069" y="3450431"/>
            <a:ext cx="7150894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主 AXI Xbar · 64-bit"/>
          <p:cNvSpPr txBox="1"/>
          <p:nvPr/>
        </p:nvSpPr>
        <p:spPr>
          <a:xfrm>
            <a:off x="3425670" y="3543443"/>
            <a:ext cx="139969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Xbar · 64-bit</a:t>
            </a:r>
          </a:p>
        </p:txBody>
      </p:sp>
      <p:sp>
        <p:nvSpPr>
          <p:cNvPr id="39" name="text-039: 普通内存、寄存器与外部存储目标"/>
          <p:cNvSpPr txBox="1"/>
          <p:nvPr/>
        </p:nvSpPr>
        <p:spPr>
          <a:xfrm>
            <a:off x="3085386" y="3755069"/>
            <a:ext cx="208026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普通内存、寄存器与外部存储目标</a:t>
            </a:r>
          </a:p>
        </p:txBody>
      </p:sp>
      <p:sp>
        <p:nvSpPr>
          <p:cNvPr id="40" name="arbiter"/>
          <p:cNvSpPr/>
          <p:nvPr/>
        </p:nvSpPr>
        <p:spPr>
          <a:xfrm>
            <a:off x="9051131" y="3400425"/>
            <a:ext cx="3250406" cy="750094"/>
          </a:xfrm>
          <a:prstGeom prst="rect">
            <a:avLst/>
          </a:prstGeom>
          <a:solidFill>
            <a:srgbClr val="D9EEE8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GB 多入口适配 / 仲裁 / bank 调度"/>
          <p:cNvSpPr txBox="1"/>
          <p:nvPr/>
        </p:nvSpPr>
        <p:spPr>
          <a:xfrm>
            <a:off x="9458682" y="3473434"/>
            <a:ext cx="243530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多入口适配 / 仲裁 / bank 调度</a:t>
            </a:r>
          </a:p>
        </p:txBody>
      </p:sp>
      <p:sp>
        <p:nvSpPr>
          <p:cNvPr id="42" name="text-042: 位宽、ID、字节选通；按需 CDC"/>
          <p:cNvSpPr txBox="1"/>
          <p:nvPr/>
        </p:nvSpPr>
        <p:spPr>
          <a:xfrm>
            <a:off x="9693649" y="3685061"/>
            <a:ext cx="196537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位宽、ID、字节选通；按需 CDC</a:t>
            </a:r>
          </a:p>
        </p:txBody>
      </p:sp>
      <p:sp>
        <p:nvSpPr>
          <p:cNvPr id="43" name="text-043: 逻辑入口数不等于 SRAM 物理端口数"/>
          <p:cNvSpPr txBox="1"/>
          <p:nvPr/>
        </p:nvSpPr>
        <p:spPr>
          <a:xfrm>
            <a:off x="9557097" y="3875084"/>
            <a:ext cx="223847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逻辑入口数不等于 SRAM 物理端口数</a:t>
            </a:r>
          </a:p>
        </p:txBody>
      </p:sp>
      <p:sp>
        <p:nvSpPr>
          <p:cNvPr id="44" name="sram"/>
          <p:cNvSpPr/>
          <p:nvPr/>
        </p:nvSpPr>
        <p:spPr>
          <a:xfrm>
            <a:off x="9301162" y="4800600"/>
            <a:ext cx="2850356" cy="800100"/>
          </a:xfrm>
          <a:prstGeom prst="rect">
            <a:avLst/>
          </a:prstGeom>
          <a:solidFill>
            <a:srgbClr val="D9EEE8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GB SRAM"/>
          <p:cNvSpPr txBox="1"/>
          <p:nvPr/>
        </p:nvSpPr>
        <p:spPr>
          <a:xfrm>
            <a:off x="10336640" y="4898612"/>
            <a:ext cx="779402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SRAM</a:t>
            </a:r>
          </a:p>
        </p:txBody>
      </p:sp>
      <p:sp>
        <p:nvSpPr>
          <p:cNvPr id="46" name="text-046: 独立物理存储 · 容量 / bank / 端口待定"/>
          <p:cNvSpPr txBox="1"/>
          <p:nvPr/>
        </p:nvSpPr>
        <p:spPr>
          <a:xfrm>
            <a:off x="9543556" y="5110239"/>
            <a:ext cx="236556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独立物理存储 · 容量 / bank / 端口待定</a:t>
            </a:r>
          </a:p>
        </p:txBody>
      </p:sp>
      <p:sp>
        <p:nvSpPr>
          <p:cNvPr id="47" name="text-047: CPU 可达时建议不缓存、不可执行"/>
          <p:cNvSpPr txBox="1"/>
          <p:nvPr/>
        </p:nvSpPr>
        <p:spPr>
          <a:xfrm>
            <a:off x="9678526" y="5300262"/>
            <a:ext cx="209562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可达时建议不缓存、不可执行</a:t>
            </a:r>
          </a:p>
        </p:txBody>
      </p:sp>
      <p:sp>
        <p:nvSpPr>
          <p:cNvPr id="48" name="regext"/>
          <p:cNvSpPr/>
          <p:nvPr/>
        </p:nvSpPr>
        <p:spPr>
          <a:xfrm>
            <a:off x="550069" y="4800600"/>
            <a:ext cx="1600200" cy="600075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Reg 扩展配置路径"/>
          <p:cNvSpPr txBox="1"/>
          <p:nvPr/>
        </p:nvSpPr>
        <p:spPr>
          <a:xfrm>
            <a:off x="678233" y="4893612"/>
            <a:ext cx="134387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 扩展配置路径</a:t>
            </a:r>
          </a:p>
        </p:txBody>
      </p:sp>
      <p:sp>
        <p:nvSpPr>
          <p:cNvPr id="50" name="text-050: AXI → Reg → RegExt"/>
          <p:cNvSpPr txBox="1"/>
          <p:nvPr/>
        </p:nvSpPr>
        <p:spPr>
          <a:xfrm>
            <a:off x="687570" y="5105238"/>
            <a:ext cx="1325197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 → RegExt</a:t>
            </a:r>
          </a:p>
        </p:txBody>
      </p:sp>
      <p:sp>
        <p:nvSpPr>
          <p:cNvPr id="51" name="atomics"/>
          <p:cNvSpPr/>
          <p:nvPr/>
        </p:nvSpPr>
        <p:spPr>
          <a:xfrm>
            <a:off x="3250406" y="4700588"/>
            <a:ext cx="1500188" cy="500062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现有原子适配"/>
          <p:cNvSpPr txBox="1"/>
          <p:nvPr/>
        </p:nvSpPr>
        <p:spPr>
          <a:xfrm>
            <a:off x="3475434" y="4743593"/>
            <a:ext cx="105013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现有原子适配</a:t>
            </a:r>
          </a:p>
        </p:txBody>
      </p:sp>
      <p:sp>
        <p:nvSpPr>
          <p:cNvPr id="53" name="text-053: 普通内存路径"/>
          <p:cNvSpPr txBox="1"/>
          <p:nvPr/>
        </p:nvSpPr>
        <p:spPr>
          <a:xfrm>
            <a:off x="3545443" y="4955219"/>
            <a:ext cx="91011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普通内存路径</a:t>
            </a:r>
          </a:p>
        </p:txBody>
      </p:sp>
      <p:sp>
        <p:nvSpPr>
          <p:cNvPr id="54" name="llc"/>
          <p:cNvSpPr/>
          <p:nvPr/>
        </p:nvSpPr>
        <p:spPr>
          <a:xfrm>
            <a:off x="3250406" y="5650706"/>
            <a:ext cx="1500188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LLC / SPM"/>
          <p:cNvSpPr txBox="1"/>
          <p:nvPr/>
        </p:nvSpPr>
        <p:spPr>
          <a:xfrm>
            <a:off x="3570220" y="5743718"/>
            <a:ext cx="86056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56" name="text-056: 预留 SPM 可作结果暂存"/>
          <p:cNvSpPr txBox="1"/>
          <p:nvPr/>
        </p:nvSpPr>
        <p:spPr>
          <a:xfrm>
            <a:off x="3246554" y="5955344"/>
            <a:ext cx="1507892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预留 SPM 可作结果暂存</a:t>
            </a:r>
          </a:p>
        </p:txBody>
      </p:sp>
      <p:sp>
        <p:nvSpPr>
          <p:cNvPr id="57" name="merge"/>
          <p:cNvSpPr/>
          <p:nvPr/>
        </p:nvSpPr>
        <p:spPr>
          <a:xfrm>
            <a:off x="5250656" y="5650706"/>
            <a:ext cx="1350169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DDR 合流边界"/>
          <p:cNvSpPr txBox="1"/>
          <p:nvPr/>
        </p:nvSpPr>
        <p:spPr>
          <a:xfrm>
            <a:off x="5382876" y="5743718"/>
            <a:ext cx="1085729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合流边界</a:t>
            </a:r>
          </a:p>
        </p:txBody>
      </p:sp>
      <p:sp>
        <p:nvSpPr>
          <p:cNvPr id="59" name="text-059: 端口 / 适配待定"/>
          <p:cNvSpPr txBox="1"/>
          <p:nvPr/>
        </p:nvSpPr>
        <p:spPr>
          <a:xfrm>
            <a:off x="5397929" y="5955344"/>
            <a:ext cx="105562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适配待定</a:t>
            </a:r>
          </a:p>
        </p:txBody>
      </p:sp>
      <p:sp>
        <p:nvSpPr>
          <p:cNvPr id="60" name="ddr-controller"/>
          <p:cNvSpPr/>
          <p:nvPr/>
        </p:nvSpPr>
        <p:spPr>
          <a:xfrm>
            <a:off x="7100888" y="5650706"/>
            <a:ext cx="1500188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Controller / PHY"/>
          <p:cNvSpPr txBox="1"/>
          <p:nvPr/>
        </p:nvSpPr>
        <p:spPr>
          <a:xfrm>
            <a:off x="7242702" y="5743718"/>
            <a:ext cx="1216558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 / PHY</a:t>
            </a:r>
          </a:p>
        </p:txBody>
      </p:sp>
      <p:sp>
        <p:nvSpPr>
          <p:cNvPr id="62" name="text-062: AXI4 接入"/>
          <p:cNvSpPr txBox="1"/>
          <p:nvPr/>
        </p:nvSpPr>
        <p:spPr>
          <a:xfrm>
            <a:off x="7509177" y="5955344"/>
            <a:ext cx="68360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AXI4 接入</a:t>
            </a:r>
          </a:p>
        </p:txBody>
      </p:sp>
      <p:sp>
        <p:nvSpPr>
          <p:cNvPr id="63" name="ddr"/>
          <p:cNvSpPr/>
          <p:nvPr/>
        </p:nvSpPr>
        <p:spPr>
          <a:xfrm>
            <a:off x="9151144" y="5950744"/>
            <a:ext cx="1400175" cy="500062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DDR"/>
          <p:cNvSpPr txBox="1"/>
          <p:nvPr/>
        </p:nvSpPr>
        <p:spPr>
          <a:xfrm>
            <a:off x="9630891" y="5993749"/>
            <a:ext cx="440680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5" name="text-065: 外部主存"/>
          <p:cNvSpPr txBox="1"/>
          <p:nvPr/>
        </p:nvSpPr>
        <p:spPr>
          <a:xfrm>
            <a:off x="9526191" y="6205376"/>
            <a:ext cx="65008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外部主存</a:t>
            </a:r>
          </a:p>
        </p:txBody>
      </p:sp>
      <p:sp>
        <p:nvSpPr>
          <p:cNvPr id="66" name="text-066: CPU 标量端无 GB 数据出口"/>
          <p:cNvSpPr txBox="1"/>
          <p:nvPr/>
        </p:nvSpPr>
        <p:spPr>
          <a:xfrm>
            <a:off x="5850731" y="4304738"/>
            <a:ext cx="1754704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标量端无 GB 数据出口</a:t>
            </a:r>
          </a:p>
        </p:txBody>
      </p:sp>
      <p:sp>
        <p:nvSpPr>
          <p:cNvPr id="67" name="text-067: GB 窗口不在主 Xbar 上映射"/>
          <p:cNvSpPr txBox="1"/>
          <p:nvPr/>
        </p:nvSpPr>
        <p:spPr>
          <a:xfrm>
            <a:off x="5850731" y="4525566"/>
            <a:ext cx="1639486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GB 窗口不在主 Xbar 上映射</a:t>
            </a:r>
          </a:p>
        </p:txBody>
      </p:sp>
      <p:sp>
        <p:nvSpPr>
          <p:cNvPr id="68" name="text-068: 64-bit"/>
          <p:cNvSpPr txBox="1"/>
          <p:nvPr/>
        </p:nvSpPr>
        <p:spPr>
          <a:xfrm>
            <a:off x="1400175" y="2099462"/>
            <a:ext cx="485608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64-bit</a:t>
            </a:r>
          </a:p>
        </p:txBody>
      </p:sp>
      <p:sp>
        <p:nvSpPr>
          <p:cNvPr id="69" name="text-069: RVV"/>
          <p:cNvSpPr txBox="1"/>
          <p:nvPr/>
        </p:nvSpPr>
        <p:spPr>
          <a:xfrm>
            <a:off x="2240448" y="1174347"/>
            <a:ext cx="369710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RVV</a:t>
            </a:r>
          </a:p>
        </p:txBody>
      </p:sp>
      <p:sp>
        <p:nvSpPr>
          <p:cNvPr id="70" name="text-070: 指令 / 结果"/>
          <p:cNvSpPr txBox="1"/>
          <p:nvPr/>
        </p:nvSpPr>
        <p:spPr>
          <a:xfrm>
            <a:off x="2088710" y="1501388"/>
            <a:ext cx="673186" cy="1760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结果</a:t>
            </a:r>
          </a:p>
        </p:txBody>
      </p:sp>
      <p:sp>
        <p:nvSpPr>
          <p:cNvPr id="71" name="text-071: L1D 失效请求"/>
          <p:cNvSpPr txBox="1"/>
          <p:nvPr/>
        </p:nvSpPr>
        <p:spPr>
          <a:xfrm>
            <a:off x="4000500" y="880910"/>
            <a:ext cx="811836" cy="1840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L1D 失效请求</a:t>
            </a:r>
          </a:p>
        </p:txBody>
      </p:sp>
      <p:sp>
        <p:nvSpPr>
          <p:cNvPr id="72" name="text-072: 32 × NrLanes"/>
          <p:cNvSpPr txBox="1"/>
          <p:nvPr/>
        </p:nvSpPr>
        <p:spPr>
          <a:xfrm>
            <a:off x="5050631" y="1950244"/>
            <a:ext cx="876828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32 × NrLanes</a:t>
            </a:r>
          </a:p>
        </p:txBody>
      </p:sp>
      <p:sp>
        <p:nvSpPr>
          <p:cNvPr id="73" name="text-073: 普通地址"/>
          <p:cNvSpPr txBox="1"/>
          <p:nvPr/>
        </p:nvSpPr>
        <p:spPr>
          <a:xfrm>
            <a:off x="5900738" y="2235279"/>
            <a:ext cx="625078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sp>
        <p:nvSpPr>
          <p:cNvPr id="74" name="text-074: 64-bit"/>
          <p:cNvSpPr txBox="1"/>
          <p:nvPr/>
        </p:nvSpPr>
        <p:spPr>
          <a:xfrm>
            <a:off x="4600575" y="2760345"/>
            <a:ext cx="449642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64-bit</a:t>
            </a:r>
          </a:p>
        </p:txBody>
      </p:sp>
      <p:sp>
        <p:nvSpPr>
          <p:cNvPr id="75" name="text-075: GB 地址"/>
          <p:cNvSpPr txBox="1"/>
          <p:nvPr/>
        </p:nvSpPr>
        <p:spPr>
          <a:xfrm>
            <a:off x="7900988" y="1365171"/>
            <a:ext cx="572337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地址</a:t>
            </a:r>
          </a:p>
        </p:txBody>
      </p:sp>
      <p:sp>
        <p:nvSpPr>
          <p:cNvPr id="76" name="text-076: Ara GB"/>
          <p:cNvSpPr txBox="1"/>
          <p:nvPr/>
        </p:nvSpPr>
        <p:spPr>
          <a:xfrm>
            <a:off x="8401050" y="3435829"/>
            <a:ext cx="479591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GB</a:t>
            </a:r>
          </a:p>
        </p:txBody>
      </p:sp>
      <p:sp>
        <p:nvSpPr>
          <p:cNvPr id="77" name="text-077: bank 读写服务"/>
          <p:cNvSpPr txBox="1"/>
          <p:nvPr/>
        </p:nvSpPr>
        <p:spPr>
          <a:xfrm>
            <a:off x="10801350" y="4354744"/>
            <a:ext cx="1001422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bank 读写服务</a:t>
            </a:r>
          </a:p>
        </p:txBody>
      </p:sp>
      <p:sp>
        <p:nvSpPr>
          <p:cNvPr id="78" name="text-078: 主存 / SPM"/>
          <p:cNvSpPr txBox="1"/>
          <p:nvPr/>
        </p:nvSpPr>
        <p:spPr>
          <a:xfrm>
            <a:off x="4100512" y="4274734"/>
            <a:ext cx="825931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主存 / SPM</a:t>
            </a:r>
          </a:p>
        </p:txBody>
      </p:sp>
      <p:sp>
        <p:nvSpPr>
          <p:cNvPr id="79" name="text-079: 搬运器 DDR 主口 · 绕过 LLC"/>
          <p:cNvSpPr txBox="1"/>
          <p:nvPr/>
        </p:nvSpPr>
        <p:spPr>
          <a:xfrm>
            <a:off x="8701088" y="6470009"/>
            <a:ext cx="1795060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搬运器 DDR 主口 · 绕过 LLC</a:t>
            </a:r>
          </a:p>
        </p:txBody>
      </p:sp>
      <p:sp>
        <p:nvSpPr>
          <p:cNvPr id="80" name="text-080: 配置访问"/>
          <p:cNvSpPr txBox="1"/>
          <p:nvPr/>
        </p:nvSpPr>
        <p:spPr>
          <a:xfrm>
            <a:off x="1400175" y="4379747"/>
            <a:ext cx="675084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81" name="text-081: RegExt 配置 / 状态访问"/>
          <p:cNvSpPr txBox="1"/>
          <p:nvPr/>
        </p:nvSpPr>
        <p:spPr>
          <a:xfrm>
            <a:off x="5600700" y="3019977"/>
            <a:ext cx="148161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RegExt 配置 / 状态访问</a:t>
            </a:r>
          </a:p>
        </p:txBody>
      </p:sp>
      <p:sp>
        <p:nvSpPr>
          <p:cNvPr id="82" name="text-082: 完成 / 错误 IRQ"/>
          <p:cNvSpPr txBox="1"/>
          <p:nvPr/>
        </p:nvSpPr>
        <p:spPr>
          <a:xfrm>
            <a:off x="5600700" y="2784948"/>
            <a:ext cx="103455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A05255"/>
                </a:solidFill>
                <a:latin typeface="Microsoft YaHei"/>
                <a:ea typeface="Microsoft YaHei"/>
                <a:cs typeface="Microsoft YaHei"/>
              </a:rPr>
              <a:t>完成 / 错误 IRQ</a:t>
            </a:r>
          </a:p>
        </p:txBody>
      </p:sp>
      <p:sp>
        <p:nvSpPr>
          <p:cNvPr id="83" name="text-083: 蓝灰：普通访存    绿：GB 访存    紫：指令 / 配置    暗红：完成"/>
          <p:cNvSpPr txBox="1"/>
          <p:nvPr/>
        </p:nvSpPr>
        <p:spPr>
          <a:xfrm>
            <a:off x="300038" y="6750444"/>
            <a:ext cx="5654988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蓝灰：普通访存    绿：GB 访存    紫：指令 / 配置    暗红：完成通知    橙：方案二新增主机通路</a:t>
            </a:r>
          </a:p>
        </p:txBody>
      </p:sp>
      <p:sp>
        <p:nvSpPr>
          <p:cNvPr id="84" name="text-084: 箭头表示请求方向，存储响应省略；RVV 双向线含结果。跳线处不连接。虚线框标示尚"/>
          <p:cNvSpPr txBox="1"/>
          <p:nvPr/>
        </p:nvSpPr>
        <p:spPr>
          <a:xfrm>
            <a:off x="300038" y="6955869"/>
            <a:ext cx="6005508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箭头表示请求方向，存储响应省略；RVV 双向线含结果。跳线处不连接。虚线框标示尚未实施的规划部件。</a:t>
            </a:r>
          </a:p>
        </p:txBody>
      </p:sp>
      <p:sp>
        <p:nvSpPr>
          <p:cNvPr id="85" name="cpu-memory"/>
          <p:cNvSpPr/>
          <p:nvPr/>
        </p:nvSpPr>
        <p:spPr>
          <a:xfrm>
            <a:off x="1300162" y="1950244"/>
            <a:ext cx="1" cy="1500188"/>
          </a:xfrm>
          <a:custGeom>
            <a:avLst/>
            <a:gdLst/>
            <a:ahLst/>
            <a:cxnLst/>
            <a:rect l="0" t="0" r="r" b="b"/>
            <a:pathLst>
              <a:path w="1" h="1500188" fill="none">
                <a:moveTo>
                  <a:pt x="0" y="0"/>
                </a:moveTo>
                <a:lnTo>
                  <a:pt x="0" y="1500188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pu-ara"/>
          <p:cNvSpPr/>
          <p:nvPr/>
        </p:nvSpPr>
        <p:spPr>
          <a:xfrm>
            <a:off x="2050256" y="1425178"/>
            <a:ext cx="750094" cy="1"/>
          </a:xfrm>
          <a:custGeom>
            <a:avLst/>
            <a:gdLst/>
            <a:ahLst/>
            <a:cxnLst/>
            <a:rect l="0" t="0" r="r" b="b"/>
            <a:pathLst>
              <a:path w="750094" h="1" fill="none">
                <a:moveTo>
                  <a:pt x="0" y="0"/>
                </a:moveTo>
                <a:lnTo>
                  <a:pt x="750094" y="0"/>
                </a:lnTo>
              </a:path>
            </a:pathLst>
          </a:custGeom>
          <a:noFill/>
          <a:ln w="14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ara-filter"/>
          <p:cNvSpPr/>
          <p:nvPr/>
        </p:nvSpPr>
        <p:spPr>
          <a:xfrm>
            <a:off x="4200525" y="1600200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ilter-split"/>
          <p:cNvSpPr/>
          <p:nvPr/>
        </p:nvSpPr>
        <p:spPr>
          <a:xfrm>
            <a:off x="6000750" y="1600200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ilter-invalidate"/>
          <p:cNvSpPr/>
          <p:nvPr/>
        </p:nvSpPr>
        <p:spPr>
          <a:xfrm>
            <a:off x="1300162" y="1085136"/>
            <a:ext cx="4050506" cy="115014"/>
          </a:xfrm>
          <a:custGeom>
            <a:avLst/>
            <a:gdLst/>
            <a:ahLst/>
            <a:cxnLst/>
            <a:rect l="0" t="0" r="r" b="b"/>
            <a:pathLst>
              <a:path w="4050506" h="115014" fill="none">
                <a:moveTo>
                  <a:pt x="4050506" y="115014"/>
                </a:moveTo>
                <a:lnTo>
                  <a:pt x="4050506" y="0"/>
                </a:lnTo>
                <a:lnTo>
                  <a:pt x="0" y="0"/>
                </a:lnTo>
                <a:lnTo>
                  <a:pt x="0" y="115014"/>
                </a:lnTo>
              </a:path>
            </a:pathLst>
          </a:custGeom>
          <a:noFill/>
          <a:ln w="14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split-normal"/>
          <p:cNvSpPr/>
          <p:nvPr/>
        </p:nvSpPr>
        <p:spPr>
          <a:xfrm>
            <a:off x="5500688" y="1950244"/>
            <a:ext cx="1300162" cy="500062"/>
          </a:xfrm>
          <a:custGeom>
            <a:avLst/>
            <a:gdLst/>
            <a:ahLst/>
            <a:cxnLst/>
            <a:rect l="0" t="0" r="r" b="b"/>
            <a:pathLst>
              <a:path w="1300162" h="500062" fill="none">
                <a:moveTo>
                  <a:pt x="1300162" y="0"/>
                </a:moveTo>
                <a:lnTo>
                  <a:pt x="1300162" y="500062"/>
                </a:lnTo>
                <a:lnTo>
                  <a:pt x="0" y="500062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nverter-xbar"/>
          <p:cNvSpPr/>
          <p:nvPr/>
        </p:nvSpPr>
        <p:spPr>
          <a:xfrm>
            <a:off x="4500562" y="2750344"/>
            <a:ext cx="1" cy="700088"/>
          </a:xfrm>
          <a:custGeom>
            <a:avLst/>
            <a:gdLst/>
            <a:ahLst/>
            <a:cxnLst/>
            <a:rect l="0" t="0" r="r" b="b"/>
            <a:pathLst>
              <a:path w="1" h="700088" fill="none">
                <a:moveTo>
                  <a:pt x="0" y="0"/>
                </a:moveTo>
                <a:lnTo>
                  <a:pt x="0" y="700088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plit-gb"/>
          <p:cNvSpPr/>
          <p:nvPr/>
        </p:nvSpPr>
        <p:spPr>
          <a:xfrm>
            <a:off x="7600950" y="1600200"/>
            <a:ext cx="1450181" cy="2050256"/>
          </a:xfrm>
          <a:custGeom>
            <a:avLst/>
            <a:gdLst/>
            <a:ahLst/>
            <a:cxnLst/>
            <a:rect l="0" t="0" r="r" b="b"/>
            <a:pathLst>
              <a:path w="1450181" h="2050256" fill="none">
                <a:moveTo>
                  <a:pt x="0" y="0"/>
                </a:moveTo>
                <a:lnTo>
                  <a:pt x="700088" y="0"/>
                </a:lnTo>
                <a:lnTo>
                  <a:pt x="700088" y="2050256"/>
                </a:lnTo>
                <a:lnTo>
                  <a:pt x="1450181" y="2050256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npu-gb"/>
          <p:cNvSpPr/>
          <p:nvPr/>
        </p:nvSpPr>
        <p:spPr>
          <a:xfrm>
            <a:off x="8851106" y="1550194"/>
            <a:ext cx="750094" cy="1850231"/>
          </a:xfrm>
          <a:custGeom>
            <a:avLst/>
            <a:gdLst/>
            <a:ahLst/>
            <a:cxnLst/>
            <a:rect l="0" t="0" r="r" b="b"/>
            <a:pathLst>
              <a:path w="750094" h="1850231" fill="none">
                <a:moveTo>
                  <a:pt x="250031" y="0"/>
                </a:moveTo>
                <a:lnTo>
                  <a:pt x="0" y="0"/>
                </a:lnTo>
                <a:lnTo>
                  <a:pt x="0" y="1700212"/>
                </a:lnTo>
                <a:lnTo>
                  <a:pt x="750094" y="1700212"/>
                </a:lnTo>
                <a:lnTo>
                  <a:pt x="750094" y="1850231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mover-gb"/>
          <p:cNvSpPr/>
          <p:nvPr/>
        </p:nvSpPr>
        <p:spPr>
          <a:xfrm>
            <a:off x="11801475" y="1800225"/>
            <a:ext cx="650081" cy="1600200"/>
          </a:xfrm>
          <a:custGeom>
            <a:avLst/>
            <a:gdLst/>
            <a:ahLst/>
            <a:cxnLst/>
            <a:rect l="0" t="0" r="r" b="b"/>
            <a:pathLst>
              <a:path w="650081" h="1600200" fill="none">
                <a:moveTo>
                  <a:pt x="500062" y="0"/>
                </a:moveTo>
                <a:lnTo>
                  <a:pt x="650081" y="0"/>
                </a:lnTo>
                <a:lnTo>
                  <a:pt x="650081" y="1450181"/>
                </a:lnTo>
                <a:lnTo>
                  <a:pt x="0" y="1450181"/>
                </a:lnTo>
                <a:lnTo>
                  <a:pt x="0" y="1600200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gb-sram"/>
          <p:cNvSpPr/>
          <p:nvPr/>
        </p:nvSpPr>
        <p:spPr>
          <a:xfrm>
            <a:off x="10676334" y="4150519"/>
            <a:ext cx="1" cy="650081"/>
          </a:xfrm>
          <a:custGeom>
            <a:avLst/>
            <a:gdLst/>
            <a:ahLst/>
            <a:cxnLst/>
            <a:rect l="0" t="0" r="r" b="b"/>
            <a:pathLst>
              <a:path w="1" h="650081" fill="none">
                <a:moveTo>
                  <a:pt x="0" y="0"/>
                </a:moveTo>
                <a:lnTo>
                  <a:pt x="0" y="650081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xbar-atomics"/>
          <p:cNvSpPr/>
          <p:nvPr/>
        </p:nvSpPr>
        <p:spPr>
          <a:xfrm>
            <a:off x="4000500" y="4050506"/>
            <a:ext cx="1" cy="650081"/>
          </a:xfrm>
          <a:custGeom>
            <a:avLst/>
            <a:gdLst/>
            <a:ahLst/>
            <a:cxnLst/>
            <a:rect l="0" t="0" r="r" b="b"/>
            <a:pathLst>
              <a:path w="1" h="650081" fill="none">
                <a:moveTo>
                  <a:pt x="0" y="0"/>
                </a:moveTo>
                <a:lnTo>
                  <a:pt x="0" y="650081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atomics-llc"/>
          <p:cNvSpPr/>
          <p:nvPr/>
        </p:nvSpPr>
        <p:spPr>
          <a:xfrm>
            <a:off x="4000500" y="5200650"/>
            <a:ext cx="1" cy="450056"/>
          </a:xfrm>
          <a:custGeom>
            <a:avLst/>
            <a:gdLst/>
            <a:ahLst/>
            <a:cxnLst/>
            <a:rect l="0" t="0" r="r" b="b"/>
            <a:pathLst>
              <a:path w="1" h="450056" fill="none">
                <a:moveTo>
                  <a:pt x="0" y="0"/>
                </a:moveTo>
                <a:lnTo>
                  <a:pt x="0" y="450056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llc-ddr"/>
          <p:cNvSpPr/>
          <p:nvPr/>
        </p:nvSpPr>
        <p:spPr>
          <a:xfrm>
            <a:off x="4750594" y="5950744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erge-controller"/>
          <p:cNvSpPr/>
          <p:nvPr/>
        </p:nvSpPr>
        <p:spPr>
          <a:xfrm>
            <a:off x="6600825" y="5950744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ontroller-ddr"/>
          <p:cNvSpPr/>
          <p:nvPr/>
        </p:nvSpPr>
        <p:spPr>
          <a:xfrm>
            <a:off x="8601075" y="5950744"/>
            <a:ext cx="550069" cy="250031"/>
          </a:xfrm>
          <a:custGeom>
            <a:avLst/>
            <a:gdLst/>
            <a:ahLst/>
            <a:cxnLst/>
            <a:rect l="0" t="0" r="r" b="b"/>
            <a:pathLst>
              <a:path w="550069" h="250031" fill="none">
                <a:moveTo>
                  <a:pt x="0" y="0"/>
                </a:moveTo>
                <a:lnTo>
                  <a:pt x="250031" y="0"/>
                </a:lnTo>
                <a:lnTo>
                  <a:pt x="250031" y="250031"/>
                </a:lnTo>
                <a:lnTo>
                  <a:pt x="550069" y="250031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over-ddr"/>
          <p:cNvSpPr/>
          <p:nvPr/>
        </p:nvSpPr>
        <p:spPr>
          <a:xfrm>
            <a:off x="5925741" y="1400175"/>
            <a:ext cx="6675834" cy="5300662"/>
          </a:xfrm>
          <a:custGeom>
            <a:avLst/>
            <a:gdLst/>
            <a:ahLst/>
            <a:cxnLst/>
            <a:rect l="0" t="0" r="r" b="b"/>
            <a:pathLst>
              <a:path w="6675834" h="5300662" fill="none">
                <a:moveTo>
                  <a:pt x="6375797" y="0"/>
                </a:moveTo>
                <a:lnTo>
                  <a:pt x="6675834" y="0"/>
                </a:lnTo>
                <a:lnTo>
                  <a:pt x="6675834" y="5300662"/>
                </a:lnTo>
                <a:lnTo>
                  <a:pt x="0" y="5300662"/>
                </a:lnTo>
                <a:lnTo>
                  <a:pt x="0" y="4850606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xbar-reg"/>
          <p:cNvSpPr/>
          <p:nvPr/>
        </p:nvSpPr>
        <p:spPr>
          <a:xfrm>
            <a:off x="1300162" y="4050506"/>
            <a:ext cx="1" cy="750094"/>
          </a:xfrm>
          <a:custGeom>
            <a:avLst/>
            <a:gdLst/>
            <a:ahLst/>
            <a:cxnLst/>
            <a:rect l="0" t="0" r="r" b="b"/>
            <a:pathLst>
              <a:path w="1" h="750094" fill="none">
                <a:moveTo>
                  <a:pt x="0" y="0"/>
                </a:moveTo>
                <a:lnTo>
                  <a:pt x="0" y="750094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g-config"/>
          <p:cNvSpPr/>
          <p:nvPr/>
        </p:nvSpPr>
        <p:spPr>
          <a:xfrm>
            <a:off x="200025" y="2556986"/>
            <a:ext cx="8901112" cy="2493645"/>
          </a:xfrm>
          <a:custGeom>
            <a:avLst/>
            <a:gdLst/>
            <a:ahLst/>
            <a:cxnLst/>
            <a:rect l="0" t="0" r="r" b="b"/>
            <a:pathLst>
              <a:path w="8901112" h="2493645" fill="none">
                <a:moveTo>
                  <a:pt x="350044" y="2493645"/>
                </a:moveTo>
                <a:lnTo>
                  <a:pt x="0" y="2493645"/>
                </a:lnTo>
                <a:lnTo>
                  <a:pt x="0" y="693420"/>
                </a:lnTo>
                <a:lnTo>
                  <a:pt x="1065133" y="693420"/>
                </a:lnTo>
                <a:cubicBezTo>
                  <a:pt x="1088469" y="650081"/>
                  <a:pt x="1111806" y="650081"/>
                  <a:pt x="1135142" y="693420"/>
                </a:cubicBezTo>
                <a:lnTo>
                  <a:pt x="4265533" y="693420"/>
                </a:lnTo>
                <a:cubicBezTo>
                  <a:pt x="4288869" y="650081"/>
                  <a:pt x="4312206" y="650081"/>
                  <a:pt x="4335542" y="693420"/>
                </a:cubicBezTo>
                <a:lnTo>
                  <a:pt x="8066008" y="693420"/>
                </a:lnTo>
                <a:cubicBezTo>
                  <a:pt x="8089344" y="650081"/>
                  <a:pt x="8112681" y="650081"/>
                  <a:pt x="8136017" y="693420"/>
                </a:cubicBezTo>
                <a:lnTo>
                  <a:pt x="8501062" y="693420"/>
                </a:lnTo>
                <a:lnTo>
                  <a:pt x="8501062" y="43339"/>
                </a:lnTo>
                <a:lnTo>
                  <a:pt x="8616077" y="43339"/>
                </a:lnTo>
                <a:cubicBezTo>
                  <a:pt x="8639413" y="0"/>
                  <a:pt x="8662749" y="0"/>
                  <a:pt x="8686086" y="43339"/>
                </a:cubicBezTo>
                <a:lnTo>
                  <a:pt x="8901112" y="43339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gs-npu"/>
          <p:cNvSpPr/>
          <p:nvPr/>
        </p:nvSpPr>
        <p:spPr>
          <a:xfrm>
            <a:off x="9401175" y="1925241"/>
            <a:ext cx="1" cy="475059"/>
          </a:xfrm>
          <a:custGeom>
            <a:avLst/>
            <a:gdLst/>
            <a:ahLst/>
            <a:cxnLst/>
            <a:rect l="0" t="0" r="r" b="b"/>
            <a:pathLst>
              <a:path w="1" h="475059" fill="none">
                <a:moveTo>
                  <a:pt x="0" y="475059"/>
                </a:moveTo>
                <a:lnTo>
                  <a:pt x="0" y="0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gs-mover"/>
          <p:cNvSpPr/>
          <p:nvPr/>
        </p:nvSpPr>
        <p:spPr>
          <a:xfrm>
            <a:off x="11151394" y="1925241"/>
            <a:ext cx="1" cy="475059"/>
          </a:xfrm>
          <a:custGeom>
            <a:avLst/>
            <a:gdLst/>
            <a:ahLst/>
            <a:cxnLst/>
            <a:rect l="0" t="0" r="r" b="b"/>
            <a:pathLst>
              <a:path w="1" h="475059" fill="none">
                <a:moveTo>
                  <a:pt x="0" y="475059"/>
                </a:moveTo>
                <a:lnTo>
                  <a:pt x="0" y="0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device-irq"/>
          <p:cNvSpPr/>
          <p:nvPr/>
        </p:nvSpPr>
        <p:spPr>
          <a:xfrm>
            <a:off x="2950369" y="2682002"/>
            <a:ext cx="6150769" cy="318373"/>
          </a:xfrm>
          <a:custGeom>
            <a:avLst/>
            <a:gdLst/>
            <a:ahLst/>
            <a:cxnLst/>
            <a:rect l="0" t="0" r="r" b="b"/>
            <a:pathLst>
              <a:path w="6150769" h="318373" fill="none">
                <a:moveTo>
                  <a:pt x="6150769" y="43339"/>
                </a:moveTo>
                <a:lnTo>
                  <a:pt x="5935742" y="43339"/>
                </a:lnTo>
                <a:cubicBezTo>
                  <a:pt x="5912406" y="0"/>
                  <a:pt x="5889069" y="0"/>
                  <a:pt x="5865733" y="43339"/>
                </a:cubicBezTo>
                <a:lnTo>
                  <a:pt x="5785723" y="43339"/>
                </a:lnTo>
                <a:cubicBezTo>
                  <a:pt x="5762387" y="0"/>
                  <a:pt x="5739051" y="0"/>
                  <a:pt x="5715714" y="43339"/>
                </a:cubicBezTo>
                <a:lnTo>
                  <a:pt x="5600700" y="43339"/>
                </a:lnTo>
                <a:lnTo>
                  <a:pt x="5600700" y="318373"/>
                </a:lnTo>
                <a:lnTo>
                  <a:pt x="5385673" y="318373"/>
                </a:lnTo>
                <a:cubicBezTo>
                  <a:pt x="5362337" y="275034"/>
                  <a:pt x="5339001" y="275034"/>
                  <a:pt x="5315664" y="318373"/>
                </a:cubicBezTo>
                <a:lnTo>
                  <a:pt x="1585198" y="318373"/>
                </a:lnTo>
                <a:cubicBezTo>
                  <a:pt x="1561862" y="275034"/>
                  <a:pt x="1538526" y="275034"/>
                  <a:pt x="1515189" y="318373"/>
                </a:cubicBezTo>
                <a:lnTo>
                  <a:pt x="0" y="318373"/>
                </a:lnTo>
                <a:lnTo>
                  <a:pt x="0" y="118348"/>
                </a:lnTo>
              </a:path>
            </a:pathLst>
          </a:custGeom>
          <a:noFill/>
          <a:ln w="14002" cap="flat">
            <a:solidFill>
              <a:srgbClr val="A05255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irq-cpu"/>
          <p:cNvSpPr/>
          <p:nvPr/>
        </p:nvSpPr>
        <p:spPr>
          <a:xfrm>
            <a:off x="400050" y="1650206"/>
            <a:ext cx="1800225" cy="925116"/>
          </a:xfrm>
          <a:custGeom>
            <a:avLst/>
            <a:gdLst/>
            <a:ahLst/>
            <a:cxnLst/>
            <a:rect l="0" t="0" r="r" b="b"/>
            <a:pathLst>
              <a:path w="1800225" h="925116" fill="none">
                <a:moveTo>
                  <a:pt x="1800225" y="925116"/>
                </a:moveTo>
                <a:lnTo>
                  <a:pt x="935117" y="925116"/>
                </a:lnTo>
                <a:cubicBezTo>
                  <a:pt x="911781" y="881777"/>
                  <a:pt x="888444" y="881777"/>
                  <a:pt x="865108" y="925116"/>
                </a:cubicBezTo>
                <a:lnTo>
                  <a:pt x="0" y="925116"/>
                </a:lnTo>
                <a:lnTo>
                  <a:pt x="0" y="0"/>
                </a:lnTo>
                <a:lnTo>
                  <a:pt x="150019" y="0"/>
                </a:lnTo>
              </a:path>
            </a:pathLst>
          </a:custGeom>
          <a:noFill/>
          <a:ln w="14002" cap="flat">
            <a:solidFill>
              <a:srgbClr val="A05255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方案二：CPU 通过 64-bit 主机口访问 GB"/>
          <p:cNvSpPr txBox="1"/>
          <p:nvPr/>
        </p:nvSpPr>
        <p:spPr>
          <a:xfrm>
            <a:off x="300038" y="88211"/>
            <a:ext cx="3967965" cy="336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方案二：CPU 通过 64-bit 主机口访问 GB</a:t>
            </a:r>
          </a:p>
        </p:txBody>
      </p:sp>
      <p:sp>
        <p:nvSpPr>
          <p:cNvPr id="3" name="text-003: 少量结果可直接读取；反复排序时复制到 CPU 私有工作区"/>
          <p:cNvSpPr txBox="1"/>
          <p:nvPr/>
        </p:nvSpPr>
        <p:spPr>
          <a:xfrm>
            <a:off x="300038" y="408851"/>
            <a:ext cx="3698994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少量结果可直接读取；反复排序时复制到 CPU 私有工作区</a:t>
            </a:r>
          </a:p>
        </p:txBody>
      </p:sp>
      <p:sp>
        <p:nvSpPr>
          <p:cNvPr id="4" name="host-domain"/>
          <p:cNvSpPr/>
          <p:nvPr/>
        </p:nvSpPr>
        <p:spPr>
          <a:xfrm>
            <a:off x="300038" y="800100"/>
            <a:ext cx="7550944" cy="2150269"/>
          </a:xfrm>
          <a:prstGeom prst="rect">
            <a:avLst/>
          </a:prstGeom>
          <a:solidFill>
            <a:srgbClr val="F8ECEC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 / Ara 计算与访存"/>
          <p:cNvSpPr txBox="1"/>
          <p:nvPr/>
        </p:nvSpPr>
        <p:spPr>
          <a:xfrm>
            <a:off x="425053" y="848106"/>
            <a:ext cx="1676436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/ Ara 计算与访存</a:t>
            </a:r>
          </a:p>
        </p:txBody>
      </p:sp>
      <p:sp>
        <p:nvSpPr>
          <p:cNvPr id="6" name="accelerator-domain"/>
          <p:cNvSpPr/>
          <p:nvPr/>
        </p:nvSpPr>
        <p:spPr>
          <a:xfrm>
            <a:off x="8901112" y="800100"/>
            <a:ext cx="3600450" cy="2150269"/>
          </a:xfrm>
          <a:prstGeom prst="rect">
            <a:avLst/>
          </a:prstGeom>
          <a:solidFill>
            <a:srgbClr val="ECF2F7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NPU 与显式搬运（规划）"/>
          <p:cNvSpPr txBox="1"/>
          <p:nvPr/>
        </p:nvSpPr>
        <p:spPr>
          <a:xfrm>
            <a:off x="9026128" y="848106"/>
            <a:ext cx="1823955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与显式搬运（规划）</a:t>
            </a:r>
          </a:p>
        </p:txBody>
      </p:sp>
      <p:sp>
        <p:nvSpPr>
          <p:cNvPr id="8" name="gb-domain"/>
          <p:cNvSpPr/>
          <p:nvPr/>
        </p:nvSpPr>
        <p:spPr>
          <a:xfrm>
            <a:off x="8901112" y="3100388"/>
            <a:ext cx="3600450" cy="2600325"/>
          </a:xfrm>
          <a:prstGeom prst="rect">
            <a:avLst/>
          </a:prstGeom>
          <a:solidFill>
            <a:srgbClr val="EEF7F3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独立片上共享存储（规划）"/>
          <p:cNvSpPr txBox="1"/>
          <p:nvPr/>
        </p:nvSpPr>
        <p:spPr>
          <a:xfrm>
            <a:off x="9766221" y="3154194"/>
            <a:ext cx="1820228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独立片上共享存储（规划）</a:t>
            </a:r>
          </a:p>
        </p:txBody>
      </p:sp>
      <p:sp>
        <p:nvSpPr>
          <p:cNvPr id="10" name="cpu"/>
          <p:cNvSpPr/>
          <p:nvPr/>
        </p:nvSpPr>
        <p:spPr>
          <a:xfrm>
            <a:off x="550069" y="1200150"/>
            <a:ext cx="1500188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CVA6"/>
          <p:cNvSpPr txBox="1"/>
          <p:nvPr/>
        </p:nvSpPr>
        <p:spPr>
          <a:xfrm>
            <a:off x="1049784" y="1273159"/>
            <a:ext cx="500758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text-012: 标量 load / store"/>
          <p:cNvSpPr txBox="1"/>
          <p:nvPr/>
        </p:nvSpPr>
        <p:spPr>
          <a:xfrm>
            <a:off x="746828" y="1484786"/>
            <a:ext cx="110667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标量 load / store</a:t>
            </a:r>
          </a:p>
        </p:txBody>
      </p:sp>
      <p:sp>
        <p:nvSpPr>
          <p:cNvPr id="13" name="text-013: GB 访问属性单独配置"/>
          <p:cNvSpPr txBox="1"/>
          <p:nvPr/>
        </p:nvSpPr>
        <p:spPr>
          <a:xfrm>
            <a:off x="612495" y="1674809"/>
            <a:ext cx="137533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访问属性单独配置</a:t>
            </a:r>
          </a:p>
        </p:txBody>
      </p:sp>
      <p:sp>
        <p:nvSpPr>
          <p:cNvPr id="14" name="ara"/>
          <p:cNvSpPr/>
          <p:nvPr/>
        </p:nvSpPr>
        <p:spPr>
          <a:xfrm>
            <a:off x="2800350" y="1200150"/>
            <a:ext cx="1400175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Ara"/>
          <p:cNvSpPr txBox="1"/>
          <p:nvPr/>
        </p:nvSpPr>
        <p:spPr>
          <a:xfrm>
            <a:off x="3319067" y="1368171"/>
            <a:ext cx="36274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6" name="text-016: RVV / 单一 AXI 出口"/>
          <p:cNvSpPr txBox="1"/>
          <p:nvPr/>
        </p:nvSpPr>
        <p:spPr>
          <a:xfrm>
            <a:off x="2862350" y="1579797"/>
            <a:ext cx="127617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/ 单一 AXI 出口</a:t>
            </a:r>
          </a:p>
        </p:txBody>
      </p:sp>
      <p:sp>
        <p:nvSpPr>
          <p:cNvPr id="17" name="filter"/>
          <p:cNvSpPr/>
          <p:nvPr/>
        </p:nvSpPr>
        <p:spPr>
          <a:xfrm>
            <a:off x="4700588" y="1200150"/>
            <a:ext cx="1300162" cy="750094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现有失效过滤"/>
          <p:cNvSpPr txBox="1"/>
          <p:nvPr/>
        </p:nvSpPr>
        <p:spPr>
          <a:xfrm>
            <a:off x="4825603" y="1368171"/>
            <a:ext cx="105013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现有失效过滤</a:t>
            </a:r>
          </a:p>
        </p:txBody>
      </p:sp>
      <p:sp>
        <p:nvSpPr>
          <p:cNvPr id="19" name="text-019: 关联 CVA6 L1D"/>
          <p:cNvSpPr txBox="1"/>
          <p:nvPr/>
        </p:nvSpPr>
        <p:spPr>
          <a:xfrm>
            <a:off x="4850341" y="1579797"/>
            <a:ext cx="100065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关联 CVA6 L1D</a:t>
            </a:r>
          </a:p>
        </p:txBody>
      </p:sp>
      <p:sp>
        <p:nvSpPr>
          <p:cNvPr id="20" name="split"/>
          <p:cNvSpPr/>
          <p:nvPr/>
        </p:nvSpPr>
        <p:spPr>
          <a:xfrm>
            <a:off x="6500812" y="1200150"/>
            <a:ext cx="1100138" cy="750094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地址分流"/>
          <p:cNvSpPr txBox="1"/>
          <p:nvPr/>
        </p:nvSpPr>
        <p:spPr>
          <a:xfrm>
            <a:off x="6675834" y="1368171"/>
            <a:ext cx="75009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2" name="text-022: 普通 / GB"/>
          <p:cNvSpPr txBox="1"/>
          <p:nvPr/>
        </p:nvSpPr>
        <p:spPr>
          <a:xfrm>
            <a:off x="6699998" y="1579797"/>
            <a:ext cx="701767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 / GB</a:t>
            </a:r>
          </a:p>
        </p:txBody>
      </p:sp>
      <p:sp>
        <p:nvSpPr>
          <p:cNvPr id="23" name="converter"/>
          <p:cNvSpPr/>
          <p:nvPr/>
        </p:nvSpPr>
        <p:spPr>
          <a:xfrm>
            <a:off x="3500438" y="2150269"/>
            <a:ext cx="2000250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Ara 普通路径宽度适配"/>
          <p:cNvSpPr txBox="1"/>
          <p:nvPr/>
        </p:nvSpPr>
        <p:spPr>
          <a:xfrm>
            <a:off x="3696630" y="2243280"/>
            <a:ext cx="1607865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普通路径宽度适配</a:t>
            </a:r>
          </a:p>
        </p:txBody>
      </p:sp>
      <p:sp>
        <p:nvSpPr>
          <p:cNvPr id="25" name="text-025: 32 × NrLanes → 64-bit"/>
          <p:cNvSpPr txBox="1"/>
          <p:nvPr/>
        </p:nvSpPr>
        <p:spPr>
          <a:xfrm>
            <a:off x="3771807" y="2454907"/>
            <a:ext cx="145751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32 × NrLanes → 64-bit</a:t>
            </a:r>
          </a:p>
        </p:txBody>
      </p:sp>
      <p:sp>
        <p:nvSpPr>
          <p:cNvPr id="26" name="interrupt"/>
          <p:cNvSpPr/>
          <p:nvPr/>
        </p:nvSpPr>
        <p:spPr>
          <a:xfrm>
            <a:off x="2200275" y="2350294"/>
            <a:ext cx="950119" cy="450056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外部中断"/>
          <p:cNvSpPr txBox="1"/>
          <p:nvPr/>
        </p:nvSpPr>
        <p:spPr>
          <a:xfrm>
            <a:off x="2300288" y="2368296"/>
            <a:ext cx="75009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</a:t>
            </a:r>
          </a:p>
        </p:txBody>
      </p:sp>
      <p:sp>
        <p:nvSpPr>
          <p:cNvPr id="28" name="text-028: PLIC / CLIC"/>
          <p:cNvSpPr txBox="1"/>
          <p:nvPr/>
        </p:nvSpPr>
        <p:spPr>
          <a:xfrm>
            <a:off x="2281656" y="2579922"/>
            <a:ext cx="78735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 / CLIC</a:t>
            </a:r>
          </a:p>
        </p:txBody>
      </p:sp>
      <p:sp>
        <p:nvSpPr>
          <p:cNvPr id="29" name="npu"/>
          <p:cNvSpPr/>
          <p:nvPr/>
        </p:nvSpPr>
        <p:spPr>
          <a:xfrm>
            <a:off x="9101138" y="1175147"/>
            <a:ext cx="1400175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NPU 计算"/>
          <p:cNvSpPr txBox="1"/>
          <p:nvPr/>
        </p:nvSpPr>
        <p:spPr>
          <a:xfrm>
            <a:off x="9414313" y="1343168"/>
            <a:ext cx="773823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1" name="text-031: GB 数据读写"/>
          <p:cNvSpPr txBox="1"/>
          <p:nvPr/>
        </p:nvSpPr>
        <p:spPr>
          <a:xfrm>
            <a:off x="9373590" y="1554794"/>
            <a:ext cx="85527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2" name="mover"/>
          <p:cNvSpPr/>
          <p:nvPr/>
        </p:nvSpPr>
        <p:spPr>
          <a:xfrm>
            <a:off x="10901362" y="1175147"/>
            <a:ext cx="1400175" cy="750094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DDR ↔ GB 搬运器"/>
          <p:cNvSpPr txBox="1"/>
          <p:nvPr/>
        </p:nvSpPr>
        <p:spPr>
          <a:xfrm>
            <a:off x="10917724" y="1343168"/>
            <a:ext cx="1367452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34" name="text-034: 引擎实现待定"/>
          <p:cNvSpPr txBox="1"/>
          <p:nvPr/>
        </p:nvSpPr>
        <p:spPr>
          <a:xfrm>
            <a:off x="11146393" y="1554794"/>
            <a:ext cx="91011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引擎实现待定</a:t>
            </a:r>
          </a:p>
        </p:txBody>
      </p:sp>
      <p:sp>
        <p:nvSpPr>
          <p:cNvPr id="35" name="device-regs"/>
          <p:cNvSpPr/>
          <p:nvPr/>
        </p:nvSpPr>
        <p:spPr>
          <a:xfrm>
            <a:off x="9101138" y="2400300"/>
            <a:ext cx="3200400" cy="400050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NPU / 搬运器控制与完成状态"/>
          <p:cNvSpPr txBox="1"/>
          <p:nvPr/>
        </p:nvSpPr>
        <p:spPr>
          <a:xfrm>
            <a:off x="9652894" y="2488311"/>
            <a:ext cx="2096887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搬运器控制与完成状态</a:t>
            </a:r>
          </a:p>
        </p:txBody>
      </p:sp>
      <p:sp>
        <p:nvSpPr>
          <p:cNvPr id="37" name="xbar"/>
          <p:cNvSpPr/>
          <p:nvPr/>
        </p:nvSpPr>
        <p:spPr>
          <a:xfrm>
            <a:off x="550069" y="3450431"/>
            <a:ext cx="7150894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主 AXI Xbar · 64-bit"/>
          <p:cNvSpPr txBox="1"/>
          <p:nvPr/>
        </p:nvSpPr>
        <p:spPr>
          <a:xfrm>
            <a:off x="3425670" y="3543443"/>
            <a:ext cx="139969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Xbar · 64-bit</a:t>
            </a:r>
          </a:p>
        </p:txBody>
      </p:sp>
      <p:sp>
        <p:nvSpPr>
          <p:cNvPr id="39" name="text-039: 普通内存、寄存器与外部存储目标"/>
          <p:cNvSpPr txBox="1"/>
          <p:nvPr/>
        </p:nvSpPr>
        <p:spPr>
          <a:xfrm>
            <a:off x="3085386" y="3755069"/>
            <a:ext cx="208026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普通内存、寄存器与外部存储目标</a:t>
            </a:r>
          </a:p>
        </p:txBody>
      </p:sp>
      <p:sp>
        <p:nvSpPr>
          <p:cNvPr id="40" name="arbiter"/>
          <p:cNvSpPr/>
          <p:nvPr/>
        </p:nvSpPr>
        <p:spPr>
          <a:xfrm>
            <a:off x="9051131" y="3400425"/>
            <a:ext cx="3250406" cy="750094"/>
          </a:xfrm>
          <a:prstGeom prst="rect">
            <a:avLst/>
          </a:prstGeom>
          <a:solidFill>
            <a:srgbClr val="D9EEE8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GB 多入口适配 / 仲裁 / bank 调度"/>
          <p:cNvSpPr txBox="1"/>
          <p:nvPr/>
        </p:nvSpPr>
        <p:spPr>
          <a:xfrm>
            <a:off x="9458682" y="3473434"/>
            <a:ext cx="243530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多入口适配 / 仲裁 / bank 调度</a:t>
            </a:r>
          </a:p>
        </p:txBody>
      </p:sp>
      <p:sp>
        <p:nvSpPr>
          <p:cNvPr id="42" name="text-042: 位宽、ID、字节选通；按需 CDC"/>
          <p:cNvSpPr txBox="1"/>
          <p:nvPr/>
        </p:nvSpPr>
        <p:spPr>
          <a:xfrm>
            <a:off x="9693649" y="3685061"/>
            <a:ext cx="196537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位宽、ID、字节选通；按需 CDC</a:t>
            </a:r>
          </a:p>
        </p:txBody>
      </p:sp>
      <p:sp>
        <p:nvSpPr>
          <p:cNvPr id="43" name="text-043: 逻辑入口数不等于 SRAM 物理端口数"/>
          <p:cNvSpPr txBox="1"/>
          <p:nvPr/>
        </p:nvSpPr>
        <p:spPr>
          <a:xfrm>
            <a:off x="9557097" y="3875084"/>
            <a:ext cx="223847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逻辑入口数不等于 SRAM 物理端口数</a:t>
            </a:r>
          </a:p>
        </p:txBody>
      </p:sp>
      <p:sp>
        <p:nvSpPr>
          <p:cNvPr id="44" name="sram"/>
          <p:cNvSpPr/>
          <p:nvPr/>
        </p:nvSpPr>
        <p:spPr>
          <a:xfrm>
            <a:off x="9301162" y="4800600"/>
            <a:ext cx="2850356" cy="800100"/>
          </a:xfrm>
          <a:prstGeom prst="rect">
            <a:avLst/>
          </a:prstGeom>
          <a:solidFill>
            <a:srgbClr val="D9EEE8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GB SRAM"/>
          <p:cNvSpPr txBox="1"/>
          <p:nvPr/>
        </p:nvSpPr>
        <p:spPr>
          <a:xfrm>
            <a:off x="10336640" y="4898612"/>
            <a:ext cx="779402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SRAM</a:t>
            </a:r>
          </a:p>
        </p:txBody>
      </p:sp>
      <p:sp>
        <p:nvSpPr>
          <p:cNvPr id="46" name="text-046: 独立物理存储 · 容量 / bank / 端口待定"/>
          <p:cNvSpPr txBox="1"/>
          <p:nvPr/>
        </p:nvSpPr>
        <p:spPr>
          <a:xfrm>
            <a:off x="9543556" y="5110239"/>
            <a:ext cx="236556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独立物理存储 · 容量 / bank / 端口待定</a:t>
            </a:r>
          </a:p>
        </p:txBody>
      </p:sp>
      <p:sp>
        <p:nvSpPr>
          <p:cNvPr id="47" name="text-047: CPU 可达时建议不缓存、不可执行"/>
          <p:cNvSpPr txBox="1"/>
          <p:nvPr/>
        </p:nvSpPr>
        <p:spPr>
          <a:xfrm>
            <a:off x="9678526" y="5300262"/>
            <a:ext cx="209562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可达时建议不缓存、不可执行</a:t>
            </a:r>
          </a:p>
        </p:txBody>
      </p:sp>
      <p:sp>
        <p:nvSpPr>
          <p:cNvPr id="48" name="regext"/>
          <p:cNvSpPr/>
          <p:nvPr/>
        </p:nvSpPr>
        <p:spPr>
          <a:xfrm>
            <a:off x="550069" y="4800600"/>
            <a:ext cx="1600200" cy="600075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Reg 扩展配置路径"/>
          <p:cNvSpPr txBox="1"/>
          <p:nvPr/>
        </p:nvSpPr>
        <p:spPr>
          <a:xfrm>
            <a:off x="678233" y="4893612"/>
            <a:ext cx="134387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 扩展配置路径</a:t>
            </a:r>
          </a:p>
        </p:txBody>
      </p:sp>
      <p:sp>
        <p:nvSpPr>
          <p:cNvPr id="50" name="text-050: AXI → Reg → RegExt"/>
          <p:cNvSpPr txBox="1"/>
          <p:nvPr/>
        </p:nvSpPr>
        <p:spPr>
          <a:xfrm>
            <a:off x="687570" y="5105238"/>
            <a:ext cx="1325197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 → RegExt</a:t>
            </a:r>
          </a:p>
        </p:txBody>
      </p:sp>
      <p:sp>
        <p:nvSpPr>
          <p:cNvPr id="51" name="atomics"/>
          <p:cNvSpPr/>
          <p:nvPr/>
        </p:nvSpPr>
        <p:spPr>
          <a:xfrm>
            <a:off x="3250406" y="4700588"/>
            <a:ext cx="1500188" cy="500062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现有原子适配"/>
          <p:cNvSpPr txBox="1"/>
          <p:nvPr/>
        </p:nvSpPr>
        <p:spPr>
          <a:xfrm>
            <a:off x="3475434" y="4743593"/>
            <a:ext cx="105013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现有原子适配</a:t>
            </a:r>
          </a:p>
        </p:txBody>
      </p:sp>
      <p:sp>
        <p:nvSpPr>
          <p:cNvPr id="53" name="text-053: 普通内存路径"/>
          <p:cNvSpPr txBox="1"/>
          <p:nvPr/>
        </p:nvSpPr>
        <p:spPr>
          <a:xfrm>
            <a:off x="3545443" y="4955219"/>
            <a:ext cx="91011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普通内存路径</a:t>
            </a:r>
          </a:p>
        </p:txBody>
      </p:sp>
      <p:sp>
        <p:nvSpPr>
          <p:cNvPr id="54" name="llc"/>
          <p:cNvSpPr/>
          <p:nvPr/>
        </p:nvSpPr>
        <p:spPr>
          <a:xfrm>
            <a:off x="3250406" y="5650706"/>
            <a:ext cx="1500188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LLC / SPM"/>
          <p:cNvSpPr txBox="1"/>
          <p:nvPr/>
        </p:nvSpPr>
        <p:spPr>
          <a:xfrm>
            <a:off x="3570220" y="5743718"/>
            <a:ext cx="86056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56" name="text-056: 预留 SPM 可作结果暂存"/>
          <p:cNvSpPr txBox="1"/>
          <p:nvPr/>
        </p:nvSpPr>
        <p:spPr>
          <a:xfrm>
            <a:off x="3246554" y="5955344"/>
            <a:ext cx="1507892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预留 SPM 可作结果暂存</a:t>
            </a:r>
          </a:p>
        </p:txBody>
      </p:sp>
      <p:sp>
        <p:nvSpPr>
          <p:cNvPr id="57" name="merge"/>
          <p:cNvSpPr/>
          <p:nvPr/>
        </p:nvSpPr>
        <p:spPr>
          <a:xfrm>
            <a:off x="5250656" y="5650706"/>
            <a:ext cx="1350169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DDR 合流边界"/>
          <p:cNvSpPr txBox="1"/>
          <p:nvPr/>
        </p:nvSpPr>
        <p:spPr>
          <a:xfrm>
            <a:off x="5382876" y="5743718"/>
            <a:ext cx="1085729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合流边界</a:t>
            </a:r>
          </a:p>
        </p:txBody>
      </p:sp>
      <p:sp>
        <p:nvSpPr>
          <p:cNvPr id="59" name="text-059: 端口 / 适配待定"/>
          <p:cNvSpPr txBox="1"/>
          <p:nvPr/>
        </p:nvSpPr>
        <p:spPr>
          <a:xfrm>
            <a:off x="5397929" y="5955344"/>
            <a:ext cx="105562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适配待定</a:t>
            </a:r>
          </a:p>
        </p:txBody>
      </p:sp>
      <p:sp>
        <p:nvSpPr>
          <p:cNvPr id="60" name="ddr-controller"/>
          <p:cNvSpPr/>
          <p:nvPr/>
        </p:nvSpPr>
        <p:spPr>
          <a:xfrm>
            <a:off x="7100888" y="5650706"/>
            <a:ext cx="1500188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Controller / PHY"/>
          <p:cNvSpPr txBox="1"/>
          <p:nvPr/>
        </p:nvSpPr>
        <p:spPr>
          <a:xfrm>
            <a:off x="7242702" y="5743718"/>
            <a:ext cx="1216558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 / PHY</a:t>
            </a:r>
          </a:p>
        </p:txBody>
      </p:sp>
      <p:sp>
        <p:nvSpPr>
          <p:cNvPr id="62" name="text-062: AXI4 接入"/>
          <p:cNvSpPr txBox="1"/>
          <p:nvPr/>
        </p:nvSpPr>
        <p:spPr>
          <a:xfrm>
            <a:off x="7509177" y="5955344"/>
            <a:ext cx="68360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AXI4 接入</a:t>
            </a:r>
          </a:p>
        </p:txBody>
      </p:sp>
      <p:sp>
        <p:nvSpPr>
          <p:cNvPr id="63" name="ddr"/>
          <p:cNvSpPr/>
          <p:nvPr/>
        </p:nvSpPr>
        <p:spPr>
          <a:xfrm>
            <a:off x="9151144" y="5950744"/>
            <a:ext cx="1400175" cy="500062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DDR"/>
          <p:cNvSpPr txBox="1"/>
          <p:nvPr/>
        </p:nvSpPr>
        <p:spPr>
          <a:xfrm>
            <a:off x="9630891" y="5993749"/>
            <a:ext cx="440680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5" name="text-065: 外部主存"/>
          <p:cNvSpPr txBox="1"/>
          <p:nvPr/>
        </p:nvSpPr>
        <p:spPr>
          <a:xfrm>
            <a:off x="9526191" y="6205376"/>
            <a:ext cx="65008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外部主存</a:t>
            </a:r>
          </a:p>
        </p:txBody>
      </p:sp>
      <p:sp>
        <p:nvSpPr>
          <p:cNvPr id="66" name="host-port"/>
          <p:cNvSpPr/>
          <p:nvPr/>
        </p:nvSpPr>
        <p:spPr>
          <a:xfrm>
            <a:off x="5800725" y="4250531"/>
            <a:ext cx="1750219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B96043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GB 主机访问适配"/>
          <p:cNvSpPr txBox="1"/>
          <p:nvPr/>
        </p:nvSpPr>
        <p:spPr>
          <a:xfrm>
            <a:off x="6032395" y="4343543"/>
            <a:ext cx="1286880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主机访问适配</a:t>
            </a:r>
          </a:p>
        </p:txBody>
      </p:sp>
      <p:sp>
        <p:nvSpPr>
          <p:cNvPr id="68" name="text-068: 外部 AXI 出口 · 64-bit"/>
          <p:cNvSpPr txBox="1"/>
          <p:nvPr/>
        </p:nvSpPr>
        <p:spPr>
          <a:xfrm>
            <a:off x="6000160" y="4555169"/>
            <a:ext cx="135134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AXI 出口 · 64-bit</a:t>
            </a:r>
          </a:p>
        </p:txBody>
      </p:sp>
      <p:sp>
        <p:nvSpPr>
          <p:cNvPr id="69" name="text-069: 64-bit"/>
          <p:cNvSpPr txBox="1"/>
          <p:nvPr/>
        </p:nvSpPr>
        <p:spPr>
          <a:xfrm>
            <a:off x="1400175" y="2099462"/>
            <a:ext cx="485608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64-bit</a:t>
            </a:r>
          </a:p>
        </p:txBody>
      </p:sp>
      <p:sp>
        <p:nvSpPr>
          <p:cNvPr id="70" name="text-070: RVV"/>
          <p:cNvSpPr txBox="1"/>
          <p:nvPr/>
        </p:nvSpPr>
        <p:spPr>
          <a:xfrm>
            <a:off x="2240448" y="1174347"/>
            <a:ext cx="369710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RVV</a:t>
            </a:r>
          </a:p>
        </p:txBody>
      </p:sp>
      <p:sp>
        <p:nvSpPr>
          <p:cNvPr id="71" name="text-071: 指令 / 结果"/>
          <p:cNvSpPr txBox="1"/>
          <p:nvPr/>
        </p:nvSpPr>
        <p:spPr>
          <a:xfrm>
            <a:off x="2088710" y="1501388"/>
            <a:ext cx="673186" cy="1760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结果</a:t>
            </a:r>
          </a:p>
        </p:txBody>
      </p:sp>
      <p:sp>
        <p:nvSpPr>
          <p:cNvPr id="72" name="text-072: L1D 失效请求"/>
          <p:cNvSpPr txBox="1"/>
          <p:nvPr/>
        </p:nvSpPr>
        <p:spPr>
          <a:xfrm>
            <a:off x="4000500" y="880910"/>
            <a:ext cx="811836" cy="1840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L1D 失效请求</a:t>
            </a:r>
          </a:p>
        </p:txBody>
      </p:sp>
      <p:sp>
        <p:nvSpPr>
          <p:cNvPr id="73" name="text-073: 32 × NrLanes"/>
          <p:cNvSpPr txBox="1"/>
          <p:nvPr/>
        </p:nvSpPr>
        <p:spPr>
          <a:xfrm>
            <a:off x="5050631" y="1950244"/>
            <a:ext cx="876828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32 × NrLanes</a:t>
            </a:r>
          </a:p>
        </p:txBody>
      </p:sp>
      <p:sp>
        <p:nvSpPr>
          <p:cNvPr id="74" name="text-074: 普通地址"/>
          <p:cNvSpPr txBox="1"/>
          <p:nvPr/>
        </p:nvSpPr>
        <p:spPr>
          <a:xfrm>
            <a:off x="5900738" y="2235279"/>
            <a:ext cx="625078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sp>
        <p:nvSpPr>
          <p:cNvPr id="75" name="text-075: 64-bit"/>
          <p:cNvSpPr txBox="1"/>
          <p:nvPr/>
        </p:nvSpPr>
        <p:spPr>
          <a:xfrm>
            <a:off x="4600575" y="2760345"/>
            <a:ext cx="449642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64-bit</a:t>
            </a:r>
          </a:p>
        </p:txBody>
      </p:sp>
      <p:sp>
        <p:nvSpPr>
          <p:cNvPr id="76" name="text-076: GB 地址"/>
          <p:cNvSpPr txBox="1"/>
          <p:nvPr/>
        </p:nvSpPr>
        <p:spPr>
          <a:xfrm>
            <a:off x="7900988" y="1365171"/>
            <a:ext cx="572337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地址</a:t>
            </a:r>
          </a:p>
        </p:txBody>
      </p:sp>
      <p:sp>
        <p:nvSpPr>
          <p:cNvPr id="77" name="text-077: Ara GB"/>
          <p:cNvSpPr txBox="1"/>
          <p:nvPr/>
        </p:nvSpPr>
        <p:spPr>
          <a:xfrm>
            <a:off x="8401050" y="3435829"/>
            <a:ext cx="479591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GB</a:t>
            </a:r>
          </a:p>
        </p:txBody>
      </p:sp>
      <p:sp>
        <p:nvSpPr>
          <p:cNvPr id="78" name="text-078: bank 读写服务"/>
          <p:cNvSpPr txBox="1"/>
          <p:nvPr/>
        </p:nvSpPr>
        <p:spPr>
          <a:xfrm>
            <a:off x="10801350" y="4354744"/>
            <a:ext cx="1001422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bank 读写服务</a:t>
            </a:r>
          </a:p>
        </p:txBody>
      </p:sp>
      <p:sp>
        <p:nvSpPr>
          <p:cNvPr id="79" name="text-079: 主存 / SPM"/>
          <p:cNvSpPr txBox="1"/>
          <p:nvPr/>
        </p:nvSpPr>
        <p:spPr>
          <a:xfrm>
            <a:off x="4100512" y="4274734"/>
            <a:ext cx="825931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主存 / SPM</a:t>
            </a:r>
          </a:p>
        </p:txBody>
      </p:sp>
      <p:sp>
        <p:nvSpPr>
          <p:cNvPr id="80" name="text-080: 搬运器 DDR 主口 · 绕过 LLC"/>
          <p:cNvSpPr txBox="1"/>
          <p:nvPr/>
        </p:nvSpPr>
        <p:spPr>
          <a:xfrm>
            <a:off x="8701088" y="6470009"/>
            <a:ext cx="1795060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搬运器 DDR 主口 · 绕过 LLC</a:t>
            </a:r>
          </a:p>
        </p:txBody>
      </p:sp>
      <p:sp>
        <p:nvSpPr>
          <p:cNvPr id="81" name="text-081: 配置访问"/>
          <p:cNvSpPr txBox="1"/>
          <p:nvPr/>
        </p:nvSpPr>
        <p:spPr>
          <a:xfrm>
            <a:off x="1400175" y="4379747"/>
            <a:ext cx="675084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82" name="text-082: RegExt 配置 / 状态访问"/>
          <p:cNvSpPr txBox="1"/>
          <p:nvPr/>
        </p:nvSpPr>
        <p:spPr>
          <a:xfrm>
            <a:off x="5600700" y="3019977"/>
            <a:ext cx="148161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RegExt 配置 / 状态访问</a:t>
            </a:r>
          </a:p>
        </p:txBody>
      </p:sp>
      <p:sp>
        <p:nvSpPr>
          <p:cNvPr id="83" name="text-083: 完成 / 错误 IRQ"/>
          <p:cNvSpPr txBox="1"/>
          <p:nvPr/>
        </p:nvSpPr>
        <p:spPr>
          <a:xfrm>
            <a:off x="5600700" y="2784948"/>
            <a:ext cx="103455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A05255"/>
                </a:solidFill>
                <a:latin typeface="Microsoft YaHei"/>
                <a:ea typeface="Microsoft YaHei"/>
                <a:cs typeface="Microsoft YaHei"/>
              </a:rPr>
              <a:t>完成 / 错误 IRQ</a:t>
            </a:r>
          </a:p>
        </p:txBody>
      </p:sp>
      <p:sp>
        <p:nvSpPr>
          <p:cNvPr id="84" name="text-084: CPU GB 支路"/>
          <p:cNvSpPr txBox="1"/>
          <p:nvPr/>
        </p:nvSpPr>
        <p:spPr>
          <a:xfrm>
            <a:off x="7650956" y="4584773"/>
            <a:ext cx="904121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CPU GB 支路</a:t>
            </a:r>
          </a:p>
        </p:txBody>
      </p:sp>
      <p:sp>
        <p:nvSpPr>
          <p:cNvPr id="85" name="text-085: 蓝灰：普通访存    绿：GB 访存    紫：指令 / 配置    暗红：完成"/>
          <p:cNvSpPr txBox="1"/>
          <p:nvPr/>
        </p:nvSpPr>
        <p:spPr>
          <a:xfrm>
            <a:off x="300038" y="6750444"/>
            <a:ext cx="5654988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蓝灰：普通访存    绿：GB 访存    紫：指令 / 配置    暗红：完成通知    橙：方案二新增主机通路</a:t>
            </a:r>
          </a:p>
        </p:txBody>
      </p:sp>
      <p:sp>
        <p:nvSpPr>
          <p:cNvPr id="86" name="text-086: 箭头表示请求方向，存储响应省略；RVV 双向线含结果。跳线处不连接。虚线框标示尚"/>
          <p:cNvSpPr txBox="1"/>
          <p:nvPr/>
        </p:nvSpPr>
        <p:spPr>
          <a:xfrm>
            <a:off x="300038" y="6955869"/>
            <a:ext cx="6005508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箭头表示请求方向，存储响应省略；RVV 双向线含结果。跳线处不连接。虚线框标示尚未实施的规划部件。</a:t>
            </a:r>
          </a:p>
        </p:txBody>
      </p:sp>
      <p:sp>
        <p:nvSpPr>
          <p:cNvPr id="87" name="cpu-memory"/>
          <p:cNvSpPr/>
          <p:nvPr/>
        </p:nvSpPr>
        <p:spPr>
          <a:xfrm>
            <a:off x="1300162" y="1950244"/>
            <a:ext cx="1" cy="1500188"/>
          </a:xfrm>
          <a:custGeom>
            <a:avLst/>
            <a:gdLst/>
            <a:ahLst/>
            <a:cxnLst/>
            <a:rect l="0" t="0" r="r" b="b"/>
            <a:pathLst>
              <a:path w="1" h="1500188" fill="none">
                <a:moveTo>
                  <a:pt x="0" y="0"/>
                </a:moveTo>
                <a:lnTo>
                  <a:pt x="0" y="1500188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pu-ara"/>
          <p:cNvSpPr/>
          <p:nvPr/>
        </p:nvSpPr>
        <p:spPr>
          <a:xfrm>
            <a:off x="2050256" y="1425178"/>
            <a:ext cx="750094" cy="1"/>
          </a:xfrm>
          <a:custGeom>
            <a:avLst/>
            <a:gdLst/>
            <a:ahLst/>
            <a:cxnLst/>
            <a:rect l="0" t="0" r="r" b="b"/>
            <a:pathLst>
              <a:path w="750094" h="1" fill="none">
                <a:moveTo>
                  <a:pt x="0" y="0"/>
                </a:moveTo>
                <a:lnTo>
                  <a:pt x="750094" y="0"/>
                </a:lnTo>
              </a:path>
            </a:pathLst>
          </a:custGeom>
          <a:noFill/>
          <a:ln w="14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ara-filter"/>
          <p:cNvSpPr/>
          <p:nvPr/>
        </p:nvSpPr>
        <p:spPr>
          <a:xfrm>
            <a:off x="4200525" y="1600200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filter-split"/>
          <p:cNvSpPr/>
          <p:nvPr/>
        </p:nvSpPr>
        <p:spPr>
          <a:xfrm>
            <a:off x="6000750" y="1600200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filter-invalidate"/>
          <p:cNvSpPr/>
          <p:nvPr/>
        </p:nvSpPr>
        <p:spPr>
          <a:xfrm>
            <a:off x="1300162" y="1085136"/>
            <a:ext cx="4050506" cy="115014"/>
          </a:xfrm>
          <a:custGeom>
            <a:avLst/>
            <a:gdLst/>
            <a:ahLst/>
            <a:cxnLst/>
            <a:rect l="0" t="0" r="r" b="b"/>
            <a:pathLst>
              <a:path w="4050506" h="115014" fill="none">
                <a:moveTo>
                  <a:pt x="4050506" y="115014"/>
                </a:moveTo>
                <a:lnTo>
                  <a:pt x="4050506" y="0"/>
                </a:lnTo>
                <a:lnTo>
                  <a:pt x="0" y="0"/>
                </a:lnTo>
                <a:lnTo>
                  <a:pt x="0" y="115014"/>
                </a:lnTo>
              </a:path>
            </a:pathLst>
          </a:custGeom>
          <a:noFill/>
          <a:ln w="14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plit-normal"/>
          <p:cNvSpPr/>
          <p:nvPr/>
        </p:nvSpPr>
        <p:spPr>
          <a:xfrm>
            <a:off x="5500688" y="1950244"/>
            <a:ext cx="1300162" cy="500062"/>
          </a:xfrm>
          <a:custGeom>
            <a:avLst/>
            <a:gdLst/>
            <a:ahLst/>
            <a:cxnLst/>
            <a:rect l="0" t="0" r="r" b="b"/>
            <a:pathLst>
              <a:path w="1300162" h="500062" fill="none">
                <a:moveTo>
                  <a:pt x="1300162" y="0"/>
                </a:moveTo>
                <a:lnTo>
                  <a:pt x="1300162" y="500062"/>
                </a:lnTo>
                <a:lnTo>
                  <a:pt x="0" y="500062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nverter-xbar"/>
          <p:cNvSpPr/>
          <p:nvPr/>
        </p:nvSpPr>
        <p:spPr>
          <a:xfrm>
            <a:off x="4500562" y="2750344"/>
            <a:ext cx="1" cy="700088"/>
          </a:xfrm>
          <a:custGeom>
            <a:avLst/>
            <a:gdLst/>
            <a:ahLst/>
            <a:cxnLst/>
            <a:rect l="0" t="0" r="r" b="b"/>
            <a:pathLst>
              <a:path w="1" h="700088" fill="none">
                <a:moveTo>
                  <a:pt x="0" y="0"/>
                </a:moveTo>
                <a:lnTo>
                  <a:pt x="0" y="700088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split-gb"/>
          <p:cNvSpPr/>
          <p:nvPr/>
        </p:nvSpPr>
        <p:spPr>
          <a:xfrm>
            <a:off x="7600950" y="1600200"/>
            <a:ext cx="1450181" cy="2050256"/>
          </a:xfrm>
          <a:custGeom>
            <a:avLst/>
            <a:gdLst/>
            <a:ahLst/>
            <a:cxnLst/>
            <a:rect l="0" t="0" r="r" b="b"/>
            <a:pathLst>
              <a:path w="1450181" h="2050256" fill="none">
                <a:moveTo>
                  <a:pt x="0" y="0"/>
                </a:moveTo>
                <a:lnTo>
                  <a:pt x="700088" y="0"/>
                </a:lnTo>
                <a:lnTo>
                  <a:pt x="700088" y="2050256"/>
                </a:lnTo>
                <a:lnTo>
                  <a:pt x="1450181" y="2050256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npu-gb"/>
          <p:cNvSpPr/>
          <p:nvPr/>
        </p:nvSpPr>
        <p:spPr>
          <a:xfrm>
            <a:off x="8851106" y="1550194"/>
            <a:ext cx="750094" cy="1850231"/>
          </a:xfrm>
          <a:custGeom>
            <a:avLst/>
            <a:gdLst/>
            <a:ahLst/>
            <a:cxnLst/>
            <a:rect l="0" t="0" r="r" b="b"/>
            <a:pathLst>
              <a:path w="750094" h="1850231" fill="none">
                <a:moveTo>
                  <a:pt x="250031" y="0"/>
                </a:moveTo>
                <a:lnTo>
                  <a:pt x="0" y="0"/>
                </a:lnTo>
                <a:lnTo>
                  <a:pt x="0" y="1700212"/>
                </a:lnTo>
                <a:lnTo>
                  <a:pt x="750094" y="1700212"/>
                </a:lnTo>
                <a:lnTo>
                  <a:pt x="750094" y="1850231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over-gb"/>
          <p:cNvSpPr/>
          <p:nvPr/>
        </p:nvSpPr>
        <p:spPr>
          <a:xfrm>
            <a:off x="11801475" y="1800225"/>
            <a:ext cx="650081" cy="1600200"/>
          </a:xfrm>
          <a:custGeom>
            <a:avLst/>
            <a:gdLst/>
            <a:ahLst/>
            <a:cxnLst/>
            <a:rect l="0" t="0" r="r" b="b"/>
            <a:pathLst>
              <a:path w="650081" h="1600200" fill="none">
                <a:moveTo>
                  <a:pt x="500062" y="0"/>
                </a:moveTo>
                <a:lnTo>
                  <a:pt x="650081" y="0"/>
                </a:lnTo>
                <a:lnTo>
                  <a:pt x="650081" y="1450181"/>
                </a:lnTo>
                <a:lnTo>
                  <a:pt x="0" y="1450181"/>
                </a:lnTo>
                <a:lnTo>
                  <a:pt x="0" y="1600200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gb-sram"/>
          <p:cNvSpPr/>
          <p:nvPr/>
        </p:nvSpPr>
        <p:spPr>
          <a:xfrm>
            <a:off x="10676334" y="4150519"/>
            <a:ext cx="1" cy="650081"/>
          </a:xfrm>
          <a:custGeom>
            <a:avLst/>
            <a:gdLst/>
            <a:ahLst/>
            <a:cxnLst/>
            <a:rect l="0" t="0" r="r" b="b"/>
            <a:pathLst>
              <a:path w="1" h="650081" fill="none">
                <a:moveTo>
                  <a:pt x="0" y="0"/>
                </a:moveTo>
                <a:lnTo>
                  <a:pt x="0" y="650081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xbar-atomics"/>
          <p:cNvSpPr/>
          <p:nvPr/>
        </p:nvSpPr>
        <p:spPr>
          <a:xfrm>
            <a:off x="4000500" y="4050506"/>
            <a:ext cx="1" cy="650081"/>
          </a:xfrm>
          <a:custGeom>
            <a:avLst/>
            <a:gdLst/>
            <a:ahLst/>
            <a:cxnLst/>
            <a:rect l="0" t="0" r="r" b="b"/>
            <a:pathLst>
              <a:path w="1" h="650081" fill="none">
                <a:moveTo>
                  <a:pt x="0" y="0"/>
                </a:moveTo>
                <a:lnTo>
                  <a:pt x="0" y="650081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atomics-llc"/>
          <p:cNvSpPr/>
          <p:nvPr/>
        </p:nvSpPr>
        <p:spPr>
          <a:xfrm>
            <a:off x="4000500" y="5200650"/>
            <a:ext cx="1" cy="450056"/>
          </a:xfrm>
          <a:custGeom>
            <a:avLst/>
            <a:gdLst/>
            <a:ahLst/>
            <a:cxnLst/>
            <a:rect l="0" t="0" r="r" b="b"/>
            <a:pathLst>
              <a:path w="1" h="450056" fill="none">
                <a:moveTo>
                  <a:pt x="0" y="0"/>
                </a:moveTo>
                <a:lnTo>
                  <a:pt x="0" y="450056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llc-ddr"/>
          <p:cNvSpPr/>
          <p:nvPr/>
        </p:nvSpPr>
        <p:spPr>
          <a:xfrm>
            <a:off x="4750594" y="5950744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erge-controller"/>
          <p:cNvSpPr/>
          <p:nvPr/>
        </p:nvSpPr>
        <p:spPr>
          <a:xfrm>
            <a:off x="6600825" y="5950744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controller-ddr"/>
          <p:cNvSpPr/>
          <p:nvPr/>
        </p:nvSpPr>
        <p:spPr>
          <a:xfrm>
            <a:off x="8601075" y="5950744"/>
            <a:ext cx="550069" cy="250031"/>
          </a:xfrm>
          <a:custGeom>
            <a:avLst/>
            <a:gdLst/>
            <a:ahLst/>
            <a:cxnLst/>
            <a:rect l="0" t="0" r="r" b="b"/>
            <a:pathLst>
              <a:path w="550069" h="250031" fill="none">
                <a:moveTo>
                  <a:pt x="0" y="0"/>
                </a:moveTo>
                <a:lnTo>
                  <a:pt x="250031" y="0"/>
                </a:lnTo>
                <a:lnTo>
                  <a:pt x="250031" y="250031"/>
                </a:lnTo>
                <a:lnTo>
                  <a:pt x="550069" y="250031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over-ddr"/>
          <p:cNvSpPr/>
          <p:nvPr/>
        </p:nvSpPr>
        <p:spPr>
          <a:xfrm>
            <a:off x="5925741" y="1400175"/>
            <a:ext cx="6675834" cy="5300662"/>
          </a:xfrm>
          <a:custGeom>
            <a:avLst/>
            <a:gdLst/>
            <a:ahLst/>
            <a:cxnLst/>
            <a:rect l="0" t="0" r="r" b="b"/>
            <a:pathLst>
              <a:path w="6675834" h="5300662" fill="none">
                <a:moveTo>
                  <a:pt x="6375797" y="0"/>
                </a:moveTo>
                <a:lnTo>
                  <a:pt x="6675834" y="0"/>
                </a:lnTo>
                <a:lnTo>
                  <a:pt x="6675834" y="5300662"/>
                </a:lnTo>
                <a:lnTo>
                  <a:pt x="0" y="5300662"/>
                </a:lnTo>
                <a:lnTo>
                  <a:pt x="0" y="4850606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xbar-reg"/>
          <p:cNvSpPr/>
          <p:nvPr/>
        </p:nvSpPr>
        <p:spPr>
          <a:xfrm>
            <a:off x="1300162" y="4050506"/>
            <a:ext cx="1" cy="750094"/>
          </a:xfrm>
          <a:custGeom>
            <a:avLst/>
            <a:gdLst/>
            <a:ahLst/>
            <a:cxnLst/>
            <a:rect l="0" t="0" r="r" b="b"/>
            <a:pathLst>
              <a:path w="1" h="750094" fill="none">
                <a:moveTo>
                  <a:pt x="0" y="0"/>
                </a:moveTo>
                <a:lnTo>
                  <a:pt x="0" y="750094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g-config"/>
          <p:cNvSpPr/>
          <p:nvPr/>
        </p:nvSpPr>
        <p:spPr>
          <a:xfrm>
            <a:off x="200025" y="2556986"/>
            <a:ext cx="8901112" cy="2493645"/>
          </a:xfrm>
          <a:custGeom>
            <a:avLst/>
            <a:gdLst/>
            <a:ahLst/>
            <a:cxnLst/>
            <a:rect l="0" t="0" r="r" b="b"/>
            <a:pathLst>
              <a:path w="8901112" h="2493645" fill="none">
                <a:moveTo>
                  <a:pt x="350044" y="2493645"/>
                </a:moveTo>
                <a:lnTo>
                  <a:pt x="0" y="2493645"/>
                </a:lnTo>
                <a:lnTo>
                  <a:pt x="0" y="693420"/>
                </a:lnTo>
                <a:lnTo>
                  <a:pt x="1065133" y="693420"/>
                </a:lnTo>
                <a:cubicBezTo>
                  <a:pt x="1088469" y="650081"/>
                  <a:pt x="1111806" y="650081"/>
                  <a:pt x="1135142" y="693420"/>
                </a:cubicBezTo>
                <a:lnTo>
                  <a:pt x="4265533" y="693420"/>
                </a:lnTo>
                <a:cubicBezTo>
                  <a:pt x="4288869" y="650081"/>
                  <a:pt x="4312206" y="650081"/>
                  <a:pt x="4335542" y="693420"/>
                </a:cubicBezTo>
                <a:lnTo>
                  <a:pt x="8066008" y="693420"/>
                </a:lnTo>
                <a:cubicBezTo>
                  <a:pt x="8089344" y="650081"/>
                  <a:pt x="8112681" y="650081"/>
                  <a:pt x="8136017" y="693420"/>
                </a:cubicBezTo>
                <a:lnTo>
                  <a:pt x="8501062" y="693420"/>
                </a:lnTo>
                <a:lnTo>
                  <a:pt x="8501062" y="43339"/>
                </a:lnTo>
                <a:lnTo>
                  <a:pt x="8616077" y="43339"/>
                </a:lnTo>
                <a:cubicBezTo>
                  <a:pt x="8639413" y="0"/>
                  <a:pt x="8662749" y="0"/>
                  <a:pt x="8686086" y="43339"/>
                </a:cubicBezTo>
                <a:lnTo>
                  <a:pt x="8901112" y="43339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gs-npu"/>
          <p:cNvSpPr/>
          <p:nvPr/>
        </p:nvSpPr>
        <p:spPr>
          <a:xfrm>
            <a:off x="9401175" y="1925241"/>
            <a:ext cx="1" cy="475059"/>
          </a:xfrm>
          <a:custGeom>
            <a:avLst/>
            <a:gdLst/>
            <a:ahLst/>
            <a:cxnLst/>
            <a:rect l="0" t="0" r="r" b="b"/>
            <a:pathLst>
              <a:path w="1" h="475059" fill="none">
                <a:moveTo>
                  <a:pt x="0" y="475059"/>
                </a:moveTo>
                <a:lnTo>
                  <a:pt x="0" y="0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gs-mover"/>
          <p:cNvSpPr/>
          <p:nvPr/>
        </p:nvSpPr>
        <p:spPr>
          <a:xfrm>
            <a:off x="11151394" y="1925241"/>
            <a:ext cx="1" cy="475059"/>
          </a:xfrm>
          <a:custGeom>
            <a:avLst/>
            <a:gdLst/>
            <a:ahLst/>
            <a:cxnLst/>
            <a:rect l="0" t="0" r="r" b="b"/>
            <a:pathLst>
              <a:path w="1" h="475059" fill="none">
                <a:moveTo>
                  <a:pt x="0" y="475059"/>
                </a:moveTo>
                <a:lnTo>
                  <a:pt x="0" y="0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device-irq"/>
          <p:cNvSpPr/>
          <p:nvPr/>
        </p:nvSpPr>
        <p:spPr>
          <a:xfrm>
            <a:off x="2950369" y="2682002"/>
            <a:ext cx="6150769" cy="318373"/>
          </a:xfrm>
          <a:custGeom>
            <a:avLst/>
            <a:gdLst/>
            <a:ahLst/>
            <a:cxnLst/>
            <a:rect l="0" t="0" r="r" b="b"/>
            <a:pathLst>
              <a:path w="6150769" h="318373" fill="none">
                <a:moveTo>
                  <a:pt x="6150769" y="43339"/>
                </a:moveTo>
                <a:lnTo>
                  <a:pt x="5935742" y="43339"/>
                </a:lnTo>
                <a:cubicBezTo>
                  <a:pt x="5912406" y="0"/>
                  <a:pt x="5889069" y="0"/>
                  <a:pt x="5865733" y="43339"/>
                </a:cubicBezTo>
                <a:lnTo>
                  <a:pt x="5785723" y="43339"/>
                </a:lnTo>
                <a:cubicBezTo>
                  <a:pt x="5762387" y="0"/>
                  <a:pt x="5739051" y="0"/>
                  <a:pt x="5715714" y="43339"/>
                </a:cubicBezTo>
                <a:lnTo>
                  <a:pt x="5600700" y="43339"/>
                </a:lnTo>
                <a:lnTo>
                  <a:pt x="5600700" y="318373"/>
                </a:lnTo>
                <a:lnTo>
                  <a:pt x="5385673" y="318373"/>
                </a:lnTo>
                <a:cubicBezTo>
                  <a:pt x="5362337" y="275034"/>
                  <a:pt x="5339001" y="275034"/>
                  <a:pt x="5315664" y="318373"/>
                </a:cubicBezTo>
                <a:lnTo>
                  <a:pt x="1585198" y="318373"/>
                </a:lnTo>
                <a:cubicBezTo>
                  <a:pt x="1561862" y="275034"/>
                  <a:pt x="1538526" y="275034"/>
                  <a:pt x="1515189" y="318373"/>
                </a:cubicBezTo>
                <a:lnTo>
                  <a:pt x="0" y="318373"/>
                </a:lnTo>
                <a:lnTo>
                  <a:pt x="0" y="118348"/>
                </a:lnTo>
              </a:path>
            </a:pathLst>
          </a:custGeom>
          <a:noFill/>
          <a:ln w="14002" cap="flat">
            <a:solidFill>
              <a:srgbClr val="A05255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irq-cpu"/>
          <p:cNvSpPr/>
          <p:nvPr/>
        </p:nvSpPr>
        <p:spPr>
          <a:xfrm>
            <a:off x="400050" y="1650206"/>
            <a:ext cx="1800225" cy="925116"/>
          </a:xfrm>
          <a:custGeom>
            <a:avLst/>
            <a:gdLst/>
            <a:ahLst/>
            <a:cxnLst/>
            <a:rect l="0" t="0" r="r" b="b"/>
            <a:pathLst>
              <a:path w="1800225" h="925116" fill="none">
                <a:moveTo>
                  <a:pt x="1800225" y="925116"/>
                </a:moveTo>
                <a:lnTo>
                  <a:pt x="935117" y="925116"/>
                </a:lnTo>
                <a:cubicBezTo>
                  <a:pt x="911781" y="881777"/>
                  <a:pt x="888444" y="881777"/>
                  <a:pt x="865108" y="925116"/>
                </a:cubicBezTo>
                <a:lnTo>
                  <a:pt x="0" y="925116"/>
                </a:lnTo>
                <a:lnTo>
                  <a:pt x="0" y="0"/>
                </a:lnTo>
                <a:lnTo>
                  <a:pt x="150019" y="0"/>
                </a:lnTo>
              </a:path>
            </a:pathLst>
          </a:custGeom>
          <a:noFill/>
          <a:ln w="14002" cap="flat">
            <a:solidFill>
              <a:srgbClr val="A05255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xbar-host"/>
          <p:cNvSpPr/>
          <p:nvPr/>
        </p:nvSpPr>
        <p:spPr>
          <a:xfrm>
            <a:off x="6700838" y="4050506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75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host-gb"/>
          <p:cNvSpPr/>
          <p:nvPr/>
        </p:nvSpPr>
        <p:spPr>
          <a:xfrm>
            <a:off x="7550944" y="3950494"/>
            <a:ext cx="1500188" cy="600075"/>
          </a:xfrm>
          <a:custGeom>
            <a:avLst/>
            <a:gdLst/>
            <a:ahLst/>
            <a:cxnLst/>
            <a:rect l="0" t="0" r="r" b="b"/>
            <a:pathLst>
              <a:path w="1500188" h="600075" fill="none">
                <a:moveTo>
                  <a:pt x="0" y="600075"/>
                </a:moveTo>
                <a:lnTo>
                  <a:pt x="850106" y="600075"/>
                </a:lnTo>
                <a:lnTo>
                  <a:pt x="850106" y="0"/>
                </a:lnTo>
                <a:lnTo>
                  <a:pt x="1500188" y="0"/>
                </a:lnTo>
              </a:path>
            </a:pathLst>
          </a:custGeom>
          <a:noFill/>
          <a:ln w="175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