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8016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2: DDR 互联候选结构 · 共享 Global Buffer"/>
          <p:cNvSpPr txBox="1"/>
          <p:nvPr/>
        </p:nvSpPr>
        <p:spPr>
          <a:xfrm>
            <a:off x="205740" y="84856"/>
            <a:ext cx="3547965" cy="3145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互联候选结构 · 共享 Global Buffer</a:t>
            </a:r>
          </a:p>
        </p:txBody>
      </p:sp>
      <p:sp>
        <p:nvSpPr>
          <p:cNvPr id="3" name="o3: S0 = SoC / LLC · S1 = 统一 NPU / GB 搬运 · S"/>
          <p:cNvSpPr txBox="1"/>
          <p:nvPr/>
        </p:nvSpPr>
        <p:spPr>
          <a:xfrm>
            <a:off x="219456" y="393558"/>
            <a:ext cx="3105602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S0 = SoC / LLC · S1 = 统一 NPU / GB 搬运 · S2 = 图像帧写入</a:t>
            </a:r>
          </a:p>
        </p:txBody>
      </p:sp>
      <p:sp>
        <p:nvSpPr>
          <p:cNvPr id="4" name="cpu-domain"/>
          <p:cNvSpPr/>
          <p:nvPr/>
        </p:nvSpPr>
        <p:spPr>
          <a:xfrm>
            <a:off x="274320" y="914400"/>
            <a:ext cx="3840480" cy="1965960"/>
          </a:xfrm>
          <a:prstGeom prst="rect">
            <a:avLst/>
          </a:prstGeom>
          <a:solidFill>
            <a:srgbClr val="F1D7D9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5: CVA6–Ara 系统路径"/>
          <p:cNvSpPr txBox="1"/>
          <p:nvPr/>
        </p:nvSpPr>
        <p:spPr>
          <a:xfrm>
            <a:off x="1535410" y="962863"/>
            <a:ext cx="1318300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系统路径</a:t>
            </a:r>
          </a:p>
        </p:txBody>
      </p:sp>
      <p:sp>
        <p:nvSpPr>
          <p:cNvPr id="6" name="cpu"/>
          <p:cNvSpPr/>
          <p:nvPr/>
        </p:nvSpPr>
        <p:spPr>
          <a:xfrm>
            <a:off x="411480" y="1325880"/>
            <a:ext cx="1005840" cy="617220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7: CVA6"/>
          <p:cNvSpPr txBox="1"/>
          <p:nvPr/>
        </p:nvSpPr>
        <p:spPr>
          <a:xfrm>
            <a:off x="700745" y="1462034"/>
            <a:ext cx="42731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</a:t>
            </a:r>
          </a:p>
        </p:txBody>
      </p:sp>
      <p:sp>
        <p:nvSpPr>
          <p:cNvPr id="8" name="o8: L1D / 写缓冲"/>
          <p:cNvSpPr txBox="1"/>
          <p:nvPr/>
        </p:nvSpPr>
        <p:spPr>
          <a:xfrm>
            <a:off x="537049" y="1637233"/>
            <a:ext cx="754701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L1D / 写缓冲</a:t>
            </a:r>
          </a:p>
        </p:txBody>
      </p:sp>
      <p:sp>
        <p:nvSpPr>
          <p:cNvPr id="9" name="ara"/>
          <p:cNvSpPr/>
          <p:nvPr/>
        </p:nvSpPr>
        <p:spPr>
          <a:xfrm>
            <a:off x="1828800" y="1325880"/>
            <a:ext cx="2125980" cy="502920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10: Ara"/>
          <p:cNvSpPr txBox="1"/>
          <p:nvPr/>
        </p:nvSpPr>
        <p:spPr>
          <a:xfrm>
            <a:off x="2737017" y="1404884"/>
            <a:ext cx="30954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</a:t>
            </a:r>
          </a:p>
        </p:txBody>
      </p:sp>
      <p:sp>
        <p:nvSpPr>
          <p:cNvPr id="11" name="o11: 单一 AXI 访存出口"/>
          <p:cNvSpPr txBox="1"/>
          <p:nvPr/>
        </p:nvSpPr>
        <p:spPr>
          <a:xfrm>
            <a:off x="2400318" y="1580083"/>
            <a:ext cx="982944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单一 AXI 访存出口</a:t>
            </a:r>
          </a:p>
        </p:txBody>
      </p:sp>
      <p:sp>
        <p:nvSpPr>
          <p:cNvPr id="12" name="filter"/>
          <p:cNvSpPr/>
          <p:nvPr/>
        </p:nvSpPr>
        <p:spPr>
          <a:xfrm>
            <a:off x="1828800" y="2080260"/>
            <a:ext cx="571500" cy="4572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13: 失效过滤"/>
          <p:cNvSpPr txBox="1"/>
          <p:nvPr/>
        </p:nvSpPr>
        <p:spPr>
          <a:xfrm>
            <a:off x="1828800" y="2146554"/>
            <a:ext cx="5715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4" name="o14: 现有"/>
          <p:cNvSpPr txBox="1"/>
          <p:nvPr/>
        </p:nvSpPr>
        <p:spPr>
          <a:xfrm>
            <a:off x="1963674" y="2316815"/>
            <a:ext cx="301752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现有</a:t>
            </a:r>
          </a:p>
        </p:txBody>
      </p:sp>
      <p:sp>
        <p:nvSpPr>
          <p:cNvPr id="15" name="split"/>
          <p:cNvSpPr/>
          <p:nvPr/>
        </p:nvSpPr>
        <p:spPr>
          <a:xfrm>
            <a:off x="2514600" y="2080260"/>
            <a:ext cx="571500" cy="457200"/>
          </a:xfrm>
          <a:prstGeom prst="rect">
            <a:avLst/>
          </a:prstGeom>
          <a:solidFill>
            <a:srgbClr val="E8DFED"/>
          </a:solidFill>
          <a:ln w="9144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16: 地址分流"/>
          <p:cNvSpPr txBox="1"/>
          <p:nvPr/>
        </p:nvSpPr>
        <p:spPr>
          <a:xfrm>
            <a:off x="2514600" y="2146554"/>
            <a:ext cx="5715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17" name="o17: 新增"/>
          <p:cNvSpPr txBox="1"/>
          <p:nvPr/>
        </p:nvSpPr>
        <p:spPr>
          <a:xfrm>
            <a:off x="2649474" y="2316815"/>
            <a:ext cx="301752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</a:t>
            </a:r>
          </a:p>
        </p:txBody>
      </p:sp>
      <p:sp>
        <p:nvSpPr>
          <p:cNvPr id="18" name="width"/>
          <p:cNvSpPr/>
          <p:nvPr/>
        </p:nvSpPr>
        <p:spPr>
          <a:xfrm>
            <a:off x="3200400" y="2080260"/>
            <a:ext cx="754380" cy="4572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19: 位宽适配"/>
          <p:cNvSpPr txBox="1"/>
          <p:nvPr/>
        </p:nvSpPr>
        <p:spPr>
          <a:xfrm>
            <a:off x="3291840" y="2146554"/>
            <a:ext cx="5715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20" name="o20: 普通地址"/>
          <p:cNvSpPr txBox="1"/>
          <p:nvPr/>
        </p:nvSpPr>
        <p:spPr>
          <a:xfrm>
            <a:off x="3326130" y="2316815"/>
            <a:ext cx="502920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普通地址</a:t>
            </a:r>
          </a:p>
        </p:txBody>
      </p:sp>
      <p:cxnSp>
        <p:nvCxnSpPr>
          <p:cNvPr id="21" name="ara-filter"/>
          <p:cNvCxnSpPr/>
          <p:nvPr/>
        </p:nvCxnSpPr>
        <p:spPr>
          <a:xfrm>
            <a:off x="2112264" y="1828800"/>
            <a:ext cx="0" cy="25146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22" name="filter-split"/>
          <p:cNvCxnSpPr/>
          <p:nvPr/>
        </p:nvCxnSpPr>
        <p:spPr>
          <a:xfrm>
            <a:off x="2400300" y="2308860"/>
            <a:ext cx="114300" cy="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23" name="split-width"/>
          <p:cNvCxnSpPr/>
          <p:nvPr/>
        </p:nvCxnSpPr>
        <p:spPr>
          <a:xfrm>
            <a:off x="3086100" y="2308860"/>
            <a:ext cx="114300" cy="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24" name="gb-domain"/>
          <p:cNvSpPr/>
          <p:nvPr/>
        </p:nvSpPr>
        <p:spPr>
          <a:xfrm>
            <a:off x="4251960" y="914400"/>
            <a:ext cx="4114800" cy="1965960"/>
          </a:xfrm>
          <a:prstGeom prst="rect">
            <a:avLst/>
          </a:prstGeom>
          <a:solidFill>
            <a:srgbClr val="D9EEE8"/>
          </a:solidFill>
          <a:ln w="9144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25: 独立 GB / NPU 子系统"/>
          <p:cNvSpPr txBox="1"/>
          <p:nvPr/>
        </p:nvSpPr>
        <p:spPr>
          <a:xfrm>
            <a:off x="5564896" y="962863"/>
            <a:ext cx="1488929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GB / NPU 子系统</a:t>
            </a:r>
          </a:p>
        </p:txBody>
      </p:sp>
      <p:sp>
        <p:nvSpPr>
          <p:cNvPr id="26" name="npu"/>
          <p:cNvSpPr/>
          <p:nvPr/>
        </p:nvSpPr>
        <p:spPr>
          <a:xfrm>
            <a:off x="4389120" y="1394460"/>
            <a:ext cx="1005840" cy="640080"/>
          </a:xfrm>
          <a:prstGeom prst="rect">
            <a:avLst/>
          </a:prstGeom>
          <a:solidFill>
            <a:srgbClr val="F1D7D9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27: NPU 计算"/>
          <p:cNvSpPr txBox="1"/>
          <p:nvPr/>
        </p:nvSpPr>
        <p:spPr>
          <a:xfrm>
            <a:off x="4561867" y="1542044"/>
            <a:ext cx="66034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28" name="o28: 独立于搬运器"/>
          <p:cNvSpPr txBox="1"/>
          <p:nvPr/>
        </p:nvSpPr>
        <p:spPr>
          <a:xfrm>
            <a:off x="4507992" y="1717243"/>
            <a:ext cx="768096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独立于搬运器</a:t>
            </a:r>
          </a:p>
        </p:txBody>
      </p:sp>
      <p:sp>
        <p:nvSpPr>
          <p:cNvPr id="29" name="router"/>
          <p:cNvSpPr/>
          <p:nvPr/>
        </p:nvSpPr>
        <p:spPr>
          <a:xfrm>
            <a:off x="5554980" y="1394460"/>
            <a:ext cx="1143000" cy="64008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30: 共享数据代理"/>
          <p:cNvSpPr txBox="1"/>
          <p:nvPr/>
        </p:nvSpPr>
        <p:spPr>
          <a:xfrm>
            <a:off x="5678424" y="1542044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共享数据代理</a:t>
            </a:r>
          </a:p>
        </p:txBody>
      </p:sp>
      <p:sp>
        <p:nvSpPr>
          <p:cNvPr id="31" name="o31: 仲裁 / bank 冲突"/>
          <p:cNvSpPr txBox="1"/>
          <p:nvPr/>
        </p:nvSpPr>
        <p:spPr>
          <a:xfrm>
            <a:off x="5658154" y="1717243"/>
            <a:ext cx="936653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仲裁 / bank 冲突</a:t>
            </a:r>
          </a:p>
        </p:txBody>
      </p:sp>
      <p:sp>
        <p:nvSpPr>
          <p:cNvPr id="32" name="gb"/>
          <p:cNvSpPr/>
          <p:nvPr/>
        </p:nvSpPr>
        <p:spPr>
          <a:xfrm>
            <a:off x="6858000" y="1394460"/>
            <a:ext cx="1325880" cy="640080"/>
          </a:xfrm>
          <a:prstGeom prst="rect">
            <a:avLst/>
          </a:prstGeom>
          <a:solidFill>
            <a:srgbClr val="D9EEE8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33: Global Buffer"/>
          <p:cNvSpPr txBox="1"/>
          <p:nvPr/>
        </p:nvSpPr>
        <p:spPr>
          <a:xfrm>
            <a:off x="7093937" y="1464320"/>
            <a:ext cx="85400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4" name="o34: 独立分 bank SRAM"/>
          <p:cNvSpPr txBox="1"/>
          <p:nvPr/>
        </p:nvSpPr>
        <p:spPr>
          <a:xfrm>
            <a:off x="7008840" y="1639519"/>
            <a:ext cx="1024199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独立分 bank SRAM</a:t>
            </a:r>
          </a:p>
        </p:txBody>
      </p:sp>
      <p:sp>
        <p:nvSpPr>
          <p:cNvPr id="35" name="o35: 工作区 / 双缓冲"/>
          <p:cNvSpPr txBox="1"/>
          <p:nvPr/>
        </p:nvSpPr>
        <p:spPr>
          <a:xfrm>
            <a:off x="7075491" y="1794967"/>
            <a:ext cx="890897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工作区 / 双缓冲</a:t>
            </a:r>
          </a:p>
        </p:txBody>
      </p:sp>
      <p:sp>
        <p:nvSpPr>
          <p:cNvPr id="36" name="mover"/>
          <p:cNvSpPr/>
          <p:nvPr/>
        </p:nvSpPr>
        <p:spPr>
          <a:xfrm>
            <a:off x="6858000" y="2263140"/>
            <a:ext cx="1325880" cy="457200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37: NPU / GB 搬运"/>
          <p:cNvSpPr txBox="1"/>
          <p:nvPr/>
        </p:nvSpPr>
        <p:spPr>
          <a:xfrm>
            <a:off x="7037305" y="2319284"/>
            <a:ext cx="96727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38" name="o38: DDR ↔ GB"/>
          <p:cNvSpPr txBox="1"/>
          <p:nvPr/>
        </p:nvSpPr>
        <p:spPr>
          <a:xfrm>
            <a:off x="7201882" y="2494483"/>
            <a:ext cx="638115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DDR ↔ GB</a:t>
            </a:r>
          </a:p>
        </p:txBody>
      </p:sp>
      <p:cxnSp>
        <p:nvCxnSpPr>
          <p:cNvPr id="39" name="npu-router"/>
          <p:cNvCxnSpPr/>
          <p:nvPr/>
        </p:nvCxnSpPr>
        <p:spPr>
          <a:xfrm>
            <a:off x="5394960" y="1714500"/>
            <a:ext cx="160020" cy="0"/>
          </a:xfrm>
          <a:prstGeom prst="line">
            <a:avLst/>
          </a:prstGeom>
          <a:ln w="1371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40" name="router-gb"/>
          <p:cNvCxnSpPr/>
          <p:nvPr/>
        </p:nvCxnSpPr>
        <p:spPr>
          <a:xfrm>
            <a:off x="6697980" y="1714500"/>
            <a:ext cx="160020" cy="0"/>
          </a:xfrm>
          <a:prstGeom prst="line">
            <a:avLst/>
          </a:prstGeom>
          <a:ln w="1371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41" name="mover-router"/>
          <p:cNvSpPr/>
          <p:nvPr/>
        </p:nvSpPr>
        <p:spPr>
          <a:xfrm>
            <a:off x="6126480" y="2034540"/>
            <a:ext cx="731520" cy="457200"/>
          </a:xfrm>
          <a:custGeom>
            <a:avLst/>
            <a:gdLst/>
            <a:ahLst/>
            <a:cxnLst/>
            <a:rect l="0" t="0" r="r" b="b"/>
            <a:pathLst>
              <a:path w="731520" h="457200" fill="none">
                <a:moveTo>
                  <a:pt x="731520" y="457200"/>
                </a:moveTo>
                <a:lnTo>
                  <a:pt x="0" y="457200"/>
                </a:lnTo>
                <a:lnTo>
                  <a:pt x="0" y="0"/>
                </a:lnTo>
              </a:path>
            </a:pathLst>
          </a:custGeom>
          <a:noFill/>
          <a:ln w="1371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ara-gb"/>
          <p:cNvSpPr/>
          <p:nvPr/>
        </p:nvSpPr>
        <p:spPr>
          <a:xfrm>
            <a:off x="3086100" y="1280160"/>
            <a:ext cx="2674620" cy="891540"/>
          </a:xfrm>
          <a:custGeom>
            <a:avLst/>
            <a:gdLst/>
            <a:ahLst/>
            <a:cxnLst/>
            <a:rect l="0" t="0" r="r" b="b"/>
            <a:pathLst>
              <a:path w="2674620" h="891540" fill="none">
                <a:moveTo>
                  <a:pt x="0" y="891540"/>
                </a:moveTo>
                <a:lnTo>
                  <a:pt x="50292" y="891540"/>
                </a:lnTo>
                <a:lnTo>
                  <a:pt x="50292" y="662940"/>
                </a:lnTo>
                <a:lnTo>
                  <a:pt x="1088136" y="662940"/>
                </a:lnTo>
                <a:lnTo>
                  <a:pt x="1088136" y="0"/>
                </a:lnTo>
                <a:lnTo>
                  <a:pt x="2674620" y="0"/>
                </a:lnTo>
                <a:lnTo>
                  <a:pt x="2674620" y="114300"/>
                </a:lnTo>
              </a:path>
            </a:pathLst>
          </a:custGeom>
          <a:noFill/>
          <a:ln w="1371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image-domain"/>
          <p:cNvSpPr/>
          <p:nvPr/>
        </p:nvSpPr>
        <p:spPr>
          <a:xfrm>
            <a:off x="8503920" y="914400"/>
            <a:ext cx="4023360" cy="1965960"/>
          </a:xfrm>
          <a:prstGeom prst="rect">
            <a:avLst/>
          </a:prstGeom>
          <a:solidFill>
            <a:srgbClr val="F5E1C9"/>
          </a:solidFill>
          <a:ln w="9144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o44: 图像接收 / ISP / 帧写入"/>
          <p:cNvSpPr txBox="1"/>
          <p:nvPr/>
        </p:nvSpPr>
        <p:spPr>
          <a:xfrm>
            <a:off x="9714807" y="962863"/>
            <a:ext cx="1601586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图像接收 / ISP / 帧写入</a:t>
            </a:r>
          </a:p>
        </p:txBody>
      </p:sp>
      <p:sp>
        <p:nvSpPr>
          <p:cNvPr id="45" name="lvds"/>
          <p:cNvSpPr/>
          <p:nvPr/>
        </p:nvSpPr>
        <p:spPr>
          <a:xfrm>
            <a:off x="8663940" y="1691640"/>
            <a:ext cx="640080" cy="5715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o46: LVDS"/>
          <p:cNvSpPr txBox="1"/>
          <p:nvPr/>
        </p:nvSpPr>
        <p:spPr>
          <a:xfrm>
            <a:off x="8785587" y="1811701"/>
            <a:ext cx="396785" cy="1901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" name="o47: 解串 / 帧行"/>
          <p:cNvSpPr txBox="1"/>
          <p:nvPr/>
        </p:nvSpPr>
        <p:spPr>
          <a:xfrm>
            <a:off x="8704209" y="1996775"/>
            <a:ext cx="559541" cy="1463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48" name="cdc"/>
          <p:cNvSpPr/>
          <p:nvPr/>
        </p:nvSpPr>
        <p:spPr>
          <a:xfrm>
            <a:off x="9395460" y="1691640"/>
            <a:ext cx="640080" cy="5715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49: CDC/FIFO"/>
          <p:cNvSpPr txBox="1"/>
          <p:nvPr/>
        </p:nvSpPr>
        <p:spPr>
          <a:xfrm>
            <a:off x="9400782" y="1811701"/>
            <a:ext cx="629436" cy="1901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CDC/FIFO</a:t>
            </a:r>
          </a:p>
        </p:txBody>
      </p:sp>
      <p:sp>
        <p:nvSpPr>
          <p:cNvPr id="50" name="o50: 像素缓冲"/>
          <p:cNvSpPr txBox="1"/>
          <p:nvPr/>
        </p:nvSpPr>
        <p:spPr>
          <a:xfrm>
            <a:off x="9486900" y="1996775"/>
            <a:ext cx="457200" cy="1463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像素缓冲</a:t>
            </a:r>
          </a:p>
        </p:txBody>
      </p:sp>
      <p:sp>
        <p:nvSpPr>
          <p:cNvPr id="51" name="isp"/>
          <p:cNvSpPr/>
          <p:nvPr/>
        </p:nvSpPr>
        <p:spPr>
          <a:xfrm>
            <a:off x="10126980" y="1691640"/>
            <a:ext cx="640080" cy="5715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o52: ISP"/>
          <p:cNvSpPr txBox="1"/>
          <p:nvPr/>
        </p:nvSpPr>
        <p:spPr>
          <a:xfrm>
            <a:off x="10302084" y="1811701"/>
            <a:ext cx="289872" cy="1901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53" name="o53: 处理/行缓冲"/>
          <p:cNvSpPr txBox="1"/>
          <p:nvPr/>
        </p:nvSpPr>
        <p:spPr>
          <a:xfrm>
            <a:off x="10148947" y="1996775"/>
            <a:ext cx="596146" cy="1463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处理/行缓冲</a:t>
            </a:r>
          </a:p>
        </p:txBody>
      </p:sp>
      <p:sp>
        <p:nvSpPr>
          <p:cNvPr id="54" name="select"/>
          <p:cNvSpPr/>
          <p:nvPr/>
        </p:nvSpPr>
        <p:spPr>
          <a:xfrm>
            <a:off x="10858500" y="1691640"/>
            <a:ext cx="640080" cy="5715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o55: 帧选择"/>
          <p:cNvSpPr txBox="1"/>
          <p:nvPr/>
        </p:nvSpPr>
        <p:spPr>
          <a:xfrm>
            <a:off x="10940796" y="1811701"/>
            <a:ext cx="475488" cy="1901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帧选择</a:t>
            </a:r>
          </a:p>
        </p:txBody>
      </p:sp>
      <p:sp>
        <p:nvSpPr>
          <p:cNvPr id="56" name="o56: RAW / ISP"/>
          <p:cNvSpPr txBox="1"/>
          <p:nvPr/>
        </p:nvSpPr>
        <p:spPr>
          <a:xfrm>
            <a:off x="10924526" y="1996775"/>
            <a:ext cx="508028" cy="1463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57" name="frame"/>
          <p:cNvSpPr/>
          <p:nvPr/>
        </p:nvSpPr>
        <p:spPr>
          <a:xfrm>
            <a:off x="11590020" y="1691640"/>
            <a:ext cx="731520" cy="5715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o58: 帧 DMA"/>
          <p:cNvSpPr txBox="1"/>
          <p:nvPr/>
        </p:nvSpPr>
        <p:spPr>
          <a:xfrm>
            <a:off x="11697951" y="1811701"/>
            <a:ext cx="515657" cy="1901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 DMA</a:t>
            </a:r>
          </a:p>
        </p:txBody>
      </p:sp>
      <p:sp>
        <p:nvSpPr>
          <p:cNvPr id="59" name="o59: 地址/stride"/>
          <p:cNvSpPr txBox="1"/>
          <p:nvPr/>
        </p:nvSpPr>
        <p:spPr>
          <a:xfrm>
            <a:off x="11681678" y="1996775"/>
            <a:ext cx="548204" cy="1463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地址/stride</a:t>
            </a:r>
          </a:p>
        </p:txBody>
      </p:sp>
      <p:cxnSp>
        <p:nvCxnSpPr>
          <p:cNvPr id="60" name="pixel0"/>
          <p:cNvCxnSpPr/>
          <p:nvPr/>
        </p:nvCxnSpPr>
        <p:spPr>
          <a:xfrm>
            <a:off x="9304020" y="1920240"/>
            <a:ext cx="91440" cy="0"/>
          </a:xfrm>
          <a:prstGeom prst="line">
            <a:avLst/>
          </a:prstGeom>
          <a:ln w="13716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61" name="pixel1"/>
          <p:cNvCxnSpPr/>
          <p:nvPr/>
        </p:nvCxnSpPr>
        <p:spPr>
          <a:xfrm>
            <a:off x="10035540" y="1920240"/>
            <a:ext cx="91440" cy="0"/>
          </a:xfrm>
          <a:prstGeom prst="line">
            <a:avLst/>
          </a:prstGeom>
          <a:ln w="13716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62" name="pixel2"/>
          <p:cNvCxnSpPr/>
          <p:nvPr/>
        </p:nvCxnSpPr>
        <p:spPr>
          <a:xfrm>
            <a:off x="10767060" y="1920240"/>
            <a:ext cx="91440" cy="0"/>
          </a:xfrm>
          <a:prstGeom prst="line">
            <a:avLst/>
          </a:prstGeom>
          <a:ln w="13716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63" name="pixel3"/>
          <p:cNvCxnSpPr/>
          <p:nvPr/>
        </p:nvCxnSpPr>
        <p:spPr>
          <a:xfrm>
            <a:off x="11498580" y="1920240"/>
            <a:ext cx="91440" cy="0"/>
          </a:xfrm>
          <a:prstGeom prst="line">
            <a:avLst/>
          </a:prstGeom>
          <a:ln w="13716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64" name="raw"/>
          <p:cNvSpPr/>
          <p:nvPr/>
        </p:nvSpPr>
        <p:spPr>
          <a:xfrm>
            <a:off x="10081260" y="1508760"/>
            <a:ext cx="1097280" cy="411480"/>
          </a:xfrm>
          <a:custGeom>
            <a:avLst/>
            <a:gdLst/>
            <a:ahLst/>
            <a:cxnLst/>
            <a:rect l="0" t="0" r="r" b="b"/>
            <a:pathLst>
              <a:path w="1097280" h="411480" fill="none">
                <a:moveTo>
                  <a:pt x="0" y="411480"/>
                </a:moveTo>
                <a:lnTo>
                  <a:pt x="0" y="0"/>
                </a:lnTo>
                <a:lnTo>
                  <a:pt x="1097280" y="0"/>
                </a:lnTo>
                <a:lnTo>
                  <a:pt x="1097280" y="182880"/>
                </a:lnTo>
              </a:path>
            </a:pathLst>
          </a:custGeom>
          <a:noFill/>
          <a:ln w="1371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branch"/>
          <p:cNvSpPr/>
          <p:nvPr/>
        </p:nvSpPr>
        <p:spPr>
          <a:xfrm>
            <a:off x="10062972" y="1901952"/>
            <a:ext cx="36576" cy="36576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o66: RAW 旁路"/>
          <p:cNvSpPr txBox="1"/>
          <p:nvPr/>
        </p:nvSpPr>
        <p:spPr>
          <a:xfrm>
            <a:off x="11163560" y="1345265"/>
            <a:ext cx="532881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67" name="isp-gb"/>
          <p:cNvSpPr/>
          <p:nvPr/>
        </p:nvSpPr>
        <p:spPr>
          <a:xfrm>
            <a:off x="6400800" y="1280160"/>
            <a:ext cx="4128516" cy="411480"/>
          </a:xfrm>
          <a:custGeom>
            <a:avLst/>
            <a:gdLst/>
            <a:ahLst/>
            <a:cxnLst/>
            <a:rect l="0" t="0" r="r" b="b"/>
            <a:pathLst>
              <a:path w="4128516" h="411480" fill="none">
                <a:moveTo>
                  <a:pt x="4046220" y="411480"/>
                </a:moveTo>
                <a:lnTo>
                  <a:pt x="4046220" y="274320"/>
                </a:lnTo>
                <a:cubicBezTo>
                  <a:pt x="4128516" y="274320"/>
                  <a:pt x="4128516" y="182880"/>
                  <a:pt x="4046220" y="182880"/>
                </a:cubicBezTo>
                <a:lnTo>
                  <a:pt x="4046220" y="0"/>
                </a:lnTo>
                <a:lnTo>
                  <a:pt x="0" y="0"/>
                </a:lnTo>
                <a:lnTo>
                  <a:pt x="0" y="114300"/>
                </a:lnTo>
              </a:path>
            </a:pathLst>
          </a:custGeom>
          <a:noFill/>
          <a:ln w="1371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o68: ISP 中间数据"/>
          <p:cNvSpPr txBox="1"/>
          <p:nvPr/>
        </p:nvSpPr>
        <p:spPr>
          <a:xfrm>
            <a:off x="8409044" y="1144463"/>
            <a:ext cx="646952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</a:t>
            </a:r>
          </a:p>
        </p:txBody>
      </p:sp>
      <p:sp>
        <p:nvSpPr>
          <p:cNvPr id="69" name="xbar"/>
          <p:cNvSpPr/>
          <p:nvPr/>
        </p:nvSpPr>
        <p:spPr>
          <a:xfrm>
            <a:off x="320040" y="3657600"/>
            <a:ext cx="5760720" cy="548640"/>
          </a:xfrm>
          <a:prstGeom prst="rect">
            <a:avLst/>
          </a:prstGeom>
          <a:solidFill>
            <a:srgbClr val="F5E1C9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o70: 主 AXI Crossbar"/>
          <p:cNvSpPr txBox="1"/>
          <p:nvPr/>
        </p:nvSpPr>
        <p:spPr>
          <a:xfrm>
            <a:off x="2570550" y="3735781"/>
            <a:ext cx="12597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 AXI Crossbar</a:t>
            </a:r>
          </a:p>
        </p:txBody>
      </p:sp>
      <p:sp>
        <p:nvSpPr>
          <p:cNvPr id="71" name="o71: 系统 64 bit"/>
          <p:cNvSpPr txBox="1"/>
          <p:nvPr/>
        </p:nvSpPr>
        <p:spPr>
          <a:xfrm>
            <a:off x="2876895" y="3945545"/>
            <a:ext cx="647009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系统 64 bit</a:t>
            </a:r>
          </a:p>
        </p:txBody>
      </p:sp>
      <p:sp>
        <p:nvSpPr>
          <p:cNvPr id="72" name="cpu-xbar"/>
          <p:cNvSpPr/>
          <p:nvPr/>
        </p:nvSpPr>
        <p:spPr>
          <a:xfrm>
            <a:off x="914400" y="1943100"/>
            <a:ext cx="228600" cy="1714500"/>
          </a:xfrm>
          <a:custGeom>
            <a:avLst/>
            <a:gdLst/>
            <a:ahLst/>
            <a:cxnLst/>
            <a:rect l="0" t="0" r="r" b="b"/>
            <a:pathLst>
              <a:path w="228600" h="1714500" fill="none">
                <a:moveTo>
                  <a:pt x="0" y="0"/>
                </a:moveTo>
                <a:lnTo>
                  <a:pt x="0" y="1257300"/>
                </a:lnTo>
                <a:lnTo>
                  <a:pt x="228600" y="1257300"/>
                </a:lnTo>
                <a:lnTo>
                  <a:pt x="228600" y="1714500"/>
                </a:lnTo>
              </a:path>
            </a:pathLst>
          </a:custGeom>
          <a:noFill/>
          <a:ln w="1371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ara-xbar"/>
          <p:cNvSpPr/>
          <p:nvPr/>
        </p:nvSpPr>
        <p:spPr>
          <a:xfrm>
            <a:off x="3200400" y="2537460"/>
            <a:ext cx="374904" cy="1120140"/>
          </a:xfrm>
          <a:custGeom>
            <a:avLst/>
            <a:gdLst/>
            <a:ahLst/>
            <a:cxnLst/>
            <a:rect l="0" t="0" r="r" b="b"/>
            <a:pathLst>
              <a:path w="374904" h="1120140" fill="none">
                <a:moveTo>
                  <a:pt x="374904" y="0"/>
                </a:moveTo>
                <a:lnTo>
                  <a:pt x="374904" y="754380"/>
                </a:lnTo>
                <a:lnTo>
                  <a:pt x="0" y="754380"/>
                </a:lnTo>
                <a:lnTo>
                  <a:pt x="0" y="1120140"/>
                </a:lnTo>
              </a:path>
            </a:pathLst>
          </a:custGeom>
          <a:noFill/>
          <a:ln w="1371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atomics"/>
          <p:cNvSpPr/>
          <p:nvPr/>
        </p:nvSpPr>
        <p:spPr>
          <a:xfrm>
            <a:off x="1828800" y="4800600"/>
            <a:ext cx="1188720" cy="617220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o75: 原子适配"/>
          <p:cNvSpPr txBox="1"/>
          <p:nvPr/>
        </p:nvSpPr>
        <p:spPr>
          <a:xfrm>
            <a:off x="2103120" y="4936754"/>
            <a:ext cx="6400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76" name="o76: AMO / LRSC"/>
          <p:cNvSpPr txBox="1"/>
          <p:nvPr/>
        </p:nvSpPr>
        <p:spPr>
          <a:xfrm>
            <a:off x="2065740" y="5111953"/>
            <a:ext cx="714839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77" name="llc"/>
          <p:cNvSpPr/>
          <p:nvPr/>
        </p:nvSpPr>
        <p:spPr>
          <a:xfrm>
            <a:off x="3566160" y="4800600"/>
            <a:ext cx="1325880" cy="617220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o78: LLC / SPM"/>
          <p:cNvSpPr txBox="1"/>
          <p:nvPr/>
        </p:nvSpPr>
        <p:spPr>
          <a:xfrm>
            <a:off x="3861922" y="4936754"/>
            <a:ext cx="73435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79" name="o79: WB 缓存 / 片上 SPM"/>
          <p:cNvSpPr txBox="1"/>
          <p:nvPr/>
        </p:nvSpPr>
        <p:spPr>
          <a:xfrm>
            <a:off x="3671941" y="5111953"/>
            <a:ext cx="1114318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WB 缓存 / 片上 SPM</a:t>
            </a:r>
          </a:p>
        </p:txBody>
      </p:sp>
      <p:cxnSp>
        <p:nvCxnSpPr>
          <p:cNvPr id="80" name="xbar-atomics"/>
          <p:cNvCxnSpPr/>
          <p:nvPr/>
        </p:nvCxnSpPr>
        <p:spPr>
          <a:xfrm>
            <a:off x="2423160" y="4206240"/>
            <a:ext cx="0" cy="59436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1" name="atomics-llc"/>
          <p:cNvCxnSpPr/>
          <p:nvPr/>
        </p:nvCxnSpPr>
        <p:spPr>
          <a:xfrm>
            <a:off x="3017520" y="5106924"/>
            <a:ext cx="548640" cy="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2" name="ddr"/>
          <p:cNvSpPr/>
          <p:nvPr/>
        </p:nvSpPr>
        <p:spPr>
          <a:xfrm>
            <a:off x="6400800" y="3657600"/>
            <a:ext cx="4800600" cy="2446020"/>
          </a:xfrm>
          <a:prstGeom prst="rect">
            <a:avLst/>
          </a:prstGeom>
          <a:solidFill>
            <a:srgbClr val="D8E8F4"/>
          </a:solidFill>
          <a:ln w="9144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o83: DDR Controller · 多 AXI slave"/>
          <p:cNvSpPr txBox="1"/>
          <p:nvPr/>
        </p:nvSpPr>
        <p:spPr>
          <a:xfrm>
            <a:off x="7904645" y="5868985"/>
            <a:ext cx="1792910" cy="21214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多 AXI slave</a:t>
            </a:r>
          </a:p>
        </p:txBody>
      </p:sp>
      <p:sp>
        <p:nvSpPr>
          <p:cNvPr id="84" name="ddr-port0"/>
          <p:cNvSpPr/>
          <p:nvPr/>
        </p:nvSpPr>
        <p:spPr>
          <a:xfrm>
            <a:off x="6675120" y="4251960"/>
            <a:ext cx="731520" cy="4572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o85: S0"/>
          <p:cNvSpPr txBox="1"/>
          <p:nvPr/>
        </p:nvSpPr>
        <p:spPr>
          <a:xfrm>
            <a:off x="6898862" y="4308104"/>
            <a:ext cx="28403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86" name="o86: SoC / LLC"/>
          <p:cNvSpPr txBox="1"/>
          <p:nvPr/>
        </p:nvSpPr>
        <p:spPr>
          <a:xfrm>
            <a:off x="6763485" y="4493179"/>
            <a:ext cx="554791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87" name="join0"/>
          <p:cNvCxnSpPr/>
          <p:nvPr/>
        </p:nvCxnSpPr>
        <p:spPr>
          <a:xfrm>
            <a:off x="7040880" y="4709160"/>
            <a:ext cx="0" cy="205740"/>
          </a:xfrm>
          <a:prstGeom prst="line">
            <a:avLst/>
          </a:prstGeom>
          <a:ln w="13716" cap="flat">
            <a:solidFill>
              <a:srgbClr val="314D66"/>
            </a:solidFill>
          </a:ln>
          <a:effectLst/>
        </p:spPr>
      </p:cxnSp>
      <p:sp>
        <p:nvSpPr>
          <p:cNvPr id="88" name="ddr-port1"/>
          <p:cNvSpPr/>
          <p:nvPr/>
        </p:nvSpPr>
        <p:spPr>
          <a:xfrm>
            <a:off x="8458200" y="4251960"/>
            <a:ext cx="731520" cy="4572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o89: S1"/>
          <p:cNvSpPr txBox="1"/>
          <p:nvPr/>
        </p:nvSpPr>
        <p:spPr>
          <a:xfrm>
            <a:off x="8681942" y="4308104"/>
            <a:ext cx="28403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90" name="o90: NPU / GB"/>
          <p:cNvSpPr txBox="1"/>
          <p:nvPr/>
        </p:nvSpPr>
        <p:spPr>
          <a:xfrm>
            <a:off x="8559634" y="4493179"/>
            <a:ext cx="528652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cxnSp>
        <p:nvCxnSpPr>
          <p:cNvPr id="91" name="join1"/>
          <p:cNvCxnSpPr/>
          <p:nvPr/>
        </p:nvCxnSpPr>
        <p:spPr>
          <a:xfrm>
            <a:off x="8823960" y="4709160"/>
            <a:ext cx="0" cy="205740"/>
          </a:xfrm>
          <a:prstGeom prst="line">
            <a:avLst/>
          </a:prstGeom>
          <a:ln w="13716" cap="flat">
            <a:solidFill>
              <a:srgbClr val="314D66"/>
            </a:solidFill>
          </a:ln>
          <a:effectLst/>
        </p:spPr>
      </p:cxnSp>
      <p:sp>
        <p:nvSpPr>
          <p:cNvPr id="92" name="ddr-port2"/>
          <p:cNvSpPr/>
          <p:nvPr/>
        </p:nvSpPr>
        <p:spPr>
          <a:xfrm>
            <a:off x="10241280" y="4251960"/>
            <a:ext cx="731520" cy="45720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o93: S2"/>
          <p:cNvSpPr txBox="1"/>
          <p:nvPr/>
        </p:nvSpPr>
        <p:spPr>
          <a:xfrm>
            <a:off x="10465022" y="4308104"/>
            <a:ext cx="28403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94" name="o94: 帧写入"/>
          <p:cNvSpPr txBox="1"/>
          <p:nvPr/>
        </p:nvSpPr>
        <p:spPr>
          <a:xfrm>
            <a:off x="10405872" y="4493179"/>
            <a:ext cx="402336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cxnSp>
        <p:nvCxnSpPr>
          <p:cNvPr id="95" name="join2"/>
          <p:cNvCxnSpPr/>
          <p:nvPr/>
        </p:nvCxnSpPr>
        <p:spPr>
          <a:xfrm>
            <a:off x="10607040" y="4709160"/>
            <a:ext cx="0" cy="205740"/>
          </a:xfrm>
          <a:prstGeom prst="line">
            <a:avLst/>
          </a:prstGeom>
          <a:ln w="13716" cap="flat">
            <a:solidFill>
              <a:srgbClr val="314D66"/>
            </a:solidFill>
          </a:ln>
          <a:effectLst/>
        </p:spPr>
      </p:cxnSp>
      <p:sp>
        <p:nvSpPr>
          <p:cNvPr id="96" name="llc-ddr"/>
          <p:cNvSpPr/>
          <p:nvPr/>
        </p:nvSpPr>
        <p:spPr>
          <a:xfrm>
            <a:off x="4892040" y="4091940"/>
            <a:ext cx="2148840" cy="1014984"/>
          </a:xfrm>
          <a:custGeom>
            <a:avLst/>
            <a:gdLst/>
            <a:ahLst/>
            <a:cxnLst/>
            <a:rect l="0" t="0" r="r" b="b"/>
            <a:pathLst>
              <a:path w="2148840" h="1014984" fill="none">
                <a:moveTo>
                  <a:pt x="0" y="1014984"/>
                </a:moveTo>
                <a:lnTo>
                  <a:pt x="1325880" y="1014984"/>
                </a:lnTo>
                <a:lnTo>
                  <a:pt x="1325880" y="0"/>
                </a:lnTo>
                <a:lnTo>
                  <a:pt x="2148840" y="0"/>
                </a:lnTo>
                <a:lnTo>
                  <a:pt x="2148840" y="160020"/>
                </a:lnTo>
              </a:path>
            </a:pathLst>
          </a:custGeom>
          <a:noFill/>
          <a:ln w="1371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over-ddr"/>
          <p:cNvSpPr/>
          <p:nvPr/>
        </p:nvSpPr>
        <p:spPr>
          <a:xfrm>
            <a:off x="8183880" y="2491740"/>
            <a:ext cx="640080" cy="1760220"/>
          </a:xfrm>
          <a:custGeom>
            <a:avLst/>
            <a:gdLst/>
            <a:ahLst/>
            <a:cxnLst/>
            <a:rect l="0" t="0" r="r" b="b"/>
            <a:pathLst>
              <a:path w="640080" h="1760220" fill="none">
                <a:moveTo>
                  <a:pt x="0" y="0"/>
                </a:moveTo>
                <a:lnTo>
                  <a:pt x="228600" y="0"/>
                </a:lnTo>
                <a:lnTo>
                  <a:pt x="228600" y="845820"/>
                </a:lnTo>
                <a:lnTo>
                  <a:pt x="640080" y="845820"/>
                </a:lnTo>
                <a:lnTo>
                  <a:pt x="640080" y="1760220"/>
                </a:lnTo>
              </a:path>
            </a:pathLst>
          </a:custGeom>
          <a:noFill/>
          <a:ln w="1371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frame-ddr"/>
          <p:cNvSpPr/>
          <p:nvPr/>
        </p:nvSpPr>
        <p:spPr>
          <a:xfrm>
            <a:off x="10607040" y="2263140"/>
            <a:ext cx="1348740" cy="1988820"/>
          </a:xfrm>
          <a:custGeom>
            <a:avLst/>
            <a:gdLst/>
            <a:ahLst/>
            <a:cxnLst/>
            <a:rect l="0" t="0" r="r" b="b"/>
            <a:pathLst>
              <a:path w="1348740" h="1988820" fill="none">
                <a:moveTo>
                  <a:pt x="1348740" y="0"/>
                </a:moveTo>
                <a:lnTo>
                  <a:pt x="1348740" y="1074420"/>
                </a:lnTo>
                <a:lnTo>
                  <a:pt x="0" y="1074420"/>
                </a:lnTo>
                <a:lnTo>
                  <a:pt x="0" y="1988820"/>
                </a:lnTo>
              </a:path>
            </a:pathLst>
          </a:custGeom>
          <a:noFill/>
          <a:ln w="1371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9" name="ports-merge"/>
          <p:cNvCxnSpPr/>
          <p:nvPr/>
        </p:nvCxnSpPr>
        <p:spPr>
          <a:xfrm>
            <a:off x="7040880" y="4914900"/>
            <a:ext cx="3566160" cy="0"/>
          </a:xfrm>
          <a:prstGeom prst="line">
            <a:avLst/>
          </a:prstGeom>
          <a:ln w="13716" cap="flat">
            <a:solidFill>
              <a:srgbClr val="314D66"/>
            </a:solidFill>
          </a:ln>
          <a:effectLst/>
        </p:spPr>
      </p:cxnSp>
      <p:sp>
        <p:nvSpPr>
          <p:cNvPr id="100" name="qos"/>
          <p:cNvSpPr/>
          <p:nvPr/>
        </p:nvSpPr>
        <p:spPr>
          <a:xfrm>
            <a:off x="6675120" y="5212080"/>
            <a:ext cx="1417320" cy="59436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o101: 端口仲裁 / QoS"/>
          <p:cNvSpPr txBox="1"/>
          <p:nvPr/>
        </p:nvSpPr>
        <p:spPr>
          <a:xfrm>
            <a:off x="6875774" y="5336804"/>
            <a:ext cx="101601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2" name="o102: 共享 DDR 带宽"/>
          <p:cNvSpPr txBox="1"/>
          <p:nvPr/>
        </p:nvSpPr>
        <p:spPr>
          <a:xfrm>
            <a:off x="6970264" y="5512003"/>
            <a:ext cx="827032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sp>
        <p:nvSpPr>
          <p:cNvPr id="103" name="scheduler"/>
          <p:cNvSpPr/>
          <p:nvPr/>
        </p:nvSpPr>
        <p:spPr>
          <a:xfrm>
            <a:off x="8412480" y="5212080"/>
            <a:ext cx="2514600" cy="594360"/>
          </a:xfrm>
          <a:prstGeom prst="rect">
            <a:avLst/>
          </a:prstGeom>
          <a:solidFill>
            <a:srgbClr val="FFFFFF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o104: 读写 / Bank / Row / 命令调度"/>
          <p:cNvSpPr txBox="1"/>
          <p:nvPr/>
        </p:nvSpPr>
        <p:spPr>
          <a:xfrm>
            <a:off x="8815552" y="5421295"/>
            <a:ext cx="1708456" cy="1901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 / Bank / Row / 命令调度</a:t>
            </a:r>
          </a:p>
        </p:txBody>
      </p:sp>
      <p:cxnSp>
        <p:nvCxnSpPr>
          <p:cNvPr id="105" name="qos-in"/>
          <p:cNvCxnSpPr/>
          <p:nvPr/>
        </p:nvCxnSpPr>
        <p:spPr>
          <a:xfrm>
            <a:off x="7383780" y="4914900"/>
            <a:ext cx="0" cy="29718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06" name="qos-core"/>
          <p:cNvCxnSpPr/>
          <p:nvPr/>
        </p:nvCxnSpPr>
        <p:spPr>
          <a:xfrm>
            <a:off x="8092440" y="5509260"/>
            <a:ext cx="320040" cy="0"/>
          </a:xfrm>
          <a:prstGeom prst="line">
            <a:avLst/>
          </a:prstGeom>
          <a:ln w="13716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7" name="phy-ddr"/>
          <p:cNvSpPr/>
          <p:nvPr/>
        </p:nvSpPr>
        <p:spPr>
          <a:xfrm>
            <a:off x="11430000" y="5212080"/>
            <a:ext cx="1051560" cy="594360"/>
          </a:xfrm>
          <a:prstGeom prst="rect">
            <a:avLst/>
          </a:prstGeom>
          <a:solidFill>
            <a:srgbClr val="E8DFED"/>
          </a:solidFill>
          <a:ln w="914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o108: PHY / DDR"/>
          <p:cNvSpPr txBox="1"/>
          <p:nvPr/>
        </p:nvSpPr>
        <p:spPr>
          <a:xfrm>
            <a:off x="11582283" y="5336804"/>
            <a:ext cx="74699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 / DDR</a:t>
            </a:r>
          </a:p>
        </p:txBody>
      </p:sp>
      <p:sp>
        <p:nvSpPr>
          <p:cNvPr id="109" name="o109: 外存器件"/>
          <p:cNvSpPr txBox="1"/>
          <p:nvPr/>
        </p:nvSpPr>
        <p:spPr>
          <a:xfrm>
            <a:off x="11681460" y="5512003"/>
            <a:ext cx="548640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外存器件</a:t>
            </a:r>
          </a:p>
        </p:txBody>
      </p:sp>
      <p:cxnSp>
        <p:nvCxnSpPr>
          <p:cNvPr id="110" name="ddr-phy"/>
          <p:cNvCxnSpPr/>
          <p:nvPr/>
        </p:nvCxnSpPr>
        <p:spPr>
          <a:xfrm>
            <a:off x="10927080" y="5509260"/>
            <a:ext cx="502920" cy="0"/>
          </a:xfrm>
          <a:prstGeom prst="line">
            <a:avLst/>
          </a:prstGeom>
          <a:ln w="1371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1" name="o111: GB 容量、bank、位宽及频率待定"/>
          <p:cNvSpPr txBox="1"/>
          <p:nvPr/>
        </p:nvSpPr>
        <p:spPr>
          <a:xfrm>
            <a:off x="2300230" y="5993160"/>
            <a:ext cx="1937499" cy="197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GB 容量、bank、位宽及频率待定</a:t>
            </a:r>
          </a:p>
        </p:txBody>
      </p:sp>
      <p:sp>
        <p:nvSpPr>
          <p:cNvPr id="112" name="o112: 并行能力取决于 SRAM 带宽与分区"/>
          <p:cNvSpPr txBox="1"/>
          <p:nvPr/>
        </p:nvSpPr>
        <p:spPr>
          <a:xfrm>
            <a:off x="2268044" y="6198900"/>
            <a:ext cx="2001872" cy="197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并行能力取决于 SRAM 带宽与分区</a:t>
            </a:r>
          </a:p>
        </p:txBody>
      </p:sp>
      <p:cxnSp>
        <p:nvCxnSpPr>
          <p:cNvPr id="113" name="legend0"/>
          <p:cNvCxnSpPr/>
          <p:nvPr/>
        </p:nvCxnSpPr>
        <p:spPr>
          <a:xfrm>
            <a:off x="251460" y="6995160"/>
            <a:ext cx="297180" cy="0"/>
          </a:xfrm>
          <a:prstGeom prst="line">
            <a:avLst/>
          </a:prstGeom>
          <a:ln w="1143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4" name="o114: AXI / 外存通路"/>
          <p:cNvSpPr txBox="1"/>
          <p:nvPr/>
        </p:nvSpPr>
        <p:spPr>
          <a:xfrm>
            <a:off x="617220" y="6923105"/>
            <a:ext cx="752123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/ 外存通路</a:t>
            </a:r>
          </a:p>
        </p:txBody>
      </p:sp>
      <p:cxnSp>
        <p:nvCxnSpPr>
          <p:cNvPr id="115" name="legend1"/>
          <p:cNvCxnSpPr/>
          <p:nvPr/>
        </p:nvCxnSpPr>
        <p:spPr>
          <a:xfrm>
            <a:off x="2674620" y="6995160"/>
            <a:ext cx="297180" cy="0"/>
          </a:xfrm>
          <a:prstGeom prst="line">
            <a:avLst/>
          </a:prstGeom>
          <a:ln w="11430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6" name="o116: GB 本地读写"/>
          <p:cNvSpPr txBox="1"/>
          <p:nvPr/>
        </p:nvSpPr>
        <p:spPr>
          <a:xfrm>
            <a:off x="3040380" y="6923105"/>
            <a:ext cx="661654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本地读写</a:t>
            </a:r>
          </a:p>
        </p:txBody>
      </p:sp>
      <p:cxnSp>
        <p:nvCxnSpPr>
          <p:cNvPr id="117" name="legend2"/>
          <p:cNvCxnSpPr/>
          <p:nvPr/>
        </p:nvCxnSpPr>
        <p:spPr>
          <a:xfrm>
            <a:off x="5097780" y="6995160"/>
            <a:ext cx="297180" cy="0"/>
          </a:xfrm>
          <a:prstGeom prst="line">
            <a:avLst/>
          </a:prstGeom>
          <a:ln w="11430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8" name="o118: 像素流"/>
          <p:cNvSpPr txBox="1"/>
          <p:nvPr/>
        </p:nvSpPr>
        <p:spPr>
          <a:xfrm>
            <a:off x="5463540" y="6923105"/>
            <a:ext cx="402336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19" name="coh-coordinator"/>
          <p:cNvSpPr/>
          <p:nvPr/>
        </p:nvSpPr>
        <p:spPr>
          <a:xfrm>
            <a:off x="4389120" y="2971800"/>
            <a:ext cx="3886200" cy="571500"/>
          </a:xfrm>
          <a:prstGeom prst="rect">
            <a:avLst/>
          </a:prstGeom>
          <a:solidFill>
            <a:srgbClr val="E8DFED"/>
          </a:solidFill>
          <a:ln w="7772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-120: 缓存一致性协调（候选）"/>
          <p:cNvSpPr txBox="1"/>
          <p:nvPr/>
        </p:nvSpPr>
        <p:spPr>
          <a:xfrm>
            <a:off x="5591556" y="3092226"/>
            <a:ext cx="1481328" cy="197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缓存一致性协调（候选）</a:t>
            </a:r>
          </a:p>
        </p:txBody>
      </p:sp>
      <p:sp>
        <p:nvSpPr>
          <p:cNvPr id="121" name="text-121: 行状态 / 写权限 / 在途事务 / 探测与完成确认"/>
          <p:cNvSpPr txBox="1"/>
          <p:nvPr/>
        </p:nvSpPr>
        <p:spPr>
          <a:xfrm>
            <a:off x="5160466" y="3267060"/>
            <a:ext cx="2343507" cy="17556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行状态 / 写权限 / 在途事务 / 探测与完成确认</a:t>
            </a:r>
          </a:p>
        </p:txBody>
      </p:sp>
      <p:sp>
        <p:nvSpPr>
          <p:cNvPr id="122" name="coh-cpu"/>
          <p:cNvSpPr/>
          <p:nvPr/>
        </p:nvSpPr>
        <p:spPr>
          <a:xfrm>
            <a:off x="914400" y="731520"/>
            <a:ext cx="3474720" cy="2377440"/>
          </a:xfrm>
          <a:custGeom>
            <a:avLst/>
            <a:gdLst/>
            <a:ahLst/>
            <a:cxnLst/>
            <a:rect l="0" t="0" r="r" b="b"/>
            <a:pathLst>
              <a:path w="3474720" h="2377440" fill="none">
                <a:moveTo>
                  <a:pt x="3474720" y="2377440"/>
                </a:moveTo>
                <a:lnTo>
                  <a:pt x="3314700" y="2377440"/>
                </a:lnTo>
                <a:lnTo>
                  <a:pt x="3314700" y="585216"/>
                </a:lnTo>
                <a:cubicBezTo>
                  <a:pt x="3354324" y="560832"/>
                  <a:pt x="3354324" y="536448"/>
                  <a:pt x="3314700" y="512064"/>
                </a:cubicBezTo>
                <a:lnTo>
                  <a:pt x="3314700" y="0"/>
                </a:lnTo>
                <a:lnTo>
                  <a:pt x="0" y="0"/>
                </a:lnTo>
                <a:lnTo>
                  <a:pt x="0" y="594360"/>
                </a:lnTo>
              </a:path>
            </a:pathLst>
          </a:custGeom>
          <a:noFill/>
          <a:ln w="128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text-123: L1D / 写缓冲：探测与排空"/>
          <p:cNvSpPr txBox="1"/>
          <p:nvPr/>
        </p:nvSpPr>
        <p:spPr>
          <a:xfrm>
            <a:off x="1143000" y="572232"/>
            <a:ext cx="1354191" cy="168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L1D / 写缓冲：探测与排空</a:t>
            </a:r>
          </a:p>
        </p:txBody>
      </p:sp>
      <p:sp>
        <p:nvSpPr>
          <p:cNvPr id="124" name="coh-atomics"/>
          <p:cNvSpPr/>
          <p:nvPr/>
        </p:nvSpPr>
        <p:spPr>
          <a:xfrm>
            <a:off x="182880" y="3320796"/>
            <a:ext cx="4206240" cy="2348484"/>
          </a:xfrm>
          <a:custGeom>
            <a:avLst/>
            <a:gdLst/>
            <a:ahLst/>
            <a:cxnLst/>
            <a:rect l="0" t="0" r="r" b="b"/>
            <a:pathLst>
              <a:path w="4206240" h="2348484" fill="none">
                <a:moveTo>
                  <a:pt x="4206240" y="39624"/>
                </a:moveTo>
                <a:lnTo>
                  <a:pt x="3054096" y="39624"/>
                </a:lnTo>
                <a:cubicBezTo>
                  <a:pt x="3029712" y="0"/>
                  <a:pt x="3005328" y="0"/>
                  <a:pt x="2980944" y="39624"/>
                </a:cubicBezTo>
                <a:lnTo>
                  <a:pt x="996696" y="39624"/>
                </a:lnTo>
                <a:cubicBezTo>
                  <a:pt x="972312" y="0"/>
                  <a:pt x="947928" y="0"/>
                  <a:pt x="923544" y="39624"/>
                </a:cubicBezTo>
                <a:lnTo>
                  <a:pt x="0" y="39624"/>
                </a:lnTo>
                <a:lnTo>
                  <a:pt x="0" y="2348484"/>
                </a:lnTo>
                <a:lnTo>
                  <a:pt x="2240280" y="2348484"/>
                </a:lnTo>
                <a:lnTo>
                  <a:pt x="2240280" y="2097024"/>
                </a:lnTo>
              </a:path>
            </a:pathLst>
          </a:custGeom>
          <a:noFill/>
          <a:ln w="128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text-125: 原子冲突协调"/>
          <p:cNvSpPr txBox="1"/>
          <p:nvPr/>
        </p:nvSpPr>
        <p:spPr>
          <a:xfrm>
            <a:off x="320040" y="3384012"/>
            <a:ext cx="736092" cy="168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原子冲突协调</a:t>
            </a:r>
          </a:p>
        </p:txBody>
      </p:sp>
      <p:sp>
        <p:nvSpPr>
          <p:cNvPr id="126" name="coh-llc"/>
          <p:cNvSpPr/>
          <p:nvPr/>
        </p:nvSpPr>
        <p:spPr>
          <a:xfrm>
            <a:off x="4229100" y="3543300"/>
            <a:ext cx="1937004" cy="2034540"/>
          </a:xfrm>
          <a:custGeom>
            <a:avLst/>
            <a:gdLst/>
            <a:ahLst/>
            <a:cxnLst/>
            <a:rect l="0" t="0" r="r" b="b"/>
            <a:pathLst>
              <a:path w="1937004" h="2034540" fill="none">
                <a:moveTo>
                  <a:pt x="1897380" y="0"/>
                </a:moveTo>
                <a:lnTo>
                  <a:pt x="1897380" y="1527048"/>
                </a:lnTo>
                <a:cubicBezTo>
                  <a:pt x="1937004" y="1551432"/>
                  <a:pt x="1937004" y="1575816"/>
                  <a:pt x="1897380" y="1600200"/>
                </a:cubicBezTo>
                <a:lnTo>
                  <a:pt x="1897380" y="2034540"/>
                </a:lnTo>
                <a:lnTo>
                  <a:pt x="0" y="2034540"/>
                </a:lnTo>
                <a:lnTo>
                  <a:pt x="0" y="1874520"/>
                </a:lnTo>
              </a:path>
            </a:pathLst>
          </a:custGeom>
          <a:noFill/>
          <a:ln w="128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text-127: LLC 探测 / 失效确认"/>
          <p:cNvSpPr txBox="1"/>
          <p:nvPr/>
        </p:nvSpPr>
        <p:spPr>
          <a:xfrm>
            <a:off x="4572000" y="5601432"/>
            <a:ext cx="1055568" cy="168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LLC 探测 / 失效确认</a:t>
            </a:r>
          </a:p>
        </p:txBody>
      </p:sp>
      <p:sp>
        <p:nvSpPr>
          <p:cNvPr id="128" name="coh-s1"/>
          <p:cNvSpPr/>
          <p:nvPr/>
        </p:nvSpPr>
        <p:spPr>
          <a:xfrm>
            <a:off x="8275320" y="3160776"/>
            <a:ext cx="1097280" cy="1319784"/>
          </a:xfrm>
          <a:custGeom>
            <a:avLst/>
            <a:gdLst/>
            <a:ahLst/>
            <a:cxnLst/>
            <a:rect l="0" t="0" r="r" b="b"/>
            <a:pathLst>
              <a:path w="1097280" h="1319784" fill="none">
                <a:moveTo>
                  <a:pt x="0" y="39624"/>
                </a:moveTo>
                <a:lnTo>
                  <a:pt x="100584" y="39624"/>
                </a:lnTo>
                <a:cubicBezTo>
                  <a:pt x="124968" y="0"/>
                  <a:pt x="149352" y="0"/>
                  <a:pt x="173736" y="39624"/>
                </a:cubicBezTo>
                <a:lnTo>
                  <a:pt x="1097280" y="39624"/>
                </a:lnTo>
                <a:lnTo>
                  <a:pt x="1097280" y="1319784"/>
                </a:lnTo>
                <a:lnTo>
                  <a:pt x="914400" y="1319784"/>
                </a:lnTo>
              </a:path>
            </a:pathLst>
          </a:custGeom>
          <a:noFill/>
          <a:ln w="128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text-129: S1 请求准入 / 完成"/>
          <p:cNvSpPr txBox="1"/>
          <p:nvPr/>
        </p:nvSpPr>
        <p:spPr>
          <a:xfrm>
            <a:off x="9441180" y="3018252"/>
            <a:ext cx="1013462" cy="168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S1 请求准入 / 完成</a:t>
            </a:r>
          </a:p>
        </p:txBody>
      </p:sp>
      <p:sp>
        <p:nvSpPr>
          <p:cNvPr id="130" name="coh-s2"/>
          <p:cNvSpPr/>
          <p:nvPr/>
        </p:nvSpPr>
        <p:spPr>
          <a:xfrm>
            <a:off x="8275320" y="3366516"/>
            <a:ext cx="2788920" cy="1114044"/>
          </a:xfrm>
          <a:custGeom>
            <a:avLst/>
            <a:gdLst/>
            <a:ahLst/>
            <a:cxnLst/>
            <a:rect l="0" t="0" r="r" b="b"/>
            <a:pathLst>
              <a:path w="2788920" h="1114044" fill="none">
                <a:moveTo>
                  <a:pt x="0" y="39624"/>
                </a:moveTo>
                <a:lnTo>
                  <a:pt x="512064" y="39624"/>
                </a:lnTo>
                <a:cubicBezTo>
                  <a:pt x="536448" y="0"/>
                  <a:pt x="560832" y="0"/>
                  <a:pt x="585216" y="39624"/>
                </a:cubicBezTo>
                <a:lnTo>
                  <a:pt x="1060704" y="39624"/>
                </a:lnTo>
                <a:cubicBezTo>
                  <a:pt x="1085088" y="0"/>
                  <a:pt x="1109472" y="0"/>
                  <a:pt x="1133856" y="39624"/>
                </a:cubicBezTo>
                <a:lnTo>
                  <a:pt x="1325880" y="39624"/>
                </a:lnTo>
                <a:lnTo>
                  <a:pt x="1325880" y="748284"/>
                </a:lnTo>
                <a:lnTo>
                  <a:pt x="2295144" y="748284"/>
                </a:lnTo>
                <a:cubicBezTo>
                  <a:pt x="2319528" y="708660"/>
                  <a:pt x="2343912" y="708660"/>
                  <a:pt x="2368296" y="748284"/>
                </a:cubicBezTo>
                <a:lnTo>
                  <a:pt x="2788920" y="748284"/>
                </a:lnTo>
                <a:lnTo>
                  <a:pt x="2788920" y="1114044"/>
                </a:lnTo>
                <a:lnTo>
                  <a:pt x="2697480" y="1114044"/>
                </a:lnTo>
              </a:path>
            </a:pathLst>
          </a:custGeom>
          <a:noFill/>
          <a:ln w="128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text-131: S2 请求准入 / 完成"/>
          <p:cNvSpPr txBox="1"/>
          <p:nvPr/>
        </p:nvSpPr>
        <p:spPr>
          <a:xfrm>
            <a:off x="11132820" y="3978372"/>
            <a:ext cx="1013462" cy="168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S2 请求准入 / 完成</a:t>
            </a:r>
          </a:p>
        </p:txBody>
      </p:sp>
      <p:sp>
        <p:nvSpPr>
          <p:cNvPr id="132" name="coh-ddr"/>
          <p:cNvSpPr/>
          <p:nvPr/>
        </p:nvSpPr>
        <p:spPr>
          <a:xfrm>
            <a:off x="7909560" y="3543300"/>
            <a:ext cx="39624" cy="1668780"/>
          </a:xfrm>
          <a:custGeom>
            <a:avLst/>
            <a:gdLst/>
            <a:ahLst/>
            <a:cxnLst/>
            <a:rect l="0" t="0" r="r" b="b"/>
            <a:pathLst>
              <a:path w="39624" h="1668780" fill="none">
                <a:moveTo>
                  <a:pt x="0" y="0"/>
                </a:moveTo>
                <a:lnTo>
                  <a:pt x="0" y="1335024"/>
                </a:lnTo>
                <a:cubicBezTo>
                  <a:pt x="39624" y="1359408"/>
                  <a:pt x="39624" y="1383792"/>
                  <a:pt x="0" y="1408176"/>
                </a:cubicBezTo>
                <a:lnTo>
                  <a:pt x="0" y="1668780"/>
                </a:lnTo>
              </a:path>
            </a:pathLst>
          </a:custGeom>
          <a:noFill/>
          <a:ln w="128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text-133: 在途 / 完成"/>
          <p:cNvSpPr txBox="1"/>
          <p:nvPr/>
        </p:nvSpPr>
        <p:spPr>
          <a:xfrm>
            <a:off x="8001000" y="4961352"/>
            <a:ext cx="643466" cy="168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8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在途 / 完成</a:t>
            </a:r>
          </a:p>
        </p:txBody>
      </p:sp>
      <p:sp>
        <p:nvSpPr>
          <p:cNvPr id="134" name="coh-legend"/>
          <p:cNvSpPr/>
          <p:nvPr/>
        </p:nvSpPr>
        <p:spPr>
          <a:xfrm>
            <a:off x="7863840" y="6995160"/>
            <a:ext cx="320040" cy="1"/>
          </a:xfrm>
          <a:custGeom>
            <a:avLst/>
            <a:gdLst/>
            <a:ahLst/>
            <a:cxnLst/>
            <a:rect l="0" t="0" r="r" b="b"/>
            <a:pathLst>
              <a:path w="320040" h="1" fill="none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text-135: 缓存一致性控制（新增）"/>
          <p:cNvSpPr txBox="1"/>
          <p:nvPr/>
        </p:nvSpPr>
        <p:spPr>
          <a:xfrm>
            <a:off x="8252460" y="6923105"/>
            <a:ext cx="1207008" cy="1609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缓存一致性控制（新增）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DDR 地址数据搬入 GB：最新版本从哪里来"/>
          <p:cNvSpPr txBox="1"/>
          <p:nvPr/>
        </p:nvSpPr>
        <p:spPr>
          <a:xfrm>
            <a:off x="333375" y="100813"/>
            <a:ext cx="4756324" cy="384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地址数据搬入 GB：最新版本从哪里来</a:t>
            </a:r>
          </a:p>
        </p:txBody>
      </p:sp>
      <p:sp>
        <p:nvSpPr>
          <p:cNvPr id="3" name="text-003: 先发布输入并协调目标行，再由 DDR 或持有最新数据的缓存供数"/>
          <p:cNvSpPr txBox="1"/>
          <p:nvPr/>
        </p:nvSpPr>
        <p:spPr>
          <a:xfrm>
            <a:off x="333375" y="467258"/>
            <a:ext cx="472652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先发布输入并协调目标行，再由 DDR 或持有最新数据的缓存供数</a:t>
            </a:r>
          </a:p>
        </p:txBody>
      </p:sp>
      <p:sp>
        <p:nvSpPr>
          <p:cNvPr id="4" name="row-0"/>
          <p:cNvSpPr/>
          <p:nvPr/>
        </p:nvSpPr>
        <p:spPr>
          <a:xfrm>
            <a:off x="266700" y="1000125"/>
            <a:ext cx="12268200" cy="1666875"/>
          </a:xfrm>
          <a:prstGeom prst="rect">
            <a:avLst/>
          </a:prstGeom>
          <a:solidFill>
            <a:srgbClr val="F7F9FA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A  DDR 已最新，无冲突在途事务"/>
          <p:cNvSpPr txBox="1"/>
          <p:nvPr/>
        </p:nvSpPr>
        <p:spPr>
          <a:xfrm>
            <a:off x="433388" y="1072401"/>
            <a:ext cx="2771732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  DDR 已最新，无冲突在途事务</a:t>
            </a:r>
          </a:p>
        </p:txBody>
      </p:sp>
      <p:sp>
        <p:nvSpPr>
          <p:cNvPr id="6" name="r0-0"/>
          <p:cNvSpPr/>
          <p:nvPr/>
        </p:nvSpPr>
        <p:spPr>
          <a:xfrm>
            <a:off x="466725" y="1480185"/>
            <a:ext cx="2533650" cy="7334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DDR"/>
          <p:cNvSpPr txBox="1"/>
          <p:nvPr/>
        </p:nvSpPr>
        <p:spPr>
          <a:xfrm>
            <a:off x="1469137" y="1605801"/>
            <a:ext cx="528827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8" name="text-008: 最新版本可读"/>
          <p:cNvSpPr txBox="1"/>
          <p:nvPr/>
        </p:nvSpPr>
        <p:spPr>
          <a:xfrm>
            <a:off x="1173480" y="1860766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最新版本可读</a:t>
            </a:r>
          </a:p>
        </p:txBody>
      </p:sp>
      <p:sp>
        <p:nvSpPr>
          <p:cNvPr id="9" name="r0-1"/>
          <p:cNvSpPr/>
          <p:nvPr/>
        </p:nvSpPr>
        <p:spPr>
          <a:xfrm>
            <a:off x="3800475" y="1480185"/>
            <a:ext cx="2533650" cy="733425"/>
          </a:xfrm>
          <a:prstGeom prst="rect">
            <a:avLst/>
          </a:prstGeom>
          <a:solidFill>
            <a:srgbClr val="E8DFED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设备一致性入口"/>
          <p:cNvSpPr txBox="1"/>
          <p:nvPr/>
        </p:nvSpPr>
        <p:spPr>
          <a:xfrm>
            <a:off x="4347210" y="1605801"/>
            <a:ext cx="1440180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设备一致性入口</a:t>
            </a:r>
          </a:p>
        </p:txBody>
      </p:sp>
      <p:sp>
        <p:nvSpPr>
          <p:cNvPr id="11" name="text-011: 确认 DDR 版本已最新"/>
          <p:cNvSpPr txBox="1"/>
          <p:nvPr/>
        </p:nvSpPr>
        <p:spPr>
          <a:xfrm>
            <a:off x="4224226" y="1860766"/>
            <a:ext cx="168614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确认 DDR 版本已最新</a:t>
            </a:r>
          </a:p>
        </p:txBody>
      </p:sp>
      <p:sp>
        <p:nvSpPr>
          <p:cNvPr id="12" name="r0-2"/>
          <p:cNvSpPr/>
          <p:nvPr/>
        </p:nvSpPr>
        <p:spPr>
          <a:xfrm>
            <a:off x="7134225" y="1480185"/>
            <a:ext cx="2333625" cy="7334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搬运器"/>
          <p:cNvSpPr txBox="1"/>
          <p:nvPr/>
        </p:nvSpPr>
        <p:spPr>
          <a:xfrm>
            <a:off x="7940992" y="1605801"/>
            <a:ext cx="720090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搬运器</a:t>
            </a:r>
          </a:p>
        </p:txBody>
      </p:sp>
      <p:sp>
        <p:nvSpPr>
          <p:cNvPr id="14" name="text-014: 接收本次读取结果"/>
          <p:cNvSpPr txBox="1"/>
          <p:nvPr/>
        </p:nvSpPr>
        <p:spPr>
          <a:xfrm>
            <a:off x="7580948" y="1860766"/>
            <a:ext cx="14401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接收本次读取结果</a:t>
            </a:r>
          </a:p>
        </p:txBody>
      </p:sp>
      <p:sp>
        <p:nvSpPr>
          <p:cNvPr id="15" name="r0-3"/>
          <p:cNvSpPr/>
          <p:nvPr/>
        </p:nvSpPr>
        <p:spPr>
          <a:xfrm>
            <a:off x="10334625" y="1480185"/>
            <a:ext cx="1933575" cy="733425"/>
          </a:xfrm>
          <a:prstGeom prst="rect">
            <a:avLst/>
          </a:prstGeom>
          <a:solidFill>
            <a:srgbClr val="D9EEE8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GB（经共享代理）"/>
          <p:cNvSpPr txBox="1"/>
          <p:nvPr/>
        </p:nvSpPr>
        <p:spPr>
          <a:xfrm>
            <a:off x="10466256" y="1605801"/>
            <a:ext cx="1670313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GB（经共享代理）</a:t>
            </a:r>
          </a:p>
        </p:txBody>
      </p:sp>
      <p:sp>
        <p:nvSpPr>
          <p:cNvPr id="17" name="text-017: 写入后发布 ready"/>
          <p:cNvSpPr txBox="1"/>
          <p:nvPr/>
        </p:nvSpPr>
        <p:spPr>
          <a:xfrm>
            <a:off x="10608826" y="1860766"/>
            <a:ext cx="138517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写入后发布 ready</a:t>
            </a:r>
          </a:p>
        </p:txBody>
      </p:sp>
      <p:sp>
        <p:nvSpPr>
          <p:cNvPr id="18" name="r0-flow-0"/>
          <p:cNvSpPr/>
          <p:nvPr/>
        </p:nvSpPr>
        <p:spPr>
          <a:xfrm>
            <a:off x="3000375" y="1846898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18669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0-flow-1"/>
          <p:cNvSpPr/>
          <p:nvPr/>
        </p:nvSpPr>
        <p:spPr>
          <a:xfrm>
            <a:off x="6334125" y="1846898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18669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0-flow-2"/>
          <p:cNvSpPr/>
          <p:nvPr/>
        </p:nvSpPr>
        <p:spPr>
          <a:xfrm>
            <a:off x="9467850" y="1846898"/>
            <a:ext cx="866775" cy="1"/>
          </a:xfrm>
          <a:custGeom>
            <a:avLst/>
            <a:gdLst/>
            <a:ahLst/>
            <a:cxnLst/>
            <a:rect l="0" t="0" r="r" b="b"/>
            <a:pathLst>
              <a:path w="866775" h="1" fill="none">
                <a:moveTo>
                  <a:pt x="0" y="0"/>
                </a:moveTo>
                <a:lnTo>
                  <a:pt x="866775" y="0"/>
                </a:lnTo>
              </a:path>
            </a:pathLst>
          </a:custGeom>
          <a:noFill/>
          <a:ln w="18669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DDR 已保存最新版本，L1D / LLC 的干净副本可以继续使用。"/>
          <p:cNvSpPr txBox="1"/>
          <p:nvPr/>
        </p:nvSpPr>
        <p:spPr>
          <a:xfrm>
            <a:off x="466725" y="2307488"/>
            <a:ext cx="4486029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DDR 已保存最新版本，L1D / LLC 的干净副本可以继续使用。</a:t>
            </a:r>
          </a:p>
        </p:txBody>
      </p:sp>
      <p:sp>
        <p:nvSpPr>
          <p:cNvPr id="22" name="row-1"/>
          <p:cNvSpPr/>
          <p:nvPr/>
        </p:nvSpPr>
        <p:spPr>
          <a:xfrm>
            <a:off x="266700" y="2900362"/>
            <a:ext cx="12268200" cy="1666875"/>
          </a:xfrm>
          <a:prstGeom prst="rect">
            <a:avLst/>
          </a:prstGeom>
          <a:solidFill>
            <a:srgbClr val="F7F9FA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B  LLC 持有最新脏数据"/>
          <p:cNvSpPr txBox="1"/>
          <p:nvPr/>
        </p:nvSpPr>
        <p:spPr>
          <a:xfrm>
            <a:off x="433388" y="2972638"/>
            <a:ext cx="2005053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  LLC 持有最新脏数据</a:t>
            </a:r>
          </a:p>
        </p:txBody>
      </p:sp>
      <p:sp>
        <p:nvSpPr>
          <p:cNvPr id="24" name="r1-0"/>
          <p:cNvSpPr/>
          <p:nvPr/>
        </p:nvSpPr>
        <p:spPr>
          <a:xfrm>
            <a:off x="466725" y="3380422"/>
            <a:ext cx="2533650" cy="7334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LLC 脏行"/>
          <p:cNvSpPr txBox="1"/>
          <p:nvPr/>
        </p:nvSpPr>
        <p:spPr>
          <a:xfrm>
            <a:off x="1290786" y="3506038"/>
            <a:ext cx="885527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脏行</a:t>
            </a:r>
          </a:p>
        </p:txBody>
      </p:sp>
      <p:sp>
        <p:nvSpPr>
          <p:cNvPr id="26" name="text-026: 比 DDR 更新"/>
          <p:cNvSpPr txBox="1"/>
          <p:nvPr/>
        </p:nvSpPr>
        <p:spPr>
          <a:xfrm>
            <a:off x="1210516" y="3761003"/>
            <a:ext cx="104606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比 DDR 更新</a:t>
            </a:r>
          </a:p>
        </p:txBody>
      </p:sp>
      <p:sp>
        <p:nvSpPr>
          <p:cNvPr id="27" name="r1-1"/>
          <p:cNvSpPr/>
          <p:nvPr/>
        </p:nvSpPr>
        <p:spPr>
          <a:xfrm>
            <a:off x="3800475" y="3380422"/>
            <a:ext cx="2533650" cy="733425"/>
          </a:xfrm>
          <a:prstGeom prst="rect">
            <a:avLst/>
          </a:prstGeom>
          <a:solidFill>
            <a:srgbClr val="E8DFED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设备一致性入口"/>
          <p:cNvSpPr txBox="1"/>
          <p:nvPr/>
        </p:nvSpPr>
        <p:spPr>
          <a:xfrm>
            <a:off x="4347210" y="3506038"/>
            <a:ext cx="1440180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设备一致性入口</a:t>
            </a:r>
          </a:p>
        </p:txBody>
      </p:sp>
      <p:sp>
        <p:nvSpPr>
          <p:cNvPr id="29" name="text-029: 取得缓存数据"/>
          <p:cNvSpPr txBox="1"/>
          <p:nvPr/>
        </p:nvSpPr>
        <p:spPr>
          <a:xfrm>
            <a:off x="4507230" y="3761003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取得缓存数据</a:t>
            </a:r>
          </a:p>
        </p:txBody>
      </p:sp>
      <p:sp>
        <p:nvSpPr>
          <p:cNvPr id="30" name="r1-2"/>
          <p:cNvSpPr/>
          <p:nvPr/>
        </p:nvSpPr>
        <p:spPr>
          <a:xfrm>
            <a:off x="7134225" y="3380422"/>
            <a:ext cx="2333625" cy="7334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搬运器"/>
          <p:cNvSpPr txBox="1"/>
          <p:nvPr/>
        </p:nvSpPr>
        <p:spPr>
          <a:xfrm>
            <a:off x="7940992" y="3506038"/>
            <a:ext cx="720090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搬运器</a:t>
            </a:r>
          </a:p>
        </p:txBody>
      </p:sp>
      <p:sp>
        <p:nvSpPr>
          <p:cNvPr id="32" name="text-032: 接收最新版本"/>
          <p:cNvSpPr txBox="1"/>
          <p:nvPr/>
        </p:nvSpPr>
        <p:spPr>
          <a:xfrm>
            <a:off x="7740968" y="3761003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接收最新版本</a:t>
            </a:r>
          </a:p>
        </p:txBody>
      </p:sp>
      <p:sp>
        <p:nvSpPr>
          <p:cNvPr id="33" name="r1-3"/>
          <p:cNvSpPr/>
          <p:nvPr/>
        </p:nvSpPr>
        <p:spPr>
          <a:xfrm>
            <a:off x="10334625" y="3380422"/>
            <a:ext cx="1933575" cy="733425"/>
          </a:xfrm>
          <a:prstGeom prst="rect">
            <a:avLst/>
          </a:prstGeom>
          <a:solidFill>
            <a:srgbClr val="D9EEE8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GB（经共享代理）"/>
          <p:cNvSpPr txBox="1"/>
          <p:nvPr/>
        </p:nvSpPr>
        <p:spPr>
          <a:xfrm>
            <a:off x="10466256" y="3506038"/>
            <a:ext cx="1670313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GB（经共享代理）</a:t>
            </a:r>
          </a:p>
        </p:txBody>
      </p:sp>
      <p:sp>
        <p:nvSpPr>
          <p:cNvPr id="35" name="text-035: 保存本次读取版本"/>
          <p:cNvSpPr txBox="1"/>
          <p:nvPr/>
        </p:nvSpPr>
        <p:spPr>
          <a:xfrm>
            <a:off x="10581322" y="3761003"/>
            <a:ext cx="14401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保存本次读取版本</a:t>
            </a:r>
          </a:p>
        </p:txBody>
      </p:sp>
      <p:sp>
        <p:nvSpPr>
          <p:cNvPr id="36" name="r1-flow-0"/>
          <p:cNvSpPr/>
          <p:nvPr/>
        </p:nvSpPr>
        <p:spPr>
          <a:xfrm>
            <a:off x="3000375" y="3747135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18669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1-flow-1"/>
          <p:cNvSpPr/>
          <p:nvPr/>
        </p:nvSpPr>
        <p:spPr>
          <a:xfrm>
            <a:off x="6334125" y="3747135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18669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1-flow-2"/>
          <p:cNvSpPr/>
          <p:nvPr/>
        </p:nvSpPr>
        <p:spPr>
          <a:xfrm>
            <a:off x="9467850" y="3747135"/>
            <a:ext cx="866775" cy="1"/>
          </a:xfrm>
          <a:custGeom>
            <a:avLst/>
            <a:gdLst/>
            <a:ahLst/>
            <a:cxnLst/>
            <a:rect l="0" t="0" r="r" b="b"/>
            <a:pathLst>
              <a:path w="866775" h="1" fill="none">
                <a:moveTo>
                  <a:pt x="0" y="0"/>
                </a:moveTo>
                <a:lnTo>
                  <a:pt x="866775" y="0"/>
                </a:lnTo>
              </a:path>
            </a:pathLst>
          </a:custGeom>
          <a:noFill/>
          <a:ln w="18669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缓存可直接供数（候选）；采用 DDR 供数路径时，先 clean 到 DDR 再"/>
          <p:cNvSpPr txBox="1"/>
          <p:nvPr/>
        </p:nvSpPr>
        <p:spPr>
          <a:xfrm>
            <a:off x="466725" y="4207726"/>
            <a:ext cx="560226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缓存可直接供数（候选）；采用 DDR 供数路径时，先 clean 到 DDR 再读取。</a:t>
            </a:r>
          </a:p>
        </p:txBody>
      </p:sp>
      <p:sp>
        <p:nvSpPr>
          <p:cNvPr id="40" name="row-2"/>
          <p:cNvSpPr/>
          <p:nvPr/>
        </p:nvSpPr>
        <p:spPr>
          <a:xfrm>
            <a:off x="266700" y="4800600"/>
            <a:ext cx="12268200" cy="1666875"/>
          </a:xfrm>
          <a:prstGeom prst="rect">
            <a:avLst/>
          </a:prstGeom>
          <a:solidFill>
            <a:srgbClr val="F7F9FA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C  CPU 有按顺序必须先完成的写"/>
          <p:cNvSpPr txBox="1"/>
          <p:nvPr/>
        </p:nvSpPr>
        <p:spPr>
          <a:xfrm>
            <a:off x="433388" y="4872876"/>
            <a:ext cx="2761001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  CPU 有按顺序必须先完成的写</a:t>
            </a:r>
          </a:p>
        </p:txBody>
      </p:sp>
      <p:sp>
        <p:nvSpPr>
          <p:cNvPr id="42" name="r2-0"/>
          <p:cNvSpPr/>
          <p:nvPr/>
        </p:nvSpPr>
        <p:spPr>
          <a:xfrm>
            <a:off x="466725" y="5280660"/>
            <a:ext cx="2533650" cy="733425"/>
          </a:xfrm>
          <a:prstGeom prst="rect">
            <a:avLst/>
          </a:prstGeom>
          <a:solidFill>
            <a:srgbClr val="F1D7D9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CPU 写缓冲"/>
          <p:cNvSpPr txBox="1"/>
          <p:nvPr/>
        </p:nvSpPr>
        <p:spPr>
          <a:xfrm>
            <a:off x="1182846" y="5406276"/>
            <a:ext cx="1101408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写缓冲</a:t>
            </a:r>
          </a:p>
        </p:txBody>
      </p:sp>
      <p:sp>
        <p:nvSpPr>
          <p:cNvPr id="44" name="text-044: 建立发布顺序 / 排空"/>
          <p:cNvSpPr txBox="1"/>
          <p:nvPr/>
        </p:nvSpPr>
        <p:spPr>
          <a:xfrm>
            <a:off x="923918" y="5661241"/>
            <a:ext cx="161926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建立发布顺序 / 排空</a:t>
            </a:r>
          </a:p>
        </p:txBody>
      </p:sp>
      <p:sp>
        <p:nvSpPr>
          <p:cNvPr id="45" name="r2-1"/>
          <p:cNvSpPr/>
          <p:nvPr/>
        </p:nvSpPr>
        <p:spPr>
          <a:xfrm>
            <a:off x="3800475" y="5280660"/>
            <a:ext cx="2533650" cy="7334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LLC / 共享点"/>
          <p:cNvSpPr txBox="1"/>
          <p:nvPr/>
        </p:nvSpPr>
        <p:spPr>
          <a:xfrm>
            <a:off x="4460771" y="5406276"/>
            <a:ext cx="1213058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共享点</a:t>
            </a:r>
          </a:p>
        </p:txBody>
      </p:sp>
      <p:sp>
        <p:nvSpPr>
          <p:cNvPr id="47" name="text-047: 接收已排序的更新"/>
          <p:cNvSpPr txBox="1"/>
          <p:nvPr/>
        </p:nvSpPr>
        <p:spPr>
          <a:xfrm>
            <a:off x="4347210" y="5661241"/>
            <a:ext cx="14401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接收已排序的更新</a:t>
            </a:r>
          </a:p>
        </p:txBody>
      </p:sp>
      <p:sp>
        <p:nvSpPr>
          <p:cNvPr id="48" name="r2-2"/>
          <p:cNvSpPr/>
          <p:nvPr/>
        </p:nvSpPr>
        <p:spPr>
          <a:xfrm>
            <a:off x="7134225" y="5280660"/>
            <a:ext cx="2333625" cy="733425"/>
          </a:xfrm>
          <a:prstGeom prst="rect">
            <a:avLst/>
          </a:prstGeom>
          <a:solidFill>
            <a:srgbClr val="E8DFED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协调后搬运"/>
          <p:cNvSpPr txBox="1"/>
          <p:nvPr/>
        </p:nvSpPr>
        <p:spPr>
          <a:xfrm>
            <a:off x="7760970" y="5406276"/>
            <a:ext cx="1080135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协调后搬运</a:t>
            </a:r>
          </a:p>
        </p:txBody>
      </p:sp>
      <p:sp>
        <p:nvSpPr>
          <p:cNvPr id="50" name="text-050: 等待先行写可见"/>
          <p:cNvSpPr txBox="1"/>
          <p:nvPr/>
        </p:nvSpPr>
        <p:spPr>
          <a:xfrm>
            <a:off x="7660958" y="5661241"/>
            <a:ext cx="128016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等待先行写可见</a:t>
            </a:r>
          </a:p>
        </p:txBody>
      </p:sp>
      <p:sp>
        <p:nvSpPr>
          <p:cNvPr id="51" name="r2-3"/>
          <p:cNvSpPr/>
          <p:nvPr/>
        </p:nvSpPr>
        <p:spPr>
          <a:xfrm>
            <a:off x="10334625" y="5280660"/>
            <a:ext cx="1933575" cy="733425"/>
          </a:xfrm>
          <a:prstGeom prst="rect">
            <a:avLst/>
          </a:prstGeom>
          <a:solidFill>
            <a:srgbClr val="D9EEE8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GB（经共享代理）"/>
          <p:cNvSpPr txBox="1"/>
          <p:nvPr/>
        </p:nvSpPr>
        <p:spPr>
          <a:xfrm>
            <a:off x="10466256" y="5406276"/>
            <a:ext cx="1670313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GB（经共享代理）</a:t>
            </a:r>
          </a:p>
        </p:txBody>
      </p:sp>
      <p:sp>
        <p:nvSpPr>
          <p:cNvPr id="53" name="text-053: 数据完整后才 ready"/>
          <p:cNvSpPr txBox="1"/>
          <p:nvPr/>
        </p:nvSpPr>
        <p:spPr>
          <a:xfrm>
            <a:off x="10528816" y="5661241"/>
            <a:ext cx="154519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数据完整后才 ready</a:t>
            </a:r>
          </a:p>
        </p:txBody>
      </p:sp>
      <p:sp>
        <p:nvSpPr>
          <p:cNvPr id="54" name="r2-flow-0"/>
          <p:cNvSpPr/>
          <p:nvPr/>
        </p:nvSpPr>
        <p:spPr>
          <a:xfrm>
            <a:off x="3000375" y="5647372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18669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2-flow-1"/>
          <p:cNvSpPr/>
          <p:nvPr/>
        </p:nvSpPr>
        <p:spPr>
          <a:xfrm>
            <a:off x="6334125" y="5647372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18669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2-flow-2"/>
          <p:cNvSpPr/>
          <p:nvPr/>
        </p:nvSpPr>
        <p:spPr>
          <a:xfrm>
            <a:off x="9467850" y="5647372"/>
            <a:ext cx="866775" cy="1"/>
          </a:xfrm>
          <a:custGeom>
            <a:avLst/>
            <a:gdLst/>
            <a:ahLst/>
            <a:cxnLst/>
            <a:rect l="0" t="0" r="r" b="b"/>
            <a:pathLst>
              <a:path w="866775" h="1" fill="none">
                <a:moveTo>
                  <a:pt x="0" y="0"/>
                </a:moveTo>
                <a:lnTo>
                  <a:pt x="866775" y="0"/>
                </a:lnTo>
              </a:path>
            </a:pathLst>
          </a:custGeom>
          <a:noFill/>
          <a:ln w="18669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CPU 先发布输入；协调点等待相关写完成，并处理同址回填与替换。"/>
          <p:cNvSpPr txBox="1"/>
          <p:nvPr/>
        </p:nvSpPr>
        <p:spPr>
          <a:xfrm>
            <a:off x="466725" y="6107963"/>
            <a:ext cx="4979529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CPU 先发布输入；协调点等待相关写完成，并处理同址回填与替换。</a:t>
            </a:r>
          </a:p>
        </p:txBody>
      </p:sp>
      <p:sp>
        <p:nvSpPr>
          <p:cNvPr id="58" name="text-058: GB 保存本次搬入的数据版本；后续计算需要更新后的源数据时，重新搬运。"/>
          <p:cNvSpPr txBox="1"/>
          <p:nvPr/>
        </p:nvSpPr>
        <p:spPr>
          <a:xfrm>
            <a:off x="366712" y="6687502"/>
            <a:ext cx="5763741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保存本次搬入的数据版本；后续计算需要更新后的源数据时，重新搬运。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GB 数据写入 DDR：先协调，再发布新版本"/>
          <p:cNvSpPr txBox="1"/>
          <p:nvPr/>
        </p:nvSpPr>
        <p:spPr>
          <a:xfrm>
            <a:off x="333375" y="100813"/>
            <a:ext cx="4756324" cy="384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数据写入 DDR：先协调，再发布新版本</a:t>
            </a:r>
          </a:p>
        </p:txBody>
      </p:sp>
      <p:sp>
        <p:nvSpPr>
          <p:cNvPr id="3" name="text-003: 完整覆盖与部分更新都需处理在途冲突、失效确认及任务完成；下图为逻辑阶段"/>
          <p:cNvSpPr txBox="1"/>
          <p:nvPr/>
        </p:nvSpPr>
        <p:spPr>
          <a:xfrm>
            <a:off x="333375" y="467258"/>
            <a:ext cx="576072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完整覆盖与部分更新都需处理在途冲突、失效确认及任务完成；下图为逻辑阶段</a:t>
            </a:r>
          </a:p>
        </p:txBody>
      </p:sp>
      <p:sp>
        <p:nvSpPr>
          <p:cNvPr id="4" name="full-panel"/>
          <p:cNvSpPr/>
          <p:nvPr/>
        </p:nvSpPr>
        <p:spPr>
          <a:xfrm>
            <a:off x="266700" y="1000125"/>
            <a:ext cx="12268200" cy="2333625"/>
          </a:xfrm>
          <a:prstGeom prst="rect">
            <a:avLst/>
          </a:prstGeom>
          <a:solidFill>
            <a:srgbClr val="F7F9FA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A  完整覆盖所有相关一致性粒度"/>
          <p:cNvSpPr txBox="1"/>
          <p:nvPr/>
        </p:nvSpPr>
        <p:spPr>
          <a:xfrm>
            <a:off x="433388" y="1091870"/>
            <a:ext cx="2830083" cy="2987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  完整覆盖所有相关一致性粒度</a:t>
            </a:r>
          </a:p>
        </p:txBody>
      </p:sp>
      <p:sp>
        <p:nvSpPr>
          <p:cNvPr id="6" name="full-0"/>
          <p:cNvSpPr/>
          <p:nvPr/>
        </p:nvSpPr>
        <p:spPr>
          <a:xfrm>
            <a:off x="400050" y="1566862"/>
            <a:ext cx="2000250" cy="1000125"/>
          </a:xfrm>
          <a:prstGeom prst="rect">
            <a:avLst/>
          </a:prstGeom>
          <a:solidFill>
            <a:srgbClr val="D9EEE8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GB 数据（经代理）"/>
          <p:cNvSpPr txBox="1"/>
          <p:nvPr/>
        </p:nvSpPr>
        <p:spPr>
          <a:xfrm>
            <a:off x="538031" y="1712481"/>
            <a:ext cx="1724288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数据（经代理）</a:t>
            </a:r>
          </a:p>
        </p:txBody>
      </p:sp>
      <p:sp>
        <p:nvSpPr>
          <p:cNvPr id="8" name="text-008: 全行备妥"/>
          <p:cNvSpPr txBox="1"/>
          <p:nvPr/>
        </p:nvSpPr>
        <p:spPr>
          <a:xfrm>
            <a:off x="1000125" y="1967446"/>
            <a:ext cx="8001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全行备妥</a:t>
            </a:r>
          </a:p>
        </p:txBody>
      </p:sp>
      <p:sp>
        <p:nvSpPr>
          <p:cNvPr id="9" name="text-009: 全部字节有效"/>
          <p:cNvSpPr txBox="1"/>
          <p:nvPr/>
        </p:nvSpPr>
        <p:spPr>
          <a:xfrm>
            <a:off x="840105" y="2200808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全部字节有效</a:t>
            </a:r>
          </a:p>
        </p:txBody>
      </p:sp>
      <p:sp>
        <p:nvSpPr>
          <p:cNvPr id="10" name="full-1"/>
          <p:cNvSpPr/>
          <p:nvPr/>
        </p:nvSpPr>
        <p:spPr>
          <a:xfrm>
            <a:off x="2867025" y="1566862"/>
            <a:ext cx="2000250" cy="1000125"/>
          </a:xfrm>
          <a:prstGeom prst="rect">
            <a:avLst/>
          </a:prstGeom>
          <a:solidFill>
            <a:srgbClr val="E8DFED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目标行协调"/>
          <p:cNvSpPr txBox="1"/>
          <p:nvPr/>
        </p:nvSpPr>
        <p:spPr>
          <a:xfrm>
            <a:off x="3327082" y="1712481"/>
            <a:ext cx="1080135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目标行协调</a:t>
            </a:r>
          </a:p>
        </p:txBody>
      </p:sp>
      <p:sp>
        <p:nvSpPr>
          <p:cNvPr id="12" name="text-012: 排序在途访问"/>
          <p:cNvSpPr txBox="1"/>
          <p:nvPr/>
        </p:nvSpPr>
        <p:spPr>
          <a:xfrm>
            <a:off x="3307080" y="1967446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排序在途访问</a:t>
            </a:r>
          </a:p>
        </p:txBody>
      </p:sp>
      <p:sp>
        <p:nvSpPr>
          <p:cNvPr id="13" name="text-013: 取得本次写权限"/>
          <p:cNvSpPr txBox="1"/>
          <p:nvPr/>
        </p:nvSpPr>
        <p:spPr>
          <a:xfrm>
            <a:off x="3227070" y="2200808"/>
            <a:ext cx="128016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取得本次写权限</a:t>
            </a:r>
          </a:p>
        </p:txBody>
      </p:sp>
      <p:sp>
        <p:nvSpPr>
          <p:cNvPr id="14" name="full-2"/>
          <p:cNvSpPr/>
          <p:nvPr/>
        </p:nvSpPr>
        <p:spPr>
          <a:xfrm>
            <a:off x="5334000" y="1566862"/>
            <a:ext cx="2000250" cy="10001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L1D / LLC"/>
          <p:cNvSpPr txBox="1"/>
          <p:nvPr/>
        </p:nvSpPr>
        <p:spPr>
          <a:xfrm>
            <a:off x="5839318" y="1712481"/>
            <a:ext cx="989613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/ LLC</a:t>
            </a:r>
          </a:p>
        </p:txBody>
      </p:sp>
      <p:sp>
        <p:nvSpPr>
          <p:cNvPr id="16" name="text-016: 失效并确认"/>
          <p:cNvSpPr txBox="1"/>
          <p:nvPr/>
        </p:nvSpPr>
        <p:spPr>
          <a:xfrm>
            <a:off x="5854065" y="1967446"/>
            <a:ext cx="96012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失效并确认</a:t>
            </a:r>
          </a:p>
        </p:txBody>
      </p:sp>
      <p:sp>
        <p:nvSpPr>
          <p:cNvPr id="17" name="text-017: 完整覆盖可省回写"/>
          <p:cNvSpPr txBox="1"/>
          <p:nvPr/>
        </p:nvSpPr>
        <p:spPr>
          <a:xfrm>
            <a:off x="5614035" y="2200808"/>
            <a:ext cx="14401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完整覆盖可省回写</a:t>
            </a:r>
          </a:p>
        </p:txBody>
      </p:sp>
      <p:sp>
        <p:nvSpPr>
          <p:cNvPr id="18" name="full-3"/>
          <p:cNvSpPr/>
          <p:nvPr/>
        </p:nvSpPr>
        <p:spPr>
          <a:xfrm>
            <a:off x="7800975" y="1566862"/>
            <a:ext cx="2000250" cy="10001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DDR 写入"/>
          <p:cNvSpPr txBox="1"/>
          <p:nvPr/>
        </p:nvSpPr>
        <p:spPr>
          <a:xfrm>
            <a:off x="8329676" y="1712481"/>
            <a:ext cx="942847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写入</a:t>
            </a:r>
          </a:p>
        </p:txBody>
      </p:sp>
      <p:sp>
        <p:nvSpPr>
          <p:cNvPr id="20" name="text-020: 写入完整新行"/>
          <p:cNvSpPr txBox="1"/>
          <p:nvPr/>
        </p:nvSpPr>
        <p:spPr>
          <a:xfrm>
            <a:off x="8241030" y="1967446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写入完整新行</a:t>
            </a:r>
          </a:p>
        </p:txBody>
      </p:sp>
      <p:sp>
        <p:nvSpPr>
          <p:cNvPr id="21" name="text-021: 保持约定访问次序"/>
          <p:cNvSpPr txBox="1"/>
          <p:nvPr/>
        </p:nvSpPr>
        <p:spPr>
          <a:xfrm>
            <a:off x="8081010" y="2200808"/>
            <a:ext cx="14401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保持约定访问次序</a:t>
            </a:r>
          </a:p>
        </p:txBody>
      </p:sp>
      <p:sp>
        <p:nvSpPr>
          <p:cNvPr id="22" name="full-4"/>
          <p:cNvSpPr/>
          <p:nvPr/>
        </p:nvSpPr>
        <p:spPr>
          <a:xfrm>
            <a:off x="10267950" y="1566862"/>
            <a:ext cx="2000250" cy="1000125"/>
          </a:xfrm>
          <a:prstGeom prst="rect">
            <a:avLst/>
          </a:prstGeom>
          <a:solidFill>
            <a:srgbClr val="E8DFED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完成 / 释放"/>
          <p:cNvSpPr txBox="1"/>
          <p:nvPr/>
        </p:nvSpPr>
        <p:spPr>
          <a:xfrm>
            <a:off x="10717277" y="1712481"/>
            <a:ext cx="1101596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完成 / 释放</a:t>
            </a:r>
          </a:p>
        </p:txBody>
      </p:sp>
      <p:sp>
        <p:nvSpPr>
          <p:cNvPr id="24" name="text-024: 达到约定可见点"/>
          <p:cNvSpPr txBox="1"/>
          <p:nvPr/>
        </p:nvSpPr>
        <p:spPr>
          <a:xfrm>
            <a:off x="10627995" y="1967446"/>
            <a:ext cx="128016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达到约定可见点</a:t>
            </a:r>
          </a:p>
        </p:txBody>
      </p:sp>
      <p:sp>
        <p:nvSpPr>
          <p:cNvPr id="25" name="text-025: 再发布任务状态"/>
          <p:cNvSpPr txBox="1"/>
          <p:nvPr/>
        </p:nvSpPr>
        <p:spPr>
          <a:xfrm>
            <a:off x="10627995" y="2200808"/>
            <a:ext cx="128016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再发布任务状态</a:t>
            </a:r>
          </a:p>
        </p:txBody>
      </p:sp>
      <p:sp>
        <p:nvSpPr>
          <p:cNvPr id="26" name="full-flow-0"/>
          <p:cNvSpPr/>
          <p:nvPr/>
        </p:nvSpPr>
        <p:spPr>
          <a:xfrm>
            <a:off x="2400300" y="2066925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8669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full-flow-1"/>
          <p:cNvSpPr/>
          <p:nvPr/>
        </p:nvSpPr>
        <p:spPr>
          <a:xfrm>
            <a:off x="4867275" y="2066925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8669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full-flow-2"/>
          <p:cNvSpPr/>
          <p:nvPr/>
        </p:nvSpPr>
        <p:spPr>
          <a:xfrm>
            <a:off x="7334250" y="2066925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8669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full-flow-3"/>
          <p:cNvSpPr/>
          <p:nvPr/>
        </p:nvSpPr>
        <p:spPr>
          <a:xfrm>
            <a:off x="9801225" y="2066925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8669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“完整”按实际缓存粒度判断：满 WSTRB 的一个 beat，可能仍只覆盖缓存行"/>
          <p:cNvSpPr txBox="1"/>
          <p:nvPr/>
        </p:nvSpPr>
        <p:spPr>
          <a:xfrm>
            <a:off x="466725" y="2773680"/>
            <a:ext cx="6446931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“完整”按实际缓存粒度判断：满 WSTRB 的一个 beat，可能仍只覆盖缓存行的一部分。</a:t>
            </a:r>
          </a:p>
        </p:txBody>
      </p:sp>
      <p:sp>
        <p:nvSpPr>
          <p:cNvPr id="31" name="partial-panel"/>
          <p:cNvSpPr/>
          <p:nvPr/>
        </p:nvSpPr>
        <p:spPr>
          <a:xfrm>
            <a:off x="266700" y="3633788"/>
            <a:ext cx="12268200" cy="2900362"/>
          </a:xfrm>
          <a:prstGeom prst="rect">
            <a:avLst/>
          </a:prstGeom>
          <a:solidFill>
            <a:srgbClr val="F7F9FA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B  部分行更新：先保护未覆盖字节的最新值"/>
          <p:cNvSpPr txBox="1"/>
          <p:nvPr/>
        </p:nvSpPr>
        <p:spPr>
          <a:xfrm>
            <a:off x="433388" y="3725532"/>
            <a:ext cx="3774649" cy="2987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  部分行更新：先保护未覆盖字节的最新值</a:t>
            </a:r>
          </a:p>
        </p:txBody>
      </p:sp>
      <p:sp>
        <p:nvSpPr>
          <p:cNvPr id="33" name="part-0"/>
          <p:cNvSpPr/>
          <p:nvPr/>
        </p:nvSpPr>
        <p:spPr>
          <a:xfrm>
            <a:off x="400050" y="4200525"/>
            <a:ext cx="2000250" cy="1000125"/>
          </a:xfrm>
          <a:prstGeom prst="rect">
            <a:avLst/>
          </a:prstGeom>
          <a:solidFill>
            <a:srgbClr val="D9EEE8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GB 数据（经代理）"/>
          <p:cNvSpPr txBox="1"/>
          <p:nvPr/>
        </p:nvSpPr>
        <p:spPr>
          <a:xfrm>
            <a:off x="538031" y="4346143"/>
            <a:ext cx="1724288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数据（经代理）</a:t>
            </a:r>
          </a:p>
        </p:txBody>
      </p:sp>
      <p:sp>
        <p:nvSpPr>
          <p:cNvPr id="35" name="text-035: 地址 / 长度"/>
          <p:cNvSpPr txBox="1"/>
          <p:nvPr/>
        </p:nvSpPr>
        <p:spPr>
          <a:xfrm>
            <a:off x="910583" y="4601108"/>
            <a:ext cx="97918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</a:t>
            </a:r>
          </a:p>
        </p:txBody>
      </p:sp>
      <p:sp>
        <p:nvSpPr>
          <p:cNvPr id="36" name="text-036: 字节有效掩码"/>
          <p:cNvSpPr txBox="1"/>
          <p:nvPr/>
        </p:nvSpPr>
        <p:spPr>
          <a:xfrm>
            <a:off x="840105" y="4834471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字节有效掩码</a:t>
            </a:r>
          </a:p>
        </p:txBody>
      </p:sp>
      <p:sp>
        <p:nvSpPr>
          <p:cNvPr id="37" name="part-1"/>
          <p:cNvSpPr/>
          <p:nvPr/>
        </p:nvSpPr>
        <p:spPr>
          <a:xfrm>
            <a:off x="2867025" y="4200525"/>
            <a:ext cx="2000250" cy="1000125"/>
          </a:xfrm>
          <a:prstGeom prst="rect">
            <a:avLst/>
          </a:prstGeom>
          <a:solidFill>
            <a:srgbClr val="E8DFED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目标行协调"/>
          <p:cNvSpPr txBox="1"/>
          <p:nvPr/>
        </p:nvSpPr>
        <p:spPr>
          <a:xfrm>
            <a:off x="3327082" y="4346143"/>
            <a:ext cx="1080135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目标行协调</a:t>
            </a:r>
          </a:p>
        </p:txBody>
      </p:sp>
      <p:sp>
        <p:nvSpPr>
          <p:cNvPr id="39" name="text-039: 安排冲突访问次序"/>
          <p:cNvSpPr txBox="1"/>
          <p:nvPr/>
        </p:nvSpPr>
        <p:spPr>
          <a:xfrm>
            <a:off x="3147060" y="4601108"/>
            <a:ext cx="14401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安排冲突访问次序</a:t>
            </a:r>
          </a:p>
        </p:txBody>
      </p:sp>
      <p:sp>
        <p:nvSpPr>
          <p:cNvPr id="40" name="text-040: 协调回填 / 替换"/>
          <p:cNvSpPr txBox="1"/>
          <p:nvPr/>
        </p:nvSpPr>
        <p:spPr>
          <a:xfrm>
            <a:off x="3217538" y="4834471"/>
            <a:ext cx="129922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协调回填 / 替换</a:t>
            </a:r>
          </a:p>
        </p:txBody>
      </p:sp>
      <p:sp>
        <p:nvSpPr>
          <p:cNvPr id="41" name="part-2"/>
          <p:cNvSpPr/>
          <p:nvPr/>
        </p:nvSpPr>
        <p:spPr>
          <a:xfrm>
            <a:off x="5334000" y="4200525"/>
            <a:ext cx="2000250" cy="10001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L1D / LLC"/>
          <p:cNvSpPr txBox="1"/>
          <p:nvPr/>
        </p:nvSpPr>
        <p:spPr>
          <a:xfrm>
            <a:off x="5839318" y="4346143"/>
            <a:ext cx="989613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/ LLC</a:t>
            </a:r>
          </a:p>
        </p:txBody>
      </p:sp>
      <p:sp>
        <p:nvSpPr>
          <p:cNvPr id="43" name="text-043: clean 或取数暂存"/>
          <p:cNvSpPr txBox="1"/>
          <p:nvPr/>
        </p:nvSpPr>
        <p:spPr>
          <a:xfrm>
            <a:off x="5643179" y="4601108"/>
            <a:ext cx="1381891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clean 或取数暂存</a:t>
            </a:r>
          </a:p>
        </p:txBody>
      </p:sp>
      <p:sp>
        <p:nvSpPr>
          <p:cNvPr id="44" name="text-044: 失效旧副本并确认"/>
          <p:cNvSpPr txBox="1"/>
          <p:nvPr/>
        </p:nvSpPr>
        <p:spPr>
          <a:xfrm>
            <a:off x="5614035" y="4834471"/>
            <a:ext cx="14401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失效旧副本并确认</a:t>
            </a:r>
          </a:p>
        </p:txBody>
      </p:sp>
      <p:sp>
        <p:nvSpPr>
          <p:cNvPr id="45" name="part-3"/>
          <p:cNvSpPr/>
          <p:nvPr/>
        </p:nvSpPr>
        <p:spPr>
          <a:xfrm>
            <a:off x="7800975" y="4200525"/>
            <a:ext cx="2000250" cy="10001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DDR 更新"/>
          <p:cNvSpPr txBox="1"/>
          <p:nvPr/>
        </p:nvSpPr>
        <p:spPr>
          <a:xfrm>
            <a:off x="8329676" y="4346143"/>
            <a:ext cx="942847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更新</a:t>
            </a:r>
          </a:p>
        </p:txBody>
      </p:sp>
      <p:sp>
        <p:nvSpPr>
          <p:cNvPr id="47" name="text-047: 按 WSTRB 更新"/>
          <p:cNvSpPr txBox="1"/>
          <p:nvPr/>
        </p:nvSpPr>
        <p:spPr>
          <a:xfrm>
            <a:off x="8178913" y="4601108"/>
            <a:ext cx="1244374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按 WSTRB 更新</a:t>
            </a:r>
          </a:p>
        </p:txBody>
      </p:sp>
      <p:sp>
        <p:nvSpPr>
          <p:cNvPr id="48" name="text-048: 或写入已合并新行"/>
          <p:cNvSpPr txBox="1"/>
          <p:nvPr/>
        </p:nvSpPr>
        <p:spPr>
          <a:xfrm>
            <a:off x="8081010" y="4834471"/>
            <a:ext cx="14401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或写入已合并新行</a:t>
            </a:r>
          </a:p>
        </p:txBody>
      </p:sp>
      <p:sp>
        <p:nvSpPr>
          <p:cNvPr id="49" name="part-4"/>
          <p:cNvSpPr/>
          <p:nvPr/>
        </p:nvSpPr>
        <p:spPr>
          <a:xfrm>
            <a:off x="10267950" y="4200525"/>
            <a:ext cx="2000250" cy="1000125"/>
          </a:xfrm>
          <a:prstGeom prst="rect">
            <a:avLst/>
          </a:prstGeom>
          <a:solidFill>
            <a:srgbClr val="E8DFED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完成 / 释放"/>
          <p:cNvSpPr txBox="1"/>
          <p:nvPr/>
        </p:nvSpPr>
        <p:spPr>
          <a:xfrm>
            <a:off x="10717277" y="4346143"/>
            <a:ext cx="1101596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完成 / 释放</a:t>
            </a:r>
          </a:p>
        </p:txBody>
      </p:sp>
      <p:sp>
        <p:nvSpPr>
          <p:cNvPr id="51" name="text-051: 等待写入与确认"/>
          <p:cNvSpPr txBox="1"/>
          <p:nvPr/>
        </p:nvSpPr>
        <p:spPr>
          <a:xfrm>
            <a:off x="10627995" y="4601108"/>
            <a:ext cx="128016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等待写入与确认</a:t>
            </a:r>
          </a:p>
        </p:txBody>
      </p:sp>
      <p:sp>
        <p:nvSpPr>
          <p:cNvPr id="52" name="text-052: 再发布任务状态"/>
          <p:cNvSpPr txBox="1"/>
          <p:nvPr/>
        </p:nvSpPr>
        <p:spPr>
          <a:xfrm>
            <a:off x="10627995" y="4834471"/>
            <a:ext cx="128016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再发布任务状态</a:t>
            </a:r>
          </a:p>
        </p:txBody>
      </p:sp>
      <p:sp>
        <p:nvSpPr>
          <p:cNvPr id="53" name="part-flow-0"/>
          <p:cNvSpPr/>
          <p:nvPr/>
        </p:nvSpPr>
        <p:spPr>
          <a:xfrm>
            <a:off x="2400300" y="4700588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8669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part-flow-1"/>
          <p:cNvSpPr/>
          <p:nvPr/>
        </p:nvSpPr>
        <p:spPr>
          <a:xfrm>
            <a:off x="4867275" y="4700588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8669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part-flow-2"/>
          <p:cNvSpPr/>
          <p:nvPr/>
        </p:nvSpPr>
        <p:spPr>
          <a:xfrm>
            <a:off x="7334250" y="4700588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8669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part-flow-3"/>
          <p:cNvSpPr/>
          <p:nvPr/>
        </p:nvSpPr>
        <p:spPr>
          <a:xfrm>
            <a:off x="9801225" y="4700588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8669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最新旧行"/>
          <p:cNvSpPr txBox="1"/>
          <p:nvPr/>
        </p:nvSpPr>
        <p:spPr>
          <a:xfrm>
            <a:off x="500062" y="5494553"/>
            <a:ext cx="8001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最新旧行</a:t>
            </a:r>
          </a:p>
        </p:txBody>
      </p:sp>
      <p:sp>
        <p:nvSpPr>
          <p:cNvPr id="58" name="old-0"/>
          <p:cNvSpPr/>
          <p:nvPr/>
        </p:nvSpPr>
        <p:spPr>
          <a:xfrm>
            <a:off x="1500188" y="5367338"/>
            <a:ext cx="520065" cy="4667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A"/>
          <p:cNvSpPr txBox="1"/>
          <p:nvPr/>
        </p:nvSpPr>
        <p:spPr>
          <a:xfrm>
            <a:off x="1619843" y="5472951"/>
            <a:ext cx="280754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60" name="old-1"/>
          <p:cNvSpPr/>
          <p:nvPr/>
        </p:nvSpPr>
        <p:spPr>
          <a:xfrm>
            <a:off x="2066925" y="5367338"/>
            <a:ext cx="520065" cy="4667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B"/>
          <p:cNvSpPr txBox="1"/>
          <p:nvPr/>
        </p:nvSpPr>
        <p:spPr>
          <a:xfrm>
            <a:off x="2181215" y="5472951"/>
            <a:ext cx="291484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62" name="old-2"/>
          <p:cNvSpPr/>
          <p:nvPr/>
        </p:nvSpPr>
        <p:spPr>
          <a:xfrm>
            <a:off x="2633662" y="5367338"/>
            <a:ext cx="520065" cy="4667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C"/>
          <p:cNvSpPr txBox="1"/>
          <p:nvPr/>
        </p:nvSpPr>
        <p:spPr>
          <a:xfrm>
            <a:off x="2747953" y="5472951"/>
            <a:ext cx="291484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64" name="old-3"/>
          <p:cNvSpPr/>
          <p:nvPr/>
        </p:nvSpPr>
        <p:spPr>
          <a:xfrm>
            <a:off x="3200400" y="5367338"/>
            <a:ext cx="520065" cy="4667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D"/>
          <p:cNvSpPr txBox="1"/>
          <p:nvPr/>
        </p:nvSpPr>
        <p:spPr>
          <a:xfrm>
            <a:off x="3311086" y="5472951"/>
            <a:ext cx="298694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66" name="text-066: + GB 仅更新第二段 X"/>
          <p:cNvSpPr txBox="1"/>
          <p:nvPr/>
        </p:nvSpPr>
        <p:spPr>
          <a:xfrm>
            <a:off x="4067175" y="5487352"/>
            <a:ext cx="1719621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+ GB 仅更新第二段 X</a:t>
            </a:r>
          </a:p>
        </p:txBody>
      </p:sp>
      <p:sp>
        <p:nvSpPr>
          <p:cNvPr id="67" name="merge-example"/>
          <p:cNvSpPr/>
          <p:nvPr/>
        </p:nvSpPr>
        <p:spPr>
          <a:xfrm>
            <a:off x="6067425" y="5600700"/>
            <a:ext cx="1133475" cy="1"/>
          </a:xfrm>
          <a:custGeom>
            <a:avLst/>
            <a:gdLst/>
            <a:ahLst/>
            <a:cxnLst/>
            <a:rect l="0" t="0" r="r" b="b"/>
            <a:pathLst>
              <a:path w="1133475" h="1" fill="none">
                <a:moveTo>
                  <a:pt x="0" y="0"/>
                </a:moveTo>
                <a:lnTo>
                  <a:pt x="1133475" y="0"/>
                </a:lnTo>
              </a:path>
            </a:pathLst>
          </a:custGeom>
          <a:noFill/>
          <a:ln w="18669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new-0"/>
          <p:cNvSpPr/>
          <p:nvPr/>
        </p:nvSpPr>
        <p:spPr>
          <a:xfrm>
            <a:off x="7467600" y="5367338"/>
            <a:ext cx="520065" cy="4667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A"/>
          <p:cNvSpPr txBox="1"/>
          <p:nvPr/>
        </p:nvSpPr>
        <p:spPr>
          <a:xfrm>
            <a:off x="7587256" y="5472951"/>
            <a:ext cx="280754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70" name="new-1"/>
          <p:cNvSpPr/>
          <p:nvPr/>
        </p:nvSpPr>
        <p:spPr>
          <a:xfrm>
            <a:off x="8034338" y="5367338"/>
            <a:ext cx="520065" cy="466725"/>
          </a:xfrm>
          <a:prstGeom prst="rect">
            <a:avLst/>
          </a:prstGeom>
          <a:solidFill>
            <a:srgbClr val="D9EEE8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X"/>
          <p:cNvSpPr txBox="1"/>
          <p:nvPr/>
        </p:nvSpPr>
        <p:spPr>
          <a:xfrm>
            <a:off x="8155837" y="5472951"/>
            <a:ext cx="277066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X</a:t>
            </a:r>
          </a:p>
        </p:txBody>
      </p:sp>
      <p:sp>
        <p:nvSpPr>
          <p:cNvPr id="72" name="new-2"/>
          <p:cNvSpPr/>
          <p:nvPr/>
        </p:nvSpPr>
        <p:spPr>
          <a:xfrm>
            <a:off x="8601075" y="5367338"/>
            <a:ext cx="520065" cy="4667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3: C"/>
          <p:cNvSpPr txBox="1"/>
          <p:nvPr/>
        </p:nvSpPr>
        <p:spPr>
          <a:xfrm>
            <a:off x="8715365" y="5472951"/>
            <a:ext cx="291484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74" name="new-3"/>
          <p:cNvSpPr/>
          <p:nvPr/>
        </p:nvSpPr>
        <p:spPr>
          <a:xfrm>
            <a:off x="9167812" y="5367338"/>
            <a:ext cx="520065" cy="4667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5: D"/>
          <p:cNvSpPr txBox="1"/>
          <p:nvPr/>
        </p:nvSpPr>
        <p:spPr>
          <a:xfrm>
            <a:off x="9278498" y="5472951"/>
            <a:ext cx="298694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76" name="text-076: 保留 A / C / D"/>
          <p:cNvSpPr txBox="1"/>
          <p:nvPr/>
        </p:nvSpPr>
        <p:spPr>
          <a:xfrm>
            <a:off x="10101262" y="5487352"/>
            <a:ext cx="1229497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保留 A / C / D</a:t>
            </a:r>
          </a:p>
        </p:txBody>
      </p:sp>
      <p:sp>
        <p:nvSpPr>
          <p:cNvPr id="77" name="text-077: 出错时记录部分完成范围，暂停复用缓冲；排空迟到事务或受控复位后恢复。"/>
          <p:cNvSpPr txBox="1"/>
          <p:nvPr/>
        </p:nvSpPr>
        <p:spPr>
          <a:xfrm>
            <a:off x="466725" y="6047422"/>
            <a:ext cx="5834062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出错时记录部分完成范围，暂停复用缓冲；排空迟到事务或受控复位后恢复。</a:t>
            </a:r>
          </a:p>
        </p:txBody>
      </p:sp>
      <p:sp>
        <p:nvSpPr>
          <p:cNvPr id="78" name="text-078: 需要整帧一致视图时，用版本、所有权或双缓冲组织跨行数据交接。"/>
          <p:cNvSpPr txBox="1"/>
          <p:nvPr/>
        </p:nvSpPr>
        <p:spPr>
          <a:xfrm>
            <a:off x="366712" y="6687502"/>
            <a:ext cx="5167312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需要整帧一致视图时，用版本、所有权或双缓冲组织跨行数据交接。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