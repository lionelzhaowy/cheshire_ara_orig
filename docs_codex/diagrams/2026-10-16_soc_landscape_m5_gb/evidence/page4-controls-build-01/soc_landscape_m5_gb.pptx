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806" r:id="rId2"/>
    <p:sldId id="807" r:id="rId10"/>
    <p:sldId id="808" r:id="rId11"/>
    <p:sldId id="809" r:id="rId1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文尧 赵" initials="文尧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F3F6"/>
    <a:srgbClr val="FFF0E4"/>
    <a:srgbClr val="E8F4F1"/>
    <a:srgbClr val="EAF3FC"/>
    <a:srgbClr val="F0EAF8"/>
    <a:srgbClr val="AD6631"/>
    <a:srgbClr val="00FFFF"/>
    <a:srgbClr val="FFCC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0" autoAdjust="0"/>
    <p:restoredTop sz="97321" autoAdjust="0"/>
  </p:normalViewPr>
  <p:slideViewPr>
    <p:cSldViewPr snapToGrid="0">
      <p:cViewPr varScale="1">
        <p:scale>
          <a:sx n="117" d="100"/>
          <a:sy n="117" d="100"/>
        </p:scale>
        <p:origin x="23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tags" Target="tags/tag1.xml"/><Relationship Id="rId9" Type="http://schemas.openxmlformats.org/officeDocument/2006/relationships/tableStyles" Target="tableStyles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  <a:t>2026/10/16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初版规划：eMMC 内置 DMA 经 S7/M5 加载 GB；≤256 ROI 纯裁切经 DDR S3；四口共享外置无损压缩存储前端，普通区域旁路。地址、IRQ、格式、速率与 IP 选型未冻结；未实施 RTL。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4869867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sp>
        <p:nvSpPr>
          <p:cNvPr id="12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2973614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1886726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3808179" y="2645581"/>
            <a:ext cx="457564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4789600" y="608488"/>
            <a:ext cx="1682905" cy="2154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架构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初版规划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)</a:t>
            </a:r>
            <a:endParaRPr sz="1400" b="1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VLSU / AXI：32 × lanes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3" name="ara-split">
            <a:extLst>
              <a:ext uri="{FF2B5EF4-FFF2-40B4-BE49-F238E27FC236}">
                <a16:creationId xmlns:a16="http://schemas.microsoft.com/office/drawing/2014/main" id="{A55D7C0B-C19C-4CEF-B563-825F12D30698}"/>
              </a:ext>
            </a:extLst>
          </p:cNvPr>
          <p:cNvSpPr/>
          <p:nvPr/>
        </p:nvSpPr>
        <p:spPr>
          <a:xfrm>
            <a:off x="2171706" y="1686883"/>
            <a:ext cx="508000" cy="29125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4" name="object-021: 地址分流">
            <a:extLst>
              <a:ext uri="{FF2B5EF4-FFF2-40B4-BE49-F238E27FC236}">
                <a16:creationId xmlns:a16="http://schemas.microsoft.com/office/drawing/2014/main" id="{FEB06BCD-B815-40C8-8BCD-F588F64825EC}"/>
              </a:ext>
            </a:extLst>
          </p:cNvPr>
          <p:cNvSpPr txBox="1"/>
          <p:nvPr/>
        </p:nvSpPr>
        <p:spPr>
          <a:xfrm>
            <a:off x="2220522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795" name="object-022: GB 候选">
            <a:extLst>
              <a:ext uri="{FF2B5EF4-FFF2-40B4-BE49-F238E27FC236}">
                <a16:creationId xmlns:a16="http://schemas.microsoft.com/office/drawing/2014/main" id="{310DCB16-6FDF-4034-AF76-CEACCB1F78BC}"/>
              </a:ext>
            </a:extLst>
          </p:cNvPr>
          <p:cNvSpPr txBox="1"/>
          <p:nvPr/>
        </p:nvSpPr>
        <p:spPr>
          <a:xfrm>
            <a:off x="2237353" y="1842669"/>
            <a:ext cx="3767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候选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0" name="filter-split">
            <a:extLst>
              <a:ext uri="{FF2B5EF4-FFF2-40B4-BE49-F238E27FC236}">
                <a16:creationId xmlns:a16="http://schemas.microsoft.com/office/drawing/2014/main" id="{2B5303ED-513A-4440-9983-0B3B03EF175E}"/>
              </a:ext>
            </a:extLst>
          </p:cNvPr>
          <p:cNvCxnSpPr/>
          <p:nvPr/>
        </p:nvCxnSpPr>
        <p:spPr>
          <a:xfrm>
            <a:off x="2053173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1" name="split-width">
            <a:extLst>
              <a:ext uri="{FF2B5EF4-FFF2-40B4-BE49-F238E27FC236}">
                <a16:creationId xmlns:a16="http://schemas.microsoft.com/office/drawing/2014/main" id="{FABD96AB-80A1-411A-AB11-E71F4FA23129}"/>
              </a:ext>
            </a:extLst>
          </p:cNvPr>
          <p:cNvCxnSpPr/>
          <p:nvPr/>
        </p:nvCxnSpPr>
        <p:spPr>
          <a:xfrm>
            <a:off x="2679707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961066" y="1476908"/>
            <a:ext cx="10403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 / NPU–Ara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工作区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7" name="ara-gb">
            <a:extLst>
              <a:ext uri="{FF2B5EF4-FFF2-40B4-BE49-F238E27FC236}">
                <a16:creationId xmlns:a16="http://schemas.microsoft.com/office/drawing/2014/main" id="{7EBC10B6-3F87-43DC-A06C-B5FEF9F5D846}"/>
              </a:ext>
            </a:extLst>
          </p:cNvPr>
          <p:cNvSpPr/>
          <p:nvPr/>
        </p:nvSpPr>
        <p:spPr>
          <a:xfrm>
            <a:off x="2425706" y="1978136"/>
            <a:ext cx="2675467" cy="250613"/>
          </a:xfrm>
          <a:custGeom>
            <a:avLst/>
            <a:gdLst/>
            <a:ahLst/>
            <a:cxnLst/>
            <a:rect l="0" t="0" r="r" b="b"/>
            <a:pathLst>
              <a:path w="6421120" h="601472" fill="none">
                <a:moveTo>
                  <a:pt x="0" y="0"/>
                </a:moveTo>
                <a:lnTo>
                  <a:pt x="0" y="601472"/>
                </a:lnTo>
                <a:lnTo>
                  <a:pt x="6421120" y="601472"/>
                </a:lnTo>
                <a:lnTo>
                  <a:pt x="6421120" y="438912"/>
                </a:lnTo>
              </a:path>
            </a:pathLst>
          </a:custGeom>
          <a:noFill/>
          <a:ln w="26010" cap="flat">
            <a:solidFill>
              <a:srgbClr val="187C78"/>
            </a:solidFill>
            <a:custDash>
              <a:ds d="312500" sp="1875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8" name="object-055: Ara 宽侧 GB 分支">
            <a:extLst>
              <a:ext uri="{FF2B5EF4-FFF2-40B4-BE49-F238E27FC236}">
                <a16:creationId xmlns:a16="http://schemas.microsoft.com/office/drawing/2014/main" id="{A9924EA1-3B4E-4C08-B5AE-5E7FB403349C}"/>
              </a:ext>
            </a:extLst>
          </p:cNvPr>
          <p:cNvSpPr txBox="1"/>
          <p:nvPr/>
        </p:nvSpPr>
        <p:spPr>
          <a:xfrm>
            <a:off x="3615379" y="2104073"/>
            <a:ext cx="7101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宽侧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GB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分支</a:t>
            </a:r>
            <a:endParaRPr sz="7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cubicBezTo>
                  <a:pt x="0" y="1048512"/>
                  <a:pt x="0" y="837184"/>
                  <a:pt x="178816" y="837184"/>
                </a:cubicBez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普通地址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5 基础端口 + 扩展  |  64 bit 数据 / 48 bit 地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3278954" y="3272993"/>
            <a:ext cx="350897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5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基础端口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扩展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64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48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地址译码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各目标仲裁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5395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3770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4762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73" y="3701949"/>
            <a:ext cx="14224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7191722" y="3799997"/>
            <a:ext cx="69570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数据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71292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远端数据目标窗口</a:t>
            </a:r>
          </a:p>
        </p:txBody>
      </p:sp>
      <p:cxnSp>
        <p:nvCxnSpPr>
          <p:cNvPr id="942" name="target-output-5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31306" y="3529229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5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687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001463" y="3432370"/>
            <a:ext cx="25968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437040" y="3701949"/>
            <a:ext cx="13885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777043" y="3766131"/>
            <a:ext cx="70852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扩展 / CPU 直访 GB 待定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448427" y="3899024"/>
            <a:ext cx="136575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 / CPU 直访 GB 待定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lnTo>
                  <a:pt x="178816" y="837184"/>
                </a:ln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2686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1060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1501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67" y="3701949"/>
            <a:ext cx="8805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6862233" y="3799997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6862233" y="3932890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309100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914654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163473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792633" y="3701949"/>
            <a:ext cx="10329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826500" y="3766131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826500" y="3899024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8250767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5101167" y="2161032"/>
            <a:ext cx="4855633" cy="1801368"/>
          </a:xfrm>
          <a:custGeom>
            <a:avLst/>
            <a:gdLst/>
            <a:ahLst/>
            <a:cxnLst/>
            <a:rect l="0" t="0" r="r" b="b"/>
            <a:pathLst>
              <a:path w="4855633" h="1801368" fill="none">
                <a:moveTo>
                  <a:pt x="3589867" y="1801368"/>
                </a:moveTo>
                <a:lnTo>
                  <a:pt x="3640667" y="1801368"/>
                </a:lnTo>
                <a:lnTo>
                  <a:pt x="3640667" y="1456267"/>
                </a:lnTo>
                <a:lnTo>
                  <a:pt x="4167293" y="1456267"/>
                </a:lnTo>
                <a:cubicBezTo>
                  <a:pt x="4167293" y="1395307"/>
                  <a:pt x="4248573" y="1395307"/>
                  <a:pt x="4248573" y="1456267"/>
                </a:cubicBezTo>
                <a:lnTo>
                  <a:pt x="4855633" y="1456267"/>
                </a:lnTo>
                <a:lnTo>
                  <a:pt x="4855633" y="311235"/>
                </a:lnTo>
                <a:lnTo>
                  <a:pt x="0" y="311235"/>
                </a:lnTo>
                <a:lnTo>
                  <a:pt x="0" y="298027"/>
                </a:lnTo>
                <a:cubicBezTo>
                  <a:pt x="45156" y="275449"/>
                  <a:pt x="45156" y="252871"/>
                  <a:pt x="0" y="230293"/>
                </a:cubicBez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8088207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8158607" y="3439837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810500" y="3701965"/>
            <a:ext cx="880533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933960" y="3788325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861879" y="3920405"/>
            <a:ext cx="7777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849624" y="4049099"/>
            <a:ext cx="80228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5101167" y="1839299"/>
            <a:ext cx="3894667" cy="585893"/>
          </a:xfrm>
          <a:custGeom>
            <a:avLst/>
            <a:gdLst/>
            <a:ahLst/>
            <a:cxnLst/>
            <a:rect l="0" t="0" r="r" b="b"/>
            <a:pathLst>
              <a:path w="3894667" h="585893" fill="none">
                <a:moveTo>
                  <a:pt x="3894667" y="0"/>
                </a:moveTo>
                <a:lnTo>
                  <a:pt x="3843867" y="0"/>
                </a:lnTo>
                <a:lnTo>
                  <a:pt x="3843867" y="463973"/>
                </a:lnTo>
                <a:cubicBezTo>
                  <a:pt x="3762587" y="463973"/>
                  <a:pt x="3762587" y="552027"/>
                  <a:pt x="3843867" y="552027"/>
                </a:cubicBezTo>
                <a:lnTo>
                  <a:pt x="3843867" y="585893"/>
                </a:lnTo>
                <a:lnTo>
                  <a:pt x="0" y="585893"/>
                </a:lnTo>
                <a:lnTo>
                  <a:pt x="0" y="321733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74650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925890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76333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807357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316290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350157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50157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295071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132511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176538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685471" y="3701949"/>
            <a:ext cx="1219200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1719338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719338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3664252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3501692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3545719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2986919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020786" y="3743899"/>
            <a:ext cx="12869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0334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48708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49149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4423833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4457700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4457700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4457700" y="40073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6402614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6240054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6284081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5793014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5826881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5826881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40976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7841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8995350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531376" y="3701949"/>
            <a:ext cx="1219200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565243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565243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020786" y="3905149"/>
            <a:ext cx="6265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037719" y="3946331"/>
            <a:ext cx="5926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037719" y="4060936"/>
            <a:ext cx="592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3731986" y="3905149"/>
            <a:ext cx="5757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3748919" y="3946331"/>
            <a:ext cx="5418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3748919" y="4060936"/>
            <a:ext cx="5418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3647319" y="4033842"/>
            <a:ext cx="84667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295071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019852" y="4189645"/>
            <a:ext cx="3485848" cy="392853"/>
          </a:xfrm>
          <a:custGeom>
            <a:avLst/>
            <a:gdLst/>
            <a:ahLst/>
            <a:cxnLst/>
            <a:rect l="0" t="0" r="r" b="b"/>
            <a:pathLst>
              <a:path w="3485848" h="392853" fill="none">
                <a:moveTo>
                  <a:pt x="0" y="0"/>
                </a:moveTo>
                <a:lnTo>
                  <a:pt x="0" y="98213"/>
                </a:lnTo>
                <a:lnTo>
                  <a:pt x="3485848" y="98213"/>
                </a:lnTo>
                <a:lnTo>
                  <a:pt x="3485848" y="392853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7771795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4864100" y="2161032"/>
            <a:ext cx="5092700" cy="1801368"/>
          </a:xfrm>
          <a:custGeom>
            <a:avLst/>
            <a:gdLst/>
            <a:ahLst/>
            <a:cxnLst/>
            <a:rect l="0" t="0" r="r" b="b"/>
            <a:pathLst>
              <a:path w="5092700" h="1801368" fill="none">
                <a:moveTo>
                  <a:pt x="3517295" y="1801368"/>
                </a:moveTo>
                <a:lnTo>
                  <a:pt x="3592286" y="1801368"/>
                </a:lnTo>
                <a:lnTo>
                  <a:pt x="3592286" y="1456267"/>
                </a:lnTo>
                <a:lnTo>
                  <a:pt x="4236236" y="1456267"/>
                </a:lnTo>
                <a:cubicBezTo>
                  <a:pt x="4236236" y="1395307"/>
                  <a:pt x="4317516" y="1395307"/>
                  <a:pt x="4317516" y="1456267"/>
                </a:cubicBezTo>
                <a:lnTo>
                  <a:pt x="5092700" y="1456267"/>
                </a:lnTo>
                <a:lnTo>
                  <a:pt x="5092700" y="311235"/>
                </a:lnTo>
                <a:lnTo>
                  <a:pt x="0" y="311235"/>
                </a:ln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7609235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7653262" y="3439837"/>
            <a:ext cx="23706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162195" y="3701965"/>
            <a:ext cx="1219200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196062" y="378832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196062" y="392040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196062" y="4049099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c-boundary"/>
          <p:cNvSpPr/>
          <p:nvPr/>
        </p:nvSpPr>
        <p:spPr>
          <a:xfrm>
            <a:off x="71967" y="67733"/>
            <a:ext cx="11260667" cy="6716099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compute"/>
          <p:cNvSpPr/>
          <p:nvPr/>
        </p:nvSpPr>
        <p:spPr>
          <a:xfrm>
            <a:off x="241300" y="203200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gb-region"/>
          <p:cNvSpPr/>
          <p:nvPr/>
        </p:nvSpPr>
        <p:spPr>
          <a:xfrm>
            <a:off x="3594100" y="203200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image-rx"/>
          <p:cNvSpPr/>
          <p:nvPr/>
        </p:nvSpPr>
        <p:spPr>
          <a:xfrm>
            <a:off x="7607300" y="203200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g-region"/>
          <p:cNvSpPr/>
          <p:nvPr/>
        </p:nvSpPr>
        <p:spPr>
          <a:xfrm>
            <a:off x="173567" y="3776133"/>
            <a:ext cx="5825067" cy="1761067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dr-controller"/>
          <p:cNvSpPr/>
          <p:nvPr/>
        </p:nvSpPr>
        <p:spPr>
          <a:xfrm>
            <a:off x="6129867" y="5300133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i-region"/>
          <p:cNvSpPr/>
          <p:nvPr/>
        </p:nvSpPr>
        <p:spPr>
          <a:xfrm>
            <a:off x="10160000" y="3776133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ompression-front"/>
          <p:cNvSpPr/>
          <p:nvPr/>
        </p:nvSpPr>
        <p:spPr>
          <a:xfrm>
            <a:off x="6129867" y="3840480"/>
            <a:ext cx="3793067" cy="137498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shared-payload-services"/>
          <p:cNvSpPr/>
          <p:nvPr/>
        </p:nvSpPr>
        <p:spPr>
          <a:xfrm>
            <a:off x="7095067" y="4233333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pu-ara-command"/>
          <p:cNvSpPr/>
          <p:nvPr/>
        </p:nvSpPr>
        <p:spPr>
          <a:xfrm>
            <a:off x="1172633" y="67733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ara-filter-edge"/>
          <p:cNvSpPr/>
          <p:nvPr/>
        </p:nvSpPr>
        <p:spPr>
          <a:xfrm>
            <a:off x="1731433" y="897467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filter-width"/>
          <p:cNvSpPr/>
          <p:nvPr/>
        </p:nvSpPr>
        <p:spPr>
          <a:xfrm>
            <a:off x="2053167" y="1195493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npu-gb"/>
          <p:cNvSpPr/>
          <p:nvPr/>
        </p:nvSpPr>
        <p:spPr>
          <a:xfrm>
            <a:off x="4593167" y="846667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adapter-sram"/>
          <p:cNvSpPr/>
          <p:nvPr/>
        </p:nvSpPr>
        <p:spPr>
          <a:xfrm>
            <a:off x="5490633" y="9144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mover-gb"/>
          <p:cNvSpPr/>
          <p:nvPr/>
        </p:nvSpPr>
        <p:spPr>
          <a:xfrm>
            <a:off x="5490633" y="13716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lvds-rx-to-rx-cdc"/>
          <p:cNvSpPr/>
          <p:nvPr/>
        </p:nvSpPr>
        <p:spPr>
          <a:xfrm>
            <a:off x="8250767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x-cdc-to-isp"/>
          <p:cNvSpPr/>
          <p:nvPr/>
        </p:nvSpPr>
        <p:spPr>
          <a:xfrm>
            <a:off x="88942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isp-to-frame-select"/>
          <p:cNvSpPr/>
          <p:nvPr/>
        </p:nvSpPr>
        <p:spPr>
          <a:xfrm>
            <a:off x="95546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frame-select-to-frame-dma"/>
          <p:cNvSpPr/>
          <p:nvPr/>
        </p:nvSpPr>
        <p:spPr>
          <a:xfrm>
            <a:off x="10265833" y="982133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aw-bypass"/>
          <p:cNvSpPr/>
          <p:nvPr/>
        </p:nvSpPr>
        <p:spPr>
          <a:xfrm>
            <a:off x="8623300" y="524933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isp-gb"/>
          <p:cNvSpPr/>
          <p:nvPr/>
        </p:nvSpPr>
        <p:spPr>
          <a:xfrm>
            <a:off x="5101167" y="1168400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master-1"/>
          <p:cNvSpPr/>
          <p:nvPr/>
        </p:nvSpPr>
        <p:spPr>
          <a:xfrm>
            <a:off x="1838678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master-3"/>
          <p:cNvSpPr/>
          <p:nvPr/>
        </p:nvSpPr>
        <p:spPr>
          <a:xfrm>
            <a:off x="3968515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master-4"/>
          <p:cNvSpPr/>
          <p:nvPr/>
        </p:nvSpPr>
        <p:spPr>
          <a:xfrm>
            <a:off x="5033433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master-5"/>
          <p:cNvSpPr/>
          <p:nvPr/>
        </p:nvSpPr>
        <p:spPr>
          <a:xfrm>
            <a:off x="6098352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ster-6"/>
          <p:cNvSpPr/>
          <p:nvPr/>
        </p:nvSpPr>
        <p:spPr>
          <a:xfrm>
            <a:off x="7163270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master-7"/>
          <p:cNvSpPr/>
          <p:nvPr/>
        </p:nvSpPr>
        <p:spPr>
          <a:xfrm>
            <a:off x="8228189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master-8"/>
          <p:cNvSpPr/>
          <p:nvPr/>
        </p:nvSpPr>
        <p:spPr>
          <a:xfrm>
            <a:off x="9293107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cpu-xbar"/>
          <p:cNvSpPr/>
          <p:nvPr/>
        </p:nvSpPr>
        <p:spPr>
          <a:xfrm>
            <a:off x="773759" y="1202267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ara-xbar"/>
          <p:cNvSpPr/>
          <p:nvPr/>
        </p:nvSpPr>
        <p:spPr>
          <a:xfrm>
            <a:off x="2903596" y="1341120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arget-0"/>
          <p:cNvSpPr/>
          <p:nvPr/>
        </p:nvSpPr>
        <p:spPr>
          <a:xfrm>
            <a:off x="925890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arget-1"/>
          <p:cNvSpPr/>
          <p:nvPr/>
        </p:nvSpPr>
        <p:spPr>
          <a:xfrm>
            <a:off x="2295071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arget-2"/>
          <p:cNvSpPr/>
          <p:nvPr/>
        </p:nvSpPr>
        <p:spPr>
          <a:xfrm>
            <a:off x="3664252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atomics-llc"/>
          <p:cNvSpPr/>
          <p:nvPr/>
        </p:nvSpPr>
        <p:spPr>
          <a:xfrm>
            <a:off x="3647319" y="3393440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arget-3"/>
          <p:cNvSpPr/>
          <p:nvPr/>
        </p:nvSpPr>
        <p:spPr>
          <a:xfrm>
            <a:off x="5033433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arget-4"/>
          <p:cNvSpPr/>
          <p:nvPr/>
        </p:nvSpPr>
        <p:spPr>
          <a:xfrm>
            <a:off x="6402614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arget-5"/>
          <p:cNvSpPr/>
          <p:nvPr/>
        </p:nvSpPr>
        <p:spPr>
          <a:xfrm>
            <a:off x="7771795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arget-6"/>
          <p:cNvSpPr/>
          <p:nvPr/>
        </p:nvSpPr>
        <p:spPr>
          <a:xfrm>
            <a:off x="9140976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m5-gb"/>
          <p:cNvSpPr/>
          <p:nvPr/>
        </p:nvSpPr>
        <p:spPr>
          <a:xfrm>
            <a:off x="4910667" y="1524000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emmc-physical"/>
          <p:cNvSpPr/>
          <p:nvPr/>
        </p:nvSpPr>
        <p:spPr>
          <a:xfrm>
            <a:off x="8712482" y="1793804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bridge-regbus"/>
          <p:cNvSpPr/>
          <p:nvPr/>
        </p:nvSpPr>
        <p:spPr>
          <a:xfrm>
            <a:off x="2295071" y="3572933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g-column-0"/>
          <p:cNvSpPr/>
          <p:nvPr/>
        </p:nvSpPr>
        <p:spPr>
          <a:xfrm>
            <a:off x="2853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bootrom-cfg"/>
          <p:cNvSpPr/>
          <p:nvPr/>
        </p:nvSpPr>
        <p:spPr>
          <a:xfrm>
            <a:off x="2853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uart-cfg"/>
          <p:cNvSpPr/>
          <p:nvPr/>
        </p:nvSpPr>
        <p:spPr>
          <a:xfrm>
            <a:off x="2853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vga-regs-cfg"/>
          <p:cNvSpPr/>
          <p:nvPr/>
        </p:nvSpPr>
        <p:spPr>
          <a:xfrm>
            <a:off x="2853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irq-router-cfg"/>
          <p:cNvSpPr/>
          <p:nvPr/>
        </p:nvSpPr>
        <p:spPr>
          <a:xfrm>
            <a:off x="2853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g-column-1"/>
          <p:cNvSpPr/>
          <p:nvPr/>
        </p:nvSpPr>
        <p:spPr>
          <a:xfrm>
            <a:off x="14029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clint-cfg"/>
          <p:cNvSpPr/>
          <p:nvPr/>
        </p:nvSpPr>
        <p:spPr>
          <a:xfrm>
            <a:off x="14029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i2c-cfg"/>
          <p:cNvSpPr/>
          <p:nvPr/>
        </p:nvSpPr>
        <p:spPr>
          <a:xfrm>
            <a:off x="14029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usb-regs-cfg"/>
          <p:cNvSpPr/>
          <p:nvPr/>
        </p:nvSpPr>
        <p:spPr>
          <a:xfrm>
            <a:off x="14029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axi-rt-config-cfg"/>
          <p:cNvSpPr/>
          <p:nvPr/>
        </p:nvSpPr>
        <p:spPr>
          <a:xfrm>
            <a:off x="14029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g-column-2"/>
          <p:cNvSpPr/>
          <p:nvPr/>
        </p:nvSpPr>
        <p:spPr>
          <a:xfrm>
            <a:off x="25205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soc-regs-cfg"/>
          <p:cNvSpPr/>
          <p:nvPr/>
        </p:nvSpPr>
        <p:spPr>
          <a:xfrm>
            <a:off x="25205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spi-cfg"/>
          <p:cNvSpPr/>
          <p:nvPr/>
        </p:nvSpPr>
        <p:spPr>
          <a:xfrm>
            <a:off x="25205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err-vga-cfg"/>
          <p:cNvSpPr/>
          <p:nvPr/>
        </p:nvSpPr>
        <p:spPr>
          <a:xfrm>
            <a:off x="25205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clic-cfg"/>
          <p:cNvSpPr/>
          <p:nvPr/>
        </p:nvSpPr>
        <p:spPr>
          <a:xfrm>
            <a:off x="25205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g-column-3"/>
          <p:cNvSpPr/>
          <p:nvPr/>
        </p:nvSpPr>
        <p:spPr>
          <a:xfrm>
            <a:off x="36381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plic-cfg"/>
          <p:cNvSpPr/>
          <p:nvPr/>
        </p:nvSpPr>
        <p:spPr>
          <a:xfrm>
            <a:off x="36381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gpio-cfg"/>
          <p:cNvSpPr/>
          <p:nvPr/>
        </p:nvSpPr>
        <p:spPr>
          <a:xfrm>
            <a:off x="36381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err-dma-cfg"/>
          <p:cNvSpPr/>
          <p:nvPr/>
        </p:nvSpPr>
        <p:spPr>
          <a:xfrm>
            <a:off x="36381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g-error-cfg"/>
          <p:cNvSpPr/>
          <p:nvPr/>
        </p:nvSpPr>
        <p:spPr>
          <a:xfrm>
            <a:off x="36381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g-column-4"/>
          <p:cNvSpPr/>
          <p:nvPr/>
        </p:nvSpPr>
        <p:spPr>
          <a:xfrm>
            <a:off x="47557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llc-regs-cfg"/>
          <p:cNvSpPr/>
          <p:nvPr/>
        </p:nvSpPr>
        <p:spPr>
          <a:xfrm>
            <a:off x="47557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slink-regs-cfg"/>
          <p:cNvSpPr/>
          <p:nvPr/>
        </p:nvSpPr>
        <p:spPr>
          <a:xfrm>
            <a:off x="47557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err-cpu-cfg"/>
          <p:cNvSpPr/>
          <p:nvPr/>
        </p:nvSpPr>
        <p:spPr>
          <a:xfrm>
            <a:off x="47557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g-ext-cfg"/>
          <p:cNvSpPr/>
          <p:nvPr/>
        </p:nvSpPr>
        <p:spPr>
          <a:xfrm>
            <a:off x="47557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ddr-arb-0"/>
          <p:cNvSpPr/>
          <p:nvPr/>
        </p:nvSpPr>
        <p:spPr>
          <a:xfrm>
            <a:off x="6604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ddr-arb-1"/>
          <p:cNvSpPr/>
          <p:nvPr/>
        </p:nvSpPr>
        <p:spPr>
          <a:xfrm>
            <a:off x="7535333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ddr-arb-2"/>
          <p:cNvSpPr/>
          <p:nvPr/>
        </p:nvSpPr>
        <p:spPr>
          <a:xfrm>
            <a:off x="8466667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ddr-arb-3"/>
          <p:cNvSpPr/>
          <p:nvPr/>
        </p:nvSpPr>
        <p:spPr>
          <a:xfrm>
            <a:off x="9398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arb-rw"/>
          <p:cNvSpPr/>
          <p:nvPr/>
        </p:nvSpPr>
        <p:spPr>
          <a:xfrm>
            <a:off x="7001933" y="5537200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w-command"/>
          <p:cNvSpPr/>
          <p:nvPr/>
        </p:nvSpPr>
        <p:spPr>
          <a:xfrm>
            <a:off x="7806267" y="5655733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controller-phy"/>
          <p:cNvSpPr/>
          <p:nvPr/>
        </p:nvSpPr>
        <p:spPr>
          <a:xfrm>
            <a:off x="9855200" y="5655733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phy-ddr"/>
          <p:cNvSpPr/>
          <p:nvPr/>
        </p:nvSpPr>
        <p:spPr>
          <a:xfrm>
            <a:off x="11125200" y="5791200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oi-vdma-control"/>
          <p:cNvSpPr/>
          <p:nvPr/>
        </p:nvSpPr>
        <p:spPr>
          <a:xfrm>
            <a:off x="10701867" y="4419600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vdma-pixels"/>
          <p:cNvSpPr/>
          <p:nvPr/>
        </p:nvSpPr>
        <p:spPr>
          <a:xfrm>
            <a:off x="10701867" y="4792133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fifo-lvds"/>
          <p:cNvSpPr/>
          <p:nvPr/>
        </p:nvSpPr>
        <p:spPr>
          <a:xfrm>
            <a:off x="10701867" y="5096933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llc-f0"/>
          <p:cNvSpPr/>
          <p:nvPr/>
        </p:nvSpPr>
        <p:spPr>
          <a:xfrm>
            <a:off x="4019852" y="3535680"/>
            <a:ext cx="2584148" cy="257387"/>
          </a:xfrm>
          <a:custGeom>
            <a:avLst/>
            <a:gdLst/>
            <a:ahLst/>
            <a:cxnLst/>
            <a:rect l="0" t="0" r="r" b="b"/>
            <a:pathLst>
              <a:path w="2584148" h="257387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573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mover-f1"/>
          <p:cNvSpPr/>
          <p:nvPr/>
        </p:nvSpPr>
        <p:spPr>
          <a:xfrm>
            <a:off x="7336367" y="1371600"/>
            <a:ext cx="2688167" cy="2421467"/>
          </a:xfrm>
          <a:custGeom>
            <a:avLst/>
            <a:gdLst/>
            <a:ahLst/>
            <a:cxnLst/>
            <a:rect l="0" t="0" r="r" b="b"/>
            <a:pathLst>
              <a:path w="2688167" h="2421467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214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frame-f2"/>
          <p:cNvSpPr/>
          <p:nvPr/>
        </p:nvSpPr>
        <p:spPr>
          <a:xfrm>
            <a:off x="8466667" y="1151467"/>
            <a:ext cx="2727396" cy="2641600"/>
          </a:xfrm>
          <a:custGeom>
            <a:avLst/>
            <a:gdLst/>
            <a:ahLst/>
            <a:cxnLst/>
            <a:rect l="0" t="0" r="r" b="b"/>
            <a:pathLst>
              <a:path w="2727396" h="2641600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4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oi-f3-request"/>
          <p:cNvSpPr/>
          <p:nvPr/>
        </p:nvSpPr>
        <p:spPr>
          <a:xfrm>
            <a:off x="9398000" y="3742267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gext-config"/>
          <p:cNvSpPr/>
          <p:nvPr/>
        </p:nvSpPr>
        <p:spPr>
          <a:xfrm>
            <a:off x="5846233" y="5313680"/>
            <a:ext cx="198967" cy="962152"/>
          </a:xfrm>
          <a:custGeom>
            <a:avLst/>
            <a:gdLst/>
            <a:ahLst/>
            <a:cxnLst/>
            <a:rect l="0" t="0" r="r" b="b"/>
            <a:pathLst>
              <a:path w="198967" h="962152" fill="none">
                <a:moveTo>
                  <a:pt x="0" y="0"/>
                </a:moveTo>
                <a:lnTo>
                  <a:pt x="198967" y="0"/>
                </a:lnTo>
                <a:lnTo>
                  <a:pt x="198967" y="962152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config-trunk"/>
          <p:cNvSpPr/>
          <p:nvPr/>
        </p:nvSpPr>
        <p:spPr>
          <a:xfrm>
            <a:off x="563562" y="6275832"/>
            <a:ext cx="10379075" cy="1"/>
          </a:xfrm>
          <a:custGeom>
            <a:avLst/>
            <a:gdLst/>
            <a:ahLst/>
            <a:cxnLst/>
            <a:rect l="0" t="0" r="r" b="b"/>
            <a:pathLst>
              <a:path w="10379075" h="1" fill="none">
                <a:moveTo>
                  <a:pt x="0" y="0"/>
                </a:moveTo>
                <a:lnTo>
                  <a:pt x="10379075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cfg-C1"/>
          <p:cNvSpPr/>
          <p:nvPr/>
        </p:nvSpPr>
        <p:spPr>
          <a:xfrm>
            <a:off x="563562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cfg-C2"/>
          <p:cNvSpPr/>
          <p:nvPr/>
        </p:nvSpPr>
        <p:spPr>
          <a:xfrm>
            <a:off x="1255501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cfg-C3"/>
          <p:cNvSpPr/>
          <p:nvPr/>
        </p:nvSpPr>
        <p:spPr>
          <a:xfrm>
            <a:off x="1947439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cfg-C4"/>
          <p:cNvSpPr/>
          <p:nvPr/>
        </p:nvSpPr>
        <p:spPr>
          <a:xfrm>
            <a:off x="2639378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cfg-C5"/>
          <p:cNvSpPr/>
          <p:nvPr/>
        </p:nvSpPr>
        <p:spPr>
          <a:xfrm>
            <a:off x="3331316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cfg-C6"/>
          <p:cNvSpPr/>
          <p:nvPr/>
        </p:nvSpPr>
        <p:spPr>
          <a:xfrm>
            <a:off x="4023254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cfg-C7"/>
          <p:cNvSpPr/>
          <p:nvPr/>
        </p:nvSpPr>
        <p:spPr>
          <a:xfrm>
            <a:off x="4715192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cfg-C8"/>
          <p:cNvSpPr/>
          <p:nvPr/>
        </p:nvSpPr>
        <p:spPr>
          <a:xfrm>
            <a:off x="5407131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cfg-C9"/>
          <p:cNvSpPr/>
          <p:nvPr/>
        </p:nvSpPr>
        <p:spPr>
          <a:xfrm>
            <a:off x="6099069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cfg-C10"/>
          <p:cNvSpPr/>
          <p:nvPr/>
        </p:nvSpPr>
        <p:spPr>
          <a:xfrm>
            <a:off x="6791008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cfg-C11"/>
          <p:cNvSpPr/>
          <p:nvPr/>
        </p:nvSpPr>
        <p:spPr>
          <a:xfrm>
            <a:off x="7482946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cfg-C12"/>
          <p:cNvSpPr/>
          <p:nvPr/>
        </p:nvSpPr>
        <p:spPr>
          <a:xfrm>
            <a:off x="8174884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cfg-C13"/>
          <p:cNvSpPr/>
          <p:nvPr/>
        </p:nvSpPr>
        <p:spPr>
          <a:xfrm>
            <a:off x="8866822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cfg-C14"/>
          <p:cNvSpPr/>
          <p:nvPr/>
        </p:nvSpPr>
        <p:spPr>
          <a:xfrm>
            <a:off x="9558761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cfg-C15"/>
          <p:cNvSpPr/>
          <p:nvPr/>
        </p:nvSpPr>
        <p:spPr>
          <a:xfrm>
            <a:off x="10250699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cfg-C16"/>
          <p:cNvSpPr/>
          <p:nvPr/>
        </p:nvSpPr>
        <p:spPr>
          <a:xfrm>
            <a:off x="10942638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front-input-0"/>
          <p:cNvSpPr/>
          <p:nvPr/>
        </p:nvSpPr>
        <p:spPr>
          <a:xfrm>
            <a:off x="6604000" y="3887893"/>
            <a:ext cx="1" cy="67733"/>
          </a:xfrm>
          <a:custGeom>
            <a:avLst/>
            <a:gdLst/>
            <a:ahLst/>
            <a:cxnLst/>
            <a:rect l="0" t="0" r="r" b="b"/>
            <a:pathLst>
              <a:path w="1" h="67733" fill="none">
                <a:moveTo>
                  <a:pt x="0" y="0"/>
                </a:moveTo>
                <a:lnTo>
                  <a:pt x="0" y="6773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front-input-1"/>
          <p:cNvSpPr/>
          <p:nvPr/>
        </p:nvSpPr>
        <p:spPr>
          <a:xfrm>
            <a:off x="7535333" y="3887893"/>
            <a:ext cx="1" cy="67733"/>
          </a:xfrm>
          <a:custGeom>
            <a:avLst/>
            <a:gdLst/>
            <a:ahLst/>
            <a:cxnLst/>
            <a:rect l="0" t="0" r="r" b="b"/>
            <a:pathLst>
              <a:path w="1" h="67733" fill="none">
                <a:moveTo>
                  <a:pt x="0" y="0"/>
                </a:moveTo>
                <a:lnTo>
                  <a:pt x="0" y="6773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front-input-2"/>
          <p:cNvSpPr/>
          <p:nvPr/>
        </p:nvSpPr>
        <p:spPr>
          <a:xfrm>
            <a:off x="8466667" y="3887893"/>
            <a:ext cx="1" cy="67733"/>
          </a:xfrm>
          <a:custGeom>
            <a:avLst/>
            <a:gdLst/>
            <a:ahLst/>
            <a:cxnLst/>
            <a:rect l="0" t="0" r="r" b="b"/>
            <a:pathLst>
              <a:path w="1" h="67733" fill="none">
                <a:moveTo>
                  <a:pt x="0" y="0"/>
                </a:moveTo>
                <a:lnTo>
                  <a:pt x="0" y="6773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front-input-3"/>
          <p:cNvSpPr/>
          <p:nvPr/>
        </p:nvSpPr>
        <p:spPr>
          <a:xfrm>
            <a:off x="9398000" y="3887893"/>
            <a:ext cx="1" cy="67733"/>
          </a:xfrm>
          <a:custGeom>
            <a:avLst/>
            <a:gdLst/>
            <a:ahLst/>
            <a:cxnLst/>
            <a:rect l="0" t="0" r="r" b="b"/>
            <a:pathLst>
              <a:path w="1" h="67733" fill="none">
                <a:moveTo>
                  <a:pt x="0" y="0"/>
                </a:moveTo>
                <a:lnTo>
                  <a:pt x="0" y="6773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adapt-address"/>
          <p:cNvSpPr/>
          <p:nvPr/>
        </p:nvSpPr>
        <p:spPr>
          <a:xfrm>
            <a:off x="6587067" y="4131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address-downstream"/>
          <p:cNvSpPr/>
          <p:nvPr/>
        </p:nvSpPr>
        <p:spPr>
          <a:xfrm>
            <a:off x="6976533" y="4402667"/>
            <a:ext cx="40640" cy="592667"/>
          </a:xfrm>
          <a:custGeom>
            <a:avLst/>
            <a:gdLst/>
            <a:ahLst/>
            <a:cxnLst/>
            <a:rect l="0" t="0" r="r" b="b"/>
            <a:pathLst>
              <a:path w="40640" h="592667" fill="none">
                <a:moveTo>
                  <a:pt x="0" y="0"/>
                </a:moveTo>
                <a:lnTo>
                  <a:pt x="40640" y="0"/>
                </a:lnTo>
                <a:lnTo>
                  <a:pt x="40640" y="5926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b-response"/>
          <p:cNvSpPr/>
          <p:nvPr/>
        </p:nvSpPr>
        <p:spPr>
          <a:xfrm>
            <a:off x="6163733" y="4131733"/>
            <a:ext cx="84667" cy="948267"/>
          </a:xfrm>
          <a:custGeom>
            <a:avLst/>
            <a:gdLst/>
            <a:ahLst/>
            <a:cxnLst/>
            <a:rect l="0" t="0" r="r" b="b"/>
            <a:pathLst>
              <a:path w="84667" h="948267" fill="none">
                <a:moveTo>
                  <a:pt x="33867" y="948267"/>
                </a:moveTo>
                <a:lnTo>
                  <a:pt x="0" y="94826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metadata-control"/>
          <p:cNvSpPr/>
          <p:nvPr/>
        </p:nvSpPr>
        <p:spPr>
          <a:xfrm>
            <a:off x="6587067" y="4572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metadata-storage"/>
          <p:cNvSpPr/>
          <p:nvPr/>
        </p:nvSpPr>
        <p:spPr>
          <a:xfrm>
            <a:off x="6587067" y="4893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adapt-compressor"/>
          <p:cNvSpPr/>
          <p:nvPr/>
        </p:nvSpPr>
        <p:spPr>
          <a:xfrm>
            <a:off x="7577667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compressor-route"/>
          <p:cNvSpPr/>
          <p:nvPr/>
        </p:nvSpPr>
        <p:spPr>
          <a:xfrm>
            <a:off x="7577667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ead-to-decoder"/>
          <p:cNvSpPr/>
          <p:nvPr/>
        </p:nvSpPr>
        <p:spPr>
          <a:xfrm>
            <a:off x="8483600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decoder-up"/>
          <p:cNvSpPr/>
          <p:nvPr/>
        </p:nvSpPr>
        <p:spPr>
          <a:xfrm>
            <a:off x="8483600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adapt-plain-bypass"/>
          <p:cNvSpPr/>
          <p:nvPr/>
        </p:nvSpPr>
        <p:spPr>
          <a:xfrm>
            <a:off x="9389533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plain-bypass-route"/>
          <p:cNvSpPr/>
          <p:nvPr/>
        </p:nvSpPr>
        <p:spPr>
          <a:xfrm>
            <a:off x="9389533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front-ddr-0"/>
          <p:cNvSpPr/>
          <p:nvPr/>
        </p:nvSpPr>
        <p:spPr>
          <a:xfrm>
            <a:off x="6604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front-ddr-1"/>
          <p:cNvSpPr/>
          <p:nvPr/>
        </p:nvSpPr>
        <p:spPr>
          <a:xfrm>
            <a:off x="7535333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front-ddr-2"/>
          <p:cNvSpPr/>
          <p:nvPr/>
        </p:nvSpPr>
        <p:spPr>
          <a:xfrm>
            <a:off x="8466667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front-ddr-3"/>
          <p:cNvSpPr/>
          <p:nvPr/>
        </p:nvSpPr>
        <p:spPr>
          <a:xfrm>
            <a:off x="9398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legend-data"/>
          <p:cNvSpPr/>
          <p:nvPr/>
        </p:nvSpPr>
        <p:spPr>
          <a:xfrm>
            <a:off x="10193867" y="2438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legend-gb"/>
          <p:cNvSpPr/>
          <p:nvPr/>
        </p:nvSpPr>
        <p:spPr>
          <a:xfrm>
            <a:off x="10193867" y="266530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legend-pixel"/>
          <p:cNvSpPr/>
          <p:nvPr/>
        </p:nvSpPr>
        <p:spPr>
          <a:xfrm>
            <a:off x="10193867" y="289221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legend-cfg"/>
          <p:cNvSpPr/>
          <p:nvPr/>
        </p:nvSpPr>
        <p:spPr>
          <a:xfrm>
            <a:off x="10193867" y="311912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legend-optional"/>
          <p:cNvSpPr/>
          <p:nvPr/>
        </p:nvSpPr>
        <p:spPr>
          <a:xfrm>
            <a:off x="10193867" y="334602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junction-84.25-1269"/>
          <p:cNvSpPr/>
          <p:nvPr/>
        </p:nvSpPr>
        <p:spPr>
          <a:xfrm>
            <a:off x="2683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junction-84.25-1369"/>
          <p:cNvSpPr/>
          <p:nvPr/>
        </p:nvSpPr>
        <p:spPr>
          <a:xfrm>
            <a:off x="2683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junction-84.25-1469"/>
          <p:cNvSpPr/>
          <p:nvPr/>
        </p:nvSpPr>
        <p:spPr>
          <a:xfrm>
            <a:off x="2683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junction-84.25-1569"/>
          <p:cNvSpPr/>
          <p:nvPr/>
        </p:nvSpPr>
        <p:spPr>
          <a:xfrm>
            <a:off x="2683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junction-414.25-1269"/>
          <p:cNvSpPr/>
          <p:nvPr/>
        </p:nvSpPr>
        <p:spPr>
          <a:xfrm>
            <a:off x="13859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junction-414.25-1369"/>
          <p:cNvSpPr/>
          <p:nvPr/>
        </p:nvSpPr>
        <p:spPr>
          <a:xfrm>
            <a:off x="13859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junction-414.25-1469"/>
          <p:cNvSpPr/>
          <p:nvPr/>
        </p:nvSpPr>
        <p:spPr>
          <a:xfrm>
            <a:off x="13859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junction-414.25-1569"/>
          <p:cNvSpPr/>
          <p:nvPr/>
        </p:nvSpPr>
        <p:spPr>
          <a:xfrm>
            <a:off x="13859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junction-744.25-1269"/>
          <p:cNvSpPr/>
          <p:nvPr/>
        </p:nvSpPr>
        <p:spPr>
          <a:xfrm>
            <a:off x="25035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junction-744.25-1369"/>
          <p:cNvSpPr/>
          <p:nvPr/>
        </p:nvSpPr>
        <p:spPr>
          <a:xfrm>
            <a:off x="25035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junction-744.25-1469"/>
          <p:cNvSpPr/>
          <p:nvPr/>
        </p:nvSpPr>
        <p:spPr>
          <a:xfrm>
            <a:off x="25035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junction-744.25-1569"/>
          <p:cNvSpPr/>
          <p:nvPr/>
        </p:nvSpPr>
        <p:spPr>
          <a:xfrm>
            <a:off x="25035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junction-1074.25-1269"/>
          <p:cNvSpPr/>
          <p:nvPr/>
        </p:nvSpPr>
        <p:spPr>
          <a:xfrm>
            <a:off x="36211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junction-1074.25-1369"/>
          <p:cNvSpPr/>
          <p:nvPr/>
        </p:nvSpPr>
        <p:spPr>
          <a:xfrm>
            <a:off x="36211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junction-1074.25-1469"/>
          <p:cNvSpPr/>
          <p:nvPr/>
        </p:nvSpPr>
        <p:spPr>
          <a:xfrm>
            <a:off x="36211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junction-1074.25-1569"/>
          <p:cNvSpPr/>
          <p:nvPr/>
        </p:nvSpPr>
        <p:spPr>
          <a:xfrm>
            <a:off x="36211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junction-1404.25-1269"/>
          <p:cNvSpPr/>
          <p:nvPr/>
        </p:nvSpPr>
        <p:spPr>
          <a:xfrm>
            <a:off x="47387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junction-1404.25-1369"/>
          <p:cNvSpPr/>
          <p:nvPr/>
        </p:nvSpPr>
        <p:spPr>
          <a:xfrm>
            <a:off x="47387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junction-1404.25-1469"/>
          <p:cNvSpPr/>
          <p:nvPr/>
        </p:nvSpPr>
        <p:spPr>
          <a:xfrm>
            <a:off x="47387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junction-1404.25-1569"/>
          <p:cNvSpPr/>
          <p:nvPr/>
        </p:nvSpPr>
        <p:spPr>
          <a:xfrm>
            <a:off x="47387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junction-1785-1853.1"/>
          <p:cNvSpPr/>
          <p:nvPr/>
        </p:nvSpPr>
        <p:spPr>
          <a:xfrm>
            <a:off x="6028267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junction-166.40625-1853.1"/>
          <p:cNvSpPr/>
          <p:nvPr/>
        </p:nvSpPr>
        <p:spPr>
          <a:xfrm>
            <a:off x="546629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junction-370.71875-1853.1"/>
          <p:cNvSpPr/>
          <p:nvPr/>
        </p:nvSpPr>
        <p:spPr>
          <a:xfrm>
            <a:off x="1238568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junction-575.03125-1853.1"/>
          <p:cNvSpPr/>
          <p:nvPr/>
        </p:nvSpPr>
        <p:spPr>
          <a:xfrm>
            <a:off x="1930506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junction-779.34375-1853.1"/>
          <p:cNvSpPr/>
          <p:nvPr/>
        </p:nvSpPr>
        <p:spPr>
          <a:xfrm>
            <a:off x="2622444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junction-983.65625-1853.1"/>
          <p:cNvSpPr/>
          <p:nvPr/>
        </p:nvSpPr>
        <p:spPr>
          <a:xfrm>
            <a:off x="3314382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junction-1187.96875-1853.1"/>
          <p:cNvSpPr/>
          <p:nvPr/>
        </p:nvSpPr>
        <p:spPr>
          <a:xfrm>
            <a:off x="4006321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junction-1392.28125-1853.1"/>
          <p:cNvSpPr/>
          <p:nvPr/>
        </p:nvSpPr>
        <p:spPr>
          <a:xfrm>
            <a:off x="4698259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junction-1596.59375-1853.1"/>
          <p:cNvSpPr/>
          <p:nvPr/>
        </p:nvSpPr>
        <p:spPr>
          <a:xfrm>
            <a:off x="5390198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junction-1800.90625-1853.1"/>
          <p:cNvSpPr/>
          <p:nvPr/>
        </p:nvSpPr>
        <p:spPr>
          <a:xfrm>
            <a:off x="6082136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junction-2005.21875-1853.1"/>
          <p:cNvSpPr/>
          <p:nvPr/>
        </p:nvSpPr>
        <p:spPr>
          <a:xfrm>
            <a:off x="6774074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junction-2209.53125-1853.1"/>
          <p:cNvSpPr/>
          <p:nvPr/>
        </p:nvSpPr>
        <p:spPr>
          <a:xfrm>
            <a:off x="7466012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junction-2413.84375-1853.1"/>
          <p:cNvSpPr/>
          <p:nvPr/>
        </p:nvSpPr>
        <p:spPr>
          <a:xfrm>
            <a:off x="8157951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junction-2618.15625-1853.1"/>
          <p:cNvSpPr/>
          <p:nvPr/>
        </p:nvSpPr>
        <p:spPr>
          <a:xfrm>
            <a:off x="8849889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junction-2822.46875-1853.1"/>
          <p:cNvSpPr/>
          <p:nvPr/>
        </p:nvSpPr>
        <p:spPr>
          <a:xfrm>
            <a:off x="9541828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junction-3026.78125-1853.1"/>
          <p:cNvSpPr/>
          <p:nvPr/>
        </p:nvSpPr>
        <p:spPr>
          <a:xfrm>
            <a:off x="10233766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junction-3231.09375-1853.1"/>
          <p:cNvSpPr/>
          <p:nvPr/>
        </p:nvSpPr>
        <p:spPr>
          <a:xfrm>
            <a:off x="10925704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cva6"/>
          <p:cNvSpPr/>
          <p:nvPr/>
        </p:nvSpPr>
        <p:spPr>
          <a:xfrm>
            <a:off x="325967" y="474133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ara"/>
          <p:cNvSpPr/>
          <p:nvPr/>
        </p:nvSpPr>
        <p:spPr>
          <a:xfrm>
            <a:off x="1341967" y="474133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ara-filter"/>
          <p:cNvSpPr/>
          <p:nvPr/>
        </p:nvSpPr>
        <p:spPr>
          <a:xfrm>
            <a:off x="1409700" y="1049867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ara-width"/>
          <p:cNvSpPr/>
          <p:nvPr/>
        </p:nvSpPr>
        <p:spPr>
          <a:xfrm>
            <a:off x="2798233" y="1049867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npu"/>
          <p:cNvSpPr/>
          <p:nvPr/>
        </p:nvSpPr>
        <p:spPr>
          <a:xfrm>
            <a:off x="3678767" y="474133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badge-C6"/>
          <p:cNvSpPr/>
          <p:nvPr/>
        </p:nvSpPr>
        <p:spPr>
          <a:xfrm>
            <a:off x="4389967" y="92456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gb-adapter"/>
          <p:cNvSpPr/>
          <p:nvPr/>
        </p:nvSpPr>
        <p:spPr>
          <a:xfrm>
            <a:off x="4711700" y="728133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global-buffer"/>
          <p:cNvSpPr/>
          <p:nvPr/>
        </p:nvSpPr>
        <p:spPr>
          <a:xfrm>
            <a:off x="5626100" y="474133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badge-C9"/>
          <p:cNvSpPr/>
          <p:nvPr/>
        </p:nvSpPr>
        <p:spPr>
          <a:xfrm>
            <a:off x="7133167" y="91440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gb-mover"/>
          <p:cNvSpPr/>
          <p:nvPr/>
        </p:nvSpPr>
        <p:spPr>
          <a:xfrm>
            <a:off x="5626100" y="1168400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badge-C7"/>
          <p:cNvSpPr/>
          <p:nvPr/>
        </p:nvSpPr>
        <p:spPr>
          <a:xfrm>
            <a:off x="7133167" y="144610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lvds-rx"/>
          <p:cNvSpPr/>
          <p:nvPr/>
        </p:nvSpPr>
        <p:spPr>
          <a:xfrm>
            <a:off x="7691967" y="677333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rx-cdc"/>
          <p:cNvSpPr/>
          <p:nvPr/>
        </p:nvSpPr>
        <p:spPr>
          <a:xfrm>
            <a:off x="8352367" y="677333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isp"/>
          <p:cNvSpPr/>
          <p:nvPr/>
        </p:nvSpPr>
        <p:spPr>
          <a:xfrm>
            <a:off x="8995833" y="677333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frame-select"/>
          <p:cNvSpPr/>
          <p:nvPr/>
        </p:nvSpPr>
        <p:spPr>
          <a:xfrm>
            <a:off x="9656233" y="677333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frame-dma"/>
          <p:cNvSpPr/>
          <p:nvPr/>
        </p:nvSpPr>
        <p:spPr>
          <a:xfrm>
            <a:off x="10384367" y="677333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badge-C4"/>
          <p:cNvSpPr/>
          <p:nvPr/>
        </p:nvSpPr>
        <p:spPr>
          <a:xfrm>
            <a:off x="8047567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badge-C5"/>
          <p:cNvSpPr/>
          <p:nvPr/>
        </p:nvSpPr>
        <p:spPr>
          <a:xfrm>
            <a:off x="9351433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badge-C8"/>
          <p:cNvSpPr/>
          <p:nvPr/>
        </p:nvSpPr>
        <p:spPr>
          <a:xfrm>
            <a:off x="10909300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axi-crossbar"/>
          <p:cNvSpPr/>
          <p:nvPr/>
        </p:nvSpPr>
        <p:spPr>
          <a:xfrm>
            <a:off x="241300" y="2370667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xbar-in-S0"/>
          <p:cNvSpPr/>
          <p:nvPr/>
        </p:nvSpPr>
        <p:spPr>
          <a:xfrm>
            <a:off x="61119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xbar-in-S1"/>
          <p:cNvSpPr/>
          <p:nvPr/>
        </p:nvSpPr>
        <p:spPr>
          <a:xfrm>
            <a:off x="1676118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xbar-in-S2"/>
          <p:cNvSpPr/>
          <p:nvPr/>
        </p:nvSpPr>
        <p:spPr>
          <a:xfrm>
            <a:off x="2741036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xbar-in-S3"/>
          <p:cNvSpPr/>
          <p:nvPr/>
        </p:nvSpPr>
        <p:spPr>
          <a:xfrm>
            <a:off x="3805955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xbar-in-S4"/>
          <p:cNvSpPr/>
          <p:nvPr/>
        </p:nvSpPr>
        <p:spPr>
          <a:xfrm>
            <a:off x="4870873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xbar-in-S5"/>
          <p:cNvSpPr/>
          <p:nvPr/>
        </p:nvSpPr>
        <p:spPr>
          <a:xfrm>
            <a:off x="5935792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xbar-in-S6"/>
          <p:cNvSpPr/>
          <p:nvPr/>
        </p:nvSpPr>
        <p:spPr>
          <a:xfrm>
            <a:off x="7000710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xbar-in-S7"/>
          <p:cNvSpPr/>
          <p:nvPr/>
        </p:nvSpPr>
        <p:spPr>
          <a:xfrm>
            <a:off x="806562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xbar-in-S_EXT"/>
          <p:cNvSpPr/>
          <p:nvPr/>
        </p:nvSpPr>
        <p:spPr>
          <a:xfrm>
            <a:off x="9130547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debug-sba"/>
          <p:cNvSpPr/>
          <p:nvPr/>
        </p:nvSpPr>
        <p:spPr>
          <a:xfrm>
            <a:off x="1354384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idma-master"/>
          <p:cNvSpPr/>
          <p:nvPr/>
        </p:nvSpPr>
        <p:spPr>
          <a:xfrm>
            <a:off x="3484221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slink-rx"/>
          <p:cNvSpPr/>
          <p:nvPr/>
        </p:nvSpPr>
        <p:spPr>
          <a:xfrm>
            <a:off x="4549140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vga"/>
          <p:cNvSpPr/>
          <p:nvPr/>
        </p:nvSpPr>
        <p:spPr>
          <a:xfrm>
            <a:off x="5614059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usb-dma"/>
          <p:cNvSpPr/>
          <p:nvPr/>
        </p:nvSpPr>
        <p:spPr>
          <a:xfrm>
            <a:off x="6678977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emmc-host"/>
          <p:cNvSpPr/>
          <p:nvPr/>
        </p:nvSpPr>
        <p:spPr>
          <a:xfrm>
            <a:off x="7743896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ext-master"/>
          <p:cNvSpPr/>
          <p:nvPr/>
        </p:nvSpPr>
        <p:spPr>
          <a:xfrm>
            <a:off x="8808814" y="1879600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badge-C10"/>
          <p:cNvSpPr/>
          <p:nvPr/>
        </p:nvSpPr>
        <p:spPr>
          <a:xfrm>
            <a:off x="8505896" y="21132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xbar-out-M0"/>
          <p:cNvSpPr/>
          <p:nvPr/>
        </p:nvSpPr>
        <p:spPr>
          <a:xfrm>
            <a:off x="763330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debug-target"/>
          <p:cNvSpPr/>
          <p:nvPr/>
        </p:nvSpPr>
        <p:spPr>
          <a:xfrm>
            <a:off x="316290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xbar-out-M1"/>
          <p:cNvSpPr/>
          <p:nvPr/>
        </p:nvSpPr>
        <p:spPr>
          <a:xfrm>
            <a:off x="2132511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reg-bridge"/>
          <p:cNvSpPr/>
          <p:nvPr/>
        </p:nvSpPr>
        <p:spPr>
          <a:xfrm>
            <a:off x="1685471" y="3048000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xbar-out-M2"/>
          <p:cNvSpPr/>
          <p:nvPr/>
        </p:nvSpPr>
        <p:spPr>
          <a:xfrm>
            <a:off x="3501692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memory-target"/>
          <p:cNvSpPr/>
          <p:nvPr/>
        </p:nvSpPr>
        <p:spPr>
          <a:xfrm>
            <a:off x="2986919" y="3048000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atomics"/>
          <p:cNvSpPr/>
          <p:nvPr/>
        </p:nvSpPr>
        <p:spPr>
          <a:xfrm>
            <a:off x="3020786" y="3251200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llc-spm"/>
          <p:cNvSpPr/>
          <p:nvPr/>
        </p:nvSpPr>
        <p:spPr>
          <a:xfrm>
            <a:off x="3731986" y="3251200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xbar-out-M3"/>
          <p:cNvSpPr/>
          <p:nvPr/>
        </p:nvSpPr>
        <p:spPr>
          <a:xfrm>
            <a:off x="4870873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idma-config"/>
          <p:cNvSpPr/>
          <p:nvPr/>
        </p:nvSpPr>
        <p:spPr>
          <a:xfrm>
            <a:off x="4423833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xbar-out-M4"/>
          <p:cNvSpPr/>
          <p:nvPr/>
        </p:nvSpPr>
        <p:spPr>
          <a:xfrm>
            <a:off x="6240054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slink-tx"/>
          <p:cNvSpPr/>
          <p:nvPr/>
        </p:nvSpPr>
        <p:spPr>
          <a:xfrm>
            <a:off x="5793014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xbar-out-M5"/>
          <p:cNvSpPr/>
          <p:nvPr/>
        </p:nvSpPr>
        <p:spPr>
          <a:xfrm>
            <a:off x="7609235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gb-interface"/>
          <p:cNvSpPr/>
          <p:nvPr/>
        </p:nvSpPr>
        <p:spPr>
          <a:xfrm>
            <a:off x="7162195" y="3048000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xbar-out-M_EXT"/>
          <p:cNvSpPr/>
          <p:nvPr/>
        </p:nvSpPr>
        <p:spPr>
          <a:xfrm>
            <a:off x="8978416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ext-target"/>
          <p:cNvSpPr/>
          <p:nvPr/>
        </p:nvSpPr>
        <p:spPr>
          <a:xfrm>
            <a:off x="8531376" y="3048000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emmc-device"/>
          <p:cNvSpPr/>
          <p:nvPr/>
        </p:nvSpPr>
        <p:spPr>
          <a:xfrm>
            <a:off x="11413067" y="1879600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regbus"/>
          <p:cNvSpPr/>
          <p:nvPr/>
        </p:nvSpPr>
        <p:spPr>
          <a:xfrm>
            <a:off x="241300" y="3843867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bootrom"/>
          <p:cNvSpPr/>
          <p:nvPr/>
        </p:nvSpPr>
        <p:spPr>
          <a:xfrm>
            <a:off x="3598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uart"/>
          <p:cNvSpPr/>
          <p:nvPr/>
        </p:nvSpPr>
        <p:spPr>
          <a:xfrm>
            <a:off x="3598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vga-regs"/>
          <p:cNvSpPr/>
          <p:nvPr/>
        </p:nvSpPr>
        <p:spPr>
          <a:xfrm>
            <a:off x="3598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irq-router"/>
          <p:cNvSpPr/>
          <p:nvPr/>
        </p:nvSpPr>
        <p:spPr>
          <a:xfrm>
            <a:off x="3598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clint"/>
          <p:cNvSpPr/>
          <p:nvPr/>
        </p:nvSpPr>
        <p:spPr>
          <a:xfrm>
            <a:off x="14774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i2c"/>
          <p:cNvSpPr/>
          <p:nvPr/>
        </p:nvSpPr>
        <p:spPr>
          <a:xfrm>
            <a:off x="14774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usb-regs"/>
          <p:cNvSpPr/>
          <p:nvPr/>
        </p:nvSpPr>
        <p:spPr>
          <a:xfrm>
            <a:off x="14774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axi-rt-config"/>
          <p:cNvSpPr/>
          <p:nvPr/>
        </p:nvSpPr>
        <p:spPr>
          <a:xfrm>
            <a:off x="14774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soc-regs"/>
          <p:cNvSpPr/>
          <p:nvPr/>
        </p:nvSpPr>
        <p:spPr>
          <a:xfrm>
            <a:off x="25950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spi"/>
          <p:cNvSpPr/>
          <p:nvPr/>
        </p:nvSpPr>
        <p:spPr>
          <a:xfrm>
            <a:off x="25950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err-vga"/>
          <p:cNvSpPr/>
          <p:nvPr/>
        </p:nvSpPr>
        <p:spPr>
          <a:xfrm>
            <a:off x="25950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clic"/>
          <p:cNvSpPr/>
          <p:nvPr/>
        </p:nvSpPr>
        <p:spPr>
          <a:xfrm>
            <a:off x="25950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plic"/>
          <p:cNvSpPr/>
          <p:nvPr/>
        </p:nvSpPr>
        <p:spPr>
          <a:xfrm>
            <a:off x="37126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gpio"/>
          <p:cNvSpPr/>
          <p:nvPr/>
        </p:nvSpPr>
        <p:spPr>
          <a:xfrm>
            <a:off x="37126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err-dma"/>
          <p:cNvSpPr/>
          <p:nvPr/>
        </p:nvSpPr>
        <p:spPr>
          <a:xfrm>
            <a:off x="37126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reg-error"/>
          <p:cNvSpPr/>
          <p:nvPr/>
        </p:nvSpPr>
        <p:spPr>
          <a:xfrm>
            <a:off x="37126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llc-regs"/>
          <p:cNvSpPr/>
          <p:nvPr/>
        </p:nvSpPr>
        <p:spPr>
          <a:xfrm>
            <a:off x="48302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slink-regs"/>
          <p:cNvSpPr/>
          <p:nvPr/>
        </p:nvSpPr>
        <p:spPr>
          <a:xfrm>
            <a:off x="48302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err-cpu"/>
          <p:cNvSpPr/>
          <p:nvPr/>
        </p:nvSpPr>
        <p:spPr>
          <a:xfrm>
            <a:off x="48302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reg-ext"/>
          <p:cNvSpPr/>
          <p:nvPr/>
        </p:nvSpPr>
        <p:spPr>
          <a:xfrm>
            <a:off x="48302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ddr-S0"/>
          <p:cNvSpPr/>
          <p:nvPr/>
        </p:nvSpPr>
        <p:spPr>
          <a:xfrm>
            <a:off x="6350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ddr-S1"/>
          <p:cNvSpPr/>
          <p:nvPr/>
        </p:nvSpPr>
        <p:spPr>
          <a:xfrm>
            <a:off x="7281333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ddr-S2"/>
          <p:cNvSpPr/>
          <p:nvPr/>
        </p:nvSpPr>
        <p:spPr>
          <a:xfrm>
            <a:off x="8212667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ddr-S3"/>
          <p:cNvSpPr/>
          <p:nvPr/>
        </p:nvSpPr>
        <p:spPr>
          <a:xfrm>
            <a:off x="9144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ddr-arb"/>
          <p:cNvSpPr/>
          <p:nvPr/>
        </p:nvSpPr>
        <p:spPr>
          <a:xfrm>
            <a:off x="6197600" y="5401733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ddr-rw"/>
          <p:cNvSpPr/>
          <p:nvPr/>
        </p:nvSpPr>
        <p:spPr>
          <a:xfrm>
            <a:off x="6197600" y="5571067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ddr-command"/>
          <p:cNvSpPr/>
          <p:nvPr/>
        </p:nvSpPr>
        <p:spPr>
          <a:xfrm>
            <a:off x="8212667" y="5571067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badge-C2"/>
          <p:cNvSpPr/>
          <p:nvPr/>
        </p:nvSpPr>
        <p:spPr>
          <a:xfrm>
            <a:off x="9652000" y="575733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ddr-phy"/>
          <p:cNvSpPr/>
          <p:nvPr/>
        </p:nvSpPr>
        <p:spPr>
          <a:xfrm>
            <a:off x="10261600" y="5655733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badge-C3"/>
          <p:cNvSpPr/>
          <p:nvPr/>
        </p:nvSpPr>
        <p:spPr>
          <a:xfrm>
            <a:off x="10905067" y="58860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ddr-device"/>
          <p:cNvSpPr/>
          <p:nvPr/>
        </p:nvSpPr>
        <p:spPr>
          <a:xfrm>
            <a:off x="11501967" y="5655733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pll"/>
          <p:cNvSpPr/>
          <p:nvPr/>
        </p:nvSpPr>
        <p:spPr>
          <a:xfrm>
            <a:off x="7200900" y="5937165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badge-C1"/>
          <p:cNvSpPr/>
          <p:nvPr/>
        </p:nvSpPr>
        <p:spPr>
          <a:xfrm>
            <a:off x="8738447" y="600828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config-C1"/>
          <p:cNvSpPr/>
          <p:nvPr/>
        </p:nvSpPr>
        <p:spPr>
          <a:xfrm>
            <a:off x="241300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reg-badge-C1"/>
          <p:cNvSpPr/>
          <p:nvPr/>
        </p:nvSpPr>
        <p:spPr>
          <a:xfrm>
            <a:off x="265007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config-C2"/>
          <p:cNvSpPr/>
          <p:nvPr/>
        </p:nvSpPr>
        <p:spPr>
          <a:xfrm>
            <a:off x="933238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reg-badge-C2"/>
          <p:cNvSpPr/>
          <p:nvPr/>
        </p:nvSpPr>
        <p:spPr>
          <a:xfrm>
            <a:off x="956945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config-C3"/>
          <p:cNvSpPr/>
          <p:nvPr/>
        </p:nvSpPr>
        <p:spPr>
          <a:xfrm>
            <a:off x="1625177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reg-badge-C3"/>
          <p:cNvSpPr/>
          <p:nvPr/>
        </p:nvSpPr>
        <p:spPr>
          <a:xfrm>
            <a:off x="1648883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config-C4"/>
          <p:cNvSpPr/>
          <p:nvPr/>
        </p:nvSpPr>
        <p:spPr>
          <a:xfrm>
            <a:off x="2317115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reg-badge-C4"/>
          <p:cNvSpPr/>
          <p:nvPr/>
        </p:nvSpPr>
        <p:spPr>
          <a:xfrm>
            <a:off x="2340822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config-C5"/>
          <p:cNvSpPr/>
          <p:nvPr/>
        </p:nvSpPr>
        <p:spPr>
          <a:xfrm>
            <a:off x="3009053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reg-badge-C5"/>
          <p:cNvSpPr/>
          <p:nvPr/>
        </p:nvSpPr>
        <p:spPr>
          <a:xfrm>
            <a:off x="3032760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config-C6"/>
          <p:cNvSpPr/>
          <p:nvPr/>
        </p:nvSpPr>
        <p:spPr>
          <a:xfrm>
            <a:off x="3700992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reg-badge-C6"/>
          <p:cNvSpPr/>
          <p:nvPr/>
        </p:nvSpPr>
        <p:spPr>
          <a:xfrm>
            <a:off x="3724698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config-C7"/>
          <p:cNvSpPr/>
          <p:nvPr/>
        </p:nvSpPr>
        <p:spPr>
          <a:xfrm>
            <a:off x="4392930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reg-badge-C7"/>
          <p:cNvSpPr/>
          <p:nvPr/>
        </p:nvSpPr>
        <p:spPr>
          <a:xfrm>
            <a:off x="4416637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config-C8"/>
          <p:cNvSpPr/>
          <p:nvPr/>
        </p:nvSpPr>
        <p:spPr>
          <a:xfrm>
            <a:off x="5084868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reg-badge-C8"/>
          <p:cNvSpPr/>
          <p:nvPr/>
        </p:nvSpPr>
        <p:spPr>
          <a:xfrm>
            <a:off x="5108575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config-C9"/>
          <p:cNvSpPr/>
          <p:nvPr/>
        </p:nvSpPr>
        <p:spPr>
          <a:xfrm>
            <a:off x="5776807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reg-badge-C9"/>
          <p:cNvSpPr/>
          <p:nvPr/>
        </p:nvSpPr>
        <p:spPr>
          <a:xfrm>
            <a:off x="5800513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config-C10"/>
          <p:cNvSpPr/>
          <p:nvPr/>
        </p:nvSpPr>
        <p:spPr>
          <a:xfrm>
            <a:off x="6468745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reg-badge-C10"/>
          <p:cNvSpPr/>
          <p:nvPr/>
        </p:nvSpPr>
        <p:spPr>
          <a:xfrm>
            <a:off x="6492452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config-C11"/>
          <p:cNvSpPr/>
          <p:nvPr/>
        </p:nvSpPr>
        <p:spPr>
          <a:xfrm>
            <a:off x="7160683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reg-badge-C11"/>
          <p:cNvSpPr/>
          <p:nvPr/>
        </p:nvSpPr>
        <p:spPr>
          <a:xfrm>
            <a:off x="7184390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config-C12"/>
          <p:cNvSpPr/>
          <p:nvPr/>
        </p:nvSpPr>
        <p:spPr>
          <a:xfrm>
            <a:off x="7852622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reg-badge-C12"/>
          <p:cNvSpPr/>
          <p:nvPr/>
        </p:nvSpPr>
        <p:spPr>
          <a:xfrm>
            <a:off x="7876328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config-C13"/>
          <p:cNvSpPr/>
          <p:nvPr/>
        </p:nvSpPr>
        <p:spPr>
          <a:xfrm>
            <a:off x="8544560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reg-badge-C13"/>
          <p:cNvSpPr/>
          <p:nvPr/>
        </p:nvSpPr>
        <p:spPr>
          <a:xfrm>
            <a:off x="8568267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config-C14"/>
          <p:cNvSpPr/>
          <p:nvPr/>
        </p:nvSpPr>
        <p:spPr>
          <a:xfrm>
            <a:off x="9236498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reg-badge-C14"/>
          <p:cNvSpPr/>
          <p:nvPr/>
        </p:nvSpPr>
        <p:spPr>
          <a:xfrm>
            <a:off x="9260205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config-C15"/>
          <p:cNvSpPr/>
          <p:nvPr/>
        </p:nvSpPr>
        <p:spPr>
          <a:xfrm>
            <a:off x="9928437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reg-badge-C15"/>
          <p:cNvSpPr/>
          <p:nvPr/>
        </p:nvSpPr>
        <p:spPr>
          <a:xfrm>
            <a:off x="9952143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config-C16"/>
          <p:cNvSpPr/>
          <p:nvPr/>
        </p:nvSpPr>
        <p:spPr>
          <a:xfrm>
            <a:off x="10620375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reg-badge-C16"/>
          <p:cNvSpPr/>
          <p:nvPr/>
        </p:nvSpPr>
        <p:spPr>
          <a:xfrm>
            <a:off x="10644082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front-F0"/>
          <p:cNvSpPr/>
          <p:nvPr/>
        </p:nvSpPr>
        <p:spPr>
          <a:xfrm>
            <a:off x="6316133" y="3793067"/>
            <a:ext cx="575733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front-F1"/>
          <p:cNvSpPr/>
          <p:nvPr/>
        </p:nvSpPr>
        <p:spPr>
          <a:xfrm>
            <a:off x="7247467" y="3793067"/>
            <a:ext cx="575733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front-F2"/>
          <p:cNvSpPr/>
          <p:nvPr/>
        </p:nvSpPr>
        <p:spPr>
          <a:xfrm>
            <a:off x="8178800" y="3793067"/>
            <a:ext cx="575733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front-F3"/>
          <p:cNvSpPr/>
          <p:nvPr/>
        </p:nvSpPr>
        <p:spPr>
          <a:xfrm>
            <a:off x="9110133" y="3793067"/>
            <a:ext cx="575733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front-adapt"/>
          <p:cNvSpPr/>
          <p:nvPr/>
        </p:nvSpPr>
        <p:spPr>
          <a:xfrm>
            <a:off x="6197600" y="3955627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badge-C12"/>
          <p:cNvSpPr/>
          <p:nvPr/>
        </p:nvSpPr>
        <p:spPr>
          <a:xfrm>
            <a:off x="9652000" y="399965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address-control"/>
          <p:cNvSpPr/>
          <p:nvPr/>
        </p:nvSpPr>
        <p:spPr>
          <a:xfrm>
            <a:off x="6197600" y="4233333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metadata"/>
          <p:cNvSpPr/>
          <p:nvPr/>
        </p:nvSpPr>
        <p:spPr>
          <a:xfrm>
            <a:off x="6197600" y="4673600"/>
            <a:ext cx="778933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compressor"/>
          <p:cNvSpPr/>
          <p:nvPr/>
        </p:nvSpPr>
        <p:spPr>
          <a:xfrm>
            <a:off x="7179733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badge-C15"/>
          <p:cNvSpPr/>
          <p:nvPr/>
        </p:nvSpPr>
        <p:spPr>
          <a:xfrm>
            <a:off x="7206827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decompressor"/>
          <p:cNvSpPr/>
          <p:nvPr/>
        </p:nvSpPr>
        <p:spPr>
          <a:xfrm>
            <a:off x="8085667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badge-C16"/>
          <p:cNvSpPr/>
          <p:nvPr/>
        </p:nvSpPr>
        <p:spPr>
          <a:xfrm>
            <a:off x="8112760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plain-bypass"/>
          <p:cNvSpPr/>
          <p:nvPr/>
        </p:nvSpPr>
        <p:spPr>
          <a:xfrm>
            <a:off x="8991600" y="4368800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front-route"/>
          <p:cNvSpPr/>
          <p:nvPr/>
        </p:nvSpPr>
        <p:spPr>
          <a:xfrm>
            <a:off x="6197600" y="4995333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roi-scheduler"/>
          <p:cNvSpPr/>
          <p:nvPr/>
        </p:nvSpPr>
        <p:spPr>
          <a:xfrm>
            <a:off x="10261600" y="4097867"/>
            <a:ext cx="880533" cy="3217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badge-C11"/>
          <p:cNvSpPr/>
          <p:nvPr/>
        </p:nvSpPr>
        <p:spPr>
          <a:xfrm>
            <a:off x="10938933" y="411141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roi-vdma"/>
          <p:cNvSpPr/>
          <p:nvPr/>
        </p:nvSpPr>
        <p:spPr>
          <a:xfrm>
            <a:off x="10261600" y="4470400"/>
            <a:ext cx="880533" cy="3217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badge-C13"/>
          <p:cNvSpPr/>
          <p:nvPr/>
        </p:nvSpPr>
        <p:spPr>
          <a:xfrm>
            <a:off x="10938933" y="44839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roi-fifo"/>
          <p:cNvSpPr/>
          <p:nvPr/>
        </p:nvSpPr>
        <p:spPr>
          <a:xfrm>
            <a:off x="10261600" y="4842933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lvds-tx"/>
          <p:cNvSpPr/>
          <p:nvPr/>
        </p:nvSpPr>
        <p:spPr>
          <a:xfrm>
            <a:off x="10261600" y="5147733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badge-C14"/>
          <p:cNvSpPr/>
          <p:nvPr/>
        </p:nvSpPr>
        <p:spPr>
          <a:xfrm>
            <a:off x="10938933" y="51612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compute-title: CVA6–Ara 计算平台"/>
          <p:cNvSpPr txBox="1"/>
          <p:nvPr/>
        </p:nvSpPr>
        <p:spPr>
          <a:xfrm>
            <a:off x="1238652" y="193446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304" name="gb-region-title: NPU / 独立 Global Buffer 子系统"/>
          <p:cNvSpPr txBox="1"/>
          <p:nvPr/>
        </p:nvSpPr>
        <p:spPr>
          <a:xfrm>
            <a:off x="4586494" y="193446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305" name="image-rx-title: 图像采集与 ISP"/>
          <p:cNvSpPr txBox="1"/>
          <p:nvPr/>
        </p:nvSpPr>
        <p:spPr>
          <a:xfrm>
            <a:off x="8938972" y="193446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306" name="cva6-t0: CVA6 core 0"/>
          <p:cNvSpPr txBox="1"/>
          <p:nvPr/>
        </p:nvSpPr>
        <p:spPr>
          <a:xfrm>
            <a:off x="401743" y="640148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307" name="cva6-t1: L1 I / D cache"/>
          <p:cNvSpPr txBox="1"/>
          <p:nvPr/>
        </p:nvSpPr>
        <p:spPr>
          <a:xfrm>
            <a:off x="377777" y="771144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308" name="cva6-t2: MMU / AXI 适配"/>
          <p:cNvSpPr txBox="1"/>
          <p:nvPr/>
        </p:nvSpPr>
        <p:spPr>
          <a:xfrm>
            <a:off x="367345" y="894012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309" name="ara-t0: Ara 向量处理器"/>
          <p:cNvSpPr txBox="1"/>
          <p:nvPr/>
        </p:nvSpPr>
        <p:spPr>
          <a:xfrm>
            <a:off x="1905900" y="544644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310" name="ara-t1: 2 lanes · VLSU / AXI：64 bit"/>
          <p:cNvSpPr txBox="1"/>
          <p:nvPr/>
        </p:nvSpPr>
        <p:spPr>
          <a:xfrm>
            <a:off x="1637948" y="675640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311" name="ara-filter-t0: 失效过滤"/>
          <p:cNvSpPr txBox="1"/>
          <p:nvPr/>
        </p:nvSpPr>
        <p:spPr>
          <a:xfrm>
            <a:off x="14774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312" name="ara-filter-t1: 现有 filter"/>
          <p:cNvSpPr txBox="1"/>
          <p:nvPr/>
        </p:nvSpPr>
        <p:spPr>
          <a:xfrm>
            <a:off x="1500034" y="1191294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313" name="ara-width-t0: 等宽透传"/>
          <p:cNvSpPr txBox="1"/>
          <p:nvPr/>
        </p:nvSpPr>
        <p:spPr>
          <a:xfrm>
            <a:off x="27982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314" name="ara-width-t1: 64 → 64 bit"/>
          <p:cNvSpPr txBox="1"/>
          <p:nvPr/>
        </p:nvSpPr>
        <p:spPr>
          <a:xfrm>
            <a:off x="2770653" y="1191294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315" name="command-label: 指令 / MMU"/>
          <p:cNvSpPr txBox="1"/>
          <p:nvPr/>
        </p:nvSpPr>
        <p:spPr>
          <a:xfrm>
            <a:off x="971404" y="345169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316" name="npu-t0: NPU 计算引擎"/>
          <p:cNvSpPr txBox="1"/>
          <p:nvPr/>
        </p:nvSpPr>
        <p:spPr>
          <a:xfrm>
            <a:off x="3772331" y="642451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317" name="npu-t1: GB 数据读写"/>
          <p:cNvSpPr txBox="1"/>
          <p:nvPr/>
        </p:nvSpPr>
        <p:spPr>
          <a:xfrm>
            <a:off x="3846351" y="766267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318" name="badge-C6-text: C6"/>
          <p:cNvSpPr txBox="1"/>
          <p:nvPr/>
        </p:nvSpPr>
        <p:spPr>
          <a:xfrm>
            <a:off x="4400815" y="91548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319" name="gb-adapter-t0: GB 访问适配"/>
          <p:cNvSpPr txBox="1"/>
          <p:nvPr/>
        </p:nvSpPr>
        <p:spPr>
          <a:xfrm>
            <a:off x="4766998" y="945219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320" name="gb-adapter-t1: 局部仲裁 / 路由"/>
          <p:cNvSpPr txBox="1"/>
          <p:nvPr/>
        </p:nvSpPr>
        <p:spPr>
          <a:xfrm>
            <a:off x="4743707" y="1069035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321" name="gb-adapter-t2: bank 冲突处理"/>
          <p:cNvSpPr txBox="1"/>
          <p:nvPr/>
        </p:nvSpPr>
        <p:spPr>
          <a:xfrm>
            <a:off x="4774621" y="1174699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322" name="global-buffer-t0: Global Buffer"/>
          <p:cNvSpPr txBox="1"/>
          <p:nvPr/>
        </p:nvSpPr>
        <p:spPr>
          <a:xfrm>
            <a:off x="6119760" y="568012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323" name="global-buffer-t1: 独立 SRAM · 分 bank"/>
          <p:cNvSpPr txBox="1"/>
          <p:nvPr/>
        </p:nvSpPr>
        <p:spPr>
          <a:xfrm>
            <a:off x="5998895" y="699956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324" name="global-buffer-t2: CPU / Ara / NPU / ISP"/>
          <p:cNvSpPr txBox="1"/>
          <p:nvPr/>
        </p:nvSpPr>
        <p:spPr>
          <a:xfrm>
            <a:off x="5964854" y="813748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325" name="badge-C9-text: C9"/>
          <p:cNvSpPr txBox="1"/>
          <p:nvPr/>
        </p:nvSpPr>
        <p:spPr>
          <a:xfrm>
            <a:off x="7144015" y="90532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326" name="gb-mover-t0: NPU / GB 搬运引擎"/>
          <p:cNvSpPr txBox="1"/>
          <p:nvPr/>
        </p:nvSpPr>
        <p:spPr>
          <a:xfrm>
            <a:off x="5995808" y="1243584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327" name="gb-mover-t1: DDR ↔ GB · AXI 主口"/>
          <p:cNvSpPr txBox="1"/>
          <p:nvPr/>
        </p:nvSpPr>
        <p:spPr>
          <a:xfrm>
            <a:off x="6027200" y="1367401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328" name="badge-C7-text: C7"/>
          <p:cNvSpPr txBox="1"/>
          <p:nvPr/>
        </p:nvSpPr>
        <p:spPr>
          <a:xfrm>
            <a:off x="7144015" y="143703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329" name="lvds-rx-t0: LVDS 接收"/>
          <p:cNvSpPr txBox="1"/>
          <p:nvPr/>
        </p:nvSpPr>
        <p:spPr>
          <a:xfrm>
            <a:off x="7684971" y="862584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330" name="lvds-rx-t1: 解串 / 帧行"/>
          <p:cNvSpPr txBox="1"/>
          <p:nvPr/>
        </p:nvSpPr>
        <p:spPr>
          <a:xfrm>
            <a:off x="7701960" y="986401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331" name="rx-cdc-t0: CDC / FIFO"/>
          <p:cNvSpPr txBox="1"/>
          <p:nvPr/>
        </p:nvSpPr>
        <p:spPr>
          <a:xfrm>
            <a:off x="8323858" y="862584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332" name="rx-cdc-t1: 像素流缓冲"/>
          <p:cNvSpPr txBox="1"/>
          <p:nvPr/>
        </p:nvSpPr>
        <p:spPr>
          <a:xfrm>
            <a:off x="8359140" y="98640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333" name="isp-t0: ISP"/>
          <p:cNvSpPr txBox="1"/>
          <p:nvPr/>
        </p:nvSpPr>
        <p:spPr>
          <a:xfrm>
            <a:off x="9151355" y="862584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334" name="isp-t1: 行缓存 / 处理"/>
          <p:cNvSpPr txBox="1"/>
          <p:nvPr/>
        </p:nvSpPr>
        <p:spPr>
          <a:xfrm>
            <a:off x="8961800" y="986401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335" name="frame-select-t0: 帧边界选择"/>
          <p:cNvSpPr txBox="1"/>
          <p:nvPr/>
        </p:nvSpPr>
        <p:spPr>
          <a:xfrm>
            <a:off x="9656233" y="862584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336" name="frame-select-t1: RAW / ISP"/>
          <p:cNvSpPr txBox="1"/>
          <p:nvPr/>
        </p:nvSpPr>
        <p:spPr>
          <a:xfrm>
            <a:off x="9716431" y="986401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337" name="frame-dma-t0: 帧写入 DMA"/>
          <p:cNvSpPr txBox="1"/>
          <p:nvPr/>
        </p:nvSpPr>
        <p:spPr>
          <a:xfrm>
            <a:off x="10426470" y="862584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38" name="frame-dma-t1: 地址 / stride"/>
          <p:cNvSpPr txBox="1"/>
          <p:nvPr/>
        </p:nvSpPr>
        <p:spPr>
          <a:xfrm>
            <a:off x="10458088" y="986401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339" name="raw-bypass-label: RAW 旁路"/>
          <p:cNvSpPr txBox="1"/>
          <p:nvPr/>
        </p:nvSpPr>
        <p:spPr>
          <a:xfrm>
            <a:off x="9046218" y="389196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340" name="badge-C4-text: C4"/>
          <p:cNvSpPr txBox="1"/>
          <p:nvPr/>
        </p:nvSpPr>
        <p:spPr>
          <a:xfrm>
            <a:off x="8058415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341" name="badge-C5-text: C5"/>
          <p:cNvSpPr txBox="1"/>
          <p:nvPr/>
        </p:nvSpPr>
        <p:spPr>
          <a:xfrm>
            <a:off x="9362281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342" name="badge-C8-text: C8"/>
          <p:cNvSpPr txBox="1"/>
          <p:nvPr/>
        </p:nvSpPr>
        <p:spPr>
          <a:xfrm>
            <a:off x="10920148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343" name="isp-gb-label: ISP 中间数据 ↔ GB"/>
          <p:cNvSpPr txBox="1"/>
          <p:nvPr/>
        </p:nvSpPr>
        <p:spPr>
          <a:xfrm>
            <a:off x="8009424" y="1530502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344" name="crossbar-title: AXI Crossbar"/>
          <p:cNvSpPr txBox="1"/>
          <p:nvPr/>
        </p:nvSpPr>
        <p:spPr>
          <a:xfrm>
            <a:off x="4632783" y="2408326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345" name="crossbar-caption: 8 × 6 固定端口 + 扩展 | 64 bit 数据 / 48 bit 地址 "/>
          <p:cNvSpPr txBox="1"/>
          <p:nvPr/>
        </p:nvSpPr>
        <p:spPr>
          <a:xfrm>
            <a:off x="3552023" y="2580369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346" name="crossbar-rt-note: 输入侧 AXI RT · 按配置可选"/>
          <p:cNvSpPr txBox="1"/>
          <p:nvPr/>
        </p:nvSpPr>
        <p:spPr>
          <a:xfrm>
            <a:off x="457226" y="2672351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347" name="crossbar-error-note: 未映射请求：DECERR"/>
          <p:cNvSpPr txBox="1"/>
          <p:nvPr/>
        </p:nvSpPr>
        <p:spPr>
          <a:xfrm>
            <a:off x="8745630" y="2672351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348" name="xbar-in-S0-t0: S0"/>
          <p:cNvSpPr txBox="1"/>
          <p:nvPr/>
        </p:nvSpPr>
        <p:spPr>
          <a:xfrm>
            <a:off x="68922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349" name="xbar-in-S1-t0: S1"/>
          <p:cNvSpPr txBox="1"/>
          <p:nvPr/>
        </p:nvSpPr>
        <p:spPr>
          <a:xfrm>
            <a:off x="1754143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350" name="xbar-in-S2-t0: S2"/>
          <p:cNvSpPr txBox="1"/>
          <p:nvPr/>
        </p:nvSpPr>
        <p:spPr>
          <a:xfrm>
            <a:off x="2819062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351" name="xbar-in-S3-t0: S3"/>
          <p:cNvSpPr txBox="1"/>
          <p:nvPr/>
        </p:nvSpPr>
        <p:spPr>
          <a:xfrm>
            <a:off x="3883980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352" name="xbar-in-S4-t0: S4"/>
          <p:cNvSpPr txBox="1"/>
          <p:nvPr/>
        </p:nvSpPr>
        <p:spPr>
          <a:xfrm>
            <a:off x="4948899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353" name="xbar-in-S5-t0: S5"/>
          <p:cNvSpPr txBox="1"/>
          <p:nvPr/>
        </p:nvSpPr>
        <p:spPr>
          <a:xfrm>
            <a:off x="6013817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354" name="xbar-in-S6-t0: S6"/>
          <p:cNvSpPr txBox="1"/>
          <p:nvPr/>
        </p:nvSpPr>
        <p:spPr>
          <a:xfrm>
            <a:off x="7078736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355" name="xbar-in-S7-t0: S7"/>
          <p:cNvSpPr txBox="1"/>
          <p:nvPr/>
        </p:nvSpPr>
        <p:spPr>
          <a:xfrm>
            <a:off x="814365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356" name="xbar-in-S_EXT-t0: S_EXT"/>
          <p:cNvSpPr txBox="1"/>
          <p:nvPr/>
        </p:nvSpPr>
        <p:spPr>
          <a:xfrm>
            <a:off x="9151457" y="2314279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357" name="debug-sba-t0: Debug / SBA"/>
          <p:cNvSpPr txBox="1"/>
          <p:nvPr/>
        </p:nvSpPr>
        <p:spPr>
          <a:xfrm>
            <a:off x="1498654" y="1920917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358" name="debug-sba-t1: JTAG 总线访问"/>
          <p:cNvSpPr txBox="1"/>
          <p:nvPr/>
        </p:nvSpPr>
        <p:spPr>
          <a:xfrm>
            <a:off x="1512089" y="2044734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359" name="idma-master-t0: iDMA 数据主口"/>
          <p:cNvSpPr txBox="1"/>
          <p:nvPr/>
        </p:nvSpPr>
        <p:spPr>
          <a:xfrm>
            <a:off x="3583596" y="1920917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360" name="idma-master-t1: 内存 → 内存"/>
          <p:cNvSpPr txBox="1"/>
          <p:nvPr/>
        </p:nvSpPr>
        <p:spPr>
          <a:xfrm>
            <a:off x="3677955" y="2044734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361" name="slink-rx-t0: Serial Link RX"/>
          <p:cNvSpPr txBox="1"/>
          <p:nvPr/>
        </p:nvSpPr>
        <p:spPr>
          <a:xfrm>
            <a:off x="4676243" y="1920917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362" name="slink-rx-t1: 远端请求入口"/>
          <p:cNvSpPr txBox="1"/>
          <p:nvPr/>
        </p:nvSpPr>
        <p:spPr>
          <a:xfrm>
            <a:off x="4725247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363" name="vga-t0: VGA"/>
          <p:cNvSpPr txBox="1"/>
          <p:nvPr/>
        </p:nvSpPr>
        <p:spPr>
          <a:xfrm>
            <a:off x="5957213" y="1920917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364" name="vga-t1: 帧缓冲读取"/>
          <p:cNvSpPr txBox="1"/>
          <p:nvPr/>
        </p:nvSpPr>
        <p:spPr>
          <a:xfrm>
            <a:off x="5834192" y="2044734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365" name="usb-dma-t0: USB DMA"/>
          <p:cNvSpPr txBox="1"/>
          <p:nvPr/>
        </p:nvSpPr>
        <p:spPr>
          <a:xfrm>
            <a:off x="6898306" y="1920917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366" name="usb-dma-t1: OHCI 主口"/>
          <p:cNvSpPr txBox="1"/>
          <p:nvPr/>
        </p:nvSpPr>
        <p:spPr>
          <a:xfrm>
            <a:off x="6921248" y="2044734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367" name="emmc-host-t0: eMMC Host / DMA"/>
          <p:cNvSpPr txBox="1"/>
          <p:nvPr/>
        </p:nvSpPr>
        <p:spPr>
          <a:xfrm>
            <a:off x="7756209" y="1920917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368" name="emmc-host-t1: 存储块 ↔ 内存"/>
          <p:cNvSpPr txBox="1"/>
          <p:nvPr/>
        </p:nvSpPr>
        <p:spPr>
          <a:xfrm>
            <a:off x="7893602" y="2044734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369" name="ext-master-t0: AXI 外部 master"/>
          <p:cNvSpPr txBox="1"/>
          <p:nvPr/>
        </p:nvSpPr>
        <p:spPr>
          <a:xfrm>
            <a:off x="8886014" y="1920917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370" name="ext-master-t1: 可选扩展入口"/>
          <p:cNvSpPr txBox="1"/>
          <p:nvPr/>
        </p:nvSpPr>
        <p:spPr>
          <a:xfrm>
            <a:off x="8984921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371" name="badge-C10-text: C10"/>
          <p:cNvSpPr txBox="1"/>
          <p:nvPr/>
        </p:nvSpPr>
        <p:spPr>
          <a:xfrm>
            <a:off x="8495421" y="21042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372" name="xbar-out-M0-t0: M0"/>
          <p:cNvSpPr txBox="1"/>
          <p:nvPr/>
        </p:nvSpPr>
        <p:spPr>
          <a:xfrm>
            <a:off x="833731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373" name="debug-target-t0: Debug 目标"/>
          <p:cNvSpPr txBox="1"/>
          <p:nvPr/>
        </p:nvSpPr>
        <p:spPr>
          <a:xfrm>
            <a:off x="617222" y="3182451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374" name="debug-target-t1: 调试模块窗口"/>
          <p:cNvSpPr txBox="1"/>
          <p:nvPr/>
        </p:nvSpPr>
        <p:spPr>
          <a:xfrm>
            <a:off x="617704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375" name="xbar-out-M1-t0: M1"/>
          <p:cNvSpPr txBox="1"/>
          <p:nvPr/>
        </p:nvSpPr>
        <p:spPr>
          <a:xfrm>
            <a:off x="2202912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376" name="reg-bridge-t0: AXI → Regbus"/>
          <p:cNvSpPr txBox="1"/>
          <p:nvPr/>
        </p:nvSpPr>
        <p:spPr>
          <a:xfrm>
            <a:off x="1928605" y="3182451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377" name="reg-bridge-t1: 原子适配 / 32 bit 桥"/>
          <p:cNvSpPr txBox="1"/>
          <p:nvPr/>
        </p:nvSpPr>
        <p:spPr>
          <a:xfrm>
            <a:off x="1854112" y="3306267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378" name="xbar-out-M2-t0: M2"/>
          <p:cNvSpPr txBox="1"/>
          <p:nvPr/>
        </p:nvSpPr>
        <p:spPr>
          <a:xfrm>
            <a:off x="3572093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379" name="memory-title: 主存 / SPM 共用目标"/>
          <p:cNvSpPr txBox="1"/>
          <p:nvPr/>
        </p:nvSpPr>
        <p:spPr>
          <a:xfrm>
            <a:off x="3135070" y="3053419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380" name="atomics-t0: 原子适配"/>
          <p:cNvSpPr txBox="1"/>
          <p:nvPr/>
        </p:nvSpPr>
        <p:spPr>
          <a:xfrm>
            <a:off x="3112141" y="3266694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381" name="atomics-t1: AMO / LRSC"/>
          <p:cNvSpPr txBox="1"/>
          <p:nvPr/>
        </p:nvSpPr>
        <p:spPr>
          <a:xfrm>
            <a:off x="3003106" y="3371596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382" name="llc-spm-t0: LLC / SPM"/>
          <p:cNvSpPr txBox="1"/>
          <p:nvPr/>
        </p:nvSpPr>
        <p:spPr>
          <a:xfrm>
            <a:off x="3765270" y="3270758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383" name="llc-spm-t1: SRAM 阵列"/>
          <p:cNvSpPr txBox="1"/>
          <p:nvPr/>
        </p:nvSpPr>
        <p:spPr>
          <a:xfrm>
            <a:off x="3739304" y="3376608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384" name="xbar-out-M3-t0: M3"/>
          <p:cNvSpPr txBox="1"/>
          <p:nvPr/>
        </p:nvSpPr>
        <p:spPr>
          <a:xfrm>
            <a:off x="4941274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385" name="idma-config-t0: iDMA 配置"/>
          <p:cNvSpPr txBox="1"/>
          <p:nvPr/>
        </p:nvSpPr>
        <p:spPr>
          <a:xfrm>
            <a:off x="4750115" y="3129619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386" name="idma-config-t1: 原子适配 → AXI→Reg"/>
          <p:cNvSpPr txBox="1"/>
          <p:nvPr/>
        </p:nvSpPr>
        <p:spPr>
          <a:xfrm>
            <a:off x="4566034" y="3253435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387" name="idma-config-t2: wrapper 内部寄存器"/>
          <p:cNvSpPr txBox="1"/>
          <p:nvPr/>
        </p:nvSpPr>
        <p:spPr>
          <a:xfrm>
            <a:off x="4603999" y="3359099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388" name="xbar-out-M4-t0: M4"/>
          <p:cNvSpPr txBox="1"/>
          <p:nvPr/>
        </p:nvSpPr>
        <p:spPr>
          <a:xfrm>
            <a:off x="6310455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389" name="slink-tx-t0: Serial Link TX"/>
          <p:cNvSpPr txBox="1"/>
          <p:nvPr/>
        </p:nvSpPr>
        <p:spPr>
          <a:xfrm>
            <a:off x="6051478" y="3182451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390" name="slink-tx-t1: 远端目标窗口"/>
          <p:cNvSpPr txBox="1"/>
          <p:nvPr/>
        </p:nvSpPr>
        <p:spPr>
          <a:xfrm>
            <a:off x="6094428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391" name="xbar-out-M5-t0: M5"/>
          <p:cNvSpPr txBox="1"/>
          <p:nvPr/>
        </p:nvSpPr>
        <p:spPr>
          <a:xfrm>
            <a:off x="7679636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392" name="gb-interface-t0: GB AXI 接口"/>
          <p:cNvSpPr txBox="1"/>
          <p:nvPr/>
        </p:nvSpPr>
        <p:spPr>
          <a:xfrm>
            <a:off x="7454988" y="3129619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393" name="gb-interface-t1: CPU / Ara / eMMC DMA"/>
          <p:cNvSpPr txBox="1"/>
          <p:nvPr/>
        </p:nvSpPr>
        <p:spPr>
          <a:xfrm>
            <a:off x="7260665" y="3253435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394" name="gb-interface-t2: 64-bit 数据窗口 · 共用"/>
          <p:cNvSpPr txBox="1"/>
          <p:nvPr/>
        </p:nvSpPr>
        <p:spPr>
          <a:xfrm>
            <a:off x="7299149" y="3359099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395" name="xbar-out-M_EXT-t0: M_EXT"/>
          <p:cNvSpPr txBox="1"/>
          <p:nvPr/>
        </p:nvSpPr>
        <p:spPr>
          <a:xfrm>
            <a:off x="8991701" y="2771479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396" name="ext-target-t0: AXI 外部 slave"/>
          <p:cNvSpPr txBox="1"/>
          <p:nvPr/>
        </p:nvSpPr>
        <p:spPr>
          <a:xfrm>
            <a:off x="8773467" y="3182451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397" name="ext-target-t1: 可选外部目标扩展"/>
          <p:cNvSpPr txBox="1"/>
          <p:nvPr/>
        </p:nvSpPr>
        <p:spPr>
          <a:xfrm>
            <a:off x="8744736" y="3306267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398" name="emmc-device-t0: eMMC"/>
          <p:cNvSpPr txBox="1"/>
          <p:nvPr/>
        </p:nvSpPr>
        <p:spPr>
          <a:xfrm>
            <a:off x="11550065" y="1910893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399" name="emmc-device-t1: 模型 / 校正参数"/>
          <p:cNvSpPr txBox="1"/>
          <p:nvPr/>
        </p:nvSpPr>
        <p:spPr>
          <a:xfrm>
            <a:off x="11411207" y="2052862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400" name="regbus-t0: Regbus decode / demux · 32 bit"/>
          <p:cNvSpPr txBox="1"/>
          <p:nvPr/>
        </p:nvSpPr>
        <p:spPr>
          <a:xfrm>
            <a:off x="2213213" y="3868725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401" name="bootrom-t0: Boot ROM"/>
          <p:cNvSpPr txBox="1"/>
          <p:nvPr/>
        </p:nvSpPr>
        <p:spPr>
          <a:xfrm>
            <a:off x="592799" y="4169664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402" name="bootrom-t1: 启动代码"/>
          <p:cNvSpPr txBox="1"/>
          <p:nvPr/>
        </p:nvSpPr>
        <p:spPr>
          <a:xfrm>
            <a:off x="647700" y="4293481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403" name="uart-t0: UART"/>
          <p:cNvSpPr txBox="1"/>
          <p:nvPr/>
        </p:nvSpPr>
        <p:spPr>
          <a:xfrm>
            <a:off x="699259" y="4508331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404" name="uart-t1: 串口控制"/>
          <p:cNvSpPr txBox="1"/>
          <p:nvPr/>
        </p:nvSpPr>
        <p:spPr>
          <a:xfrm>
            <a:off x="6477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405" name="vga-regs-t0: VGA 配置"/>
          <p:cNvSpPr txBox="1"/>
          <p:nvPr/>
        </p:nvSpPr>
        <p:spPr>
          <a:xfrm>
            <a:off x="609865" y="4846997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406" name="vga-regs-t1: 时序 / 帧地址"/>
          <p:cNvSpPr txBox="1"/>
          <p:nvPr/>
        </p:nvSpPr>
        <p:spPr>
          <a:xfrm>
            <a:off x="554400" y="4970814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407" name="irq-router-t0: IRQ router"/>
          <p:cNvSpPr txBox="1"/>
          <p:nvPr/>
        </p:nvSpPr>
        <p:spPr>
          <a:xfrm>
            <a:off x="592849" y="5185664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408" name="irq-router-t1: 可选中断路由"/>
          <p:cNvSpPr txBox="1"/>
          <p:nvPr/>
        </p:nvSpPr>
        <p:spPr>
          <a:xfrm>
            <a:off x="5596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409" name="clint-t0: CLINT"/>
          <p:cNvSpPr txBox="1"/>
          <p:nvPr/>
        </p:nvSpPr>
        <p:spPr>
          <a:xfrm>
            <a:off x="1805697" y="4169664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410" name="clint-t1: 软件 / 定时中断"/>
          <p:cNvSpPr txBox="1"/>
          <p:nvPr/>
        </p:nvSpPr>
        <p:spPr>
          <a:xfrm>
            <a:off x="1627973" y="429348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411" name="i2c-t0: I²C"/>
          <p:cNvSpPr txBox="1"/>
          <p:nvPr/>
        </p:nvSpPr>
        <p:spPr>
          <a:xfrm>
            <a:off x="1871726" y="4508331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412" name="i2c-t1: 两线串行接口"/>
          <p:cNvSpPr txBox="1"/>
          <p:nvPr/>
        </p:nvSpPr>
        <p:spPr>
          <a:xfrm>
            <a:off x="1677247" y="463214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413" name="usb-regs-t0: USB 配置"/>
          <p:cNvSpPr txBox="1"/>
          <p:nvPr/>
        </p:nvSpPr>
        <p:spPr>
          <a:xfrm>
            <a:off x="1722403" y="4846997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414" name="usb-regs-t1: OHCI 寄存器"/>
          <p:cNvSpPr txBox="1"/>
          <p:nvPr/>
        </p:nvSpPr>
        <p:spPr>
          <a:xfrm>
            <a:off x="1699384" y="4970814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415" name="axi-rt-config-t0: AXI RT 配置"/>
          <p:cNvSpPr txBox="1"/>
          <p:nvPr/>
        </p:nvSpPr>
        <p:spPr>
          <a:xfrm>
            <a:off x="1676712" y="5185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416" name="axi-rt-config-t1: 可选流量调节"/>
          <p:cNvSpPr txBox="1"/>
          <p:nvPr/>
        </p:nvSpPr>
        <p:spPr>
          <a:xfrm>
            <a:off x="16772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417" name="soc-regs-t0: SoC 寄存器"/>
          <p:cNvSpPr txBox="1"/>
          <p:nvPr/>
        </p:nvSpPr>
        <p:spPr>
          <a:xfrm>
            <a:off x="2794312" y="4169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418" name="soc-regs-t1: 平台信息 / scratch"/>
          <p:cNvSpPr txBox="1"/>
          <p:nvPr/>
        </p:nvSpPr>
        <p:spPr>
          <a:xfrm>
            <a:off x="2692945" y="4293481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419" name="spi-t0: SPI Host"/>
          <p:cNvSpPr txBox="1"/>
          <p:nvPr/>
        </p:nvSpPr>
        <p:spPr>
          <a:xfrm>
            <a:off x="2860442" y="4508331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420" name="spi-t1: Flash / SD"/>
          <p:cNvSpPr txBox="1"/>
          <p:nvPr/>
        </p:nvSpPr>
        <p:spPr>
          <a:xfrm>
            <a:off x="2851468" y="4632147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421" name="err-vga-t0: Bus-error · VGA"/>
          <p:cNvSpPr txBox="1"/>
          <p:nvPr/>
        </p:nvSpPr>
        <p:spPr>
          <a:xfrm>
            <a:off x="2715387" y="4846997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422" name="err-vga-t1: 错误记录"/>
          <p:cNvSpPr txBox="1"/>
          <p:nvPr/>
        </p:nvSpPr>
        <p:spPr>
          <a:xfrm>
            <a:off x="2882900" y="4970814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423" name="clic-t0: CLIC"/>
          <p:cNvSpPr txBox="1"/>
          <p:nvPr/>
        </p:nvSpPr>
        <p:spPr>
          <a:xfrm>
            <a:off x="2950729" y="5185664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424" name="clic-t1: 可选每核中断控制"/>
          <p:cNvSpPr txBox="1"/>
          <p:nvPr/>
        </p:nvSpPr>
        <p:spPr>
          <a:xfrm>
            <a:off x="2706793" y="5309481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425" name="plic-t0: PLIC"/>
          <p:cNvSpPr txBox="1"/>
          <p:nvPr/>
        </p:nvSpPr>
        <p:spPr>
          <a:xfrm>
            <a:off x="4071355" y="4169664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426" name="plic-t1: 外部中断控制"/>
          <p:cNvSpPr txBox="1"/>
          <p:nvPr/>
        </p:nvSpPr>
        <p:spPr>
          <a:xfrm>
            <a:off x="3912447" y="4293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427" name="gpio-t0: GPIO"/>
          <p:cNvSpPr txBox="1"/>
          <p:nvPr/>
        </p:nvSpPr>
        <p:spPr>
          <a:xfrm>
            <a:off x="4061238" y="4508331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428" name="gpio-t1: 通用 IO"/>
          <p:cNvSpPr txBox="1"/>
          <p:nvPr/>
        </p:nvSpPr>
        <p:spPr>
          <a:xfrm>
            <a:off x="4034893" y="4632147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429" name="err-dma-t0: Bus-error · iDMA"/>
          <p:cNvSpPr txBox="1"/>
          <p:nvPr/>
        </p:nvSpPr>
        <p:spPr>
          <a:xfrm>
            <a:off x="3807637" y="4846997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430" name="err-dma-t1: 每传输错误记录"/>
          <p:cNvSpPr txBox="1"/>
          <p:nvPr/>
        </p:nvSpPr>
        <p:spPr>
          <a:xfrm>
            <a:off x="3868420" y="4970814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431" name="reg-error-t0: reg_err_slv"/>
          <p:cNvSpPr txBox="1"/>
          <p:nvPr/>
        </p:nvSpPr>
        <p:spPr>
          <a:xfrm>
            <a:off x="3929327" y="5185664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432" name="reg-error-t1: 未匹配地址"/>
          <p:cNvSpPr txBox="1"/>
          <p:nvPr/>
        </p:nvSpPr>
        <p:spPr>
          <a:xfrm>
            <a:off x="3956473" y="530948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433" name="llc-regs-t0: LLC 配置"/>
          <p:cNvSpPr txBox="1"/>
          <p:nvPr/>
        </p:nvSpPr>
        <p:spPr>
          <a:xfrm>
            <a:off x="5088350" y="4169664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434" name="llc-regs-t1: SPM way / cache"/>
          <p:cNvSpPr txBox="1"/>
          <p:nvPr/>
        </p:nvSpPr>
        <p:spPr>
          <a:xfrm>
            <a:off x="4959099" y="4293481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435" name="slink-regs-t0: Serial Link 配置"/>
          <p:cNvSpPr txBox="1"/>
          <p:nvPr/>
        </p:nvSpPr>
        <p:spPr>
          <a:xfrm>
            <a:off x="4938281" y="4508331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436" name="slink-regs-t1: 链路控制"/>
          <p:cNvSpPr txBox="1"/>
          <p:nvPr/>
        </p:nvSpPr>
        <p:spPr>
          <a:xfrm>
            <a:off x="51181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437" name="err-cpu-t0: Bus-error · CPU"/>
          <p:cNvSpPr txBox="1"/>
          <p:nvPr/>
        </p:nvSpPr>
        <p:spPr>
          <a:xfrm>
            <a:off x="4948552" y="4846997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438" name="err-cpu-t1: 每核错误记录"/>
          <p:cNvSpPr txBox="1"/>
          <p:nvPr/>
        </p:nvSpPr>
        <p:spPr>
          <a:xfrm>
            <a:off x="5030047" y="497081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439" name="reg-ext-t0: RegExt 扩展"/>
          <p:cNvSpPr txBox="1"/>
          <p:nvPr/>
        </p:nvSpPr>
        <p:spPr>
          <a:xfrm>
            <a:off x="5019392" y="5185664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440" name="reg-ext-t1: 新增 IP 配置出口"/>
          <p:cNvSpPr txBox="1"/>
          <p:nvPr/>
        </p:nvSpPr>
        <p:spPr>
          <a:xfrm>
            <a:off x="4967573" y="5309481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441" name="ddr-S0-t0: DDR.S0"/>
          <p:cNvSpPr txBox="1"/>
          <p:nvPr/>
        </p:nvSpPr>
        <p:spPr>
          <a:xfrm>
            <a:off x="6434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442" name="ddr-S1-t0: DDR.S1"/>
          <p:cNvSpPr txBox="1"/>
          <p:nvPr/>
        </p:nvSpPr>
        <p:spPr>
          <a:xfrm>
            <a:off x="7365558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443" name="ddr-S2-t0: DDR.S2"/>
          <p:cNvSpPr txBox="1"/>
          <p:nvPr/>
        </p:nvSpPr>
        <p:spPr>
          <a:xfrm>
            <a:off x="8296891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444" name="ddr-S3-t0: DDR.S3"/>
          <p:cNvSpPr txBox="1"/>
          <p:nvPr/>
        </p:nvSpPr>
        <p:spPr>
          <a:xfrm>
            <a:off x="9228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445" name="ddr-arb-t0: 四口仲裁 / QoS · 共享 DDR 带宽"/>
          <p:cNvSpPr txBox="1"/>
          <p:nvPr/>
        </p:nvSpPr>
        <p:spPr>
          <a:xfrm>
            <a:off x="7300370" y="5399295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446" name="ddr-rw-t0: 读写调度 · Bank / Row"/>
          <p:cNvSpPr txBox="1"/>
          <p:nvPr/>
        </p:nvSpPr>
        <p:spPr>
          <a:xfrm>
            <a:off x="6444522" y="5580549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447" name="ddr-command-t0: 命令调度 · Controller → PHY"/>
          <p:cNvSpPr txBox="1"/>
          <p:nvPr/>
        </p:nvSpPr>
        <p:spPr>
          <a:xfrm>
            <a:off x="8397216" y="5585562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448" name="ddr-title: DDR Controller · 4 个 AXI slave"/>
          <p:cNvSpPr txBox="1"/>
          <p:nvPr/>
        </p:nvSpPr>
        <p:spPr>
          <a:xfrm>
            <a:off x="7293766" y="5732272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449" name="badge-C2-text: C2"/>
          <p:cNvSpPr txBox="1"/>
          <p:nvPr/>
        </p:nvSpPr>
        <p:spPr>
          <a:xfrm>
            <a:off x="9662848" y="574825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50" name="ddr-phy-t0: DDR PHY"/>
          <p:cNvSpPr txBox="1"/>
          <p:nvPr/>
        </p:nvSpPr>
        <p:spPr>
          <a:xfrm>
            <a:off x="10438606" y="5692987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451" name="ddr-phy-t1: 训练 / 校准"/>
          <p:cNvSpPr txBox="1"/>
          <p:nvPr/>
        </p:nvSpPr>
        <p:spPr>
          <a:xfrm>
            <a:off x="10403268" y="5815855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452" name="badge-C3-text: C3"/>
          <p:cNvSpPr txBox="1"/>
          <p:nvPr/>
        </p:nvSpPr>
        <p:spPr>
          <a:xfrm>
            <a:off x="10915915" y="58769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53" name="ddr-device-t0: DDR"/>
          <p:cNvSpPr txBox="1"/>
          <p:nvPr/>
        </p:nvSpPr>
        <p:spPr>
          <a:xfrm>
            <a:off x="11586842" y="5682962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54" name="ddr-device-t1: 片外器件"/>
          <p:cNvSpPr txBox="1"/>
          <p:nvPr/>
        </p:nvSpPr>
        <p:spPr>
          <a:xfrm>
            <a:off x="11518900" y="5823983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455" name="roi-title: 图像裁切输出"/>
          <p:cNvSpPr txBox="1"/>
          <p:nvPr/>
        </p:nvSpPr>
        <p:spPr>
          <a:xfrm>
            <a:off x="10322560" y="3777623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456" name="roi-count: ≤256 ROI / 帧"/>
          <p:cNvSpPr txBox="1"/>
          <p:nvPr/>
        </p:nvSpPr>
        <p:spPr>
          <a:xfrm>
            <a:off x="10367788" y="3894396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457" name="roi-no-scale: 纯裁切 · 不缩放"/>
          <p:cNvSpPr txBox="1"/>
          <p:nvPr/>
        </p:nvSpPr>
        <p:spPr>
          <a:xfrm>
            <a:off x="10356747" y="3982449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458" name="pll-title: PLL / 时钟与复位分发"/>
          <p:cNvSpPr txBox="1"/>
          <p:nvPr/>
        </p:nvSpPr>
        <p:spPr>
          <a:xfrm>
            <a:off x="7380023" y="5978957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459" name="badge-C1-text: C1"/>
          <p:cNvSpPr txBox="1"/>
          <p:nvPr/>
        </p:nvSpPr>
        <p:spPr>
          <a:xfrm>
            <a:off x="8749295" y="599920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0" name="pll-interface: RefClk / POR → clk_i / rst_ni"/>
          <p:cNvSpPr txBox="1"/>
          <p:nvPr/>
        </p:nvSpPr>
        <p:spPr>
          <a:xfrm>
            <a:off x="9311539" y="6000902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461" name="reg-badge-C1-text: C1"/>
          <p:cNvSpPr txBox="1"/>
          <p:nvPr/>
        </p:nvSpPr>
        <p:spPr>
          <a:xfrm>
            <a:off x="275855" y="636835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2" name="config-C1-title-0: PLL / 时钟"/>
          <p:cNvSpPr txBox="1"/>
          <p:nvPr/>
        </p:nvSpPr>
        <p:spPr>
          <a:xfrm>
            <a:off x="275085" y="6423491"/>
            <a:ext cx="5769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463" name="config-C1-title-1: 复位"/>
          <p:cNvSpPr txBox="1"/>
          <p:nvPr/>
        </p:nvSpPr>
        <p:spPr>
          <a:xfrm>
            <a:off x="41116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464" name="reg-badge-C2-text: C2"/>
          <p:cNvSpPr txBox="1"/>
          <p:nvPr/>
        </p:nvSpPr>
        <p:spPr>
          <a:xfrm>
            <a:off x="967793" y="636835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65" name="config-C2-title-0: DDR"/>
          <p:cNvSpPr txBox="1"/>
          <p:nvPr/>
        </p:nvSpPr>
        <p:spPr>
          <a:xfrm>
            <a:off x="1106276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6" name="config-C2-title-1: Controller"/>
          <p:cNvSpPr txBox="1"/>
          <p:nvPr/>
        </p:nvSpPr>
        <p:spPr>
          <a:xfrm>
            <a:off x="990735" y="6542024"/>
            <a:ext cx="529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467" name="reg-badge-C3-text: C3"/>
          <p:cNvSpPr txBox="1"/>
          <p:nvPr/>
        </p:nvSpPr>
        <p:spPr>
          <a:xfrm>
            <a:off x="1659731" y="636835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68" name="config-C3-title-0: DDR"/>
          <p:cNvSpPr txBox="1"/>
          <p:nvPr/>
        </p:nvSpPr>
        <p:spPr>
          <a:xfrm>
            <a:off x="1798214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9" name="config-C3-title-1: PHY"/>
          <p:cNvSpPr txBox="1"/>
          <p:nvPr/>
        </p:nvSpPr>
        <p:spPr>
          <a:xfrm>
            <a:off x="1806300" y="6542024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470" name="reg-badge-C4-text: C4"/>
          <p:cNvSpPr txBox="1"/>
          <p:nvPr/>
        </p:nvSpPr>
        <p:spPr>
          <a:xfrm>
            <a:off x="2351670" y="636835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471" name="config-C4-title-0: LVDS"/>
          <p:cNvSpPr txBox="1"/>
          <p:nvPr/>
        </p:nvSpPr>
        <p:spPr>
          <a:xfrm>
            <a:off x="2469811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472" name="config-C4-title-1: RX"/>
          <p:cNvSpPr txBox="1"/>
          <p:nvPr/>
        </p:nvSpPr>
        <p:spPr>
          <a:xfrm>
            <a:off x="2529739" y="6542024"/>
            <a:ext cx="21927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473" name="reg-badge-C5-text: C5"/>
          <p:cNvSpPr txBox="1"/>
          <p:nvPr/>
        </p:nvSpPr>
        <p:spPr>
          <a:xfrm>
            <a:off x="3043608" y="636835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474" name="config-C5-title-0: ISP"/>
          <p:cNvSpPr txBox="1"/>
          <p:nvPr/>
        </p:nvSpPr>
        <p:spPr>
          <a:xfrm>
            <a:off x="3207438" y="6484451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475" name="reg-badge-C6-text: C6"/>
          <p:cNvSpPr txBox="1"/>
          <p:nvPr/>
        </p:nvSpPr>
        <p:spPr>
          <a:xfrm>
            <a:off x="3735546" y="636835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476" name="config-C6-title-0: NPU"/>
          <p:cNvSpPr txBox="1"/>
          <p:nvPr/>
        </p:nvSpPr>
        <p:spPr>
          <a:xfrm>
            <a:off x="3878048" y="6423491"/>
            <a:ext cx="2904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477" name="config-C6-title-1: 计算"/>
          <p:cNvSpPr txBox="1"/>
          <p:nvPr/>
        </p:nvSpPr>
        <p:spPr>
          <a:xfrm>
            <a:off x="387085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478" name="reg-badge-C7-text: C7"/>
          <p:cNvSpPr txBox="1"/>
          <p:nvPr/>
        </p:nvSpPr>
        <p:spPr>
          <a:xfrm>
            <a:off x="4427485" y="636835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479" name="config-C7-title-0: NPU / GB"/>
          <p:cNvSpPr txBox="1"/>
          <p:nvPr/>
        </p:nvSpPr>
        <p:spPr>
          <a:xfrm>
            <a:off x="4448196" y="6423491"/>
            <a:ext cx="5339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480" name="config-C7-title-1: 搬运"/>
          <p:cNvSpPr txBox="1"/>
          <p:nvPr/>
        </p:nvSpPr>
        <p:spPr>
          <a:xfrm>
            <a:off x="456279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481" name="reg-badge-C8-text: C8"/>
          <p:cNvSpPr txBox="1"/>
          <p:nvPr/>
        </p:nvSpPr>
        <p:spPr>
          <a:xfrm>
            <a:off x="5119423" y="636835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482" name="config-C8-title-0: 帧写入"/>
          <p:cNvSpPr txBox="1"/>
          <p:nvPr/>
        </p:nvSpPr>
        <p:spPr>
          <a:xfrm>
            <a:off x="5203931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483" name="config-C8-title-1: DMA"/>
          <p:cNvSpPr txBox="1"/>
          <p:nvPr/>
        </p:nvSpPr>
        <p:spPr>
          <a:xfrm>
            <a:off x="5252797" y="6542024"/>
            <a:ext cx="3086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484" name="reg-badge-C9-text: C9"/>
          <p:cNvSpPr txBox="1"/>
          <p:nvPr/>
        </p:nvSpPr>
        <p:spPr>
          <a:xfrm>
            <a:off x="5811361" y="636835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485" name="config-C9-title-0: GB"/>
          <p:cNvSpPr txBox="1"/>
          <p:nvPr/>
        </p:nvSpPr>
        <p:spPr>
          <a:xfrm>
            <a:off x="5983330" y="6423491"/>
            <a:ext cx="2314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486" name="config-C9-title-1: 管理"/>
          <p:cNvSpPr txBox="1"/>
          <p:nvPr/>
        </p:nvSpPr>
        <p:spPr>
          <a:xfrm>
            <a:off x="5946669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487" name="reg-badge-C10-text: C10"/>
          <p:cNvSpPr txBox="1"/>
          <p:nvPr/>
        </p:nvSpPr>
        <p:spPr>
          <a:xfrm>
            <a:off x="6481977" y="636835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488" name="config-C10-title-0: eMMC Host"/>
          <p:cNvSpPr txBox="1"/>
          <p:nvPr/>
        </p:nvSpPr>
        <p:spPr>
          <a:xfrm>
            <a:off x="6479413" y="6423491"/>
            <a:ext cx="62318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489" name="config-C10-title-1: / DMA"/>
          <p:cNvSpPr txBox="1"/>
          <p:nvPr/>
        </p:nvSpPr>
        <p:spPr>
          <a:xfrm>
            <a:off x="6595052" y="6542024"/>
            <a:ext cx="39191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490" name="reg-badge-C11-text: C11"/>
          <p:cNvSpPr txBox="1"/>
          <p:nvPr/>
        </p:nvSpPr>
        <p:spPr>
          <a:xfrm>
            <a:off x="7173915" y="636835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491" name="config-C11-title-0: ROI 任务"/>
          <p:cNvSpPr txBox="1"/>
          <p:nvPr/>
        </p:nvSpPr>
        <p:spPr>
          <a:xfrm>
            <a:off x="7237180" y="6423491"/>
            <a:ext cx="491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492" name="config-C11-title-1: / 调度"/>
          <p:cNvSpPr txBox="1"/>
          <p:nvPr/>
        </p:nvSpPr>
        <p:spPr>
          <a:xfrm>
            <a:off x="7288924" y="6542024"/>
            <a:ext cx="38804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493" name="reg-badge-C12-text: C12"/>
          <p:cNvSpPr txBox="1"/>
          <p:nvPr/>
        </p:nvSpPr>
        <p:spPr>
          <a:xfrm>
            <a:off x="7865853" y="636835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494" name="config-C12-title-0: 前端公共"/>
          <p:cNvSpPr txBox="1"/>
          <p:nvPr/>
        </p:nvSpPr>
        <p:spPr>
          <a:xfrm>
            <a:off x="7920884" y="642349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495" name="config-C12-title-1: 控制"/>
          <p:cNvSpPr txBox="1"/>
          <p:nvPr/>
        </p:nvSpPr>
        <p:spPr>
          <a:xfrm>
            <a:off x="802248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496" name="reg-badge-C13-text: C13"/>
          <p:cNvSpPr txBox="1"/>
          <p:nvPr/>
        </p:nvSpPr>
        <p:spPr>
          <a:xfrm>
            <a:off x="8557792" y="636835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497" name="config-C13-title-0: 帧输出"/>
          <p:cNvSpPr txBox="1"/>
          <p:nvPr/>
        </p:nvSpPr>
        <p:spPr>
          <a:xfrm>
            <a:off x="8663622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498" name="config-C13-title-1: VDMA"/>
          <p:cNvSpPr txBox="1"/>
          <p:nvPr/>
        </p:nvSpPr>
        <p:spPr>
          <a:xfrm>
            <a:off x="8684062" y="6542024"/>
            <a:ext cx="3655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499" name="reg-badge-C14-text: C14"/>
          <p:cNvSpPr txBox="1"/>
          <p:nvPr/>
        </p:nvSpPr>
        <p:spPr>
          <a:xfrm>
            <a:off x="9249730" y="636835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00" name="config-C14-title-0: LVDS"/>
          <p:cNvSpPr txBox="1"/>
          <p:nvPr/>
        </p:nvSpPr>
        <p:spPr>
          <a:xfrm>
            <a:off x="9389195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501" name="config-C14-title-1: TX"/>
          <p:cNvSpPr txBox="1"/>
          <p:nvPr/>
        </p:nvSpPr>
        <p:spPr>
          <a:xfrm>
            <a:off x="9455176" y="6542024"/>
            <a:ext cx="2071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502" name="reg-badge-C15-text: C15"/>
          <p:cNvSpPr txBox="1"/>
          <p:nvPr/>
        </p:nvSpPr>
        <p:spPr>
          <a:xfrm>
            <a:off x="9941668" y="636835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03" name="config-C15-title-0: 压缩器"/>
          <p:cNvSpPr txBox="1"/>
          <p:nvPr/>
        </p:nvSpPr>
        <p:spPr>
          <a:xfrm>
            <a:off x="10047499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504" name="reg-badge-C16-text: C16"/>
          <p:cNvSpPr txBox="1"/>
          <p:nvPr/>
        </p:nvSpPr>
        <p:spPr>
          <a:xfrm>
            <a:off x="10633607" y="636835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05" name="config-C16-title-0: 解压器"/>
          <p:cNvSpPr txBox="1"/>
          <p:nvPr/>
        </p:nvSpPr>
        <p:spPr>
          <a:xfrm>
            <a:off x="10739438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506" name="front-F0-t0: F0 · LLC"/>
          <p:cNvSpPr txBox="1"/>
          <p:nvPr/>
        </p:nvSpPr>
        <p:spPr>
          <a:xfrm>
            <a:off x="6431137" y="3784092"/>
            <a:ext cx="345726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507" name="front-F1-t0: F1 · GB 搬运"/>
          <p:cNvSpPr txBox="1"/>
          <p:nvPr/>
        </p:nvSpPr>
        <p:spPr>
          <a:xfrm>
            <a:off x="7287834" y="3784092"/>
            <a:ext cx="494998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508" name="front-F2-t0: F2 · 帧写"/>
          <p:cNvSpPr txBox="1"/>
          <p:nvPr/>
        </p:nvSpPr>
        <p:spPr>
          <a:xfrm>
            <a:off x="8279294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509" name="front-F3-t0: F3 · 帧读"/>
          <p:cNvSpPr txBox="1"/>
          <p:nvPr/>
        </p:nvSpPr>
        <p:spPr>
          <a:xfrm>
            <a:off x="9210627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510" name="front-adapt-t0: 四口共享前端 · 区域选择 / 事务跟踪"/>
          <p:cNvSpPr txBox="1"/>
          <p:nvPr/>
        </p:nvSpPr>
        <p:spPr>
          <a:xfrm>
            <a:off x="7164935" y="3968496"/>
            <a:ext cx="17229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四口共享前端 · 区域选择 / 事务跟踪</a:t>
            </a:r>
          </a:p>
        </p:txBody>
      </p:sp>
      <p:sp>
        <p:nvSpPr>
          <p:cNvPr id="511" name="badge-C12-text: C12"/>
          <p:cNvSpPr txBox="1"/>
          <p:nvPr/>
        </p:nvSpPr>
        <p:spPr>
          <a:xfrm>
            <a:off x="9641525" y="399057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512" name="address-control-t0: 地址 / 事务"/>
          <p:cNvSpPr txBox="1"/>
          <p:nvPr/>
        </p:nvSpPr>
        <p:spPr>
          <a:xfrm>
            <a:off x="6276216" y="4274651"/>
            <a:ext cx="6217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513" name="address-control-t1: AR / AW 映射"/>
          <p:cNvSpPr txBox="1"/>
          <p:nvPr/>
        </p:nvSpPr>
        <p:spPr>
          <a:xfrm>
            <a:off x="6279909" y="4398467"/>
            <a:ext cx="61431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514" name="metadata-t0: 块地址 / 元数据"/>
          <p:cNvSpPr txBox="1"/>
          <p:nvPr/>
        </p:nvSpPr>
        <p:spPr>
          <a:xfrm>
            <a:off x="6202108" y="4713495"/>
            <a:ext cx="76991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515" name="badge-C15-text: C15"/>
          <p:cNvSpPr txBox="1"/>
          <p:nvPr/>
        </p:nvSpPr>
        <p:spPr>
          <a:xfrm>
            <a:off x="7196352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16" name="compressor-title: 共享压缩器"/>
          <p:cNvSpPr txBox="1"/>
          <p:nvPr/>
        </p:nvSpPr>
        <p:spPr>
          <a:xfrm>
            <a:off x="7272867" y="4445339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517" name="compressor-detail: W 写数据"/>
          <p:cNvSpPr txBox="1"/>
          <p:nvPr/>
        </p:nvSpPr>
        <p:spPr>
          <a:xfrm>
            <a:off x="7352287" y="4561569"/>
            <a:ext cx="4507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518" name="badge-C16-text: C16"/>
          <p:cNvSpPr txBox="1"/>
          <p:nvPr/>
        </p:nvSpPr>
        <p:spPr>
          <a:xfrm>
            <a:off x="8102285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19" name="decompressor-title: 共享解压器"/>
          <p:cNvSpPr txBox="1"/>
          <p:nvPr/>
        </p:nvSpPr>
        <p:spPr>
          <a:xfrm>
            <a:off x="8178800" y="4445339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520" name="decompressor-detail: R 读数据"/>
          <p:cNvSpPr txBox="1"/>
          <p:nvPr/>
        </p:nvSpPr>
        <p:spPr>
          <a:xfrm>
            <a:off x="8267033" y="4561569"/>
            <a:ext cx="43313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521" name="plain-bypass-title: 普通数据旁路"/>
          <p:cNvSpPr txBox="1"/>
          <p:nvPr/>
        </p:nvSpPr>
        <p:spPr>
          <a:xfrm>
            <a:off x="9033933" y="4445339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522" name="plain-bypass-detail: W / R 原样"/>
          <p:cNvSpPr txBox="1"/>
          <p:nvPr/>
        </p:nvSpPr>
        <p:spPr>
          <a:xfrm>
            <a:off x="9131647" y="4561569"/>
            <a:ext cx="5157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523" name="front-route-t0: 下游 AXI 路由 / R、B 响应匹配"/>
          <p:cNvSpPr txBox="1"/>
          <p:nvPr/>
        </p:nvSpPr>
        <p:spPr>
          <a:xfrm>
            <a:off x="7283945" y="5004816"/>
            <a:ext cx="148491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524" name="b-response-label: B"/>
          <p:cNvSpPr txBox="1"/>
          <p:nvPr/>
        </p:nvSpPr>
        <p:spPr>
          <a:xfrm>
            <a:off x="6250331" y="4132004"/>
            <a:ext cx="13160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525" name="badge-C11-text: C11"/>
          <p:cNvSpPr txBox="1"/>
          <p:nvPr/>
        </p:nvSpPr>
        <p:spPr>
          <a:xfrm>
            <a:off x="10928458" y="410233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526" name="roi-scheduler-title: ROI 任务表"/>
          <p:cNvSpPr txBox="1"/>
          <p:nvPr/>
        </p:nvSpPr>
        <p:spPr>
          <a:xfrm>
            <a:off x="10405300" y="4164245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527" name="roi-scheduler-detail: 顺序调度"/>
          <p:cNvSpPr txBox="1"/>
          <p:nvPr/>
        </p:nvSpPr>
        <p:spPr>
          <a:xfrm>
            <a:off x="10481733" y="4280476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528" name="badge-C13-text: C13"/>
          <p:cNvSpPr txBox="1"/>
          <p:nvPr/>
        </p:nvSpPr>
        <p:spPr>
          <a:xfrm>
            <a:off x="10928458" y="44748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529" name="roi-vdma-title: 帧输出 VDMA"/>
          <p:cNvSpPr txBox="1"/>
          <p:nvPr/>
        </p:nvSpPr>
        <p:spPr>
          <a:xfrm>
            <a:off x="10351476" y="4536779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530" name="roi-vdma-detail: 二维 AXI 读"/>
          <p:cNvSpPr txBox="1"/>
          <p:nvPr/>
        </p:nvSpPr>
        <p:spPr>
          <a:xfrm>
            <a:off x="10439553" y="4653009"/>
            <a:ext cx="5246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531" name="roi-fifo-t0: 像素整理"/>
          <p:cNvSpPr txBox="1"/>
          <p:nvPr/>
        </p:nvSpPr>
        <p:spPr>
          <a:xfrm>
            <a:off x="10447867" y="484191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532" name="roi-fifo-t1: 输出 FIFO"/>
          <p:cNvSpPr txBox="1"/>
          <p:nvPr/>
        </p:nvSpPr>
        <p:spPr>
          <a:xfrm>
            <a:off x="10473904" y="4965734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533" name="badge-C14-text: C14"/>
          <p:cNvSpPr txBox="1"/>
          <p:nvPr/>
        </p:nvSpPr>
        <p:spPr>
          <a:xfrm>
            <a:off x="10928458" y="51522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34" name="lvds-tx-title: LVDS TX"/>
          <p:cNvSpPr txBox="1"/>
          <p:nvPr/>
        </p:nvSpPr>
        <p:spPr>
          <a:xfrm>
            <a:off x="10464287" y="5214112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535" name="lvds-tx-detail: 子图帧行封装"/>
          <p:cNvSpPr txBox="1"/>
          <p:nvPr/>
        </p:nvSpPr>
        <p:spPr>
          <a:xfrm>
            <a:off x="10393680" y="5330342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536" name="legend-data-text: AXI 请求方向"/>
          <p:cNvSpPr txBox="1"/>
          <p:nvPr/>
        </p:nvSpPr>
        <p:spPr>
          <a:xfrm>
            <a:off x="10476460" y="2377169"/>
            <a:ext cx="5862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537" name="legend-gb-text: GB 局部读写"/>
          <p:cNvSpPr txBox="1"/>
          <p:nvPr/>
        </p:nvSpPr>
        <p:spPr>
          <a:xfrm>
            <a:off x="10479984" y="2604076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538" name="legend-pixel-text: 像素流"/>
          <p:cNvSpPr txBox="1"/>
          <p:nvPr/>
        </p:nvSpPr>
        <p:spPr>
          <a:xfrm>
            <a:off x="10593493" y="2830982"/>
            <a:ext cx="3522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539" name="legend-cfg-text: 配置 / 控制"/>
          <p:cNvSpPr txBox="1"/>
          <p:nvPr/>
        </p:nvSpPr>
        <p:spPr>
          <a:xfrm>
            <a:off x="10500193" y="3057889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540" name="legend-optional-text: eMMC 接口"/>
          <p:cNvSpPr txBox="1"/>
          <p:nvPr/>
        </p:nvSpPr>
        <p:spPr>
          <a:xfrm>
            <a:off x="10501180" y="3284796"/>
            <a:ext cx="5368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541" name="legend-return: AXI 响应：沿原接口返回"/>
          <p:cNvSpPr txBox="1"/>
          <p:nvPr/>
        </p:nvSpPr>
        <p:spPr>
          <a:xfrm>
            <a:off x="10228077" y="3474991"/>
            <a:ext cx="947579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响应：沿原接口返回</a:t>
            </a:r>
          </a:p>
        </p:txBody>
      </p:sp>
      <p:sp>
        <p:nvSpPr>
          <p:cNvPr id="542" name="legend-status: 虚线框：规划 / 可选"/>
          <p:cNvSpPr txBox="1"/>
          <p:nvPr/>
        </p:nvSpPr>
        <p:spPr>
          <a:xfrm>
            <a:off x="10290625" y="3586751"/>
            <a:ext cx="82248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虚线框：规划 / 可选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Moderate&quot;,&quot;Name&quot;:&quot;适中&quot;,&quot;Kind&quot;:&quot;System&quot;,&quot;OldGuidesSetting&quot;:{&quot;HeaderHeight&quot;:13.0,&quot;FooterHeight&quot;:6.0,&quot;SideMargin&quot;:4.0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14659</TotalTime>
  <Words>510</Words>
  <Application>Microsoft Office PowerPoint</Application>
  <PresentationFormat>宽屏</PresentationFormat>
  <Paragraphs>197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等线 Light</vt:lpstr>
      <vt:lpstr>Microsoft YaHei</vt:lpstr>
      <vt:lpstr>Microsoft YaHei</vt:lpstr>
      <vt:lpstr>Arial</vt:lpstr>
      <vt:lpstr>Office 主题​​</vt:lpstr>
      <vt:lpstr>PowerPoint 演示文稿</vt:lpstr>
      <vt:lpstr>SoC 架构：CPU / Ara 共享 GB 出口</vt:lpstr>
      <vt:lpstr>SoC 架构：等距目标端口 / GB 接入位置调整</vt:lpstr>
      <vt:lpstr>SoC 初版规划：eMMC / ROI / 四口共享压缩存储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2314981968@qq.com</dc:creator>
  <cp:lastModifiedBy>文尧 赵</cp:lastModifiedBy>
  <cp:revision>5909</cp:revision>
  <dcterms:created xsi:type="dcterms:W3CDTF">2019-11-26T03:41:00Z</dcterms:created>
  <dcterms:modified xsi:type="dcterms:W3CDTF">2026-10-16T11:05:18Z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BC69EB345F4F457288BFAD1BFA019858</vt:lpwstr>
  </property>
  <property fmtid="{D5CDD505-2E9C-101B-9397-08002B2CF9AE}" pid="3" name="KSOProductBuildVer">
    <vt:lpwstr>2052-12.1.0.25225</vt:lpwstr>
  </property>
</Properties>
</file>