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SoC v1：软件触发的 DDR–GB 缓存维护"/>
          <p:cNvSpPr txBox="1"/>
          <p:nvPr/>
        </p:nvSpPr>
        <p:spPr>
          <a:xfrm>
            <a:off x="200025" y="60488"/>
            <a:ext cx="266252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SoC v1：软件触发的 DDR–GB 缓存维护</a:t>
            </a:r>
          </a:p>
        </p:txBody>
      </p:sp>
      <p:sp>
        <p:nvSpPr>
          <p:cNvPr id="3" name="text-003: 输入：FENCE + LLC 全量 flush；输出：软件配置范围，硬件失效 L"/>
          <p:cNvSpPr txBox="1"/>
          <p:nvPr/>
        </p:nvSpPr>
        <p:spPr>
          <a:xfrm>
            <a:off x="200025" y="280355"/>
            <a:ext cx="33823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输入：FENCE + LLC 全量 flush；输出：软件配置范围，硬件失效 L1D / LLC。</a:t>
            </a:r>
          </a:p>
        </p:txBody>
      </p:sp>
      <p:sp>
        <p:nvSpPr>
          <p:cNvPr id="4" name="compute-region"/>
          <p:cNvSpPr/>
          <p:nvPr/>
        </p:nvSpPr>
        <p:spPr>
          <a:xfrm>
            <a:off x="240030" y="580072"/>
            <a:ext cx="3800475" cy="1920240"/>
          </a:xfrm>
          <a:prstGeom prst="rect">
            <a:avLst/>
          </a:prstGeom>
          <a:solidFill>
            <a:srgbClr val="FAF2F3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cpu"/>
          <p:cNvSpPr/>
          <p:nvPr/>
        </p:nvSpPr>
        <p:spPr>
          <a:xfrm>
            <a:off x="32004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CVA6 CPU"/>
          <p:cNvSpPr txBox="1"/>
          <p:nvPr/>
        </p:nvSpPr>
        <p:spPr>
          <a:xfrm>
            <a:off x="745468" y="815462"/>
            <a:ext cx="58932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CVA6 CPU</a:t>
            </a:r>
          </a:p>
        </p:txBody>
      </p:sp>
      <p:sp>
        <p:nvSpPr>
          <p:cNvPr id="7" name="text-007: L1D / WT 写缓冲"/>
          <p:cNvSpPr txBox="1"/>
          <p:nvPr/>
        </p:nvSpPr>
        <p:spPr>
          <a:xfrm>
            <a:off x="632220" y="968441"/>
            <a:ext cx="815821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WT 写缓冲</a:t>
            </a:r>
          </a:p>
        </p:txBody>
      </p:sp>
      <p:sp>
        <p:nvSpPr>
          <p:cNvPr id="8" name="ara"/>
          <p:cNvSpPr/>
          <p:nvPr/>
        </p:nvSpPr>
        <p:spPr>
          <a:xfrm>
            <a:off x="2240280" y="720090"/>
            <a:ext cx="1440180" cy="48006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Ara 2 lanes"/>
          <p:cNvSpPr txBox="1"/>
          <p:nvPr/>
        </p:nvSpPr>
        <p:spPr>
          <a:xfrm>
            <a:off x="2636698" y="815462"/>
            <a:ext cx="64734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Ara 2 lanes</a:t>
            </a:r>
          </a:p>
        </p:txBody>
      </p:sp>
      <p:sp>
        <p:nvSpPr>
          <p:cNvPr id="10" name="text-010: VLSU / AXI64"/>
          <p:cNvSpPr txBox="1"/>
          <p:nvPr/>
        </p:nvSpPr>
        <p:spPr>
          <a:xfrm>
            <a:off x="2624562" y="968441"/>
            <a:ext cx="67161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VLSU / AXI64</a:t>
            </a:r>
          </a:p>
        </p:txBody>
      </p:sp>
      <p:sp>
        <p:nvSpPr>
          <p:cNvPr id="11" name="filter"/>
          <p:cNvSpPr/>
          <p:nvPr/>
        </p:nvSpPr>
        <p:spPr>
          <a:xfrm>
            <a:off x="2240280" y="1400175"/>
            <a:ext cx="1440180" cy="320040"/>
          </a:xfrm>
          <a:prstGeom prst="rect">
            <a:avLst/>
          </a:prstGeom>
          <a:solidFill>
            <a:srgbClr val="F1D7D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既有失效过滤 / 等宽转换"/>
          <p:cNvSpPr txBox="1"/>
          <p:nvPr/>
        </p:nvSpPr>
        <p:spPr>
          <a:xfrm>
            <a:off x="2305851" y="1483545"/>
            <a:ext cx="130903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既有失效过滤 / 等宽转换</a:t>
            </a:r>
          </a:p>
        </p:txBody>
      </p:sp>
      <p:sp>
        <p:nvSpPr>
          <p:cNvPr id="13" name="xbar"/>
          <p:cNvSpPr/>
          <p:nvPr/>
        </p:nvSpPr>
        <p:spPr>
          <a:xfrm>
            <a:off x="320040" y="2000250"/>
            <a:ext cx="3600450" cy="360045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主 AXI Crossbar · 64 bit"/>
          <p:cNvSpPr txBox="1"/>
          <p:nvPr/>
        </p:nvSpPr>
        <p:spPr>
          <a:xfrm>
            <a:off x="1509573" y="2035614"/>
            <a:ext cx="122138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主 AXI Crossbar · 64 bit</a:t>
            </a:r>
          </a:p>
        </p:txBody>
      </p:sp>
      <p:sp>
        <p:nvSpPr>
          <p:cNvPr id="15" name="text-015: CPU / Ara 独立输入 · M2 主存 / M5 GB"/>
          <p:cNvSpPr txBox="1"/>
          <p:nvPr/>
        </p:nvSpPr>
        <p:spPr>
          <a:xfrm>
            <a:off x="1240358" y="2188594"/>
            <a:ext cx="1759814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独立输入 · M2 主存 / M5 GB</a:t>
            </a:r>
          </a:p>
        </p:txBody>
      </p:sp>
      <p:sp>
        <p:nvSpPr>
          <p:cNvPr id="16" name="llc"/>
          <p:cNvSpPr/>
          <p:nvPr/>
        </p:nvSpPr>
        <p:spPr>
          <a:xfrm>
            <a:off x="360045" y="2920365"/>
            <a:ext cx="1680210" cy="52006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M2：原子适配 → LLC"/>
          <p:cNvSpPr txBox="1"/>
          <p:nvPr/>
        </p:nvSpPr>
        <p:spPr>
          <a:xfrm>
            <a:off x="625641" y="3035739"/>
            <a:ext cx="114901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M2：原子适配 → LLC</a:t>
            </a:r>
          </a:p>
        </p:txBody>
      </p:sp>
      <p:sp>
        <p:nvSpPr>
          <p:cNvPr id="18" name="text-018: WB cache / 保留 SPM"/>
          <p:cNvSpPr txBox="1"/>
          <p:nvPr/>
        </p:nvSpPr>
        <p:spPr>
          <a:xfrm>
            <a:off x="684976" y="3188719"/>
            <a:ext cx="10303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WB cache / 保留 SPM</a:t>
            </a:r>
          </a:p>
        </p:txBody>
      </p:sp>
      <p:sp>
        <p:nvSpPr>
          <p:cNvPr id="19" name="gb-region"/>
          <p:cNvSpPr/>
          <p:nvPr/>
        </p:nvSpPr>
        <p:spPr>
          <a:xfrm>
            <a:off x="4320540" y="580072"/>
            <a:ext cx="4080510" cy="2040255"/>
          </a:xfrm>
          <a:prstGeom prst="rect">
            <a:avLst/>
          </a:prstGeom>
          <a:solidFill>
            <a:srgbClr val="F0F8F5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npu"/>
          <p:cNvSpPr/>
          <p:nvPr/>
        </p:nvSpPr>
        <p:spPr>
          <a:xfrm>
            <a:off x="4480560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NPU 计算"/>
          <p:cNvSpPr txBox="1"/>
          <p:nvPr/>
        </p:nvSpPr>
        <p:spPr>
          <a:xfrm>
            <a:off x="5002081" y="895472"/>
            <a:ext cx="557157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计算</a:t>
            </a:r>
          </a:p>
        </p:txBody>
      </p:sp>
      <p:sp>
        <p:nvSpPr>
          <p:cNvPr id="22" name="text-022: GB 操作数 / 结果"/>
          <p:cNvSpPr txBox="1"/>
          <p:nvPr/>
        </p:nvSpPr>
        <p:spPr>
          <a:xfrm>
            <a:off x="4863139" y="1048451"/>
            <a:ext cx="83504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操作数 / 结果</a:t>
            </a:r>
          </a:p>
        </p:txBody>
      </p:sp>
      <p:sp>
        <p:nvSpPr>
          <p:cNvPr id="23" name="mover"/>
          <p:cNvSpPr/>
          <p:nvPr/>
        </p:nvSpPr>
        <p:spPr>
          <a:xfrm>
            <a:off x="6680835" y="800100"/>
            <a:ext cx="160020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DDR ↔ GB 搬运器"/>
          <p:cNvSpPr txBox="1"/>
          <p:nvPr/>
        </p:nvSpPr>
        <p:spPr>
          <a:xfrm>
            <a:off x="6988642" y="895472"/>
            <a:ext cx="98458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↔ GB 搬运器</a:t>
            </a:r>
          </a:p>
        </p:txBody>
      </p:sp>
      <p:sp>
        <p:nvSpPr>
          <p:cNvPr id="25" name="text-025: GB 本地口 / F1 DDR 口"/>
          <p:cNvSpPr txBox="1"/>
          <p:nvPr/>
        </p:nvSpPr>
        <p:spPr>
          <a:xfrm>
            <a:off x="6937820" y="1048451"/>
            <a:ext cx="108623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本地口 / F1 DDR 口</a:t>
            </a:r>
          </a:p>
        </p:txBody>
      </p:sp>
      <p:sp>
        <p:nvSpPr>
          <p:cNvPr id="26" name="adapter"/>
          <p:cNvSpPr/>
          <p:nvPr/>
        </p:nvSpPr>
        <p:spPr>
          <a:xfrm>
            <a:off x="4480560" y="2000250"/>
            <a:ext cx="1520190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GB 共享访问适配"/>
          <p:cNvSpPr txBox="1"/>
          <p:nvPr/>
        </p:nvSpPr>
        <p:spPr>
          <a:xfrm>
            <a:off x="4777375" y="2095622"/>
            <a:ext cx="92656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共享访问适配</a:t>
            </a:r>
          </a:p>
        </p:txBody>
      </p:sp>
      <p:sp>
        <p:nvSpPr>
          <p:cNvPr id="28" name="text-028: 仲裁 / bank 冲突处理"/>
          <p:cNvSpPr txBox="1"/>
          <p:nvPr/>
        </p:nvSpPr>
        <p:spPr>
          <a:xfrm>
            <a:off x="4734857" y="2248601"/>
            <a:ext cx="101159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仲裁 / bank 冲突处理</a:t>
            </a:r>
          </a:p>
        </p:txBody>
      </p:sp>
      <p:sp>
        <p:nvSpPr>
          <p:cNvPr id="29" name="gb"/>
          <p:cNvSpPr/>
          <p:nvPr/>
        </p:nvSpPr>
        <p:spPr>
          <a:xfrm>
            <a:off x="6400800" y="2000250"/>
            <a:ext cx="1560195" cy="4800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6820621" y="2095622"/>
            <a:ext cx="72055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Global Buffer</a:t>
            </a:r>
          </a:p>
        </p:txBody>
      </p:sp>
      <p:sp>
        <p:nvSpPr>
          <p:cNvPr id="31" name="text-031: 独立 SRAM · 非缓存映射建议"/>
          <p:cNvSpPr txBox="1"/>
          <p:nvPr/>
        </p:nvSpPr>
        <p:spPr>
          <a:xfrm>
            <a:off x="6520534" y="2248601"/>
            <a:ext cx="132072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· 非缓存映射建议</a:t>
            </a:r>
          </a:p>
        </p:txBody>
      </p:sp>
      <p:sp>
        <p:nvSpPr>
          <p:cNvPr id="32" name="isp"/>
          <p:cNvSpPr/>
          <p:nvPr/>
        </p:nvSpPr>
        <p:spPr>
          <a:xfrm>
            <a:off x="9001125" y="80010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LVDS RX / ISP"/>
          <p:cNvSpPr txBox="1"/>
          <p:nvPr/>
        </p:nvSpPr>
        <p:spPr>
          <a:xfrm>
            <a:off x="9404078" y="895472"/>
            <a:ext cx="79429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LVDS RX / ISP</a:t>
            </a:r>
          </a:p>
        </p:txBody>
      </p:sp>
      <p:sp>
        <p:nvSpPr>
          <p:cNvPr id="34" name="text-034: RAW 或处理后像素"/>
          <p:cNvSpPr txBox="1"/>
          <p:nvPr/>
        </p:nvSpPr>
        <p:spPr>
          <a:xfrm>
            <a:off x="9354872" y="1048451"/>
            <a:ext cx="8927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RAW 或处理后像素</a:t>
            </a:r>
          </a:p>
        </p:txBody>
      </p:sp>
      <p:sp>
        <p:nvSpPr>
          <p:cNvPr id="35" name="frame"/>
          <p:cNvSpPr/>
          <p:nvPr/>
        </p:nvSpPr>
        <p:spPr>
          <a:xfrm>
            <a:off x="9001125" y="2000250"/>
            <a:ext cx="160020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帧写入 DMA"/>
          <p:cNvSpPr txBox="1"/>
          <p:nvPr/>
        </p:nvSpPr>
        <p:spPr>
          <a:xfrm>
            <a:off x="9458935" y="2095622"/>
            <a:ext cx="684579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帧写入 DMA</a:t>
            </a:r>
          </a:p>
        </p:txBody>
      </p:sp>
      <p:sp>
        <p:nvSpPr>
          <p:cNvPr id="37" name="text-037: F2：AW / W，返回 B"/>
          <p:cNvSpPr txBox="1"/>
          <p:nvPr/>
        </p:nvSpPr>
        <p:spPr>
          <a:xfrm>
            <a:off x="9306022" y="2248601"/>
            <a:ext cx="990405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F2：AW / W，返回 B</a:t>
            </a:r>
          </a:p>
        </p:txBody>
      </p:sp>
      <p:sp>
        <p:nvSpPr>
          <p:cNvPr id="38" name="roi"/>
          <p:cNvSpPr/>
          <p:nvPr/>
        </p:nvSpPr>
        <p:spPr>
          <a:xfrm>
            <a:off x="11001375" y="2960370"/>
            <a:ext cx="1440180" cy="64008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OI 调度 / 二维读 DMA"/>
          <p:cNvSpPr txBox="1"/>
          <p:nvPr/>
        </p:nvSpPr>
        <p:spPr>
          <a:xfrm>
            <a:off x="11111454" y="3067743"/>
            <a:ext cx="1220021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ROI 调度 / 二维读 DMA</a:t>
            </a:r>
          </a:p>
        </p:txBody>
      </p:sp>
      <p:sp>
        <p:nvSpPr>
          <p:cNvPr id="40" name="text-040: F3：AR，返回 R"/>
          <p:cNvSpPr txBox="1"/>
          <p:nvPr/>
        </p:nvSpPr>
        <p:spPr>
          <a:xfrm>
            <a:off x="11328932" y="3220723"/>
            <a:ext cx="78506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F3：AR，返回 R</a:t>
            </a:r>
          </a:p>
        </p:txBody>
      </p:sp>
      <p:sp>
        <p:nvSpPr>
          <p:cNvPr id="41" name="text-041: 源帧读完后交还"/>
          <p:cNvSpPr txBox="1"/>
          <p:nvPr/>
        </p:nvSpPr>
        <p:spPr>
          <a:xfrm>
            <a:off x="11337417" y="3360740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源帧读完后交还</a:t>
            </a:r>
          </a:p>
        </p:txBody>
      </p:sp>
      <p:sp>
        <p:nvSpPr>
          <p:cNvPr id="42" name="tx"/>
          <p:cNvSpPr/>
          <p:nvPr/>
        </p:nvSpPr>
        <p:spPr>
          <a:xfrm>
            <a:off x="11001375" y="4400550"/>
            <a:ext cx="1440180" cy="480060"/>
          </a:xfrm>
          <a:prstGeom prst="rect">
            <a:avLst/>
          </a:prstGeom>
          <a:solidFill>
            <a:srgbClr val="F5E1C9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输出 FIFO / LVDS TX"/>
          <p:cNvSpPr txBox="1"/>
          <p:nvPr/>
        </p:nvSpPr>
        <p:spPr>
          <a:xfrm>
            <a:off x="11182810" y="4495922"/>
            <a:ext cx="10773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FIFO / LVDS TX</a:t>
            </a:r>
          </a:p>
        </p:txBody>
      </p:sp>
      <p:sp>
        <p:nvSpPr>
          <p:cNvPr id="44" name="text-044: 像素整理与发送"/>
          <p:cNvSpPr txBox="1"/>
          <p:nvPr/>
        </p:nvSpPr>
        <p:spPr>
          <a:xfrm>
            <a:off x="11337417" y="4648901"/>
            <a:ext cx="768096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像素整理与发送</a:t>
            </a:r>
          </a:p>
        </p:txBody>
      </p:sp>
      <p:sp>
        <p:nvSpPr>
          <p:cNvPr id="45" name="frontend"/>
          <p:cNvSpPr/>
          <p:nvPr/>
        </p:nvSpPr>
        <p:spPr>
          <a:xfrm>
            <a:off x="2200275" y="4080510"/>
            <a:ext cx="8401050" cy="1280160"/>
          </a:xfrm>
          <a:prstGeom prst="rect">
            <a:avLst/>
          </a:prstGeom>
          <a:solidFill>
            <a:srgbClr val="D9EEE8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共享压缩前端 · 四入口共享服务"/>
          <p:cNvSpPr txBox="1"/>
          <p:nvPr/>
        </p:nvSpPr>
        <p:spPr>
          <a:xfrm>
            <a:off x="5599400" y="4507923"/>
            <a:ext cx="160280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共享压缩前端 · 四入口共享服务</a:t>
            </a:r>
          </a:p>
        </p:txBody>
      </p:sp>
      <p:sp>
        <p:nvSpPr>
          <p:cNvPr id="47" name="text-047: 逻辑地址映射 · 共享压缩 / 解压 · 普通区域旁路"/>
          <p:cNvSpPr txBox="1"/>
          <p:nvPr/>
        </p:nvSpPr>
        <p:spPr>
          <a:xfrm>
            <a:off x="5354419" y="4660903"/>
            <a:ext cx="2092762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逻辑地址映射 · 共享压缩 / 解压 · 普通区域旁路</a:t>
            </a:r>
          </a:p>
        </p:txBody>
      </p:sp>
      <p:sp>
        <p:nvSpPr>
          <p:cNvPr id="48" name="text-048: 数据与元数据发布 · 子事务错误聚合 · 读写响应匹配"/>
          <p:cNvSpPr txBox="1"/>
          <p:nvPr/>
        </p:nvSpPr>
        <p:spPr>
          <a:xfrm>
            <a:off x="5264127" y="4800920"/>
            <a:ext cx="2273347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数据与元数据发布 · 子事务错误聚合 · 读写响应匹配</a:t>
            </a:r>
          </a:p>
        </p:txBody>
      </p:sp>
      <p:sp>
        <p:nvSpPr>
          <p:cNvPr id="49" name="controller"/>
          <p:cNvSpPr/>
          <p:nvPr/>
        </p:nvSpPr>
        <p:spPr>
          <a:xfrm>
            <a:off x="2200275" y="5720715"/>
            <a:ext cx="8401050" cy="72009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一个 DDR Controller · 四个 AXI slave"/>
          <p:cNvSpPr txBox="1"/>
          <p:nvPr/>
        </p:nvSpPr>
        <p:spPr>
          <a:xfrm>
            <a:off x="5492277" y="5936102"/>
            <a:ext cx="181704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一个 DDR Controller · 四个 AXI slave</a:t>
            </a:r>
          </a:p>
        </p:txBody>
      </p:sp>
      <p:sp>
        <p:nvSpPr>
          <p:cNvPr id="51" name="text-051: 四口仲裁 / 共享物理 DDR 带宽 · 排空与跨口可见性待契约确认"/>
          <p:cNvSpPr txBox="1"/>
          <p:nvPr/>
        </p:nvSpPr>
        <p:spPr>
          <a:xfrm>
            <a:off x="5032863" y="6089081"/>
            <a:ext cx="273587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四口仲裁 / 共享物理 DDR 带宽 · 排空与跨口可见性待契约确认</a:t>
            </a:r>
          </a:p>
        </p:txBody>
      </p:sp>
      <p:sp>
        <p:nvSpPr>
          <p:cNvPr id="52" name="ddr"/>
          <p:cNvSpPr/>
          <p:nvPr/>
        </p:nvSpPr>
        <p:spPr>
          <a:xfrm>
            <a:off x="11001375" y="5880735"/>
            <a:ext cx="1440180" cy="480060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DR PHY / DDR"/>
          <p:cNvSpPr txBox="1"/>
          <p:nvPr/>
        </p:nvSpPr>
        <p:spPr>
          <a:xfrm>
            <a:off x="11285498" y="5976107"/>
            <a:ext cx="87193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PHY / DDR</a:t>
            </a:r>
          </a:p>
        </p:txBody>
      </p:sp>
      <p:sp>
        <p:nvSpPr>
          <p:cNvPr id="54" name="text-054: 片外存储"/>
          <p:cNvSpPr txBox="1"/>
          <p:nvPr/>
        </p:nvSpPr>
        <p:spPr>
          <a:xfrm>
            <a:off x="11481435" y="6129086"/>
            <a:ext cx="480060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片外存储</a:t>
            </a:r>
          </a:p>
        </p:txBody>
      </p:sp>
      <p:sp>
        <p:nvSpPr>
          <p:cNvPr id="55" name="cpu-xbar"/>
          <p:cNvSpPr/>
          <p:nvPr/>
        </p:nvSpPr>
        <p:spPr>
          <a:xfrm>
            <a:off x="1040130" y="12001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ara-filter"/>
          <p:cNvSpPr/>
          <p:nvPr/>
        </p:nvSpPr>
        <p:spPr>
          <a:xfrm>
            <a:off x="2960370" y="1200150"/>
            <a:ext cx="1" cy="200025"/>
          </a:xfrm>
          <a:custGeom>
            <a:avLst/>
            <a:gdLst/>
            <a:ahLst/>
            <a:cxnLst/>
            <a:rect l="0" t="0" r="r" b="b"/>
            <a:pathLst>
              <a:path w="1" h="200025" fill="none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ilter-xbar"/>
          <p:cNvSpPr/>
          <p:nvPr/>
        </p:nvSpPr>
        <p:spPr>
          <a:xfrm>
            <a:off x="2960370" y="1720215"/>
            <a:ext cx="1" cy="280035"/>
          </a:xfrm>
          <a:custGeom>
            <a:avLst/>
            <a:gdLst/>
            <a:ahLst/>
            <a:cxnLst/>
            <a:rect l="0" t="0" r="r" b="b"/>
            <a:pathLst>
              <a:path w="1" h="280035" fill="none">
                <a:moveTo>
                  <a:pt x="0" y="0"/>
                </a:moveTo>
                <a:lnTo>
                  <a:pt x="0" y="28003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m2-llc"/>
          <p:cNvSpPr/>
          <p:nvPr/>
        </p:nvSpPr>
        <p:spPr>
          <a:xfrm>
            <a:off x="1200150" y="2360295"/>
            <a:ext cx="1" cy="560070"/>
          </a:xfrm>
          <a:custGeom>
            <a:avLst/>
            <a:gdLst/>
            <a:ahLst/>
            <a:cxnLst/>
            <a:rect l="0" t="0" r="r" b="b"/>
            <a:pathLst>
              <a:path w="1" h="560070" fill="none">
                <a:moveTo>
                  <a:pt x="0" y="0"/>
                </a:moveTo>
                <a:lnTo>
                  <a:pt x="0" y="56007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m5-gb"/>
          <p:cNvSpPr/>
          <p:nvPr/>
        </p:nvSpPr>
        <p:spPr>
          <a:xfrm>
            <a:off x="3920490" y="2180272"/>
            <a:ext cx="560070" cy="1"/>
          </a:xfrm>
          <a:custGeom>
            <a:avLst/>
            <a:gdLst/>
            <a:ahLst/>
            <a:cxnLst/>
            <a:rect l="0" t="0" r="r" b="b"/>
            <a:pathLst>
              <a:path w="560070" h="1" fill="none">
                <a:moveTo>
                  <a:pt x="0" y="0"/>
                </a:moveTo>
                <a:lnTo>
                  <a:pt x="56007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M5"/>
          <p:cNvSpPr txBox="1"/>
          <p:nvPr/>
        </p:nvSpPr>
        <p:spPr>
          <a:xfrm>
            <a:off x="4080510" y="1996570"/>
            <a:ext cx="232248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M5</a:t>
            </a:r>
          </a:p>
        </p:txBody>
      </p:sp>
      <p:sp>
        <p:nvSpPr>
          <p:cNvPr id="61" name="adapter-gb"/>
          <p:cNvSpPr/>
          <p:nvPr/>
        </p:nvSpPr>
        <p:spPr>
          <a:xfrm>
            <a:off x="6000750" y="2240280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npu-gb"/>
          <p:cNvSpPr/>
          <p:nvPr/>
        </p:nvSpPr>
        <p:spPr>
          <a:xfrm>
            <a:off x="5280660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mover-gb"/>
          <p:cNvSpPr/>
          <p:nvPr/>
        </p:nvSpPr>
        <p:spPr>
          <a:xfrm>
            <a:off x="5640705" y="1280160"/>
            <a:ext cx="1840230" cy="720090"/>
          </a:xfrm>
          <a:custGeom>
            <a:avLst/>
            <a:gdLst/>
            <a:ahLst/>
            <a:cxnLst/>
            <a:rect l="0" t="0" r="r" b="b"/>
            <a:pathLst>
              <a:path w="1840230" h="720090" fill="none">
                <a:moveTo>
                  <a:pt x="1840230" y="0"/>
                </a:moveTo>
                <a:lnTo>
                  <a:pt x="1840230" y="320040"/>
                </a:lnTo>
                <a:lnTo>
                  <a:pt x="0" y="320040"/>
                </a:ln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isp-gb"/>
          <p:cNvSpPr/>
          <p:nvPr/>
        </p:nvSpPr>
        <p:spPr>
          <a:xfrm>
            <a:off x="5800725" y="1040130"/>
            <a:ext cx="3200400" cy="1600200"/>
          </a:xfrm>
          <a:custGeom>
            <a:avLst/>
            <a:gdLst/>
            <a:ahLst/>
            <a:cxnLst/>
            <a:rect l="0" t="0" r="r" b="b"/>
            <a:pathLst>
              <a:path w="3200400" h="1600200" fill="none">
                <a:moveTo>
                  <a:pt x="3200400" y="0"/>
                </a:moveTo>
                <a:lnTo>
                  <a:pt x="2880360" y="0"/>
                </a:lnTo>
                <a:lnTo>
                  <a:pt x="2880360" y="1600200"/>
                </a:lnTo>
                <a:lnTo>
                  <a:pt x="0" y="1600200"/>
                </a:lnTo>
                <a:lnTo>
                  <a:pt x="0" y="1440180"/>
                </a:lnTo>
              </a:path>
            </a:pathLst>
          </a:custGeom>
          <a:noFill/>
          <a:ln w="11201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isp-frame"/>
          <p:cNvSpPr/>
          <p:nvPr/>
        </p:nvSpPr>
        <p:spPr>
          <a:xfrm>
            <a:off x="9801225" y="1280160"/>
            <a:ext cx="1" cy="720090"/>
          </a:xfrm>
          <a:custGeom>
            <a:avLst/>
            <a:gdLst/>
            <a:ahLst/>
            <a:cxnLst/>
            <a:rect l="0" t="0" r="r" b="b"/>
            <a:pathLst>
              <a:path w="1" h="720090" fill="none">
                <a:moveTo>
                  <a:pt x="0" y="0"/>
                </a:moveTo>
                <a:lnTo>
                  <a:pt x="0" y="72009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llc-f0"/>
          <p:cNvSpPr/>
          <p:nvPr/>
        </p:nvSpPr>
        <p:spPr>
          <a:xfrm>
            <a:off x="2040255" y="3160395"/>
            <a:ext cx="680085" cy="920115"/>
          </a:xfrm>
          <a:custGeom>
            <a:avLst/>
            <a:gdLst/>
            <a:ahLst/>
            <a:cxnLst/>
            <a:rect l="0" t="0" r="r" b="b"/>
            <a:pathLst>
              <a:path w="680085" h="920115" fill="none">
                <a:moveTo>
                  <a:pt x="0" y="0"/>
                </a:moveTo>
                <a:lnTo>
                  <a:pt x="680085" y="0"/>
                </a:lnTo>
                <a:lnTo>
                  <a:pt x="680085" y="92011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mover-f1"/>
          <p:cNvSpPr/>
          <p:nvPr/>
        </p:nvSpPr>
        <p:spPr>
          <a:xfrm>
            <a:off x="5120640" y="1040130"/>
            <a:ext cx="3355086" cy="3040380"/>
          </a:xfrm>
          <a:custGeom>
            <a:avLst/>
            <a:gdLst/>
            <a:ahLst/>
            <a:cxnLst/>
            <a:rect l="0" t="0" r="r" b="b"/>
            <a:pathLst>
              <a:path w="3355086" h="3040380" fill="none">
                <a:moveTo>
                  <a:pt x="3160395" y="0"/>
                </a:moveTo>
                <a:lnTo>
                  <a:pt x="3320415" y="0"/>
                </a:lnTo>
                <a:lnTo>
                  <a:pt x="3320415" y="1568196"/>
                </a:lnTo>
                <a:cubicBezTo>
                  <a:pt x="3355086" y="1589532"/>
                  <a:pt x="3355086" y="1610868"/>
                  <a:pt x="3320415" y="1632204"/>
                </a:cubicBezTo>
                <a:lnTo>
                  <a:pt x="3320415" y="2720340"/>
                </a:lnTo>
                <a:lnTo>
                  <a:pt x="0" y="2720340"/>
                </a:lnTo>
                <a:lnTo>
                  <a:pt x="0" y="304038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frame-f2"/>
          <p:cNvSpPr/>
          <p:nvPr/>
        </p:nvSpPr>
        <p:spPr>
          <a:xfrm>
            <a:off x="7520940" y="2480310"/>
            <a:ext cx="2280285" cy="1600200"/>
          </a:xfrm>
          <a:custGeom>
            <a:avLst/>
            <a:gdLst/>
            <a:ahLst/>
            <a:cxnLst/>
            <a:rect l="0" t="0" r="r" b="b"/>
            <a:pathLst>
              <a:path w="2280285" h="1600200" fill="none">
                <a:moveTo>
                  <a:pt x="2280285" y="0"/>
                </a:moveTo>
                <a:lnTo>
                  <a:pt x="2280285" y="1160145"/>
                </a:lnTo>
                <a:lnTo>
                  <a:pt x="952119" y="1160145"/>
                </a:lnTo>
                <a:cubicBezTo>
                  <a:pt x="930783" y="1125474"/>
                  <a:pt x="909447" y="1125474"/>
                  <a:pt x="888111" y="1160145"/>
                </a:cubicBezTo>
                <a:lnTo>
                  <a:pt x="0" y="1160145"/>
                </a:lnTo>
                <a:lnTo>
                  <a:pt x="0" y="1248156"/>
                </a:lnTo>
                <a:cubicBezTo>
                  <a:pt x="34671" y="1269492"/>
                  <a:pt x="34671" y="1290828"/>
                  <a:pt x="0" y="1312164"/>
                </a:cubicBezTo>
                <a:lnTo>
                  <a:pt x="0" y="160020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i-f3"/>
          <p:cNvSpPr/>
          <p:nvPr/>
        </p:nvSpPr>
        <p:spPr>
          <a:xfrm>
            <a:off x="9921240" y="3200400"/>
            <a:ext cx="1080135" cy="880110"/>
          </a:xfrm>
          <a:custGeom>
            <a:avLst/>
            <a:gdLst/>
            <a:ahLst/>
            <a:cxnLst/>
            <a:rect l="0" t="0" r="r" b="b"/>
            <a:pathLst>
              <a:path w="1080135" h="880110" fill="none">
                <a:moveTo>
                  <a:pt x="1080135" y="0"/>
                </a:moveTo>
                <a:lnTo>
                  <a:pt x="800100" y="0"/>
                </a:lnTo>
                <a:lnTo>
                  <a:pt x="800100" y="680085"/>
                </a:lnTo>
                <a:lnTo>
                  <a:pt x="0" y="680085"/>
                </a:lnTo>
                <a:lnTo>
                  <a:pt x="0" y="88011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oi-tx"/>
          <p:cNvSpPr/>
          <p:nvPr/>
        </p:nvSpPr>
        <p:spPr>
          <a:xfrm>
            <a:off x="11721465" y="3600450"/>
            <a:ext cx="1" cy="800100"/>
          </a:xfrm>
          <a:custGeom>
            <a:avLst/>
            <a:gdLst/>
            <a:ahLst/>
            <a:cxnLst/>
            <a:rect l="0" t="0" r="r" b="b"/>
            <a:pathLst>
              <a:path w="1" h="800100" fill="none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1201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f0"/>
          <p:cNvSpPr/>
          <p:nvPr/>
        </p:nvSpPr>
        <p:spPr>
          <a:xfrm>
            <a:off x="22602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F0 · LLC"/>
          <p:cNvSpPr txBox="1"/>
          <p:nvPr/>
        </p:nvSpPr>
        <p:spPr>
          <a:xfrm>
            <a:off x="2475303" y="4113874"/>
            <a:ext cx="490074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F0 · LLC</a:t>
            </a:r>
          </a:p>
        </p:txBody>
      </p:sp>
      <p:sp>
        <p:nvSpPr>
          <p:cNvPr id="73" name="ddr-port0"/>
          <p:cNvSpPr/>
          <p:nvPr/>
        </p:nvSpPr>
        <p:spPr>
          <a:xfrm>
            <a:off x="27203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s0"/>
          <p:cNvSpPr/>
          <p:nvPr/>
        </p:nvSpPr>
        <p:spPr>
          <a:xfrm>
            <a:off x="22602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DDR.S0"/>
          <p:cNvSpPr txBox="1"/>
          <p:nvPr/>
        </p:nvSpPr>
        <p:spPr>
          <a:xfrm>
            <a:off x="24796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DDR.S0</a:t>
            </a:r>
          </a:p>
        </p:txBody>
      </p:sp>
      <p:sp>
        <p:nvSpPr>
          <p:cNvPr id="76" name="f1"/>
          <p:cNvSpPr/>
          <p:nvPr/>
        </p:nvSpPr>
        <p:spPr>
          <a:xfrm>
            <a:off x="46605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F1 · GB 搬运"/>
          <p:cNvSpPr txBox="1"/>
          <p:nvPr/>
        </p:nvSpPr>
        <p:spPr>
          <a:xfrm>
            <a:off x="4769802" y="4113874"/>
            <a:ext cx="701675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F1 · GB 搬运</a:t>
            </a:r>
          </a:p>
        </p:txBody>
      </p:sp>
      <p:sp>
        <p:nvSpPr>
          <p:cNvPr id="78" name="ddr-port1"/>
          <p:cNvSpPr/>
          <p:nvPr/>
        </p:nvSpPr>
        <p:spPr>
          <a:xfrm>
            <a:off x="51206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s1"/>
          <p:cNvSpPr/>
          <p:nvPr/>
        </p:nvSpPr>
        <p:spPr>
          <a:xfrm>
            <a:off x="46605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DDR.S1"/>
          <p:cNvSpPr txBox="1"/>
          <p:nvPr/>
        </p:nvSpPr>
        <p:spPr>
          <a:xfrm>
            <a:off x="48799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DDR.S1</a:t>
            </a:r>
          </a:p>
        </p:txBody>
      </p:sp>
      <p:sp>
        <p:nvSpPr>
          <p:cNvPr id="81" name="f2"/>
          <p:cNvSpPr/>
          <p:nvPr/>
        </p:nvSpPr>
        <p:spPr>
          <a:xfrm>
            <a:off x="70608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F2 · 帧写"/>
          <p:cNvSpPr txBox="1"/>
          <p:nvPr/>
        </p:nvSpPr>
        <p:spPr>
          <a:xfrm>
            <a:off x="72553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F2 · 帧写</a:t>
            </a:r>
          </a:p>
        </p:txBody>
      </p:sp>
      <p:sp>
        <p:nvSpPr>
          <p:cNvPr id="83" name="ddr-port2"/>
          <p:cNvSpPr/>
          <p:nvPr/>
        </p:nvSpPr>
        <p:spPr>
          <a:xfrm>
            <a:off x="75209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s2"/>
          <p:cNvSpPr/>
          <p:nvPr/>
        </p:nvSpPr>
        <p:spPr>
          <a:xfrm>
            <a:off x="70608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5: DDR.S2"/>
          <p:cNvSpPr txBox="1"/>
          <p:nvPr/>
        </p:nvSpPr>
        <p:spPr>
          <a:xfrm>
            <a:off x="72802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DDR.S2</a:t>
            </a:r>
          </a:p>
        </p:txBody>
      </p:sp>
      <p:sp>
        <p:nvSpPr>
          <p:cNvPr id="86" name="f3"/>
          <p:cNvSpPr/>
          <p:nvPr/>
        </p:nvSpPr>
        <p:spPr>
          <a:xfrm>
            <a:off x="9461182" y="4080510"/>
            <a:ext cx="920115" cy="220028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text-087: F3 · 帧读"/>
          <p:cNvSpPr txBox="1"/>
          <p:nvPr/>
        </p:nvSpPr>
        <p:spPr>
          <a:xfrm>
            <a:off x="9655635" y="4113874"/>
            <a:ext cx="531210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F3 · 帧读</a:t>
            </a:r>
          </a:p>
        </p:txBody>
      </p:sp>
      <p:sp>
        <p:nvSpPr>
          <p:cNvPr id="88" name="ddr-port3"/>
          <p:cNvSpPr/>
          <p:nvPr/>
        </p:nvSpPr>
        <p:spPr>
          <a:xfrm>
            <a:off x="9921240" y="5360670"/>
            <a:ext cx="1" cy="360045"/>
          </a:xfrm>
          <a:custGeom>
            <a:avLst/>
            <a:gdLst/>
            <a:ahLst/>
            <a:cxnLst/>
            <a:rect l="0" t="0" r="r" b="b"/>
            <a:pathLst>
              <a:path w="1" h="360045" fill="none">
                <a:moveTo>
                  <a:pt x="0" y="0"/>
                </a:moveTo>
                <a:lnTo>
                  <a:pt x="0" y="360045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s3"/>
          <p:cNvSpPr/>
          <p:nvPr/>
        </p:nvSpPr>
        <p:spPr>
          <a:xfrm>
            <a:off x="9461182" y="5720715"/>
            <a:ext cx="920115" cy="200025"/>
          </a:xfrm>
          <a:prstGeom prst="rect">
            <a:avLst/>
          </a:prstGeom>
          <a:solidFill>
            <a:srgbClr val="D8E8F4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text-090: DDR.S3"/>
          <p:cNvSpPr txBox="1"/>
          <p:nvPr/>
        </p:nvSpPr>
        <p:spPr>
          <a:xfrm>
            <a:off x="9680579" y="5744078"/>
            <a:ext cx="481323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DDR.S3</a:t>
            </a:r>
          </a:p>
        </p:txBody>
      </p:sp>
      <p:sp>
        <p:nvSpPr>
          <p:cNvPr id="91" name="controller-ddr"/>
          <p:cNvSpPr/>
          <p:nvPr/>
        </p:nvSpPr>
        <p:spPr>
          <a:xfrm>
            <a:off x="10601325" y="6120765"/>
            <a:ext cx="400050" cy="1"/>
          </a:xfrm>
          <a:custGeom>
            <a:avLst/>
            <a:gdLst/>
            <a:ahLst/>
            <a:cxnLst/>
            <a:rect l="0" t="0" r="r" b="b"/>
            <a:pathLst>
              <a:path w="400050" h="1" fill="none">
                <a:moveTo>
                  <a:pt x="0" y="0"/>
                </a:moveTo>
                <a:lnTo>
                  <a:pt x="400050" y="0"/>
                </a:lnTo>
              </a:path>
            </a:pathLst>
          </a:custGeom>
          <a:noFill/>
          <a:ln w="11201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text-092: 蓝：AXI 请求 / 返回（F2 仅写，F3 仅读）    绿：GB / 像素流"/>
          <p:cNvSpPr txBox="1"/>
          <p:nvPr/>
        </p:nvSpPr>
        <p:spPr>
          <a:xfrm>
            <a:off x="320040" y="6599865"/>
            <a:ext cx="5312545" cy="179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蓝：AXI 请求 / 返回（F2 仅写，F3 仅读）    绿：GB / 像素流    紫：MMIO 命令 / 状态、缓存维护 / 完成</a:t>
            </a:r>
          </a:p>
        </p:txBody>
      </p:sp>
      <p:sp>
        <p:nvSpPr>
          <p:cNvPr id="93" name="text-093: 软件等待缓存维护与数据可见，再启动搬运或消费结果；虚线框为待扩展维护逻辑，数据连"/>
          <p:cNvSpPr txBox="1"/>
          <p:nvPr/>
        </p:nvSpPr>
        <p:spPr>
          <a:xfrm>
            <a:off x="320040" y="6844215"/>
            <a:ext cx="5005226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软件等待缓存维护与数据可见，再启动搬运或消费结果；虚线框为待扩展维护逻辑，数据连接沿用 v1。</a:t>
            </a:r>
          </a:p>
        </p:txBody>
      </p:sp>
      <p:sp>
        <p:nvSpPr>
          <p:cNvPr id="94" name="mmio"/>
          <p:cNvSpPr/>
          <p:nvPr/>
        </p:nvSpPr>
        <p:spPr>
          <a:xfrm>
            <a:off x="3200400" y="2600325"/>
            <a:ext cx="2480310" cy="220028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text-095: 既有寄存器总线 / MMIO"/>
          <p:cNvSpPr txBox="1"/>
          <p:nvPr/>
        </p:nvSpPr>
        <p:spPr>
          <a:xfrm>
            <a:off x="3809926" y="2633689"/>
            <a:ext cx="1261258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既有寄存器总线 / MMIO</a:t>
            </a:r>
          </a:p>
        </p:txBody>
      </p:sp>
      <p:sp>
        <p:nvSpPr>
          <p:cNvPr id="96" name="maint"/>
          <p:cNvSpPr/>
          <p:nvPr/>
        </p:nvSpPr>
        <p:spPr>
          <a:xfrm>
            <a:off x="3200400" y="2960370"/>
            <a:ext cx="3600450" cy="500062"/>
          </a:xfrm>
          <a:prstGeom prst="rect">
            <a:avLst/>
          </a:prstGeom>
          <a:solidFill>
            <a:srgbClr val="E8DFED"/>
          </a:solidFill>
          <a:ln w="6801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text-097: 缓存维护控制（待扩展）"/>
          <p:cNvSpPr txBox="1"/>
          <p:nvPr/>
        </p:nvSpPr>
        <p:spPr>
          <a:xfrm>
            <a:off x="4352544" y="2997735"/>
            <a:ext cx="1296162" cy="1728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缓存维护控制（待扩展）</a:t>
            </a:r>
          </a:p>
        </p:txBody>
      </p:sp>
      <p:sp>
        <p:nvSpPr>
          <p:cNvPr id="98" name="text-098: 范围寄存器 / 行地址发生"/>
          <p:cNvSpPr txBox="1"/>
          <p:nvPr/>
        </p:nvSpPr>
        <p:spPr>
          <a:xfrm>
            <a:off x="4418834" y="3150714"/>
            <a:ext cx="1163583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范围寄存器 / 行地址发生</a:t>
            </a:r>
          </a:p>
        </p:txBody>
      </p:sp>
      <p:sp>
        <p:nvSpPr>
          <p:cNvPr id="99" name="text-099: 排空与失效状态机 / 完成与错误"/>
          <p:cNvSpPr txBox="1"/>
          <p:nvPr/>
        </p:nvSpPr>
        <p:spPr>
          <a:xfrm>
            <a:off x="4274816" y="3290731"/>
            <a:ext cx="1451619" cy="15361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6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排空与失效状态机 / 完成与错误</a:t>
            </a:r>
          </a:p>
        </p:txBody>
      </p:sp>
      <p:sp>
        <p:nvSpPr>
          <p:cNvPr id="100" name="xbar-mmio"/>
          <p:cNvSpPr/>
          <p:nvPr/>
        </p:nvSpPr>
        <p:spPr>
          <a:xfrm>
            <a:off x="3800475" y="2360295"/>
            <a:ext cx="1" cy="240030"/>
          </a:xfrm>
          <a:custGeom>
            <a:avLst/>
            <a:gdLst/>
            <a:ahLst/>
            <a:cxnLst/>
            <a:rect l="0" t="0" r="r" b="b"/>
            <a:pathLst>
              <a:path w="1" h="240030" fill="none">
                <a:moveTo>
                  <a:pt x="0" y="0"/>
                </a:moveTo>
                <a:lnTo>
                  <a:pt x="0" y="24003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mmio-maint"/>
          <p:cNvSpPr/>
          <p:nvPr/>
        </p:nvSpPr>
        <p:spPr>
          <a:xfrm>
            <a:off x="5000625" y="2820352"/>
            <a:ext cx="1" cy="140018"/>
          </a:xfrm>
          <a:custGeom>
            <a:avLst/>
            <a:gdLst/>
            <a:ahLst/>
            <a:cxnLst/>
            <a:rect l="0" t="0" r="r" b="b"/>
            <a:pathLst>
              <a:path w="1" h="140018" fill="none">
                <a:moveTo>
                  <a:pt x="0" y="0"/>
                </a:moveTo>
                <a:lnTo>
                  <a:pt x="0" y="140018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maint-cpu"/>
          <p:cNvSpPr/>
          <p:nvPr/>
        </p:nvSpPr>
        <p:spPr>
          <a:xfrm>
            <a:off x="160020" y="960120"/>
            <a:ext cx="3040380" cy="2100262"/>
          </a:xfrm>
          <a:custGeom>
            <a:avLst/>
            <a:gdLst/>
            <a:ahLst/>
            <a:cxnLst/>
            <a:rect l="0" t="0" r="r" b="b"/>
            <a:pathLst>
              <a:path w="3040380" h="2100262" fill="none">
                <a:moveTo>
                  <a:pt x="3040380" y="2100262"/>
                </a:moveTo>
                <a:lnTo>
                  <a:pt x="2880360" y="2100262"/>
                </a:lnTo>
                <a:lnTo>
                  <a:pt x="2880360" y="1800225"/>
                </a:lnTo>
                <a:lnTo>
                  <a:pt x="1072134" y="1800225"/>
                </a:lnTo>
                <a:cubicBezTo>
                  <a:pt x="1050798" y="1765554"/>
                  <a:pt x="1029462" y="1765554"/>
                  <a:pt x="1008126" y="1800225"/>
                </a:cubicBezTo>
                <a:lnTo>
                  <a:pt x="0" y="1800225"/>
                </a:lnTo>
                <a:lnTo>
                  <a:pt x="0" y="0"/>
                </a:lnTo>
                <a:lnTo>
                  <a:pt x="160020" y="0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maint-llc"/>
          <p:cNvSpPr/>
          <p:nvPr/>
        </p:nvSpPr>
        <p:spPr>
          <a:xfrm>
            <a:off x="2040255" y="3285744"/>
            <a:ext cx="1160145" cy="34671"/>
          </a:xfrm>
          <a:custGeom>
            <a:avLst/>
            <a:gdLst/>
            <a:ahLst/>
            <a:cxnLst/>
            <a:rect l="0" t="0" r="r" b="b"/>
            <a:pathLst>
              <a:path w="1160145" h="34671" fill="none">
                <a:moveTo>
                  <a:pt x="1160145" y="34671"/>
                </a:moveTo>
                <a:lnTo>
                  <a:pt x="712089" y="34671"/>
                </a:lnTo>
                <a:cubicBezTo>
                  <a:pt x="690753" y="0"/>
                  <a:pt x="669417" y="0"/>
                  <a:pt x="648081" y="34671"/>
                </a:cubicBezTo>
                <a:lnTo>
                  <a:pt x="0" y="34671"/>
                </a:lnTo>
              </a:path>
            </a:pathLst>
          </a:custGeom>
          <a:noFill/>
          <a:ln w="11201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软件交接、硬件维护：一次推理的数据生命周期"/>
          <p:cNvSpPr txBox="1"/>
          <p:nvPr/>
        </p:nvSpPr>
        <p:spPr>
          <a:xfrm>
            <a:off x="266700" y="80650"/>
            <a:ext cx="4224528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软件交接、硬件维护：一次推理的数据生命周期</a:t>
            </a:r>
          </a:p>
        </p:txBody>
      </p:sp>
      <p:sp>
        <p:nvSpPr>
          <p:cNvPr id="3" name="text-003: 按缓冲区或计算分块同步；交接范围由软件保持所有权，CPU 可并行处理其他缓冲区。"/>
          <p:cNvSpPr txBox="1"/>
          <p:nvPr/>
        </p:nvSpPr>
        <p:spPr>
          <a:xfrm>
            <a:off x="266700" y="373807"/>
            <a:ext cx="50077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按缓冲区或计算分块同步；交接范围由软件保持所有权，CPU 可并行处理其他缓冲区。</a:t>
            </a:r>
          </a:p>
        </p:txBody>
      </p:sp>
      <p:sp>
        <p:nvSpPr>
          <p:cNvPr id="4" name="panel0"/>
          <p:cNvSpPr/>
          <p:nvPr/>
        </p:nvSpPr>
        <p:spPr>
          <a:xfrm>
            <a:off x="186690" y="74676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① 提交前：软件交出 DDR 输入与输出范围"/>
          <p:cNvSpPr txBox="1"/>
          <p:nvPr/>
        </p:nvSpPr>
        <p:spPr>
          <a:xfrm>
            <a:off x="320040" y="824636"/>
            <a:ext cx="3174297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提交前：软件交出 DDR 输入与输出范围</a:t>
            </a:r>
          </a:p>
        </p:txBody>
      </p:sp>
      <p:sp>
        <p:nvSpPr>
          <p:cNvPr id="6" name="r0b0"/>
          <p:cNvSpPr/>
          <p:nvPr/>
        </p:nvSpPr>
        <p:spPr>
          <a:xfrm>
            <a:off x="32004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软件提交"/>
          <p:cNvSpPr txBox="1"/>
          <p:nvPr/>
        </p:nvSpPr>
        <p:spPr>
          <a:xfrm>
            <a:off x="102679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软件提交</a:t>
            </a:r>
          </a:p>
        </p:txBody>
      </p:sp>
      <p:sp>
        <p:nvSpPr>
          <p:cNvPr id="8" name="text-008: 地址 / 长度 / 方向"/>
          <p:cNvSpPr txBox="1"/>
          <p:nvPr/>
        </p:nvSpPr>
        <p:spPr>
          <a:xfrm>
            <a:off x="795516" y="1493947"/>
            <a:ext cx="118264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地址 / 长度 / 方向</a:t>
            </a:r>
          </a:p>
        </p:txBody>
      </p:sp>
      <p:sp>
        <p:nvSpPr>
          <p:cNvPr id="9" name="text-009: 确认各生产者完成"/>
          <p:cNvSpPr txBox="1"/>
          <p:nvPr/>
        </p:nvSpPr>
        <p:spPr>
          <a:xfrm>
            <a:off x="810768" y="168063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确认各生产者完成</a:t>
            </a:r>
          </a:p>
        </p:txBody>
      </p:sp>
      <p:sp>
        <p:nvSpPr>
          <p:cNvPr id="10" name="r0b1"/>
          <p:cNvSpPr/>
          <p:nvPr/>
        </p:nvSpPr>
        <p:spPr>
          <a:xfrm>
            <a:off x="280035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L1D / 写缓冲"/>
          <p:cNvSpPr txBox="1"/>
          <p:nvPr/>
        </p:nvSpPr>
        <p:spPr>
          <a:xfrm>
            <a:off x="3371871" y="1289975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12" name="text-012: 排空相关旧写"/>
          <p:cNvSpPr txBox="1"/>
          <p:nvPr/>
        </p:nvSpPr>
        <p:spPr>
          <a:xfrm>
            <a:off x="341909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排空相关旧写</a:t>
            </a:r>
          </a:p>
        </p:txBody>
      </p:sp>
      <p:sp>
        <p:nvSpPr>
          <p:cNvPr id="13" name="text-013: FENCE 推进到 LLC"/>
          <p:cNvSpPr txBox="1"/>
          <p:nvPr/>
        </p:nvSpPr>
        <p:spPr>
          <a:xfrm>
            <a:off x="3284952" y="1680637"/>
            <a:ext cx="116439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FENCE 推进到 LLC</a:t>
            </a:r>
          </a:p>
        </p:txBody>
      </p:sp>
      <p:sp>
        <p:nvSpPr>
          <p:cNvPr id="14" name="r0e1"/>
          <p:cNvSpPr/>
          <p:nvPr/>
        </p:nvSpPr>
        <p:spPr>
          <a:xfrm>
            <a:off x="245364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0b2"/>
          <p:cNvSpPr/>
          <p:nvPr/>
        </p:nvSpPr>
        <p:spPr>
          <a:xfrm>
            <a:off x="528066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LLC 全量 flush"/>
          <p:cNvSpPr txBox="1"/>
          <p:nvPr/>
        </p:nvSpPr>
        <p:spPr>
          <a:xfrm>
            <a:off x="5817794" y="1289975"/>
            <a:ext cx="105933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全量 flush</a:t>
            </a:r>
          </a:p>
        </p:txBody>
      </p:sp>
      <p:sp>
        <p:nvSpPr>
          <p:cNvPr id="17" name="text-017: 输入 / 输出旧写一起保存"/>
          <p:cNvSpPr txBox="1"/>
          <p:nvPr/>
        </p:nvSpPr>
        <p:spPr>
          <a:xfrm>
            <a:off x="5571738" y="1493947"/>
            <a:ext cx="15514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输入 / 输出旧写一起保存</a:t>
            </a:r>
          </a:p>
        </p:txBody>
      </p:sp>
      <p:sp>
        <p:nvSpPr>
          <p:cNvPr id="18" name="text-018: 写回并失效，等待结束"/>
          <p:cNvSpPr txBox="1"/>
          <p:nvPr/>
        </p:nvSpPr>
        <p:spPr>
          <a:xfrm>
            <a:off x="5643372" y="1680637"/>
            <a:ext cx="1408176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写回并失效，等待结束</a:t>
            </a:r>
          </a:p>
        </p:txBody>
      </p:sp>
      <p:sp>
        <p:nvSpPr>
          <p:cNvPr id="19" name="r0e2"/>
          <p:cNvSpPr/>
          <p:nvPr/>
        </p:nvSpPr>
        <p:spPr>
          <a:xfrm>
            <a:off x="493395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0b3"/>
          <p:cNvSpPr/>
          <p:nvPr/>
        </p:nvSpPr>
        <p:spPr>
          <a:xfrm>
            <a:off x="776097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前端 / DDR 共享点"/>
          <p:cNvSpPr txBox="1"/>
          <p:nvPr/>
        </p:nvSpPr>
        <p:spPr>
          <a:xfrm>
            <a:off x="8154011" y="1289975"/>
            <a:ext cx="134751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 / DDR 共享点</a:t>
            </a:r>
          </a:p>
        </p:txBody>
      </p:sp>
      <p:sp>
        <p:nvSpPr>
          <p:cNvPr id="22" name="text-022: 数据 / 元数据跨口可见"/>
          <p:cNvSpPr txBox="1"/>
          <p:nvPr/>
        </p:nvSpPr>
        <p:spPr>
          <a:xfrm>
            <a:off x="8116056" y="1493947"/>
            <a:ext cx="14234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 / 元数据跨口可见</a:t>
            </a:r>
          </a:p>
        </p:txBody>
      </p:sp>
      <p:sp>
        <p:nvSpPr>
          <p:cNvPr id="23" name="text-023: 软件核对响应与错误"/>
          <p:cNvSpPr txBox="1"/>
          <p:nvPr/>
        </p:nvSpPr>
        <p:spPr>
          <a:xfrm>
            <a:off x="8187690" y="168063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软件核对响应与错误</a:t>
            </a:r>
          </a:p>
        </p:txBody>
      </p:sp>
      <p:sp>
        <p:nvSpPr>
          <p:cNvPr id="24" name="r0e3"/>
          <p:cNvSpPr/>
          <p:nvPr/>
        </p:nvSpPr>
        <p:spPr>
          <a:xfrm>
            <a:off x="741426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0b4"/>
          <p:cNvSpPr/>
          <p:nvPr/>
        </p:nvSpPr>
        <p:spPr>
          <a:xfrm>
            <a:off x="10241280" y="1200150"/>
            <a:ext cx="2133600" cy="7467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允许启动"/>
          <p:cNvSpPr txBox="1"/>
          <p:nvPr/>
        </p:nvSpPr>
        <p:spPr>
          <a:xfrm>
            <a:off x="10948035" y="128997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允许启动</a:t>
            </a:r>
          </a:p>
        </p:txBody>
      </p:sp>
      <p:sp>
        <p:nvSpPr>
          <p:cNvPr id="27" name="text-027: 返回维护完成"/>
          <p:cNvSpPr txBox="1"/>
          <p:nvPr/>
        </p:nvSpPr>
        <p:spPr>
          <a:xfrm>
            <a:off x="10860024" y="149394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返回维护完成</a:t>
            </a:r>
          </a:p>
        </p:txBody>
      </p:sp>
      <p:sp>
        <p:nvSpPr>
          <p:cNvPr id="28" name="text-028: 软件发布 DMA 任务"/>
          <p:cNvSpPr txBox="1"/>
          <p:nvPr/>
        </p:nvSpPr>
        <p:spPr>
          <a:xfrm>
            <a:off x="10691190" y="1680637"/>
            <a:ext cx="123377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软件发布 DMA 任务</a:t>
            </a:r>
          </a:p>
        </p:txBody>
      </p:sp>
      <p:sp>
        <p:nvSpPr>
          <p:cNvPr id="29" name="r0e4"/>
          <p:cNvSpPr/>
          <p:nvPr/>
        </p:nvSpPr>
        <p:spPr>
          <a:xfrm>
            <a:off x="9894570" y="157353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L1D 干净副本可保留；一次全量写回保护输出未覆盖字节，此后保持范围使用约定。"/>
          <p:cNvSpPr txBox="1"/>
          <p:nvPr/>
        </p:nvSpPr>
        <p:spPr>
          <a:xfrm>
            <a:off x="346710" y="2063831"/>
            <a:ext cx="52781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干净副本可保留；一次全量写回保护输出未覆盖字节，此后保持范围使用约定。</a:t>
            </a:r>
          </a:p>
        </p:txBody>
      </p:sp>
      <p:sp>
        <p:nvSpPr>
          <p:cNvPr id="31" name="next0"/>
          <p:cNvSpPr/>
          <p:nvPr/>
        </p:nvSpPr>
        <p:spPr>
          <a:xfrm>
            <a:off x="240030" y="157353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anel1"/>
          <p:cNvSpPr/>
          <p:nvPr/>
        </p:nvSpPr>
        <p:spPr>
          <a:xfrm>
            <a:off x="186690" y="272034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② 设备持有期间：DDR 与 GB 显式搬运"/>
          <p:cNvSpPr txBox="1"/>
          <p:nvPr/>
        </p:nvSpPr>
        <p:spPr>
          <a:xfrm>
            <a:off x="320040" y="2798216"/>
            <a:ext cx="2946768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设备持有期间：DDR 与 GB 显式搬运</a:t>
            </a:r>
          </a:p>
        </p:txBody>
      </p:sp>
      <p:sp>
        <p:nvSpPr>
          <p:cNvPr id="34" name="r1b0"/>
          <p:cNvSpPr/>
          <p:nvPr/>
        </p:nvSpPr>
        <p:spPr>
          <a:xfrm>
            <a:off x="32004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DDR → GB"/>
          <p:cNvSpPr txBox="1"/>
          <p:nvPr/>
        </p:nvSpPr>
        <p:spPr>
          <a:xfrm>
            <a:off x="96806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</a:t>
            </a:r>
          </a:p>
        </p:txBody>
      </p:sp>
      <p:sp>
        <p:nvSpPr>
          <p:cNvPr id="36" name="text-036: 搬运器读取输入"/>
          <p:cNvSpPr txBox="1"/>
          <p:nvPr/>
        </p:nvSpPr>
        <p:spPr>
          <a:xfrm>
            <a:off x="87477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搬运器读取输入</a:t>
            </a:r>
          </a:p>
        </p:txBody>
      </p:sp>
      <p:sp>
        <p:nvSpPr>
          <p:cNvPr id="37" name="text-037: 经共享数据代理写 GB"/>
          <p:cNvSpPr txBox="1"/>
          <p:nvPr/>
        </p:nvSpPr>
        <p:spPr>
          <a:xfrm>
            <a:off x="709755" y="3654217"/>
            <a:ext cx="1354169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经共享数据代理写 GB</a:t>
            </a:r>
          </a:p>
        </p:txBody>
      </p:sp>
      <p:sp>
        <p:nvSpPr>
          <p:cNvPr id="38" name="r1b1"/>
          <p:cNvSpPr/>
          <p:nvPr/>
        </p:nvSpPr>
        <p:spPr>
          <a:xfrm>
            <a:off x="280035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GB ready"/>
          <p:cNvSpPr txBox="1"/>
          <p:nvPr/>
        </p:nvSpPr>
        <p:spPr>
          <a:xfrm>
            <a:off x="3511814" y="3263555"/>
            <a:ext cx="71067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ready</a:t>
            </a:r>
          </a:p>
        </p:txBody>
      </p:sp>
      <p:sp>
        <p:nvSpPr>
          <p:cNvPr id="40" name="text-040: 数据完整后交给"/>
          <p:cNvSpPr txBox="1"/>
          <p:nvPr/>
        </p:nvSpPr>
        <p:spPr>
          <a:xfrm>
            <a:off x="3355086" y="346752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数据完整后交给</a:t>
            </a:r>
          </a:p>
        </p:txBody>
      </p:sp>
      <p:sp>
        <p:nvSpPr>
          <p:cNvPr id="41" name="text-041: NPU / Ara 消费"/>
          <p:cNvSpPr txBox="1"/>
          <p:nvPr/>
        </p:nvSpPr>
        <p:spPr>
          <a:xfrm>
            <a:off x="3374588" y="3654217"/>
            <a:ext cx="985123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NPU / Ara 消费</a:t>
            </a:r>
          </a:p>
        </p:txBody>
      </p:sp>
      <p:sp>
        <p:nvSpPr>
          <p:cNvPr id="42" name="r1e1"/>
          <p:cNvSpPr/>
          <p:nvPr/>
        </p:nvSpPr>
        <p:spPr>
          <a:xfrm>
            <a:off x="245364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1b2"/>
          <p:cNvSpPr/>
          <p:nvPr/>
        </p:nvSpPr>
        <p:spPr>
          <a:xfrm>
            <a:off x="528066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计算与分块复用"/>
          <p:cNvSpPr txBox="1"/>
          <p:nvPr/>
        </p:nvSpPr>
        <p:spPr>
          <a:xfrm>
            <a:off x="5771388" y="3263555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计算与分块复用</a:t>
            </a:r>
          </a:p>
        </p:txBody>
      </p:sp>
      <p:sp>
        <p:nvSpPr>
          <p:cNvPr id="45" name="text-045: 独立 SRAM 保存"/>
          <p:cNvSpPr txBox="1"/>
          <p:nvPr/>
        </p:nvSpPr>
        <p:spPr>
          <a:xfrm>
            <a:off x="5821519" y="3467527"/>
            <a:ext cx="105188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 保存</a:t>
            </a:r>
          </a:p>
        </p:txBody>
      </p:sp>
      <p:sp>
        <p:nvSpPr>
          <p:cNvPr id="46" name="text-046: 当前任务的数据"/>
          <p:cNvSpPr txBox="1"/>
          <p:nvPr/>
        </p:nvSpPr>
        <p:spPr>
          <a:xfrm>
            <a:off x="5835396" y="365421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当前任务的数据</a:t>
            </a:r>
          </a:p>
        </p:txBody>
      </p:sp>
      <p:sp>
        <p:nvSpPr>
          <p:cNvPr id="47" name="r1e2"/>
          <p:cNvSpPr/>
          <p:nvPr/>
        </p:nvSpPr>
        <p:spPr>
          <a:xfrm>
            <a:off x="493395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1b3"/>
          <p:cNvSpPr/>
          <p:nvPr/>
        </p:nvSpPr>
        <p:spPr>
          <a:xfrm>
            <a:off x="776097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GB → DDR"/>
          <p:cNvSpPr txBox="1"/>
          <p:nvPr/>
        </p:nvSpPr>
        <p:spPr>
          <a:xfrm>
            <a:off x="8408997" y="3263555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50" name="text-050: 共享代理 → 搬运器"/>
          <p:cNvSpPr txBox="1"/>
          <p:nvPr/>
        </p:nvSpPr>
        <p:spPr>
          <a:xfrm>
            <a:off x="8213318" y="3467527"/>
            <a:ext cx="122890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共享代理 → 搬运器</a:t>
            </a:r>
          </a:p>
        </p:txBody>
      </p:sp>
      <p:sp>
        <p:nvSpPr>
          <p:cNvPr id="51" name="text-051: 按 WSTRB 更新输出"/>
          <p:cNvSpPr txBox="1"/>
          <p:nvPr/>
        </p:nvSpPr>
        <p:spPr>
          <a:xfrm>
            <a:off x="8202004" y="3654217"/>
            <a:ext cx="125153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按 WSTRB 更新输出</a:t>
            </a:r>
          </a:p>
        </p:txBody>
      </p:sp>
      <p:sp>
        <p:nvSpPr>
          <p:cNvPr id="52" name="r1e3"/>
          <p:cNvSpPr/>
          <p:nvPr/>
        </p:nvSpPr>
        <p:spPr>
          <a:xfrm>
            <a:off x="741426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1b4"/>
          <p:cNvSpPr/>
          <p:nvPr/>
        </p:nvSpPr>
        <p:spPr>
          <a:xfrm>
            <a:off x="10241280" y="3173730"/>
            <a:ext cx="2133600" cy="74676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设备完成"/>
          <p:cNvSpPr txBox="1"/>
          <p:nvPr/>
        </p:nvSpPr>
        <p:spPr>
          <a:xfrm>
            <a:off x="10948035" y="3263555"/>
            <a:ext cx="720090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设备完成</a:t>
            </a:r>
          </a:p>
        </p:txBody>
      </p:sp>
      <p:sp>
        <p:nvSpPr>
          <p:cNvPr id="55" name="text-055: 前端发布 / 跨口可见"/>
          <p:cNvSpPr txBox="1"/>
          <p:nvPr/>
        </p:nvSpPr>
        <p:spPr>
          <a:xfrm>
            <a:off x="10660374" y="3467527"/>
            <a:ext cx="12954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前端发布 / 跨口可见</a:t>
            </a:r>
          </a:p>
        </p:txBody>
      </p:sp>
      <p:sp>
        <p:nvSpPr>
          <p:cNvPr id="56" name="text-056: 返回任务身份与状态"/>
          <p:cNvSpPr txBox="1"/>
          <p:nvPr/>
        </p:nvSpPr>
        <p:spPr>
          <a:xfrm>
            <a:off x="10668000" y="365421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返回任务身份与状态</a:t>
            </a:r>
          </a:p>
        </p:txBody>
      </p:sp>
      <p:sp>
        <p:nvSpPr>
          <p:cNvPr id="57" name="r1e4"/>
          <p:cNvSpPr/>
          <p:nvPr/>
        </p:nvSpPr>
        <p:spPr>
          <a:xfrm>
            <a:off x="9894570" y="354711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CPU / Ara 的 DDR 冲突访问由任务协议限制；GB 内部交接由其独立的"/>
          <p:cNvSpPr txBox="1"/>
          <p:nvPr/>
        </p:nvSpPr>
        <p:spPr>
          <a:xfrm>
            <a:off x="346710" y="4037411"/>
            <a:ext cx="5376880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/ Ara 的 DDR 冲突访问由任务协议限制；GB 内部交接由其独立的分块调度负责。</a:t>
            </a:r>
          </a:p>
        </p:txBody>
      </p:sp>
      <p:sp>
        <p:nvSpPr>
          <p:cNvPr id="59" name="next1"/>
          <p:cNvSpPr/>
          <p:nvPr/>
        </p:nvSpPr>
        <p:spPr>
          <a:xfrm>
            <a:off x="240030" y="3547110"/>
            <a:ext cx="12268200" cy="1973580"/>
          </a:xfrm>
          <a:custGeom>
            <a:avLst/>
            <a:gdLst/>
            <a:ahLst/>
            <a:cxnLst/>
            <a:rect l="0" t="0" r="r" b="b"/>
            <a:pathLst>
              <a:path w="12268200" h="1973580" fill="none">
                <a:moveTo>
                  <a:pt x="12134850" y="0"/>
                </a:moveTo>
                <a:lnTo>
                  <a:pt x="12268200" y="0"/>
                </a:lnTo>
                <a:lnTo>
                  <a:pt x="12268200" y="986790"/>
                </a:lnTo>
                <a:lnTo>
                  <a:pt x="0" y="986790"/>
                </a:lnTo>
                <a:lnTo>
                  <a:pt x="0" y="1973580"/>
                </a:lnTo>
                <a:lnTo>
                  <a:pt x="80010" y="197358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panel2"/>
          <p:cNvSpPr/>
          <p:nvPr/>
        </p:nvSpPr>
        <p:spPr>
          <a:xfrm>
            <a:off x="186690" y="4693920"/>
            <a:ext cx="12428220" cy="1653540"/>
          </a:xfrm>
          <a:prstGeom prst="rect">
            <a:avLst/>
          </a:prstGeom>
          <a:solidFill>
            <a:srgbClr val="F7F9FA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③ 消费前：硬件清除旧读副本，软件收回输出"/>
          <p:cNvSpPr txBox="1"/>
          <p:nvPr/>
        </p:nvSpPr>
        <p:spPr>
          <a:xfrm>
            <a:off x="320040" y="4771796"/>
            <a:ext cx="340839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消费前：硬件清除旧读副本，软件收回输出</a:t>
            </a:r>
          </a:p>
        </p:txBody>
      </p:sp>
      <p:sp>
        <p:nvSpPr>
          <p:cNvPr id="62" name="r2b0"/>
          <p:cNvSpPr/>
          <p:nvPr/>
        </p:nvSpPr>
        <p:spPr>
          <a:xfrm>
            <a:off x="32004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软件等待完成"/>
          <p:cNvSpPr txBox="1"/>
          <p:nvPr/>
        </p:nvSpPr>
        <p:spPr>
          <a:xfrm>
            <a:off x="882777" y="5237135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软件等待完成</a:t>
            </a:r>
          </a:p>
        </p:txBody>
      </p:sp>
      <p:sp>
        <p:nvSpPr>
          <p:cNvPr id="64" name="text-064: 核对任务与错误"/>
          <p:cNvSpPr txBox="1"/>
          <p:nvPr/>
        </p:nvSpPr>
        <p:spPr>
          <a:xfrm>
            <a:off x="87477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核对任务与错误</a:t>
            </a:r>
          </a:p>
        </p:txBody>
      </p:sp>
      <p:sp>
        <p:nvSpPr>
          <p:cNvPr id="65" name="text-065: MMIO 提交输出范围"/>
          <p:cNvSpPr txBox="1"/>
          <p:nvPr/>
        </p:nvSpPr>
        <p:spPr>
          <a:xfrm>
            <a:off x="755886" y="5627797"/>
            <a:ext cx="126190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MMIO 提交输出范围</a:t>
            </a:r>
          </a:p>
        </p:txBody>
      </p:sp>
      <p:sp>
        <p:nvSpPr>
          <p:cNvPr id="66" name="r2b1"/>
          <p:cNvSpPr/>
          <p:nvPr/>
        </p:nvSpPr>
        <p:spPr>
          <a:xfrm>
            <a:off x="280035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处理旧回填"/>
          <p:cNvSpPr txBox="1"/>
          <p:nvPr/>
        </p:nvSpPr>
        <p:spPr>
          <a:xfrm>
            <a:off x="343509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处理旧回填</a:t>
            </a:r>
          </a:p>
        </p:txBody>
      </p:sp>
      <p:sp>
        <p:nvSpPr>
          <p:cNvPr id="68" name="text-068: 排空相关旧响应"/>
          <p:cNvSpPr txBox="1"/>
          <p:nvPr/>
        </p:nvSpPr>
        <p:spPr>
          <a:xfrm>
            <a:off x="3355086" y="5441107"/>
            <a:ext cx="1024128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排空相关旧响应</a:t>
            </a:r>
          </a:p>
        </p:txBody>
      </p:sp>
      <p:sp>
        <p:nvSpPr>
          <p:cNvPr id="69" name="text-069: 保护失效过程"/>
          <p:cNvSpPr txBox="1"/>
          <p:nvPr/>
        </p:nvSpPr>
        <p:spPr>
          <a:xfrm>
            <a:off x="3419094" y="5627797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保护失效过程</a:t>
            </a:r>
          </a:p>
        </p:txBody>
      </p:sp>
      <p:sp>
        <p:nvSpPr>
          <p:cNvPr id="70" name="r2e1"/>
          <p:cNvSpPr/>
          <p:nvPr/>
        </p:nvSpPr>
        <p:spPr>
          <a:xfrm>
            <a:off x="245364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2b2"/>
          <p:cNvSpPr/>
          <p:nvPr/>
        </p:nvSpPr>
        <p:spPr>
          <a:xfrm>
            <a:off x="528066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LLC → L1D"/>
          <p:cNvSpPr txBox="1"/>
          <p:nvPr/>
        </p:nvSpPr>
        <p:spPr>
          <a:xfrm>
            <a:off x="5917019" y="5237135"/>
            <a:ext cx="86088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→ L1D</a:t>
            </a:r>
          </a:p>
        </p:txBody>
      </p:sp>
      <p:sp>
        <p:nvSpPr>
          <p:cNvPr id="73" name="text-073: 输出 invalidate"/>
          <p:cNvSpPr txBox="1"/>
          <p:nvPr/>
        </p:nvSpPr>
        <p:spPr>
          <a:xfrm>
            <a:off x="5869213" y="5441107"/>
            <a:ext cx="956495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 invalidate</a:t>
            </a:r>
          </a:p>
        </p:txBody>
      </p:sp>
      <p:sp>
        <p:nvSpPr>
          <p:cNvPr id="74" name="text-074: 收齐实际完成确认"/>
          <p:cNvSpPr txBox="1"/>
          <p:nvPr/>
        </p:nvSpPr>
        <p:spPr>
          <a:xfrm>
            <a:off x="5771388" y="5627797"/>
            <a:ext cx="1152144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收齐实际完成确认</a:t>
            </a:r>
          </a:p>
        </p:txBody>
      </p:sp>
      <p:sp>
        <p:nvSpPr>
          <p:cNvPr id="75" name="r2e2"/>
          <p:cNvSpPr/>
          <p:nvPr/>
        </p:nvSpPr>
        <p:spPr>
          <a:xfrm>
            <a:off x="493395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2b3"/>
          <p:cNvSpPr/>
          <p:nvPr/>
        </p:nvSpPr>
        <p:spPr>
          <a:xfrm>
            <a:off x="776097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交还所有权"/>
          <p:cNvSpPr txBox="1"/>
          <p:nvPr/>
        </p:nvSpPr>
        <p:spPr>
          <a:xfrm>
            <a:off x="8395716" y="5237135"/>
            <a:ext cx="86410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交还所有权</a:t>
            </a:r>
          </a:p>
        </p:txBody>
      </p:sp>
      <p:sp>
        <p:nvSpPr>
          <p:cNvPr id="78" name="text-078: 建立完成到读取顺序"/>
          <p:cNvSpPr txBox="1"/>
          <p:nvPr/>
        </p:nvSpPr>
        <p:spPr>
          <a:xfrm>
            <a:off x="8187690" y="544110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建立完成到读取顺序</a:t>
            </a:r>
          </a:p>
        </p:txBody>
      </p:sp>
      <p:sp>
        <p:nvSpPr>
          <p:cNvPr id="79" name="text-079: 输出可由 CPU 访问"/>
          <p:cNvSpPr txBox="1"/>
          <p:nvPr/>
        </p:nvSpPr>
        <p:spPr>
          <a:xfrm>
            <a:off x="8224945" y="5627797"/>
            <a:ext cx="120565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输出可由 CPU 访问</a:t>
            </a:r>
          </a:p>
        </p:txBody>
      </p:sp>
      <p:sp>
        <p:nvSpPr>
          <p:cNvPr id="80" name="r2e3"/>
          <p:cNvSpPr/>
          <p:nvPr/>
        </p:nvSpPr>
        <p:spPr>
          <a:xfrm>
            <a:off x="741426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2b4"/>
          <p:cNvSpPr/>
          <p:nvPr/>
        </p:nvSpPr>
        <p:spPr>
          <a:xfrm>
            <a:off x="10241280" y="5147310"/>
            <a:ext cx="2133600" cy="7467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消费 / 复用"/>
          <p:cNvSpPr txBox="1"/>
          <p:nvPr/>
        </p:nvSpPr>
        <p:spPr>
          <a:xfrm>
            <a:off x="10867442" y="5237135"/>
            <a:ext cx="88127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消费 / 复用</a:t>
            </a:r>
          </a:p>
        </p:txBody>
      </p:sp>
      <p:sp>
        <p:nvSpPr>
          <p:cNvPr id="83" name="text-083: CPU 重新加载结果"/>
          <p:cNvSpPr txBox="1"/>
          <p:nvPr/>
        </p:nvSpPr>
        <p:spPr>
          <a:xfrm>
            <a:off x="10724445" y="5441107"/>
            <a:ext cx="116727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重新加载结果</a:t>
            </a:r>
          </a:p>
        </p:txBody>
      </p:sp>
      <p:sp>
        <p:nvSpPr>
          <p:cNvPr id="84" name="text-084: 最后消费者释放缓冲"/>
          <p:cNvSpPr txBox="1"/>
          <p:nvPr/>
        </p:nvSpPr>
        <p:spPr>
          <a:xfrm>
            <a:off x="10668000" y="5627797"/>
            <a:ext cx="128016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最后消费者释放缓冲</a:t>
            </a:r>
          </a:p>
        </p:txBody>
      </p:sp>
      <p:sp>
        <p:nvSpPr>
          <p:cNvPr id="85" name="r2e4"/>
          <p:cNvSpPr/>
          <p:nvPr/>
        </p:nvSpPr>
        <p:spPr>
          <a:xfrm>
            <a:off x="9894570" y="5520690"/>
            <a:ext cx="346710" cy="1"/>
          </a:xfrm>
          <a:custGeom>
            <a:avLst/>
            <a:gdLst/>
            <a:ahLst/>
            <a:cxnLst/>
            <a:rect l="0" t="0" r="r" b="b"/>
            <a:pathLst>
              <a:path w="346710" h="1" fill="none">
                <a:moveTo>
                  <a:pt x="0" y="0"/>
                </a:moveTo>
                <a:lnTo>
                  <a:pt x="34671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超时或写错误时保留缓冲区；确认迟到事务排空或受控恢复完成后，再允许复用。"/>
          <p:cNvSpPr txBox="1"/>
          <p:nvPr/>
        </p:nvSpPr>
        <p:spPr>
          <a:xfrm>
            <a:off x="346710" y="6010991"/>
            <a:ext cx="5131308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超时或写错误时保留缓冲区；确认迟到事务排空或受控恢复完成后，再允许复用。</a:t>
            </a:r>
          </a:p>
        </p:txBody>
      </p:sp>
      <p:sp>
        <p:nvSpPr>
          <p:cNvPr id="87" name="text-087: 紫：软件排序与缓存完成依赖    绿：搬运与计算    首版全量写回，写后按输出"/>
          <p:cNvSpPr txBox="1"/>
          <p:nvPr/>
        </p:nvSpPr>
        <p:spPr>
          <a:xfrm>
            <a:off x="293370" y="6565301"/>
            <a:ext cx="567410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紫：软件排序与缓存完成依赖    绿：搬运与计算    首版全量写回，写后按输出范围失效</a:t>
            </a:r>
          </a:p>
        </p:txBody>
      </p:sp>
      <p:sp>
        <p:nvSpPr>
          <p:cNvPr id="88" name="text-088: 仅整模型前后交接时，同步集中在推理两端；CPU 与设备交替处理分块时，同步放在实"/>
          <p:cNvSpPr txBox="1"/>
          <p:nvPr/>
        </p:nvSpPr>
        <p:spPr>
          <a:xfrm>
            <a:off x="293370" y="6832001"/>
            <a:ext cx="635381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仅整模型前后交接时，同步集中在推理两端；CPU 与设备交替处理分块时，同步放在实际交接点。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经 DDR 与缓存直供：数据路径和代价"/>
          <p:cNvSpPr txBox="1"/>
          <p:nvPr/>
        </p:nvSpPr>
        <p:spPr>
          <a:xfrm>
            <a:off x="266700" y="80650"/>
            <a:ext cx="3367563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 DDR 与缓存直供：数据路径和代价</a:t>
            </a:r>
          </a:p>
        </p:txBody>
      </p:sp>
      <p:sp>
        <p:nvSpPr>
          <p:cNvPr id="3" name="text-003: 比较场景：CPU 的最新数据在 LLC 脏行中，DMA 将该行搬入独立 GB。"/>
          <p:cNvSpPr txBox="1"/>
          <p:nvPr/>
        </p:nvSpPr>
        <p:spPr>
          <a:xfrm>
            <a:off x="266700" y="373807"/>
            <a:ext cx="4128891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比较场景：CPU 的最新数据在 LLC 脏行中，DMA 将该行搬入独立 GB。</a:t>
            </a:r>
          </a:p>
        </p:txBody>
      </p:sp>
      <p:sp>
        <p:nvSpPr>
          <p:cNvPr id="4" name="cleanpanel"/>
          <p:cNvSpPr/>
          <p:nvPr/>
        </p:nvSpPr>
        <p:spPr>
          <a:xfrm>
            <a:off x="26670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本方案：经前端清理，再搬运"/>
          <p:cNvSpPr txBox="1"/>
          <p:nvPr/>
        </p:nvSpPr>
        <p:spPr>
          <a:xfrm>
            <a:off x="400050" y="833598"/>
            <a:ext cx="2538984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本方案：经前端清理，再搬运</a:t>
            </a:r>
          </a:p>
        </p:txBody>
      </p:sp>
      <p:sp>
        <p:nvSpPr>
          <p:cNvPr id="6" name="cleanprivate"/>
          <p:cNvSpPr/>
          <p:nvPr/>
        </p:nvSpPr>
        <p:spPr>
          <a:xfrm>
            <a:off x="48006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L1D / 写缓冲"/>
          <p:cNvSpPr txBox="1"/>
          <p:nvPr/>
        </p:nvSpPr>
        <p:spPr>
          <a:xfrm>
            <a:off x="62486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8" name="cleanllc"/>
          <p:cNvSpPr/>
          <p:nvPr/>
        </p:nvSpPr>
        <p:spPr>
          <a:xfrm>
            <a:off x="48006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LLC"/>
          <p:cNvSpPr txBox="1"/>
          <p:nvPr/>
        </p:nvSpPr>
        <p:spPr>
          <a:xfrm>
            <a:off x="93153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0" name="text-010: 持有最新脏行"/>
          <p:cNvSpPr txBox="1"/>
          <p:nvPr/>
        </p:nvSpPr>
        <p:spPr>
          <a:xfrm>
            <a:off x="67208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11" name="cleancoord"/>
          <p:cNvSpPr/>
          <p:nvPr/>
        </p:nvSpPr>
        <p:spPr>
          <a:xfrm>
            <a:off x="240030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-012: 缓存维护与协调"/>
          <p:cNvSpPr txBox="1"/>
          <p:nvPr/>
        </p:nvSpPr>
        <p:spPr>
          <a:xfrm>
            <a:off x="342442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13" name="text-013: 软件交接 / 缓存维护 / 搬运准入与完成"/>
          <p:cNvSpPr txBox="1"/>
          <p:nvPr/>
        </p:nvSpPr>
        <p:spPr>
          <a:xfrm>
            <a:off x="283310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14" name="cleanddr"/>
          <p:cNvSpPr/>
          <p:nvPr/>
        </p:nvSpPr>
        <p:spPr>
          <a:xfrm>
            <a:off x="48006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DDR"/>
          <p:cNvSpPr txBox="1"/>
          <p:nvPr/>
        </p:nvSpPr>
        <p:spPr>
          <a:xfrm>
            <a:off x="90860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16" name="cleandma"/>
          <p:cNvSpPr/>
          <p:nvPr/>
        </p:nvSpPr>
        <p:spPr>
          <a:xfrm>
            <a:off x="240030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搬运器 / DMA"/>
          <p:cNvSpPr txBox="1"/>
          <p:nvPr/>
        </p:nvSpPr>
        <p:spPr>
          <a:xfrm>
            <a:off x="252499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18" name="cleanproxy"/>
          <p:cNvSpPr/>
          <p:nvPr/>
        </p:nvSpPr>
        <p:spPr>
          <a:xfrm>
            <a:off x="432054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共享数据代理"/>
          <p:cNvSpPr txBox="1"/>
          <p:nvPr/>
        </p:nvSpPr>
        <p:spPr>
          <a:xfrm>
            <a:off x="445655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20" name="cleangb"/>
          <p:cNvSpPr/>
          <p:nvPr/>
        </p:nvSpPr>
        <p:spPr>
          <a:xfrm>
            <a:off x="432054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GB"/>
          <p:cNvSpPr txBox="1"/>
          <p:nvPr/>
        </p:nvSpPr>
        <p:spPr>
          <a:xfrm>
            <a:off x="479655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22" name="text-022: 独立 SRAM"/>
          <p:cNvSpPr txBox="1"/>
          <p:nvPr/>
        </p:nvSpPr>
        <p:spPr>
          <a:xfrm>
            <a:off x="458188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23" name="cleanprivate-llc"/>
          <p:cNvSpPr/>
          <p:nvPr/>
        </p:nvSpPr>
        <p:spPr>
          <a:xfrm>
            <a:off x="112014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eanllc-ddr"/>
          <p:cNvSpPr/>
          <p:nvPr/>
        </p:nvSpPr>
        <p:spPr>
          <a:xfrm>
            <a:off x="11201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eanprobe-private"/>
          <p:cNvSpPr/>
          <p:nvPr/>
        </p:nvSpPr>
        <p:spPr>
          <a:xfrm>
            <a:off x="176022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leanprobe-llc"/>
          <p:cNvSpPr/>
          <p:nvPr/>
        </p:nvSpPr>
        <p:spPr>
          <a:xfrm>
            <a:off x="176022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leanadmit"/>
          <p:cNvSpPr/>
          <p:nvPr/>
        </p:nvSpPr>
        <p:spPr>
          <a:xfrm>
            <a:off x="346710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cleanclean-data"/>
          <p:cNvSpPr/>
          <p:nvPr/>
        </p:nvSpPr>
        <p:spPr>
          <a:xfrm>
            <a:off x="144018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cleanddr-data"/>
          <p:cNvSpPr/>
          <p:nvPr/>
        </p:nvSpPr>
        <p:spPr>
          <a:xfrm>
            <a:off x="176022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② clean"/>
          <p:cNvSpPr txBox="1"/>
          <p:nvPr/>
        </p:nvSpPr>
        <p:spPr>
          <a:xfrm>
            <a:off x="1786890" y="3242219"/>
            <a:ext cx="667633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clean</a:t>
            </a:r>
          </a:p>
        </p:txBody>
      </p:sp>
      <p:sp>
        <p:nvSpPr>
          <p:cNvPr id="31" name="text-031: 等待前端 / DDR 可见"/>
          <p:cNvSpPr txBox="1"/>
          <p:nvPr/>
        </p:nvSpPr>
        <p:spPr>
          <a:xfrm>
            <a:off x="1786890" y="3450245"/>
            <a:ext cx="149153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等待前端 / DDR 可见</a:t>
            </a:r>
          </a:p>
        </p:txBody>
      </p:sp>
      <p:sp>
        <p:nvSpPr>
          <p:cNvPr id="32" name="cleandma-proxy"/>
          <p:cNvSpPr/>
          <p:nvPr/>
        </p:nvSpPr>
        <p:spPr>
          <a:xfrm>
            <a:off x="368046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leanproxy-gb"/>
          <p:cNvSpPr/>
          <p:nvPr/>
        </p:nvSpPr>
        <p:spPr>
          <a:xfrm>
            <a:off x="496062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① 交接与缓存维护"/>
          <p:cNvSpPr txBox="1"/>
          <p:nvPr/>
        </p:nvSpPr>
        <p:spPr>
          <a:xfrm>
            <a:off x="373380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35" name="text-035: ③ 写入 GB"/>
          <p:cNvSpPr txBox="1"/>
          <p:nvPr/>
        </p:nvSpPr>
        <p:spPr>
          <a:xfrm>
            <a:off x="512064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36" name="text-036: 经共享前端供数；数据与元数据按逻辑地址发布。"/>
          <p:cNvSpPr txBox="1"/>
          <p:nvPr/>
        </p:nvSpPr>
        <p:spPr>
          <a:xfrm>
            <a:off x="400050" y="4496135"/>
            <a:ext cx="3189732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经共享前端供数；数据与元数据按逻辑地址发布。</a:t>
            </a:r>
          </a:p>
        </p:txBody>
      </p:sp>
      <p:sp>
        <p:nvSpPr>
          <p:cNvPr id="37" name="text-037: 设备不分配 LLC 行；GB 按任务显式管理。"/>
          <p:cNvSpPr txBox="1"/>
          <p:nvPr/>
        </p:nvSpPr>
        <p:spPr>
          <a:xfrm>
            <a:off x="40005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38" name="supplypanel"/>
          <p:cNvSpPr/>
          <p:nvPr/>
        </p:nvSpPr>
        <p:spPr>
          <a:xfrm>
            <a:off x="6560820" y="773430"/>
            <a:ext cx="5974080" cy="4213860"/>
          </a:xfrm>
          <a:prstGeom prst="rect">
            <a:avLst/>
          </a:prstGeom>
          <a:solidFill>
            <a:srgbClr val="FAFBFC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比较项：缓存直供（本方案不采用）"/>
          <p:cNvSpPr txBox="1"/>
          <p:nvPr/>
        </p:nvSpPr>
        <p:spPr>
          <a:xfrm>
            <a:off x="6694170" y="833598"/>
            <a:ext cx="3083052" cy="29017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比较项：缓存直供（本方案不采用）</a:t>
            </a:r>
          </a:p>
        </p:txBody>
      </p:sp>
      <p:sp>
        <p:nvSpPr>
          <p:cNvPr id="40" name="supplyprivate"/>
          <p:cNvSpPr/>
          <p:nvPr/>
        </p:nvSpPr>
        <p:spPr>
          <a:xfrm>
            <a:off x="6774180" y="1573530"/>
            <a:ext cx="1280160" cy="480060"/>
          </a:xfrm>
          <a:prstGeom prst="rect">
            <a:avLst/>
          </a:prstGeom>
          <a:solidFill>
            <a:srgbClr val="F1D7D9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D / 写缓冲"/>
          <p:cNvSpPr txBox="1"/>
          <p:nvPr/>
        </p:nvSpPr>
        <p:spPr>
          <a:xfrm>
            <a:off x="6918981" y="1711361"/>
            <a:ext cx="990557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L1D / 写缓冲</a:t>
            </a:r>
          </a:p>
        </p:txBody>
      </p:sp>
      <p:sp>
        <p:nvSpPr>
          <p:cNvPr id="42" name="supplyllc"/>
          <p:cNvSpPr/>
          <p:nvPr/>
        </p:nvSpPr>
        <p:spPr>
          <a:xfrm>
            <a:off x="6774180" y="2586990"/>
            <a:ext cx="1280160" cy="53340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LC"/>
          <p:cNvSpPr txBox="1"/>
          <p:nvPr/>
        </p:nvSpPr>
        <p:spPr>
          <a:xfrm>
            <a:off x="7225657" y="2660813"/>
            <a:ext cx="37720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4" name="text-044: 持有最新脏行"/>
          <p:cNvSpPr txBox="1"/>
          <p:nvPr/>
        </p:nvSpPr>
        <p:spPr>
          <a:xfrm>
            <a:off x="6966204" y="2864785"/>
            <a:ext cx="89611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持有最新脏行</a:t>
            </a:r>
          </a:p>
        </p:txBody>
      </p:sp>
      <p:sp>
        <p:nvSpPr>
          <p:cNvPr id="45" name="supplycoord"/>
          <p:cNvSpPr/>
          <p:nvPr/>
        </p:nvSpPr>
        <p:spPr>
          <a:xfrm>
            <a:off x="8694420" y="1573530"/>
            <a:ext cx="3200400" cy="480060"/>
          </a:xfrm>
          <a:prstGeom prst="rect">
            <a:avLst/>
          </a:prstGeom>
          <a:solidFill>
            <a:srgbClr val="F5E1C9"/>
          </a:solidFill>
          <a:ln w="9068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缓存维护与协调"/>
          <p:cNvSpPr txBox="1"/>
          <p:nvPr/>
        </p:nvSpPr>
        <p:spPr>
          <a:xfrm>
            <a:off x="9718548" y="1620683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缓存维护与协调</a:t>
            </a:r>
          </a:p>
        </p:txBody>
      </p:sp>
      <p:sp>
        <p:nvSpPr>
          <p:cNvPr id="47" name="text-047: 软件交接 / 缓存维护 / 搬运准入与完成"/>
          <p:cNvSpPr txBox="1"/>
          <p:nvPr/>
        </p:nvSpPr>
        <p:spPr>
          <a:xfrm>
            <a:off x="9127224" y="1824655"/>
            <a:ext cx="2334792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 / 缓存维护 / 搬运准入与完成</a:t>
            </a:r>
          </a:p>
        </p:txBody>
      </p:sp>
      <p:sp>
        <p:nvSpPr>
          <p:cNvPr id="48" name="supplyddr"/>
          <p:cNvSpPr/>
          <p:nvPr/>
        </p:nvSpPr>
        <p:spPr>
          <a:xfrm>
            <a:off x="6774180" y="3867150"/>
            <a:ext cx="128016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DDR"/>
          <p:cNvSpPr txBox="1"/>
          <p:nvPr/>
        </p:nvSpPr>
        <p:spPr>
          <a:xfrm>
            <a:off x="7202729" y="4004981"/>
            <a:ext cx="423061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</a:t>
            </a:r>
          </a:p>
        </p:txBody>
      </p:sp>
      <p:sp>
        <p:nvSpPr>
          <p:cNvPr id="50" name="supplydma"/>
          <p:cNvSpPr/>
          <p:nvPr/>
        </p:nvSpPr>
        <p:spPr>
          <a:xfrm>
            <a:off x="869442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搬运器 / DMA"/>
          <p:cNvSpPr txBox="1"/>
          <p:nvPr/>
        </p:nvSpPr>
        <p:spPr>
          <a:xfrm>
            <a:off x="8819111" y="4004981"/>
            <a:ext cx="103077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搬运器 / DMA</a:t>
            </a:r>
          </a:p>
        </p:txBody>
      </p:sp>
      <p:sp>
        <p:nvSpPr>
          <p:cNvPr id="52" name="supplyproxy"/>
          <p:cNvSpPr/>
          <p:nvPr/>
        </p:nvSpPr>
        <p:spPr>
          <a:xfrm>
            <a:off x="10614660" y="3867150"/>
            <a:ext cx="128016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共享数据代理"/>
          <p:cNvSpPr txBox="1"/>
          <p:nvPr/>
        </p:nvSpPr>
        <p:spPr>
          <a:xfrm>
            <a:off x="10750677" y="400498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共享数据代理</a:t>
            </a:r>
          </a:p>
        </p:txBody>
      </p:sp>
      <p:sp>
        <p:nvSpPr>
          <p:cNvPr id="54" name="supplygb"/>
          <p:cNvSpPr/>
          <p:nvPr/>
        </p:nvSpPr>
        <p:spPr>
          <a:xfrm>
            <a:off x="10614660" y="2586990"/>
            <a:ext cx="1280160" cy="533400"/>
          </a:xfrm>
          <a:prstGeom prst="rect">
            <a:avLst/>
          </a:prstGeom>
          <a:solidFill>
            <a:srgbClr val="D9EEE8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GB"/>
          <p:cNvSpPr txBox="1"/>
          <p:nvPr/>
        </p:nvSpPr>
        <p:spPr>
          <a:xfrm>
            <a:off x="11090678" y="2660813"/>
            <a:ext cx="32812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</a:t>
            </a:r>
          </a:p>
        </p:txBody>
      </p:sp>
      <p:sp>
        <p:nvSpPr>
          <p:cNvPr id="56" name="text-056: 独立 SRAM"/>
          <p:cNvSpPr txBox="1"/>
          <p:nvPr/>
        </p:nvSpPr>
        <p:spPr>
          <a:xfrm>
            <a:off x="10876005" y="2864785"/>
            <a:ext cx="757470" cy="20482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8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 SRAM</a:t>
            </a:r>
          </a:p>
        </p:txBody>
      </p:sp>
      <p:sp>
        <p:nvSpPr>
          <p:cNvPr id="57" name="supplyprivate-llc"/>
          <p:cNvSpPr/>
          <p:nvPr/>
        </p:nvSpPr>
        <p:spPr>
          <a:xfrm>
            <a:off x="7414260" y="2053590"/>
            <a:ext cx="1" cy="533400"/>
          </a:xfrm>
          <a:custGeom>
            <a:avLst/>
            <a:gdLst/>
            <a:ahLst/>
            <a:cxnLst/>
            <a:rect l="0" t="0" r="r" b="b"/>
            <a:pathLst>
              <a:path w="1" h="533400" fill="none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supplyllc-ddr"/>
          <p:cNvSpPr/>
          <p:nvPr/>
        </p:nvSpPr>
        <p:spPr>
          <a:xfrm>
            <a:off x="741426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0"/>
                </a:moveTo>
                <a:lnTo>
                  <a:pt x="0" y="74676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supplyprobe-private"/>
          <p:cNvSpPr/>
          <p:nvPr/>
        </p:nvSpPr>
        <p:spPr>
          <a:xfrm>
            <a:off x="8054340" y="17068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640080" y="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supplyprobe-llc"/>
          <p:cNvSpPr/>
          <p:nvPr/>
        </p:nvSpPr>
        <p:spPr>
          <a:xfrm>
            <a:off x="8054340" y="1920240"/>
            <a:ext cx="640080" cy="853440"/>
          </a:xfrm>
          <a:custGeom>
            <a:avLst/>
            <a:gdLst/>
            <a:ahLst/>
            <a:cxnLst/>
            <a:rect l="0" t="0" r="r" b="b"/>
            <a:pathLst>
              <a:path w="640080" h="853440" fill="none">
                <a:moveTo>
                  <a:pt x="640080" y="0"/>
                </a:moveTo>
                <a:lnTo>
                  <a:pt x="213360" y="0"/>
                </a:lnTo>
                <a:lnTo>
                  <a:pt x="213360" y="853440"/>
                </a:lnTo>
                <a:lnTo>
                  <a:pt x="0" y="85344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supplyadmit"/>
          <p:cNvSpPr/>
          <p:nvPr/>
        </p:nvSpPr>
        <p:spPr>
          <a:xfrm>
            <a:off x="9761220" y="2053590"/>
            <a:ext cx="1" cy="1813560"/>
          </a:xfrm>
          <a:custGeom>
            <a:avLst/>
            <a:gdLst/>
            <a:ahLst/>
            <a:cxnLst/>
            <a:rect l="0" t="0" r="r" b="b"/>
            <a:pathLst>
              <a:path w="1" h="1813560" fill="none">
                <a:moveTo>
                  <a:pt x="0" y="0"/>
                </a:moveTo>
                <a:lnTo>
                  <a:pt x="0" y="1813560"/>
                </a:lnTo>
              </a:path>
            </a:pathLst>
          </a:custGeom>
          <a:noFill/>
          <a:ln w="14935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supplyddr-fallback"/>
          <p:cNvSpPr/>
          <p:nvPr/>
        </p:nvSpPr>
        <p:spPr>
          <a:xfrm>
            <a:off x="8054340" y="424053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supplycache-data"/>
          <p:cNvSpPr/>
          <p:nvPr/>
        </p:nvSpPr>
        <p:spPr>
          <a:xfrm>
            <a:off x="8054340" y="2960370"/>
            <a:ext cx="1280160" cy="906780"/>
          </a:xfrm>
          <a:custGeom>
            <a:avLst/>
            <a:gdLst/>
            <a:ahLst/>
            <a:cxnLst/>
            <a:rect l="0" t="0" r="r" b="b"/>
            <a:pathLst>
              <a:path w="1280160" h="906780" fill="none">
                <a:moveTo>
                  <a:pt x="0" y="0"/>
                </a:moveTo>
                <a:lnTo>
                  <a:pt x="426720" y="0"/>
                </a:lnTo>
                <a:lnTo>
                  <a:pt x="426720" y="586740"/>
                </a:lnTo>
                <a:lnTo>
                  <a:pt x="1280160" y="586740"/>
                </a:lnTo>
                <a:lnTo>
                  <a:pt x="1280160" y="90678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② 最新数据"/>
          <p:cNvSpPr txBox="1"/>
          <p:nvPr/>
        </p:nvSpPr>
        <p:spPr>
          <a:xfrm>
            <a:off x="8587740" y="3210215"/>
            <a:ext cx="907288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② 最新数据</a:t>
            </a:r>
          </a:p>
        </p:txBody>
      </p:sp>
      <p:sp>
        <p:nvSpPr>
          <p:cNvPr id="65" name="text-065: DDR 可暂时保留旧值；由 LLC 提供本次读数据。"/>
          <p:cNvSpPr txBox="1"/>
          <p:nvPr/>
        </p:nvSpPr>
        <p:spPr>
          <a:xfrm>
            <a:off x="6694170" y="4496135"/>
            <a:ext cx="3114314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可暂时保留旧值；由 LLC 提供本次读数据。</a:t>
            </a:r>
          </a:p>
        </p:txBody>
      </p:sp>
      <p:sp>
        <p:nvSpPr>
          <p:cNvPr id="66" name="supplydma-proxy"/>
          <p:cNvSpPr/>
          <p:nvPr/>
        </p:nvSpPr>
        <p:spPr>
          <a:xfrm>
            <a:off x="9974580" y="410718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supplyproxy-gb"/>
          <p:cNvSpPr/>
          <p:nvPr/>
        </p:nvSpPr>
        <p:spPr>
          <a:xfrm>
            <a:off x="11254740" y="312039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4935" cap="flat">
            <a:solidFill>
              <a:srgbClr val="187C78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① 交接与缓存维护"/>
          <p:cNvSpPr txBox="1"/>
          <p:nvPr/>
        </p:nvSpPr>
        <p:spPr>
          <a:xfrm>
            <a:off x="10027920" y="2207423"/>
            <a:ext cx="1339342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765489"/>
                </a:solidFill>
                <a:latin typeface="Microsoft YaHei"/>
                <a:ea typeface="Microsoft YaHei"/>
                <a:cs typeface="Microsoft YaHei"/>
              </a:rPr>
              <a:t>① 交接与缓存维护</a:t>
            </a:r>
          </a:p>
        </p:txBody>
      </p:sp>
      <p:sp>
        <p:nvSpPr>
          <p:cNvPr id="69" name="text-069: ③ 写入 GB"/>
          <p:cNvSpPr txBox="1"/>
          <p:nvPr/>
        </p:nvSpPr>
        <p:spPr>
          <a:xfrm>
            <a:off x="11414760" y="3306227"/>
            <a:ext cx="846539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③ 写入 GB</a:t>
            </a:r>
          </a:p>
        </p:txBody>
      </p:sp>
      <p:sp>
        <p:nvSpPr>
          <p:cNvPr id="70" name="text-070: 设备不分配 LLC 行；GB 按任务显式管理。"/>
          <p:cNvSpPr txBox="1"/>
          <p:nvPr/>
        </p:nvSpPr>
        <p:spPr>
          <a:xfrm>
            <a:off x="6694170" y="4714829"/>
            <a:ext cx="2745526" cy="22189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 行；GB 按任务显式管理。</a:t>
            </a:r>
          </a:p>
        </p:txBody>
      </p:sp>
      <p:sp>
        <p:nvSpPr>
          <p:cNvPr id="71" name="text-071: 本方案的输出交接：先保护旧字节，最后清除旧读副本"/>
          <p:cNvSpPr txBox="1"/>
          <p:nvPr/>
        </p:nvSpPr>
        <p:spPr>
          <a:xfrm>
            <a:off x="293370" y="5128321"/>
            <a:ext cx="42672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本方案的输出交接：先保护旧字节，最后清除旧读副本</a:t>
            </a:r>
          </a:p>
        </p:txBody>
      </p:sp>
      <p:sp>
        <p:nvSpPr>
          <p:cNvPr id="72" name="write0"/>
          <p:cNvSpPr/>
          <p:nvPr/>
        </p:nvSpPr>
        <p:spPr>
          <a:xfrm>
            <a:off x="29337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交接目标范围"/>
          <p:cNvSpPr txBox="1"/>
          <p:nvPr/>
        </p:nvSpPr>
        <p:spPr>
          <a:xfrm>
            <a:off x="86944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交接目标范围</a:t>
            </a:r>
          </a:p>
        </p:txBody>
      </p:sp>
      <p:sp>
        <p:nvSpPr>
          <p:cNvPr id="74" name="write1"/>
          <p:cNvSpPr/>
          <p:nvPr/>
        </p:nvSpPr>
        <p:spPr>
          <a:xfrm>
            <a:off x="277368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写前清理与失效"/>
          <p:cNvSpPr txBox="1"/>
          <p:nvPr/>
        </p:nvSpPr>
        <p:spPr>
          <a:xfrm>
            <a:off x="3277743" y="5685191"/>
            <a:ext cx="1152144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写前清理与失效</a:t>
            </a:r>
          </a:p>
        </p:txBody>
      </p:sp>
      <p:sp>
        <p:nvSpPr>
          <p:cNvPr id="76" name="write-seq1"/>
          <p:cNvSpPr/>
          <p:nvPr/>
        </p:nvSpPr>
        <p:spPr>
          <a:xfrm>
            <a:off x="245364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write2"/>
          <p:cNvSpPr/>
          <p:nvPr/>
        </p:nvSpPr>
        <p:spPr>
          <a:xfrm>
            <a:off x="525399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GB → DDR"/>
          <p:cNvSpPr txBox="1"/>
          <p:nvPr/>
        </p:nvSpPr>
        <p:spPr>
          <a:xfrm>
            <a:off x="5915352" y="5685191"/>
            <a:ext cx="83754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GB → DDR</a:t>
            </a:r>
          </a:p>
        </p:txBody>
      </p:sp>
      <p:sp>
        <p:nvSpPr>
          <p:cNvPr id="79" name="write-seq2"/>
          <p:cNvSpPr/>
          <p:nvPr/>
        </p:nvSpPr>
        <p:spPr>
          <a:xfrm>
            <a:off x="493395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write3"/>
          <p:cNvSpPr/>
          <p:nvPr/>
        </p:nvSpPr>
        <p:spPr>
          <a:xfrm>
            <a:off x="7734300" y="5547360"/>
            <a:ext cx="2160270" cy="480060"/>
          </a:xfrm>
          <a:prstGeom prst="rect">
            <a:avLst/>
          </a:prstGeom>
          <a:solidFill>
            <a:srgbClr val="D8E8F4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text-081: 写后失效确认"/>
          <p:cNvSpPr txBox="1"/>
          <p:nvPr/>
        </p:nvSpPr>
        <p:spPr>
          <a:xfrm>
            <a:off x="8310372" y="5685191"/>
            <a:ext cx="1008126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写后失效确认</a:t>
            </a:r>
          </a:p>
        </p:txBody>
      </p:sp>
      <p:sp>
        <p:nvSpPr>
          <p:cNvPr id="82" name="write-seq3"/>
          <p:cNvSpPr/>
          <p:nvPr/>
        </p:nvSpPr>
        <p:spPr>
          <a:xfrm>
            <a:off x="741426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write4"/>
          <p:cNvSpPr/>
          <p:nvPr/>
        </p:nvSpPr>
        <p:spPr>
          <a:xfrm>
            <a:off x="10214610" y="5547360"/>
            <a:ext cx="2160270" cy="480060"/>
          </a:xfrm>
          <a:prstGeom prst="rect">
            <a:avLst/>
          </a:prstGeom>
          <a:solidFill>
            <a:srgbClr val="E8DFED"/>
          </a:solidFill>
          <a:ln w="9068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text-084: CPU 获取结果"/>
          <p:cNvSpPr txBox="1"/>
          <p:nvPr/>
        </p:nvSpPr>
        <p:spPr>
          <a:xfrm>
            <a:off x="10782173" y="5685191"/>
            <a:ext cx="1025145" cy="23042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4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获取结果</a:t>
            </a:r>
          </a:p>
        </p:txBody>
      </p:sp>
      <p:sp>
        <p:nvSpPr>
          <p:cNvPr id="85" name="write-seq4"/>
          <p:cNvSpPr/>
          <p:nvPr/>
        </p:nvSpPr>
        <p:spPr>
          <a:xfrm>
            <a:off x="9894570" y="5787390"/>
            <a:ext cx="320040" cy="1"/>
          </a:xfrm>
          <a:custGeom>
            <a:avLst/>
            <a:gdLst/>
            <a:ahLst/>
            <a:cxnLst/>
            <a:rect l="0" t="0" r="r" b="b"/>
            <a:pathLst>
              <a:path w="320040" h="1" fill="none">
                <a:moveTo>
                  <a:pt x="0" y="0"/>
                </a:moveTo>
                <a:lnTo>
                  <a:pt x="320040" y="0"/>
                </a:lnTo>
              </a:path>
            </a:pathLst>
          </a:custGeom>
          <a:noFill/>
          <a:ln w="14935" cap="flat">
            <a:solidFill>
              <a:srgbClr val="765489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text-086: N + D 为上游逻辑字节；DDR 实际字节另计压缩、元数据及部分块处理。"/>
          <p:cNvSpPr txBox="1"/>
          <p:nvPr/>
        </p:nvSpPr>
        <p:spPr>
          <a:xfrm>
            <a:off x="293370" y="6185306"/>
            <a:ext cx="5289403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N + D 为上游逻辑字节；DDR 实际字节另计压缩、元数据及部分块处理。</a:t>
            </a:r>
          </a:p>
        </p:txBody>
      </p:sp>
      <p:sp>
        <p:nvSpPr>
          <p:cNvPr id="87" name="text-087: 当前规划采用左侧路径；右侧用于成本比较。软件保持交接范围的所有权，硬件完成维护。"/>
          <p:cNvSpPr txBox="1"/>
          <p:nvPr/>
        </p:nvSpPr>
        <p:spPr>
          <a:xfrm>
            <a:off x="293370" y="6441338"/>
            <a:ext cx="6560820" cy="25603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当前规划采用左侧路径；右侧用于成本比较。软件保持交接范围的所有权，硬件完成维护。</a:t>
            </a:r>
          </a:p>
        </p:txBody>
      </p:sp>
      <p:sp>
        <p:nvSpPr>
          <p:cNvPr id="88" name="text-088: 蓝灰：常规访存 / 后备路径    绿色：本场景的数据    紫色：控制与确认 "/>
          <p:cNvSpPr txBox="1"/>
          <p:nvPr/>
        </p:nvSpPr>
        <p:spPr>
          <a:xfrm>
            <a:off x="293370" y="6790182"/>
            <a:ext cx="6096354" cy="2133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蓝灰：常规访存 / 后备路径    绿色：本场景的数据    紫色：控制与确认    虚线框：待实现的维护职责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交接方式：软件发起，缓存维护由谁执行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① 交接方式：软件发起，缓存维护由谁执行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A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A  软件维护 + 非一致性 DMA"/>
          <p:cNvSpPr txBox="1"/>
          <p:nvPr/>
        </p:nvSpPr>
        <p:spPr>
          <a:xfrm>
            <a:off x="381000" y="1025652"/>
            <a:ext cx="313096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A  软件维护 + 非一致性 DMA</a:t>
            </a:r>
          </a:p>
        </p:txBody>
      </p:sp>
      <p:sp>
        <p:nvSpPr>
          <p:cNvPr id="6" name="text-006: 软件维护全层次；硬件直接访问内存"/>
          <p:cNvSpPr txBox="1"/>
          <p:nvPr/>
        </p:nvSpPr>
        <p:spPr>
          <a:xfrm>
            <a:off x="381000" y="138043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软件维护全层次；硬件直接访问内存</a:t>
            </a:r>
          </a:p>
        </p:txBody>
      </p:sp>
      <p:sp>
        <p:nvSpPr>
          <p:cNvPr id="7" name="A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A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A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A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A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A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A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A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A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A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A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A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普通互连"/>
          <p:cNvSpPr txBox="1"/>
          <p:nvPr/>
        </p:nvSpPr>
        <p:spPr>
          <a:xfrm>
            <a:off x="4171950" y="4315511"/>
            <a:ext cx="10287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普通互连</a:t>
            </a:r>
          </a:p>
        </p:txBody>
      </p:sp>
      <p:sp>
        <p:nvSpPr>
          <p:cNvPr id="29" name="text-029: 软件交接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</a:t>
            </a:r>
          </a:p>
        </p:txBody>
      </p:sp>
      <p:sp>
        <p:nvSpPr>
          <p:cNvPr id="30" name="A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A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A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Asw-llc"/>
          <p:cNvSpPr/>
          <p:nvPr/>
        </p:nvSpPr>
        <p:spPr>
          <a:xfrm>
            <a:off x="2171700" y="2247900"/>
            <a:ext cx="990600" cy="2476500"/>
          </a:xfrm>
          <a:custGeom>
            <a:avLst/>
            <a:gdLst/>
            <a:ahLst/>
            <a:cxnLst/>
            <a:rect l="0" t="0" r="r" b="b"/>
            <a:pathLst>
              <a:path w="990600" h="2476500" fill="none">
                <a:moveTo>
                  <a:pt x="990600" y="0"/>
                </a:moveTo>
                <a:lnTo>
                  <a:pt x="990600" y="2476500"/>
                </a:lnTo>
                <a:lnTo>
                  <a:pt x="0" y="24765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交接前后由软件 clean / invalidate"/>
          <p:cNvSpPr txBox="1"/>
          <p:nvPr/>
        </p:nvSpPr>
        <p:spPr>
          <a:xfrm>
            <a:off x="381000" y="6005779"/>
            <a:ext cx="27913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交接前后由软件 clean / invalidate</a:t>
            </a:r>
          </a:p>
        </p:txBody>
      </p:sp>
      <p:sp>
        <p:nvSpPr>
          <p:cNvPr id="36" name="text-036: 设备直访 DDR；交接区限制冲突访问"/>
          <p:cNvSpPr txBox="1"/>
          <p:nvPr/>
        </p:nvSpPr>
        <p:spPr>
          <a:xfrm>
            <a:off x="381000" y="6249619"/>
            <a:ext cx="3021009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设备直访 DDR；交接区限制冲突访问</a:t>
            </a:r>
          </a:p>
        </p:txBody>
      </p:sp>
      <p:sp>
        <p:nvSpPr>
          <p:cNvPr id="37" name="B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B  软硬件协同范围维护"/>
          <p:cNvSpPr txBox="1"/>
          <p:nvPr/>
        </p:nvSpPr>
        <p:spPr>
          <a:xfrm>
            <a:off x="6705600" y="1025652"/>
            <a:ext cx="2564606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B  软硬件协同范围维护</a:t>
            </a:r>
          </a:p>
        </p:txBody>
      </p:sp>
      <p:sp>
        <p:nvSpPr>
          <p:cNvPr id="39" name="text-039: 软件触发批量维护；传输期保持范围所有权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软件触发批量维护；传输期保持范围所有权</a:t>
            </a:r>
          </a:p>
        </p:txBody>
      </p:sp>
      <p:sp>
        <p:nvSpPr>
          <p:cNvPr id="40" name="B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2" name="B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4" name="text-044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5" name="B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7" name="text-047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8" name="B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50" name="B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2" name="text-052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3" name="B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5" name="B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B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B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B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B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B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维护 / 准入引擎"/>
          <p:cNvSpPr txBox="1"/>
          <p:nvPr/>
        </p:nvSpPr>
        <p:spPr>
          <a:xfrm>
            <a:off x="10175677" y="4315511"/>
            <a:ext cx="1670447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维护 / 准入引擎</a:t>
            </a:r>
          </a:p>
        </p:txBody>
      </p:sp>
      <p:sp>
        <p:nvSpPr>
          <p:cNvPr id="62" name="text-062: 搬运边界"/>
          <p:cNvSpPr txBox="1"/>
          <p:nvPr/>
        </p:nvSpPr>
        <p:spPr>
          <a:xfrm>
            <a:off x="105537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搬运边界</a:t>
            </a:r>
          </a:p>
        </p:txBody>
      </p:sp>
      <p:sp>
        <p:nvSpPr>
          <p:cNvPr id="63" name="Bdevice-ddr"/>
          <p:cNvSpPr/>
          <p:nvPr/>
        </p:nvSpPr>
        <p:spPr>
          <a:xfrm>
            <a:off x="110109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B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B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软件交接所有权；硬件排空、维护并确认"/>
          <p:cNvSpPr txBox="1"/>
          <p:nvPr/>
        </p:nvSpPr>
        <p:spPr>
          <a:xfrm>
            <a:off x="6705600" y="600577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软件交接所有权；硬件排空、维护并确认</a:t>
            </a:r>
          </a:p>
        </p:txBody>
      </p:sp>
      <p:sp>
        <p:nvSpPr>
          <p:cNvPr id="67" name="text-067: 本项目方向：按缓冲区 / 分块批量同步"/>
          <p:cNvSpPr txBox="1"/>
          <p:nvPr/>
        </p:nvSpPr>
        <p:spPr>
          <a:xfrm>
            <a:off x="6705600" y="6249619"/>
            <a:ext cx="3175564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本项目方向：按缓冲区 / 分块批量同步</a:t>
            </a:r>
          </a:p>
        </p:txBody>
      </p:sp>
      <p:sp>
        <p:nvSpPr>
          <p:cNvPr id="68" name="text-068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  <p:sp>
        <p:nvSpPr>
          <p:cNvPr id="69" name="Bdriver"/>
          <p:cNvSpPr/>
          <p:nvPr/>
        </p:nvSpPr>
        <p:spPr>
          <a:xfrm>
            <a:off x="88392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驱动"/>
          <p:cNvSpPr txBox="1"/>
          <p:nvPr/>
        </p:nvSpPr>
        <p:spPr>
          <a:xfrm>
            <a:off x="91782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71" name="Bsoftware-submit"/>
          <p:cNvSpPr/>
          <p:nvPr/>
        </p:nvSpPr>
        <p:spPr>
          <a:xfrm>
            <a:off x="9486900" y="2247900"/>
            <a:ext cx="1524000" cy="2019300"/>
          </a:xfrm>
          <a:custGeom>
            <a:avLst/>
            <a:gdLst/>
            <a:ahLst/>
            <a:cxnLst/>
            <a:rect l="0" t="0" r="r" b="b"/>
            <a:pathLst>
              <a:path w="1524000" h="2019300" fill="none">
                <a:moveTo>
                  <a:pt x="0" y="0"/>
                </a:moveTo>
                <a:lnTo>
                  <a:pt x="0" y="1752600"/>
                </a:lnTo>
                <a:lnTo>
                  <a:pt x="1524000" y="1752600"/>
                </a:lnTo>
                <a:lnTo>
                  <a:pt x="1524000" y="201930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协调范围：只到 LLC，还是覆盖 CPU 私有缓存"/>
          <p:cNvSpPr txBox="1"/>
          <p:nvPr/>
        </p:nvSpPr>
        <p:spPr>
          <a:xfrm>
            <a:off x="381000" y="115214"/>
            <a:ext cx="6209740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② 协调范围：只到 LLC，还是覆盖 CPU 私有缓存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C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  LLC-coherent DMA"/>
          <p:cNvSpPr txBox="1"/>
          <p:nvPr/>
        </p:nvSpPr>
        <p:spPr>
          <a:xfrm>
            <a:off x="381000" y="1025652"/>
            <a:ext cx="2352068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  LLC-coherent DMA</a:t>
            </a:r>
          </a:p>
        </p:txBody>
      </p:sp>
      <p:sp>
        <p:nvSpPr>
          <p:cNvPr id="6" name="text-006: LLC 硬件协调；CPU 私有缓存仍需软件维护"/>
          <p:cNvSpPr txBox="1"/>
          <p:nvPr/>
        </p:nvSpPr>
        <p:spPr>
          <a:xfrm>
            <a:off x="381000" y="1380439"/>
            <a:ext cx="351171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LLC 硬件协调；CPU 私有缓存仍需软件维护</a:t>
            </a:r>
          </a:p>
        </p:txBody>
      </p:sp>
      <p:sp>
        <p:nvSpPr>
          <p:cNvPr id="7" name="C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C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C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C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C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C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C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C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C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C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C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LLC 接入"/>
          <p:cNvSpPr txBox="1"/>
          <p:nvPr/>
        </p:nvSpPr>
        <p:spPr>
          <a:xfrm>
            <a:off x="4180284" y="4315511"/>
            <a:ext cx="1012031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接入</a:t>
            </a:r>
          </a:p>
        </p:txBody>
      </p:sp>
      <p:sp>
        <p:nvSpPr>
          <p:cNvPr id="29" name="text-029: 局部协调"/>
          <p:cNvSpPr txBox="1"/>
          <p:nvPr/>
        </p:nvSpPr>
        <p:spPr>
          <a:xfrm>
            <a:off x="4229100" y="4606900"/>
            <a:ext cx="91440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局部协调</a:t>
            </a:r>
          </a:p>
        </p:txBody>
      </p:sp>
      <p:sp>
        <p:nvSpPr>
          <p:cNvPr id="30" name="Cdevice-llc"/>
          <p:cNvSpPr/>
          <p:nvPr/>
        </p:nvSpPr>
        <p:spPr>
          <a:xfrm>
            <a:off x="21717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driver"/>
          <p:cNvSpPr/>
          <p:nvPr/>
        </p:nvSpPr>
        <p:spPr>
          <a:xfrm>
            <a:off x="2514600" y="1828800"/>
            <a:ext cx="1295400" cy="4191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驱动"/>
          <p:cNvSpPr txBox="1"/>
          <p:nvPr/>
        </p:nvSpPr>
        <p:spPr>
          <a:xfrm>
            <a:off x="2853690" y="1892351"/>
            <a:ext cx="61722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驱动</a:t>
            </a:r>
          </a:p>
        </p:txBody>
      </p:sp>
      <p:sp>
        <p:nvSpPr>
          <p:cNvPr id="33" name="Csw-private"/>
          <p:cNvSpPr/>
          <p:nvPr/>
        </p:nvSpPr>
        <p:spPr>
          <a:xfrm>
            <a:off x="2171700" y="2034540"/>
            <a:ext cx="342900" cy="845820"/>
          </a:xfrm>
          <a:custGeom>
            <a:avLst/>
            <a:gdLst/>
            <a:ahLst/>
            <a:cxnLst/>
            <a:rect l="0" t="0" r="r" b="b"/>
            <a:pathLst>
              <a:path w="342900" h="845820" fill="none">
                <a:moveTo>
                  <a:pt x="342900" y="0"/>
                </a:moveTo>
                <a:lnTo>
                  <a:pt x="190500" y="0"/>
                </a:lnTo>
                <a:lnTo>
                  <a:pt x="190500" y="845820"/>
                </a:lnTo>
                <a:lnTo>
                  <a:pt x="0" y="84582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CPU 私有缓存由软件维护"/>
          <p:cNvSpPr txBox="1"/>
          <p:nvPr/>
        </p:nvSpPr>
        <p:spPr>
          <a:xfrm>
            <a:off x="381000" y="6005779"/>
            <a:ext cx="2123837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私有缓存由软件维护</a:t>
            </a:r>
          </a:p>
        </p:txBody>
      </p:sp>
      <p:sp>
        <p:nvSpPr>
          <p:cNvPr id="35" name="text-035: LLC 可供数；设备访问经过 LLC"/>
          <p:cNvSpPr txBox="1"/>
          <p:nvPr/>
        </p:nvSpPr>
        <p:spPr>
          <a:xfrm>
            <a:off x="381000" y="6249619"/>
            <a:ext cx="260049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 可供数；设备访问经过 LLC</a:t>
            </a:r>
          </a:p>
        </p:txBody>
      </p:sp>
      <p:sp>
        <p:nvSpPr>
          <p:cNvPr id="36" name="D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D  I/O 一致性 · 分配缓存行"/>
          <p:cNvSpPr txBox="1"/>
          <p:nvPr/>
        </p:nvSpPr>
        <p:spPr>
          <a:xfrm>
            <a:off x="6705600" y="1025652"/>
            <a:ext cx="293428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  I/O 一致性 · 分配缓存行</a:t>
            </a:r>
          </a:p>
        </p:txBody>
      </p:sp>
      <p:sp>
        <p:nvSpPr>
          <p:cNvPr id="38" name="text-038: CPU 缓存由硬件协调；允许设备分配 LLC"/>
          <p:cNvSpPr txBox="1"/>
          <p:nvPr/>
        </p:nvSpPr>
        <p:spPr>
          <a:xfrm>
            <a:off x="6705600" y="1380439"/>
            <a:ext cx="3336453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CPU 缓存由硬件协调；允许设备分配 LLC</a:t>
            </a:r>
          </a:p>
        </p:txBody>
      </p:sp>
      <p:sp>
        <p:nvSpPr>
          <p:cNvPr id="39" name="D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1" name="D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3" name="text-043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4" name="D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6" name="text-046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7" name="D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9" name="D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1" name="text-051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2" name="D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4" name="D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D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D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D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Ddma-fabric"/>
          <p:cNvSpPr/>
          <p:nvPr/>
        </p:nvSpPr>
        <p:spPr>
          <a:xfrm>
            <a:off x="113157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D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一致性协调点"/>
          <p:cNvSpPr txBox="1"/>
          <p:nvPr/>
        </p:nvSpPr>
        <p:spPr>
          <a:xfrm>
            <a:off x="102908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61" name="text-061: 含缓存分配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含缓存分配</a:t>
            </a:r>
          </a:p>
        </p:txBody>
      </p:sp>
      <p:sp>
        <p:nvSpPr>
          <p:cNvPr id="62" name="D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D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D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硬件协调 CPU 私有缓存和 LLC"/>
          <p:cNvSpPr txBox="1"/>
          <p:nvPr/>
        </p:nvSpPr>
        <p:spPr>
          <a:xfrm>
            <a:off x="6705600" y="6005779"/>
            <a:ext cx="251269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硬件协调 CPU 私有缓存和 LLC</a:t>
            </a:r>
          </a:p>
        </p:txBody>
      </p:sp>
      <p:sp>
        <p:nvSpPr>
          <p:cNvPr id="66" name="text-066: 设备可分配 LLC 行，利用片上复用"/>
          <p:cNvSpPr txBox="1"/>
          <p:nvPr/>
        </p:nvSpPr>
        <p:spPr>
          <a:xfrm>
            <a:off x="6705600" y="6249619"/>
            <a:ext cx="284249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设备可分配 LLC 行，利用片上复用</a:t>
            </a:r>
          </a:p>
        </p:txBody>
      </p:sp>
      <p:sp>
        <p:nvSpPr>
          <p:cNvPr id="67" name="text-067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③ 分配策略与设备缓存：区分两个分类维度"/>
          <p:cNvSpPr txBox="1"/>
          <p:nvPr/>
        </p:nvSpPr>
        <p:spPr>
          <a:xfrm>
            <a:off x="381000" y="115214"/>
            <a:ext cx="5568648" cy="4389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③ 分配策略与设备缓存：区分两个分类维度</a:t>
            </a:r>
          </a:p>
        </p:txBody>
      </p:sp>
      <p:sp>
        <p:nvSpPr>
          <p:cNvPr id="3" name="text-003: 同一布局：左侧为 CPU 缓存层次，右侧为设备；沿绿线比较设备接入位置。"/>
          <p:cNvSpPr txBox="1"/>
          <p:nvPr/>
        </p:nvSpPr>
        <p:spPr>
          <a:xfrm>
            <a:off x="381000" y="534010"/>
            <a:ext cx="6294358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同一布局：左侧为 CPU 缓存层次，右侧为设备；沿绿线比较设备接入位置。</a:t>
            </a:r>
          </a:p>
        </p:txBody>
      </p:sp>
      <p:sp>
        <p:nvSpPr>
          <p:cNvPr id="4" name="Epanel"/>
          <p:cNvSpPr/>
          <p:nvPr/>
        </p:nvSpPr>
        <p:spPr>
          <a:xfrm>
            <a:off x="190500" y="990600"/>
            <a:ext cx="6096000" cy="5638800"/>
          </a:xfrm>
          <a:prstGeom prst="rect">
            <a:avLst/>
          </a:prstGeom>
          <a:solidFill>
            <a:srgbClr val="F5FAF7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E  I/O 一致性 · 不分配 LLC"/>
          <p:cNvSpPr txBox="1"/>
          <p:nvPr/>
        </p:nvSpPr>
        <p:spPr>
          <a:xfrm>
            <a:off x="381000" y="1025652"/>
            <a:ext cx="2892993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E  I/O 一致性 · 不分配 LLC</a:t>
            </a:r>
          </a:p>
        </p:txBody>
      </p:sp>
      <p:sp>
        <p:nvSpPr>
          <p:cNvPr id="6" name="text-006: 逐事务协调机制；供文献比较"/>
          <p:cNvSpPr txBox="1"/>
          <p:nvPr/>
        </p:nvSpPr>
        <p:spPr>
          <a:xfrm>
            <a:off x="381000" y="1380439"/>
            <a:ext cx="24536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187C78"/>
                </a:solidFill>
                <a:latin typeface="Microsoft YaHei"/>
                <a:ea typeface="Microsoft YaHei"/>
                <a:cs typeface="Microsoft YaHei"/>
              </a:rPr>
              <a:t>逐事务协调机制；供文献比较</a:t>
            </a:r>
          </a:p>
        </p:txBody>
      </p:sp>
      <p:sp>
        <p:nvSpPr>
          <p:cNvPr id="7" name="Ecpu"/>
          <p:cNvSpPr/>
          <p:nvPr/>
        </p:nvSpPr>
        <p:spPr>
          <a:xfrm>
            <a:off x="6477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CPU"/>
          <p:cNvSpPr txBox="1"/>
          <p:nvPr/>
        </p:nvSpPr>
        <p:spPr>
          <a:xfrm>
            <a:off x="11197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9" name="Eprivate"/>
          <p:cNvSpPr/>
          <p:nvPr/>
        </p:nvSpPr>
        <p:spPr>
          <a:xfrm>
            <a:off x="6477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L1 / L2"/>
          <p:cNvSpPr txBox="1"/>
          <p:nvPr/>
        </p:nvSpPr>
        <p:spPr>
          <a:xfrm>
            <a:off x="9654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11" name="text-011: 写缓冲"/>
          <p:cNvSpPr txBox="1"/>
          <p:nvPr/>
        </p:nvSpPr>
        <p:spPr>
          <a:xfrm>
            <a:off x="10439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12" name="Ellc"/>
          <p:cNvSpPr/>
          <p:nvPr/>
        </p:nvSpPr>
        <p:spPr>
          <a:xfrm>
            <a:off x="6477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LLC"/>
          <p:cNvSpPr txBox="1"/>
          <p:nvPr/>
        </p:nvSpPr>
        <p:spPr>
          <a:xfrm>
            <a:off x="11402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14" name="text-014: 系统侧缓存"/>
          <p:cNvSpPr txBox="1"/>
          <p:nvPr/>
        </p:nvSpPr>
        <p:spPr>
          <a:xfrm>
            <a:off x="8610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15" name="Eddr"/>
          <p:cNvSpPr/>
          <p:nvPr/>
        </p:nvSpPr>
        <p:spPr>
          <a:xfrm>
            <a:off x="6477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内存接入 / DDR"/>
          <p:cNvSpPr txBox="1"/>
          <p:nvPr/>
        </p:nvSpPr>
        <p:spPr>
          <a:xfrm>
            <a:off x="24097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17" name="Edevice"/>
          <p:cNvSpPr/>
          <p:nvPr/>
        </p:nvSpPr>
        <p:spPr>
          <a:xfrm>
            <a:off x="41529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加速器"/>
          <p:cNvSpPr txBox="1"/>
          <p:nvPr/>
        </p:nvSpPr>
        <p:spPr>
          <a:xfrm>
            <a:off x="45796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19" name="text-019: 独立本地 SRAM"/>
          <p:cNvSpPr txBox="1"/>
          <p:nvPr/>
        </p:nvSpPr>
        <p:spPr>
          <a:xfrm>
            <a:off x="42671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20" name="Edma"/>
          <p:cNvSpPr/>
          <p:nvPr/>
        </p:nvSpPr>
        <p:spPr>
          <a:xfrm>
            <a:off x="41529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DMA"/>
          <p:cNvSpPr txBox="1"/>
          <p:nvPr/>
        </p:nvSpPr>
        <p:spPr>
          <a:xfrm>
            <a:off x="46785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22" name="Ecpu-private"/>
          <p:cNvSpPr/>
          <p:nvPr/>
        </p:nvSpPr>
        <p:spPr>
          <a:xfrm>
            <a:off x="14097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Eprivate-llc"/>
          <p:cNvSpPr/>
          <p:nvPr/>
        </p:nvSpPr>
        <p:spPr>
          <a:xfrm>
            <a:off x="14097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Ellc-ddr"/>
          <p:cNvSpPr/>
          <p:nvPr/>
        </p:nvSpPr>
        <p:spPr>
          <a:xfrm>
            <a:off x="14097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local-dma"/>
          <p:cNvSpPr/>
          <p:nvPr/>
        </p:nvSpPr>
        <p:spPr>
          <a:xfrm>
            <a:off x="49911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dma-fabric"/>
          <p:cNvSpPr/>
          <p:nvPr/>
        </p:nvSpPr>
        <p:spPr>
          <a:xfrm>
            <a:off x="4991100" y="3276600"/>
            <a:ext cx="1" cy="990600"/>
          </a:xfrm>
          <a:custGeom>
            <a:avLst/>
            <a:gdLst/>
            <a:ahLst/>
            <a:cxnLst/>
            <a:rect l="0" t="0" r="r" b="b"/>
            <a:pathLst>
              <a:path w="1" h="990600" fill="none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Efabric"/>
          <p:cNvSpPr/>
          <p:nvPr/>
        </p:nvSpPr>
        <p:spPr>
          <a:xfrm>
            <a:off x="35433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  <a:custDash>
              <a:ds d="529412" sp="352941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一致性协调点"/>
          <p:cNvSpPr txBox="1"/>
          <p:nvPr/>
        </p:nvSpPr>
        <p:spPr>
          <a:xfrm>
            <a:off x="3966210" y="431551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一致性协调点</a:t>
            </a:r>
          </a:p>
        </p:txBody>
      </p:sp>
      <p:sp>
        <p:nvSpPr>
          <p:cNvPr id="29" name="text-029: 设备不分配 LLC"/>
          <p:cNvSpPr txBox="1"/>
          <p:nvPr/>
        </p:nvSpPr>
        <p:spPr>
          <a:xfrm>
            <a:off x="3962192" y="4606900"/>
            <a:ext cx="1448217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设备不分配 LLC</a:t>
            </a:r>
          </a:p>
        </p:txBody>
      </p:sp>
      <p:sp>
        <p:nvSpPr>
          <p:cNvPr id="30" name="Edevice-ddr"/>
          <p:cNvSpPr/>
          <p:nvPr/>
        </p:nvSpPr>
        <p:spPr>
          <a:xfrm>
            <a:off x="4686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probe-private"/>
          <p:cNvSpPr/>
          <p:nvPr/>
        </p:nvSpPr>
        <p:spPr>
          <a:xfrm>
            <a:off x="21717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probe-llc"/>
          <p:cNvSpPr/>
          <p:nvPr/>
        </p:nvSpPr>
        <p:spPr>
          <a:xfrm>
            <a:off x="21717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逐事务协调；设备不分配 LLC 行"/>
          <p:cNvSpPr txBox="1"/>
          <p:nvPr/>
        </p:nvSpPr>
        <p:spPr>
          <a:xfrm>
            <a:off x="381000" y="6005779"/>
            <a:ext cx="2667238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逐事务协调；设备不分配 LLC 行</a:t>
            </a:r>
          </a:p>
        </p:txBody>
      </p:sp>
      <p:sp>
        <p:nvSpPr>
          <p:cNvPr id="34" name="text-034: 本项目沿用旁路拓扑，采用软件范围交接"/>
          <p:cNvSpPr txBox="1"/>
          <p:nvPr/>
        </p:nvSpPr>
        <p:spPr>
          <a:xfrm>
            <a:off x="381000" y="6249619"/>
            <a:ext cx="332994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本项目沿用旁路拓扑，采用软件范围交接</a:t>
            </a:r>
          </a:p>
        </p:txBody>
      </p:sp>
      <p:sp>
        <p:nvSpPr>
          <p:cNvPr id="35" name="Fpanel"/>
          <p:cNvSpPr/>
          <p:nvPr/>
        </p:nvSpPr>
        <p:spPr>
          <a:xfrm>
            <a:off x="6515100" y="990600"/>
            <a:ext cx="6096000" cy="5638800"/>
          </a:xfrm>
          <a:prstGeom prst="rect">
            <a:avLst/>
          </a:prstGeom>
          <a:solidFill>
            <a:srgbClr val="FAFBFC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F  完整缓存代理一致性"/>
          <p:cNvSpPr txBox="1"/>
          <p:nvPr/>
        </p:nvSpPr>
        <p:spPr>
          <a:xfrm>
            <a:off x="6705600" y="1025652"/>
            <a:ext cx="2532674" cy="36576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F  完整缓存代理一致性</a:t>
            </a:r>
          </a:p>
        </p:txBody>
      </p:sp>
      <p:sp>
        <p:nvSpPr>
          <p:cNvPr id="37" name="text-037: 设备持有可探测的私有缓存；本项目不采用"/>
          <p:cNvSpPr txBox="1"/>
          <p:nvPr/>
        </p:nvSpPr>
        <p:spPr>
          <a:xfrm>
            <a:off x="6705600" y="1380439"/>
            <a:ext cx="350520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606773"/>
                </a:solidFill>
                <a:latin typeface="Microsoft YaHei"/>
                <a:ea typeface="Microsoft YaHei"/>
                <a:cs typeface="Microsoft YaHei"/>
              </a:rPr>
              <a:t>设备持有可探测的私有缓存；本项目不采用</a:t>
            </a:r>
          </a:p>
        </p:txBody>
      </p:sp>
      <p:sp>
        <p:nvSpPr>
          <p:cNvPr id="38" name="Fcpu"/>
          <p:cNvSpPr/>
          <p:nvPr/>
        </p:nvSpPr>
        <p:spPr>
          <a:xfrm>
            <a:off x="6972300" y="1828800"/>
            <a:ext cx="15240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CPU"/>
          <p:cNvSpPr txBox="1"/>
          <p:nvPr/>
        </p:nvSpPr>
        <p:spPr>
          <a:xfrm>
            <a:off x="7444377" y="1892351"/>
            <a:ext cx="579846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</a:t>
            </a:r>
          </a:p>
        </p:txBody>
      </p:sp>
      <p:sp>
        <p:nvSpPr>
          <p:cNvPr id="40" name="Fprivate"/>
          <p:cNvSpPr/>
          <p:nvPr/>
        </p:nvSpPr>
        <p:spPr>
          <a:xfrm>
            <a:off x="6972300" y="2667000"/>
            <a:ext cx="1524000" cy="6477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L1 / L2"/>
          <p:cNvSpPr txBox="1"/>
          <p:nvPr/>
        </p:nvSpPr>
        <p:spPr>
          <a:xfrm>
            <a:off x="7290066" y="2715311"/>
            <a:ext cx="888468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L1 / L2</a:t>
            </a:r>
          </a:p>
        </p:txBody>
      </p:sp>
      <p:sp>
        <p:nvSpPr>
          <p:cNvPr id="42" name="text-042: 写缓冲"/>
          <p:cNvSpPr txBox="1"/>
          <p:nvPr/>
        </p:nvSpPr>
        <p:spPr>
          <a:xfrm>
            <a:off x="7368540" y="3006700"/>
            <a:ext cx="73152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写缓冲</a:t>
            </a:r>
          </a:p>
        </p:txBody>
      </p:sp>
      <p:sp>
        <p:nvSpPr>
          <p:cNvPr id="43" name="Fllc"/>
          <p:cNvSpPr/>
          <p:nvPr/>
        </p:nvSpPr>
        <p:spPr>
          <a:xfrm>
            <a:off x="6972300" y="4267200"/>
            <a:ext cx="1524000" cy="6477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LLC"/>
          <p:cNvSpPr txBox="1"/>
          <p:nvPr/>
        </p:nvSpPr>
        <p:spPr>
          <a:xfrm>
            <a:off x="7464868" y="4315511"/>
            <a:ext cx="538865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LLC</a:t>
            </a:r>
          </a:p>
        </p:txBody>
      </p:sp>
      <p:sp>
        <p:nvSpPr>
          <p:cNvPr id="45" name="text-045: 系统侧缓存"/>
          <p:cNvSpPr txBox="1"/>
          <p:nvPr/>
        </p:nvSpPr>
        <p:spPr>
          <a:xfrm>
            <a:off x="71856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系统侧缓存</a:t>
            </a:r>
          </a:p>
        </p:txBody>
      </p:sp>
      <p:sp>
        <p:nvSpPr>
          <p:cNvPr id="46" name="Fddr"/>
          <p:cNvSpPr/>
          <p:nvPr/>
        </p:nvSpPr>
        <p:spPr>
          <a:xfrm>
            <a:off x="6972300" y="5410200"/>
            <a:ext cx="5181600" cy="457200"/>
          </a:xfrm>
          <a:prstGeom prst="rect">
            <a:avLst/>
          </a:prstGeom>
          <a:solidFill>
            <a:srgbClr val="E8DFED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内存接入 / DDR"/>
          <p:cNvSpPr txBox="1"/>
          <p:nvPr/>
        </p:nvSpPr>
        <p:spPr>
          <a:xfrm>
            <a:off x="8734300" y="5492801"/>
            <a:ext cx="165760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内存接入 / DDR</a:t>
            </a:r>
          </a:p>
        </p:txBody>
      </p:sp>
      <p:sp>
        <p:nvSpPr>
          <p:cNvPr id="48" name="Fdevice"/>
          <p:cNvSpPr/>
          <p:nvPr/>
        </p:nvSpPr>
        <p:spPr>
          <a:xfrm>
            <a:off x="10477500" y="1828800"/>
            <a:ext cx="1676400" cy="723900"/>
          </a:xfrm>
          <a:prstGeom prst="rect">
            <a:avLst/>
          </a:prstGeom>
          <a:solidFill>
            <a:srgbClr val="D9EEE8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加速器"/>
          <p:cNvSpPr txBox="1"/>
          <p:nvPr/>
        </p:nvSpPr>
        <p:spPr>
          <a:xfrm>
            <a:off x="10904220" y="1915211"/>
            <a:ext cx="82296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加速器</a:t>
            </a:r>
          </a:p>
        </p:txBody>
      </p:sp>
      <p:sp>
        <p:nvSpPr>
          <p:cNvPr id="50" name="text-050: 独立本地 SRAM"/>
          <p:cNvSpPr txBox="1"/>
          <p:nvPr/>
        </p:nvSpPr>
        <p:spPr>
          <a:xfrm>
            <a:off x="10591770" y="2206600"/>
            <a:ext cx="144786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独立本地 SRAM</a:t>
            </a:r>
          </a:p>
        </p:txBody>
      </p:sp>
      <p:sp>
        <p:nvSpPr>
          <p:cNvPr id="51" name="Fdma"/>
          <p:cNvSpPr/>
          <p:nvPr/>
        </p:nvSpPr>
        <p:spPr>
          <a:xfrm>
            <a:off x="10477500" y="2857500"/>
            <a:ext cx="1676400" cy="419100"/>
          </a:xfrm>
          <a:prstGeom prst="rect">
            <a:avLst/>
          </a:prstGeom>
          <a:solidFill>
            <a:srgbClr val="D8E8F4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DMA"/>
          <p:cNvSpPr txBox="1"/>
          <p:nvPr/>
        </p:nvSpPr>
        <p:spPr>
          <a:xfrm>
            <a:off x="11003173" y="2921051"/>
            <a:ext cx="625054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DMA</a:t>
            </a:r>
          </a:p>
        </p:txBody>
      </p:sp>
      <p:sp>
        <p:nvSpPr>
          <p:cNvPr id="53" name="Fcpu-private"/>
          <p:cNvSpPr/>
          <p:nvPr/>
        </p:nvSpPr>
        <p:spPr>
          <a:xfrm>
            <a:off x="7734300" y="2247900"/>
            <a:ext cx="1" cy="419100"/>
          </a:xfrm>
          <a:custGeom>
            <a:avLst/>
            <a:gdLst/>
            <a:ahLst/>
            <a:cxnLst/>
            <a:rect l="0" t="0" r="r" b="b"/>
            <a:pathLst>
              <a:path w="1" h="419100" fill="none">
                <a:moveTo>
                  <a:pt x="0" y="0"/>
                </a:moveTo>
                <a:lnTo>
                  <a:pt x="0" y="4191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Fprivate-llc"/>
          <p:cNvSpPr/>
          <p:nvPr/>
        </p:nvSpPr>
        <p:spPr>
          <a:xfrm>
            <a:off x="7734300" y="3314700"/>
            <a:ext cx="1" cy="952500"/>
          </a:xfrm>
          <a:custGeom>
            <a:avLst/>
            <a:gdLst/>
            <a:ahLst/>
            <a:cxnLst/>
            <a:rect l="0" t="0" r="r" b="b"/>
            <a:pathLst>
              <a:path w="1" h="952500" fill="none">
                <a:moveTo>
                  <a:pt x="0" y="0"/>
                </a:moveTo>
                <a:lnTo>
                  <a:pt x="0" y="9525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Fllc-ddr"/>
          <p:cNvSpPr/>
          <p:nvPr/>
        </p:nvSpPr>
        <p:spPr>
          <a:xfrm>
            <a:off x="7734300" y="4914900"/>
            <a:ext cx="1" cy="495300"/>
          </a:xfrm>
          <a:custGeom>
            <a:avLst/>
            <a:gdLst/>
            <a:ahLst/>
            <a:cxnLst/>
            <a:rect l="0" t="0" r="r" b="b"/>
            <a:pathLst>
              <a:path w="1" h="495300" fill="none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/>
          <a:ln w="21336" cap="flat">
            <a:solidFill>
              <a:srgbClr val="314D66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Flocal-dma"/>
          <p:cNvSpPr/>
          <p:nvPr/>
        </p:nvSpPr>
        <p:spPr>
          <a:xfrm>
            <a:off x="11315700" y="25527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Fdevcache"/>
          <p:cNvSpPr/>
          <p:nvPr/>
        </p:nvSpPr>
        <p:spPr>
          <a:xfrm>
            <a:off x="10477500" y="3581400"/>
            <a:ext cx="1676400" cy="419100"/>
          </a:xfrm>
          <a:prstGeom prst="rect">
            <a:avLst/>
          </a:prstGeom>
          <a:solidFill>
            <a:srgbClr val="F1D7D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设备私有缓存"/>
          <p:cNvSpPr txBox="1"/>
          <p:nvPr/>
        </p:nvSpPr>
        <p:spPr>
          <a:xfrm>
            <a:off x="10595610" y="3644951"/>
            <a:ext cx="144018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</a:t>
            </a:r>
          </a:p>
        </p:txBody>
      </p:sp>
      <p:sp>
        <p:nvSpPr>
          <p:cNvPr id="59" name="Fdma-cache"/>
          <p:cNvSpPr/>
          <p:nvPr/>
        </p:nvSpPr>
        <p:spPr>
          <a:xfrm>
            <a:off x="11315700" y="3276600"/>
            <a:ext cx="1" cy="304800"/>
          </a:xfrm>
          <a:custGeom>
            <a:avLst/>
            <a:gdLst/>
            <a:ahLst/>
            <a:cxnLst/>
            <a:rect l="0" t="0" r="r" b="b"/>
            <a:pathLst>
              <a:path w="1" h="304800" fill="none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Fcache-fabric"/>
          <p:cNvSpPr/>
          <p:nvPr/>
        </p:nvSpPr>
        <p:spPr>
          <a:xfrm>
            <a:off x="11315700" y="4000500"/>
            <a:ext cx="1" cy="266700"/>
          </a:xfrm>
          <a:custGeom>
            <a:avLst/>
            <a:gdLst/>
            <a:ahLst/>
            <a:cxnLst/>
            <a:rect l="0" t="0" r="r" b="b"/>
            <a:pathLst>
              <a:path w="1" h="266700" fill="none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Ffabric"/>
          <p:cNvSpPr/>
          <p:nvPr/>
        </p:nvSpPr>
        <p:spPr>
          <a:xfrm>
            <a:off x="9867900" y="4267200"/>
            <a:ext cx="2286000" cy="647700"/>
          </a:xfrm>
          <a:prstGeom prst="rect">
            <a:avLst/>
          </a:prstGeom>
          <a:solidFill>
            <a:srgbClr val="F5E1C9"/>
          </a:solidFill>
          <a:ln w="12954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一致性互连"/>
          <p:cNvSpPr txBox="1"/>
          <p:nvPr/>
        </p:nvSpPr>
        <p:spPr>
          <a:xfrm>
            <a:off x="10393680" y="4315511"/>
            <a:ext cx="1234440" cy="32918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20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一致性互连</a:t>
            </a:r>
          </a:p>
        </p:txBody>
      </p:sp>
      <p:sp>
        <p:nvSpPr>
          <p:cNvPr id="63" name="text-063: 多缓存代理"/>
          <p:cNvSpPr txBox="1"/>
          <p:nvPr/>
        </p:nvSpPr>
        <p:spPr>
          <a:xfrm>
            <a:off x="10462260" y="4606900"/>
            <a:ext cx="1097280" cy="29260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多缓存代理</a:t>
            </a:r>
          </a:p>
        </p:txBody>
      </p:sp>
      <p:sp>
        <p:nvSpPr>
          <p:cNvPr id="64" name="Fdevice-llc"/>
          <p:cNvSpPr/>
          <p:nvPr/>
        </p:nvSpPr>
        <p:spPr>
          <a:xfrm>
            <a:off x="8496300" y="44729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187C78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Fprobe-private"/>
          <p:cNvSpPr/>
          <p:nvPr/>
        </p:nvSpPr>
        <p:spPr>
          <a:xfrm>
            <a:off x="8496300" y="3048000"/>
            <a:ext cx="1371600" cy="1333500"/>
          </a:xfrm>
          <a:custGeom>
            <a:avLst/>
            <a:gdLst/>
            <a:ahLst/>
            <a:cxnLst/>
            <a:rect l="0" t="0" r="r" b="b"/>
            <a:pathLst>
              <a:path w="1371600" h="1333500" fill="none">
                <a:moveTo>
                  <a:pt x="1371600" y="1333500"/>
                </a:moveTo>
                <a:lnTo>
                  <a:pt x="495300" y="1333500"/>
                </a:lnTo>
                <a:lnTo>
                  <a:pt x="4953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Fprobe-llc"/>
          <p:cNvSpPr/>
          <p:nvPr/>
        </p:nvSpPr>
        <p:spPr>
          <a:xfrm>
            <a:off x="8496300" y="4739640"/>
            <a:ext cx="1371600" cy="1"/>
          </a:xfrm>
          <a:custGeom>
            <a:avLst/>
            <a:gdLst/>
            <a:ahLst/>
            <a:cxnLst/>
            <a:rect l="0" t="0" r="r" b="b"/>
            <a:pathLst>
              <a:path w="1371600" h="1" fill="none">
                <a:moveTo>
                  <a:pt x="1371600" y="0"/>
                </a:move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Fprobe-devcache"/>
          <p:cNvSpPr/>
          <p:nvPr/>
        </p:nvSpPr>
        <p:spPr>
          <a:xfrm>
            <a:off x="12153900" y="3794760"/>
            <a:ext cx="266700" cy="929640"/>
          </a:xfrm>
          <a:custGeom>
            <a:avLst/>
            <a:gdLst/>
            <a:ahLst/>
            <a:cxnLst/>
            <a:rect l="0" t="0" r="r" b="b"/>
            <a:pathLst>
              <a:path w="266700" h="929640" fill="none">
                <a:moveTo>
                  <a:pt x="0" y="929640"/>
                </a:moveTo>
                <a:lnTo>
                  <a:pt x="266700" y="929640"/>
                </a:lnTo>
                <a:lnTo>
                  <a:pt x="266700" y="0"/>
                </a:lnTo>
                <a:lnTo>
                  <a:pt x="0" y="0"/>
                </a:lnTo>
              </a:path>
            </a:pathLst>
          </a:custGeom>
          <a:noFill/>
          <a:ln w="21336" cap="flat">
            <a:solidFill>
              <a:srgbClr val="765489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设备私有缓存也接收探测并返回数据"/>
          <p:cNvSpPr txBox="1"/>
          <p:nvPr/>
        </p:nvSpPr>
        <p:spPr>
          <a:xfrm>
            <a:off x="6705600" y="6005779"/>
            <a:ext cx="2979420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设备私有缓存也接收探测并返回数据</a:t>
            </a:r>
          </a:p>
        </p:txBody>
      </p:sp>
      <p:sp>
        <p:nvSpPr>
          <p:cNvPr id="69" name="text-069: 本地 SRAM 仍显式管理；分配策略另设"/>
          <p:cNvSpPr txBox="1"/>
          <p:nvPr/>
        </p:nvSpPr>
        <p:spPr>
          <a:xfrm>
            <a:off x="6705600" y="6249619"/>
            <a:ext cx="3192685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本地 SRAM 仍显式管理；分配策略另设</a:t>
            </a:r>
          </a:p>
        </p:txBody>
      </p:sp>
      <p:sp>
        <p:nvSpPr>
          <p:cNvPr id="70" name="text-070: 蓝灰：CPU 常规访存    绿色：设备访问 / 数据    紫色：维护 / 探"/>
          <p:cNvSpPr txBox="1"/>
          <p:nvPr/>
        </p:nvSpPr>
        <p:spPr>
          <a:xfrm>
            <a:off x="228600" y="6790639"/>
            <a:ext cx="6967442" cy="28041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0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蓝灰：CPU 常规访存    绿色：设备访问 / 数据    紫色：维护 / 探测与确认（双向合并）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