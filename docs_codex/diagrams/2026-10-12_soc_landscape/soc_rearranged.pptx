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5603200" cy="1393115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-002: Cheshire + CVA6 + Ara · SoC 扩展架构"/>
          <p:cNvSpPr txBox="1"/>
          <p:nvPr/>
        </p:nvSpPr>
        <p:spPr>
          <a:xfrm>
            <a:off x="414169" y="115365"/>
            <a:ext cx="6208776" cy="5542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27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Cheshire + CVA6 + Ara · SoC 扩展架构</a:t>
            </a:r>
          </a:p>
        </p:txBody>
      </p:sp>
      <p:sp>
        <p:nvSpPr>
          <p:cNvPr id="3" name="obj-003: 版本 2 · 原版配色与结构重排"/>
          <p:cNvSpPr txBox="1"/>
          <p:nvPr/>
        </p:nvSpPr>
        <p:spPr>
          <a:xfrm>
            <a:off x="451821" y="593693"/>
            <a:ext cx="2793267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版本 2 · 原版配色与结构重排</a:t>
            </a:r>
          </a:p>
        </p:txBody>
      </p:sp>
      <p:sp>
        <p:nvSpPr>
          <p:cNvPr id="4" name="soc-boundary"/>
          <p:cNvSpPr/>
          <p:nvPr/>
        </p:nvSpPr>
        <p:spPr>
          <a:xfrm>
            <a:off x="263562" y="1054249"/>
            <a:ext cx="24963120" cy="12161520"/>
          </a:xfrm>
          <a:custGeom>
            <a:avLst/>
            <a:gdLst/>
            <a:ahLst/>
            <a:cxnLst/>
            <a:rect l="0" t="0" r="r" b="b"/>
            <a:pathLst>
              <a:path w="24963120" h="12161520">
                <a:moveTo>
                  <a:pt x="0" y="0"/>
                </a:moveTo>
                <a:lnTo>
                  <a:pt x="24963120" y="0"/>
                </a:lnTo>
                <a:lnTo>
                  <a:pt x="24963120" y="5497158"/>
                </a:lnTo>
                <a:lnTo>
                  <a:pt x="23381746" y="5497158"/>
                </a:lnTo>
                <a:lnTo>
                  <a:pt x="23381746" y="7078532"/>
                </a:lnTo>
                <a:lnTo>
                  <a:pt x="24963120" y="7078532"/>
                </a:lnTo>
                <a:lnTo>
                  <a:pt x="24963120" y="12161520"/>
                </a:lnTo>
                <a:lnTo>
                  <a:pt x="0" y="12161520"/>
                </a:lnTo>
                <a:close/>
              </a:path>
            </a:pathLst>
          </a:custGeom>
          <a:solidFill>
            <a:srgbClr val="FBFCFE"/>
          </a:solidFill>
          <a:ln w="18826" cap="flat">
            <a:solidFill>
              <a:srgbClr val="526A7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pu-ara-domain"/>
          <p:cNvSpPr/>
          <p:nvPr/>
        </p:nvSpPr>
        <p:spPr>
          <a:xfrm>
            <a:off x="451821" y="1242508"/>
            <a:ext cx="8132781" cy="2183802"/>
          </a:xfrm>
          <a:prstGeom prst="roundRect">
            <a:avLst>
              <a:gd name="adj" fmla="val 3448"/>
            </a:avLst>
          </a:prstGeom>
          <a:solidFill>
            <a:srgbClr val="F4F8FD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bj-006: CVA6–Ara 处理子系统"/>
          <p:cNvSpPr txBox="1"/>
          <p:nvPr/>
        </p:nvSpPr>
        <p:spPr>
          <a:xfrm>
            <a:off x="647610" y="1284678"/>
            <a:ext cx="2397229" cy="3614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8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CVA6–Ara 处理子系统</a:t>
            </a:r>
          </a:p>
        </p:txBody>
      </p:sp>
      <p:sp>
        <p:nvSpPr>
          <p:cNvPr id="7" name="cpu"/>
          <p:cNvSpPr/>
          <p:nvPr/>
        </p:nvSpPr>
        <p:spPr>
          <a:xfrm>
            <a:off x="677732" y="1859997"/>
            <a:ext cx="2108499" cy="1031658"/>
          </a:xfrm>
          <a:prstGeom prst="roundRect">
            <a:avLst>
              <a:gd name="adj" fmla="val 4379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bj-008: CVA6 core 0"/>
          <p:cNvSpPr txBox="1"/>
          <p:nvPr/>
        </p:nvSpPr>
        <p:spPr>
          <a:xfrm>
            <a:off x="1079929" y="1993962"/>
            <a:ext cx="1304104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9" name="obj-009: L1 I / D · MMU"/>
          <p:cNvSpPr txBox="1"/>
          <p:nvPr/>
        </p:nvSpPr>
        <p:spPr>
          <a:xfrm>
            <a:off x="1049308" y="2251801"/>
            <a:ext cx="1365347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L1 I / D · MMU</a:t>
            </a:r>
          </a:p>
        </p:txBody>
      </p:sp>
      <p:sp>
        <p:nvSpPr>
          <p:cNvPr id="10" name="obj-010: AXI 适配"/>
          <p:cNvSpPr txBox="1"/>
          <p:nvPr/>
        </p:nvSpPr>
        <p:spPr>
          <a:xfrm>
            <a:off x="1311046" y="2485242"/>
            <a:ext cx="841870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AXI 适配</a:t>
            </a:r>
          </a:p>
        </p:txBody>
      </p:sp>
      <p:sp>
        <p:nvSpPr>
          <p:cNvPr id="11" name="ara"/>
          <p:cNvSpPr/>
          <p:nvPr/>
        </p:nvSpPr>
        <p:spPr>
          <a:xfrm>
            <a:off x="3463962" y="1859997"/>
            <a:ext cx="4894729" cy="1204856"/>
          </a:xfrm>
          <a:prstGeom prst="roundRect">
            <a:avLst>
              <a:gd name="adj" fmla="val 3750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bj-012: Ara · VLSU / AXI 32 × lanes"/>
          <p:cNvSpPr txBox="1"/>
          <p:nvPr/>
        </p:nvSpPr>
        <p:spPr>
          <a:xfrm>
            <a:off x="4527378" y="1880781"/>
            <a:ext cx="2767899" cy="337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Ara · VLSU / AXI 32 × lanes</a:t>
            </a:r>
          </a:p>
        </p:txBody>
      </p:sp>
      <p:sp>
        <p:nvSpPr>
          <p:cNvPr id="13" name="ara-filter"/>
          <p:cNvSpPr/>
          <p:nvPr/>
        </p:nvSpPr>
        <p:spPr>
          <a:xfrm>
            <a:off x="3614569" y="2319349"/>
            <a:ext cx="1129553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bj-014: 失效过滤"/>
          <p:cNvSpPr txBox="1"/>
          <p:nvPr/>
        </p:nvSpPr>
        <p:spPr>
          <a:xfrm>
            <a:off x="3727525" y="2353085"/>
            <a:ext cx="90364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5" name="obj-015: 现有 filter"/>
          <p:cNvSpPr txBox="1"/>
          <p:nvPr/>
        </p:nvSpPr>
        <p:spPr>
          <a:xfrm>
            <a:off x="3763770" y="2610924"/>
            <a:ext cx="831151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6" name="ara-split"/>
          <p:cNvSpPr/>
          <p:nvPr/>
        </p:nvSpPr>
        <p:spPr>
          <a:xfrm>
            <a:off x="4970033" y="2319349"/>
            <a:ext cx="1242508" cy="564776"/>
          </a:xfrm>
          <a:prstGeom prst="roundRect">
            <a:avLst>
              <a:gd name="adj" fmla="val 8000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bj-017: 地址分流"/>
          <p:cNvSpPr txBox="1"/>
          <p:nvPr/>
        </p:nvSpPr>
        <p:spPr>
          <a:xfrm>
            <a:off x="5120640" y="2347588"/>
            <a:ext cx="94129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18" name="obj-018: GB 分支"/>
          <p:cNvSpPr txBox="1"/>
          <p:nvPr/>
        </p:nvSpPr>
        <p:spPr>
          <a:xfrm>
            <a:off x="5212063" y="2605427"/>
            <a:ext cx="758448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GB 分支</a:t>
            </a:r>
          </a:p>
        </p:txBody>
      </p:sp>
      <p:sp>
        <p:nvSpPr>
          <p:cNvPr id="19" name="ara-width"/>
          <p:cNvSpPr/>
          <p:nvPr/>
        </p:nvSpPr>
        <p:spPr>
          <a:xfrm>
            <a:off x="6438452" y="2319349"/>
            <a:ext cx="1731981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bj-020: 位宽适配"/>
          <p:cNvSpPr txBox="1"/>
          <p:nvPr/>
        </p:nvSpPr>
        <p:spPr>
          <a:xfrm>
            <a:off x="6833795" y="2347588"/>
            <a:ext cx="94129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21" name="obj-021: 普通路径 → 64 bit"/>
          <p:cNvSpPr txBox="1"/>
          <p:nvPr/>
        </p:nvSpPr>
        <p:spPr>
          <a:xfrm>
            <a:off x="6542677" y="2605427"/>
            <a:ext cx="1523532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普通路径 → 64 bit</a:t>
            </a:r>
          </a:p>
        </p:txBody>
      </p:sp>
      <p:cxnSp>
        <p:nvCxnSpPr>
          <p:cNvPr id="22" name="filter-split"/>
          <p:cNvCxnSpPr/>
          <p:nvPr/>
        </p:nvCxnSpPr>
        <p:spPr>
          <a:xfrm>
            <a:off x="4744122" y="2597972"/>
            <a:ext cx="225911" cy="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cxnSp>
        <p:nvCxnSpPr>
          <p:cNvPr id="23" name="split-width"/>
          <p:cNvCxnSpPr/>
          <p:nvPr/>
        </p:nvCxnSpPr>
        <p:spPr>
          <a:xfrm>
            <a:off x="6212541" y="2597972"/>
            <a:ext cx="225911" cy="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cxnSp>
        <p:nvCxnSpPr>
          <p:cNvPr id="24" name="cpu-ara-control"/>
          <p:cNvCxnSpPr/>
          <p:nvPr/>
        </p:nvCxnSpPr>
        <p:spPr>
          <a:xfrm>
            <a:off x="2786231" y="2108499"/>
            <a:ext cx="677731" cy="0"/>
          </a:xfrm>
          <a:prstGeom prst="line">
            <a:avLst/>
          </a:prstGeom>
          <a:ln w="18826" cap="flat">
            <a:solidFill>
              <a:srgbClr val="8663A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5" name="obj-025: 指令"/>
          <p:cNvSpPr txBox="1"/>
          <p:nvPr/>
        </p:nvSpPr>
        <p:spPr>
          <a:xfrm>
            <a:off x="2899186" y="1855479"/>
            <a:ext cx="451821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指令</a:t>
            </a:r>
          </a:p>
        </p:txBody>
      </p:sp>
      <p:sp>
        <p:nvSpPr>
          <p:cNvPr id="26" name="obj-026: MMU"/>
          <p:cNvSpPr txBox="1"/>
          <p:nvPr/>
        </p:nvSpPr>
        <p:spPr>
          <a:xfrm>
            <a:off x="2878219" y="2186815"/>
            <a:ext cx="493756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MMU</a:t>
            </a:r>
          </a:p>
        </p:txBody>
      </p:sp>
      <p:sp>
        <p:nvSpPr>
          <p:cNvPr id="27" name="gb-npu-domain"/>
          <p:cNvSpPr/>
          <p:nvPr/>
        </p:nvSpPr>
        <p:spPr>
          <a:xfrm>
            <a:off x="8810513" y="1242508"/>
            <a:ext cx="8208085" cy="2183802"/>
          </a:xfrm>
          <a:prstGeom prst="roundRect">
            <a:avLst>
              <a:gd name="adj" fmla="val 3448"/>
            </a:avLst>
          </a:prstGeom>
          <a:solidFill>
            <a:srgbClr val="F6FBF8"/>
          </a:solidFill>
          <a:ln w="15061" cap="flat">
            <a:solidFill>
              <a:srgbClr val="16867F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bj-028: NPU / 独立 Global Buffer"/>
          <p:cNvSpPr txBox="1"/>
          <p:nvPr/>
        </p:nvSpPr>
        <p:spPr>
          <a:xfrm>
            <a:off x="8998772" y="1284678"/>
            <a:ext cx="2699220" cy="3614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8" b="1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NPU / 独立 Global Buffer</a:t>
            </a:r>
          </a:p>
        </p:txBody>
      </p:sp>
      <p:sp>
        <p:nvSpPr>
          <p:cNvPr id="29" name="npu-compute"/>
          <p:cNvSpPr/>
          <p:nvPr/>
        </p:nvSpPr>
        <p:spPr>
          <a:xfrm>
            <a:off x="9036424" y="1920240"/>
            <a:ext cx="1656678" cy="941294"/>
          </a:xfrm>
          <a:prstGeom prst="roundRect">
            <a:avLst>
              <a:gd name="adj" fmla="val 4800"/>
            </a:avLst>
          </a:prstGeom>
          <a:solidFill>
            <a:srgbClr val="EAF5F1"/>
          </a:solidFill>
          <a:ln w="15061" cap="flat">
            <a:solidFill>
              <a:srgbClr val="1686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bj-030: NPU 计算引擎"/>
          <p:cNvSpPr txBox="1"/>
          <p:nvPr/>
        </p:nvSpPr>
        <p:spPr>
          <a:xfrm>
            <a:off x="9137060" y="1997727"/>
            <a:ext cx="1455405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" name="obj-031: GB 数据访问"/>
          <p:cNvSpPr txBox="1"/>
          <p:nvPr/>
        </p:nvSpPr>
        <p:spPr>
          <a:xfrm>
            <a:off x="9270335" y="2255567"/>
            <a:ext cx="1188854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GB 数据访问</a:t>
            </a:r>
          </a:p>
        </p:txBody>
      </p:sp>
      <p:sp>
        <p:nvSpPr>
          <p:cNvPr id="32" name="tag-C6-31"/>
          <p:cNvSpPr/>
          <p:nvPr/>
        </p:nvSpPr>
        <p:spPr>
          <a:xfrm>
            <a:off x="10241280" y="2567850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bj-033: C6"/>
          <p:cNvSpPr txBox="1"/>
          <p:nvPr/>
        </p:nvSpPr>
        <p:spPr>
          <a:xfrm>
            <a:off x="10254929" y="2578393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4" name="gb-adapter"/>
          <p:cNvSpPr/>
          <p:nvPr/>
        </p:nvSpPr>
        <p:spPr>
          <a:xfrm>
            <a:off x="10919012" y="1920240"/>
            <a:ext cx="1807285" cy="941294"/>
          </a:xfrm>
          <a:prstGeom prst="roundRect">
            <a:avLst>
              <a:gd name="adj" fmla="val 4800"/>
            </a:avLst>
          </a:prstGeom>
          <a:solidFill>
            <a:srgbClr val="EAF5F1"/>
          </a:solidFill>
          <a:ln w="15061" cap="flat">
            <a:solidFill>
              <a:srgbClr val="1686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bj-035: GB 访问适配"/>
          <p:cNvSpPr txBox="1"/>
          <p:nvPr/>
        </p:nvSpPr>
        <p:spPr>
          <a:xfrm>
            <a:off x="11153918" y="2125743"/>
            <a:ext cx="1337473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6" name="obj-036: 仲裁 / bank 冲突"/>
          <p:cNvSpPr txBox="1"/>
          <p:nvPr/>
        </p:nvSpPr>
        <p:spPr>
          <a:xfrm>
            <a:off x="11051293" y="2383583"/>
            <a:ext cx="154272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仲裁 / bank 冲突</a:t>
            </a:r>
          </a:p>
        </p:txBody>
      </p:sp>
      <p:sp>
        <p:nvSpPr>
          <p:cNvPr id="37" name="global-buffer"/>
          <p:cNvSpPr/>
          <p:nvPr/>
        </p:nvSpPr>
        <p:spPr>
          <a:xfrm>
            <a:off x="12952207" y="1920240"/>
            <a:ext cx="2033195" cy="941294"/>
          </a:xfrm>
          <a:prstGeom prst="roundRect">
            <a:avLst>
              <a:gd name="adj" fmla="val 4800"/>
            </a:avLst>
          </a:prstGeom>
          <a:solidFill>
            <a:srgbClr val="EAF5F1"/>
          </a:solidFill>
          <a:ln w="15061" cap="flat">
            <a:solidFill>
              <a:srgbClr val="1686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bj-038: Global Buffer"/>
          <p:cNvSpPr txBox="1"/>
          <p:nvPr/>
        </p:nvSpPr>
        <p:spPr>
          <a:xfrm>
            <a:off x="13240414" y="1986733"/>
            <a:ext cx="1456782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9" name="obj-039: 独立分 bank SRAM"/>
          <p:cNvSpPr txBox="1"/>
          <p:nvPr/>
        </p:nvSpPr>
        <p:spPr>
          <a:xfrm>
            <a:off x="13055049" y="2244572"/>
            <a:ext cx="1827511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独立分 bank SRAM</a:t>
            </a:r>
          </a:p>
        </p:txBody>
      </p:sp>
      <p:sp>
        <p:nvSpPr>
          <p:cNvPr id="40" name="tag-C9-39"/>
          <p:cNvSpPr/>
          <p:nvPr/>
        </p:nvSpPr>
        <p:spPr>
          <a:xfrm>
            <a:off x="14533581" y="2567850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bj-041: C9"/>
          <p:cNvSpPr txBox="1"/>
          <p:nvPr/>
        </p:nvSpPr>
        <p:spPr>
          <a:xfrm>
            <a:off x="14547230" y="2578393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2" name="npu-transfer"/>
          <p:cNvSpPr/>
          <p:nvPr/>
        </p:nvSpPr>
        <p:spPr>
          <a:xfrm>
            <a:off x="15211313" y="1769633"/>
            <a:ext cx="1581374" cy="1325342"/>
          </a:xfrm>
          <a:prstGeom prst="roundRect">
            <a:avLst>
              <a:gd name="adj" fmla="val 3409"/>
            </a:avLst>
          </a:prstGeom>
          <a:solidFill>
            <a:srgbClr val="EAF5F1"/>
          </a:solidFill>
          <a:ln w="15061" cap="flat">
            <a:solidFill>
              <a:srgbClr val="16867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bj-043: NPU / GB"/>
          <p:cNvSpPr txBox="1"/>
          <p:nvPr/>
        </p:nvSpPr>
        <p:spPr>
          <a:xfrm>
            <a:off x="15487471" y="1927921"/>
            <a:ext cx="1029058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4" name="obj-044: 搬运引擎"/>
          <p:cNvSpPr txBox="1"/>
          <p:nvPr/>
        </p:nvSpPr>
        <p:spPr>
          <a:xfrm>
            <a:off x="15569005" y="2185760"/>
            <a:ext cx="865991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</a:p>
        </p:txBody>
      </p:sp>
      <p:sp>
        <p:nvSpPr>
          <p:cNvPr id="45" name="obj-045: DDR ↔ GB"/>
          <p:cNvSpPr txBox="1"/>
          <p:nvPr/>
        </p:nvSpPr>
        <p:spPr>
          <a:xfrm>
            <a:off x="15498390" y="2419201"/>
            <a:ext cx="1007220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sp>
        <p:nvSpPr>
          <p:cNvPr id="46" name="tag-C7-45"/>
          <p:cNvSpPr/>
          <p:nvPr/>
        </p:nvSpPr>
        <p:spPr>
          <a:xfrm>
            <a:off x="16340866" y="2771170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bj-047: C7"/>
          <p:cNvSpPr txBox="1"/>
          <p:nvPr/>
        </p:nvSpPr>
        <p:spPr>
          <a:xfrm>
            <a:off x="16354515" y="2781712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48" name="npu-router"/>
          <p:cNvCxnSpPr/>
          <p:nvPr/>
        </p:nvCxnSpPr>
        <p:spPr>
          <a:xfrm>
            <a:off x="10693101" y="2387122"/>
            <a:ext cx="225911" cy="0"/>
          </a:xfrm>
          <a:prstGeom prst="line">
            <a:avLst/>
          </a:prstGeom>
          <a:ln w="26356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9" name="router-gb"/>
          <p:cNvCxnSpPr/>
          <p:nvPr/>
        </p:nvCxnSpPr>
        <p:spPr>
          <a:xfrm>
            <a:off x="12726296" y="2387122"/>
            <a:ext cx="225911" cy="0"/>
          </a:xfrm>
          <a:prstGeom prst="line">
            <a:avLst/>
          </a:prstGeom>
          <a:ln w="26356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50" name="transfer-router"/>
          <p:cNvSpPr/>
          <p:nvPr/>
        </p:nvSpPr>
        <p:spPr>
          <a:xfrm>
            <a:off x="11822654" y="2861534"/>
            <a:ext cx="4179346" cy="406639"/>
          </a:xfrm>
          <a:custGeom>
            <a:avLst/>
            <a:gdLst/>
            <a:ahLst/>
            <a:cxnLst/>
            <a:rect l="0" t="0" r="r" b="b"/>
            <a:pathLst>
              <a:path w="4179346" h="406639" fill="none">
                <a:moveTo>
                  <a:pt x="4179346" y="233441"/>
                </a:moveTo>
                <a:lnTo>
                  <a:pt x="4179346" y="406639"/>
                </a:lnTo>
                <a:lnTo>
                  <a:pt x="0" y="406639"/>
                </a:lnTo>
                <a:lnTo>
                  <a:pt x="0" y="0"/>
                </a:lnTo>
              </a:path>
            </a:pathLst>
          </a:custGeom>
          <a:noFill/>
          <a:ln w="26356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ara-gb"/>
          <p:cNvSpPr/>
          <p:nvPr/>
        </p:nvSpPr>
        <p:spPr>
          <a:xfrm>
            <a:off x="6212541" y="1701860"/>
            <a:ext cx="5346551" cy="700323"/>
          </a:xfrm>
          <a:custGeom>
            <a:avLst/>
            <a:gdLst/>
            <a:ahLst/>
            <a:cxnLst/>
            <a:rect l="0" t="0" r="r" b="b"/>
            <a:pathLst>
              <a:path w="5346551" h="700323" fill="none">
                <a:moveTo>
                  <a:pt x="0" y="700323"/>
                </a:moveTo>
                <a:lnTo>
                  <a:pt x="112955" y="700323"/>
                </a:lnTo>
                <a:lnTo>
                  <a:pt x="112955" y="512064"/>
                </a:lnTo>
                <a:lnTo>
                  <a:pt x="2251576" y="512064"/>
                </a:lnTo>
                <a:lnTo>
                  <a:pt x="2251576" y="0"/>
                </a:lnTo>
                <a:lnTo>
                  <a:pt x="5346551" y="0"/>
                </a:lnTo>
                <a:lnTo>
                  <a:pt x="5346551" y="218380"/>
                </a:lnTo>
              </a:path>
            </a:pathLst>
          </a:custGeom>
          <a:noFill/>
          <a:ln w="26356" cap="flat">
            <a:solidFill>
              <a:srgbClr val="16867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bj-052: GB 分支"/>
          <p:cNvSpPr txBox="1"/>
          <p:nvPr/>
        </p:nvSpPr>
        <p:spPr>
          <a:xfrm>
            <a:off x="9444704" y="1674751"/>
            <a:ext cx="689510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GB 分支</a:t>
            </a:r>
          </a:p>
        </p:txBody>
      </p:sp>
      <p:sp>
        <p:nvSpPr>
          <p:cNvPr id="53" name="image-domain"/>
          <p:cNvSpPr/>
          <p:nvPr/>
        </p:nvSpPr>
        <p:spPr>
          <a:xfrm>
            <a:off x="17244508" y="1242508"/>
            <a:ext cx="7756264" cy="2183802"/>
          </a:xfrm>
          <a:prstGeom prst="roundRect">
            <a:avLst>
              <a:gd name="adj" fmla="val 3448"/>
            </a:avLst>
          </a:prstGeom>
          <a:solidFill>
            <a:srgbClr val="FFFBF5"/>
          </a:solidFill>
          <a:ln w="15061" cap="flat">
            <a:solidFill>
              <a:srgbClr val="C17A30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bj-054: LVDS / ISP / 图像帧写入"/>
          <p:cNvSpPr txBox="1"/>
          <p:nvPr/>
        </p:nvSpPr>
        <p:spPr>
          <a:xfrm>
            <a:off x="17432767" y="1284678"/>
            <a:ext cx="2714245" cy="3614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8" b="1" i="0">
                <a:solidFill>
                  <a:srgbClr val="C17A30"/>
                </a:solidFill>
                <a:latin typeface="Microsoft YaHei"/>
                <a:ea typeface="Microsoft YaHei"/>
                <a:cs typeface="Microsoft YaHei"/>
              </a:rPr>
              <a:t>LVDS / ISP / 图像帧写入</a:t>
            </a:r>
          </a:p>
        </p:txBody>
      </p:sp>
      <p:sp>
        <p:nvSpPr>
          <p:cNvPr id="55" name="lvds"/>
          <p:cNvSpPr/>
          <p:nvPr/>
        </p:nvSpPr>
        <p:spPr>
          <a:xfrm>
            <a:off x="17470419" y="2311818"/>
            <a:ext cx="1204856" cy="865991"/>
          </a:xfrm>
          <a:prstGeom prst="roundRect">
            <a:avLst>
              <a:gd name="adj" fmla="val 5217"/>
            </a:avLst>
          </a:prstGeom>
          <a:solidFill>
            <a:srgbClr val="FFF2DF"/>
          </a:solidFill>
          <a:ln w="15061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bj-056: LVDS 接收"/>
          <p:cNvSpPr txBox="1"/>
          <p:nvPr/>
        </p:nvSpPr>
        <p:spPr>
          <a:xfrm>
            <a:off x="17520943" y="2357151"/>
            <a:ext cx="1103809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57" name="obj-057: 解串 / 帧行"/>
          <p:cNvSpPr txBox="1"/>
          <p:nvPr/>
        </p:nvSpPr>
        <p:spPr>
          <a:xfrm>
            <a:off x="17542934" y="2614990"/>
            <a:ext cx="1059827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58" name="pixel-cdc"/>
          <p:cNvSpPr/>
          <p:nvPr/>
        </p:nvSpPr>
        <p:spPr>
          <a:xfrm>
            <a:off x="18825882" y="2311818"/>
            <a:ext cx="1129553" cy="865991"/>
          </a:xfrm>
          <a:prstGeom prst="roundRect">
            <a:avLst>
              <a:gd name="adj" fmla="val 5217"/>
            </a:avLst>
          </a:prstGeom>
          <a:solidFill>
            <a:srgbClr val="FFF2DF"/>
          </a:solidFill>
          <a:ln w="15061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bj-059: CDC / FIFO"/>
          <p:cNvSpPr txBox="1"/>
          <p:nvPr/>
        </p:nvSpPr>
        <p:spPr>
          <a:xfrm>
            <a:off x="18880195" y="2373643"/>
            <a:ext cx="1020928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60" name="obj-060: 像素缓冲"/>
          <p:cNvSpPr txBox="1"/>
          <p:nvPr/>
        </p:nvSpPr>
        <p:spPr>
          <a:xfrm>
            <a:off x="19014141" y="2631482"/>
            <a:ext cx="753035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像素缓冲</a:t>
            </a:r>
          </a:p>
        </p:txBody>
      </p:sp>
      <p:sp>
        <p:nvSpPr>
          <p:cNvPr id="61" name="isp"/>
          <p:cNvSpPr/>
          <p:nvPr/>
        </p:nvSpPr>
        <p:spPr>
          <a:xfrm>
            <a:off x="20106042" y="2311818"/>
            <a:ext cx="1129553" cy="865991"/>
          </a:xfrm>
          <a:prstGeom prst="roundRect">
            <a:avLst>
              <a:gd name="adj" fmla="val 5217"/>
            </a:avLst>
          </a:prstGeom>
          <a:solidFill>
            <a:srgbClr val="FFF2DF"/>
          </a:solidFill>
          <a:ln w="15061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bj-062: ISP"/>
          <p:cNvSpPr txBox="1"/>
          <p:nvPr/>
        </p:nvSpPr>
        <p:spPr>
          <a:xfrm>
            <a:off x="20441290" y="2362648"/>
            <a:ext cx="459057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63" name="obj-063: 行缓冲 / 处理"/>
          <p:cNvSpPr txBox="1"/>
          <p:nvPr/>
        </p:nvSpPr>
        <p:spPr>
          <a:xfrm>
            <a:off x="20081116" y="2620488"/>
            <a:ext cx="1179406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行缓冲 / 处理</a:t>
            </a:r>
          </a:p>
        </p:txBody>
      </p:sp>
      <p:sp>
        <p:nvSpPr>
          <p:cNvPr id="64" name="frame-select"/>
          <p:cNvSpPr/>
          <p:nvPr/>
        </p:nvSpPr>
        <p:spPr>
          <a:xfrm>
            <a:off x="21386202" y="2311818"/>
            <a:ext cx="1204856" cy="865991"/>
          </a:xfrm>
          <a:prstGeom prst="roundRect">
            <a:avLst>
              <a:gd name="adj" fmla="val 5217"/>
            </a:avLst>
          </a:prstGeom>
          <a:solidFill>
            <a:srgbClr val="FFF2DF"/>
          </a:solidFill>
          <a:ln w="15061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bj-065: 帧边界选择"/>
          <p:cNvSpPr txBox="1"/>
          <p:nvPr/>
        </p:nvSpPr>
        <p:spPr>
          <a:xfrm>
            <a:off x="21469036" y="2373643"/>
            <a:ext cx="1039189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66" name="obj-066: RAW / ISP"/>
          <p:cNvSpPr txBox="1"/>
          <p:nvPr/>
        </p:nvSpPr>
        <p:spPr>
          <a:xfrm>
            <a:off x="21570255" y="2631482"/>
            <a:ext cx="836752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67" name="frame-dma"/>
          <p:cNvSpPr/>
          <p:nvPr/>
        </p:nvSpPr>
        <p:spPr>
          <a:xfrm>
            <a:off x="22741666" y="2311818"/>
            <a:ext cx="2033195" cy="865991"/>
          </a:xfrm>
          <a:prstGeom prst="roundRect">
            <a:avLst>
              <a:gd name="adj" fmla="val 5217"/>
            </a:avLst>
          </a:prstGeom>
          <a:solidFill>
            <a:srgbClr val="FFF2DF"/>
          </a:solidFill>
          <a:ln w="15061" cap="flat">
            <a:solidFill>
              <a:srgbClr val="C17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bj-068: 图像帧写入 DMA"/>
          <p:cNvSpPr txBox="1"/>
          <p:nvPr/>
        </p:nvSpPr>
        <p:spPr>
          <a:xfrm>
            <a:off x="22942026" y="2357151"/>
            <a:ext cx="1632475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图像帧写入 DMA</a:t>
            </a:r>
          </a:p>
        </p:txBody>
      </p:sp>
      <p:sp>
        <p:nvSpPr>
          <p:cNvPr id="69" name="obj-069: 地址 / stride / 打包"/>
          <p:cNvSpPr txBox="1"/>
          <p:nvPr/>
        </p:nvSpPr>
        <p:spPr>
          <a:xfrm>
            <a:off x="22917041" y="2614990"/>
            <a:ext cx="1682446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地址 / stride / 打包</a:t>
            </a:r>
          </a:p>
        </p:txBody>
      </p:sp>
      <p:sp>
        <p:nvSpPr>
          <p:cNvPr id="70" name="tag-C4-69"/>
          <p:cNvSpPr/>
          <p:nvPr/>
        </p:nvSpPr>
        <p:spPr>
          <a:xfrm>
            <a:off x="18223454" y="2869064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obj-071: C4"/>
          <p:cNvSpPr txBox="1"/>
          <p:nvPr/>
        </p:nvSpPr>
        <p:spPr>
          <a:xfrm>
            <a:off x="18237103" y="2879607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72" name="tag-C5-71"/>
          <p:cNvSpPr/>
          <p:nvPr/>
        </p:nvSpPr>
        <p:spPr>
          <a:xfrm>
            <a:off x="20783774" y="2869064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bj-073: C5"/>
          <p:cNvSpPr txBox="1"/>
          <p:nvPr/>
        </p:nvSpPr>
        <p:spPr>
          <a:xfrm>
            <a:off x="20797423" y="2879607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74" name="tag-C8-73"/>
          <p:cNvSpPr/>
          <p:nvPr/>
        </p:nvSpPr>
        <p:spPr>
          <a:xfrm>
            <a:off x="24323040" y="2869064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bj-075: C8"/>
          <p:cNvSpPr txBox="1"/>
          <p:nvPr/>
        </p:nvSpPr>
        <p:spPr>
          <a:xfrm>
            <a:off x="24336689" y="2879607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76" name="lvds-cdc"/>
          <p:cNvCxnSpPr/>
          <p:nvPr/>
        </p:nvCxnSpPr>
        <p:spPr>
          <a:xfrm>
            <a:off x="18675275" y="2635624"/>
            <a:ext cx="150607" cy="0"/>
          </a:xfrm>
          <a:prstGeom prst="line">
            <a:avLst/>
          </a:prstGeom>
          <a:ln w="22591" cap="flat">
            <a:solidFill>
              <a:srgbClr val="C17A30"/>
            </a:solidFill>
            <a:tailEnd type="triangle" w="med" len="med"/>
          </a:ln>
          <a:effectLst/>
        </p:spPr>
      </p:cxnSp>
      <p:cxnSp>
        <p:nvCxnSpPr>
          <p:cNvPr id="77" name="cdc-isp"/>
          <p:cNvCxnSpPr/>
          <p:nvPr/>
        </p:nvCxnSpPr>
        <p:spPr>
          <a:xfrm>
            <a:off x="19955435" y="2635624"/>
            <a:ext cx="150607" cy="0"/>
          </a:xfrm>
          <a:prstGeom prst="line">
            <a:avLst/>
          </a:prstGeom>
          <a:ln w="22591" cap="flat">
            <a:solidFill>
              <a:srgbClr val="C17A30"/>
            </a:solidFill>
            <a:tailEnd type="triangle" w="med" len="med"/>
          </a:ln>
          <a:effectLst/>
        </p:spPr>
      </p:cxnSp>
      <p:cxnSp>
        <p:nvCxnSpPr>
          <p:cNvPr id="78" name="isp-select"/>
          <p:cNvCxnSpPr/>
          <p:nvPr/>
        </p:nvCxnSpPr>
        <p:spPr>
          <a:xfrm>
            <a:off x="21235595" y="2635624"/>
            <a:ext cx="150607" cy="0"/>
          </a:xfrm>
          <a:prstGeom prst="line">
            <a:avLst/>
          </a:prstGeom>
          <a:ln w="22591" cap="flat">
            <a:solidFill>
              <a:srgbClr val="C17A30"/>
            </a:solidFill>
            <a:tailEnd type="triangle" w="med" len="med"/>
          </a:ln>
          <a:effectLst/>
        </p:spPr>
      </p:cxnSp>
      <p:cxnSp>
        <p:nvCxnSpPr>
          <p:cNvPr id="79" name="select-dma"/>
          <p:cNvCxnSpPr/>
          <p:nvPr/>
        </p:nvCxnSpPr>
        <p:spPr>
          <a:xfrm>
            <a:off x="22591059" y="2635624"/>
            <a:ext cx="150607" cy="0"/>
          </a:xfrm>
          <a:prstGeom prst="line">
            <a:avLst/>
          </a:prstGeom>
          <a:ln w="22591" cap="flat">
            <a:solidFill>
              <a:srgbClr val="C17A30"/>
            </a:solidFill>
            <a:tailEnd type="triangle" w="med" len="med"/>
          </a:ln>
          <a:effectLst/>
        </p:spPr>
      </p:cxnSp>
      <p:sp>
        <p:nvSpPr>
          <p:cNvPr id="80" name="raw-path"/>
          <p:cNvSpPr/>
          <p:nvPr/>
        </p:nvSpPr>
        <p:spPr>
          <a:xfrm>
            <a:off x="20030739" y="2153681"/>
            <a:ext cx="1957892" cy="481943"/>
          </a:xfrm>
          <a:custGeom>
            <a:avLst/>
            <a:gdLst/>
            <a:ahLst/>
            <a:cxnLst/>
            <a:rect l="0" t="0" r="r" b="b"/>
            <a:pathLst>
              <a:path w="1957892" h="481943" fill="none">
                <a:moveTo>
                  <a:pt x="0" y="481943"/>
                </a:moveTo>
                <a:lnTo>
                  <a:pt x="0" y="0"/>
                </a:lnTo>
                <a:lnTo>
                  <a:pt x="1957892" y="0"/>
                </a:lnTo>
                <a:lnTo>
                  <a:pt x="1957892" y="158137"/>
                </a:lnTo>
              </a:path>
            </a:pathLst>
          </a:custGeom>
          <a:noFill/>
          <a:ln w="21085" cap="flat">
            <a:solidFill>
              <a:srgbClr val="C17A3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aw-junction"/>
          <p:cNvSpPr/>
          <p:nvPr/>
        </p:nvSpPr>
        <p:spPr>
          <a:xfrm>
            <a:off x="20000617" y="2605502"/>
            <a:ext cx="60243" cy="60243"/>
          </a:xfrm>
          <a:prstGeom prst="ellipse">
            <a:avLst/>
          </a:prstGeom>
          <a:solidFill>
            <a:srgbClr val="C17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obj-082: RAW 旁路"/>
          <p:cNvSpPr txBox="1"/>
          <p:nvPr/>
        </p:nvSpPr>
        <p:spPr>
          <a:xfrm>
            <a:off x="21664978" y="1878070"/>
            <a:ext cx="797911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C17A30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3" name="isp-gb"/>
          <p:cNvSpPr/>
          <p:nvPr/>
        </p:nvSpPr>
        <p:spPr>
          <a:xfrm>
            <a:off x="12387431" y="1724451"/>
            <a:ext cx="8418935" cy="587368"/>
          </a:xfrm>
          <a:custGeom>
            <a:avLst/>
            <a:gdLst/>
            <a:ahLst/>
            <a:cxnLst/>
            <a:rect l="0" t="0" r="r" b="b"/>
            <a:pathLst>
              <a:path w="8418935" h="587368" fill="none">
                <a:moveTo>
                  <a:pt x="8283388" y="587368"/>
                </a:moveTo>
                <a:lnTo>
                  <a:pt x="8283388" y="504534"/>
                </a:lnTo>
                <a:cubicBezTo>
                  <a:pt x="8418935" y="504534"/>
                  <a:pt x="8418935" y="353927"/>
                  <a:pt x="8283388" y="353927"/>
                </a:cubicBezTo>
                <a:lnTo>
                  <a:pt x="8283388" y="0"/>
                </a:lnTo>
                <a:lnTo>
                  <a:pt x="0" y="0"/>
                </a:lnTo>
                <a:lnTo>
                  <a:pt x="0" y="195789"/>
                </a:lnTo>
              </a:path>
            </a:pathLst>
          </a:custGeom>
          <a:noFill/>
          <a:ln w="22591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obj-084: ISP 中间数据 ↔ GB"/>
          <p:cNvSpPr txBox="1"/>
          <p:nvPr/>
        </p:nvSpPr>
        <p:spPr>
          <a:xfrm>
            <a:off x="18177037" y="1719933"/>
            <a:ext cx="144829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0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85" name="obj-085: AXI master / 发起端"/>
          <p:cNvSpPr txBox="1"/>
          <p:nvPr/>
        </p:nvSpPr>
        <p:spPr>
          <a:xfrm>
            <a:off x="8961120" y="3720597"/>
            <a:ext cx="1777104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AXI master / 发起端</a:t>
            </a:r>
          </a:p>
        </p:txBody>
      </p:sp>
      <p:sp>
        <p:nvSpPr>
          <p:cNvPr id="86" name="debug-master"/>
          <p:cNvSpPr/>
          <p:nvPr/>
        </p:nvSpPr>
        <p:spPr>
          <a:xfrm>
            <a:off x="2183802" y="4126633"/>
            <a:ext cx="1204856" cy="542185"/>
          </a:xfrm>
          <a:prstGeom prst="roundRect">
            <a:avLst>
              <a:gd name="adj" fmla="val 8333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obj-087: Debug / SBA"/>
          <p:cNvSpPr txBox="1"/>
          <p:nvPr/>
        </p:nvSpPr>
        <p:spPr>
          <a:xfrm>
            <a:off x="2181390" y="4265794"/>
            <a:ext cx="1209681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cxnSp>
        <p:nvCxnSpPr>
          <p:cNvPr id="88" name="source-S1"/>
          <p:cNvCxnSpPr/>
          <p:nvPr/>
        </p:nvCxnSpPr>
        <p:spPr>
          <a:xfrm>
            <a:off x="2786231" y="4668819"/>
            <a:ext cx="0" cy="338866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89" name="idma-master"/>
          <p:cNvSpPr/>
          <p:nvPr/>
        </p:nvSpPr>
        <p:spPr>
          <a:xfrm>
            <a:off x="6174889" y="4126633"/>
            <a:ext cx="1204856" cy="542185"/>
          </a:xfrm>
          <a:prstGeom prst="roundRect">
            <a:avLst>
              <a:gd name="adj" fmla="val 8333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bj-090: iDMA 数据"/>
          <p:cNvSpPr txBox="1"/>
          <p:nvPr/>
        </p:nvSpPr>
        <p:spPr>
          <a:xfrm>
            <a:off x="6273343" y="4265794"/>
            <a:ext cx="1007950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iDMA 数据</a:t>
            </a:r>
          </a:p>
        </p:txBody>
      </p:sp>
      <p:cxnSp>
        <p:nvCxnSpPr>
          <p:cNvPr id="91" name="source-S3"/>
          <p:cNvCxnSpPr/>
          <p:nvPr/>
        </p:nvCxnSpPr>
        <p:spPr>
          <a:xfrm>
            <a:off x="6777318" y="4668819"/>
            <a:ext cx="0" cy="338866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92" name="slink-master"/>
          <p:cNvSpPr/>
          <p:nvPr/>
        </p:nvSpPr>
        <p:spPr>
          <a:xfrm>
            <a:off x="7605656" y="4126633"/>
            <a:ext cx="1656678" cy="542185"/>
          </a:xfrm>
          <a:prstGeom prst="roundRect">
            <a:avLst>
              <a:gd name="adj" fmla="val 8333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bj-093: Serial Link RX"/>
          <p:cNvSpPr txBox="1"/>
          <p:nvPr/>
        </p:nvSpPr>
        <p:spPr>
          <a:xfrm>
            <a:off x="7798622" y="4265794"/>
            <a:ext cx="1270747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cxnSp>
        <p:nvCxnSpPr>
          <p:cNvPr id="94" name="source-S4"/>
          <p:cNvCxnSpPr/>
          <p:nvPr/>
        </p:nvCxnSpPr>
        <p:spPr>
          <a:xfrm>
            <a:off x="8433995" y="4668819"/>
            <a:ext cx="0" cy="338866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95" name="vga-master"/>
          <p:cNvSpPr/>
          <p:nvPr/>
        </p:nvSpPr>
        <p:spPr>
          <a:xfrm>
            <a:off x="9412941" y="4126633"/>
            <a:ext cx="1204856" cy="542185"/>
          </a:xfrm>
          <a:prstGeom prst="roundRect">
            <a:avLst>
              <a:gd name="adj" fmla="val 8333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bj-096: VGA 取帧"/>
          <p:cNvSpPr txBox="1"/>
          <p:nvPr/>
        </p:nvSpPr>
        <p:spPr>
          <a:xfrm>
            <a:off x="9556489" y="4265794"/>
            <a:ext cx="91776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VGA 取帧</a:t>
            </a:r>
          </a:p>
        </p:txBody>
      </p:sp>
      <p:cxnSp>
        <p:nvCxnSpPr>
          <p:cNvPr id="97" name="source-S5"/>
          <p:cNvCxnSpPr/>
          <p:nvPr/>
        </p:nvCxnSpPr>
        <p:spPr>
          <a:xfrm>
            <a:off x="10015369" y="4668819"/>
            <a:ext cx="0" cy="338866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98" name="usb-master"/>
          <p:cNvSpPr/>
          <p:nvPr/>
        </p:nvSpPr>
        <p:spPr>
          <a:xfrm>
            <a:off x="10843708" y="4126633"/>
            <a:ext cx="1204856" cy="542185"/>
          </a:xfrm>
          <a:prstGeom prst="roundRect">
            <a:avLst>
              <a:gd name="adj" fmla="val 8333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bj-099: USB DMA"/>
          <p:cNvSpPr txBox="1"/>
          <p:nvPr/>
        </p:nvSpPr>
        <p:spPr>
          <a:xfrm>
            <a:off x="10974813" y="4265794"/>
            <a:ext cx="942647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cxnSp>
        <p:nvCxnSpPr>
          <p:cNvPr id="100" name="source-S6"/>
          <p:cNvCxnSpPr/>
          <p:nvPr/>
        </p:nvCxnSpPr>
        <p:spPr>
          <a:xfrm>
            <a:off x="11446136" y="4668819"/>
            <a:ext cx="0" cy="338866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01" name="axi-ext-master"/>
          <p:cNvSpPr/>
          <p:nvPr/>
        </p:nvSpPr>
        <p:spPr>
          <a:xfrm>
            <a:off x="12274475" y="4126633"/>
            <a:ext cx="1054249" cy="542185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bj-102: AXI 扩展"/>
          <p:cNvSpPr txBox="1"/>
          <p:nvPr/>
        </p:nvSpPr>
        <p:spPr>
          <a:xfrm>
            <a:off x="12380665" y="4149074"/>
            <a:ext cx="841870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扩展</a:t>
            </a:r>
          </a:p>
        </p:txBody>
      </p:sp>
      <p:sp>
        <p:nvSpPr>
          <p:cNvPr id="103" name="obj-103: master"/>
          <p:cNvSpPr txBox="1"/>
          <p:nvPr/>
        </p:nvSpPr>
        <p:spPr>
          <a:xfrm>
            <a:off x="12480919" y="4406913"/>
            <a:ext cx="641363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cxnSp>
        <p:nvCxnSpPr>
          <p:cNvPr id="104" name="source-S_EXT"/>
          <p:cNvCxnSpPr/>
          <p:nvPr/>
        </p:nvCxnSpPr>
        <p:spPr>
          <a:xfrm>
            <a:off x="12801600" y="4668819"/>
            <a:ext cx="0" cy="338866"/>
          </a:xfrm>
          <a:prstGeom prst="line">
            <a:avLst/>
          </a:prstGeom>
          <a:ln w="22591" cap="flat">
            <a:solidFill>
              <a:srgbClr val="8B99A7"/>
            </a:solidFill>
            <a:custDash>
              <a:ds d="266667" sp="200000"/>
            </a:custDash>
            <a:tailEnd type="triangle" w="med" len="med"/>
          </a:ln>
          <a:effectLst/>
        </p:spPr>
      </p:cxnSp>
      <p:sp>
        <p:nvSpPr>
          <p:cNvPr id="105" name="source-S0"/>
          <p:cNvSpPr/>
          <p:nvPr/>
        </p:nvSpPr>
        <p:spPr>
          <a:xfrm>
            <a:off x="1280160" y="2891656"/>
            <a:ext cx="451821" cy="2116029"/>
          </a:xfrm>
          <a:custGeom>
            <a:avLst/>
            <a:gdLst/>
            <a:ahLst/>
            <a:cxnLst/>
            <a:rect l="0" t="0" r="r" b="b"/>
            <a:pathLst>
              <a:path w="451821" h="2116029" fill="none">
                <a:moveTo>
                  <a:pt x="451821" y="0"/>
                </a:moveTo>
                <a:lnTo>
                  <a:pt x="451821" y="775626"/>
                </a:lnTo>
                <a:lnTo>
                  <a:pt x="0" y="775626"/>
                </a:lnTo>
                <a:lnTo>
                  <a:pt x="0" y="2116029"/>
                </a:lnTo>
              </a:path>
            </a:pathLst>
          </a:custGeom>
          <a:noFill/>
          <a:ln w="26356" cap="flat">
            <a:solidFill>
              <a:srgbClr val="347B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source-S2"/>
          <p:cNvSpPr/>
          <p:nvPr/>
        </p:nvSpPr>
        <p:spPr>
          <a:xfrm>
            <a:off x="4894729" y="2884125"/>
            <a:ext cx="2409713" cy="2123560"/>
          </a:xfrm>
          <a:custGeom>
            <a:avLst/>
            <a:gdLst/>
            <a:ahLst/>
            <a:cxnLst/>
            <a:rect l="0" t="0" r="r" b="b"/>
            <a:pathLst>
              <a:path w="2409713" h="2123560" fill="none">
                <a:moveTo>
                  <a:pt x="2409713" y="0"/>
                </a:moveTo>
                <a:lnTo>
                  <a:pt x="2409713" y="790687"/>
                </a:lnTo>
                <a:lnTo>
                  <a:pt x="0" y="790687"/>
                </a:lnTo>
                <a:lnTo>
                  <a:pt x="0" y="2123560"/>
                </a:lnTo>
              </a:path>
            </a:pathLst>
          </a:custGeom>
          <a:noFill/>
          <a:ln w="26356" cap="flat">
            <a:solidFill>
              <a:srgbClr val="347B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obj-107: Ara 普通地址"/>
          <p:cNvSpPr txBox="1"/>
          <p:nvPr/>
        </p:nvSpPr>
        <p:spPr>
          <a:xfrm>
            <a:off x="3559939" y="3758851"/>
            <a:ext cx="1163510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108" name="xbar"/>
          <p:cNvSpPr/>
          <p:nvPr/>
        </p:nvSpPr>
        <p:spPr>
          <a:xfrm>
            <a:off x="451821" y="5007685"/>
            <a:ext cx="12952207" cy="1054249"/>
          </a:xfrm>
          <a:prstGeom prst="roundRect">
            <a:avLst>
              <a:gd name="adj" fmla="val 3571"/>
            </a:avLst>
          </a:prstGeom>
          <a:solidFill>
            <a:srgbClr val="DDEAF5"/>
          </a:solidFill>
          <a:ln w="2259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obj-109: AXI Crossbar"/>
          <p:cNvSpPr txBox="1"/>
          <p:nvPr/>
        </p:nvSpPr>
        <p:spPr>
          <a:xfrm>
            <a:off x="5987584" y="5112808"/>
            <a:ext cx="1880682" cy="4578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10" name="obj-110: 64 bit / 48 bit 地址 · 7 × 5 基础端口 + 扩展"/>
          <p:cNvSpPr txBox="1"/>
          <p:nvPr/>
        </p:nvSpPr>
        <p:spPr>
          <a:xfrm>
            <a:off x="4859278" y="5503483"/>
            <a:ext cx="4137294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64 bit / 48 bit 地址 · 7 × 5 基础端口 + 扩展</a:t>
            </a:r>
          </a:p>
        </p:txBody>
      </p:sp>
      <p:sp>
        <p:nvSpPr>
          <p:cNvPr id="111" name="obj-111: 地址译码 / 目标仲裁 / 响应返回"/>
          <p:cNvSpPr txBox="1"/>
          <p:nvPr/>
        </p:nvSpPr>
        <p:spPr>
          <a:xfrm>
            <a:off x="715384" y="5771865"/>
            <a:ext cx="2180272" cy="2289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地址译码 / 目标仲裁 / 响应返回</a:t>
            </a:r>
          </a:p>
        </p:txBody>
      </p:sp>
      <p:sp>
        <p:nvSpPr>
          <p:cNvPr id="112" name="obj-112: AXI RT 可选 · 空洞返回 DECERR"/>
          <p:cNvSpPr txBox="1"/>
          <p:nvPr/>
        </p:nvSpPr>
        <p:spPr>
          <a:xfrm>
            <a:off x="11015530" y="5771865"/>
            <a:ext cx="2124936" cy="2289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6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AXI RT 可选 · 空洞返回 DECERR</a:t>
            </a:r>
          </a:p>
        </p:txBody>
      </p:sp>
      <p:sp>
        <p:nvSpPr>
          <p:cNvPr id="113" name="pin-S0"/>
          <p:cNvSpPr/>
          <p:nvPr/>
        </p:nvSpPr>
        <p:spPr>
          <a:xfrm>
            <a:off x="956355" y="4894729"/>
            <a:ext cx="647610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obj-114: S0"/>
          <p:cNvSpPr txBox="1"/>
          <p:nvPr/>
        </p:nvSpPr>
        <p:spPr>
          <a:xfrm>
            <a:off x="1104726" y="4897139"/>
            <a:ext cx="350867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15" name="pin-S1"/>
          <p:cNvSpPr/>
          <p:nvPr/>
        </p:nvSpPr>
        <p:spPr>
          <a:xfrm>
            <a:off x="2462425" y="4894729"/>
            <a:ext cx="647610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obj-116: S1"/>
          <p:cNvSpPr txBox="1"/>
          <p:nvPr/>
        </p:nvSpPr>
        <p:spPr>
          <a:xfrm>
            <a:off x="2610797" y="4897139"/>
            <a:ext cx="350867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17" name="pin-S2"/>
          <p:cNvSpPr/>
          <p:nvPr/>
        </p:nvSpPr>
        <p:spPr>
          <a:xfrm>
            <a:off x="4570924" y="4894729"/>
            <a:ext cx="647610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obj-118: S2"/>
          <p:cNvSpPr txBox="1"/>
          <p:nvPr/>
        </p:nvSpPr>
        <p:spPr>
          <a:xfrm>
            <a:off x="4719296" y="4897139"/>
            <a:ext cx="350867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19" name="pin-S3"/>
          <p:cNvSpPr/>
          <p:nvPr/>
        </p:nvSpPr>
        <p:spPr>
          <a:xfrm>
            <a:off x="6453512" y="4894729"/>
            <a:ext cx="647610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obj-120: S3"/>
          <p:cNvSpPr txBox="1"/>
          <p:nvPr/>
        </p:nvSpPr>
        <p:spPr>
          <a:xfrm>
            <a:off x="6601884" y="4897139"/>
            <a:ext cx="350867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21" name="pin-S4"/>
          <p:cNvSpPr/>
          <p:nvPr/>
        </p:nvSpPr>
        <p:spPr>
          <a:xfrm>
            <a:off x="8110190" y="4894729"/>
            <a:ext cx="647610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obj-122: S4"/>
          <p:cNvSpPr txBox="1"/>
          <p:nvPr/>
        </p:nvSpPr>
        <p:spPr>
          <a:xfrm>
            <a:off x="8258562" y="4897139"/>
            <a:ext cx="350867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23" name="pin-S5"/>
          <p:cNvSpPr/>
          <p:nvPr/>
        </p:nvSpPr>
        <p:spPr>
          <a:xfrm>
            <a:off x="9691564" y="4894729"/>
            <a:ext cx="647610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obj-124: S5"/>
          <p:cNvSpPr txBox="1"/>
          <p:nvPr/>
        </p:nvSpPr>
        <p:spPr>
          <a:xfrm>
            <a:off x="9839936" y="4897139"/>
            <a:ext cx="350867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25" name="pin-S6"/>
          <p:cNvSpPr/>
          <p:nvPr/>
        </p:nvSpPr>
        <p:spPr>
          <a:xfrm>
            <a:off x="11122331" y="4894729"/>
            <a:ext cx="647610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obj-126: S6"/>
          <p:cNvSpPr txBox="1"/>
          <p:nvPr/>
        </p:nvSpPr>
        <p:spPr>
          <a:xfrm>
            <a:off x="11270703" y="4897139"/>
            <a:ext cx="350867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27" name="pin-S_EXT"/>
          <p:cNvSpPr/>
          <p:nvPr/>
        </p:nvSpPr>
        <p:spPr>
          <a:xfrm>
            <a:off x="12477795" y="4894729"/>
            <a:ext cx="647610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obj-128: S_EXT"/>
          <p:cNvSpPr txBox="1"/>
          <p:nvPr/>
        </p:nvSpPr>
        <p:spPr>
          <a:xfrm>
            <a:off x="12507640" y="4897139"/>
            <a:ext cx="587921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cxnSp>
        <p:nvCxnSpPr>
          <p:cNvPr id="129" name="target-M0"/>
          <p:cNvCxnSpPr/>
          <p:nvPr/>
        </p:nvCxnSpPr>
        <p:spPr>
          <a:xfrm>
            <a:off x="1430767" y="6061934"/>
            <a:ext cx="0" cy="64008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30" name="pin-M0"/>
          <p:cNvSpPr/>
          <p:nvPr/>
        </p:nvSpPr>
        <p:spPr>
          <a:xfrm>
            <a:off x="1091901" y="5964040"/>
            <a:ext cx="677732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bj-131: M0"/>
          <p:cNvSpPr txBox="1"/>
          <p:nvPr/>
        </p:nvSpPr>
        <p:spPr>
          <a:xfrm>
            <a:off x="1239502" y="5966449"/>
            <a:ext cx="382530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2" name="debug-target"/>
          <p:cNvSpPr/>
          <p:nvPr/>
        </p:nvSpPr>
        <p:spPr>
          <a:xfrm>
            <a:off x="602428" y="6702014"/>
            <a:ext cx="1656678" cy="941294"/>
          </a:xfrm>
          <a:prstGeom prst="roundRect">
            <a:avLst>
              <a:gd name="adj" fmla="val 4800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obj-133: Debug 目标"/>
          <p:cNvSpPr txBox="1"/>
          <p:nvPr/>
        </p:nvSpPr>
        <p:spPr>
          <a:xfrm>
            <a:off x="835940" y="6913015"/>
            <a:ext cx="1189655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4" name="obj-134: 调试地址窗口"/>
          <p:cNvSpPr txBox="1"/>
          <p:nvPr/>
        </p:nvSpPr>
        <p:spPr>
          <a:xfrm>
            <a:off x="824574" y="7170854"/>
            <a:ext cx="1212387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调试地址窗口</a:t>
            </a:r>
          </a:p>
        </p:txBody>
      </p:sp>
      <p:cxnSp>
        <p:nvCxnSpPr>
          <p:cNvPr id="135" name="target-M1"/>
          <p:cNvCxnSpPr/>
          <p:nvPr/>
        </p:nvCxnSpPr>
        <p:spPr>
          <a:xfrm>
            <a:off x="3328416" y="6061934"/>
            <a:ext cx="0" cy="64008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36" name="pin-M1"/>
          <p:cNvSpPr/>
          <p:nvPr/>
        </p:nvSpPr>
        <p:spPr>
          <a:xfrm>
            <a:off x="2989550" y="5964040"/>
            <a:ext cx="677732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obj-137: M1"/>
          <p:cNvSpPr txBox="1"/>
          <p:nvPr/>
        </p:nvSpPr>
        <p:spPr>
          <a:xfrm>
            <a:off x="3137151" y="5966449"/>
            <a:ext cx="382530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8" name="reg-bridge"/>
          <p:cNvSpPr/>
          <p:nvPr/>
        </p:nvSpPr>
        <p:spPr>
          <a:xfrm>
            <a:off x="2447365" y="6702014"/>
            <a:ext cx="1769633" cy="941294"/>
          </a:xfrm>
          <a:prstGeom prst="roundRect">
            <a:avLst>
              <a:gd name="adj" fmla="val 4800"/>
            </a:avLst>
          </a:prstGeom>
          <a:solidFill>
            <a:srgbClr val="F3EDF8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obj-139: AXI → Regbus"/>
          <p:cNvSpPr txBox="1"/>
          <p:nvPr/>
        </p:nvSpPr>
        <p:spPr>
          <a:xfrm>
            <a:off x="2625975" y="6913015"/>
            <a:ext cx="1412412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40" name="obj-140: 原子适配 / 桥接"/>
          <p:cNvSpPr txBox="1"/>
          <p:nvPr/>
        </p:nvSpPr>
        <p:spPr>
          <a:xfrm>
            <a:off x="2629070" y="7170854"/>
            <a:ext cx="1406223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原子适配 / 桥接</a:t>
            </a:r>
          </a:p>
        </p:txBody>
      </p:sp>
      <p:cxnSp>
        <p:nvCxnSpPr>
          <p:cNvPr id="141" name="target-M3"/>
          <p:cNvCxnSpPr/>
          <p:nvPr/>
        </p:nvCxnSpPr>
        <p:spPr>
          <a:xfrm>
            <a:off x="5436915" y="6061934"/>
            <a:ext cx="0" cy="64008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42" name="pin-M3"/>
          <p:cNvSpPr/>
          <p:nvPr/>
        </p:nvSpPr>
        <p:spPr>
          <a:xfrm>
            <a:off x="5098049" y="5964040"/>
            <a:ext cx="677732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bj-143: M3"/>
          <p:cNvSpPr txBox="1"/>
          <p:nvPr/>
        </p:nvSpPr>
        <p:spPr>
          <a:xfrm>
            <a:off x="5245650" y="5966449"/>
            <a:ext cx="382530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44" name="idma-target"/>
          <p:cNvSpPr/>
          <p:nvPr/>
        </p:nvSpPr>
        <p:spPr>
          <a:xfrm>
            <a:off x="4405256" y="6702014"/>
            <a:ext cx="2070847" cy="941294"/>
          </a:xfrm>
          <a:prstGeom prst="roundRect">
            <a:avLst>
              <a:gd name="adj" fmla="val 4800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obj-145: iDMA 配置"/>
          <p:cNvSpPr txBox="1"/>
          <p:nvPr/>
        </p:nvSpPr>
        <p:spPr>
          <a:xfrm>
            <a:off x="4894706" y="6913015"/>
            <a:ext cx="1091948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46" name="obj-146: 原子适配 → AXI→Reg"/>
          <p:cNvSpPr txBox="1"/>
          <p:nvPr/>
        </p:nvSpPr>
        <p:spPr>
          <a:xfrm>
            <a:off x="4521324" y="7170854"/>
            <a:ext cx="1838712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cxnSp>
        <p:nvCxnSpPr>
          <p:cNvPr id="147" name="target-M4"/>
          <p:cNvCxnSpPr/>
          <p:nvPr/>
        </p:nvCxnSpPr>
        <p:spPr>
          <a:xfrm>
            <a:off x="7643308" y="6061934"/>
            <a:ext cx="0" cy="64008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48" name="pin-M4"/>
          <p:cNvSpPr/>
          <p:nvPr/>
        </p:nvSpPr>
        <p:spPr>
          <a:xfrm>
            <a:off x="7304442" y="5964040"/>
            <a:ext cx="677732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obj-149: M4"/>
          <p:cNvSpPr txBox="1"/>
          <p:nvPr/>
        </p:nvSpPr>
        <p:spPr>
          <a:xfrm>
            <a:off x="7452043" y="5966449"/>
            <a:ext cx="382530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50" name="slink-target"/>
          <p:cNvSpPr/>
          <p:nvPr/>
        </p:nvSpPr>
        <p:spPr>
          <a:xfrm>
            <a:off x="6664362" y="6702014"/>
            <a:ext cx="1957892" cy="941294"/>
          </a:xfrm>
          <a:prstGeom prst="roundRect">
            <a:avLst>
              <a:gd name="adj" fmla="val 4800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obj-151: Serial Link TX"/>
          <p:cNvSpPr txBox="1"/>
          <p:nvPr/>
        </p:nvSpPr>
        <p:spPr>
          <a:xfrm>
            <a:off x="6966647" y="6913015"/>
            <a:ext cx="1353322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52" name="obj-152: 远端数据窗口"/>
          <p:cNvSpPr txBox="1"/>
          <p:nvPr/>
        </p:nvSpPr>
        <p:spPr>
          <a:xfrm>
            <a:off x="7037115" y="7170854"/>
            <a:ext cx="1212387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远端数据窗口</a:t>
            </a:r>
          </a:p>
        </p:txBody>
      </p:sp>
      <p:cxnSp>
        <p:nvCxnSpPr>
          <p:cNvPr id="153" name="target-M_EXT"/>
          <p:cNvCxnSpPr/>
          <p:nvPr/>
        </p:nvCxnSpPr>
        <p:spPr>
          <a:xfrm>
            <a:off x="9676504" y="6061934"/>
            <a:ext cx="0" cy="640080"/>
          </a:xfrm>
          <a:prstGeom prst="line">
            <a:avLst/>
          </a:prstGeom>
          <a:ln w="22591" cap="flat">
            <a:solidFill>
              <a:srgbClr val="8B99A7"/>
            </a:solidFill>
            <a:custDash>
              <a:ds d="266667" sp="200000"/>
            </a:custDash>
            <a:tailEnd type="triangle" w="med" len="med"/>
          </a:ln>
          <a:effectLst/>
        </p:spPr>
      </p:cxnSp>
      <p:sp>
        <p:nvSpPr>
          <p:cNvPr id="154" name="pin-M_EXT"/>
          <p:cNvSpPr/>
          <p:nvPr/>
        </p:nvSpPr>
        <p:spPr>
          <a:xfrm>
            <a:off x="9337638" y="5964040"/>
            <a:ext cx="677732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obj-155: M_EXT"/>
          <p:cNvSpPr txBox="1"/>
          <p:nvPr/>
        </p:nvSpPr>
        <p:spPr>
          <a:xfrm>
            <a:off x="9366712" y="5966449"/>
            <a:ext cx="619583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56" name="axi-ext-target"/>
          <p:cNvSpPr/>
          <p:nvPr/>
        </p:nvSpPr>
        <p:spPr>
          <a:xfrm>
            <a:off x="8810513" y="6702014"/>
            <a:ext cx="1731981" cy="941294"/>
          </a:xfrm>
          <a:prstGeom prst="roundRect">
            <a:avLst>
              <a:gd name="adj" fmla="val 4800"/>
            </a:avLst>
          </a:prstGeom>
          <a:solidFill>
            <a:srgbClr val="F4F6F8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obj-157: AXI 扩展目标"/>
          <p:cNvSpPr txBox="1"/>
          <p:nvPr/>
        </p:nvSpPr>
        <p:spPr>
          <a:xfrm>
            <a:off x="9024699" y="6913015"/>
            <a:ext cx="1303610" cy="313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1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扩展目标</a:t>
            </a:r>
          </a:p>
        </p:txBody>
      </p:sp>
      <p:sp>
        <p:nvSpPr>
          <p:cNvPr id="158" name="obj-158: CPU 直访 GB 待定"/>
          <p:cNvSpPr txBox="1"/>
          <p:nvPr/>
        </p:nvSpPr>
        <p:spPr>
          <a:xfrm>
            <a:off x="8897447" y="7170854"/>
            <a:ext cx="1558112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CPU 直访 GB 待定</a:t>
            </a:r>
          </a:p>
        </p:txBody>
      </p:sp>
      <p:cxnSp>
        <p:nvCxnSpPr>
          <p:cNvPr id="159" name="target-M2"/>
          <p:cNvCxnSpPr/>
          <p:nvPr/>
        </p:nvCxnSpPr>
        <p:spPr>
          <a:xfrm>
            <a:off x="12048565" y="6061934"/>
            <a:ext cx="0" cy="64008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60" name="pin-M2"/>
          <p:cNvSpPr/>
          <p:nvPr/>
        </p:nvSpPr>
        <p:spPr>
          <a:xfrm>
            <a:off x="11709699" y="5964040"/>
            <a:ext cx="677732" cy="233441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obj-161: M2"/>
          <p:cNvSpPr txBox="1"/>
          <p:nvPr/>
        </p:nvSpPr>
        <p:spPr>
          <a:xfrm>
            <a:off x="11857300" y="5966449"/>
            <a:ext cx="382530" cy="253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62" name="memory-target"/>
          <p:cNvSpPr/>
          <p:nvPr/>
        </p:nvSpPr>
        <p:spPr>
          <a:xfrm>
            <a:off x="10730753" y="6702014"/>
            <a:ext cx="2635624" cy="941294"/>
          </a:xfrm>
          <a:prstGeom prst="roundRect">
            <a:avLst>
              <a:gd name="adj" fmla="val 4800"/>
            </a:avLst>
          </a:prstGeom>
          <a:solidFill>
            <a:srgbClr val="EDF4FB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obj-163: 主存 / SPM 共用目标"/>
          <p:cNvSpPr txBox="1"/>
          <p:nvPr/>
        </p:nvSpPr>
        <p:spPr>
          <a:xfrm>
            <a:off x="11107241" y="6725208"/>
            <a:ext cx="1882647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64" name="memory-atomics"/>
          <p:cNvSpPr/>
          <p:nvPr/>
        </p:nvSpPr>
        <p:spPr>
          <a:xfrm>
            <a:off x="10821117" y="7063471"/>
            <a:ext cx="1054249" cy="45182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obj-165: AMO / LRSC"/>
          <p:cNvSpPr txBox="1"/>
          <p:nvPr/>
        </p:nvSpPr>
        <p:spPr>
          <a:xfrm>
            <a:off x="10857651" y="7179439"/>
            <a:ext cx="981181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66" name="llc"/>
          <p:cNvSpPr/>
          <p:nvPr/>
        </p:nvSpPr>
        <p:spPr>
          <a:xfrm>
            <a:off x="12123868" y="7063471"/>
            <a:ext cx="1137083" cy="45182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obj-167: LLC / SPM"/>
          <p:cNvSpPr txBox="1"/>
          <p:nvPr/>
        </p:nvSpPr>
        <p:spPr>
          <a:xfrm>
            <a:off x="12174051" y="7157450"/>
            <a:ext cx="1036718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cxnSp>
        <p:nvCxnSpPr>
          <p:cNvPr id="168" name="atomics-llc"/>
          <p:cNvCxnSpPr/>
          <p:nvPr/>
        </p:nvCxnSpPr>
        <p:spPr>
          <a:xfrm>
            <a:off x="11875367" y="7289382"/>
            <a:ext cx="248501" cy="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169" name="obj-169: AXI slave / 目标端"/>
          <p:cNvSpPr txBox="1"/>
          <p:nvPr/>
        </p:nvSpPr>
        <p:spPr>
          <a:xfrm>
            <a:off x="7872296" y="6236940"/>
            <a:ext cx="1499917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AXI slave / 目标端</a:t>
            </a:r>
          </a:p>
        </p:txBody>
      </p:sp>
      <p:sp>
        <p:nvSpPr>
          <p:cNvPr id="170" name="platform-clock"/>
          <p:cNvSpPr/>
          <p:nvPr/>
        </p:nvSpPr>
        <p:spPr>
          <a:xfrm>
            <a:off x="13855849" y="3689873"/>
            <a:ext cx="2786231" cy="873521"/>
          </a:xfrm>
          <a:prstGeom prst="roundRect">
            <a:avLst>
              <a:gd name="adj" fmla="val 5172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obj-171: PLL / 时钟与复位"/>
          <p:cNvSpPr txBox="1"/>
          <p:nvPr/>
        </p:nvSpPr>
        <p:spPr>
          <a:xfrm>
            <a:off x="14366684" y="3733474"/>
            <a:ext cx="1764562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PLL / 时钟与复位</a:t>
            </a:r>
          </a:p>
        </p:txBody>
      </p:sp>
      <p:sp>
        <p:nvSpPr>
          <p:cNvPr id="172" name="obj-172: RefClk / POR → 系统分发"/>
          <p:cNvSpPr txBox="1"/>
          <p:nvPr/>
        </p:nvSpPr>
        <p:spPr>
          <a:xfrm>
            <a:off x="14130884" y="3991313"/>
            <a:ext cx="223616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RefClk / POR → 系统分发</a:t>
            </a:r>
          </a:p>
        </p:txBody>
      </p:sp>
      <p:sp>
        <p:nvSpPr>
          <p:cNvPr id="173" name="tag-C1-172"/>
          <p:cNvSpPr/>
          <p:nvPr/>
        </p:nvSpPr>
        <p:spPr>
          <a:xfrm>
            <a:off x="16190259" y="4239589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obj-174: C1"/>
          <p:cNvSpPr txBox="1"/>
          <p:nvPr/>
        </p:nvSpPr>
        <p:spPr>
          <a:xfrm>
            <a:off x="16203908" y="4250131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75" name="clock-distribution"/>
          <p:cNvSpPr/>
          <p:nvPr/>
        </p:nvSpPr>
        <p:spPr>
          <a:xfrm>
            <a:off x="13404028" y="4141694"/>
            <a:ext cx="451821" cy="1204856"/>
          </a:xfrm>
          <a:custGeom>
            <a:avLst/>
            <a:gdLst/>
            <a:ahLst/>
            <a:cxnLst/>
            <a:rect l="0" t="0" r="r" b="b"/>
            <a:pathLst>
              <a:path w="451821" h="1204856" fill="none">
                <a:moveTo>
                  <a:pt x="451821" y="0"/>
                </a:moveTo>
                <a:lnTo>
                  <a:pt x="60243" y="0"/>
                </a:lnTo>
                <a:lnTo>
                  <a:pt x="60243" y="1204856"/>
                </a:lnTo>
                <a:lnTo>
                  <a:pt x="0" y="1204856"/>
                </a:lnTo>
              </a:path>
            </a:pathLst>
          </a:custGeom>
          <a:noFill/>
          <a:ln w="16567" cap="flat">
            <a:solidFill>
              <a:srgbClr val="8B99A7"/>
            </a:solidFill>
            <a:custDash>
              <a:ds d="363636" sp="27272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ddr-controller"/>
          <p:cNvSpPr/>
          <p:nvPr/>
        </p:nvSpPr>
        <p:spPr>
          <a:xfrm>
            <a:off x="13705242" y="4894729"/>
            <a:ext cx="7831567" cy="3238052"/>
          </a:xfrm>
          <a:prstGeom prst="roundRect">
            <a:avLst>
              <a:gd name="adj" fmla="val 2325"/>
            </a:avLst>
          </a:prstGeom>
          <a:solidFill>
            <a:srgbClr val="EDF4FB"/>
          </a:solidFill>
          <a:ln w="15061" cap="flat">
            <a:solidFill>
              <a:srgbClr val="347BB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obj-177: DDR Controller · 三 AXI slave 端口"/>
          <p:cNvSpPr txBox="1"/>
          <p:nvPr/>
        </p:nvSpPr>
        <p:spPr>
          <a:xfrm>
            <a:off x="13893501" y="4990214"/>
            <a:ext cx="3455255" cy="349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9" b="1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DDR Controller · 三 AXI slave 端口</a:t>
            </a:r>
          </a:p>
        </p:txBody>
      </p:sp>
      <p:sp>
        <p:nvSpPr>
          <p:cNvPr id="178" name="tag-C2-177"/>
          <p:cNvSpPr/>
          <p:nvPr/>
        </p:nvSpPr>
        <p:spPr>
          <a:xfrm>
            <a:off x="21069928" y="5015215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obj-179: C2"/>
          <p:cNvSpPr txBox="1"/>
          <p:nvPr/>
        </p:nvSpPr>
        <p:spPr>
          <a:xfrm>
            <a:off x="21083576" y="5025758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80" name="ddr-S0"/>
          <p:cNvSpPr/>
          <p:nvPr/>
        </p:nvSpPr>
        <p:spPr>
          <a:xfrm>
            <a:off x="14081760" y="5572461"/>
            <a:ext cx="1204856" cy="677732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obj-181: S0"/>
          <p:cNvSpPr txBox="1"/>
          <p:nvPr/>
        </p:nvSpPr>
        <p:spPr>
          <a:xfrm>
            <a:off x="14458631" y="5646183"/>
            <a:ext cx="451115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82" name="obj-182: LLC 下游"/>
          <p:cNvSpPr txBox="1"/>
          <p:nvPr/>
        </p:nvSpPr>
        <p:spPr>
          <a:xfrm>
            <a:off x="14239692" y="5904023"/>
            <a:ext cx="888993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LLC 下游</a:t>
            </a:r>
          </a:p>
        </p:txBody>
      </p:sp>
      <p:cxnSp>
        <p:nvCxnSpPr>
          <p:cNvPr id="183" name="ddr-port-0"/>
          <p:cNvCxnSpPr/>
          <p:nvPr/>
        </p:nvCxnSpPr>
        <p:spPr>
          <a:xfrm>
            <a:off x="14684188" y="6250193"/>
            <a:ext cx="0" cy="233441"/>
          </a:xfrm>
          <a:prstGeom prst="line">
            <a:avLst/>
          </a:prstGeom>
          <a:ln w="22591" cap="flat">
            <a:solidFill>
              <a:srgbClr val="347BB2"/>
            </a:solidFill>
          </a:ln>
          <a:effectLst/>
        </p:spPr>
      </p:cxnSp>
      <p:sp>
        <p:nvSpPr>
          <p:cNvPr id="184" name="ddr-S1"/>
          <p:cNvSpPr/>
          <p:nvPr/>
        </p:nvSpPr>
        <p:spPr>
          <a:xfrm>
            <a:off x="17093901" y="5572461"/>
            <a:ext cx="1204856" cy="677732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obj-185: S1"/>
          <p:cNvSpPr txBox="1"/>
          <p:nvPr/>
        </p:nvSpPr>
        <p:spPr>
          <a:xfrm>
            <a:off x="17470772" y="5646183"/>
            <a:ext cx="451115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86" name="obj-186: NPU / GB"/>
          <p:cNvSpPr txBox="1"/>
          <p:nvPr/>
        </p:nvSpPr>
        <p:spPr>
          <a:xfrm>
            <a:off x="17221388" y="5904023"/>
            <a:ext cx="949883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cxnSp>
        <p:nvCxnSpPr>
          <p:cNvPr id="187" name="ddr-port-1"/>
          <p:cNvCxnSpPr/>
          <p:nvPr/>
        </p:nvCxnSpPr>
        <p:spPr>
          <a:xfrm>
            <a:off x="17696329" y="6250193"/>
            <a:ext cx="0" cy="233441"/>
          </a:xfrm>
          <a:prstGeom prst="line">
            <a:avLst/>
          </a:prstGeom>
          <a:ln w="22591" cap="flat">
            <a:solidFill>
              <a:srgbClr val="347BB2"/>
            </a:solidFill>
          </a:ln>
          <a:effectLst/>
        </p:spPr>
      </p:cxnSp>
      <p:sp>
        <p:nvSpPr>
          <p:cNvPr id="188" name="ddr-S2"/>
          <p:cNvSpPr/>
          <p:nvPr/>
        </p:nvSpPr>
        <p:spPr>
          <a:xfrm>
            <a:off x="20106042" y="5572461"/>
            <a:ext cx="1204856" cy="677732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obj-189: S2"/>
          <p:cNvSpPr txBox="1"/>
          <p:nvPr/>
        </p:nvSpPr>
        <p:spPr>
          <a:xfrm>
            <a:off x="20482913" y="5646183"/>
            <a:ext cx="451115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90" name="obj-190: 图像帧写入"/>
          <p:cNvSpPr txBox="1"/>
          <p:nvPr/>
        </p:nvSpPr>
        <p:spPr>
          <a:xfrm>
            <a:off x="20166285" y="5904023"/>
            <a:ext cx="1084371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91" name="ddr-port-2"/>
          <p:cNvCxnSpPr/>
          <p:nvPr/>
        </p:nvCxnSpPr>
        <p:spPr>
          <a:xfrm>
            <a:off x="20708471" y="6250193"/>
            <a:ext cx="0" cy="233441"/>
          </a:xfrm>
          <a:prstGeom prst="line">
            <a:avLst/>
          </a:prstGeom>
          <a:ln w="22591" cap="flat">
            <a:solidFill>
              <a:srgbClr val="347BB2"/>
            </a:solidFill>
          </a:ln>
          <a:effectLst/>
        </p:spPr>
      </p:cxnSp>
      <p:cxnSp>
        <p:nvCxnSpPr>
          <p:cNvPr id="192" name="ddr-port-merge"/>
          <p:cNvCxnSpPr/>
          <p:nvPr/>
        </p:nvCxnSpPr>
        <p:spPr>
          <a:xfrm>
            <a:off x="14684188" y="6483634"/>
            <a:ext cx="6024283" cy="0"/>
          </a:xfrm>
          <a:prstGeom prst="line">
            <a:avLst/>
          </a:prstGeom>
          <a:ln w="22591" cap="flat">
            <a:solidFill>
              <a:srgbClr val="347BB2"/>
            </a:solidFill>
          </a:ln>
          <a:effectLst/>
        </p:spPr>
      </p:cxnSp>
      <p:sp>
        <p:nvSpPr>
          <p:cNvPr id="193" name="ddr-arbitration"/>
          <p:cNvSpPr/>
          <p:nvPr/>
        </p:nvSpPr>
        <p:spPr>
          <a:xfrm>
            <a:off x="14006456" y="6702014"/>
            <a:ext cx="7229139" cy="1054249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061" cap="flat">
            <a:solidFill>
              <a:srgbClr val="92AD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dr-qos"/>
          <p:cNvSpPr/>
          <p:nvPr/>
        </p:nvSpPr>
        <p:spPr>
          <a:xfrm>
            <a:off x="14157064" y="6920394"/>
            <a:ext cx="2070847" cy="617489"/>
          </a:xfrm>
          <a:prstGeom prst="roundRect">
            <a:avLst>
              <a:gd name="adj" fmla="val 7317"/>
            </a:avLst>
          </a:prstGeom>
          <a:solidFill>
            <a:srgbClr val="F3F7FC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obj-195: 端口仲裁 / QoS"/>
          <p:cNvSpPr txBox="1"/>
          <p:nvPr/>
        </p:nvSpPr>
        <p:spPr>
          <a:xfrm>
            <a:off x="14385651" y="7080716"/>
            <a:ext cx="1613672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96" name="ddr-rw"/>
          <p:cNvSpPr/>
          <p:nvPr/>
        </p:nvSpPr>
        <p:spPr>
          <a:xfrm>
            <a:off x="16529125" y="6920394"/>
            <a:ext cx="1581374" cy="617489"/>
          </a:xfrm>
          <a:prstGeom prst="roundRect">
            <a:avLst>
              <a:gd name="adj" fmla="val 7317"/>
            </a:avLst>
          </a:prstGeom>
          <a:solidFill>
            <a:srgbClr val="F3F7FC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obj-197: 读写调度"/>
          <p:cNvSpPr txBox="1"/>
          <p:nvPr/>
        </p:nvSpPr>
        <p:spPr>
          <a:xfrm>
            <a:off x="16811513" y="7080716"/>
            <a:ext cx="1016598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98" name="ddr-command"/>
          <p:cNvSpPr/>
          <p:nvPr/>
        </p:nvSpPr>
        <p:spPr>
          <a:xfrm>
            <a:off x="18411713" y="6920394"/>
            <a:ext cx="2673275" cy="617489"/>
          </a:xfrm>
          <a:prstGeom prst="roundRect">
            <a:avLst>
              <a:gd name="adj" fmla="val 7317"/>
            </a:avLst>
          </a:prstGeom>
          <a:solidFill>
            <a:srgbClr val="F3F7FC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obj-199: Bank / Row"/>
          <p:cNvSpPr txBox="1"/>
          <p:nvPr/>
        </p:nvSpPr>
        <p:spPr>
          <a:xfrm>
            <a:off x="19124779" y="6963995"/>
            <a:ext cx="1247144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sp>
        <p:nvSpPr>
          <p:cNvPr id="200" name="obj-200: 命令调度"/>
          <p:cNvSpPr txBox="1"/>
          <p:nvPr/>
        </p:nvSpPr>
        <p:spPr>
          <a:xfrm>
            <a:off x="19296529" y="7221834"/>
            <a:ext cx="90364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cxnSp>
        <p:nvCxnSpPr>
          <p:cNvPr id="201" name="ddr-merge-qos"/>
          <p:cNvCxnSpPr/>
          <p:nvPr/>
        </p:nvCxnSpPr>
        <p:spPr>
          <a:xfrm>
            <a:off x="15196252" y="6483634"/>
            <a:ext cx="0" cy="43676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cxnSp>
        <p:nvCxnSpPr>
          <p:cNvPr id="202" name="qos-rw"/>
          <p:cNvCxnSpPr/>
          <p:nvPr/>
        </p:nvCxnSpPr>
        <p:spPr>
          <a:xfrm>
            <a:off x="16227911" y="7229139"/>
            <a:ext cx="301214" cy="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cxnSp>
        <p:nvCxnSpPr>
          <p:cNvPr id="203" name="rw-command"/>
          <p:cNvCxnSpPr/>
          <p:nvPr/>
        </p:nvCxnSpPr>
        <p:spPr>
          <a:xfrm>
            <a:off x="18110499" y="7229139"/>
            <a:ext cx="301214" cy="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204" name="phy"/>
          <p:cNvSpPr/>
          <p:nvPr/>
        </p:nvSpPr>
        <p:spPr>
          <a:xfrm>
            <a:off x="21762720" y="6777318"/>
            <a:ext cx="1581374" cy="978946"/>
          </a:xfrm>
          <a:prstGeom prst="roundRect">
            <a:avLst>
              <a:gd name="adj" fmla="val 4615"/>
            </a:avLst>
          </a:prstGeom>
          <a:solidFill>
            <a:srgbClr val="EDF4FB"/>
          </a:solidFill>
          <a:ln w="15061" cap="flat">
            <a:solidFill>
              <a:srgbClr val="347BB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obj-205: PHY"/>
          <p:cNvSpPr txBox="1"/>
          <p:nvPr/>
        </p:nvSpPr>
        <p:spPr>
          <a:xfrm>
            <a:off x="22239580" y="6857139"/>
            <a:ext cx="627655" cy="3614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8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206" name="obj-206: 训练 / 校准"/>
          <p:cNvSpPr txBox="1"/>
          <p:nvPr/>
        </p:nvSpPr>
        <p:spPr>
          <a:xfrm>
            <a:off x="21931329" y="7114979"/>
            <a:ext cx="1244156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207" name="tag-C3-206"/>
          <p:cNvSpPr/>
          <p:nvPr/>
        </p:nvSpPr>
        <p:spPr>
          <a:xfrm>
            <a:off x="22892273" y="7432458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obj-208: C3"/>
          <p:cNvSpPr txBox="1"/>
          <p:nvPr/>
        </p:nvSpPr>
        <p:spPr>
          <a:xfrm>
            <a:off x="22905922" y="7443001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209" name="dram-chip"/>
          <p:cNvSpPr/>
          <p:nvPr/>
        </p:nvSpPr>
        <p:spPr>
          <a:xfrm>
            <a:off x="23946522" y="6822500"/>
            <a:ext cx="1355464" cy="903642"/>
          </a:xfrm>
          <a:prstGeom prst="roundRect">
            <a:avLst>
              <a:gd name="adj" fmla="val 5000"/>
            </a:avLst>
          </a:prstGeom>
          <a:solidFill>
            <a:srgbClr val="F0F3F6"/>
          </a:solidFill>
          <a:ln w="15061" cap="flat">
            <a:solidFill>
              <a:srgbClr val="347B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obj-210: DDR 器件"/>
          <p:cNvSpPr txBox="1"/>
          <p:nvPr/>
        </p:nvSpPr>
        <p:spPr>
          <a:xfrm>
            <a:off x="24072103" y="7003680"/>
            <a:ext cx="1104303" cy="337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DDR 器件</a:t>
            </a:r>
          </a:p>
        </p:txBody>
      </p:sp>
      <p:sp>
        <p:nvSpPr>
          <p:cNvPr id="211" name="obj-211: 片外存储"/>
          <p:cNvSpPr txBox="1"/>
          <p:nvPr/>
        </p:nvSpPr>
        <p:spPr>
          <a:xfrm>
            <a:off x="24153607" y="7261519"/>
            <a:ext cx="94129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片外存储</a:t>
            </a:r>
          </a:p>
        </p:txBody>
      </p:sp>
      <p:cxnSp>
        <p:nvCxnSpPr>
          <p:cNvPr id="212" name="controller-phy"/>
          <p:cNvCxnSpPr/>
          <p:nvPr/>
        </p:nvCxnSpPr>
        <p:spPr>
          <a:xfrm>
            <a:off x="21235595" y="7229139"/>
            <a:ext cx="527125" cy="0"/>
          </a:xfrm>
          <a:prstGeom prst="line">
            <a:avLst/>
          </a:prstGeom>
          <a:ln w="26356" cap="flat">
            <a:solidFill>
              <a:srgbClr val="347BB2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13" name="phy-dram"/>
          <p:cNvCxnSpPr/>
          <p:nvPr/>
        </p:nvCxnSpPr>
        <p:spPr>
          <a:xfrm>
            <a:off x="23344094" y="7229139"/>
            <a:ext cx="602428" cy="0"/>
          </a:xfrm>
          <a:prstGeom prst="line">
            <a:avLst/>
          </a:prstGeom>
          <a:ln w="26356" cap="flat">
            <a:solidFill>
              <a:srgbClr val="347BB2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14" name="llc-ddr"/>
          <p:cNvSpPr/>
          <p:nvPr/>
        </p:nvSpPr>
        <p:spPr>
          <a:xfrm>
            <a:off x="13260952" y="5406793"/>
            <a:ext cx="1423237" cy="1882588"/>
          </a:xfrm>
          <a:custGeom>
            <a:avLst/>
            <a:gdLst/>
            <a:ahLst/>
            <a:cxnLst/>
            <a:rect l="0" t="0" r="r" b="b"/>
            <a:pathLst>
              <a:path w="1423237" h="1882588" fill="none">
                <a:moveTo>
                  <a:pt x="0" y="1882588"/>
                </a:moveTo>
                <a:lnTo>
                  <a:pt x="293684" y="1882588"/>
                </a:lnTo>
                <a:lnTo>
                  <a:pt x="293684" y="0"/>
                </a:lnTo>
                <a:lnTo>
                  <a:pt x="1423237" y="0"/>
                </a:lnTo>
                <a:lnTo>
                  <a:pt x="1423237" y="165668"/>
                </a:lnTo>
              </a:path>
            </a:pathLst>
          </a:custGeom>
          <a:noFill/>
          <a:ln w="26356" cap="flat">
            <a:solidFill>
              <a:srgbClr val="347B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obj-215: LLC 外存出口"/>
          <p:cNvSpPr txBox="1"/>
          <p:nvPr/>
        </p:nvSpPr>
        <p:spPr>
          <a:xfrm>
            <a:off x="11776654" y="7758071"/>
            <a:ext cx="1146249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LLC 外存出口</a:t>
            </a:r>
          </a:p>
        </p:txBody>
      </p:sp>
      <p:sp>
        <p:nvSpPr>
          <p:cNvPr id="216" name="transfer-ddr"/>
          <p:cNvSpPr/>
          <p:nvPr/>
        </p:nvSpPr>
        <p:spPr>
          <a:xfrm>
            <a:off x="16792687" y="2432304"/>
            <a:ext cx="903642" cy="3140157"/>
          </a:xfrm>
          <a:custGeom>
            <a:avLst/>
            <a:gdLst/>
            <a:ahLst/>
            <a:cxnLst/>
            <a:rect l="0" t="0" r="r" b="b"/>
            <a:pathLst>
              <a:path w="903642" h="3140157" fill="none">
                <a:moveTo>
                  <a:pt x="0" y="0"/>
                </a:moveTo>
                <a:lnTo>
                  <a:pt x="263562" y="0"/>
                </a:lnTo>
                <a:lnTo>
                  <a:pt x="263562" y="1656678"/>
                </a:lnTo>
                <a:lnTo>
                  <a:pt x="903642" y="1656678"/>
                </a:lnTo>
                <a:lnTo>
                  <a:pt x="903642" y="3140157"/>
                </a:lnTo>
              </a:path>
            </a:pathLst>
          </a:custGeom>
          <a:noFill/>
          <a:ln w="26356" cap="flat">
            <a:solidFill>
              <a:srgbClr val="347BB2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obj-217: NPU / GB 统一 DDR 主口"/>
          <p:cNvSpPr txBox="1"/>
          <p:nvPr/>
        </p:nvSpPr>
        <p:spPr>
          <a:xfrm>
            <a:off x="17552747" y="4240794"/>
            <a:ext cx="2094450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NPU / GB 统一 DDR 主口</a:t>
            </a:r>
          </a:p>
        </p:txBody>
      </p:sp>
      <p:sp>
        <p:nvSpPr>
          <p:cNvPr id="218" name="frame-ddr"/>
          <p:cNvSpPr/>
          <p:nvPr/>
        </p:nvSpPr>
        <p:spPr>
          <a:xfrm>
            <a:off x="20708471" y="3177809"/>
            <a:ext cx="3049793" cy="2394652"/>
          </a:xfrm>
          <a:custGeom>
            <a:avLst/>
            <a:gdLst/>
            <a:ahLst/>
            <a:cxnLst/>
            <a:rect l="0" t="0" r="r" b="b"/>
            <a:pathLst>
              <a:path w="3049793" h="2394652" fill="none">
                <a:moveTo>
                  <a:pt x="3049793" y="0"/>
                </a:moveTo>
                <a:lnTo>
                  <a:pt x="3049793" y="1378055"/>
                </a:lnTo>
                <a:lnTo>
                  <a:pt x="0" y="1378055"/>
                </a:lnTo>
                <a:lnTo>
                  <a:pt x="0" y="2394652"/>
                </a:lnTo>
              </a:path>
            </a:pathLst>
          </a:custGeom>
          <a:noFill/>
          <a:ln w="26356" cap="flat">
            <a:solidFill>
              <a:srgbClr val="347B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obj-219: 帧写事务"/>
          <p:cNvSpPr txBox="1"/>
          <p:nvPr/>
        </p:nvSpPr>
        <p:spPr>
          <a:xfrm>
            <a:off x="22158064" y="4233263"/>
            <a:ext cx="865991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帧写事务</a:t>
            </a:r>
          </a:p>
        </p:txBody>
      </p:sp>
      <p:sp>
        <p:nvSpPr>
          <p:cNvPr id="220" name="reg-peripherals"/>
          <p:cNvSpPr/>
          <p:nvPr/>
        </p:nvSpPr>
        <p:spPr>
          <a:xfrm>
            <a:off x="451821" y="8471647"/>
            <a:ext cx="24548951" cy="2673275"/>
          </a:xfrm>
          <a:prstGeom prst="roundRect">
            <a:avLst>
              <a:gd name="adj" fmla="val 2535"/>
            </a:avLst>
          </a:prstGeom>
          <a:solidFill>
            <a:srgbClr val="FAF8FC"/>
          </a:solidFill>
          <a:ln w="15061" cap="flat">
            <a:solidFill>
              <a:srgbClr val="B6A5C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obj-221: Regbus 外设 / 配置目标"/>
          <p:cNvSpPr txBox="1"/>
          <p:nvPr/>
        </p:nvSpPr>
        <p:spPr>
          <a:xfrm>
            <a:off x="662671" y="8560204"/>
            <a:ext cx="2461649" cy="337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Regbus 外设 / 配置目标</a:t>
            </a:r>
          </a:p>
        </p:txBody>
      </p:sp>
      <p:sp>
        <p:nvSpPr>
          <p:cNvPr id="222" name="regbus"/>
          <p:cNvSpPr/>
          <p:nvPr/>
        </p:nvSpPr>
        <p:spPr>
          <a:xfrm>
            <a:off x="602428" y="9751807"/>
            <a:ext cx="24172433" cy="376518"/>
          </a:xfrm>
          <a:prstGeom prst="roundRect">
            <a:avLst>
              <a:gd name="adj" fmla="val 6000"/>
            </a:avLst>
          </a:prstGeom>
          <a:solidFill>
            <a:srgbClr val="F3EDF8"/>
          </a:solidFill>
          <a:ln w="1882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obj-223: Regbus · 32 bit · 地址译码 / demux"/>
          <p:cNvSpPr txBox="1"/>
          <p:nvPr/>
        </p:nvSpPr>
        <p:spPr>
          <a:xfrm>
            <a:off x="11008664" y="9795784"/>
            <a:ext cx="3359961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Regbus · 32 bit · 地址译码 / demux</a:t>
            </a:r>
          </a:p>
        </p:txBody>
      </p:sp>
      <p:sp>
        <p:nvSpPr>
          <p:cNvPr id="224" name="bridge-regbus"/>
          <p:cNvSpPr/>
          <p:nvPr/>
        </p:nvSpPr>
        <p:spPr>
          <a:xfrm>
            <a:off x="346396" y="7643308"/>
            <a:ext cx="2982020" cy="2296758"/>
          </a:xfrm>
          <a:custGeom>
            <a:avLst/>
            <a:gdLst/>
            <a:ahLst/>
            <a:cxnLst/>
            <a:rect l="0" t="0" r="r" b="b"/>
            <a:pathLst>
              <a:path w="2982020" h="2296758" fill="none">
                <a:moveTo>
                  <a:pt x="2982020" y="0"/>
                </a:moveTo>
                <a:lnTo>
                  <a:pt x="2982020" y="602428"/>
                </a:lnTo>
                <a:lnTo>
                  <a:pt x="0" y="602428"/>
                </a:lnTo>
                <a:lnTo>
                  <a:pt x="0" y="2296758"/>
                </a:lnTo>
                <a:lnTo>
                  <a:pt x="256032" y="2296758"/>
                </a:lnTo>
              </a:path>
            </a:pathLst>
          </a:custGeom>
          <a:noFill/>
          <a:ln w="22591" cap="flat">
            <a:solidFill>
              <a:srgbClr val="8663A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bootrom"/>
          <p:cNvSpPr/>
          <p:nvPr/>
        </p:nvSpPr>
        <p:spPr>
          <a:xfrm>
            <a:off x="602428" y="9036424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obj-226: Boot ROM"/>
          <p:cNvSpPr txBox="1"/>
          <p:nvPr/>
        </p:nvSpPr>
        <p:spPr>
          <a:xfrm>
            <a:off x="1222365" y="9064662"/>
            <a:ext cx="1019233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227" name="obj-227: 启动代码"/>
          <p:cNvSpPr txBox="1"/>
          <p:nvPr/>
        </p:nvSpPr>
        <p:spPr>
          <a:xfrm>
            <a:off x="1317812" y="9322502"/>
            <a:ext cx="828339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228" name="reg-bootrom"/>
          <p:cNvCxnSpPr/>
          <p:nvPr/>
        </p:nvCxnSpPr>
        <p:spPr>
          <a:xfrm flipV="1">
            <a:off x="1731981" y="9601200"/>
            <a:ext cx="0" cy="150607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29" name="clint"/>
          <p:cNvSpPr/>
          <p:nvPr/>
        </p:nvSpPr>
        <p:spPr>
          <a:xfrm>
            <a:off x="3012141" y="9036424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obj-230: CLINT"/>
          <p:cNvSpPr txBox="1"/>
          <p:nvPr/>
        </p:nvSpPr>
        <p:spPr>
          <a:xfrm>
            <a:off x="3808658" y="9064662"/>
            <a:ext cx="666071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231" name="obj-231: 软件 / 定时中断"/>
          <p:cNvSpPr txBox="1"/>
          <p:nvPr/>
        </p:nvSpPr>
        <p:spPr>
          <a:xfrm>
            <a:off x="3469157" y="9322502"/>
            <a:ext cx="1345074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232" name="reg-clint"/>
          <p:cNvCxnSpPr/>
          <p:nvPr/>
        </p:nvCxnSpPr>
        <p:spPr>
          <a:xfrm flipV="1">
            <a:off x="4141694" y="9601200"/>
            <a:ext cx="0" cy="150607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33" name="soc-regs"/>
          <p:cNvSpPr/>
          <p:nvPr/>
        </p:nvSpPr>
        <p:spPr>
          <a:xfrm>
            <a:off x="5421854" y="9036424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obj-234: SoC 寄存器"/>
          <p:cNvSpPr txBox="1"/>
          <p:nvPr/>
        </p:nvSpPr>
        <p:spPr>
          <a:xfrm>
            <a:off x="5979371" y="9064662"/>
            <a:ext cx="114407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235" name="obj-235: 平台信息 / scratch"/>
          <p:cNvSpPr txBox="1"/>
          <p:nvPr/>
        </p:nvSpPr>
        <p:spPr>
          <a:xfrm>
            <a:off x="5779864" y="9322502"/>
            <a:ext cx="1543087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236" name="reg-soc-regs"/>
          <p:cNvCxnSpPr/>
          <p:nvPr/>
        </p:nvCxnSpPr>
        <p:spPr>
          <a:xfrm flipV="1">
            <a:off x="6551407" y="9601200"/>
            <a:ext cx="0" cy="150607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37" name="plic"/>
          <p:cNvSpPr/>
          <p:nvPr/>
        </p:nvSpPr>
        <p:spPr>
          <a:xfrm>
            <a:off x="7831567" y="9036424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obj-238: PLIC"/>
          <p:cNvSpPr txBox="1"/>
          <p:nvPr/>
        </p:nvSpPr>
        <p:spPr>
          <a:xfrm>
            <a:off x="8684527" y="9064662"/>
            <a:ext cx="553187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239" name="obj-239: 外部中断控制"/>
          <p:cNvSpPr txBox="1"/>
          <p:nvPr/>
        </p:nvSpPr>
        <p:spPr>
          <a:xfrm>
            <a:off x="8381283" y="9322502"/>
            <a:ext cx="1159674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240" name="reg-plic"/>
          <p:cNvCxnSpPr/>
          <p:nvPr/>
        </p:nvCxnSpPr>
        <p:spPr>
          <a:xfrm flipV="1">
            <a:off x="8961120" y="9601200"/>
            <a:ext cx="0" cy="150607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41" name="llc-regs"/>
          <p:cNvSpPr/>
          <p:nvPr/>
        </p:nvSpPr>
        <p:spPr>
          <a:xfrm>
            <a:off x="10241280" y="9036424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obj-242: LLC 配置"/>
          <p:cNvSpPr txBox="1"/>
          <p:nvPr/>
        </p:nvSpPr>
        <p:spPr>
          <a:xfrm>
            <a:off x="10907816" y="9064662"/>
            <a:ext cx="926033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243" name="obj-243: SPM way / cache"/>
          <p:cNvSpPr txBox="1"/>
          <p:nvPr/>
        </p:nvSpPr>
        <p:spPr>
          <a:xfrm>
            <a:off x="10657526" y="9322502"/>
            <a:ext cx="1426614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244" name="reg-llc-regs"/>
          <p:cNvCxnSpPr/>
          <p:nvPr/>
        </p:nvCxnSpPr>
        <p:spPr>
          <a:xfrm flipV="1">
            <a:off x="11370833" y="9601200"/>
            <a:ext cx="0" cy="150607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45" name="uart"/>
          <p:cNvSpPr/>
          <p:nvPr/>
        </p:nvSpPr>
        <p:spPr>
          <a:xfrm>
            <a:off x="12650993" y="9036424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obj-246: UART"/>
          <p:cNvSpPr txBox="1"/>
          <p:nvPr/>
        </p:nvSpPr>
        <p:spPr>
          <a:xfrm>
            <a:off x="13468195" y="9064662"/>
            <a:ext cx="62470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247" name="obj-247: 串口控制"/>
          <p:cNvSpPr txBox="1"/>
          <p:nvPr/>
        </p:nvSpPr>
        <p:spPr>
          <a:xfrm>
            <a:off x="13366376" y="9322502"/>
            <a:ext cx="828339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248" name="reg-uart"/>
          <p:cNvCxnSpPr/>
          <p:nvPr/>
        </p:nvCxnSpPr>
        <p:spPr>
          <a:xfrm flipV="1">
            <a:off x="13780546" y="9601200"/>
            <a:ext cx="0" cy="150607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49" name="i2c"/>
          <p:cNvSpPr/>
          <p:nvPr/>
        </p:nvSpPr>
        <p:spPr>
          <a:xfrm>
            <a:off x="15060706" y="9036424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obj-250: I2C"/>
          <p:cNvSpPr txBox="1"/>
          <p:nvPr/>
        </p:nvSpPr>
        <p:spPr>
          <a:xfrm>
            <a:off x="15956959" y="9064662"/>
            <a:ext cx="466599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251" name="obj-251: 两线串行控制"/>
          <p:cNvSpPr txBox="1"/>
          <p:nvPr/>
        </p:nvSpPr>
        <p:spPr>
          <a:xfrm>
            <a:off x="15610422" y="9322502"/>
            <a:ext cx="1159674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252" name="reg-i2c"/>
          <p:cNvCxnSpPr/>
          <p:nvPr/>
        </p:nvCxnSpPr>
        <p:spPr>
          <a:xfrm flipV="1">
            <a:off x="16190259" y="9601200"/>
            <a:ext cx="0" cy="150607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53" name="spi"/>
          <p:cNvSpPr/>
          <p:nvPr/>
        </p:nvSpPr>
        <p:spPr>
          <a:xfrm>
            <a:off x="17470419" y="9036424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obj-254: SPI host"/>
          <p:cNvSpPr txBox="1"/>
          <p:nvPr/>
        </p:nvSpPr>
        <p:spPr>
          <a:xfrm>
            <a:off x="18161776" y="9064662"/>
            <a:ext cx="87639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255" name="obj-255: Flash / SD 访问"/>
          <p:cNvSpPr txBox="1"/>
          <p:nvPr/>
        </p:nvSpPr>
        <p:spPr>
          <a:xfrm>
            <a:off x="17936171" y="9322502"/>
            <a:ext cx="1327601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Flash / SD 访问</a:t>
            </a:r>
          </a:p>
        </p:txBody>
      </p:sp>
      <p:cxnSp>
        <p:nvCxnSpPr>
          <p:cNvPr id="256" name="reg-spi"/>
          <p:cNvCxnSpPr/>
          <p:nvPr/>
        </p:nvCxnSpPr>
        <p:spPr>
          <a:xfrm flipV="1">
            <a:off x="18599972" y="9601200"/>
            <a:ext cx="0" cy="150607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57" name="gpio"/>
          <p:cNvSpPr/>
          <p:nvPr/>
        </p:nvSpPr>
        <p:spPr>
          <a:xfrm>
            <a:off x="19880132" y="9036424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obj-258: GPIO"/>
          <p:cNvSpPr txBox="1"/>
          <p:nvPr/>
        </p:nvSpPr>
        <p:spPr>
          <a:xfrm>
            <a:off x="20714336" y="9064662"/>
            <a:ext cx="590697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259" name="obj-259: 通用 IO"/>
          <p:cNvSpPr txBox="1"/>
          <p:nvPr/>
        </p:nvSpPr>
        <p:spPr>
          <a:xfrm>
            <a:off x="20660229" y="9322502"/>
            <a:ext cx="698911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260" name="reg-gpio"/>
          <p:cNvCxnSpPr/>
          <p:nvPr/>
        </p:nvCxnSpPr>
        <p:spPr>
          <a:xfrm flipV="1">
            <a:off x="21009685" y="9601200"/>
            <a:ext cx="0" cy="150607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61" name="slink-regs"/>
          <p:cNvSpPr/>
          <p:nvPr/>
        </p:nvSpPr>
        <p:spPr>
          <a:xfrm>
            <a:off x="22289845" y="9036424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obj-262: Serial Link 配置"/>
          <p:cNvSpPr txBox="1"/>
          <p:nvPr/>
        </p:nvSpPr>
        <p:spPr>
          <a:xfrm>
            <a:off x="22678317" y="9064662"/>
            <a:ext cx="148216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263" name="obj-263: 链路控制"/>
          <p:cNvSpPr txBox="1"/>
          <p:nvPr/>
        </p:nvSpPr>
        <p:spPr>
          <a:xfrm>
            <a:off x="23005228" y="9322502"/>
            <a:ext cx="828339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264" name="reg-slink-regs"/>
          <p:cNvCxnSpPr/>
          <p:nvPr/>
        </p:nvCxnSpPr>
        <p:spPr>
          <a:xfrm flipV="1">
            <a:off x="23419398" y="9601200"/>
            <a:ext cx="0" cy="150607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65" name="vga-regs"/>
          <p:cNvSpPr/>
          <p:nvPr/>
        </p:nvSpPr>
        <p:spPr>
          <a:xfrm>
            <a:off x="602428" y="10391887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obj-266: VGA 配置"/>
          <p:cNvSpPr txBox="1"/>
          <p:nvPr/>
        </p:nvSpPr>
        <p:spPr>
          <a:xfrm>
            <a:off x="1253980" y="10420126"/>
            <a:ext cx="95600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267" name="obj-267: 时序 / 帧缓冲"/>
          <p:cNvSpPr txBox="1"/>
          <p:nvPr/>
        </p:nvSpPr>
        <p:spPr>
          <a:xfrm>
            <a:off x="1142278" y="10677965"/>
            <a:ext cx="1179406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时序 / 帧缓冲</a:t>
            </a:r>
          </a:p>
        </p:txBody>
      </p:sp>
      <p:cxnSp>
        <p:nvCxnSpPr>
          <p:cNvPr id="268" name="reg-vga-regs"/>
          <p:cNvCxnSpPr/>
          <p:nvPr/>
        </p:nvCxnSpPr>
        <p:spPr>
          <a:xfrm>
            <a:off x="1731981" y="10128325"/>
            <a:ext cx="0" cy="263562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69" name="usb-regs"/>
          <p:cNvSpPr/>
          <p:nvPr/>
        </p:nvSpPr>
        <p:spPr>
          <a:xfrm>
            <a:off x="3012141" y="10391887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obj-270: USB 配置"/>
          <p:cNvSpPr txBox="1"/>
          <p:nvPr/>
        </p:nvSpPr>
        <p:spPr>
          <a:xfrm>
            <a:off x="3654321" y="10420126"/>
            <a:ext cx="974745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271" name="obj-271: OHCI 寄存器"/>
          <p:cNvSpPr txBox="1"/>
          <p:nvPr/>
        </p:nvSpPr>
        <p:spPr>
          <a:xfrm>
            <a:off x="3603515" y="10677965"/>
            <a:ext cx="1076358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272" name="reg-usb-regs"/>
          <p:cNvCxnSpPr/>
          <p:nvPr/>
        </p:nvCxnSpPr>
        <p:spPr>
          <a:xfrm>
            <a:off x="4141694" y="10128325"/>
            <a:ext cx="0" cy="263562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73" name="err-vga"/>
          <p:cNvSpPr/>
          <p:nvPr/>
        </p:nvSpPr>
        <p:spPr>
          <a:xfrm>
            <a:off x="5421854" y="10391887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obj-274: Bus-error · VGA"/>
          <p:cNvSpPr txBox="1"/>
          <p:nvPr/>
        </p:nvSpPr>
        <p:spPr>
          <a:xfrm>
            <a:off x="5833123" y="10420126"/>
            <a:ext cx="1436568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275" name="obj-275: 错误记录"/>
          <p:cNvSpPr txBox="1"/>
          <p:nvPr/>
        </p:nvSpPr>
        <p:spPr>
          <a:xfrm>
            <a:off x="6137238" y="10677965"/>
            <a:ext cx="828339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276" name="reg-err-vga"/>
          <p:cNvCxnSpPr/>
          <p:nvPr/>
        </p:nvCxnSpPr>
        <p:spPr>
          <a:xfrm>
            <a:off x="6551407" y="10128325"/>
            <a:ext cx="0" cy="263562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77" name="err-dma"/>
          <p:cNvSpPr/>
          <p:nvPr/>
        </p:nvSpPr>
        <p:spPr>
          <a:xfrm>
            <a:off x="7831567" y="10391887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obj-278: Bus-error · iDMA"/>
          <p:cNvSpPr txBox="1"/>
          <p:nvPr/>
        </p:nvSpPr>
        <p:spPr>
          <a:xfrm>
            <a:off x="8195866" y="10420126"/>
            <a:ext cx="1530509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279" name="obj-279: 错误记录"/>
          <p:cNvSpPr txBox="1"/>
          <p:nvPr/>
        </p:nvSpPr>
        <p:spPr>
          <a:xfrm>
            <a:off x="8546951" y="10677965"/>
            <a:ext cx="828339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280" name="reg-err-dma"/>
          <p:cNvCxnSpPr/>
          <p:nvPr/>
        </p:nvCxnSpPr>
        <p:spPr>
          <a:xfrm>
            <a:off x="8961120" y="10128325"/>
            <a:ext cx="0" cy="263562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81" name="err-cpu"/>
          <p:cNvSpPr/>
          <p:nvPr/>
        </p:nvSpPr>
        <p:spPr>
          <a:xfrm>
            <a:off x="10241280" y="10391887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obj-282: Bus-error · CPU"/>
          <p:cNvSpPr txBox="1"/>
          <p:nvPr/>
        </p:nvSpPr>
        <p:spPr>
          <a:xfrm>
            <a:off x="10648784" y="10420126"/>
            <a:ext cx="1444098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283" name="obj-283: 每核错误记录"/>
          <p:cNvSpPr txBox="1"/>
          <p:nvPr/>
        </p:nvSpPr>
        <p:spPr>
          <a:xfrm>
            <a:off x="10790996" y="10677965"/>
            <a:ext cx="1159674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284" name="reg-err-cpu"/>
          <p:cNvCxnSpPr/>
          <p:nvPr/>
        </p:nvCxnSpPr>
        <p:spPr>
          <a:xfrm>
            <a:off x="11370833" y="10128325"/>
            <a:ext cx="0" cy="263562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85" name="irq-router"/>
          <p:cNvSpPr/>
          <p:nvPr/>
        </p:nvSpPr>
        <p:spPr>
          <a:xfrm>
            <a:off x="12650993" y="10391887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obj-286: IRQ router"/>
          <p:cNvSpPr txBox="1"/>
          <p:nvPr/>
        </p:nvSpPr>
        <p:spPr>
          <a:xfrm>
            <a:off x="13271023" y="10420126"/>
            <a:ext cx="1019045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287" name="obj-287: 可选中断路由"/>
          <p:cNvSpPr txBox="1"/>
          <p:nvPr/>
        </p:nvSpPr>
        <p:spPr>
          <a:xfrm>
            <a:off x="13200709" y="10677965"/>
            <a:ext cx="1159674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288" name="reg-irq-router"/>
          <p:cNvCxnSpPr/>
          <p:nvPr/>
        </p:nvCxnSpPr>
        <p:spPr>
          <a:xfrm>
            <a:off x="13780546" y="10128325"/>
            <a:ext cx="0" cy="263562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89" name="axi-rt-regs"/>
          <p:cNvSpPr/>
          <p:nvPr/>
        </p:nvSpPr>
        <p:spPr>
          <a:xfrm>
            <a:off x="15060706" y="10391887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obj-290: AXI RT 配置"/>
          <p:cNvSpPr txBox="1"/>
          <p:nvPr/>
        </p:nvSpPr>
        <p:spPr>
          <a:xfrm>
            <a:off x="15618223" y="10420126"/>
            <a:ext cx="114407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291" name="obj-291: 可选流量调节"/>
          <p:cNvSpPr txBox="1"/>
          <p:nvPr/>
        </p:nvSpPr>
        <p:spPr>
          <a:xfrm>
            <a:off x="15610422" y="10677965"/>
            <a:ext cx="1159674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292" name="reg-axi-rt-regs"/>
          <p:cNvCxnSpPr/>
          <p:nvPr/>
        </p:nvCxnSpPr>
        <p:spPr>
          <a:xfrm>
            <a:off x="16190259" y="10128325"/>
            <a:ext cx="0" cy="263562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93" name="clic"/>
          <p:cNvSpPr/>
          <p:nvPr/>
        </p:nvSpPr>
        <p:spPr>
          <a:xfrm>
            <a:off x="17470419" y="10391887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obj-294: CLIC"/>
          <p:cNvSpPr txBox="1"/>
          <p:nvPr/>
        </p:nvSpPr>
        <p:spPr>
          <a:xfrm>
            <a:off x="18317772" y="10420126"/>
            <a:ext cx="564400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295" name="obj-295: 可选每核中断控制"/>
          <p:cNvSpPr txBox="1"/>
          <p:nvPr/>
        </p:nvSpPr>
        <p:spPr>
          <a:xfrm>
            <a:off x="17854467" y="10677965"/>
            <a:ext cx="1491010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296" name="reg-clic"/>
          <p:cNvCxnSpPr/>
          <p:nvPr/>
        </p:nvCxnSpPr>
        <p:spPr>
          <a:xfrm>
            <a:off x="18599972" y="10128325"/>
            <a:ext cx="0" cy="263562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297" name="reg-error"/>
          <p:cNvSpPr/>
          <p:nvPr/>
        </p:nvSpPr>
        <p:spPr>
          <a:xfrm>
            <a:off x="19880132" y="10391887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obj-298: reg_err_slv"/>
          <p:cNvSpPr txBox="1"/>
          <p:nvPr/>
        </p:nvSpPr>
        <p:spPr>
          <a:xfrm>
            <a:off x="20469917" y="10420126"/>
            <a:ext cx="1079535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299" name="obj-299: 未匹配地址错误响应"/>
          <p:cNvSpPr txBox="1"/>
          <p:nvPr/>
        </p:nvSpPr>
        <p:spPr>
          <a:xfrm>
            <a:off x="20181346" y="10677965"/>
            <a:ext cx="1656678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未匹配地址错误响应</a:t>
            </a:r>
          </a:p>
        </p:txBody>
      </p:sp>
      <p:cxnSp>
        <p:nvCxnSpPr>
          <p:cNvPr id="300" name="reg-reg-error"/>
          <p:cNvCxnSpPr/>
          <p:nvPr/>
        </p:nvCxnSpPr>
        <p:spPr>
          <a:xfrm>
            <a:off x="21009685" y="10128325"/>
            <a:ext cx="0" cy="263562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01" name="reg-ext"/>
          <p:cNvSpPr/>
          <p:nvPr/>
        </p:nvSpPr>
        <p:spPr>
          <a:xfrm>
            <a:off x="22289845" y="10391887"/>
            <a:ext cx="2259106" cy="564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061" cap="flat">
            <a:solidFill>
              <a:srgbClr val="8B99A7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obj-302: RegExt 扩展"/>
          <p:cNvSpPr txBox="1"/>
          <p:nvPr/>
        </p:nvSpPr>
        <p:spPr>
          <a:xfrm>
            <a:off x="22828612" y="10420126"/>
            <a:ext cx="1181571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303" name="obj-303: 新增 IP 配置出口"/>
          <p:cNvSpPr txBox="1"/>
          <p:nvPr/>
        </p:nvSpPr>
        <p:spPr>
          <a:xfrm>
            <a:off x="22722022" y="10677965"/>
            <a:ext cx="1394751" cy="2650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4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304" name="reg-reg-ext"/>
          <p:cNvCxnSpPr/>
          <p:nvPr/>
        </p:nvCxnSpPr>
        <p:spPr>
          <a:xfrm>
            <a:off x="23419398" y="10128325"/>
            <a:ext cx="0" cy="263562"/>
          </a:xfrm>
          <a:prstGeom prst="line">
            <a:avLst/>
          </a:prstGeom>
          <a:ln w="17320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05" name="obj-305: RegExt · 新增配置端"/>
          <p:cNvSpPr txBox="1"/>
          <p:nvPr/>
        </p:nvSpPr>
        <p:spPr>
          <a:xfrm>
            <a:off x="617489" y="11226551"/>
            <a:ext cx="1995673" cy="3253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RegExt · 新增配置端</a:t>
            </a:r>
          </a:p>
        </p:txBody>
      </p:sp>
      <p:cxnSp>
        <p:nvCxnSpPr>
          <p:cNvPr id="306" name="regext-controls"/>
          <p:cNvCxnSpPr/>
          <p:nvPr/>
        </p:nvCxnSpPr>
        <p:spPr>
          <a:xfrm>
            <a:off x="23419398" y="10956664"/>
            <a:ext cx="0" cy="677731"/>
          </a:xfrm>
          <a:prstGeom prst="line">
            <a:avLst/>
          </a:prstGeom>
          <a:ln w="22591" cap="flat">
            <a:solidFill>
              <a:srgbClr val="8663A9"/>
            </a:solidFill>
            <a:tailEnd type="triangle" w="med" len="med"/>
          </a:ln>
          <a:effectLst/>
        </p:spPr>
      </p:cxnSp>
      <p:cxnSp>
        <p:nvCxnSpPr>
          <p:cNvPr id="307" name="config-rail"/>
          <p:cNvCxnSpPr/>
          <p:nvPr/>
        </p:nvCxnSpPr>
        <p:spPr>
          <a:xfrm>
            <a:off x="1769633" y="11634395"/>
            <a:ext cx="21687416" cy="0"/>
          </a:xfrm>
          <a:prstGeom prst="line">
            <a:avLst/>
          </a:prstGeom>
          <a:ln w="26356" cap="flat">
            <a:solidFill>
              <a:srgbClr val="8663A9"/>
            </a:solidFill>
          </a:ln>
          <a:effectLst/>
        </p:spPr>
      </p:cxnSp>
      <p:cxnSp>
        <p:nvCxnSpPr>
          <p:cNvPr id="308" name="config-drop-0"/>
          <p:cNvCxnSpPr/>
          <p:nvPr/>
        </p:nvCxnSpPr>
        <p:spPr>
          <a:xfrm>
            <a:off x="1769633" y="11634395"/>
            <a:ext cx="0" cy="263563"/>
          </a:xfrm>
          <a:prstGeom prst="line">
            <a:avLst/>
          </a:prstGeom>
          <a:ln w="18073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09" name="config-C1"/>
          <p:cNvSpPr/>
          <p:nvPr/>
        </p:nvSpPr>
        <p:spPr>
          <a:xfrm>
            <a:off x="602428" y="11897958"/>
            <a:ext cx="2334409" cy="1016598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tag-C1-309"/>
          <p:cNvSpPr/>
          <p:nvPr/>
        </p:nvSpPr>
        <p:spPr>
          <a:xfrm>
            <a:off x="692792" y="1198832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obj-311: C1"/>
          <p:cNvSpPr txBox="1"/>
          <p:nvPr/>
        </p:nvSpPr>
        <p:spPr>
          <a:xfrm>
            <a:off x="706441" y="11998864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2" name="obj-312: PLL / 时钟复位"/>
          <p:cNvSpPr txBox="1"/>
          <p:nvPr/>
        </p:nvSpPr>
        <p:spPr>
          <a:xfrm>
            <a:off x="1189913" y="12048565"/>
            <a:ext cx="144559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313" name="obj-313: 配置 / 锁定 / 切换"/>
          <p:cNvSpPr txBox="1"/>
          <p:nvPr/>
        </p:nvSpPr>
        <p:spPr>
          <a:xfrm>
            <a:off x="969604" y="12486530"/>
            <a:ext cx="1600059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314" name="config-drop-1"/>
          <p:cNvCxnSpPr/>
          <p:nvPr/>
        </p:nvCxnSpPr>
        <p:spPr>
          <a:xfrm>
            <a:off x="4480560" y="11634395"/>
            <a:ext cx="0" cy="263563"/>
          </a:xfrm>
          <a:prstGeom prst="line">
            <a:avLst/>
          </a:prstGeom>
          <a:ln w="18073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15" name="config-C2"/>
          <p:cNvSpPr/>
          <p:nvPr/>
        </p:nvSpPr>
        <p:spPr>
          <a:xfrm>
            <a:off x="3313355" y="11897958"/>
            <a:ext cx="2334409" cy="1016598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tag-C2-315"/>
          <p:cNvSpPr/>
          <p:nvPr/>
        </p:nvSpPr>
        <p:spPr>
          <a:xfrm>
            <a:off x="3403720" y="1198832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obj-317: C2"/>
          <p:cNvSpPr txBox="1"/>
          <p:nvPr/>
        </p:nvSpPr>
        <p:spPr>
          <a:xfrm>
            <a:off x="3417368" y="11998864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318" name="obj-318: DDR Controller"/>
          <p:cNvSpPr txBox="1"/>
          <p:nvPr/>
        </p:nvSpPr>
        <p:spPr>
          <a:xfrm>
            <a:off x="3922455" y="12048565"/>
            <a:ext cx="140236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319" name="obj-319: 初始化 / QoS / 状态"/>
          <p:cNvSpPr txBox="1"/>
          <p:nvPr/>
        </p:nvSpPr>
        <p:spPr>
          <a:xfrm>
            <a:off x="3609745" y="12486530"/>
            <a:ext cx="1741629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320" name="config-drop-2"/>
          <p:cNvCxnSpPr/>
          <p:nvPr/>
        </p:nvCxnSpPr>
        <p:spPr>
          <a:xfrm>
            <a:off x="7191487" y="11634395"/>
            <a:ext cx="0" cy="263563"/>
          </a:xfrm>
          <a:prstGeom prst="line">
            <a:avLst/>
          </a:prstGeom>
          <a:ln w="18073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21" name="config-C3"/>
          <p:cNvSpPr/>
          <p:nvPr/>
        </p:nvSpPr>
        <p:spPr>
          <a:xfrm>
            <a:off x="6024282" y="11897958"/>
            <a:ext cx="2334409" cy="1016598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tag-C3-321"/>
          <p:cNvSpPr/>
          <p:nvPr/>
        </p:nvSpPr>
        <p:spPr>
          <a:xfrm>
            <a:off x="6114647" y="1198832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obj-323: C3"/>
          <p:cNvSpPr txBox="1"/>
          <p:nvPr/>
        </p:nvSpPr>
        <p:spPr>
          <a:xfrm>
            <a:off x="6128295" y="11998864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324" name="obj-324: DDR PHY"/>
          <p:cNvSpPr txBox="1"/>
          <p:nvPr/>
        </p:nvSpPr>
        <p:spPr>
          <a:xfrm>
            <a:off x="6862446" y="12048565"/>
            <a:ext cx="944236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325" name="obj-325: training / 校准"/>
          <p:cNvSpPr txBox="1"/>
          <p:nvPr/>
        </p:nvSpPr>
        <p:spPr>
          <a:xfrm>
            <a:off x="6554672" y="12486530"/>
            <a:ext cx="1273630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326" name="config-drop-3"/>
          <p:cNvCxnSpPr/>
          <p:nvPr/>
        </p:nvCxnSpPr>
        <p:spPr>
          <a:xfrm>
            <a:off x="9902414" y="11634395"/>
            <a:ext cx="0" cy="263563"/>
          </a:xfrm>
          <a:prstGeom prst="line">
            <a:avLst/>
          </a:prstGeom>
          <a:ln w="18073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27" name="config-C4"/>
          <p:cNvSpPr/>
          <p:nvPr/>
        </p:nvSpPr>
        <p:spPr>
          <a:xfrm>
            <a:off x="8735209" y="11897958"/>
            <a:ext cx="2334409" cy="1016598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tag-C4-327"/>
          <p:cNvSpPr/>
          <p:nvPr/>
        </p:nvSpPr>
        <p:spPr>
          <a:xfrm>
            <a:off x="8825574" y="1198832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obj-329: C4"/>
          <p:cNvSpPr txBox="1"/>
          <p:nvPr/>
        </p:nvSpPr>
        <p:spPr>
          <a:xfrm>
            <a:off x="8839222" y="11998864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30" name="obj-330: LVDS"/>
          <p:cNvSpPr txBox="1"/>
          <p:nvPr/>
        </p:nvSpPr>
        <p:spPr>
          <a:xfrm>
            <a:off x="9731299" y="12048565"/>
            <a:ext cx="62838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331" name="obj-331: 通道 / 对齐 / 帧行"/>
          <p:cNvSpPr txBox="1"/>
          <p:nvPr/>
        </p:nvSpPr>
        <p:spPr>
          <a:xfrm>
            <a:off x="9102385" y="12486530"/>
            <a:ext cx="1600059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332" name="config-drop-4"/>
          <p:cNvCxnSpPr/>
          <p:nvPr/>
        </p:nvCxnSpPr>
        <p:spPr>
          <a:xfrm>
            <a:off x="12613341" y="11634395"/>
            <a:ext cx="0" cy="263563"/>
          </a:xfrm>
          <a:prstGeom prst="line">
            <a:avLst/>
          </a:prstGeom>
          <a:ln w="18073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33" name="config-C5"/>
          <p:cNvSpPr/>
          <p:nvPr/>
        </p:nvSpPr>
        <p:spPr>
          <a:xfrm>
            <a:off x="11446136" y="11897958"/>
            <a:ext cx="2334409" cy="1016598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tag-C5-333"/>
          <p:cNvSpPr/>
          <p:nvPr/>
        </p:nvSpPr>
        <p:spPr>
          <a:xfrm>
            <a:off x="11536501" y="1198832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obj-335: C5"/>
          <p:cNvSpPr txBox="1"/>
          <p:nvPr/>
        </p:nvSpPr>
        <p:spPr>
          <a:xfrm>
            <a:off x="11550149" y="11998864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36" name="obj-336: ISP"/>
          <p:cNvSpPr txBox="1"/>
          <p:nvPr/>
        </p:nvSpPr>
        <p:spPr>
          <a:xfrm>
            <a:off x="12526889" y="12048565"/>
            <a:ext cx="459057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7" name="obj-337: 尺寸 / 模式 / 参数"/>
          <p:cNvSpPr txBox="1"/>
          <p:nvPr/>
        </p:nvSpPr>
        <p:spPr>
          <a:xfrm>
            <a:off x="11813312" y="12486530"/>
            <a:ext cx="1600059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338" name="config-drop-5"/>
          <p:cNvCxnSpPr/>
          <p:nvPr/>
        </p:nvCxnSpPr>
        <p:spPr>
          <a:xfrm>
            <a:off x="15324268" y="11634395"/>
            <a:ext cx="0" cy="263563"/>
          </a:xfrm>
          <a:prstGeom prst="line">
            <a:avLst/>
          </a:prstGeom>
          <a:ln w="18073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39" name="config-C6"/>
          <p:cNvSpPr/>
          <p:nvPr/>
        </p:nvSpPr>
        <p:spPr>
          <a:xfrm>
            <a:off x="14157064" y="11897958"/>
            <a:ext cx="2334409" cy="1016598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tag-C6-339"/>
          <p:cNvSpPr/>
          <p:nvPr/>
        </p:nvSpPr>
        <p:spPr>
          <a:xfrm>
            <a:off x="14247428" y="1198832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obj-341: C6"/>
          <p:cNvSpPr txBox="1"/>
          <p:nvPr/>
        </p:nvSpPr>
        <p:spPr>
          <a:xfrm>
            <a:off x="14261077" y="11998864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42" name="obj-342: NPU 计算"/>
          <p:cNvSpPr txBox="1"/>
          <p:nvPr/>
        </p:nvSpPr>
        <p:spPr>
          <a:xfrm>
            <a:off x="14981808" y="12048565"/>
            <a:ext cx="971074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343" name="obj-343: 命令 / GB 数据位置"/>
          <p:cNvSpPr txBox="1"/>
          <p:nvPr/>
        </p:nvSpPr>
        <p:spPr>
          <a:xfrm>
            <a:off x="14484493" y="12486530"/>
            <a:ext cx="1679551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344" name="config-drop-6"/>
          <p:cNvCxnSpPr/>
          <p:nvPr/>
        </p:nvCxnSpPr>
        <p:spPr>
          <a:xfrm>
            <a:off x="18035195" y="11634395"/>
            <a:ext cx="0" cy="263563"/>
          </a:xfrm>
          <a:prstGeom prst="line">
            <a:avLst/>
          </a:prstGeom>
          <a:ln w="18073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45" name="config-C7"/>
          <p:cNvSpPr/>
          <p:nvPr/>
        </p:nvSpPr>
        <p:spPr>
          <a:xfrm>
            <a:off x="16867991" y="11897958"/>
            <a:ext cx="2334409" cy="1016598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tag-C7-345"/>
          <p:cNvSpPr/>
          <p:nvPr/>
        </p:nvSpPr>
        <p:spPr>
          <a:xfrm>
            <a:off x="16958355" y="1198832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obj-347: C7"/>
          <p:cNvSpPr txBox="1"/>
          <p:nvPr/>
        </p:nvSpPr>
        <p:spPr>
          <a:xfrm>
            <a:off x="16972004" y="11998864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48" name="obj-348: NPU / GB 搬运"/>
          <p:cNvSpPr txBox="1"/>
          <p:nvPr/>
        </p:nvSpPr>
        <p:spPr>
          <a:xfrm>
            <a:off x="17467060" y="12048565"/>
            <a:ext cx="1422425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349" name="obj-349: 地址 / 长度 / stride"/>
          <p:cNvSpPr txBox="1"/>
          <p:nvPr/>
        </p:nvSpPr>
        <p:spPr>
          <a:xfrm>
            <a:off x="17193973" y="12486530"/>
            <a:ext cx="1682446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350" name="config-drop-7"/>
          <p:cNvCxnSpPr/>
          <p:nvPr/>
        </p:nvCxnSpPr>
        <p:spPr>
          <a:xfrm>
            <a:off x="20746122" y="11634395"/>
            <a:ext cx="0" cy="263563"/>
          </a:xfrm>
          <a:prstGeom prst="line">
            <a:avLst/>
          </a:prstGeom>
          <a:ln w="18073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51" name="config-C8"/>
          <p:cNvSpPr/>
          <p:nvPr/>
        </p:nvSpPr>
        <p:spPr>
          <a:xfrm>
            <a:off x="19578918" y="11897958"/>
            <a:ext cx="2334409" cy="1016598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tag-C8-351"/>
          <p:cNvSpPr/>
          <p:nvPr/>
        </p:nvSpPr>
        <p:spPr>
          <a:xfrm>
            <a:off x="19669282" y="1198832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obj-353: C8"/>
          <p:cNvSpPr txBox="1"/>
          <p:nvPr/>
        </p:nvSpPr>
        <p:spPr>
          <a:xfrm>
            <a:off x="19682931" y="11998864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54" name="obj-354: 帧写入 DMA"/>
          <p:cNvSpPr txBox="1"/>
          <p:nvPr/>
        </p:nvSpPr>
        <p:spPr>
          <a:xfrm>
            <a:off x="20292619" y="12048565"/>
            <a:ext cx="1193161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55" name="obj-355: 缓冲区 / 格式 / 帧状态"/>
          <p:cNvSpPr txBox="1"/>
          <p:nvPr/>
        </p:nvSpPr>
        <p:spPr>
          <a:xfrm>
            <a:off x="19772895" y="12486530"/>
            <a:ext cx="1946455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356" name="config-drop-8"/>
          <p:cNvCxnSpPr/>
          <p:nvPr/>
        </p:nvCxnSpPr>
        <p:spPr>
          <a:xfrm>
            <a:off x="23457049" y="11634395"/>
            <a:ext cx="0" cy="263563"/>
          </a:xfrm>
          <a:prstGeom prst="line">
            <a:avLst/>
          </a:prstGeom>
          <a:ln w="18073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57" name="config-C9"/>
          <p:cNvSpPr/>
          <p:nvPr/>
        </p:nvSpPr>
        <p:spPr>
          <a:xfrm>
            <a:off x="22289845" y="11897958"/>
            <a:ext cx="2334409" cy="1016598"/>
          </a:xfrm>
          <a:prstGeom prst="roundRect">
            <a:avLst>
              <a:gd name="adj" fmla="val 4444"/>
            </a:avLst>
          </a:prstGeom>
          <a:solidFill>
            <a:srgbClr val="F3EDF8"/>
          </a:solidFill>
          <a:ln w="15061" cap="flat">
            <a:solidFill>
              <a:srgbClr val="8663A9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tag-C9-357"/>
          <p:cNvSpPr/>
          <p:nvPr/>
        </p:nvSpPr>
        <p:spPr>
          <a:xfrm>
            <a:off x="22380209" y="11988322"/>
            <a:ext cx="361457" cy="233441"/>
          </a:xfrm>
          <a:prstGeom prst="roundRect">
            <a:avLst>
              <a:gd name="adj" fmla="val 9677"/>
            </a:avLst>
          </a:prstGeom>
          <a:solidFill>
            <a:srgbClr val="F3EDF8"/>
          </a:solidFill>
          <a:ln w="11296" cap="flat">
            <a:solidFill>
              <a:srgbClr val="8663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obj-359: C9"/>
          <p:cNvSpPr txBox="1"/>
          <p:nvPr/>
        </p:nvSpPr>
        <p:spPr>
          <a:xfrm>
            <a:off x="22393858" y="11998864"/>
            <a:ext cx="334159" cy="2409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5" b="1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60" name="obj-360: GB 管理"/>
          <p:cNvSpPr txBox="1"/>
          <p:nvPr/>
        </p:nvSpPr>
        <p:spPr>
          <a:xfrm>
            <a:off x="23169190" y="12048565"/>
            <a:ext cx="86187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1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GB 管理</a:t>
            </a:r>
          </a:p>
        </p:txBody>
      </p:sp>
      <p:sp>
        <p:nvSpPr>
          <p:cNvPr id="361" name="obj-361: 能力 / bank / 错误"/>
          <p:cNvSpPr txBox="1"/>
          <p:nvPr/>
        </p:nvSpPr>
        <p:spPr>
          <a:xfrm>
            <a:off x="22646872" y="12486530"/>
            <a:ext cx="1620355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21374B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362" name="legend-347BB2"/>
          <p:cNvCxnSpPr/>
          <p:nvPr/>
        </p:nvCxnSpPr>
        <p:spPr>
          <a:xfrm>
            <a:off x="489473" y="13516984"/>
            <a:ext cx="414169" cy="0"/>
          </a:xfrm>
          <a:prstGeom prst="line">
            <a:avLst/>
          </a:prstGeom>
          <a:ln w="22591" cap="flat">
            <a:solidFill>
              <a:srgbClr val="347BB2"/>
            </a:solidFill>
            <a:tailEnd type="triangle" w="med" len="med"/>
          </a:ln>
          <a:effectLst/>
        </p:spPr>
      </p:cxnSp>
      <p:sp>
        <p:nvSpPr>
          <p:cNvPr id="363" name="obj-363: AXI 请求"/>
          <p:cNvSpPr txBox="1"/>
          <p:nvPr/>
        </p:nvSpPr>
        <p:spPr>
          <a:xfrm>
            <a:off x="1016598" y="13381437"/>
            <a:ext cx="876945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347BB2"/>
                </a:solidFill>
                <a:latin typeface="Microsoft YaHei"/>
                <a:ea typeface="Microsoft YaHei"/>
                <a:cs typeface="Microsoft YaHei"/>
              </a:rPr>
              <a:t>AXI 请求</a:t>
            </a:r>
          </a:p>
        </p:txBody>
      </p:sp>
      <p:cxnSp>
        <p:nvCxnSpPr>
          <p:cNvPr id="364" name="legend-16867F"/>
          <p:cNvCxnSpPr/>
          <p:nvPr/>
        </p:nvCxnSpPr>
        <p:spPr>
          <a:xfrm>
            <a:off x="3087445" y="13516984"/>
            <a:ext cx="414169" cy="0"/>
          </a:xfrm>
          <a:prstGeom prst="line">
            <a:avLst/>
          </a:prstGeom>
          <a:ln w="22591" cap="flat">
            <a:solidFill>
              <a:srgbClr val="16867F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65" name="obj-365: GB 读写"/>
          <p:cNvSpPr txBox="1"/>
          <p:nvPr/>
        </p:nvSpPr>
        <p:spPr>
          <a:xfrm>
            <a:off x="3614569" y="13381437"/>
            <a:ext cx="861872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16867F"/>
                </a:solidFill>
                <a:latin typeface="Microsoft YaHei"/>
                <a:ea typeface="Microsoft YaHei"/>
                <a:cs typeface="Microsoft YaHei"/>
              </a:rPr>
              <a:t>GB 读写</a:t>
            </a:r>
          </a:p>
        </p:txBody>
      </p:sp>
      <p:cxnSp>
        <p:nvCxnSpPr>
          <p:cNvPr id="366" name="legend-C17A30"/>
          <p:cNvCxnSpPr/>
          <p:nvPr/>
        </p:nvCxnSpPr>
        <p:spPr>
          <a:xfrm>
            <a:off x="5685416" y="13516984"/>
            <a:ext cx="414170" cy="0"/>
          </a:xfrm>
          <a:prstGeom prst="line">
            <a:avLst/>
          </a:prstGeom>
          <a:ln w="22591" cap="flat">
            <a:solidFill>
              <a:srgbClr val="C17A30"/>
            </a:solidFill>
            <a:tailEnd type="triangle" w="med" len="med"/>
          </a:ln>
          <a:effectLst/>
        </p:spPr>
      </p:cxnSp>
      <p:sp>
        <p:nvSpPr>
          <p:cNvPr id="367" name="obj-367: 像素流"/>
          <p:cNvSpPr txBox="1"/>
          <p:nvPr/>
        </p:nvSpPr>
        <p:spPr>
          <a:xfrm>
            <a:off x="6212541" y="13381437"/>
            <a:ext cx="753035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C17A30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cxnSp>
        <p:nvCxnSpPr>
          <p:cNvPr id="368" name="legend-8663A9"/>
          <p:cNvCxnSpPr/>
          <p:nvPr/>
        </p:nvCxnSpPr>
        <p:spPr>
          <a:xfrm>
            <a:off x="8283388" y="13516984"/>
            <a:ext cx="414170" cy="0"/>
          </a:xfrm>
          <a:prstGeom prst="line">
            <a:avLst/>
          </a:prstGeom>
          <a:ln w="22591" cap="flat">
            <a:solidFill>
              <a:srgbClr val="8663A9"/>
            </a:solidFill>
            <a:tailEnd type="triangle" w="med" len="med"/>
          </a:ln>
          <a:effectLst/>
        </p:spPr>
      </p:cxnSp>
      <p:sp>
        <p:nvSpPr>
          <p:cNvPr id="369" name="obj-369: 配置 / 专用控制"/>
          <p:cNvSpPr txBox="1"/>
          <p:nvPr/>
        </p:nvSpPr>
        <p:spPr>
          <a:xfrm>
            <a:off x="8810513" y="13381437"/>
            <a:ext cx="1528509" cy="301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2" b="0" i="0">
                <a:solidFill>
                  <a:srgbClr val="8663A9"/>
                </a:solidFill>
                <a:latin typeface="Microsoft YaHei"/>
                <a:ea typeface="Microsoft YaHei"/>
                <a:cs typeface="Microsoft YaHei"/>
              </a:rPr>
              <a:t>配置 / 专用控制</a:t>
            </a:r>
          </a:p>
        </p:txBody>
      </p:sp>
      <p:sp>
        <p:nvSpPr>
          <p:cNvPr id="370" name="obj-370: 灰虚线：可选模块   彩色虚线：新增候选"/>
          <p:cNvSpPr txBox="1"/>
          <p:nvPr/>
        </p:nvSpPr>
        <p:spPr>
          <a:xfrm>
            <a:off x="12425082" y="13389570"/>
            <a:ext cx="3415662" cy="2891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灰虚线：可选模块   彩色虚线：新增候选</a:t>
            </a:r>
          </a:p>
        </p:txBody>
      </p:sp>
      <p:sp>
        <p:nvSpPr>
          <p:cNvPr id="371" name="obj-371: C1–C9：对应同一 IP 配置端"/>
          <p:cNvSpPr txBox="1"/>
          <p:nvPr/>
        </p:nvSpPr>
        <p:spPr>
          <a:xfrm>
            <a:off x="19503614" y="13397703"/>
            <a:ext cx="2322949" cy="2771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3" b="0" i="0">
                <a:solidFill>
                  <a:srgbClr val="61758A"/>
                </a:solidFill>
                <a:latin typeface="Microsoft YaHei"/>
                <a:ea typeface="Microsoft YaHei"/>
                <a:cs typeface="Microsoft YaHei"/>
              </a:rPr>
              <a:t>C1–C9：对应同一 IP 配置端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