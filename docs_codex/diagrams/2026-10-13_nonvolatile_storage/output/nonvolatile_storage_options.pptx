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需求：用户确认约500 MiB校正参数在开机完整加载至DDR，允许30秒加载。此页将30秒暂按存储初始化至加载校验完成预算，不代表从上电到完整系统就绪。</a:t>
            </a:r>
          </a:p>
          <a:p>
            <a:r>
              <a:t>结构图为建议的参数读取路径，蓝色实线为数据方向、绿色虚线为CPU配置；不是完整双向协议图。管理控制器内部功能为逻辑概念，不规定器件物理微架构。DDR至ISP含互连，未冻结实际端口。</a:t>
            </a:r>
          </a:p>
          <a:p>
            <a:r>
              <a:t>当前Cheshire没有已接好的eMMC通路。新增主机控制器建议带DMA，控制寄存器可经适配进入Regbus，数据经AXI；IP、电压、PAD、时钟、ID及缓存维护均待集成规格确定。</a:t>
            </a:r>
          </a:p>
          <a:p>
            <a:r>
              <a:t>A/B是本方案建议：两份约1000 MiB，尚非用户冻结需求。更新须确认数据已落入非易失介质，版本记录需冗余/校验，断电注错验证不能由A/B名义替代。4/8 GB不是采购承诺。</a:t>
            </a:r>
          </a:p>
          <a:p>
            <a:r>
              <a:t>官方资料（2026-10-13查阅）：</a:t>
            </a:r>
          </a:p>
          <a:p>
            <a:r>
              <a:t>https://www.micron.com/products/storage/managed-nand/emmc</a:t>
            </a:r>
          </a:p>
          <a:p>
            <a:r>
              <a:t>https://www.micron.com/sales-support/sales/faqs</a:t>
            </a:r>
          </a:p>
          <a:p>
            <a:r>
              <a:t>https://www.micron.com/products/storage/nand-flash/choosing-the-right-nand</a:t>
            </a:r>
          </a:p>
          <a:p>
            <a:r>
              <a:t>当前源码：hw/cheshire_soc.sv:1445 SPI Host；hw/bootrom/cheshire_bootrom.c:76 内置启动介质选择；docs/um/sw.md:68 两阶段启动说明。保留NOR启动，后续加载程序在DDR ready后读取参数。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蓝线为建议的参数读取方向；CPU经控制口下发SPI命令、读取接收FIFO并写DDR。当前SPI Host接公共Regbus，没有将DMA直接接到SPI FIFO的现有保证。图为存储读取逻辑示意，未规定ECC与页缓存的物理实现次序。</a:t>
            </a:r>
          </a:p>
          <a:p>
            <a:r>
              <a:t>W25N-MW官网列出2/4/8Gb、1.8V、SPI/Dual/Quad、页组织与BBM LUT。具体料号的ECC能力以数据手册为准；本页不冻结ECC位数。具备器件内ECC不意味着具有eMMC式完整介质管理。</a:t>
            </a:r>
          </a:p>
          <a:p>
            <a:r>
              <a:t>容量：500 MiB=524288000 bytes；8 Gbit按该NAND二进制阵列容量为1 GiB=1024 MiB；两份参数1000 MiB只余24 MiB，尚需考虑坏块、备用块、元数据与增长，不建议把它视为稳妥双副本配置。</a:t>
            </a:r>
          </a:p>
          <a:p>
            <a:r>
              <a:t>吞吐下限500/30=16.6667 MiB/s（约17.48 MB/s），只计数据传输；25 MiB/s为建议有效搬运目标，不是器件或工程实测。整体验收应从初始化开始计时至加载并校验结束&lt;=30秒。若初始化校验超时须调整预算。</a:t>
            </a:r>
          </a:p>
          <a:p>
            <a:r>
              <a:t>Quad STR 50 MHz的纯线速仅25 MB/s≈23.84 MiB/s，未计页读、命令、FIFO与软件开销，不能声称达到25 MiB/s目标。器件标称83 MB/s也不能直接套到当前SPI Host。</a:t>
            </a:r>
          </a:p>
          <a:p>
            <a:r>
              <a:t>官方资料（2026-10-13查阅）：</a:t>
            </a:r>
          </a:p>
          <a:p>
            <a:r>
              <a:t>https://www.winbond.com/hq/product/code-storage-flash/qspi-nand/w25n-mw/index.html?__locale=en</a:t>
            </a:r>
          </a:p>
          <a:p>
            <a:r>
              <a:t>https://www.winbond.com/hq/product/code-storage-flash/qspi-nand/w25n-mw/?__locale=ja&amp;partNo=W25N02MWTBIG</a:t>
            </a:r>
          </a:p>
          <a:p>
            <a:r>
              <a:t>https://www.micron.com/products/storage/nand-flash/choosing-the-right-nand</a:t>
            </a:r>
          </a:p>
          <a:p>
            <a:r>
              <a:t>当前源码：hw/cheshire_soc.sv:1445，sw/lib/hal/spi_sdcard.c:192及239，sw/lib/hal/spi_s25fs512s.c；本地DIF的SPI时钟分频及读FIFO逻辑。现有SD-SPI驱动25MHz单线是SD软件路径条件，不是SPI NAND的通用最高频率。</a:t>
            </a:r>
          </a:p>
          <a:p>
            <a:r>
              <a:t>待适配内容：复位与ID识别、读页和读缓存命令、ECC状态判定、不可纠错错误、坏块映射/预留和更新掉电恢复；本次未实现或测试。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icron.com/products/storage/managed-nand/emmc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inbond.com/hq/product/code-storage-flash/qspi-nand/w25n-mw/index.html?__locale=en" TargetMode="Externa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93192"/>
            <a:ext cx="73152" cy="530352"/>
          </a:xfrm>
          <a:prstGeom prst="rect">
            <a:avLst/>
          </a:prstGeom>
          <a:solidFill>
            <a:srgbClr val="21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47472"/>
            <a:ext cx="13258800" cy="5888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12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eMMC：内置管理控制器的大容量参数存储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3258800" cy="358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推荐优先评估 4 GB / 8 GB 工业级器件；保留现有 NOR 承担启动。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3533120" cy="877824"/>
          </a:xfrm>
          <a:prstGeom prst="rect">
            <a:avLst/>
          </a:prstGeom>
          <a:solidFill>
            <a:srgbClr val="E7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18488"/>
            <a:ext cx="4297680" cy="4352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500 MiB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39112"/>
            <a:ext cx="4297680" cy="2944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盲元补偿 / 非均匀性校正参数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618488"/>
            <a:ext cx="4297680" cy="4352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30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039112"/>
            <a:ext cx="4297680" cy="2944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初始化、加载与校验的预算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618488"/>
            <a:ext cx="4297680" cy="4352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DDR 常驻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039112"/>
            <a:ext cx="4297680" cy="2944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运行时 ISP 读取参数</a:t>
            </a:r>
          </a:p>
        </p:txBody>
      </p:sp>
      <p:sp>
        <p:nvSpPr>
          <p:cNvPr id="12" name="d1"/>
          <p:cNvSpPr/>
          <p:nvPr/>
        </p:nvSpPr>
        <p:spPr>
          <a:xfrm>
            <a:off x="548640" y="3310128"/>
            <a:ext cx="4754880" cy="1874520"/>
          </a:xfrm>
          <a:prstGeom prst="roundRect">
            <a:avLst>
              <a:gd name="adj" fmla="val 2926"/>
            </a:avLst>
          </a:prstGeom>
          <a:solidFill>
            <a:srgbClr val="EAF3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d2: 片外 eMMC · 断电保存参数"/>
          <p:cNvSpPr txBox="1"/>
          <p:nvPr/>
        </p:nvSpPr>
        <p:spPr>
          <a:xfrm>
            <a:off x="749808" y="3336828"/>
            <a:ext cx="3075370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片外 eMMC · 断电保存参数</a:t>
            </a:r>
          </a:p>
        </p:txBody>
      </p:sp>
      <p:sp>
        <p:nvSpPr>
          <p:cNvPr id="14" name="d3"/>
          <p:cNvSpPr/>
          <p:nvPr/>
        </p:nvSpPr>
        <p:spPr>
          <a:xfrm>
            <a:off x="777240" y="3840480"/>
            <a:ext cx="1600200" cy="1078992"/>
          </a:xfrm>
          <a:prstGeom prst="roundRect">
            <a:avLst>
              <a:gd name="adj" fmla="val 5084"/>
            </a:avLst>
          </a:prstGeom>
          <a:solidFill>
            <a:srgbClr val="D6E7F5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4: NAND 阵列"/>
          <p:cNvSpPr txBox="1"/>
          <p:nvPr/>
        </p:nvSpPr>
        <p:spPr>
          <a:xfrm>
            <a:off x="852228" y="3921313"/>
            <a:ext cx="1441080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 阵列</a:t>
            </a:r>
          </a:p>
        </p:txBody>
      </p:sp>
      <p:sp>
        <p:nvSpPr>
          <p:cNvPr id="16" name="d5: 校正参数"/>
          <p:cNvSpPr txBox="1"/>
          <p:nvPr/>
        </p:nvSpPr>
        <p:spPr>
          <a:xfrm>
            <a:off x="1001268" y="4334256"/>
            <a:ext cx="1143000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校正参数</a:t>
            </a:r>
          </a:p>
        </p:txBody>
      </p:sp>
      <p:sp>
        <p:nvSpPr>
          <p:cNvPr id="17" name="d6"/>
          <p:cNvSpPr/>
          <p:nvPr/>
        </p:nvSpPr>
        <p:spPr>
          <a:xfrm>
            <a:off x="2880360" y="3840480"/>
            <a:ext cx="2194560" cy="1078992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d7: 内部管理控制器"/>
          <p:cNvSpPr txBox="1"/>
          <p:nvPr/>
        </p:nvSpPr>
        <p:spPr>
          <a:xfrm>
            <a:off x="3026664" y="3867180"/>
            <a:ext cx="1901952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内部管理控制器</a:t>
            </a:r>
          </a:p>
        </p:txBody>
      </p:sp>
      <p:sp>
        <p:nvSpPr>
          <p:cNvPr id="19" name="d8: 纠错 / 坏块管理"/>
          <p:cNvSpPr txBox="1"/>
          <p:nvPr/>
        </p:nvSpPr>
        <p:spPr>
          <a:xfrm>
            <a:off x="3086743" y="4216116"/>
            <a:ext cx="178179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纠错 / 坏块管理</a:t>
            </a:r>
          </a:p>
        </p:txBody>
      </p:sp>
      <p:sp>
        <p:nvSpPr>
          <p:cNvPr id="20" name="d9: 磨损均衡 / 地址映射"/>
          <p:cNvSpPr txBox="1"/>
          <p:nvPr/>
        </p:nvSpPr>
        <p:spPr>
          <a:xfrm>
            <a:off x="2959820" y="4528475"/>
            <a:ext cx="2035640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磨损均衡 / 地址映射</a:t>
            </a:r>
          </a:p>
        </p:txBody>
      </p:sp>
      <p:sp>
        <p:nvSpPr>
          <p:cNvPr id="21" name="d10"/>
          <p:cNvSpPr/>
          <p:nvPr/>
        </p:nvSpPr>
        <p:spPr>
          <a:xfrm>
            <a:off x="2377440" y="4379976"/>
            <a:ext cx="502920" cy="1"/>
          </a:xfrm>
          <a:custGeom>
            <a:avLst/>
            <a:gdLst/>
            <a:ahLst/>
            <a:cxnLst/>
            <a:rect l="0" t="0" r="r" b="b"/>
            <a:pathLst>
              <a:path w="502920" h="1" fill="none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d11"/>
          <p:cNvSpPr/>
          <p:nvPr/>
        </p:nvSpPr>
        <p:spPr>
          <a:xfrm>
            <a:off x="6537960" y="3840480"/>
            <a:ext cx="2331720" cy="1078992"/>
          </a:xfrm>
          <a:prstGeom prst="roundRect">
            <a:avLst>
              <a:gd name="adj" fmla="val 5084"/>
            </a:avLst>
          </a:prstGeom>
          <a:solidFill>
            <a:srgbClr val="E4F2ED"/>
          </a:solidFill>
          <a:ln w="14630" cap="flat">
            <a:solidFill>
              <a:srgbClr val="193047"/>
            </a:solidFill>
            <a:custDash>
              <a:ds d="500000" sp="3125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d12: eMMC 主机"/>
          <p:cNvSpPr txBox="1"/>
          <p:nvPr/>
        </p:nvSpPr>
        <p:spPr>
          <a:xfrm>
            <a:off x="6918765" y="3874861"/>
            <a:ext cx="156096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 主机</a:t>
            </a:r>
          </a:p>
        </p:txBody>
      </p:sp>
      <p:sp>
        <p:nvSpPr>
          <p:cNvPr id="24" name="d13: 控制器 + DMA"/>
          <p:cNvSpPr txBox="1"/>
          <p:nvPr/>
        </p:nvSpPr>
        <p:spPr>
          <a:xfrm>
            <a:off x="6805843" y="4213921"/>
            <a:ext cx="1786809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控制器 + DMA</a:t>
            </a:r>
          </a:p>
        </p:txBody>
      </p:sp>
      <p:sp>
        <p:nvSpPr>
          <p:cNvPr id="25" name="d14: 拟新增 IP 与驱动"/>
          <p:cNvSpPr txBox="1"/>
          <p:nvPr/>
        </p:nvSpPr>
        <p:spPr>
          <a:xfrm>
            <a:off x="6852435" y="4565051"/>
            <a:ext cx="169362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拟新增 IP 与驱动</a:t>
            </a:r>
          </a:p>
        </p:txBody>
      </p:sp>
      <p:sp>
        <p:nvSpPr>
          <p:cNvPr id="26" name="d15"/>
          <p:cNvSpPr/>
          <p:nvPr/>
        </p:nvSpPr>
        <p:spPr>
          <a:xfrm>
            <a:off x="6858000" y="2615184"/>
            <a:ext cx="1691640" cy="484632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14630" cap="flat">
            <a:solidFill>
              <a:srgbClr val="218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d16: CPU 配置"/>
          <p:cNvSpPr txBox="1"/>
          <p:nvPr/>
        </p:nvSpPr>
        <p:spPr>
          <a:xfrm>
            <a:off x="7114246" y="2697480"/>
            <a:ext cx="117000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配置</a:t>
            </a:r>
          </a:p>
        </p:txBody>
      </p:sp>
      <p:sp>
        <p:nvSpPr>
          <p:cNvPr id="28" name="d17"/>
          <p:cNvSpPr/>
          <p:nvPr/>
        </p:nvSpPr>
        <p:spPr>
          <a:xfrm>
            <a:off x="7699248" y="3099816"/>
            <a:ext cx="1" cy="740664"/>
          </a:xfrm>
          <a:custGeom>
            <a:avLst/>
            <a:gdLst/>
            <a:ahLst/>
            <a:cxnLst/>
            <a:rect l="0" t="0" r="r" b="b"/>
            <a:pathLst>
              <a:path w="1" h="740664" fill="none">
                <a:moveTo>
                  <a:pt x="0" y="0"/>
                </a:moveTo>
                <a:lnTo>
                  <a:pt x="0" y="740664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18: 控制口"/>
          <p:cNvSpPr txBox="1"/>
          <p:nvPr/>
        </p:nvSpPr>
        <p:spPr>
          <a:xfrm>
            <a:off x="8065008" y="3239171"/>
            <a:ext cx="804672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控制口</a:t>
            </a:r>
          </a:p>
        </p:txBody>
      </p:sp>
      <p:sp>
        <p:nvSpPr>
          <p:cNvPr id="30" name="d19"/>
          <p:cNvSpPr/>
          <p:nvPr/>
        </p:nvSpPr>
        <p:spPr>
          <a:xfrm>
            <a:off x="5074920" y="4379976"/>
            <a:ext cx="1463040" cy="1"/>
          </a:xfrm>
          <a:custGeom>
            <a:avLst/>
            <a:gdLst/>
            <a:ahLst/>
            <a:cxnLst/>
            <a:rect l="0" t="0" r="r" b="b"/>
            <a:pathLst>
              <a:path w="1463040" h="1" fill="none">
                <a:moveTo>
                  <a:pt x="0" y="0"/>
                </a:moveTo>
                <a:lnTo>
                  <a:pt x="146304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d20: eMMC 总线"/>
          <p:cNvSpPr txBox="1"/>
          <p:nvPr/>
        </p:nvSpPr>
        <p:spPr>
          <a:xfrm>
            <a:off x="5266365" y="3952403"/>
            <a:ext cx="1226453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 总线</a:t>
            </a:r>
          </a:p>
        </p:txBody>
      </p:sp>
      <p:sp>
        <p:nvSpPr>
          <p:cNvPr id="32" name="d21"/>
          <p:cNvSpPr/>
          <p:nvPr/>
        </p:nvSpPr>
        <p:spPr>
          <a:xfrm>
            <a:off x="10058400" y="3840480"/>
            <a:ext cx="1645920" cy="1078992"/>
          </a:xfrm>
          <a:prstGeom prst="roundRect">
            <a:avLst>
              <a:gd name="adj" fmla="val 5084"/>
            </a:avLst>
          </a:prstGeom>
          <a:solidFill>
            <a:srgbClr val="FFF0D9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d22: DDR"/>
          <p:cNvSpPr txBox="1"/>
          <p:nvPr/>
        </p:nvSpPr>
        <p:spPr>
          <a:xfrm>
            <a:off x="10451592" y="3890223"/>
            <a:ext cx="85953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34" name="d23: 参数工作副本"/>
          <p:cNvSpPr txBox="1"/>
          <p:nvPr/>
        </p:nvSpPr>
        <p:spPr>
          <a:xfrm>
            <a:off x="10145268" y="4344863"/>
            <a:ext cx="147218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参数工作副本</a:t>
            </a:r>
          </a:p>
        </p:txBody>
      </p:sp>
      <p:sp>
        <p:nvSpPr>
          <p:cNvPr id="35" name="d24"/>
          <p:cNvSpPr/>
          <p:nvPr/>
        </p:nvSpPr>
        <p:spPr>
          <a:xfrm>
            <a:off x="8869680" y="4379976"/>
            <a:ext cx="1188720" cy="1"/>
          </a:xfrm>
          <a:custGeom>
            <a:avLst/>
            <a:gdLst/>
            <a:ahLst/>
            <a:cxnLst/>
            <a:rect l="0" t="0" r="r" b="b"/>
            <a:pathLst>
              <a:path w="1188720" h="1" fill="none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d25: AXI 搬运"/>
          <p:cNvSpPr txBox="1"/>
          <p:nvPr/>
        </p:nvSpPr>
        <p:spPr>
          <a:xfrm>
            <a:off x="8995496" y="3952403"/>
            <a:ext cx="937089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AXI 搬运</a:t>
            </a:r>
          </a:p>
        </p:txBody>
      </p:sp>
      <p:sp>
        <p:nvSpPr>
          <p:cNvPr id="37" name="d26"/>
          <p:cNvSpPr/>
          <p:nvPr/>
        </p:nvSpPr>
        <p:spPr>
          <a:xfrm>
            <a:off x="12710160" y="3840480"/>
            <a:ext cx="1371600" cy="1078992"/>
          </a:xfrm>
          <a:prstGeom prst="roundRect">
            <a:avLst>
              <a:gd name="adj" fmla="val 5084"/>
            </a:avLst>
          </a:prstGeom>
          <a:solidFill>
            <a:srgbClr val="EEE8F6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d27: ISP"/>
          <p:cNvSpPr txBox="1"/>
          <p:nvPr/>
        </p:nvSpPr>
        <p:spPr>
          <a:xfrm>
            <a:off x="13039201" y="3899367"/>
            <a:ext cx="71351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9" name="d28: 运行时读取"/>
          <p:cNvSpPr txBox="1"/>
          <p:nvPr/>
        </p:nvSpPr>
        <p:spPr>
          <a:xfrm>
            <a:off x="12765024" y="4363151"/>
            <a:ext cx="126187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运行时读取</a:t>
            </a:r>
          </a:p>
        </p:txBody>
      </p:sp>
      <p:sp>
        <p:nvSpPr>
          <p:cNvPr id="40" name="d29"/>
          <p:cNvSpPr/>
          <p:nvPr/>
        </p:nvSpPr>
        <p:spPr>
          <a:xfrm>
            <a:off x="11704320" y="4379976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d30: 参数"/>
          <p:cNvSpPr txBox="1"/>
          <p:nvPr/>
        </p:nvSpPr>
        <p:spPr>
          <a:xfrm>
            <a:off x="11905488" y="3952403"/>
            <a:ext cx="603504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</a:t>
            </a:r>
          </a:p>
        </p:txBody>
      </p:sp>
      <p:sp>
        <p:nvSpPr>
          <p:cNvPr id="42" name="d31: 箭头表示参数读取的数据方向；CPU 下发读命令，DMA 完成后软件检查状态与内容"/>
          <p:cNvSpPr txBox="1"/>
          <p:nvPr/>
        </p:nvSpPr>
        <p:spPr>
          <a:xfrm>
            <a:off x="3271309" y="5176967"/>
            <a:ext cx="808778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箭头表示参数读取的数据方向；CPU 下发读命令，DMA 完成后软件检查状态与内容。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660136"/>
            <a:ext cx="4206240" cy="36576"/>
          </a:xfrm>
          <a:prstGeom prst="rect">
            <a:avLst/>
          </a:prstGeom>
          <a:solidFill>
            <a:srgbClr val="21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824728"/>
            <a:ext cx="4206240" cy="371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器件内部完成管理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263640"/>
            <a:ext cx="4206240" cy="3456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纠错、坏块管理与磨损均衡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629400"/>
            <a:ext cx="4206240" cy="3456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主机按逻辑数据块读写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995160"/>
            <a:ext cx="4206240" cy="3456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断电后参数仍保留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66360" y="5660136"/>
            <a:ext cx="4297680" cy="36576"/>
          </a:xfrm>
          <a:prstGeom prst="rect">
            <a:avLst/>
          </a:prstGeom>
          <a:solidFill>
            <a:srgbClr val="21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66360" y="5824728"/>
            <a:ext cx="4297680" cy="371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工程需新增主机通路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6263640"/>
            <a:ext cx="4297680" cy="3456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新增控制器 IP、PAD 与驱动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6629400"/>
            <a:ext cx="4297680" cy="3456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配置，DMA 批量写 DDR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6995160"/>
            <a:ext cx="4297680" cy="3456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完成后检查错误并校验参数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5660136"/>
            <a:ext cx="4206240" cy="36576"/>
          </a:xfrm>
          <a:prstGeom prst="rect">
            <a:avLst/>
          </a:prstGeom>
          <a:solidFill>
            <a:srgbClr val="21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5520" y="5824728"/>
            <a:ext cx="4206240" cy="371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容量与可靠更新建议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6263640"/>
            <a:ext cx="4206240" cy="3456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4 GB / 8 GB 为选型档位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6629400"/>
            <a:ext cx="4206240" cy="3456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可预留 A/B 两份参数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6995160"/>
            <a:ext cx="4206240" cy="3456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写备用区 → 校验 → 切换版本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7763256"/>
            <a:ext cx="13533120" cy="9144"/>
          </a:xfrm>
          <a:prstGeom prst="rect">
            <a:avLst/>
          </a:prstGeom>
          <a:solidFill>
            <a:srgbClr val="CA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7882128"/>
            <a:ext cx="9509760" cy="243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2"/>
              </a:rPr>
              <a:t>官方资料：Micron eMMC  ·  点击打开产品与文档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7882128"/>
            <a:ext cx="310896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方案评估 · 2026.10.13  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93192"/>
            <a:ext cx="73152" cy="530352"/>
          </a:xfrm>
          <a:prstGeom prst="rect">
            <a:avLst/>
          </a:prstGeom>
          <a:solidFill>
            <a:srgbClr val="21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47472"/>
            <a:ext cx="13258800" cy="5888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12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SPI NAND：复用 SPI Host 的扩容候选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3258800" cy="358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W25N-MW 示例：最高 8 Gbit = 1 GiB；NAND 驱动需新增，NOR 驱动不能直接复用。</a:t>
            </a:r>
          </a:p>
        </p:txBody>
      </p:sp>
      <p:sp>
        <p:nvSpPr>
          <p:cNvPr id="5" name="d1"/>
          <p:cNvSpPr/>
          <p:nvPr/>
        </p:nvSpPr>
        <p:spPr>
          <a:xfrm>
            <a:off x="548640" y="1975104"/>
            <a:ext cx="5486400" cy="1847088"/>
          </a:xfrm>
          <a:prstGeom prst="roundRect">
            <a:avLst>
              <a:gd name="adj" fmla="val 2970"/>
            </a:avLst>
          </a:prstGeom>
          <a:solidFill>
            <a:srgbClr val="EAF3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2: 片外 SPI NAND · 断电保存参数"/>
          <p:cNvSpPr txBox="1"/>
          <p:nvPr/>
        </p:nvSpPr>
        <p:spPr>
          <a:xfrm>
            <a:off x="749808" y="2038380"/>
            <a:ext cx="3426885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片外 SPI NAND · 断电保存参数</a:t>
            </a:r>
          </a:p>
        </p:txBody>
      </p:sp>
      <p:sp>
        <p:nvSpPr>
          <p:cNvPr id="7" name="d3"/>
          <p:cNvSpPr/>
          <p:nvPr/>
        </p:nvSpPr>
        <p:spPr>
          <a:xfrm>
            <a:off x="777240" y="2560320"/>
            <a:ext cx="1417320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4: NAND 阵列"/>
          <p:cNvSpPr txBox="1"/>
          <p:nvPr/>
        </p:nvSpPr>
        <p:spPr>
          <a:xfrm>
            <a:off x="792049" y="2687604"/>
            <a:ext cx="1387702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 阵列</a:t>
            </a:r>
          </a:p>
        </p:txBody>
      </p:sp>
      <p:sp>
        <p:nvSpPr>
          <p:cNvPr id="9" name="d5: 按页读取"/>
          <p:cNvSpPr txBox="1"/>
          <p:nvPr/>
        </p:nvSpPr>
        <p:spPr>
          <a:xfrm>
            <a:off x="960120" y="3073847"/>
            <a:ext cx="105156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按页读取</a:t>
            </a:r>
          </a:p>
        </p:txBody>
      </p:sp>
      <p:sp>
        <p:nvSpPr>
          <p:cNvPr id="10" name="d6"/>
          <p:cNvSpPr/>
          <p:nvPr/>
        </p:nvSpPr>
        <p:spPr>
          <a:xfrm>
            <a:off x="2651760" y="2560320"/>
            <a:ext cx="1143000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d7: ECC"/>
          <p:cNvSpPr txBox="1"/>
          <p:nvPr/>
        </p:nvSpPr>
        <p:spPr>
          <a:xfrm>
            <a:off x="2890668" y="2687604"/>
            <a:ext cx="665183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ECC</a:t>
            </a:r>
          </a:p>
        </p:txBody>
      </p:sp>
      <p:sp>
        <p:nvSpPr>
          <p:cNvPr id="12" name="d8: 器件内纠错"/>
          <p:cNvSpPr txBox="1"/>
          <p:nvPr/>
        </p:nvSpPr>
        <p:spPr>
          <a:xfrm>
            <a:off x="2592324" y="3073847"/>
            <a:ext cx="126187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器件内纠错</a:t>
            </a:r>
          </a:p>
        </p:txBody>
      </p:sp>
      <p:sp>
        <p:nvSpPr>
          <p:cNvPr id="13" name="d9"/>
          <p:cNvSpPr/>
          <p:nvPr/>
        </p:nvSpPr>
        <p:spPr>
          <a:xfrm>
            <a:off x="4251960" y="2560320"/>
            <a:ext cx="1508760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d10: 页缓存"/>
          <p:cNvSpPr txBox="1"/>
          <p:nvPr/>
        </p:nvSpPr>
        <p:spPr>
          <a:xfrm>
            <a:off x="4530852" y="2687604"/>
            <a:ext cx="950976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页缓存</a:t>
            </a:r>
          </a:p>
        </p:txBody>
      </p:sp>
      <p:sp>
        <p:nvSpPr>
          <p:cNvPr id="15" name="d11: 串行输出"/>
          <p:cNvSpPr txBox="1"/>
          <p:nvPr/>
        </p:nvSpPr>
        <p:spPr>
          <a:xfrm>
            <a:off x="4480560" y="3073847"/>
            <a:ext cx="105156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串行输出</a:t>
            </a:r>
          </a:p>
        </p:txBody>
      </p:sp>
      <p:sp>
        <p:nvSpPr>
          <p:cNvPr id="16" name="d12"/>
          <p:cNvSpPr/>
          <p:nvPr/>
        </p:nvSpPr>
        <p:spPr>
          <a:xfrm>
            <a:off x="2194560" y="3063240"/>
            <a:ext cx="457200" cy="1"/>
          </a:xfrm>
          <a:custGeom>
            <a:avLst/>
            <a:gdLst/>
            <a:ahLst/>
            <a:cxnLst/>
            <a:rect l="0" t="0" r="r" b="b"/>
            <a:pathLst>
              <a:path w="457200" h="1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13"/>
          <p:cNvSpPr/>
          <p:nvPr/>
        </p:nvSpPr>
        <p:spPr>
          <a:xfrm>
            <a:off x="3794760" y="3063240"/>
            <a:ext cx="457200" cy="1"/>
          </a:xfrm>
          <a:custGeom>
            <a:avLst/>
            <a:gdLst/>
            <a:ahLst/>
            <a:cxnLst/>
            <a:rect l="0" t="0" r="r" b="b"/>
            <a:pathLst>
              <a:path w="457200" h="1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d14"/>
          <p:cNvSpPr/>
          <p:nvPr/>
        </p:nvSpPr>
        <p:spPr>
          <a:xfrm>
            <a:off x="6903720" y="2560320"/>
            <a:ext cx="1828800" cy="978408"/>
          </a:xfrm>
          <a:prstGeom prst="roundRect">
            <a:avLst>
              <a:gd name="adj" fmla="val 5607"/>
            </a:avLst>
          </a:prstGeom>
          <a:solidFill>
            <a:srgbClr val="E4F2E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d15: SPI Host"/>
          <p:cNvSpPr txBox="1"/>
          <p:nvPr/>
        </p:nvSpPr>
        <p:spPr>
          <a:xfrm>
            <a:off x="7184962" y="2657978"/>
            <a:ext cx="1266315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20" name="d16: 接收 FIFO"/>
          <p:cNvSpPr txBox="1"/>
          <p:nvPr/>
        </p:nvSpPr>
        <p:spPr>
          <a:xfrm>
            <a:off x="7249978" y="3063972"/>
            <a:ext cx="113628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接收 FIFO</a:t>
            </a:r>
          </a:p>
        </p:txBody>
      </p:sp>
      <p:sp>
        <p:nvSpPr>
          <p:cNvPr id="21" name="d17"/>
          <p:cNvSpPr/>
          <p:nvPr/>
        </p:nvSpPr>
        <p:spPr>
          <a:xfrm>
            <a:off x="5760720" y="306324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d18: Quad"/>
          <p:cNvSpPr txBox="1"/>
          <p:nvPr/>
        </p:nvSpPr>
        <p:spPr>
          <a:xfrm>
            <a:off x="6092847" y="2607503"/>
            <a:ext cx="68905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Quad</a:t>
            </a:r>
          </a:p>
        </p:txBody>
      </p:sp>
      <p:sp>
        <p:nvSpPr>
          <p:cNvPr id="23" name="d19"/>
          <p:cNvSpPr/>
          <p:nvPr/>
        </p:nvSpPr>
        <p:spPr>
          <a:xfrm>
            <a:off x="9646920" y="2560320"/>
            <a:ext cx="2103120" cy="978408"/>
          </a:xfrm>
          <a:prstGeom prst="roundRect">
            <a:avLst>
              <a:gd name="adj" fmla="val 5607"/>
            </a:avLst>
          </a:prstGeom>
          <a:solidFill>
            <a:srgbClr val="F0ECF7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d20: CPU / 驱动"/>
          <p:cNvSpPr txBox="1"/>
          <p:nvPr/>
        </p:nvSpPr>
        <p:spPr>
          <a:xfrm>
            <a:off x="9938371" y="2667853"/>
            <a:ext cx="152021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/ 驱动</a:t>
            </a:r>
          </a:p>
        </p:txBody>
      </p:sp>
      <p:sp>
        <p:nvSpPr>
          <p:cNvPr id="25" name="d21: 读 FIFO、写 DDR"/>
          <p:cNvSpPr txBox="1"/>
          <p:nvPr/>
        </p:nvSpPr>
        <p:spPr>
          <a:xfrm>
            <a:off x="9813591" y="3073847"/>
            <a:ext cx="176977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读 FIFO、写 DDR</a:t>
            </a:r>
          </a:p>
        </p:txBody>
      </p:sp>
      <p:sp>
        <p:nvSpPr>
          <p:cNvPr id="26" name="d22"/>
          <p:cNvSpPr/>
          <p:nvPr/>
        </p:nvSpPr>
        <p:spPr>
          <a:xfrm>
            <a:off x="8732520" y="3063240"/>
            <a:ext cx="914400" cy="1"/>
          </a:xfrm>
          <a:custGeom>
            <a:avLst/>
            <a:gdLst/>
            <a:ahLst/>
            <a:cxnLst/>
            <a:rect l="0" t="0" r="r" b="b"/>
            <a:pathLst>
              <a:path w="914400" h="1" fill="none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d23: MMIO"/>
          <p:cNvSpPr txBox="1"/>
          <p:nvPr/>
        </p:nvSpPr>
        <p:spPr>
          <a:xfrm>
            <a:off x="8831882" y="2617379"/>
            <a:ext cx="715675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MMIO</a:t>
            </a:r>
          </a:p>
        </p:txBody>
      </p:sp>
      <p:sp>
        <p:nvSpPr>
          <p:cNvPr id="28" name="d24"/>
          <p:cNvSpPr/>
          <p:nvPr/>
        </p:nvSpPr>
        <p:spPr>
          <a:xfrm>
            <a:off x="7818120" y="1792224"/>
            <a:ext cx="2880360" cy="768096"/>
          </a:xfrm>
          <a:custGeom>
            <a:avLst/>
            <a:gdLst/>
            <a:ahLst/>
            <a:cxnLst/>
            <a:rect l="0" t="0" r="r" b="b"/>
            <a:pathLst>
              <a:path w="2880360" h="768096" fill="none">
                <a:moveTo>
                  <a:pt x="2880360" y="768096"/>
                </a:moveTo>
                <a:lnTo>
                  <a:pt x="2880360" y="0"/>
                </a:lnTo>
                <a:lnTo>
                  <a:pt x="0" y="0"/>
                </a:lnTo>
                <a:lnTo>
                  <a:pt x="0" y="768096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25: 配置 / 读命令"/>
          <p:cNvSpPr txBox="1"/>
          <p:nvPr/>
        </p:nvSpPr>
        <p:spPr>
          <a:xfrm>
            <a:off x="8565092" y="1456091"/>
            <a:ext cx="143213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配置 / 读命令</a:t>
            </a:r>
          </a:p>
        </p:txBody>
      </p:sp>
      <p:sp>
        <p:nvSpPr>
          <p:cNvPr id="30" name="d26"/>
          <p:cNvSpPr/>
          <p:nvPr/>
        </p:nvSpPr>
        <p:spPr>
          <a:xfrm>
            <a:off x="12801600" y="2560320"/>
            <a:ext cx="1280160" cy="978408"/>
          </a:xfrm>
          <a:prstGeom prst="roundRect">
            <a:avLst>
              <a:gd name="adj" fmla="val 5607"/>
            </a:avLst>
          </a:prstGeom>
          <a:solidFill>
            <a:srgbClr val="FFF0D9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d27: DDR"/>
          <p:cNvSpPr txBox="1"/>
          <p:nvPr/>
        </p:nvSpPr>
        <p:spPr>
          <a:xfrm>
            <a:off x="13038772" y="2657246"/>
            <a:ext cx="805815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32" name="d28: 参数副本"/>
          <p:cNvSpPr txBox="1"/>
          <p:nvPr/>
        </p:nvSpPr>
        <p:spPr>
          <a:xfrm>
            <a:off x="12915900" y="3082991"/>
            <a:ext cx="105156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参数副本</a:t>
            </a:r>
          </a:p>
        </p:txBody>
      </p:sp>
      <p:sp>
        <p:nvSpPr>
          <p:cNvPr id="33" name="d29"/>
          <p:cNvSpPr/>
          <p:nvPr/>
        </p:nvSpPr>
        <p:spPr>
          <a:xfrm>
            <a:off x="11750040" y="3063240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d30: 存储写入"/>
          <p:cNvSpPr txBox="1"/>
          <p:nvPr/>
        </p:nvSpPr>
        <p:spPr>
          <a:xfrm>
            <a:off x="11791188" y="262725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存储写入</a:t>
            </a:r>
          </a:p>
        </p:txBody>
      </p:sp>
      <p:sp>
        <p:nvSpPr>
          <p:cNvPr id="35" name="d31: 候选路径：复用 SPI Host，新增 NAND 驱动；未假设现有 SPI 已具"/>
          <p:cNvSpPr txBox="1"/>
          <p:nvPr/>
        </p:nvSpPr>
        <p:spPr>
          <a:xfrm>
            <a:off x="3267587" y="3886932"/>
            <a:ext cx="8095226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候选路径：复用 SPI Host，新增 NAND 驱动；未假设现有 SPI 已具备 DMA 搬运。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70832"/>
            <a:ext cx="13533120" cy="429768"/>
          </a:xfrm>
          <a:prstGeom prst="rect">
            <a:avLst/>
          </a:prstGeom>
          <a:solidFill>
            <a:srgbClr val="16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43984"/>
            <a:ext cx="2148840" cy="3328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比较项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443984"/>
            <a:ext cx="5074920" cy="3328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443984"/>
            <a:ext cx="5486400" cy="3328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SPI NAND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800600"/>
            <a:ext cx="135331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873752"/>
            <a:ext cx="2148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容量选择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4873752"/>
            <a:ext cx="50749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建议 4 GB / 8 GB，方便扩展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873752"/>
            <a:ext cx="5486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示例 1 GiB；双份 500 MiB 余量紧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230368"/>
            <a:ext cx="13533120" cy="42976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303520"/>
            <a:ext cx="2148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硬件与软件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5303520"/>
            <a:ext cx="50749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新增主机 / DMA；器件管理介质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5303520"/>
            <a:ext cx="5486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评估复用 SPI；驱动处理页、ECC、坏块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660136"/>
            <a:ext cx="135331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733288"/>
            <a:ext cx="2148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性能验收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5733288"/>
            <a:ext cx="50749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测量主机 DMA 至 DDR 有效吞吐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733288"/>
            <a:ext cx="5486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核对 Quad、时钟、FIFO 与软件搬运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272784"/>
            <a:ext cx="13533120" cy="822960"/>
          </a:xfrm>
          <a:prstGeom prst="rect">
            <a:avLst/>
          </a:prstGeom>
          <a:solidFill>
            <a:srgbClr val="E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6373368"/>
            <a:ext cx="12893040" cy="371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带宽下限：500 ÷ 30 = 16.7 MiB/s     建议有效搬运目标：≥25 MiB/s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6766560"/>
            <a:ext cx="12893040" cy="307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25 MiB/s 对应约 20 秒搬运，另留约 10 秒初始化与校验；器件标称速度不等于系统吞吐。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7269480"/>
            <a:ext cx="13533120" cy="358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选择建议：优先评估 eMMC；SPI NAND 在 Quad 读取与端到端性能达标后，可作为备选。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7763256"/>
            <a:ext cx="13533120" cy="9144"/>
          </a:xfrm>
          <a:prstGeom prst="rect">
            <a:avLst/>
          </a:prstGeom>
          <a:solidFill>
            <a:srgbClr val="CA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7882128"/>
            <a:ext cx="9509760" cy="243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2"/>
              </a:rPr>
              <a:t>官方资料：Winbond W25N-MW  ·  点击打开规格与文档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7882128"/>
            <a:ext cx="310896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方案评估 · 2026.10.13  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