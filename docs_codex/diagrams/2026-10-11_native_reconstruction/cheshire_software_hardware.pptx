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Cheshire SoC 软硬件分层结构"/>
          <p:cNvSpPr txBox="1"/>
          <p:nvPr/>
        </p:nvSpPr>
        <p:spPr>
          <a:xfrm>
            <a:off x="256032" y="98060"/>
            <a:ext cx="4376737" cy="471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18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Cheshire SoC 软硬件分层结构</a:t>
            </a:r>
          </a:p>
        </p:txBody>
      </p:sp>
      <p:sp>
        <p:nvSpPr>
          <p:cNvPr id="3" name="text-003: 以当前裸机工程为主线 · 通用功能、设备控制与指令执行各有明确边界"/>
          <p:cNvSpPr txBox="1"/>
          <p:nvPr/>
        </p:nvSpPr>
        <p:spPr>
          <a:xfrm>
            <a:off x="268834" y="512064"/>
            <a:ext cx="5093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以当前裸机工程为主线 · 通用功能、设备控制与指令执行各有明确边界</a:t>
            </a:r>
          </a:p>
        </p:txBody>
      </p:sp>
      <p:sp>
        <p:nvSpPr>
          <p:cNvPr id="4" name="text-004: 工程结构 / 规划扩展"/>
          <p:cNvSpPr txBox="1"/>
          <p:nvPr/>
        </p:nvSpPr>
        <p:spPr>
          <a:xfrm>
            <a:off x="11127761" y="263969"/>
            <a:ext cx="1417807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工程结构 / 规划扩展</a:t>
            </a:r>
          </a:p>
        </p:txBody>
      </p:sp>
      <p:sp>
        <p:nvSpPr>
          <p:cNvPr id="5" name="text-005: mp/ara-pulp-v2 · 278434024"/>
          <p:cNvSpPr txBox="1"/>
          <p:nvPr/>
        </p:nvSpPr>
        <p:spPr>
          <a:xfrm>
            <a:off x="10659012" y="508224"/>
            <a:ext cx="18865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mp/ara-pulp-v2 · 278434024</a:t>
            </a:r>
          </a:p>
        </p:txBody>
      </p:sp>
      <p:sp>
        <p:nvSpPr>
          <p:cNvPr id="6" name="rect-006"/>
          <p:cNvSpPr/>
          <p:nvPr/>
        </p:nvSpPr>
        <p:spPr>
          <a:xfrm>
            <a:off x="256032" y="960120"/>
            <a:ext cx="9601200" cy="896112"/>
          </a:xfrm>
          <a:prstGeom prst="roundRect">
            <a:avLst>
              <a:gd name="adj" fmla="val 8571"/>
            </a:avLst>
          </a:prstGeom>
          <a:solidFill>
            <a:srgbClr val="F0E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256032" y="960120"/>
            <a:ext cx="51206" cy="896112"/>
          </a:xfrm>
          <a:prstGeom prst="rect">
            <a:avLst/>
          </a:prstGeom>
          <a:solidFill>
            <a:srgbClr val="705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01"/>
          <p:cNvSpPr txBox="1"/>
          <p:nvPr/>
        </p:nvSpPr>
        <p:spPr>
          <a:xfrm>
            <a:off x="435254" y="1064069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70529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-009: 应用软件"/>
          <p:cNvSpPr txBox="1"/>
          <p:nvPr/>
        </p:nvSpPr>
        <p:spPr>
          <a:xfrm>
            <a:off x="435254" y="128451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应用软件</a:t>
            </a:r>
          </a:p>
        </p:txBody>
      </p:sp>
      <p:sp>
        <p:nvSpPr>
          <p:cNvPr id="10" name="text-010: 表达计算与任务"/>
          <p:cNvSpPr txBox="1"/>
          <p:nvPr/>
        </p:nvSpPr>
        <p:spPr>
          <a:xfrm>
            <a:off x="435254" y="1558467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表达计算与任务</a:t>
            </a:r>
          </a:p>
        </p:txBody>
      </p:sp>
      <p:cxnSp>
        <p:nvCxnSpPr>
          <p:cNvPr id="11" name="line-011"/>
          <p:cNvCxnSpPr/>
          <p:nvPr/>
        </p:nvCxnSpPr>
        <p:spPr>
          <a:xfrm>
            <a:off x="1369771" y="1113739"/>
            <a:ext cx="0" cy="58887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2" name="rect-012"/>
          <p:cNvSpPr/>
          <p:nvPr/>
        </p:nvSpPr>
        <p:spPr>
          <a:xfrm>
            <a:off x="1536192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裸机应用与测试"/>
          <p:cNvSpPr txBox="1"/>
          <p:nvPr/>
        </p:nvSpPr>
        <p:spPr>
          <a:xfrm>
            <a:off x="1830629" y="1183636"/>
            <a:ext cx="1331366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裸机应用与测试</a:t>
            </a:r>
          </a:p>
        </p:txBody>
      </p:sp>
      <p:sp>
        <p:nvSpPr>
          <p:cNvPr id="14" name="text-014: HelloWorld · 结果校验"/>
          <p:cNvSpPr txBox="1"/>
          <p:nvPr/>
        </p:nvSpPr>
        <p:spPr>
          <a:xfrm>
            <a:off x="1739787" y="1429427"/>
            <a:ext cx="151304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HelloWorld · 结果校验</a:t>
            </a:r>
          </a:p>
        </p:txBody>
      </p:sp>
      <p:sp>
        <p:nvSpPr>
          <p:cNvPr id="15" name="rect-015"/>
          <p:cNvSpPr/>
          <p:nvPr/>
        </p:nvSpPr>
        <p:spPr>
          <a:xfrm>
            <a:off x="3571646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向量算法"/>
          <p:cNvSpPr txBox="1"/>
          <p:nvPr/>
        </p:nvSpPr>
        <p:spPr>
          <a:xfrm>
            <a:off x="4115714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向量算法</a:t>
            </a:r>
          </a:p>
        </p:txBody>
      </p:sp>
      <p:sp>
        <p:nvSpPr>
          <p:cNvPr id="17" name="text-017: RVV · 矩阵计算"/>
          <p:cNvSpPr txBox="1"/>
          <p:nvPr/>
        </p:nvSpPr>
        <p:spPr>
          <a:xfrm>
            <a:off x="4004996" y="1429427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· 矩阵计算</a:t>
            </a:r>
          </a:p>
        </p:txBody>
      </p:sp>
      <p:sp>
        <p:nvSpPr>
          <p:cNvPr id="18" name="rect-018"/>
          <p:cNvSpPr/>
          <p:nvPr/>
        </p:nvSpPr>
        <p:spPr>
          <a:xfrm>
            <a:off x="5607101" y="1126541"/>
            <a:ext cx="1933042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系统工具"/>
          <p:cNvSpPr txBox="1"/>
          <p:nvPr/>
        </p:nvSpPr>
        <p:spPr>
          <a:xfrm>
            <a:off x="6157570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20" name="text-020: 介质烧写 · 下载执行"/>
          <p:cNvSpPr txBox="1"/>
          <p:nvPr/>
        </p:nvSpPr>
        <p:spPr>
          <a:xfrm>
            <a:off x="5912794" y="1429427"/>
            <a:ext cx="132165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介质烧写 · 下载执行</a:t>
            </a:r>
          </a:p>
        </p:txBody>
      </p:sp>
      <p:sp>
        <p:nvSpPr>
          <p:cNvPr id="21" name="rect-021"/>
          <p:cNvSpPr/>
          <p:nvPr/>
        </p:nvSpPr>
        <p:spPr>
          <a:xfrm>
            <a:off x="7655357" y="1126541"/>
            <a:ext cx="2048256" cy="563270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64: 图像处理与推理"/>
          <p:cNvSpPr txBox="1"/>
          <p:nvPr/>
        </p:nvSpPr>
        <p:spPr>
          <a:xfrm>
            <a:off x="8039405" y="1190549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图像处理与推理</a:t>
            </a:r>
          </a:p>
        </p:txBody>
      </p:sp>
      <p:sp>
        <p:nvSpPr>
          <p:cNvPr id="23" name="text-065: ISP / NPU 工作负载〔规划〕"/>
          <p:cNvSpPr txBox="1"/>
          <p:nvPr/>
        </p:nvSpPr>
        <p:spPr>
          <a:xfrm>
            <a:off x="7740627" y="1429427"/>
            <a:ext cx="187771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ISP / NPU 工作负载〔规划〕</a:t>
            </a:r>
          </a:p>
        </p:txBody>
      </p:sp>
      <p:sp>
        <p:nvSpPr>
          <p:cNvPr id="24" name="rect-066"/>
          <p:cNvSpPr/>
          <p:nvPr/>
        </p:nvSpPr>
        <p:spPr>
          <a:xfrm>
            <a:off x="256032" y="1984248"/>
            <a:ext cx="9601200" cy="2944368"/>
          </a:xfrm>
          <a:prstGeom prst="roundRect">
            <a:avLst>
              <a:gd name="adj" fmla="val 2608"/>
            </a:avLst>
          </a:prstGeom>
          <a:solidFill>
            <a:srgbClr val="EAF3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67"/>
          <p:cNvSpPr/>
          <p:nvPr/>
        </p:nvSpPr>
        <p:spPr>
          <a:xfrm>
            <a:off x="256032" y="1984248"/>
            <a:ext cx="51206" cy="2944368"/>
          </a:xfrm>
          <a:prstGeom prst="rect">
            <a:avLst/>
          </a:pr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68: 02"/>
          <p:cNvSpPr txBox="1"/>
          <p:nvPr/>
        </p:nvSpPr>
        <p:spPr>
          <a:xfrm>
            <a:off x="435254" y="2088197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text-069: 基础软件"/>
          <p:cNvSpPr txBox="1"/>
          <p:nvPr/>
        </p:nvSpPr>
        <p:spPr>
          <a:xfrm>
            <a:off x="435254" y="2308641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基础软件</a:t>
            </a:r>
          </a:p>
        </p:txBody>
      </p:sp>
      <p:sp>
        <p:nvSpPr>
          <p:cNvPr id="28" name="text-070: 功能与设备控制"/>
          <p:cNvSpPr txBox="1"/>
          <p:nvPr/>
        </p:nvSpPr>
        <p:spPr>
          <a:xfrm>
            <a:off x="435254" y="2582595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功能与设备控制</a:t>
            </a:r>
          </a:p>
        </p:txBody>
      </p:sp>
      <p:cxnSp>
        <p:nvCxnSpPr>
          <p:cNvPr id="29" name="line-071"/>
          <p:cNvCxnSpPr/>
          <p:nvPr/>
        </p:nvCxnSpPr>
        <p:spPr>
          <a:xfrm>
            <a:off x="1369771" y="2137867"/>
            <a:ext cx="0" cy="2637130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30" name="text-072: 通用功能与器件协议"/>
          <p:cNvSpPr txBox="1"/>
          <p:nvPr/>
        </p:nvSpPr>
        <p:spPr>
          <a:xfrm>
            <a:off x="1536192" y="2049792"/>
            <a:ext cx="140817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通用功能与器件协议</a:t>
            </a:r>
          </a:p>
        </p:txBody>
      </p:sp>
      <p:sp>
        <p:nvSpPr>
          <p:cNvPr id="31" name="text-073: 应用可直接调用所需接口"/>
          <p:cNvSpPr txBox="1"/>
          <p:nvPr/>
        </p:nvSpPr>
        <p:spPr>
          <a:xfrm>
            <a:off x="8167421" y="2063618"/>
            <a:ext cx="15361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应用可直接调用所需接口</a:t>
            </a:r>
          </a:p>
        </p:txBody>
      </p:sp>
      <p:sp>
        <p:nvSpPr>
          <p:cNvPr id="32" name="rect-074"/>
          <p:cNvSpPr/>
          <p:nvPr/>
        </p:nvSpPr>
        <p:spPr>
          <a:xfrm>
            <a:off x="1536192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75: printf"/>
          <p:cNvSpPr txBox="1"/>
          <p:nvPr/>
        </p:nvSpPr>
        <p:spPr>
          <a:xfrm>
            <a:off x="2060192" y="2367784"/>
            <a:ext cx="64181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34" name="text-076: 格式化文本 → _putchar"/>
          <p:cNvSpPr txBox="1"/>
          <p:nvPr/>
        </p:nvSpPr>
        <p:spPr>
          <a:xfrm>
            <a:off x="1594414" y="2613575"/>
            <a:ext cx="157336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格式化文本 → _putchar</a:t>
            </a:r>
          </a:p>
        </p:txBody>
      </p:sp>
      <p:sp>
        <p:nvSpPr>
          <p:cNvPr id="35" name="rect-077"/>
          <p:cNvSpPr/>
          <p:nvPr/>
        </p:nvSpPr>
        <p:spPr>
          <a:xfrm>
            <a:off x="3405226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78: GPT 解析"/>
          <p:cNvSpPr txBox="1"/>
          <p:nvPr/>
        </p:nvSpPr>
        <p:spPr>
          <a:xfrm>
            <a:off x="3805316" y="2367784"/>
            <a:ext cx="889631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GPT 解析</a:t>
            </a:r>
          </a:p>
        </p:txBody>
      </p:sp>
      <p:sp>
        <p:nvSpPr>
          <p:cNvPr id="37" name="text-079: read 回调访问介质"/>
          <p:cNvSpPr txBox="1"/>
          <p:nvPr/>
        </p:nvSpPr>
        <p:spPr>
          <a:xfrm>
            <a:off x="3616797" y="2613575"/>
            <a:ext cx="12666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回调访问介质</a:t>
            </a:r>
          </a:p>
        </p:txBody>
      </p:sp>
      <p:sp>
        <p:nvSpPr>
          <p:cNvPr id="38" name="rect-080"/>
          <p:cNvSpPr/>
          <p:nvPr/>
        </p:nvSpPr>
        <p:spPr>
          <a:xfrm>
            <a:off x="5274259" y="2310689"/>
            <a:ext cx="240670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81: 存储器件 HAL"/>
          <p:cNvSpPr txBox="1"/>
          <p:nvPr/>
        </p:nvSpPr>
        <p:spPr>
          <a:xfrm>
            <a:off x="5884095" y="2374697"/>
            <a:ext cx="11870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存储器件 HAL</a:t>
            </a:r>
          </a:p>
        </p:txBody>
      </p:sp>
      <p:sp>
        <p:nvSpPr>
          <p:cNvPr id="40" name="text-082: SPI Flash · SD · I²C EEPROM"/>
          <p:cNvSpPr txBox="1"/>
          <p:nvPr/>
        </p:nvSpPr>
        <p:spPr>
          <a:xfrm>
            <a:off x="5535597" y="2613575"/>
            <a:ext cx="188402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SPI Flash · SD · I²C EEPROM</a:t>
            </a:r>
          </a:p>
        </p:txBody>
      </p:sp>
      <p:sp>
        <p:nvSpPr>
          <p:cNvPr id="41" name="rect-083"/>
          <p:cNvSpPr/>
          <p:nvPr/>
        </p:nvSpPr>
        <p:spPr>
          <a:xfrm>
            <a:off x="7860182" y="2310689"/>
            <a:ext cx="184343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84: UART debug HAL"/>
          <p:cNvSpPr txBox="1"/>
          <p:nvPr/>
        </p:nvSpPr>
        <p:spPr>
          <a:xfrm>
            <a:off x="8033179" y="2381610"/>
            <a:ext cx="1497437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43" name="text-085: READ / WRITE / EXEC"/>
          <p:cNvSpPr txBox="1"/>
          <p:nvPr/>
        </p:nvSpPr>
        <p:spPr>
          <a:xfrm>
            <a:off x="8028038" y="2613575"/>
            <a:ext cx="15077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/ WRITE / EXEC</a:t>
            </a:r>
          </a:p>
        </p:txBody>
      </p:sp>
      <p:cxnSp>
        <p:nvCxnSpPr>
          <p:cNvPr id="44" name="line-086"/>
          <p:cNvCxnSpPr/>
          <p:nvPr/>
        </p:nvCxnSpPr>
        <p:spPr>
          <a:xfrm>
            <a:off x="5107838" y="2598725"/>
            <a:ext cx="140818" cy="0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45" name="line-088"/>
          <p:cNvCxnSpPr/>
          <p:nvPr/>
        </p:nvCxnSpPr>
        <p:spPr>
          <a:xfrm>
            <a:off x="2381098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46" name="line-090"/>
          <p:cNvCxnSpPr/>
          <p:nvPr/>
        </p:nvCxnSpPr>
        <p:spPr>
          <a:xfrm>
            <a:off x="6477610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47" name="text-092: 代表性函数调用"/>
          <p:cNvSpPr txBox="1"/>
          <p:nvPr/>
        </p:nvSpPr>
        <p:spPr>
          <a:xfrm>
            <a:off x="3648456" y="3024250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代表性函数调用</a:t>
            </a:r>
          </a:p>
        </p:txBody>
      </p:sp>
      <p:sp>
        <p:nvSpPr>
          <p:cNvPr id="48" name="rect-093"/>
          <p:cNvSpPr/>
          <p:nvPr/>
        </p:nvSpPr>
        <p:spPr>
          <a:xfrm>
            <a:off x="1536192" y="3290011"/>
            <a:ext cx="1689811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94: UART DIF"/>
          <p:cNvSpPr txBox="1"/>
          <p:nvPr/>
        </p:nvSpPr>
        <p:spPr>
          <a:xfrm>
            <a:off x="1899342" y="3347106"/>
            <a:ext cx="96351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50" name="text-095: 初始化 · FIFO 字节收发"/>
          <p:cNvSpPr txBox="1"/>
          <p:nvPr/>
        </p:nvSpPr>
        <p:spPr>
          <a:xfrm>
            <a:off x="1621653" y="3592897"/>
            <a:ext cx="1518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初始化 · FIFO 字节收发</a:t>
            </a:r>
          </a:p>
        </p:txBody>
      </p:sp>
      <p:sp>
        <p:nvSpPr>
          <p:cNvPr id="51" name="rect-096"/>
          <p:cNvSpPr/>
          <p:nvPr/>
        </p:nvSpPr>
        <p:spPr>
          <a:xfrm>
            <a:off x="3405226" y="3290011"/>
            <a:ext cx="4275734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97: SPI / I²C / GPIO DIF"/>
          <p:cNvSpPr txBox="1"/>
          <p:nvPr/>
        </p:nvSpPr>
        <p:spPr>
          <a:xfrm>
            <a:off x="4650166" y="3347106"/>
            <a:ext cx="1785853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SPI / I²C / GPIO DIF</a:t>
            </a:r>
          </a:p>
        </p:txBody>
      </p:sp>
      <p:sp>
        <p:nvSpPr>
          <p:cNvPr id="53" name="text-098: 控制器配置 · 传输段 · 状态与寄存器操作"/>
          <p:cNvSpPr txBox="1"/>
          <p:nvPr/>
        </p:nvSpPr>
        <p:spPr>
          <a:xfrm>
            <a:off x="4288646" y="3592897"/>
            <a:ext cx="2508894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控制器配置 · 传输段 · 状态与寄存器操作</a:t>
            </a:r>
          </a:p>
        </p:txBody>
      </p:sp>
      <p:sp>
        <p:nvSpPr>
          <p:cNvPr id="54" name="rect-099"/>
          <p:cNvSpPr/>
          <p:nvPr/>
        </p:nvSpPr>
        <p:spPr>
          <a:xfrm>
            <a:off x="7860182" y="3290011"/>
            <a:ext cx="184343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100: CLINT / DMA 接口"/>
          <p:cNvSpPr txBox="1"/>
          <p:nvPr/>
        </p:nvSpPr>
        <p:spPr>
          <a:xfrm>
            <a:off x="8016302" y="3360932"/>
            <a:ext cx="1531191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CLINT / DMA 接口</a:t>
            </a:r>
          </a:p>
        </p:txBody>
      </p:sp>
      <p:sp>
        <p:nvSpPr>
          <p:cNvPr id="56" name="text-101: 计时 · 配置与提交"/>
          <p:cNvSpPr txBox="1"/>
          <p:nvPr/>
        </p:nvSpPr>
        <p:spPr>
          <a:xfrm>
            <a:off x="8188278" y="3592897"/>
            <a:ext cx="118723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计时 · 配置与提交</a:t>
            </a:r>
          </a:p>
        </p:txBody>
      </p:sp>
      <p:cxnSp>
        <p:nvCxnSpPr>
          <p:cNvPr id="57" name="line-102"/>
          <p:cNvCxnSpPr/>
          <p:nvPr/>
        </p:nvCxnSpPr>
        <p:spPr>
          <a:xfrm>
            <a:off x="23810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58" name="line-104"/>
          <p:cNvCxnSpPr/>
          <p:nvPr/>
        </p:nvCxnSpPr>
        <p:spPr>
          <a:xfrm>
            <a:off x="6477610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59" name="line-106"/>
          <p:cNvCxnSpPr/>
          <p:nvPr/>
        </p:nvCxnSpPr>
        <p:spPr>
          <a:xfrm>
            <a:off x="87818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60" name="rect-108"/>
          <p:cNvSpPr/>
          <p:nvPr/>
        </p:nvSpPr>
        <p:spPr>
          <a:xfrm>
            <a:off x="1536192" y="4134917"/>
            <a:ext cx="8167421" cy="48646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601" cap="flat">
            <a:solidFill>
              <a:srgbClr val="A9C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109: MMIO 访问工具"/>
          <p:cNvSpPr txBox="1"/>
          <p:nvPr/>
        </p:nvSpPr>
        <p:spPr>
          <a:xfrm>
            <a:off x="1664208" y="4160520"/>
            <a:ext cx="13615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MMIO 访问工具</a:t>
            </a:r>
          </a:p>
        </p:txBody>
      </p:sp>
      <p:sp>
        <p:nvSpPr>
          <p:cNvPr id="62" name="text-110: reg8 / reg32 · mmio_region_read / write"/>
          <p:cNvSpPr txBox="1"/>
          <p:nvPr/>
        </p:nvSpPr>
        <p:spPr>
          <a:xfrm>
            <a:off x="3296412" y="4174346"/>
            <a:ext cx="2950469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reg8 / reg32 · mmio_region_read / write</a:t>
            </a:r>
          </a:p>
        </p:txBody>
      </p:sp>
      <p:sp>
        <p:nvSpPr>
          <p:cNvPr id="63" name="text-111: 基址 + 寄存器偏移 + 访问位宽；regs 头文件提供偏移和位字段"/>
          <p:cNvSpPr txBox="1"/>
          <p:nvPr/>
        </p:nvSpPr>
        <p:spPr>
          <a:xfrm>
            <a:off x="1664208" y="4373283"/>
            <a:ext cx="408377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基址 + 寄存器偏移 + 访问位宽；regs 头文件提供偏移和位字段</a:t>
            </a:r>
          </a:p>
        </p:txBody>
      </p:sp>
      <p:sp>
        <p:nvSpPr>
          <p:cNvPr id="64" name="text-112: 其他专用库：LLC · AXI RT     |     libcheshire"/>
          <p:cNvSpPr txBox="1"/>
          <p:nvPr/>
        </p:nvSpPr>
        <p:spPr>
          <a:xfrm>
            <a:off x="1536192" y="4667719"/>
            <a:ext cx="503938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其他专用库：LLC · AXI RT     |     libcheshire.a：代码归档方式，涵盖多个职责</a:t>
            </a:r>
          </a:p>
        </p:txBody>
      </p:sp>
      <p:sp>
        <p:nvSpPr>
          <p:cNvPr id="65" name="rect-113"/>
          <p:cNvSpPr/>
          <p:nvPr/>
        </p:nvSpPr>
        <p:spPr>
          <a:xfrm>
            <a:off x="256032" y="5056632"/>
            <a:ext cx="9601200" cy="96012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-114"/>
          <p:cNvSpPr/>
          <p:nvPr/>
        </p:nvSpPr>
        <p:spPr>
          <a:xfrm>
            <a:off x="256032" y="5056632"/>
            <a:ext cx="51206" cy="960120"/>
          </a:xfrm>
          <a:prstGeom prst="rect">
            <a:avLst/>
          </a:prstGeom>
          <a:solidFill>
            <a:srgbClr val="217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115: 接口"/>
          <p:cNvSpPr txBox="1"/>
          <p:nvPr/>
        </p:nvSpPr>
        <p:spPr>
          <a:xfrm>
            <a:off x="435254" y="5160581"/>
            <a:ext cx="42245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68" name="text-116: 接口边界"/>
          <p:cNvSpPr txBox="1"/>
          <p:nvPr/>
        </p:nvSpPr>
        <p:spPr>
          <a:xfrm>
            <a:off x="435254" y="5381025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69" name="text-117: 软件可见的契约"/>
          <p:cNvSpPr txBox="1"/>
          <p:nvPr/>
        </p:nvSpPr>
        <p:spPr>
          <a:xfrm>
            <a:off x="435254" y="5654979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软件可见的契约</a:t>
            </a:r>
          </a:p>
        </p:txBody>
      </p:sp>
      <p:cxnSp>
        <p:nvCxnSpPr>
          <p:cNvPr id="70" name="line-118"/>
          <p:cNvCxnSpPr/>
          <p:nvPr/>
        </p:nvCxnSpPr>
        <p:spPr>
          <a:xfrm>
            <a:off x="1369771" y="5210251"/>
            <a:ext cx="0" cy="652882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71" name="rect-119"/>
          <p:cNvSpPr/>
          <p:nvPr/>
        </p:nvSpPr>
        <p:spPr>
          <a:xfrm>
            <a:off x="1536192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120: 指令执行"/>
          <p:cNvSpPr txBox="1"/>
          <p:nvPr/>
        </p:nvSpPr>
        <p:spPr>
          <a:xfrm>
            <a:off x="2080260" y="5292950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73" name="text-121: 标量指令 · RVV"/>
          <p:cNvSpPr txBox="1"/>
          <p:nvPr/>
        </p:nvSpPr>
        <p:spPr>
          <a:xfrm>
            <a:off x="1969541" y="5538740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标量指令 · RVV</a:t>
            </a:r>
          </a:p>
        </p:txBody>
      </p:sp>
      <p:sp>
        <p:nvSpPr>
          <p:cNvPr id="74" name="rect-122"/>
          <p:cNvSpPr/>
          <p:nvPr/>
        </p:nvSpPr>
        <p:spPr>
          <a:xfrm>
            <a:off x="3571646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123: CSR 与特权状态"/>
          <p:cNvSpPr txBox="1"/>
          <p:nvPr/>
        </p:nvSpPr>
        <p:spPr>
          <a:xfrm>
            <a:off x="3843535" y="5292950"/>
            <a:ext cx="1376462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CSR 与特权状态</a:t>
            </a:r>
          </a:p>
        </p:txBody>
      </p:sp>
      <p:sp>
        <p:nvSpPr>
          <p:cNvPr id="76" name="text-124: 处理器配置与控制"/>
          <p:cNvSpPr txBox="1"/>
          <p:nvPr/>
        </p:nvSpPr>
        <p:spPr>
          <a:xfrm>
            <a:off x="3926891" y="5538740"/>
            <a:ext cx="120975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处理器配置与控制</a:t>
            </a:r>
          </a:p>
        </p:txBody>
      </p:sp>
      <p:sp>
        <p:nvSpPr>
          <p:cNvPr id="77" name="rect-125"/>
          <p:cNvSpPr/>
          <p:nvPr/>
        </p:nvSpPr>
        <p:spPr>
          <a:xfrm>
            <a:off x="5607101" y="5235854"/>
            <a:ext cx="1933042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126: 内存与 MMIO"/>
          <p:cNvSpPr txBox="1"/>
          <p:nvPr/>
        </p:nvSpPr>
        <p:spPr>
          <a:xfrm>
            <a:off x="5972882" y="5299862"/>
            <a:ext cx="12014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内存与 MMIO</a:t>
            </a:r>
          </a:p>
        </p:txBody>
      </p:sp>
      <p:sp>
        <p:nvSpPr>
          <p:cNvPr id="79" name="text-127: 地址 · 属性 · 寄存器语义"/>
          <p:cNvSpPr txBox="1"/>
          <p:nvPr/>
        </p:nvSpPr>
        <p:spPr>
          <a:xfrm>
            <a:off x="5789634" y="5538740"/>
            <a:ext cx="156797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地址 · 属性 · 寄存器语义</a:t>
            </a:r>
          </a:p>
        </p:txBody>
      </p:sp>
      <p:sp>
        <p:nvSpPr>
          <p:cNvPr id="80" name="rect-128"/>
          <p:cNvSpPr/>
          <p:nvPr/>
        </p:nvSpPr>
        <p:spPr>
          <a:xfrm>
            <a:off x="7655357" y="5235854"/>
            <a:ext cx="2048256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129: 异常与中断"/>
          <p:cNvSpPr txBox="1"/>
          <p:nvPr/>
        </p:nvSpPr>
        <p:spPr>
          <a:xfrm>
            <a:off x="8180222" y="5292950"/>
            <a:ext cx="99852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</a:p>
        </p:txBody>
      </p:sp>
      <p:sp>
        <p:nvSpPr>
          <p:cNvPr id="82" name="text-130: 事件入口 · 处理与返回"/>
          <p:cNvSpPr txBox="1"/>
          <p:nvPr/>
        </p:nvSpPr>
        <p:spPr>
          <a:xfrm>
            <a:off x="7951449" y="5538740"/>
            <a:ext cx="145607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事件入口 · 处理与返回</a:t>
            </a:r>
          </a:p>
        </p:txBody>
      </p:sp>
      <p:sp>
        <p:nvSpPr>
          <p:cNvPr id="83" name="rect-131"/>
          <p:cNvSpPr/>
          <p:nvPr/>
        </p:nvSpPr>
        <p:spPr>
          <a:xfrm>
            <a:off x="256032" y="6144768"/>
            <a:ext cx="9601200" cy="2176272"/>
          </a:xfrm>
          <a:prstGeom prst="roundRect">
            <a:avLst>
              <a:gd name="adj" fmla="val 3529"/>
            </a:avLst>
          </a:prstGeom>
          <a:solidFill>
            <a:srgbClr val="FFF0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132"/>
          <p:cNvSpPr/>
          <p:nvPr/>
        </p:nvSpPr>
        <p:spPr>
          <a:xfrm>
            <a:off x="256032" y="6144768"/>
            <a:ext cx="51206" cy="2176272"/>
          </a:xfrm>
          <a:prstGeom prst="rect">
            <a:avLst/>
          </a:pr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133: 03"/>
          <p:cNvSpPr txBox="1"/>
          <p:nvPr/>
        </p:nvSpPr>
        <p:spPr>
          <a:xfrm>
            <a:off x="435254" y="6248717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6" name="text-134: SoC 硬件"/>
          <p:cNvSpPr txBox="1"/>
          <p:nvPr/>
        </p:nvSpPr>
        <p:spPr>
          <a:xfrm>
            <a:off x="435254" y="6469161"/>
            <a:ext cx="970801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SoC 硬件</a:t>
            </a:r>
          </a:p>
        </p:txBody>
      </p:sp>
      <p:sp>
        <p:nvSpPr>
          <p:cNvPr id="87" name="text-135: 执行、存储与传输"/>
          <p:cNvSpPr txBox="1"/>
          <p:nvPr/>
        </p:nvSpPr>
        <p:spPr>
          <a:xfrm>
            <a:off x="435254" y="6743115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执行、存储与传输</a:t>
            </a:r>
          </a:p>
        </p:txBody>
      </p:sp>
      <p:cxnSp>
        <p:nvCxnSpPr>
          <p:cNvPr id="88" name="line-136"/>
          <p:cNvCxnSpPr/>
          <p:nvPr/>
        </p:nvCxnSpPr>
        <p:spPr>
          <a:xfrm>
            <a:off x="1369771" y="6298387"/>
            <a:ext cx="0" cy="186903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89" name="rect-137"/>
          <p:cNvSpPr/>
          <p:nvPr/>
        </p:nvSpPr>
        <p:spPr>
          <a:xfrm>
            <a:off x="1536192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138: CVA6"/>
          <p:cNvSpPr txBox="1"/>
          <p:nvPr/>
        </p:nvSpPr>
        <p:spPr>
          <a:xfrm>
            <a:off x="2073199" y="6457895"/>
            <a:ext cx="615797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91" name="text-139: 取指 · 执行 · 访存"/>
          <p:cNvSpPr txBox="1"/>
          <p:nvPr/>
        </p:nvSpPr>
        <p:spPr>
          <a:xfrm>
            <a:off x="1798735" y="6703686"/>
            <a:ext cx="116472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取指 · 执行 · 访存</a:t>
            </a:r>
          </a:p>
        </p:txBody>
      </p:sp>
      <p:sp>
        <p:nvSpPr>
          <p:cNvPr id="92" name="rect-140"/>
          <p:cNvSpPr/>
          <p:nvPr/>
        </p:nvSpPr>
        <p:spPr>
          <a:xfrm>
            <a:off x="3405226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141: Ara"/>
          <p:cNvSpPr txBox="1"/>
          <p:nvPr/>
        </p:nvSpPr>
        <p:spPr>
          <a:xfrm>
            <a:off x="4021013" y="6457895"/>
            <a:ext cx="458237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94" name="text-142: RVV 执行 · 向量访存"/>
          <p:cNvSpPr txBox="1"/>
          <p:nvPr/>
        </p:nvSpPr>
        <p:spPr>
          <a:xfrm>
            <a:off x="3569056" y="6703686"/>
            <a:ext cx="136215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执行 · 向量访存</a:t>
            </a:r>
          </a:p>
        </p:txBody>
      </p:sp>
      <p:sp>
        <p:nvSpPr>
          <p:cNvPr id="95" name="rect-143"/>
          <p:cNvSpPr/>
          <p:nvPr/>
        </p:nvSpPr>
        <p:spPr>
          <a:xfrm>
            <a:off x="5274259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144: iDMA"/>
          <p:cNvSpPr txBox="1"/>
          <p:nvPr/>
        </p:nvSpPr>
        <p:spPr>
          <a:xfrm>
            <a:off x="5797330" y="6457895"/>
            <a:ext cx="64367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97" name="text-145: 硬件数据搬运"/>
          <p:cNvSpPr txBox="1"/>
          <p:nvPr/>
        </p:nvSpPr>
        <p:spPr>
          <a:xfrm>
            <a:off x="5648706" y="6703686"/>
            <a:ext cx="9409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硬件数据搬运</a:t>
            </a:r>
          </a:p>
        </p:txBody>
      </p:sp>
      <p:sp>
        <p:nvSpPr>
          <p:cNvPr id="98" name="rect-146"/>
          <p:cNvSpPr/>
          <p:nvPr/>
        </p:nvSpPr>
        <p:spPr>
          <a:xfrm>
            <a:off x="7143293" y="6400800"/>
            <a:ext cx="2560320" cy="582473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197: NPU / ISP / 图像接入"/>
          <p:cNvSpPr txBox="1"/>
          <p:nvPr/>
        </p:nvSpPr>
        <p:spPr>
          <a:xfrm>
            <a:off x="7577567" y="6471721"/>
            <a:ext cx="1691771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NPU / ISP / 图像接入</a:t>
            </a:r>
          </a:p>
        </p:txBody>
      </p:sp>
      <p:sp>
        <p:nvSpPr>
          <p:cNvPr id="100" name="text-198: 自定义 IP 与接口〔规划〕"/>
          <p:cNvSpPr txBox="1"/>
          <p:nvPr/>
        </p:nvSpPr>
        <p:spPr>
          <a:xfrm>
            <a:off x="7583508" y="6703686"/>
            <a:ext cx="1679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自定义 IP 与接口〔规划〕</a:t>
            </a:r>
          </a:p>
        </p:txBody>
      </p:sp>
      <p:cxnSp>
        <p:nvCxnSpPr>
          <p:cNvPr id="101" name="line-199"/>
          <p:cNvCxnSpPr/>
          <p:nvPr/>
        </p:nvCxnSpPr>
        <p:spPr>
          <a:xfrm>
            <a:off x="3238805" y="6656832"/>
            <a:ext cx="153619" cy="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2" name="text-202: 专用请求 / 响应"/>
          <p:cNvSpPr txBox="1"/>
          <p:nvPr/>
        </p:nvSpPr>
        <p:spPr>
          <a:xfrm>
            <a:off x="2860002" y="6205448"/>
            <a:ext cx="97523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专用请求 / 响应</a:t>
            </a:r>
          </a:p>
        </p:txBody>
      </p:sp>
      <p:cxnSp>
        <p:nvCxnSpPr>
          <p:cNvPr id="103" name="line-203"/>
          <p:cNvCxnSpPr/>
          <p:nvPr/>
        </p:nvCxnSpPr>
        <p:spPr>
          <a:xfrm>
            <a:off x="2381098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04" name="line-206"/>
          <p:cNvCxnSpPr/>
          <p:nvPr/>
        </p:nvCxnSpPr>
        <p:spPr>
          <a:xfrm>
            <a:off x="4250131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05" name="line-209"/>
          <p:cNvCxnSpPr/>
          <p:nvPr/>
        </p:nvCxnSpPr>
        <p:spPr>
          <a:xfrm>
            <a:off x="6119165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6" name="text-212: 接入与 DDR 旁路方案待实现"/>
          <p:cNvSpPr txBox="1"/>
          <p:nvPr/>
        </p:nvSpPr>
        <p:spPr>
          <a:xfrm>
            <a:off x="7542183" y="7030639"/>
            <a:ext cx="176254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接入与 DDR 旁路方案待实现</a:t>
            </a:r>
          </a:p>
        </p:txBody>
      </p:sp>
      <p:sp>
        <p:nvSpPr>
          <p:cNvPr id="107" name="rect-213"/>
          <p:cNvSpPr/>
          <p:nvPr/>
        </p:nvSpPr>
        <p:spPr>
          <a:xfrm>
            <a:off x="1536192" y="7239305"/>
            <a:ext cx="8167421" cy="294437"/>
          </a:xfrm>
          <a:prstGeom prst="roundRect">
            <a:avLst>
              <a:gd name="adj" fmla="val 13043"/>
            </a:avLst>
          </a:prstGeom>
          <a:solidFill>
            <a:srgbClr val="F8D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214: AXI 互连与适配 · 地址路由 · 主设备共享访问"/>
          <p:cNvSpPr txBox="1"/>
          <p:nvPr/>
        </p:nvSpPr>
        <p:spPr>
          <a:xfrm>
            <a:off x="3927226" y="7264908"/>
            <a:ext cx="33853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AXI 互连与适配 · 地址路由 · 主设备共享访问</a:t>
            </a:r>
          </a:p>
        </p:txBody>
      </p:sp>
      <p:cxnSp>
        <p:nvCxnSpPr>
          <p:cNvPr id="109" name="line-215"/>
          <p:cNvCxnSpPr/>
          <p:nvPr/>
        </p:nvCxnSpPr>
        <p:spPr>
          <a:xfrm>
            <a:off x="323240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10" name="line-218"/>
          <p:cNvCxnSpPr/>
          <p:nvPr/>
        </p:nvCxnSpPr>
        <p:spPr>
          <a:xfrm>
            <a:off x="739292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rect-221"/>
          <p:cNvSpPr/>
          <p:nvPr/>
        </p:nvSpPr>
        <p:spPr>
          <a:xfrm>
            <a:off x="1536192" y="7706563"/>
            <a:ext cx="3392424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222: 原子适配 → LLC / SPM → 主存出口"/>
          <p:cNvSpPr txBox="1"/>
          <p:nvPr/>
        </p:nvSpPr>
        <p:spPr>
          <a:xfrm>
            <a:off x="1959995" y="7739591"/>
            <a:ext cx="2544818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原子适配 → LLC / SPM → 主存出口</a:t>
            </a:r>
          </a:p>
        </p:txBody>
      </p:sp>
      <p:sp>
        <p:nvSpPr>
          <p:cNvPr id="113" name="text-223: SPM 复用 LLC 存储阵列"/>
          <p:cNvSpPr txBox="1"/>
          <p:nvPr/>
        </p:nvSpPr>
        <p:spPr>
          <a:xfrm>
            <a:off x="2445096" y="7939040"/>
            <a:ext cx="157461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SPM 复用 LLC 存储阵列</a:t>
            </a:r>
          </a:p>
        </p:txBody>
      </p:sp>
      <p:sp>
        <p:nvSpPr>
          <p:cNvPr id="114" name="rect-224"/>
          <p:cNvSpPr/>
          <p:nvPr/>
        </p:nvSpPr>
        <p:spPr>
          <a:xfrm>
            <a:off x="5082235" y="7706563"/>
            <a:ext cx="4621378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-225: 寄存器总线 → 外设 / 平台控制"/>
          <p:cNvSpPr txBox="1"/>
          <p:nvPr/>
        </p:nvSpPr>
        <p:spPr>
          <a:xfrm>
            <a:off x="6219642" y="7725766"/>
            <a:ext cx="23465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寄存器总线 → 外设 / 平台控制</a:t>
            </a:r>
          </a:p>
        </p:txBody>
      </p:sp>
      <p:sp>
        <p:nvSpPr>
          <p:cNvPr id="116" name="text-226: UART · SPI · I²C · GPIO · 中断/定时器 · ROM 接"/>
          <p:cNvSpPr txBox="1"/>
          <p:nvPr/>
        </p:nvSpPr>
        <p:spPr>
          <a:xfrm>
            <a:off x="5829824" y="7939040"/>
            <a:ext cx="312620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UART · SPI · I²C · GPIO · 中断/定时器 · ROM 接口</a:t>
            </a:r>
          </a:p>
        </p:txBody>
      </p:sp>
      <p:sp>
        <p:nvSpPr>
          <p:cNvPr id="117" name="rect-227"/>
          <p:cNvSpPr/>
          <p:nvPr/>
        </p:nvSpPr>
        <p:spPr>
          <a:xfrm>
            <a:off x="256032" y="8449056"/>
            <a:ext cx="9601200" cy="716890"/>
          </a:xfrm>
          <a:prstGeom prst="roundRect">
            <a:avLst>
              <a:gd name="adj" fmla="val 10714"/>
            </a:avLst>
          </a:prstGeom>
          <a:solidFill>
            <a:srgbClr val="F0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-228"/>
          <p:cNvSpPr/>
          <p:nvPr/>
        </p:nvSpPr>
        <p:spPr>
          <a:xfrm>
            <a:off x="256032" y="8449056"/>
            <a:ext cx="51206" cy="716890"/>
          </a:xfrm>
          <a:prstGeom prst="rect">
            <a:avLst/>
          </a:prstGeom>
          <a:solidFill>
            <a:srgbClr val="536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-229: 04"/>
          <p:cNvSpPr txBox="1"/>
          <p:nvPr/>
        </p:nvSpPr>
        <p:spPr>
          <a:xfrm>
            <a:off x="435254" y="8424989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0" name="text-230: 片外器件"/>
          <p:cNvSpPr txBox="1"/>
          <p:nvPr/>
        </p:nvSpPr>
        <p:spPr>
          <a:xfrm>
            <a:off x="435254" y="864543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21" name="text-231: 经对应控制器连接"/>
          <p:cNvSpPr txBox="1"/>
          <p:nvPr/>
        </p:nvSpPr>
        <p:spPr>
          <a:xfrm>
            <a:off x="435254" y="8919387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经对应控制器连接</a:t>
            </a:r>
          </a:p>
        </p:txBody>
      </p:sp>
      <p:cxnSp>
        <p:nvCxnSpPr>
          <p:cNvPr id="122" name="line-232"/>
          <p:cNvCxnSpPr/>
          <p:nvPr/>
        </p:nvCxnSpPr>
        <p:spPr>
          <a:xfrm>
            <a:off x="1369771" y="8602675"/>
            <a:ext cx="0" cy="409651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cxnSp>
        <p:nvCxnSpPr>
          <p:cNvPr id="123" name="line-233"/>
          <p:cNvCxnSpPr/>
          <p:nvPr/>
        </p:nvCxnSpPr>
        <p:spPr>
          <a:xfrm>
            <a:off x="3232404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24" name="line-236"/>
          <p:cNvCxnSpPr/>
          <p:nvPr/>
        </p:nvCxnSpPr>
        <p:spPr>
          <a:xfrm>
            <a:off x="6458407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25" name="rect-239"/>
          <p:cNvSpPr/>
          <p:nvPr/>
        </p:nvSpPr>
        <p:spPr>
          <a:xfrm>
            <a:off x="1536192" y="8596274"/>
            <a:ext cx="339242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240: DDR 存储器"/>
          <p:cNvSpPr txBox="1"/>
          <p:nvPr/>
        </p:nvSpPr>
        <p:spPr>
          <a:xfrm>
            <a:off x="2706008" y="8660282"/>
            <a:ext cx="105279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DDR 存储器</a:t>
            </a:r>
          </a:p>
        </p:txBody>
      </p:sp>
      <p:sp>
        <p:nvSpPr>
          <p:cNvPr id="127" name="text-241: 经 DDR 控制器 / PHY 接入"/>
          <p:cNvSpPr txBox="1"/>
          <p:nvPr/>
        </p:nvSpPr>
        <p:spPr>
          <a:xfrm>
            <a:off x="2353864" y="8867156"/>
            <a:ext cx="175708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DDR 控制器 / PHY 接入</a:t>
            </a:r>
          </a:p>
        </p:txBody>
      </p:sp>
      <p:sp>
        <p:nvSpPr>
          <p:cNvPr id="128" name="rect-242"/>
          <p:cNvSpPr/>
          <p:nvPr/>
        </p:nvSpPr>
        <p:spPr>
          <a:xfrm>
            <a:off x="5082235" y="8596274"/>
            <a:ext cx="275234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243: Flash · SD 卡 · EEPROM"/>
          <p:cNvSpPr txBox="1"/>
          <p:nvPr/>
        </p:nvSpPr>
        <p:spPr>
          <a:xfrm>
            <a:off x="5485481" y="8667195"/>
            <a:ext cx="1945853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Flash · SD 卡 · EEPROM</a:t>
            </a:r>
          </a:p>
        </p:txBody>
      </p:sp>
      <p:sp>
        <p:nvSpPr>
          <p:cNvPr id="130" name="text-244: 经 SPI / I²C 接入"/>
          <p:cNvSpPr txBox="1"/>
          <p:nvPr/>
        </p:nvSpPr>
        <p:spPr>
          <a:xfrm>
            <a:off x="5890016" y="8867156"/>
            <a:ext cx="113678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SPI / I²C 接入</a:t>
            </a:r>
          </a:p>
        </p:txBody>
      </p:sp>
      <p:sp>
        <p:nvSpPr>
          <p:cNvPr id="131" name="rect-245"/>
          <p:cNvSpPr/>
          <p:nvPr/>
        </p:nvSpPr>
        <p:spPr>
          <a:xfrm>
            <a:off x="7949794" y="8596274"/>
            <a:ext cx="1753819" cy="473659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-282: 图像传感器〔规划〕"/>
          <p:cNvSpPr txBox="1"/>
          <p:nvPr/>
        </p:nvSpPr>
        <p:spPr>
          <a:xfrm>
            <a:off x="8090611" y="8674108"/>
            <a:ext cx="1472184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图像传感器〔规划〕</a:t>
            </a:r>
          </a:p>
        </p:txBody>
      </p:sp>
      <p:sp>
        <p:nvSpPr>
          <p:cNvPr id="133" name="text-283: LVDS 图像输入"/>
          <p:cNvSpPr txBox="1"/>
          <p:nvPr/>
        </p:nvSpPr>
        <p:spPr>
          <a:xfrm>
            <a:off x="8304983" y="8867156"/>
            <a:ext cx="104344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LVDS 图像输入</a:t>
            </a:r>
          </a:p>
        </p:txBody>
      </p:sp>
      <p:sp>
        <p:nvSpPr>
          <p:cNvPr id="134" name="rect-284"/>
          <p:cNvSpPr/>
          <p:nvPr/>
        </p:nvSpPr>
        <p:spPr>
          <a:xfrm>
            <a:off x="10049256" y="960120"/>
            <a:ext cx="2496312" cy="12801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285: 开发主机上的工具"/>
          <p:cNvSpPr txBox="1"/>
          <p:nvPr/>
        </p:nvSpPr>
        <p:spPr>
          <a:xfrm>
            <a:off x="10190074" y="1059204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开发主机上的工具</a:t>
            </a:r>
          </a:p>
        </p:txBody>
      </p:sp>
      <p:sp>
        <p:nvSpPr>
          <p:cNvPr id="136" name="text-286: 构建支持"/>
          <p:cNvSpPr txBox="1"/>
          <p:nvPr/>
        </p:nvSpPr>
        <p:spPr>
          <a:xfrm>
            <a:off x="10190074" y="1240219"/>
            <a:ext cx="896112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构建支持</a:t>
            </a:r>
          </a:p>
        </p:txBody>
      </p:sp>
      <p:sp>
        <p:nvSpPr>
          <p:cNvPr id="137" name="text-287: 编译器 · 汇编器 · 链接器"/>
          <p:cNvSpPr txBox="1"/>
          <p:nvPr/>
        </p:nvSpPr>
        <p:spPr>
          <a:xfrm>
            <a:off x="10190074" y="1524927"/>
            <a:ext cx="1642625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编译器 · 汇编器 · 链接器</a:t>
            </a:r>
          </a:p>
        </p:txBody>
      </p:sp>
      <p:sp>
        <p:nvSpPr>
          <p:cNvPr id="138" name="text-288: Makefile · 链接脚本 · 库归档"/>
          <p:cNvSpPr txBox="1"/>
          <p:nvPr/>
        </p:nvSpPr>
        <p:spPr>
          <a:xfrm>
            <a:off x="10190074" y="1723351"/>
            <a:ext cx="193363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Makefile · 链接脚本 · 库归档</a:t>
            </a:r>
          </a:p>
        </p:txBody>
      </p:sp>
      <p:sp>
        <p:nvSpPr>
          <p:cNvPr id="139" name="text-289: 生成 ELF，规定代码与数据布局"/>
          <p:cNvSpPr txBox="1"/>
          <p:nvPr/>
        </p:nvSpPr>
        <p:spPr>
          <a:xfrm>
            <a:off x="10190074" y="1921776"/>
            <a:ext cx="209679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生成 ELF，规定代码与数据布局</a:t>
            </a:r>
          </a:p>
        </p:txBody>
      </p:sp>
      <p:sp>
        <p:nvSpPr>
          <p:cNvPr id="140" name="rect-290"/>
          <p:cNvSpPr/>
          <p:nvPr/>
        </p:nvSpPr>
        <p:spPr>
          <a:xfrm>
            <a:off x="10049256" y="2368296"/>
            <a:ext cx="2496312" cy="1971446"/>
          </a:xfrm>
          <a:prstGeom prst="roundRect">
            <a:avLst>
              <a:gd name="adj" fmla="val 3246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291: 准备并维持软件执行环境"/>
          <p:cNvSpPr txBox="1"/>
          <p:nvPr/>
        </p:nvSpPr>
        <p:spPr>
          <a:xfrm>
            <a:off x="10190074" y="2467380"/>
            <a:ext cx="145938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准备并维持软件执行环境</a:t>
            </a:r>
          </a:p>
        </p:txBody>
      </p:sp>
      <p:sp>
        <p:nvSpPr>
          <p:cNvPr id="142" name="text-292: 启动与运行支持"/>
          <p:cNvSpPr txBox="1"/>
          <p:nvPr/>
        </p:nvSpPr>
        <p:spPr>
          <a:xfrm>
            <a:off x="10190074" y="2648395"/>
            <a:ext cx="1433779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启动与运行支持</a:t>
            </a:r>
          </a:p>
        </p:txBody>
      </p:sp>
      <p:sp>
        <p:nvSpPr>
          <p:cNvPr id="143" name="text-293: Boot ROM / 载荷加载"/>
          <p:cNvSpPr txBox="1"/>
          <p:nvPr/>
        </p:nvSpPr>
        <p:spPr>
          <a:xfrm>
            <a:off x="10190074" y="2933103"/>
            <a:ext cx="1551874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Boot ROM / 载荷加载</a:t>
            </a:r>
          </a:p>
        </p:txBody>
      </p:sp>
      <p:sp>
        <p:nvSpPr>
          <p:cNvPr id="144" name="text-294: crt0：栈、BSS、异常入口"/>
          <p:cNvSpPr txBox="1"/>
          <p:nvPr/>
        </p:nvSpPr>
        <p:spPr>
          <a:xfrm>
            <a:off x="10190074" y="3131527"/>
            <a:ext cx="178208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crt0：栈、BSS、异常入口</a:t>
            </a:r>
          </a:p>
        </p:txBody>
      </p:sp>
      <p:sp>
        <p:nvSpPr>
          <p:cNvPr id="145" name="text-295: 进入 main；异常处理与返回"/>
          <p:cNvSpPr txBox="1"/>
          <p:nvPr/>
        </p:nvSpPr>
        <p:spPr>
          <a:xfrm>
            <a:off x="10190074" y="3329952"/>
            <a:ext cx="19246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进入 main；异常处理与返回</a:t>
            </a:r>
          </a:p>
        </p:txBody>
      </p:sp>
      <p:sp>
        <p:nvSpPr>
          <p:cNvPr id="146" name="text-296: 启动交接与函数调用分别表达"/>
          <p:cNvSpPr txBox="1"/>
          <p:nvPr/>
        </p:nvSpPr>
        <p:spPr>
          <a:xfrm>
            <a:off x="10190074" y="3528377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启动交接与函数调用分别表达</a:t>
            </a:r>
          </a:p>
        </p:txBody>
      </p:sp>
      <p:sp>
        <p:nvSpPr>
          <p:cNvPr id="147" name="text-297: 运行期也可访问必要配置接口"/>
          <p:cNvSpPr txBox="1"/>
          <p:nvPr/>
        </p:nvSpPr>
        <p:spPr>
          <a:xfrm>
            <a:off x="10190074" y="3726802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运行期也可访问必要配置接口</a:t>
            </a:r>
          </a:p>
        </p:txBody>
      </p:sp>
      <p:sp>
        <p:nvSpPr>
          <p:cNvPr id="148" name="text-298: 不是每次设备调用的必经层"/>
          <p:cNvSpPr txBox="1"/>
          <p:nvPr/>
        </p:nvSpPr>
        <p:spPr>
          <a:xfrm>
            <a:off x="10190074" y="3925227"/>
            <a:ext cx="183062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不是每次设备调用的必经层</a:t>
            </a:r>
          </a:p>
        </p:txBody>
      </p:sp>
      <p:sp>
        <p:nvSpPr>
          <p:cNvPr id="149" name="rect-299"/>
          <p:cNvSpPr/>
          <p:nvPr/>
        </p:nvSpPr>
        <p:spPr>
          <a:xfrm>
            <a:off x="10049256" y="4467758"/>
            <a:ext cx="2496312" cy="1600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300: 扩展方向 · 目标运行待验证"/>
          <p:cNvSpPr txBox="1"/>
          <p:nvPr/>
        </p:nvSpPr>
        <p:spPr>
          <a:xfrm>
            <a:off x="10190074" y="4566843"/>
            <a:ext cx="1585278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扩展方向 · 目标运行待验证</a:t>
            </a:r>
          </a:p>
        </p:txBody>
      </p:sp>
      <p:sp>
        <p:nvSpPr>
          <p:cNvPr id="151" name="text-301: 可选操作系统"/>
          <p:cNvSpPr txBox="1"/>
          <p:nvPr/>
        </p:nvSpPr>
        <p:spPr>
          <a:xfrm>
            <a:off x="10190074" y="4747857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可选操作系统</a:t>
            </a:r>
          </a:p>
        </p:txBody>
      </p:sp>
      <p:sp>
        <p:nvSpPr>
          <p:cNvPr id="152" name="text-302: RTOS：任务、调度与同步"/>
          <p:cNvSpPr txBox="1"/>
          <p:nvPr/>
        </p:nvSpPr>
        <p:spPr>
          <a:xfrm>
            <a:off x="10190074" y="5032565"/>
            <a:ext cx="176612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RTOS：任务、调度与同步</a:t>
            </a:r>
          </a:p>
        </p:txBody>
      </p:sp>
      <p:sp>
        <p:nvSpPr>
          <p:cNvPr id="153" name="text-303: Linux：用户态 / 内核 / 驱动"/>
          <p:cNvSpPr txBox="1"/>
          <p:nvPr/>
        </p:nvSpPr>
        <p:spPr>
          <a:xfrm>
            <a:off x="10190074" y="5230990"/>
            <a:ext cx="190900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Linux：用户态 / 内核 / 驱动</a:t>
            </a:r>
          </a:p>
        </p:txBody>
      </p:sp>
      <p:sp>
        <p:nvSpPr>
          <p:cNvPr id="154" name="text-304: 依各自环境建立设备访问路径"/>
          <p:cNvSpPr txBox="1"/>
          <p:nvPr/>
        </p:nvSpPr>
        <p:spPr>
          <a:xfrm>
            <a:off x="10190074" y="5429415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依各自环境建立设备访问路径</a:t>
            </a:r>
          </a:p>
        </p:txBody>
      </p:sp>
      <p:sp>
        <p:nvSpPr>
          <p:cNvPr id="155" name="text-305: 不假定直接复用整套裸机 HAL"/>
          <p:cNvSpPr txBox="1"/>
          <p:nvPr/>
        </p:nvSpPr>
        <p:spPr>
          <a:xfrm>
            <a:off x="10190074" y="5627839"/>
            <a:ext cx="201174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不假定直接复用整套裸机 HAL</a:t>
            </a:r>
          </a:p>
        </p:txBody>
      </p:sp>
      <p:sp>
        <p:nvSpPr>
          <p:cNvPr id="156" name="rect-306"/>
          <p:cNvSpPr/>
          <p:nvPr/>
        </p:nvSpPr>
        <p:spPr>
          <a:xfrm>
            <a:off x="10049256" y="6195974"/>
            <a:ext cx="2496312" cy="1292962"/>
          </a:xfrm>
          <a:prstGeom prst="roundRect">
            <a:avLst>
              <a:gd name="adj" fmla="val 495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-307: 同一结构的实现与适配维度"/>
          <p:cNvSpPr txBox="1"/>
          <p:nvPr/>
        </p:nvSpPr>
        <p:spPr>
          <a:xfrm>
            <a:off x="10190074" y="6295059"/>
            <a:ext cx="1580998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同一结构的实现与适配维度</a:t>
            </a:r>
          </a:p>
        </p:txBody>
      </p:sp>
      <p:sp>
        <p:nvSpPr>
          <p:cNvPr id="158" name="text-308: 硬件实现平台"/>
          <p:cNvSpPr txBox="1"/>
          <p:nvPr/>
        </p:nvSpPr>
        <p:spPr>
          <a:xfrm>
            <a:off x="10190074" y="6476073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硬件实现平台</a:t>
            </a:r>
          </a:p>
        </p:txBody>
      </p:sp>
      <p:sp>
        <p:nvSpPr>
          <p:cNvPr id="159" name="text-309: FPGA：现有 VCU118 工程"/>
          <p:cNvSpPr txBox="1"/>
          <p:nvPr/>
        </p:nvSpPr>
        <p:spPr>
          <a:xfrm>
            <a:off x="10190074" y="6760781"/>
            <a:ext cx="183138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FPGA：现有 VCU118 工程</a:t>
            </a:r>
          </a:p>
        </p:txBody>
      </p:sp>
      <p:sp>
        <p:nvSpPr>
          <p:cNvPr id="160" name="text-310: ASIC：宏、时钟、PAD 等适配"/>
          <p:cNvSpPr txBox="1"/>
          <p:nvPr/>
        </p:nvSpPr>
        <p:spPr>
          <a:xfrm>
            <a:off x="10190074" y="6959206"/>
            <a:ext cx="204652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ASIC：宏、时钟、PAD 等适配</a:t>
            </a:r>
          </a:p>
        </p:txBody>
      </p:sp>
      <p:sp>
        <p:nvSpPr>
          <p:cNvPr id="161" name="text-311: ASIC 实现与验证仍待完成"/>
          <p:cNvSpPr txBox="1"/>
          <p:nvPr/>
        </p:nvSpPr>
        <p:spPr>
          <a:xfrm>
            <a:off x="10190074" y="7157631"/>
            <a:ext cx="17657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 实现与验证仍待完成</a:t>
            </a:r>
          </a:p>
        </p:txBody>
      </p:sp>
      <p:sp>
        <p:nvSpPr>
          <p:cNvPr id="162" name="rect-312"/>
          <p:cNvSpPr/>
          <p:nvPr/>
        </p:nvSpPr>
        <p:spPr>
          <a:xfrm>
            <a:off x="10049256" y="7616952"/>
            <a:ext cx="2496312" cy="1548994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-313: 阅读图例"/>
          <p:cNvSpPr txBox="1"/>
          <p:nvPr/>
        </p:nvSpPr>
        <p:spPr>
          <a:xfrm>
            <a:off x="10190074" y="7673535"/>
            <a:ext cx="864108" cy="2765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阅读图例</a:t>
            </a:r>
          </a:p>
        </p:txBody>
      </p:sp>
      <p:sp>
        <p:nvSpPr>
          <p:cNvPr id="164" name="rect-314"/>
          <p:cNvSpPr/>
          <p:nvPr/>
        </p:nvSpPr>
        <p:spPr>
          <a:xfrm>
            <a:off x="10190074" y="8001000"/>
            <a:ext cx="224028" cy="14721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-315: 实线框：已有代码 / 结构"/>
          <p:cNvSpPr txBox="1"/>
          <p:nvPr/>
        </p:nvSpPr>
        <p:spPr>
          <a:xfrm>
            <a:off x="10510114" y="7983846"/>
            <a:ext cx="161556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实线框：已有代码 / 结构</a:t>
            </a:r>
          </a:p>
        </p:txBody>
      </p:sp>
      <p:sp>
        <p:nvSpPr>
          <p:cNvPr id="166" name="rect-316"/>
          <p:cNvSpPr/>
          <p:nvPr/>
        </p:nvSpPr>
        <p:spPr>
          <a:xfrm>
            <a:off x="10190074" y="8257032"/>
            <a:ext cx="224028" cy="147218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-325: 虚线框：规划中的扩展"/>
          <p:cNvSpPr txBox="1"/>
          <p:nvPr/>
        </p:nvSpPr>
        <p:spPr>
          <a:xfrm>
            <a:off x="10510114" y="8239878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虚线框：规划中的扩展</a:t>
            </a:r>
          </a:p>
        </p:txBody>
      </p:sp>
      <p:cxnSp>
        <p:nvCxnSpPr>
          <p:cNvPr id="168" name="line-326"/>
          <p:cNvCxnSpPr/>
          <p:nvPr/>
        </p:nvCxnSpPr>
        <p:spPr>
          <a:xfrm>
            <a:off x="10190074" y="8577072"/>
            <a:ext cx="224028" cy="0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169" name="text-328: 蓝色箭头：代表性调用"/>
          <p:cNvSpPr txBox="1"/>
          <p:nvPr/>
        </p:nvSpPr>
        <p:spPr>
          <a:xfrm>
            <a:off x="10510114" y="8476707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蓝色箭头：代表性调用</a:t>
            </a:r>
          </a:p>
        </p:txBody>
      </p:sp>
      <p:cxnSp>
        <p:nvCxnSpPr>
          <p:cNvPr id="170" name="line-329"/>
          <p:cNvCxnSpPr/>
          <p:nvPr/>
        </p:nvCxnSpPr>
        <p:spPr>
          <a:xfrm>
            <a:off x="10190074" y="8833104"/>
            <a:ext cx="224028" cy="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71" name="text-332: 棕色箭头：硬件连接"/>
          <p:cNvSpPr txBox="1"/>
          <p:nvPr/>
        </p:nvSpPr>
        <p:spPr>
          <a:xfrm>
            <a:off x="10510114" y="8732739"/>
            <a:ext cx="13441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棕色箭头：硬件连接</a:t>
            </a:r>
          </a:p>
        </p:txBody>
      </p:sp>
      <p:sp>
        <p:nvSpPr>
          <p:cNvPr id="172" name="text-333: 说明：图示为职责与结构总览；模块按配置启用，已有结构不代表全部功能已仿真或板测。"/>
          <p:cNvSpPr txBox="1"/>
          <p:nvPr/>
        </p:nvSpPr>
        <p:spPr>
          <a:xfrm>
            <a:off x="256032" y="9270407"/>
            <a:ext cx="551108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说明：图示为职责与结构总览；模块按配置启用，已有结构不代表全部功能已仿真或板测。</a:t>
            </a:r>
          </a:p>
        </p:txBody>
      </p:sp>
      <p:sp>
        <p:nvSpPr>
          <p:cNvPr id="173" name="text-334: L01 · 2026-10-09"/>
          <p:cNvSpPr txBox="1"/>
          <p:nvPr/>
        </p:nvSpPr>
        <p:spPr>
          <a:xfrm>
            <a:off x="11325676" y="9270407"/>
            <a:ext cx="121989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L01 · 2026-10-09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