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</p:sldIdLst>
  <p:sldSz cx="12801600" cy="768096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processing-domain"/>
          <p:cNvSpPr/>
          <p:nvPr/>
        </p:nvSpPr>
        <p:spPr>
          <a:xfrm>
            <a:off x="4587240" y="448056"/>
            <a:ext cx="3627120" cy="2218944"/>
          </a:xfrm>
          <a:prstGeom prst="roundRect">
            <a:avLst>
              <a:gd name="adj" fmla="val 8653"/>
            </a:avLst>
          </a:prstGeom>
          <a:solidFill>
            <a:srgbClr val="F6FAFE"/>
          </a:solidFill>
          <a:ln w="21336" cap="flat">
            <a:solidFill>
              <a:srgbClr val="8CA6C1"/>
            </a:solidFill>
            <a:custDash>
              <a:ds d="500000" sp="300000"/>
            </a:custDash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3" name="text-003: 处理域"/>
          <p:cNvSpPr txBox="1"/>
          <p:nvPr/>
        </p:nvSpPr>
        <p:spPr>
          <a:xfrm>
            <a:off x="4800600" y="587593"/>
            <a:ext cx="1024128" cy="409651"/>
          </a:xfrm>
          <a:prstGeom prst="rect">
            <a:avLst/>
          </a:prstGeom>
          <a:noFill/>
          <a:effectLst/>
        </p:spPr>
        <p:txBody>
          <a:bodyPr wrap="none" lIns="0" rIns="0" tIns="0" bIns="0" anchor="t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2016" b="0" i="0">
                <a:solidFill>
                  <a:srgbClr val="536E88"/>
                </a:solidFill>
                <a:latin typeface="Microsoft YaHei"/>
                <a:ea typeface="Microsoft YaHei"/>
                <a:cs typeface="Microsoft YaHei"/>
              </a:rPr>
              <a:t>处理域</a:t>
            </a:r>
          </a:p>
        </p:txBody>
      </p:sp>
      <p:sp>
        <p:nvSpPr>
          <p:cNvPr id="4" name="input"/>
          <p:cNvSpPr/>
          <p:nvPr/>
        </p:nvSpPr>
        <p:spPr>
          <a:xfrm>
            <a:off x="640080" y="1173480"/>
            <a:ext cx="2773680" cy="1066800"/>
          </a:xfrm>
          <a:prstGeom prst="roundRect">
            <a:avLst>
              <a:gd name="adj" fmla="val 14000"/>
            </a:avLst>
          </a:prstGeom>
          <a:solidFill>
            <a:srgbClr val="E4F0FC"/>
          </a:solidFill>
          <a:ln w="21336" cap="flat">
            <a:solidFill>
              <a:srgbClr val="83A9CD"/>
            </a:solidFill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5" name="compute"/>
          <p:cNvSpPr/>
          <p:nvPr/>
        </p:nvSpPr>
        <p:spPr>
          <a:xfrm>
            <a:off x="5013960" y="1173480"/>
            <a:ext cx="2773680" cy="1066800"/>
          </a:xfrm>
          <a:prstGeom prst="roundRect">
            <a:avLst>
              <a:gd name="adj" fmla="val 14000"/>
            </a:avLst>
          </a:prstGeom>
          <a:solidFill>
            <a:srgbClr val="E4F3EC"/>
          </a:solidFill>
          <a:ln w="21336" cap="flat">
            <a:solidFill>
              <a:srgbClr val="85B69A"/>
            </a:solidFill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6" name="output"/>
          <p:cNvSpPr/>
          <p:nvPr/>
        </p:nvSpPr>
        <p:spPr>
          <a:xfrm>
            <a:off x="9707880" y="1173480"/>
            <a:ext cx="2453640" cy="1066800"/>
          </a:xfrm>
          <a:prstGeom prst="roundRect">
            <a:avLst>
              <a:gd name="adj" fmla="val 14000"/>
            </a:avLst>
          </a:prstGeom>
          <a:solidFill>
            <a:srgbClr val="FFF0DF"/>
          </a:solidFill>
          <a:ln w="21336" cap="flat">
            <a:solidFill>
              <a:srgbClr val="CCA47A"/>
            </a:solidFill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7" name="text-007: 输入数据"/>
          <p:cNvSpPr txBox="1"/>
          <p:nvPr/>
        </p:nvSpPr>
        <p:spPr>
          <a:xfrm>
            <a:off x="1280160" y="1480292"/>
            <a:ext cx="1493520" cy="477926"/>
          </a:xfrm>
          <a:prstGeom prst="rect">
            <a:avLst/>
          </a:prstGeom>
          <a:noFill/>
          <a:effectLst/>
        </p:spPr>
        <p:txBody>
          <a:bodyPr wrap="none" lIns="0" rIns="0" tIns="0" bIns="0" anchor="t">
            <a:spAutoFit/>
          </a:bodyPr>
          <a:lstStyle/>
          <a:p>
            <a:pPr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2352" b="0" i="0">
                <a:solidFill>
                  <a:srgbClr val="263E53"/>
                </a:solidFill>
                <a:latin typeface="Microsoft YaHei"/>
                <a:ea typeface="Microsoft YaHei"/>
                <a:cs typeface="Microsoft YaHei"/>
              </a:rPr>
              <a:t>输入数据</a:t>
            </a:r>
          </a:p>
        </p:txBody>
      </p:sp>
      <p:sp>
        <p:nvSpPr>
          <p:cNvPr id="8" name="text-008: 处理模块"/>
          <p:cNvSpPr txBox="1"/>
          <p:nvPr/>
        </p:nvSpPr>
        <p:spPr>
          <a:xfrm>
            <a:off x="5654040" y="1480292"/>
            <a:ext cx="1493520" cy="477926"/>
          </a:xfrm>
          <a:prstGeom prst="rect">
            <a:avLst/>
          </a:prstGeom>
          <a:noFill/>
          <a:effectLst/>
        </p:spPr>
        <p:txBody>
          <a:bodyPr wrap="none" lIns="0" rIns="0" tIns="0" bIns="0" anchor="t">
            <a:spAutoFit/>
          </a:bodyPr>
          <a:lstStyle/>
          <a:p>
            <a:pPr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2352" b="0" i="0">
                <a:solidFill>
                  <a:srgbClr val="263E53"/>
                </a:solidFill>
                <a:latin typeface="Microsoft YaHei"/>
                <a:ea typeface="Microsoft YaHei"/>
                <a:cs typeface="Microsoft YaHei"/>
              </a:rPr>
              <a:t>处理模块</a:t>
            </a:r>
          </a:p>
        </p:txBody>
      </p:sp>
      <p:sp>
        <p:nvSpPr>
          <p:cNvPr id="9" name="text-009: 输出结果"/>
          <p:cNvSpPr txBox="1"/>
          <p:nvPr/>
        </p:nvSpPr>
        <p:spPr>
          <a:xfrm>
            <a:off x="10187940" y="1480292"/>
            <a:ext cx="1493520" cy="477926"/>
          </a:xfrm>
          <a:prstGeom prst="rect">
            <a:avLst/>
          </a:prstGeom>
          <a:noFill/>
          <a:effectLst/>
        </p:spPr>
        <p:txBody>
          <a:bodyPr wrap="none" lIns="0" rIns="0" tIns="0" bIns="0" anchor="t">
            <a:spAutoFit/>
          </a:bodyPr>
          <a:lstStyle/>
          <a:p>
            <a:pPr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2352" b="0" i="0">
                <a:solidFill>
                  <a:srgbClr val="263E53"/>
                </a:solidFill>
                <a:latin typeface="Microsoft YaHei"/>
                <a:ea typeface="Microsoft YaHei"/>
                <a:cs typeface="Microsoft YaHei"/>
              </a:rPr>
              <a:t>输出结果</a:t>
            </a:r>
          </a:p>
        </p:txBody>
      </p:sp>
      <p:cxnSp>
        <p:nvCxnSpPr>
          <p:cNvPr id="10" name="input-to-compute"/>
          <p:cNvCxnSpPr/>
          <p:nvPr/>
        </p:nvCxnSpPr>
        <p:spPr>
          <a:xfrm>
            <a:off x="3413760" y="1706880"/>
            <a:ext cx="1600200" cy="0"/>
          </a:xfrm>
          <a:prstGeom prst="line">
            <a:avLst/>
          </a:prstGeom>
          <a:ln w="32004" cap="flat">
            <a:solidFill>
              <a:srgbClr val="3575A6"/>
            </a:solidFill>
            <a:tailEnd type="triangle" w="med" len="med"/>
          </a:ln>
          <a:effectLst/>
        </p:spPr>
      </p:cxnSp>
      <p:cxnSp>
        <p:nvCxnSpPr>
          <p:cNvPr id="11" name="compute-to-output"/>
          <p:cNvCxnSpPr/>
          <p:nvPr/>
        </p:nvCxnSpPr>
        <p:spPr>
          <a:xfrm>
            <a:off x="7787640" y="1706880"/>
            <a:ext cx="1920240" cy="0"/>
          </a:xfrm>
          <a:prstGeom prst="line">
            <a:avLst/>
          </a:prstGeom>
          <a:ln w="32004" cap="flat">
            <a:solidFill>
              <a:srgbClr val="3575A6"/>
            </a:solidFill>
            <a:tailEnd type="triangle" w="med" len="med"/>
          </a:ln>
          <a:effectLst/>
        </p:spPr>
      </p:cxnSp>
      <p:sp>
        <p:nvSpPr>
          <p:cNvPr id="12" name="feedback"/>
          <p:cNvSpPr/>
          <p:nvPr/>
        </p:nvSpPr>
        <p:spPr>
          <a:xfrm>
            <a:off x="2026920" y="2240280"/>
            <a:ext cx="8907780" cy="1493520"/>
          </a:xfrm>
          <a:custGeom>
            <a:avLst/>
            <a:gdLst/>
            <a:ahLst/>
            <a:cxnLst/>
            <a:rect l="0" t="0" r="r" b="b"/>
            <a:pathLst>
              <a:path w="8907780" h="1493520" fill="none">
                <a:moveTo>
                  <a:pt x="8907780" y="0"/>
                </a:moveTo>
                <a:cubicBezTo>
                  <a:pt x="8907780" y="1493520"/>
                  <a:pt x="0" y="1493520"/>
                  <a:pt x="0" y="0"/>
                </a:cubicBezTo>
              </a:path>
            </a:pathLst>
          </a:custGeom>
          <a:noFill/>
          <a:ln w="32004" cap="flat">
            <a:solidFill>
              <a:srgbClr val="3575A6"/>
            </a:solidFill>
            <a:tailEnd type="triangle" w="med" len="med"/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13" name="text-013: 反馈数据"/>
          <p:cNvSpPr txBox="1"/>
          <p:nvPr/>
        </p:nvSpPr>
        <p:spPr>
          <a:xfrm>
            <a:off x="5760720" y="3563965"/>
            <a:ext cx="1280160" cy="409651"/>
          </a:xfrm>
          <a:prstGeom prst="rect">
            <a:avLst/>
          </a:prstGeom>
          <a:noFill/>
          <a:effectLst/>
        </p:spPr>
        <p:txBody>
          <a:bodyPr wrap="none" lIns="0" rIns="0" tIns="0" bIns="0" anchor="t">
            <a:spAutoFit/>
          </a:bodyPr>
          <a:lstStyle/>
          <a:p>
            <a:pPr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2016" b="0" i="0">
                <a:solidFill>
                  <a:srgbClr val="3575A6"/>
                </a:solidFill>
                <a:latin typeface="Microsoft YaHei"/>
                <a:ea typeface="Microsoft YaHei"/>
                <a:cs typeface="Microsoft YaHei"/>
              </a:rPr>
              <a:t>反馈数据</a:t>
            </a:r>
          </a:p>
        </p:txBody>
      </p:sp>
      <p:sp>
        <p:nvSpPr>
          <p:cNvPr id="14" name="software"/>
          <p:cNvSpPr/>
          <p:nvPr/>
        </p:nvSpPr>
        <p:spPr>
          <a:xfrm>
            <a:off x="640080" y="4480560"/>
            <a:ext cx="2667000" cy="1066800"/>
          </a:xfrm>
          <a:prstGeom prst="roundRect">
            <a:avLst>
              <a:gd name="adj" fmla="val 14000"/>
            </a:avLst>
          </a:prstGeom>
          <a:solidFill>
            <a:srgbClr val="EEE8F6"/>
          </a:solidFill>
          <a:ln w="21336" cap="flat">
            <a:solidFill>
              <a:srgbClr val="AC96C5"/>
            </a:solidFill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15" name="registers"/>
          <p:cNvSpPr/>
          <p:nvPr/>
        </p:nvSpPr>
        <p:spPr>
          <a:xfrm>
            <a:off x="5013960" y="4480560"/>
            <a:ext cx="2773680" cy="1066800"/>
          </a:xfrm>
          <a:prstGeom prst="roundRect">
            <a:avLst>
              <a:gd name="adj" fmla="val 14000"/>
            </a:avLst>
          </a:prstGeom>
          <a:solidFill>
            <a:srgbClr val="EEE8F6"/>
          </a:solidFill>
          <a:ln w="21336" cap="flat">
            <a:solidFill>
              <a:srgbClr val="AC96C5"/>
            </a:solidFill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16" name="peripheral"/>
          <p:cNvSpPr/>
          <p:nvPr/>
        </p:nvSpPr>
        <p:spPr>
          <a:xfrm>
            <a:off x="9707880" y="4480560"/>
            <a:ext cx="2453640" cy="1066800"/>
          </a:xfrm>
          <a:prstGeom prst="roundRect">
            <a:avLst>
              <a:gd name="adj" fmla="val 14000"/>
            </a:avLst>
          </a:prstGeom>
          <a:solidFill>
            <a:srgbClr val="E3F3F1"/>
          </a:solidFill>
          <a:ln w="21336" cap="flat">
            <a:solidFill>
              <a:srgbClr val="82B6B0"/>
            </a:solidFill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17" name="text-017: 软件配置"/>
          <p:cNvSpPr txBox="1"/>
          <p:nvPr/>
        </p:nvSpPr>
        <p:spPr>
          <a:xfrm>
            <a:off x="1226820" y="4787372"/>
            <a:ext cx="1493520" cy="477926"/>
          </a:xfrm>
          <a:prstGeom prst="rect">
            <a:avLst/>
          </a:prstGeom>
          <a:noFill/>
          <a:effectLst/>
        </p:spPr>
        <p:txBody>
          <a:bodyPr wrap="none" lIns="0" rIns="0" tIns="0" bIns="0" anchor="t">
            <a:spAutoFit/>
          </a:bodyPr>
          <a:lstStyle/>
          <a:p>
            <a:pPr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2352" b="0" i="0">
                <a:solidFill>
                  <a:srgbClr val="263E53"/>
                </a:solidFill>
                <a:latin typeface="Microsoft YaHei"/>
                <a:ea typeface="Microsoft YaHei"/>
                <a:cs typeface="Microsoft YaHei"/>
              </a:rPr>
              <a:t>软件配置</a:t>
            </a:r>
          </a:p>
        </p:txBody>
      </p:sp>
      <p:sp>
        <p:nvSpPr>
          <p:cNvPr id="18" name="text-018: 控制寄存器"/>
          <p:cNvSpPr txBox="1"/>
          <p:nvPr/>
        </p:nvSpPr>
        <p:spPr>
          <a:xfrm>
            <a:off x="5504688" y="4787372"/>
            <a:ext cx="1792224" cy="477926"/>
          </a:xfrm>
          <a:prstGeom prst="rect">
            <a:avLst/>
          </a:prstGeom>
          <a:noFill/>
          <a:effectLst/>
        </p:spPr>
        <p:txBody>
          <a:bodyPr wrap="none" lIns="0" rIns="0" tIns="0" bIns="0" anchor="t">
            <a:spAutoFit/>
          </a:bodyPr>
          <a:lstStyle/>
          <a:p>
            <a:pPr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2352" b="0" i="0">
                <a:solidFill>
                  <a:srgbClr val="263E53"/>
                </a:solidFill>
                <a:latin typeface="Microsoft YaHei"/>
                <a:ea typeface="Microsoft YaHei"/>
                <a:cs typeface="Microsoft YaHei"/>
              </a:rPr>
              <a:t>控制寄存器</a:t>
            </a:r>
          </a:p>
        </p:txBody>
      </p:sp>
      <p:sp>
        <p:nvSpPr>
          <p:cNvPr id="19" name="text-019: 外设控制"/>
          <p:cNvSpPr txBox="1"/>
          <p:nvPr/>
        </p:nvSpPr>
        <p:spPr>
          <a:xfrm>
            <a:off x="10187940" y="4787372"/>
            <a:ext cx="1493520" cy="477926"/>
          </a:xfrm>
          <a:prstGeom prst="rect">
            <a:avLst/>
          </a:prstGeom>
          <a:noFill/>
          <a:effectLst/>
        </p:spPr>
        <p:txBody>
          <a:bodyPr wrap="none" lIns="0" rIns="0" tIns="0" bIns="0" anchor="t">
            <a:spAutoFit/>
          </a:bodyPr>
          <a:lstStyle/>
          <a:p>
            <a:pPr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2352" b="0" i="0">
                <a:solidFill>
                  <a:srgbClr val="263E53"/>
                </a:solidFill>
                <a:latin typeface="Microsoft YaHei"/>
                <a:ea typeface="Microsoft YaHei"/>
                <a:cs typeface="Microsoft YaHei"/>
              </a:rPr>
              <a:t>外设控制</a:t>
            </a:r>
          </a:p>
        </p:txBody>
      </p:sp>
      <p:sp>
        <p:nvSpPr>
          <p:cNvPr id="20" name="configuration-elbow"/>
          <p:cNvSpPr/>
          <p:nvPr/>
        </p:nvSpPr>
        <p:spPr>
          <a:xfrm>
            <a:off x="3307080" y="5013960"/>
            <a:ext cx="3093720" cy="853440"/>
          </a:xfrm>
          <a:custGeom>
            <a:avLst/>
            <a:gdLst/>
            <a:ahLst/>
            <a:cxnLst/>
            <a:rect l="0" t="0" r="r" b="b"/>
            <a:pathLst>
              <a:path w="3093720" h="853440" fill="none">
                <a:moveTo>
                  <a:pt x="0" y="0"/>
                </a:moveTo>
                <a:lnTo>
                  <a:pt x="853440" y="0"/>
                </a:lnTo>
                <a:lnTo>
                  <a:pt x="853440" y="853440"/>
                </a:lnTo>
                <a:lnTo>
                  <a:pt x="3093720" y="853440"/>
                </a:lnTo>
                <a:lnTo>
                  <a:pt x="3093720" y="533400"/>
                </a:lnTo>
              </a:path>
            </a:pathLst>
          </a:custGeom>
          <a:noFill/>
          <a:ln w="32004" cap="flat">
            <a:solidFill>
              <a:srgbClr val="8161A8"/>
            </a:solidFill>
            <a:custDash>
              <a:ds d="266667" sp="166667"/>
            </a:custDash>
            <a:tailEnd type="triangle" w="med" len="med"/>
          </a:ln>
          <a:effectLst/>
        </p:spPr>
        <p:txBody>
          <a:bodyPr rtlCol="0" anchor="ctr"/>
          <a:lstStyle/>
          <a:p>
            <a:pPr algn="ctr"/>
          </a:p>
        </p:txBody>
      </p:sp>
      <p:cxnSp>
        <p:nvCxnSpPr>
          <p:cNvPr id="21" name="control-bidirectional"/>
          <p:cNvCxnSpPr/>
          <p:nvPr/>
        </p:nvCxnSpPr>
        <p:spPr>
          <a:xfrm>
            <a:off x="7787640" y="5013960"/>
            <a:ext cx="1920240" cy="0"/>
          </a:xfrm>
          <a:prstGeom prst="line">
            <a:avLst/>
          </a:prstGeom>
          <a:ln w="32004" cap="flat">
            <a:solidFill>
              <a:srgbClr val="347F7A"/>
            </a:solidFill>
            <a:headEnd type="triangle" w="med" len="med"/>
            <a:tailEnd type="triangle" w="med" len="med"/>
          </a:ln>
          <a:effectLst/>
        </p:spPr>
      </p:cxnSp>
      <p:sp>
        <p:nvSpPr>
          <p:cNvPr id="22" name="status"/>
          <p:cNvSpPr/>
          <p:nvPr/>
        </p:nvSpPr>
        <p:spPr>
          <a:xfrm>
            <a:off x="5013960" y="6507480"/>
            <a:ext cx="1920240" cy="800100"/>
          </a:xfrm>
          <a:prstGeom prst="roundRect">
            <a:avLst>
              <a:gd name="adj" fmla="val 16000"/>
            </a:avLst>
          </a:prstGeom>
          <a:solidFill>
            <a:srgbClr val="EEE8F6"/>
          </a:solidFill>
          <a:ln w="21336" cap="flat">
            <a:solidFill>
              <a:srgbClr val="AC96C5"/>
            </a:solidFill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23" name="events"/>
          <p:cNvSpPr/>
          <p:nvPr/>
        </p:nvSpPr>
        <p:spPr>
          <a:xfrm>
            <a:off x="9707880" y="6507480"/>
            <a:ext cx="2453640" cy="800100"/>
          </a:xfrm>
          <a:prstGeom prst="roundRect">
            <a:avLst>
              <a:gd name="adj" fmla="val 16000"/>
            </a:avLst>
          </a:prstGeom>
          <a:solidFill>
            <a:srgbClr val="E3F3F1"/>
          </a:solidFill>
          <a:ln w="21336" cap="flat">
            <a:solidFill>
              <a:srgbClr val="82B6B0"/>
            </a:solidFill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24" name="text-024: 状态寄存器"/>
          <p:cNvSpPr txBox="1"/>
          <p:nvPr/>
        </p:nvSpPr>
        <p:spPr>
          <a:xfrm>
            <a:off x="5141976" y="6709319"/>
            <a:ext cx="1664208" cy="443789"/>
          </a:xfrm>
          <a:prstGeom prst="rect">
            <a:avLst/>
          </a:prstGeom>
          <a:noFill/>
          <a:effectLst/>
        </p:spPr>
        <p:txBody>
          <a:bodyPr wrap="none" lIns="0" rIns="0" tIns="0" bIns="0" anchor="t">
            <a:spAutoFit/>
          </a:bodyPr>
          <a:lstStyle/>
          <a:p>
            <a:pPr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2184" b="0" i="0">
                <a:solidFill>
                  <a:srgbClr val="263E53"/>
                </a:solidFill>
                <a:latin typeface="Microsoft YaHei"/>
                <a:ea typeface="Microsoft YaHei"/>
                <a:cs typeface="Microsoft YaHei"/>
              </a:rPr>
              <a:t>状态寄存器</a:t>
            </a:r>
          </a:p>
        </p:txBody>
      </p:sp>
      <p:sp>
        <p:nvSpPr>
          <p:cNvPr id="25" name="text-025: 事件源"/>
          <p:cNvSpPr txBox="1"/>
          <p:nvPr/>
        </p:nvSpPr>
        <p:spPr>
          <a:xfrm>
            <a:off x="10379964" y="6709319"/>
            <a:ext cx="1109472" cy="443789"/>
          </a:xfrm>
          <a:prstGeom prst="rect">
            <a:avLst/>
          </a:prstGeom>
          <a:noFill/>
          <a:effectLst/>
        </p:spPr>
        <p:txBody>
          <a:bodyPr wrap="none" lIns="0" rIns="0" tIns="0" bIns="0" anchor="t">
            <a:spAutoFit/>
          </a:bodyPr>
          <a:lstStyle/>
          <a:p>
            <a:pPr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2184" b="0" i="0">
                <a:solidFill>
                  <a:srgbClr val="263E53"/>
                </a:solidFill>
                <a:latin typeface="Microsoft YaHei"/>
                <a:ea typeface="Microsoft YaHei"/>
                <a:cs typeface="Microsoft YaHei"/>
              </a:rPr>
              <a:t>事件源</a:t>
            </a:r>
          </a:p>
        </p:txBody>
      </p:sp>
      <p:cxnSp>
        <p:nvCxnSpPr>
          <p:cNvPr id="26" name="reverse-status"/>
          <p:cNvCxnSpPr/>
          <p:nvPr/>
        </p:nvCxnSpPr>
        <p:spPr>
          <a:xfrm flipH="1">
            <a:off x="6934200" y="6902196"/>
            <a:ext cx="2773680" cy="0"/>
          </a:xfrm>
          <a:prstGeom prst="line">
            <a:avLst/>
          </a:prstGeom>
          <a:ln w="32004" cap="flat">
            <a:solidFill>
              <a:srgbClr val="347F7A"/>
            </a:solidFill>
            <a:tailEnd type="triangle" w="med" len="med"/>
          </a:ln>
          <a:effectLst/>
        </p:spPr>
      </p:cxn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