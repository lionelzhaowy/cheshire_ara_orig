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91160" y="1493520"/>
            <a:ext cx="12019280" cy="2560320"/>
          </a:xfrm>
          <a:prstGeom prst="roundRect">
            <a:avLst>
              <a:gd name="adj" fmla="val 3333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6"/>
          <p:cNvSpPr/>
          <p:nvPr/>
        </p:nvSpPr>
        <p:spPr>
          <a:xfrm>
            <a:off x="3093720" y="2827020"/>
            <a:ext cx="462280" cy="1"/>
          </a:xfrm>
          <a:custGeom>
            <a:avLst/>
            <a:gdLst/>
            <a:ahLst/>
            <a:cxnLst/>
            <a:rect l="0" t="0" r="r" b="b"/>
            <a:pathLst>
              <a:path w="462280" h="1" fill="none">
                <a:moveTo>
                  <a:pt x="0" y="0"/>
                </a:moveTo>
                <a:lnTo>
                  <a:pt x="46228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8"/>
          <p:cNvSpPr/>
          <p:nvPr/>
        </p:nvSpPr>
        <p:spPr>
          <a:xfrm>
            <a:off x="6045200" y="2827020"/>
            <a:ext cx="462280" cy="1"/>
          </a:xfrm>
          <a:custGeom>
            <a:avLst/>
            <a:gdLst/>
            <a:ahLst/>
            <a:cxnLst/>
            <a:rect l="0" t="0" r="r" b="b"/>
            <a:pathLst>
              <a:path w="462280" h="1" fill="none">
                <a:moveTo>
                  <a:pt x="0" y="0"/>
                </a:moveTo>
                <a:lnTo>
                  <a:pt x="46228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0"/>
          <p:cNvSpPr/>
          <p:nvPr/>
        </p:nvSpPr>
        <p:spPr>
          <a:xfrm>
            <a:off x="8996680" y="2827020"/>
            <a:ext cx="462280" cy="1"/>
          </a:xfrm>
          <a:custGeom>
            <a:avLst/>
            <a:gdLst/>
            <a:ahLst/>
            <a:cxnLst/>
            <a:rect l="0" t="0" r="r" b="b"/>
            <a:pathLst>
              <a:path w="462280" h="1" fill="none">
                <a:moveTo>
                  <a:pt x="0" y="0"/>
                </a:moveTo>
                <a:lnTo>
                  <a:pt x="46228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2"/>
          <p:cNvSpPr/>
          <p:nvPr/>
        </p:nvSpPr>
        <p:spPr>
          <a:xfrm>
            <a:off x="4800600" y="3449320"/>
            <a:ext cx="1600200" cy="1635760"/>
          </a:xfrm>
          <a:custGeom>
            <a:avLst/>
            <a:gdLst/>
            <a:ahLst/>
            <a:cxnLst/>
            <a:rect l="0" t="0" r="r" b="b"/>
            <a:pathLst>
              <a:path w="1600200" h="1635760" fill="none">
                <a:moveTo>
                  <a:pt x="0" y="0"/>
                </a:moveTo>
                <a:lnTo>
                  <a:pt x="0" y="1031240"/>
                </a:lnTo>
                <a:lnTo>
                  <a:pt x="1600200" y="1031240"/>
                </a:lnTo>
                <a:lnTo>
                  <a:pt x="1600200" y="16357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4"/>
          <p:cNvSpPr/>
          <p:nvPr/>
        </p:nvSpPr>
        <p:spPr>
          <a:xfrm>
            <a:off x="6400800" y="3449320"/>
            <a:ext cx="1351280" cy="1635760"/>
          </a:xfrm>
          <a:custGeom>
            <a:avLst/>
            <a:gdLst/>
            <a:ahLst/>
            <a:cxnLst/>
            <a:rect l="0" t="0" r="r" b="b"/>
            <a:pathLst>
              <a:path w="1351280" h="1635760" fill="none">
                <a:moveTo>
                  <a:pt x="1351280" y="0"/>
                </a:moveTo>
                <a:lnTo>
                  <a:pt x="1351280" y="1031240"/>
                </a:lnTo>
                <a:lnTo>
                  <a:pt x="0" y="1031240"/>
                </a:lnTo>
                <a:lnTo>
                  <a:pt x="0" y="16357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6"/>
          <p:cNvSpPr/>
          <p:nvPr/>
        </p:nvSpPr>
        <p:spPr>
          <a:xfrm>
            <a:off x="6400800" y="3449320"/>
            <a:ext cx="4302760" cy="1635760"/>
          </a:xfrm>
          <a:custGeom>
            <a:avLst/>
            <a:gdLst/>
            <a:ahLst/>
            <a:cxnLst/>
            <a:rect l="0" t="0" r="r" b="b"/>
            <a:pathLst>
              <a:path w="4302760" h="1635760" fill="none">
                <a:moveTo>
                  <a:pt x="4302760" y="0"/>
                </a:moveTo>
                <a:lnTo>
                  <a:pt x="4302760" y="1031240"/>
                </a:lnTo>
                <a:lnTo>
                  <a:pt x="0" y="1031240"/>
                </a:lnTo>
                <a:lnTo>
                  <a:pt x="0" y="16357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8: 未来图像系统：流数据、帧缓冲与控制路径分层"/>
          <p:cNvSpPr txBox="1"/>
          <p:nvPr/>
        </p:nvSpPr>
        <p:spPr>
          <a:xfrm>
            <a:off x="483616" y="271109"/>
            <a:ext cx="5632704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未来图像系统：流数据、帧缓冲与控制路径分层</a:t>
            </a:r>
          </a:p>
        </p:txBody>
      </p:sp>
      <p:sp>
        <p:nvSpPr>
          <p:cNvPr id="13" name="text-019: LVDS / ISP / NPU 均为待集成模块；带宽与缓存规模必须由分辨率、格"/>
          <p:cNvSpPr txBox="1"/>
          <p:nvPr/>
        </p:nvSpPr>
        <p:spPr>
          <a:xfrm>
            <a:off x="483616" y="676778"/>
            <a:ext cx="769625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LVDS / ISP / NPU 均为待集成模块；带宽与缓存规模必须由分辨率、格式、帧率和访问次数推导。</a:t>
            </a:r>
          </a:p>
        </p:txBody>
      </p:sp>
      <p:sp>
        <p:nvSpPr>
          <p:cNvPr id="14" name="text-020: 未来方案 / 待实现与验证"/>
          <p:cNvSpPr txBox="1"/>
          <p:nvPr/>
        </p:nvSpPr>
        <p:spPr>
          <a:xfrm>
            <a:off x="341376" y="7498324"/>
            <a:ext cx="19341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5" name="text-021: 依据：用户产品方向与未来 IP 集成契约；不代表已实现 RTL 或已验证吞吐"/>
          <p:cNvSpPr txBox="1"/>
          <p:nvPr/>
        </p:nvSpPr>
        <p:spPr>
          <a:xfrm>
            <a:off x="341376" y="7726477"/>
            <a:ext cx="5099304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依据：用户产品方向与未来 IP 集成契约；不代表已实现 RTL 或已验证吞吐</a:t>
            </a:r>
          </a:p>
        </p:txBody>
      </p:sp>
      <p:sp>
        <p:nvSpPr>
          <p:cNvPr id="16" name="text-022: 像素 / 张量处理通路：每段需要格式、背压与时钟契约"/>
          <p:cNvSpPr txBox="1"/>
          <p:nvPr/>
        </p:nvSpPr>
        <p:spPr>
          <a:xfrm>
            <a:off x="519176" y="1550416"/>
            <a:ext cx="461391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像素 / 张量处理通路：每段需要格式、背压与时钟契约</a:t>
            </a:r>
          </a:p>
        </p:txBody>
      </p:sp>
      <p:sp>
        <p:nvSpPr>
          <p:cNvPr id="17" name="rect-023"/>
          <p:cNvSpPr/>
          <p:nvPr/>
        </p:nvSpPr>
        <p:spPr>
          <a:xfrm>
            <a:off x="604520" y="2204720"/>
            <a:ext cx="248920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-024"/>
          <p:cNvSpPr/>
          <p:nvPr/>
        </p:nvSpPr>
        <p:spPr>
          <a:xfrm>
            <a:off x="604520" y="220472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25: LVDS 接收"/>
          <p:cNvSpPr txBox="1"/>
          <p:nvPr/>
        </p:nvSpPr>
        <p:spPr>
          <a:xfrm>
            <a:off x="725424" y="2232599"/>
            <a:ext cx="115570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LVDS 接收</a:t>
            </a:r>
          </a:p>
        </p:txBody>
      </p:sp>
      <p:sp>
        <p:nvSpPr>
          <p:cNvPr id="20" name="text-026: 解串 / 像素打包"/>
          <p:cNvSpPr txBox="1"/>
          <p:nvPr/>
        </p:nvSpPr>
        <p:spPr>
          <a:xfrm>
            <a:off x="725424" y="2511674"/>
            <a:ext cx="146400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解串 / 像素打包</a:t>
            </a:r>
          </a:p>
        </p:txBody>
      </p:sp>
      <p:sp>
        <p:nvSpPr>
          <p:cNvPr id="21" name="text-027: 源同步采样 / 跨域 FIFO"/>
          <p:cNvSpPr txBox="1"/>
          <p:nvPr/>
        </p:nvSpPr>
        <p:spPr>
          <a:xfrm>
            <a:off x="725424" y="2725034"/>
            <a:ext cx="215920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源同步采样 / 跨域 FIFO</a:t>
            </a:r>
          </a:p>
        </p:txBody>
      </p:sp>
      <p:sp>
        <p:nvSpPr>
          <p:cNvPr id="22" name="rect-028"/>
          <p:cNvSpPr/>
          <p:nvPr/>
        </p:nvSpPr>
        <p:spPr>
          <a:xfrm>
            <a:off x="3556000" y="2204720"/>
            <a:ext cx="248920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9"/>
          <p:cNvSpPr/>
          <p:nvPr/>
        </p:nvSpPr>
        <p:spPr>
          <a:xfrm>
            <a:off x="3556000" y="220472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30: ISP"/>
          <p:cNvSpPr txBox="1"/>
          <p:nvPr/>
        </p:nvSpPr>
        <p:spPr>
          <a:xfrm>
            <a:off x="3676904" y="2232599"/>
            <a:ext cx="54549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ISP</a:t>
            </a:r>
          </a:p>
        </p:txBody>
      </p:sp>
      <p:sp>
        <p:nvSpPr>
          <p:cNvPr id="25" name="text-031: 行缓存与图像算法"/>
          <p:cNvSpPr txBox="1"/>
          <p:nvPr/>
        </p:nvSpPr>
        <p:spPr>
          <a:xfrm>
            <a:off x="3676904" y="2511674"/>
            <a:ext cx="14721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行缓存与图像算法</a:t>
            </a:r>
          </a:p>
        </p:txBody>
      </p:sp>
      <p:sp>
        <p:nvSpPr>
          <p:cNvPr id="26" name="text-032: 格式、位宽与边界处理"/>
          <p:cNvSpPr txBox="1"/>
          <p:nvPr/>
        </p:nvSpPr>
        <p:spPr>
          <a:xfrm>
            <a:off x="3676904" y="2725034"/>
            <a:ext cx="17993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格式、位宽与边界处理</a:t>
            </a:r>
          </a:p>
        </p:txBody>
      </p:sp>
      <p:sp>
        <p:nvSpPr>
          <p:cNvPr id="27" name="rect-033"/>
          <p:cNvSpPr/>
          <p:nvPr/>
        </p:nvSpPr>
        <p:spPr>
          <a:xfrm>
            <a:off x="6507480" y="2204720"/>
            <a:ext cx="248920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34"/>
          <p:cNvSpPr/>
          <p:nvPr/>
        </p:nvSpPr>
        <p:spPr>
          <a:xfrm>
            <a:off x="6507480" y="220472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35: 脉动阵列 / NPU"/>
          <p:cNvSpPr txBox="1"/>
          <p:nvPr/>
        </p:nvSpPr>
        <p:spPr>
          <a:xfrm>
            <a:off x="6628384" y="2232599"/>
            <a:ext cx="164571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脉动阵列 / NPU</a:t>
            </a:r>
          </a:p>
        </p:txBody>
      </p:sp>
      <p:sp>
        <p:nvSpPr>
          <p:cNvPr id="30" name="text-036: 命令与张量布局"/>
          <p:cNvSpPr txBox="1"/>
          <p:nvPr/>
        </p:nvSpPr>
        <p:spPr>
          <a:xfrm>
            <a:off x="6628384" y="251167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命令与张量布局</a:t>
            </a:r>
          </a:p>
        </p:txBody>
      </p:sp>
      <p:sp>
        <p:nvSpPr>
          <p:cNvPr id="31" name="text-037: 片上复用与 AXI 读写"/>
          <p:cNvSpPr txBox="1"/>
          <p:nvPr/>
        </p:nvSpPr>
        <p:spPr>
          <a:xfrm>
            <a:off x="6628384" y="2725034"/>
            <a:ext cx="184023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片上复用与 AXI 读写</a:t>
            </a:r>
          </a:p>
        </p:txBody>
      </p:sp>
      <p:sp>
        <p:nvSpPr>
          <p:cNvPr id="32" name="rect-038"/>
          <p:cNvSpPr/>
          <p:nvPr/>
        </p:nvSpPr>
        <p:spPr>
          <a:xfrm>
            <a:off x="9458960" y="2204720"/>
            <a:ext cx="248920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9"/>
          <p:cNvSpPr/>
          <p:nvPr/>
        </p:nvSpPr>
        <p:spPr>
          <a:xfrm>
            <a:off x="9458960" y="220472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40: CPU / Ara"/>
          <p:cNvSpPr txBox="1"/>
          <p:nvPr/>
        </p:nvSpPr>
        <p:spPr>
          <a:xfrm>
            <a:off x="9579864" y="2232599"/>
            <a:ext cx="126664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CPU / Ara</a:t>
            </a:r>
          </a:p>
        </p:txBody>
      </p:sp>
      <p:sp>
        <p:nvSpPr>
          <p:cNvPr id="35" name="text-041: 调度与后处理"/>
          <p:cNvSpPr txBox="1"/>
          <p:nvPr/>
        </p:nvSpPr>
        <p:spPr>
          <a:xfrm>
            <a:off x="9579864" y="2511674"/>
            <a:ext cx="114503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调度与后处理</a:t>
            </a:r>
          </a:p>
        </p:txBody>
      </p:sp>
      <p:sp>
        <p:nvSpPr>
          <p:cNvPr id="36" name="text-042: 结果核对 / 下一阶段"/>
          <p:cNvSpPr txBox="1"/>
          <p:nvPr/>
        </p:nvSpPr>
        <p:spPr>
          <a:xfrm>
            <a:off x="9579864" y="2725034"/>
            <a:ext cx="179115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结果核对 / 下一阶段</a:t>
            </a:r>
          </a:p>
        </p:txBody>
      </p:sp>
      <p:sp>
        <p:nvSpPr>
          <p:cNvPr id="37" name="rect-043"/>
          <p:cNvSpPr/>
          <p:nvPr/>
        </p:nvSpPr>
        <p:spPr>
          <a:xfrm>
            <a:off x="2418080" y="5085080"/>
            <a:ext cx="796544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44"/>
          <p:cNvSpPr/>
          <p:nvPr/>
        </p:nvSpPr>
        <p:spPr>
          <a:xfrm>
            <a:off x="2418080" y="508508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45: 共享帧 / 张量缓冲 → AXI4 DDR 子系统"/>
          <p:cNvSpPr txBox="1"/>
          <p:nvPr/>
        </p:nvSpPr>
        <p:spPr>
          <a:xfrm>
            <a:off x="2538984" y="5112959"/>
            <a:ext cx="390164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共享帧 / 张量缓冲 → AXI4 DDR 子系统</a:t>
            </a:r>
          </a:p>
        </p:txBody>
      </p:sp>
      <p:sp>
        <p:nvSpPr>
          <p:cNvPr id="40" name="text-046: NPU / ISP 数据旁路 LLC：需新增互连、仲裁、ID 与 CDC 契约"/>
          <p:cNvSpPr txBox="1"/>
          <p:nvPr/>
        </p:nvSpPr>
        <p:spPr>
          <a:xfrm>
            <a:off x="2538984" y="5384353"/>
            <a:ext cx="551322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NPU / ISP 数据旁路 LLC：需新增互连、仲裁、ID 与 CDC 契约</a:t>
            </a:r>
          </a:p>
        </p:txBody>
      </p:sp>
      <p:sp>
        <p:nvSpPr>
          <p:cNvPr id="41" name="text-047: 所有权、可见性、QoS、背压、异常恢复与带宽预算需联合设计"/>
          <p:cNvSpPr txBox="1"/>
          <p:nvPr/>
        </p:nvSpPr>
        <p:spPr>
          <a:xfrm>
            <a:off x="2538984" y="5597713"/>
            <a:ext cx="494141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所有权、可见性、QoS、背压、异常恢复与带宽预算需联合设计</a:t>
            </a:r>
          </a:p>
        </p:txBody>
      </p:sp>
      <p:sp>
        <p:nvSpPr>
          <p:cNvPr id="42" name="rect-048"/>
          <p:cNvSpPr/>
          <p:nvPr/>
        </p:nvSpPr>
        <p:spPr>
          <a:xfrm>
            <a:off x="391160" y="6578600"/>
            <a:ext cx="12019280" cy="711200"/>
          </a:xfrm>
          <a:prstGeom prst="roundRect">
            <a:avLst>
              <a:gd name="adj" fmla="val 70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9"/>
          <p:cNvSpPr/>
          <p:nvPr/>
        </p:nvSpPr>
        <p:spPr>
          <a:xfrm>
            <a:off x="391160" y="6578600"/>
            <a:ext cx="35560" cy="7112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50: 工程实施边界"/>
          <p:cNvSpPr txBox="1"/>
          <p:nvPr/>
        </p:nvSpPr>
        <p:spPr>
          <a:xfrm>
            <a:off x="512064" y="660647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工程实施边界</a:t>
            </a:r>
          </a:p>
        </p:txBody>
      </p:sp>
      <p:sp>
        <p:nvSpPr>
          <p:cNvPr id="45" name="text-051: 独立 cheshire_ara_asic/、固定配置、静态清单；Bender 至"/>
          <p:cNvSpPr txBox="1"/>
          <p:nvPr/>
        </p:nvSpPr>
        <p:spPr>
          <a:xfrm>
            <a:off x="512064" y="6893235"/>
            <a:ext cx="890280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 cheshire_ara_asic/、固定配置、静态清单；Bender 至多用于一次性离线解析。图中系统仍需正式提取与验证。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