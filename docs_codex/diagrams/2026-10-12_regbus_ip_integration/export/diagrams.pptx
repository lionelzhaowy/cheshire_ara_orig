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0080625" cy="54879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93" d="100"/>
          <a:sy n="193" d="100"/>
        </p:scale>
        <p:origin x="312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-001"/>
          <p:cNvSpPr/>
          <p:nvPr/>
        </p:nvSpPr>
        <p:spPr>
          <a:xfrm>
            <a:off x="0" y="0"/>
            <a:ext cx="10080000" cy="54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-002: ① Regbus 全路径：现有互连 + 自有 IP 接入边界"/>
          <p:cNvSpPr txBox="1"/>
          <p:nvPr/>
        </p:nvSpPr>
        <p:spPr>
          <a:xfrm>
            <a:off x="196000" y="70560"/>
            <a:ext cx="3775572" cy="2688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① Regbus 全路径：现有互连 + 自有 IP 接入边界</a:t>
            </a:r>
          </a:p>
        </p:txBody>
      </p:sp>
      <p:sp>
        <p:nvSpPr>
          <p:cNvPr id="4" name="text-003: 蓝色双向线 = 请求向右 / 响应返回；棕色虚线 = 地址与选择；虚线边框 = "/>
          <p:cNvSpPr txBox="1"/>
          <p:nvPr/>
        </p:nvSpPr>
        <p:spPr>
          <a:xfrm>
            <a:off x="196000" y="358848"/>
            <a:ext cx="5069138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174"/>
                </a:solidFill>
                <a:latin typeface="WenQuanYi Zen Hei"/>
                <a:ea typeface="WenQuanYi Zen Hei"/>
                <a:cs typeface="WenQuanYi Zen Hei"/>
              </a:rPr>
              <a:t>蓝色双向线 = 请求向右 / 响应返回；棕色虚线 = 地址与选择；虚线边框 = 拟新增。</a:t>
            </a:r>
          </a:p>
        </p:txBody>
      </p:sp>
      <p:sp>
        <p:nvSpPr>
          <p:cNvPr id="5" name="rect-004"/>
          <p:cNvSpPr/>
          <p:nvPr/>
        </p:nvSpPr>
        <p:spPr>
          <a:xfrm>
            <a:off x="1232000" y="840000"/>
            <a:ext cx="8652000" cy="3276000"/>
          </a:xfrm>
          <a:prstGeom prst="rect">
            <a:avLst/>
          </a:prstGeom>
          <a:solidFill>
            <a:srgbClr val="FFFFFF"/>
          </a:solidFill>
          <a:ln w="112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-005: Cheshire 内部互连与寄存器目标：clk_i / rst_ni"/>
          <p:cNvSpPr txBox="1"/>
          <p:nvPr/>
        </p:nvSpPr>
        <p:spPr>
          <a:xfrm>
            <a:off x="1372000" y="901600"/>
            <a:ext cx="3033380" cy="2240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Cheshire 内部互连与寄存器目标：clk_i / rst_ni</a:t>
            </a:r>
          </a:p>
        </p:txBody>
      </p:sp>
      <p:sp>
        <p:nvSpPr>
          <p:cNvPr id="7" name="rect-006"/>
          <p:cNvSpPr/>
          <p:nvPr/>
        </p:nvSpPr>
        <p:spPr>
          <a:xfrm>
            <a:off x="140000" y="1848000"/>
            <a:ext cx="868000" cy="588000"/>
          </a:xfrm>
          <a:prstGeom prst="rect">
            <a:avLst/>
          </a:prstGeom>
          <a:solidFill>
            <a:srgbClr val="F1F5F9"/>
          </a:solidFill>
          <a:ln w="112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-007: CPU 等"/>
          <p:cNvSpPr txBox="1"/>
          <p:nvPr/>
        </p:nvSpPr>
        <p:spPr>
          <a:xfrm>
            <a:off x="297259" y="1893248"/>
            <a:ext cx="553481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CPU 等</a:t>
            </a:r>
          </a:p>
        </p:txBody>
      </p:sp>
      <p:sp>
        <p:nvSpPr>
          <p:cNvPr id="9" name="text-008: AXI 发起端"/>
          <p:cNvSpPr txBox="1"/>
          <p:nvPr/>
        </p:nvSpPr>
        <p:spPr>
          <a:xfrm>
            <a:off x="193769" y="2072448"/>
            <a:ext cx="760462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AXI 发起端</a:t>
            </a:r>
          </a:p>
        </p:txBody>
      </p:sp>
      <p:sp>
        <p:nvSpPr>
          <p:cNvPr id="10" name="rect-009"/>
          <p:cNvSpPr/>
          <p:nvPr/>
        </p:nvSpPr>
        <p:spPr>
          <a:xfrm>
            <a:off x="1400000" y="1764000"/>
            <a:ext cx="1008000" cy="784000"/>
          </a:xfrm>
          <a:prstGeom prst="rect">
            <a:avLst/>
          </a:prstGeom>
          <a:solidFill>
            <a:srgbClr val="F1F5F9"/>
          </a:solidFill>
          <a:ln w="112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-010: 主 AXI"/>
          <p:cNvSpPr txBox="1"/>
          <p:nvPr/>
        </p:nvSpPr>
        <p:spPr>
          <a:xfrm>
            <a:off x="1658169" y="1809248"/>
            <a:ext cx="491662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主 AXI</a:t>
            </a:r>
          </a:p>
        </p:txBody>
      </p:sp>
      <p:sp>
        <p:nvSpPr>
          <p:cNvPr id="12" name="text-011: Crossbar"/>
          <p:cNvSpPr txBox="1"/>
          <p:nvPr/>
        </p:nvSpPr>
        <p:spPr>
          <a:xfrm>
            <a:off x="1573775" y="1988448"/>
            <a:ext cx="660450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Crossbar</a:t>
            </a:r>
          </a:p>
        </p:txBody>
      </p:sp>
      <p:sp>
        <p:nvSpPr>
          <p:cNvPr id="13" name="text-012: 第一级选路"/>
          <p:cNvSpPr txBox="1"/>
          <p:nvPr/>
        </p:nvSpPr>
        <p:spPr>
          <a:xfrm>
            <a:off x="1500800" y="2167648"/>
            <a:ext cx="806400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第一级选路</a:t>
            </a:r>
          </a:p>
        </p:txBody>
      </p:sp>
      <p:sp>
        <p:nvSpPr>
          <p:cNvPr id="14" name="polyline-013"/>
          <p:cNvSpPr/>
          <p:nvPr/>
        </p:nvSpPr>
        <p:spPr>
          <a:xfrm>
            <a:off x="1008000" y="2156000"/>
            <a:ext cx="392000" cy="1"/>
          </a:xfrm>
          <a:custGeom>
            <a:avLst/>
            <a:gdLst/>
            <a:ahLst/>
            <a:cxnLst/>
            <a:rect l="0" t="0" r="r" b="b"/>
            <a:pathLst>
              <a:path w="392000" h="1">
                <a:moveTo>
                  <a:pt x="0" y="0"/>
                </a:moveTo>
                <a:lnTo>
                  <a:pt x="392000" y="0"/>
                </a:lnTo>
              </a:path>
            </a:pathLst>
          </a:custGeom>
          <a:noFill/>
          <a:ln w="1680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polygon-014"/>
          <p:cNvSpPr/>
          <p:nvPr/>
        </p:nvSpPr>
        <p:spPr>
          <a:xfrm>
            <a:off x="1338400" y="2130800"/>
            <a:ext cx="61600" cy="50400"/>
          </a:xfrm>
          <a:custGeom>
            <a:avLst/>
            <a:gdLst/>
            <a:ahLst/>
            <a:cxnLst/>
            <a:rect l="0" t="0" r="r" b="b"/>
            <a:pathLst>
              <a:path w="61600" h="50400">
                <a:moveTo>
                  <a:pt x="61600" y="25200"/>
                </a:moveTo>
                <a:lnTo>
                  <a:pt x="0" y="0"/>
                </a:lnTo>
                <a:lnTo>
                  <a:pt x="0" y="5040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polygon-015"/>
          <p:cNvSpPr/>
          <p:nvPr/>
        </p:nvSpPr>
        <p:spPr>
          <a:xfrm>
            <a:off x="1008000" y="2130800"/>
            <a:ext cx="61600" cy="50400"/>
          </a:xfrm>
          <a:custGeom>
            <a:avLst/>
            <a:gdLst/>
            <a:ahLst/>
            <a:cxnLst/>
            <a:rect l="0" t="0" r="r" b="b"/>
            <a:pathLst>
              <a:path w="61600" h="50400">
                <a:moveTo>
                  <a:pt x="0" y="25200"/>
                </a:moveTo>
                <a:lnTo>
                  <a:pt x="61600" y="50400"/>
                </a:lnTo>
                <a:lnTo>
                  <a:pt x="61600" y="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-016"/>
          <p:cNvSpPr/>
          <p:nvPr/>
        </p:nvSpPr>
        <p:spPr>
          <a:xfrm>
            <a:off x="2800000" y="1596000"/>
            <a:ext cx="1960000" cy="1092000"/>
          </a:xfrm>
          <a:prstGeom prst="rect">
            <a:avLst/>
          </a:prstGeom>
          <a:solidFill>
            <a:srgbClr val="F1F5F9"/>
          </a:solidFill>
          <a:ln w="112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-017: 现有 AXI → Regbus 通路"/>
          <p:cNvSpPr txBox="1"/>
          <p:nvPr/>
        </p:nvSpPr>
        <p:spPr>
          <a:xfrm>
            <a:off x="2986134" y="1641248"/>
            <a:ext cx="1587731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现有 AXI → Regbus 通路</a:t>
            </a:r>
          </a:p>
        </p:txBody>
      </p:sp>
      <p:sp>
        <p:nvSpPr>
          <p:cNvPr id="19" name="text-018: i_reg_atomics"/>
          <p:cNvSpPr txBox="1"/>
          <p:nvPr/>
        </p:nvSpPr>
        <p:spPr>
          <a:xfrm>
            <a:off x="3306056" y="1820448"/>
            <a:ext cx="947888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i_reg_atomics</a:t>
            </a:r>
          </a:p>
        </p:txBody>
      </p:sp>
      <p:sp>
        <p:nvSpPr>
          <p:cNvPr id="20" name="text-019: → i_reg_atomics_cut"/>
          <p:cNvSpPr txBox="1"/>
          <p:nvPr/>
        </p:nvSpPr>
        <p:spPr>
          <a:xfrm>
            <a:off x="3095203" y="1999648"/>
            <a:ext cx="1369594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→ i_reg_atomics_cut</a:t>
            </a:r>
          </a:p>
        </p:txBody>
      </p:sp>
      <p:sp>
        <p:nvSpPr>
          <p:cNvPr id="21" name="text-020: → i_axi_to_reg_v2"/>
          <p:cNvSpPr txBox="1"/>
          <p:nvPr/>
        </p:nvSpPr>
        <p:spPr>
          <a:xfrm>
            <a:off x="3174347" y="2178848"/>
            <a:ext cx="1211306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→ i_axi_to_reg_v2</a:t>
            </a:r>
          </a:p>
        </p:txBody>
      </p:sp>
      <p:sp>
        <p:nvSpPr>
          <p:cNvPr id="22" name="text-021: 64-bit AXI → 32-bit Reg"/>
          <p:cNvSpPr txBox="1"/>
          <p:nvPr/>
        </p:nvSpPr>
        <p:spPr>
          <a:xfrm>
            <a:off x="3013303" y="2358048"/>
            <a:ext cx="1533394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64-bit AXI → 32-bit Reg</a:t>
            </a:r>
          </a:p>
        </p:txBody>
      </p:sp>
      <p:sp>
        <p:nvSpPr>
          <p:cNvPr id="23" name="polyline-022"/>
          <p:cNvSpPr/>
          <p:nvPr/>
        </p:nvSpPr>
        <p:spPr>
          <a:xfrm>
            <a:off x="2408000" y="2156000"/>
            <a:ext cx="392000" cy="1"/>
          </a:xfrm>
          <a:custGeom>
            <a:avLst/>
            <a:gdLst/>
            <a:ahLst/>
            <a:cxnLst/>
            <a:rect l="0" t="0" r="r" b="b"/>
            <a:pathLst>
              <a:path w="392000" h="1">
                <a:moveTo>
                  <a:pt x="0" y="0"/>
                </a:moveTo>
                <a:lnTo>
                  <a:pt x="392000" y="0"/>
                </a:lnTo>
              </a:path>
            </a:pathLst>
          </a:custGeom>
          <a:noFill/>
          <a:ln w="1680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polygon-023"/>
          <p:cNvSpPr/>
          <p:nvPr/>
        </p:nvSpPr>
        <p:spPr>
          <a:xfrm>
            <a:off x="2738400" y="2130800"/>
            <a:ext cx="61600" cy="50400"/>
          </a:xfrm>
          <a:custGeom>
            <a:avLst/>
            <a:gdLst/>
            <a:ahLst/>
            <a:cxnLst/>
            <a:rect l="0" t="0" r="r" b="b"/>
            <a:pathLst>
              <a:path w="61600" h="50400">
                <a:moveTo>
                  <a:pt x="61600" y="25200"/>
                </a:moveTo>
                <a:lnTo>
                  <a:pt x="0" y="0"/>
                </a:lnTo>
                <a:lnTo>
                  <a:pt x="0" y="5040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polygon-024"/>
          <p:cNvSpPr/>
          <p:nvPr/>
        </p:nvSpPr>
        <p:spPr>
          <a:xfrm>
            <a:off x="2408000" y="2130800"/>
            <a:ext cx="61600" cy="50400"/>
          </a:xfrm>
          <a:custGeom>
            <a:avLst/>
            <a:gdLst/>
            <a:ahLst/>
            <a:cxnLst/>
            <a:rect l="0" t="0" r="r" b="b"/>
            <a:pathLst>
              <a:path w="61600" h="50400">
                <a:moveTo>
                  <a:pt x="0" y="25200"/>
                </a:moveTo>
                <a:lnTo>
                  <a:pt x="61600" y="50400"/>
                </a:lnTo>
                <a:lnTo>
                  <a:pt x="61600" y="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-025: AxiOut.reg_demux"/>
          <p:cNvSpPr txBox="1"/>
          <p:nvPr/>
        </p:nvSpPr>
        <p:spPr>
          <a:xfrm>
            <a:off x="2520000" y="1378496"/>
            <a:ext cx="1132171" cy="2060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AxiOut.reg_demux</a:t>
            </a:r>
          </a:p>
        </p:txBody>
      </p:sp>
      <p:sp>
        <p:nvSpPr>
          <p:cNvPr id="27" name="rect-026"/>
          <p:cNvSpPr/>
          <p:nvPr/>
        </p:nvSpPr>
        <p:spPr>
          <a:xfrm>
            <a:off x="5600000" y="1764000"/>
            <a:ext cx="1344000" cy="840000"/>
          </a:xfrm>
          <a:prstGeom prst="rect">
            <a:avLst/>
          </a:prstGeom>
          <a:solidFill>
            <a:srgbClr val="F1F5F9"/>
          </a:solidFill>
          <a:ln w="112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-027: i_reg_demux"/>
          <p:cNvSpPr txBox="1"/>
          <p:nvPr/>
        </p:nvSpPr>
        <p:spPr>
          <a:xfrm>
            <a:off x="5836972" y="1809248"/>
            <a:ext cx="870056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i_reg_demux</a:t>
            </a:r>
          </a:p>
        </p:txBody>
      </p:sp>
      <p:sp>
        <p:nvSpPr>
          <p:cNvPr id="29" name="text-028: 请求分发"/>
          <p:cNvSpPr txBox="1"/>
          <p:nvPr/>
        </p:nvSpPr>
        <p:spPr>
          <a:xfrm>
            <a:off x="5936000" y="1988448"/>
            <a:ext cx="672000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请求分发</a:t>
            </a:r>
          </a:p>
        </p:txBody>
      </p:sp>
      <p:sp>
        <p:nvSpPr>
          <p:cNvPr id="30" name="text-029: 响应选择"/>
          <p:cNvSpPr txBox="1"/>
          <p:nvPr/>
        </p:nvSpPr>
        <p:spPr>
          <a:xfrm>
            <a:off x="5936000" y="2167648"/>
            <a:ext cx="672000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响应选择</a:t>
            </a:r>
          </a:p>
        </p:txBody>
      </p:sp>
      <p:sp>
        <p:nvSpPr>
          <p:cNvPr id="31" name="polyline-030"/>
          <p:cNvSpPr/>
          <p:nvPr/>
        </p:nvSpPr>
        <p:spPr>
          <a:xfrm>
            <a:off x="4760000" y="2156000"/>
            <a:ext cx="840000" cy="1"/>
          </a:xfrm>
          <a:custGeom>
            <a:avLst/>
            <a:gdLst/>
            <a:ahLst/>
            <a:cxnLst/>
            <a:rect l="0" t="0" r="r" b="b"/>
            <a:pathLst>
              <a:path w="840000" h="1">
                <a:moveTo>
                  <a:pt x="0" y="0"/>
                </a:moveTo>
                <a:lnTo>
                  <a:pt x="840000" y="0"/>
                </a:lnTo>
              </a:path>
            </a:pathLst>
          </a:custGeom>
          <a:noFill/>
          <a:ln w="1680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polygon-031"/>
          <p:cNvSpPr/>
          <p:nvPr/>
        </p:nvSpPr>
        <p:spPr>
          <a:xfrm>
            <a:off x="5538400" y="2130800"/>
            <a:ext cx="61600" cy="50400"/>
          </a:xfrm>
          <a:custGeom>
            <a:avLst/>
            <a:gdLst/>
            <a:ahLst/>
            <a:cxnLst/>
            <a:rect l="0" t="0" r="r" b="b"/>
            <a:pathLst>
              <a:path w="61600" h="50400">
                <a:moveTo>
                  <a:pt x="61600" y="25200"/>
                </a:moveTo>
                <a:lnTo>
                  <a:pt x="0" y="0"/>
                </a:lnTo>
                <a:lnTo>
                  <a:pt x="0" y="5040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polygon-032"/>
          <p:cNvSpPr/>
          <p:nvPr/>
        </p:nvSpPr>
        <p:spPr>
          <a:xfrm>
            <a:off x="4760000" y="2130800"/>
            <a:ext cx="61600" cy="50400"/>
          </a:xfrm>
          <a:custGeom>
            <a:avLst/>
            <a:gdLst/>
            <a:ahLst/>
            <a:cxnLst/>
            <a:rect l="0" t="0" r="r" b="b"/>
            <a:pathLst>
              <a:path w="61600" h="50400">
                <a:moveTo>
                  <a:pt x="0" y="25200"/>
                </a:moveTo>
                <a:lnTo>
                  <a:pt x="61600" y="50400"/>
                </a:lnTo>
                <a:lnTo>
                  <a:pt x="61600" y="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-033: Regbus"/>
          <p:cNvSpPr txBox="1"/>
          <p:nvPr/>
        </p:nvSpPr>
        <p:spPr>
          <a:xfrm>
            <a:off x="5068000" y="2234848"/>
            <a:ext cx="571988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Regbus</a:t>
            </a:r>
          </a:p>
        </p:txBody>
      </p:sp>
      <p:sp>
        <p:nvSpPr>
          <p:cNvPr id="35" name="rect-034"/>
          <p:cNvSpPr/>
          <p:nvPr/>
        </p:nvSpPr>
        <p:spPr>
          <a:xfrm>
            <a:off x="5600000" y="1120000"/>
            <a:ext cx="1344000" cy="420000"/>
          </a:xfrm>
          <a:prstGeom prst="rect">
            <a:avLst/>
          </a:prstGeom>
          <a:solidFill>
            <a:srgbClr val="F8F0E6"/>
          </a:solidFill>
          <a:ln w="112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-035: 地址解码 RegMap"/>
          <p:cNvSpPr txBox="1"/>
          <p:nvPr/>
        </p:nvSpPr>
        <p:spPr>
          <a:xfrm>
            <a:off x="5676912" y="1165248"/>
            <a:ext cx="1190175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地址解码 RegMap</a:t>
            </a:r>
          </a:p>
        </p:txBody>
      </p:sp>
      <p:sp>
        <p:nvSpPr>
          <p:cNvPr id="37" name="polyline-036"/>
          <p:cNvSpPr/>
          <p:nvPr/>
        </p:nvSpPr>
        <p:spPr>
          <a:xfrm>
            <a:off x="4956000" y="1316000"/>
            <a:ext cx="644000" cy="840000"/>
          </a:xfrm>
          <a:custGeom>
            <a:avLst/>
            <a:gdLst/>
            <a:ahLst/>
            <a:cxnLst/>
            <a:rect l="0" t="0" r="r" b="b"/>
            <a:pathLst>
              <a:path w="644000" h="840000">
                <a:moveTo>
                  <a:pt x="0" y="840000"/>
                </a:moveTo>
                <a:lnTo>
                  <a:pt x="0" y="0"/>
                </a:lnTo>
                <a:lnTo>
                  <a:pt x="644000" y="0"/>
                </a:lnTo>
              </a:path>
            </a:pathLst>
          </a:custGeom>
          <a:noFill/>
          <a:ln w="13440" cap="flat">
            <a:solidFill>
              <a:srgbClr val="925021"/>
            </a:solidFill>
            <a:custDash>
              <a:ds d="333333" sp="208333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polygon-037"/>
          <p:cNvSpPr/>
          <p:nvPr/>
        </p:nvSpPr>
        <p:spPr>
          <a:xfrm>
            <a:off x="5538400" y="1290800"/>
            <a:ext cx="61600" cy="50400"/>
          </a:xfrm>
          <a:custGeom>
            <a:avLst/>
            <a:gdLst/>
            <a:ahLst/>
            <a:cxnLst/>
            <a:rect l="0" t="0" r="r" b="b"/>
            <a:pathLst>
              <a:path w="61600" h="50400">
                <a:moveTo>
                  <a:pt x="61600" y="25200"/>
                </a:moveTo>
                <a:lnTo>
                  <a:pt x="0" y="0"/>
                </a:lnTo>
                <a:lnTo>
                  <a:pt x="0" y="50400"/>
                </a:lnTo>
                <a:close/>
              </a:path>
            </a:pathLst>
          </a:custGeom>
          <a:solidFill>
            <a:srgbClr val="9250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circle-038"/>
          <p:cNvSpPr/>
          <p:nvPr/>
        </p:nvSpPr>
        <p:spPr>
          <a:xfrm>
            <a:off x="4933600" y="2133600"/>
            <a:ext cx="44800" cy="44800"/>
          </a:xfrm>
          <a:prstGeom prst="ellipse">
            <a:avLst/>
          </a:prstGeom>
          <a:solidFill>
            <a:srgbClr val="9250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-039: addr"/>
          <p:cNvSpPr txBox="1"/>
          <p:nvPr/>
        </p:nvSpPr>
        <p:spPr>
          <a:xfrm>
            <a:off x="4900000" y="1070496"/>
            <a:ext cx="378228" cy="2060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addr</a:t>
            </a:r>
          </a:p>
        </p:txBody>
      </p:sp>
      <p:sp>
        <p:nvSpPr>
          <p:cNvPr id="41" name="polyline-040"/>
          <p:cNvSpPr/>
          <p:nvPr/>
        </p:nvSpPr>
        <p:spPr>
          <a:xfrm>
            <a:off x="6272000" y="1540000"/>
            <a:ext cx="1" cy="224000"/>
          </a:xfrm>
          <a:custGeom>
            <a:avLst/>
            <a:gdLst/>
            <a:ahLst/>
            <a:cxnLst/>
            <a:rect l="0" t="0" r="r" b="b"/>
            <a:pathLst>
              <a:path w="1" h="224000">
                <a:moveTo>
                  <a:pt x="0" y="0"/>
                </a:moveTo>
                <a:lnTo>
                  <a:pt x="0" y="224000"/>
                </a:lnTo>
              </a:path>
            </a:pathLst>
          </a:custGeom>
          <a:noFill/>
          <a:ln w="13440" cap="flat">
            <a:solidFill>
              <a:srgbClr val="925021"/>
            </a:solidFill>
            <a:custDash>
              <a:ds d="333333" sp="208333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polygon-041"/>
          <p:cNvSpPr/>
          <p:nvPr/>
        </p:nvSpPr>
        <p:spPr>
          <a:xfrm>
            <a:off x="6246800" y="1702400"/>
            <a:ext cx="50400" cy="61600"/>
          </a:xfrm>
          <a:custGeom>
            <a:avLst/>
            <a:gdLst/>
            <a:ahLst/>
            <a:cxnLst/>
            <a:rect l="0" t="0" r="r" b="b"/>
            <a:pathLst>
              <a:path w="50400" h="61600">
                <a:moveTo>
                  <a:pt x="25200" y="61600"/>
                </a:moveTo>
                <a:lnTo>
                  <a:pt x="50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9250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-042: reg_select"/>
          <p:cNvSpPr txBox="1"/>
          <p:nvPr/>
        </p:nvSpPr>
        <p:spPr>
          <a:xfrm>
            <a:off x="6440000" y="1546944"/>
            <a:ext cx="676874" cy="1971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reg_select</a:t>
            </a:r>
          </a:p>
        </p:txBody>
      </p:sp>
      <p:sp>
        <p:nvSpPr>
          <p:cNvPr id="44" name="rect-043"/>
          <p:cNvSpPr/>
          <p:nvPr/>
        </p:nvSpPr>
        <p:spPr>
          <a:xfrm>
            <a:off x="7840000" y="1204000"/>
            <a:ext cx="1792000" cy="504000"/>
          </a:xfrm>
          <a:prstGeom prst="rect">
            <a:avLst/>
          </a:prstGeom>
          <a:solidFill>
            <a:srgbClr val="F1F5F9"/>
          </a:solidFill>
          <a:ln w="112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-044: 片内寄存器目标"/>
          <p:cNvSpPr txBox="1"/>
          <p:nvPr/>
        </p:nvSpPr>
        <p:spPr>
          <a:xfrm>
            <a:off x="8198400" y="1249248"/>
            <a:ext cx="1075200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片内寄存器目标</a:t>
            </a:r>
          </a:p>
        </p:txBody>
      </p:sp>
      <p:sp>
        <p:nvSpPr>
          <p:cNvPr id="46" name="text-045: SoC / UART / GPIO / …"/>
          <p:cNvSpPr txBox="1"/>
          <p:nvPr/>
        </p:nvSpPr>
        <p:spPr>
          <a:xfrm>
            <a:off x="7957097" y="1428448"/>
            <a:ext cx="1557806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SoC / UART / GPIO / …</a:t>
            </a:r>
          </a:p>
        </p:txBody>
      </p:sp>
      <p:sp>
        <p:nvSpPr>
          <p:cNvPr id="47" name="rect-046"/>
          <p:cNvSpPr/>
          <p:nvPr/>
        </p:nvSpPr>
        <p:spPr>
          <a:xfrm>
            <a:off x="7840000" y="2100000"/>
            <a:ext cx="1792000" cy="504000"/>
          </a:xfrm>
          <a:prstGeom prst="rect">
            <a:avLst/>
          </a:prstGeom>
          <a:solidFill>
            <a:srgbClr val="F1F5F9"/>
          </a:solidFill>
          <a:ln w="112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-047: i_reg_err_slv"/>
          <p:cNvSpPr txBox="1"/>
          <p:nvPr/>
        </p:nvSpPr>
        <p:spPr>
          <a:xfrm>
            <a:off x="8300972" y="2145248"/>
            <a:ext cx="870056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i_reg_err_slv</a:t>
            </a:r>
          </a:p>
        </p:txBody>
      </p:sp>
      <p:sp>
        <p:nvSpPr>
          <p:cNvPr id="49" name="text-048: 未命中：ready=1, error=1"/>
          <p:cNvSpPr txBox="1"/>
          <p:nvPr/>
        </p:nvSpPr>
        <p:spPr>
          <a:xfrm>
            <a:off x="7903350" y="2324448"/>
            <a:ext cx="1665300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未命中：ready=1, error=1</a:t>
            </a:r>
          </a:p>
        </p:txBody>
      </p:sp>
      <p:sp>
        <p:nvSpPr>
          <p:cNvPr id="50" name="rect-049"/>
          <p:cNvSpPr/>
          <p:nvPr/>
        </p:nvSpPr>
        <p:spPr>
          <a:xfrm>
            <a:off x="7840000" y="3024000"/>
            <a:ext cx="1792000" cy="644000"/>
          </a:xfrm>
          <a:prstGeom prst="rect">
            <a:avLst/>
          </a:prstGeom>
          <a:solidFill>
            <a:srgbClr val="EDF5EB"/>
          </a:solidFill>
          <a:ln w="112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-050: 外部 Regbus 端口 [k]"/>
          <p:cNvSpPr txBox="1"/>
          <p:nvPr/>
        </p:nvSpPr>
        <p:spPr>
          <a:xfrm>
            <a:off x="8046872" y="3069248"/>
            <a:ext cx="1378256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外部 Regbus 端口 [k]</a:t>
            </a:r>
          </a:p>
        </p:txBody>
      </p:sp>
      <p:sp>
        <p:nvSpPr>
          <p:cNvPr id="52" name="text-051: reg_ext_slv_req_o[k]"/>
          <p:cNvSpPr txBox="1"/>
          <p:nvPr/>
        </p:nvSpPr>
        <p:spPr>
          <a:xfrm>
            <a:off x="8071350" y="3248448"/>
            <a:ext cx="1329300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reg_ext_slv_req_o[k]</a:t>
            </a:r>
          </a:p>
        </p:txBody>
      </p:sp>
      <p:sp>
        <p:nvSpPr>
          <p:cNvPr id="53" name="text-052: reg_ext_slv_rsp_i[k]"/>
          <p:cNvSpPr txBox="1"/>
          <p:nvPr/>
        </p:nvSpPr>
        <p:spPr>
          <a:xfrm>
            <a:off x="8092809" y="3427648"/>
            <a:ext cx="1286381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reg_ext_slv_rsp_i[k]</a:t>
            </a:r>
          </a:p>
        </p:txBody>
      </p:sp>
      <p:sp>
        <p:nvSpPr>
          <p:cNvPr id="54" name="polyline-053"/>
          <p:cNvSpPr/>
          <p:nvPr/>
        </p:nvSpPr>
        <p:spPr>
          <a:xfrm>
            <a:off x="6944000" y="1456000"/>
            <a:ext cx="896000" cy="448000"/>
          </a:xfrm>
          <a:custGeom>
            <a:avLst/>
            <a:gdLst/>
            <a:ahLst/>
            <a:cxnLst/>
            <a:rect l="0" t="0" r="r" b="b"/>
            <a:pathLst>
              <a:path w="896000" h="448000">
                <a:moveTo>
                  <a:pt x="0" y="448000"/>
                </a:moveTo>
                <a:lnTo>
                  <a:pt x="224000" y="448000"/>
                </a:lnTo>
                <a:lnTo>
                  <a:pt x="224000" y="0"/>
                </a:lnTo>
                <a:lnTo>
                  <a:pt x="896000" y="0"/>
                </a:lnTo>
              </a:path>
            </a:pathLst>
          </a:custGeom>
          <a:noFill/>
          <a:ln w="1680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polygon-054"/>
          <p:cNvSpPr/>
          <p:nvPr/>
        </p:nvSpPr>
        <p:spPr>
          <a:xfrm>
            <a:off x="7778400" y="1430800"/>
            <a:ext cx="61600" cy="50400"/>
          </a:xfrm>
          <a:custGeom>
            <a:avLst/>
            <a:gdLst/>
            <a:ahLst/>
            <a:cxnLst/>
            <a:rect l="0" t="0" r="r" b="b"/>
            <a:pathLst>
              <a:path w="61600" h="50400">
                <a:moveTo>
                  <a:pt x="61600" y="25200"/>
                </a:moveTo>
                <a:lnTo>
                  <a:pt x="0" y="0"/>
                </a:lnTo>
                <a:lnTo>
                  <a:pt x="0" y="5040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polygon-055"/>
          <p:cNvSpPr/>
          <p:nvPr/>
        </p:nvSpPr>
        <p:spPr>
          <a:xfrm>
            <a:off x="6944000" y="1878800"/>
            <a:ext cx="61600" cy="50400"/>
          </a:xfrm>
          <a:custGeom>
            <a:avLst/>
            <a:gdLst/>
            <a:ahLst/>
            <a:cxnLst/>
            <a:rect l="0" t="0" r="r" b="b"/>
            <a:pathLst>
              <a:path w="61600" h="50400">
                <a:moveTo>
                  <a:pt x="0" y="25200"/>
                </a:moveTo>
                <a:lnTo>
                  <a:pt x="61600" y="50400"/>
                </a:lnTo>
                <a:lnTo>
                  <a:pt x="61600" y="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polyline-056"/>
          <p:cNvSpPr/>
          <p:nvPr/>
        </p:nvSpPr>
        <p:spPr>
          <a:xfrm>
            <a:off x="6944000" y="2184000"/>
            <a:ext cx="896000" cy="168000"/>
          </a:xfrm>
          <a:custGeom>
            <a:avLst/>
            <a:gdLst/>
            <a:ahLst/>
            <a:cxnLst/>
            <a:rect l="0" t="0" r="r" b="b"/>
            <a:pathLst>
              <a:path w="896000" h="168000">
                <a:moveTo>
                  <a:pt x="0" y="0"/>
                </a:moveTo>
                <a:lnTo>
                  <a:pt x="448000" y="0"/>
                </a:lnTo>
                <a:lnTo>
                  <a:pt x="448000" y="168000"/>
                </a:lnTo>
                <a:lnTo>
                  <a:pt x="896000" y="168000"/>
                </a:lnTo>
              </a:path>
            </a:pathLst>
          </a:custGeom>
          <a:noFill/>
          <a:ln w="1680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polygon-057"/>
          <p:cNvSpPr/>
          <p:nvPr/>
        </p:nvSpPr>
        <p:spPr>
          <a:xfrm>
            <a:off x="7778400" y="2326800"/>
            <a:ext cx="61600" cy="50400"/>
          </a:xfrm>
          <a:custGeom>
            <a:avLst/>
            <a:gdLst/>
            <a:ahLst/>
            <a:cxnLst/>
            <a:rect l="0" t="0" r="r" b="b"/>
            <a:pathLst>
              <a:path w="61600" h="50400">
                <a:moveTo>
                  <a:pt x="61600" y="25200"/>
                </a:moveTo>
                <a:lnTo>
                  <a:pt x="0" y="0"/>
                </a:lnTo>
                <a:lnTo>
                  <a:pt x="0" y="5040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polygon-058"/>
          <p:cNvSpPr/>
          <p:nvPr/>
        </p:nvSpPr>
        <p:spPr>
          <a:xfrm>
            <a:off x="6944000" y="2158800"/>
            <a:ext cx="61600" cy="50400"/>
          </a:xfrm>
          <a:custGeom>
            <a:avLst/>
            <a:gdLst/>
            <a:ahLst/>
            <a:cxnLst/>
            <a:rect l="0" t="0" r="r" b="b"/>
            <a:pathLst>
              <a:path w="61600" h="50400">
                <a:moveTo>
                  <a:pt x="0" y="25200"/>
                </a:moveTo>
                <a:lnTo>
                  <a:pt x="61600" y="50400"/>
                </a:lnTo>
                <a:lnTo>
                  <a:pt x="61600" y="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polyline-059"/>
          <p:cNvSpPr/>
          <p:nvPr/>
        </p:nvSpPr>
        <p:spPr>
          <a:xfrm>
            <a:off x="6944000" y="2464000"/>
            <a:ext cx="896000" cy="868000"/>
          </a:xfrm>
          <a:custGeom>
            <a:avLst/>
            <a:gdLst/>
            <a:ahLst/>
            <a:cxnLst/>
            <a:rect l="0" t="0" r="r" b="b"/>
            <a:pathLst>
              <a:path w="896000" h="868000">
                <a:moveTo>
                  <a:pt x="0" y="0"/>
                </a:moveTo>
                <a:lnTo>
                  <a:pt x="644000" y="0"/>
                </a:lnTo>
                <a:lnTo>
                  <a:pt x="644000" y="868000"/>
                </a:lnTo>
                <a:lnTo>
                  <a:pt x="896000" y="868000"/>
                </a:lnTo>
              </a:path>
            </a:pathLst>
          </a:custGeom>
          <a:noFill/>
          <a:ln w="1680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polygon-060"/>
          <p:cNvSpPr/>
          <p:nvPr/>
        </p:nvSpPr>
        <p:spPr>
          <a:xfrm>
            <a:off x="7778400" y="3306800"/>
            <a:ext cx="61600" cy="50400"/>
          </a:xfrm>
          <a:custGeom>
            <a:avLst/>
            <a:gdLst/>
            <a:ahLst/>
            <a:cxnLst/>
            <a:rect l="0" t="0" r="r" b="b"/>
            <a:pathLst>
              <a:path w="61600" h="50400">
                <a:moveTo>
                  <a:pt x="61600" y="25200"/>
                </a:moveTo>
                <a:lnTo>
                  <a:pt x="0" y="0"/>
                </a:lnTo>
                <a:lnTo>
                  <a:pt x="0" y="5040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polygon-061"/>
          <p:cNvSpPr/>
          <p:nvPr/>
        </p:nvSpPr>
        <p:spPr>
          <a:xfrm>
            <a:off x="6944000" y="2438800"/>
            <a:ext cx="61600" cy="50400"/>
          </a:xfrm>
          <a:custGeom>
            <a:avLst/>
            <a:gdLst/>
            <a:ahLst/>
            <a:cxnLst/>
            <a:rect l="0" t="0" r="r" b="b"/>
            <a:pathLst>
              <a:path w="61600" h="50400">
                <a:moveTo>
                  <a:pt x="0" y="25200"/>
                </a:moveTo>
                <a:lnTo>
                  <a:pt x="61600" y="50400"/>
                </a:lnTo>
                <a:lnTo>
                  <a:pt x="61600" y="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-062: 需要配置：RegExtNumSlv / RegExtNumRules"/>
          <p:cNvSpPr txBox="1"/>
          <p:nvPr/>
        </p:nvSpPr>
        <p:spPr>
          <a:xfrm>
            <a:off x="2632000" y="2923648"/>
            <a:ext cx="2803762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需要配置：RegExtNumSlv / RegExtNumRules</a:t>
            </a:r>
          </a:p>
        </p:txBody>
      </p:sp>
      <p:sp>
        <p:nvSpPr>
          <p:cNvPr id="64" name="text-063: RegExtRegionStart / End / Idx"/>
          <p:cNvSpPr txBox="1"/>
          <p:nvPr/>
        </p:nvSpPr>
        <p:spPr>
          <a:xfrm>
            <a:off x="2632000" y="3142048"/>
            <a:ext cx="1906144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RegExtRegionStart / End / Idx</a:t>
            </a:r>
          </a:p>
        </p:txBody>
      </p:sp>
      <p:sp>
        <p:nvSpPr>
          <p:cNvPr id="65" name="text-064: gen_axi_out + gen_reg_out 自动生成两级地址规则"/>
          <p:cNvSpPr txBox="1"/>
          <p:nvPr/>
        </p:nvSpPr>
        <p:spPr>
          <a:xfrm>
            <a:off x="2632000" y="3366048"/>
            <a:ext cx="3094744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gen_axi_out + gen_reg_out 自动生成两级地址规则</a:t>
            </a:r>
          </a:p>
        </p:txBody>
      </p:sp>
      <p:sp>
        <p:nvSpPr>
          <p:cNvPr id="66" name="text-065: 默认外部端口数为 0；打开端口后，还要在外层顶层接线。"/>
          <p:cNvSpPr txBox="1"/>
          <p:nvPr/>
        </p:nvSpPr>
        <p:spPr>
          <a:xfrm>
            <a:off x="2632000" y="3685248"/>
            <a:ext cx="3615281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174"/>
                </a:solidFill>
                <a:latin typeface="WenQuanYi Zen Hei"/>
                <a:ea typeface="WenQuanYi Zen Hei"/>
                <a:cs typeface="WenQuanYi Zen Hei"/>
              </a:rPr>
              <a:t>默认外部端口数为 0；打开端口后，还要在外层顶层接线。</a:t>
            </a:r>
          </a:p>
        </p:txBody>
      </p:sp>
      <p:sp>
        <p:nvSpPr>
          <p:cNvPr id="67" name="rect-066"/>
          <p:cNvSpPr/>
          <p:nvPr/>
        </p:nvSpPr>
        <p:spPr>
          <a:xfrm>
            <a:off x="7728000" y="4508000"/>
            <a:ext cx="1960000" cy="672000"/>
          </a:xfrm>
          <a:prstGeom prst="rect">
            <a:avLst/>
          </a:prstGeom>
          <a:solidFill>
            <a:srgbClr val="EDF5EB"/>
          </a:solidFill>
          <a:ln w="11200" cap="flat">
            <a:solidFill>
              <a:srgbClr val="253447"/>
            </a:solidFill>
            <a:custDash>
              <a:ds d="400000" sp="250000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-067: 自有 IP 寄存器接口"/>
          <p:cNvSpPr txBox="1"/>
          <p:nvPr/>
        </p:nvSpPr>
        <p:spPr>
          <a:xfrm>
            <a:off x="8022297" y="4552352"/>
            <a:ext cx="1371405" cy="2329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自有 IP 寄存器接口</a:t>
            </a:r>
          </a:p>
        </p:txBody>
      </p:sp>
      <p:sp>
        <p:nvSpPr>
          <p:cNvPr id="69" name="text-068: NPU / ISP / DMA / …"/>
          <p:cNvSpPr txBox="1"/>
          <p:nvPr/>
        </p:nvSpPr>
        <p:spPr>
          <a:xfrm>
            <a:off x="7989472" y="4766048"/>
            <a:ext cx="1437056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NPU / ISP / DMA / …</a:t>
            </a:r>
          </a:p>
        </p:txBody>
      </p:sp>
      <p:sp>
        <p:nvSpPr>
          <p:cNvPr id="70" name="text-069: 内部职责见图②"/>
          <p:cNvSpPr txBox="1"/>
          <p:nvPr/>
        </p:nvSpPr>
        <p:spPr>
          <a:xfrm>
            <a:off x="8192800" y="4945696"/>
            <a:ext cx="1030400" cy="2060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内部职责见图②</a:t>
            </a:r>
          </a:p>
        </p:txBody>
      </p:sp>
      <p:sp>
        <p:nvSpPr>
          <p:cNvPr id="71" name="polyline-070"/>
          <p:cNvSpPr/>
          <p:nvPr/>
        </p:nvSpPr>
        <p:spPr>
          <a:xfrm>
            <a:off x="8736000" y="3668000"/>
            <a:ext cx="1" cy="840000"/>
          </a:xfrm>
          <a:custGeom>
            <a:avLst/>
            <a:gdLst/>
            <a:ahLst/>
            <a:cxnLst/>
            <a:rect l="0" t="0" r="r" b="b"/>
            <a:pathLst>
              <a:path w="1" h="840000">
                <a:moveTo>
                  <a:pt x="0" y="0"/>
                </a:moveTo>
                <a:lnTo>
                  <a:pt x="0" y="840000"/>
                </a:lnTo>
              </a:path>
            </a:pathLst>
          </a:custGeom>
          <a:noFill/>
          <a:ln w="1680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polygon-071"/>
          <p:cNvSpPr/>
          <p:nvPr/>
        </p:nvSpPr>
        <p:spPr>
          <a:xfrm>
            <a:off x="8710800" y="4446400"/>
            <a:ext cx="50400" cy="61600"/>
          </a:xfrm>
          <a:custGeom>
            <a:avLst/>
            <a:gdLst/>
            <a:ahLst/>
            <a:cxnLst/>
            <a:rect l="0" t="0" r="r" b="b"/>
            <a:pathLst>
              <a:path w="50400" h="61600">
                <a:moveTo>
                  <a:pt x="25200" y="61600"/>
                </a:moveTo>
                <a:lnTo>
                  <a:pt x="50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polygon-072"/>
          <p:cNvSpPr/>
          <p:nvPr/>
        </p:nvSpPr>
        <p:spPr>
          <a:xfrm>
            <a:off x="8710800" y="3668000"/>
            <a:ext cx="50400" cy="61600"/>
          </a:xfrm>
          <a:custGeom>
            <a:avLst/>
            <a:gdLst/>
            <a:ahLst/>
            <a:cxnLst/>
            <a:rect l="0" t="0" r="r" b="b"/>
            <a:pathLst>
              <a:path w="50400" h="61600">
                <a:moveTo>
                  <a:pt x="25200" y="0"/>
                </a:moveTo>
                <a:lnTo>
                  <a:pt x="0" y="61600"/>
                </a:lnTo>
                <a:lnTo>
                  <a:pt x="50400" y="6160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-073: 同域直连；异域增加 reg_cdc"/>
          <p:cNvSpPr txBox="1"/>
          <p:nvPr/>
        </p:nvSpPr>
        <p:spPr>
          <a:xfrm>
            <a:off x="6440000" y="4166848"/>
            <a:ext cx="1835400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同域直连；异域增加 reg_cdc</a:t>
            </a:r>
          </a:p>
        </p:txBody>
      </p:sp>
      <p:sp>
        <p:nvSpPr>
          <p:cNvPr id="75" name="text-074: IP 收到：addr[47:0] / write / wdata[31:0] /"/>
          <p:cNvSpPr txBox="1"/>
          <p:nvPr/>
        </p:nvSpPr>
        <p:spPr>
          <a:xfrm>
            <a:off x="224000" y="4390848"/>
            <a:ext cx="3770156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IP 收到：addr[47:0] / write / wdata[31:0] / wstrb[3:0] / valid</a:t>
            </a:r>
          </a:p>
        </p:txBody>
      </p:sp>
      <p:sp>
        <p:nvSpPr>
          <p:cNvPr id="76" name="text-075: IP 返回：rdata[31:0] / error / ready"/>
          <p:cNvSpPr txBox="1"/>
          <p:nvPr/>
        </p:nvSpPr>
        <p:spPr>
          <a:xfrm>
            <a:off x="224000" y="4620448"/>
            <a:ext cx="2245031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IP 返回：rdata[31:0] / error / ready</a:t>
            </a:r>
          </a:p>
        </p:txBody>
      </p:sp>
      <p:sp>
        <p:nvSpPr>
          <p:cNvPr id="77" name="text-076: 配置走 Regbus；图像、权重、帧数据等批量搬运走独立的数据接口。"/>
          <p:cNvSpPr txBox="1"/>
          <p:nvPr/>
        </p:nvSpPr>
        <p:spPr>
          <a:xfrm>
            <a:off x="224000" y="4917248"/>
            <a:ext cx="4241081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174"/>
                </a:solidFill>
                <a:latin typeface="WenQuanYi Zen Hei"/>
                <a:ea typeface="WenQuanYi Zen Hei"/>
                <a:cs typeface="WenQuanYi Zen Hei"/>
              </a:rPr>
              <a:t>配置走 Regbus；图像、权重、帧数据等批量搬运走独立的数据接口。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-001"/>
          <p:cNvSpPr/>
          <p:nvPr/>
        </p:nvSpPr>
        <p:spPr>
          <a:xfrm>
            <a:off x="0" y="28000"/>
            <a:ext cx="10080000" cy="5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-002: ② 自有 IP：需要实现的寄存器接口（建议结构，尚未接入）"/>
          <p:cNvSpPr txBox="1"/>
          <p:nvPr/>
        </p:nvSpPr>
        <p:spPr>
          <a:xfrm>
            <a:off x="196000" y="98560"/>
            <a:ext cx="4606385" cy="2688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② 自有 IP：需要实现的寄存器接口（建议结构，尚未接入）</a:t>
            </a:r>
          </a:p>
        </p:txBody>
      </p:sp>
      <p:sp>
        <p:nvSpPr>
          <p:cNvPr id="4" name="text-003: 本图采用同 clk_i 域示例；配置访问完成与 IP 运算完成是两个事件。"/>
          <p:cNvSpPr txBox="1"/>
          <p:nvPr/>
        </p:nvSpPr>
        <p:spPr>
          <a:xfrm>
            <a:off x="196000" y="386848"/>
            <a:ext cx="4163250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174"/>
                </a:solidFill>
                <a:latin typeface="WenQuanYi Zen Hei"/>
                <a:ea typeface="WenQuanYi Zen Hei"/>
                <a:cs typeface="WenQuanYi Zen Hei"/>
              </a:rPr>
              <a:t>本图采用同 clk_i 域示例；配置访问完成与 IP 运算完成是两个事件。</a:t>
            </a:r>
          </a:p>
        </p:txBody>
      </p:sp>
      <p:sp>
        <p:nvSpPr>
          <p:cNvPr id="5" name="rect-004"/>
          <p:cNvSpPr/>
          <p:nvPr/>
        </p:nvSpPr>
        <p:spPr>
          <a:xfrm>
            <a:off x="1904000" y="980000"/>
            <a:ext cx="5824000" cy="3556000"/>
          </a:xfrm>
          <a:prstGeom prst="rect">
            <a:avLst/>
          </a:prstGeom>
          <a:solidFill>
            <a:srgbClr val="FFFFFF"/>
          </a:solidFill>
          <a:ln w="11200" cap="flat">
            <a:solidFill>
              <a:srgbClr val="253447"/>
            </a:solidFill>
            <a:custDash>
              <a:ds d="400000" sp="250000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-005: IP 寄存器封装：可手写，或使用现有 reggen 生成"/>
          <p:cNvSpPr txBox="1"/>
          <p:nvPr/>
        </p:nvSpPr>
        <p:spPr>
          <a:xfrm>
            <a:off x="2044000" y="1047200"/>
            <a:ext cx="3171735" cy="2240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IP 寄存器封装：可手写，或使用现有 reggen 生成</a:t>
            </a:r>
          </a:p>
        </p:txBody>
      </p:sp>
      <p:sp>
        <p:nvSpPr>
          <p:cNvPr id="7" name="text-006: reg_ext_slv_req_o[k]"/>
          <p:cNvSpPr txBox="1"/>
          <p:nvPr/>
        </p:nvSpPr>
        <p:spPr>
          <a:xfrm>
            <a:off x="196000" y="1529248"/>
            <a:ext cx="1329300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reg_ext_slv_req_o[k]</a:t>
            </a:r>
          </a:p>
        </p:txBody>
      </p:sp>
      <p:sp>
        <p:nvSpPr>
          <p:cNvPr id="8" name="text-007: addr / write / wdata"/>
          <p:cNvSpPr txBox="1"/>
          <p:nvPr/>
        </p:nvSpPr>
        <p:spPr>
          <a:xfrm>
            <a:off x="196000" y="1725248"/>
            <a:ext cx="1323394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addr / write / wdata</a:t>
            </a:r>
          </a:p>
        </p:txBody>
      </p:sp>
      <p:sp>
        <p:nvSpPr>
          <p:cNvPr id="9" name="text-008: wstrb / valid"/>
          <p:cNvSpPr txBox="1"/>
          <p:nvPr/>
        </p:nvSpPr>
        <p:spPr>
          <a:xfrm>
            <a:off x="196000" y="1921248"/>
            <a:ext cx="869794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wstrb / valid</a:t>
            </a:r>
          </a:p>
        </p:txBody>
      </p:sp>
      <p:sp>
        <p:nvSpPr>
          <p:cNvPr id="10" name="polyline-009"/>
          <p:cNvSpPr/>
          <p:nvPr/>
        </p:nvSpPr>
        <p:spPr>
          <a:xfrm>
            <a:off x="252000" y="2212000"/>
            <a:ext cx="2044000" cy="1"/>
          </a:xfrm>
          <a:custGeom>
            <a:avLst/>
            <a:gdLst/>
            <a:ahLst/>
            <a:cxnLst/>
            <a:rect l="0" t="0" r="r" b="b"/>
            <a:pathLst>
              <a:path w="2044000" h="1">
                <a:moveTo>
                  <a:pt x="0" y="0"/>
                </a:moveTo>
                <a:lnTo>
                  <a:pt x="2044000" y="0"/>
                </a:lnTo>
              </a:path>
            </a:pathLst>
          </a:custGeom>
          <a:noFill/>
          <a:ln w="1344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olygon-010"/>
          <p:cNvSpPr/>
          <p:nvPr/>
        </p:nvSpPr>
        <p:spPr>
          <a:xfrm>
            <a:off x="2234400" y="2186800"/>
            <a:ext cx="61600" cy="50400"/>
          </a:xfrm>
          <a:custGeom>
            <a:avLst/>
            <a:gdLst/>
            <a:ahLst/>
            <a:cxnLst/>
            <a:rect l="0" t="0" r="r" b="b"/>
            <a:pathLst>
              <a:path w="61600" h="50400">
                <a:moveTo>
                  <a:pt x="61600" y="25200"/>
                </a:moveTo>
                <a:lnTo>
                  <a:pt x="0" y="0"/>
                </a:lnTo>
                <a:lnTo>
                  <a:pt x="0" y="5040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-011"/>
          <p:cNvSpPr/>
          <p:nvPr/>
        </p:nvSpPr>
        <p:spPr>
          <a:xfrm>
            <a:off x="2296000" y="1484000"/>
            <a:ext cx="1736000" cy="1036000"/>
          </a:xfrm>
          <a:prstGeom prst="rect">
            <a:avLst/>
          </a:prstGeom>
          <a:solidFill>
            <a:srgbClr val="F8F0E6"/>
          </a:solidFill>
          <a:ln w="112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-012: 地址译码与访问控制"/>
          <p:cNvSpPr txBox="1"/>
          <p:nvPr/>
        </p:nvSpPr>
        <p:spPr>
          <a:xfrm>
            <a:off x="2492000" y="1529248"/>
            <a:ext cx="1344000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地址译码与访问控制</a:t>
            </a:r>
          </a:p>
        </p:txBody>
      </p:sp>
      <p:sp>
        <p:nvSpPr>
          <p:cNvPr id="14" name="text-013: offset = addr - BASE"/>
          <p:cNvSpPr txBox="1"/>
          <p:nvPr/>
        </p:nvSpPr>
        <p:spPr>
          <a:xfrm>
            <a:off x="2498103" y="1708448"/>
            <a:ext cx="1331794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offset = addr - BASE</a:t>
            </a:r>
          </a:p>
        </p:txBody>
      </p:sp>
      <p:sp>
        <p:nvSpPr>
          <p:cNvPr id="15" name="text-014: fire = valid &amp; ready"/>
          <p:cNvSpPr txBox="1"/>
          <p:nvPr/>
        </p:nvSpPr>
        <p:spPr>
          <a:xfrm>
            <a:off x="2543844" y="1887648"/>
            <a:ext cx="1240312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fire = valid &amp; ready</a:t>
            </a:r>
          </a:p>
        </p:txBody>
      </p:sp>
      <p:sp>
        <p:nvSpPr>
          <p:cNvPr id="16" name="text-015: wr_en = fire &amp; write"/>
          <p:cNvSpPr txBox="1"/>
          <p:nvPr/>
        </p:nvSpPr>
        <p:spPr>
          <a:xfrm>
            <a:off x="2525009" y="2066848"/>
            <a:ext cx="1277981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wr_en = fire &amp; write</a:t>
            </a:r>
          </a:p>
        </p:txBody>
      </p:sp>
      <p:sp>
        <p:nvSpPr>
          <p:cNvPr id="17" name="text-016: 按译码 / wstrb 写入"/>
          <p:cNvSpPr txBox="1"/>
          <p:nvPr/>
        </p:nvSpPr>
        <p:spPr>
          <a:xfrm>
            <a:off x="2507094" y="2246048"/>
            <a:ext cx="1313812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按译码 / wstrb 写入</a:t>
            </a:r>
          </a:p>
        </p:txBody>
      </p:sp>
      <p:sp>
        <p:nvSpPr>
          <p:cNvPr id="18" name="rect-017"/>
          <p:cNvSpPr/>
          <p:nvPr/>
        </p:nvSpPr>
        <p:spPr>
          <a:xfrm>
            <a:off x="5376000" y="1540000"/>
            <a:ext cx="2016000" cy="728000"/>
          </a:xfrm>
          <a:prstGeom prst="rect">
            <a:avLst/>
          </a:prstGeom>
          <a:solidFill>
            <a:srgbClr val="EDF5EB"/>
          </a:solidFill>
          <a:ln w="112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-018: 配置 / 命令寄存器"/>
          <p:cNvSpPr txBox="1"/>
          <p:nvPr/>
        </p:nvSpPr>
        <p:spPr>
          <a:xfrm>
            <a:off x="5771194" y="1585248"/>
            <a:ext cx="1225612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配置 / 命令寄存器</a:t>
            </a:r>
          </a:p>
        </p:txBody>
      </p:sp>
      <p:sp>
        <p:nvSpPr>
          <p:cNvPr id="20" name="text-019: 参数、地址低位 / 高位"/>
          <p:cNvSpPr txBox="1"/>
          <p:nvPr/>
        </p:nvSpPr>
        <p:spPr>
          <a:xfrm>
            <a:off x="5636794" y="1764448"/>
            <a:ext cx="1494412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参数、地址低位 / 高位</a:t>
            </a:r>
          </a:p>
        </p:txBody>
      </p:sp>
      <p:sp>
        <p:nvSpPr>
          <p:cNvPr id="21" name="text-020: 写 START 时提交命令"/>
          <p:cNvSpPr txBox="1"/>
          <p:nvPr/>
        </p:nvSpPr>
        <p:spPr>
          <a:xfrm>
            <a:off x="5685291" y="1943648"/>
            <a:ext cx="1397419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写 START 时提交命令</a:t>
            </a:r>
          </a:p>
        </p:txBody>
      </p:sp>
      <p:sp>
        <p:nvSpPr>
          <p:cNvPr id="22" name="polyline-021"/>
          <p:cNvSpPr/>
          <p:nvPr/>
        </p:nvSpPr>
        <p:spPr>
          <a:xfrm>
            <a:off x="4032000" y="1932000"/>
            <a:ext cx="1344000" cy="1"/>
          </a:xfrm>
          <a:custGeom>
            <a:avLst/>
            <a:gdLst/>
            <a:ahLst/>
            <a:cxnLst/>
            <a:rect l="0" t="0" r="r" b="b"/>
            <a:pathLst>
              <a:path w="1344000" h="1">
                <a:moveTo>
                  <a:pt x="0" y="0"/>
                </a:moveTo>
                <a:lnTo>
                  <a:pt x="1344000" y="0"/>
                </a:lnTo>
              </a:path>
            </a:pathLst>
          </a:custGeom>
          <a:noFill/>
          <a:ln w="1344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polygon-022"/>
          <p:cNvSpPr/>
          <p:nvPr/>
        </p:nvSpPr>
        <p:spPr>
          <a:xfrm>
            <a:off x="5314400" y="1906800"/>
            <a:ext cx="61600" cy="50400"/>
          </a:xfrm>
          <a:custGeom>
            <a:avLst/>
            <a:gdLst/>
            <a:ahLst/>
            <a:cxnLst/>
            <a:rect l="0" t="0" r="r" b="b"/>
            <a:pathLst>
              <a:path w="61600" h="50400">
                <a:moveTo>
                  <a:pt x="61600" y="25200"/>
                </a:moveTo>
                <a:lnTo>
                  <a:pt x="0" y="0"/>
                </a:lnTo>
                <a:lnTo>
                  <a:pt x="0" y="5040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-023: 写使能 / 写数据"/>
          <p:cNvSpPr txBox="1"/>
          <p:nvPr/>
        </p:nvSpPr>
        <p:spPr>
          <a:xfrm>
            <a:off x="4172000" y="1658496"/>
            <a:ext cx="1045748" cy="2060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写使能 / 写数据</a:t>
            </a:r>
          </a:p>
        </p:txBody>
      </p:sp>
      <p:sp>
        <p:nvSpPr>
          <p:cNvPr id="25" name="rect-024"/>
          <p:cNvSpPr/>
          <p:nvPr/>
        </p:nvSpPr>
        <p:spPr>
          <a:xfrm>
            <a:off x="8232000" y="1596000"/>
            <a:ext cx="1624000" cy="2324000"/>
          </a:xfrm>
          <a:prstGeom prst="rect">
            <a:avLst/>
          </a:prstGeom>
          <a:solidFill>
            <a:srgbClr val="F1F5F9"/>
          </a:solidFill>
          <a:ln w="112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-025: IP 工作逻辑"/>
          <p:cNvSpPr txBox="1"/>
          <p:nvPr/>
        </p:nvSpPr>
        <p:spPr>
          <a:xfrm>
            <a:off x="8632794" y="1674848"/>
            <a:ext cx="822412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IP 工作逻辑</a:t>
            </a:r>
          </a:p>
        </p:txBody>
      </p:sp>
      <p:sp>
        <p:nvSpPr>
          <p:cNvPr id="27" name="text-026: 接受命令"/>
          <p:cNvSpPr txBox="1"/>
          <p:nvPr/>
        </p:nvSpPr>
        <p:spPr>
          <a:xfrm>
            <a:off x="8708000" y="2122848"/>
            <a:ext cx="672000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接受命令</a:t>
            </a:r>
          </a:p>
        </p:txBody>
      </p:sp>
      <p:sp>
        <p:nvSpPr>
          <p:cNvPr id="28" name="text-027: 计算 / 搬运 / 接收"/>
          <p:cNvSpPr txBox="1"/>
          <p:nvPr/>
        </p:nvSpPr>
        <p:spPr>
          <a:xfrm>
            <a:off x="8423188" y="2402848"/>
            <a:ext cx="1241625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计算 / 搬运 / 接收</a:t>
            </a:r>
          </a:p>
        </p:txBody>
      </p:sp>
      <p:sp>
        <p:nvSpPr>
          <p:cNvPr id="29" name="text-028: 维护 busy / done / error"/>
          <p:cNvSpPr txBox="1"/>
          <p:nvPr/>
        </p:nvSpPr>
        <p:spPr>
          <a:xfrm>
            <a:off x="8254531" y="2878848"/>
            <a:ext cx="1578938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维护 busy / done / error</a:t>
            </a:r>
          </a:p>
        </p:txBody>
      </p:sp>
      <p:sp>
        <p:nvSpPr>
          <p:cNvPr id="30" name="text-029: 数据口另接 AXI / 流接口"/>
          <p:cNvSpPr txBox="1"/>
          <p:nvPr/>
        </p:nvSpPr>
        <p:spPr>
          <a:xfrm>
            <a:off x="8252562" y="3354848"/>
            <a:ext cx="1582875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数据口另接 AXI / 流接口</a:t>
            </a:r>
          </a:p>
        </p:txBody>
      </p:sp>
      <p:sp>
        <p:nvSpPr>
          <p:cNvPr id="31" name="polyline-030"/>
          <p:cNvSpPr/>
          <p:nvPr/>
        </p:nvSpPr>
        <p:spPr>
          <a:xfrm>
            <a:off x="7392000" y="1932000"/>
            <a:ext cx="840000" cy="1"/>
          </a:xfrm>
          <a:custGeom>
            <a:avLst/>
            <a:gdLst/>
            <a:ahLst/>
            <a:cxnLst/>
            <a:rect l="0" t="0" r="r" b="b"/>
            <a:pathLst>
              <a:path w="840000" h="1">
                <a:moveTo>
                  <a:pt x="0" y="0"/>
                </a:moveTo>
                <a:lnTo>
                  <a:pt x="840000" y="0"/>
                </a:lnTo>
              </a:path>
            </a:pathLst>
          </a:custGeom>
          <a:noFill/>
          <a:ln w="1344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polygon-031"/>
          <p:cNvSpPr/>
          <p:nvPr/>
        </p:nvSpPr>
        <p:spPr>
          <a:xfrm>
            <a:off x="8170400" y="1906800"/>
            <a:ext cx="61600" cy="50400"/>
          </a:xfrm>
          <a:custGeom>
            <a:avLst/>
            <a:gdLst/>
            <a:ahLst/>
            <a:cxnLst/>
            <a:rect l="0" t="0" r="r" b="b"/>
            <a:pathLst>
              <a:path w="61600" h="50400">
                <a:moveTo>
                  <a:pt x="61600" y="25200"/>
                </a:moveTo>
                <a:lnTo>
                  <a:pt x="0" y="0"/>
                </a:lnTo>
                <a:lnTo>
                  <a:pt x="0" y="5040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-032: 配置 / 启动"/>
          <p:cNvSpPr txBox="1"/>
          <p:nvPr/>
        </p:nvSpPr>
        <p:spPr>
          <a:xfrm>
            <a:off x="7504000" y="1680896"/>
            <a:ext cx="788148" cy="2060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配置 / 启动</a:t>
            </a:r>
          </a:p>
        </p:txBody>
      </p:sp>
      <p:sp>
        <p:nvSpPr>
          <p:cNvPr id="34" name="rect-033"/>
          <p:cNvSpPr/>
          <p:nvPr/>
        </p:nvSpPr>
        <p:spPr>
          <a:xfrm>
            <a:off x="6048000" y="3528000"/>
            <a:ext cx="1512000" cy="616000"/>
          </a:xfrm>
          <a:prstGeom prst="rect">
            <a:avLst/>
          </a:prstGeom>
          <a:solidFill>
            <a:srgbClr val="EDF5EB"/>
          </a:solidFill>
          <a:ln w="112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-034: 状态 / 中断状态"/>
          <p:cNvSpPr txBox="1"/>
          <p:nvPr/>
        </p:nvSpPr>
        <p:spPr>
          <a:xfrm>
            <a:off x="6258394" y="3573248"/>
            <a:ext cx="1091212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状态 / 中断状态</a:t>
            </a:r>
          </a:p>
        </p:txBody>
      </p:sp>
      <p:sp>
        <p:nvSpPr>
          <p:cNvPr id="36" name="text-035: busy / done / error"/>
          <p:cNvSpPr txBox="1"/>
          <p:nvPr/>
        </p:nvSpPr>
        <p:spPr>
          <a:xfrm>
            <a:off x="6169078" y="3752448"/>
            <a:ext cx="1269844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busy / done / error</a:t>
            </a:r>
          </a:p>
        </p:txBody>
      </p:sp>
      <p:sp>
        <p:nvSpPr>
          <p:cNvPr id="37" name="text-036: 建议写 1 清除事件位"/>
          <p:cNvSpPr txBox="1"/>
          <p:nvPr/>
        </p:nvSpPr>
        <p:spPr>
          <a:xfrm>
            <a:off x="6118612" y="3931648"/>
            <a:ext cx="1370775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建议写 1 清除事件位</a:t>
            </a:r>
          </a:p>
        </p:txBody>
      </p:sp>
      <p:sp>
        <p:nvSpPr>
          <p:cNvPr id="38" name="polyline-037"/>
          <p:cNvSpPr/>
          <p:nvPr/>
        </p:nvSpPr>
        <p:spPr>
          <a:xfrm>
            <a:off x="7560000" y="3808000"/>
            <a:ext cx="672000" cy="1"/>
          </a:xfrm>
          <a:custGeom>
            <a:avLst/>
            <a:gdLst/>
            <a:ahLst/>
            <a:cxnLst/>
            <a:rect l="0" t="0" r="r" b="b"/>
            <a:pathLst>
              <a:path w="672000" h="1">
                <a:moveTo>
                  <a:pt x="672000" y="0"/>
                </a:moveTo>
                <a:lnTo>
                  <a:pt x="0" y="0"/>
                </a:lnTo>
              </a:path>
            </a:pathLst>
          </a:custGeom>
          <a:noFill/>
          <a:ln w="1344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polygon-038"/>
          <p:cNvSpPr/>
          <p:nvPr/>
        </p:nvSpPr>
        <p:spPr>
          <a:xfrm>
            <a:off x="7560000" y="3782800"/>
            <a:ext cx="61600" cy="50400"/>
          </a:xfrm>
          <a:custGeom>
            <a:avLst/>
            <a:gdLst/>
            <a:ahLst/>
            <a:cxnLst/>
            <a:rect l="0" t="0" r="r" b="b"/>
            <a:pathLst>
              <a:path w="61600" h="50400">
                <a:moveTo>
                  <a:pt x="0" y="25200"/>
                </a:moveTo>
                <a:lnTo>
                  <a:pt x="61600" y="50400"/>
                </a:lnTo>
                <a:lnTo>
                  <a:pt x="61600" y="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-039: 状态"/>
          <p:cNvSpPr txBox="1"/>
          <p:nvPr/>
        </p:nvSpPr>
        <p:spPr>
          <a:xfrm>
            <a:off x="7784000" y="3523296"/>
            <a:ext cx="386400" cy="2060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状态</a:t>
            </a:r>
          </a:p>
        </p:txBody>
      </p:sp>
      <p:sp>
        <p:nvSpPr>
          <p:cNvPr id="41" name="rect-040"/>
          <p:cNvSpPr/>
          <p:nvPr/>
        </p:nvSpPr>
        <p:spPr>
          <a:xfrm>
            <a:off x="2744000" y="3248000"/>
            <a:ext cx="1960000" cy="952000"/>
          </a:xfrm>
          <a:prstGeom prst="rect">
            <a:avLst/>
          </a:prstGeom>
          <a:solidFill>
            <a:srgbClr val="F1F5F9"/>
          </a:solidFill>
          <a:ln w="112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-041: 读数据选择与访问响应"/>
          <p:cNvSpPr txBox="1"/>
          <p:nvPr/>
        </p:nvSpPr>
        <p:spPr>
          <a:xfrm>
            <a:off x="2984800" y="3293248"/>
            <a:ext cx="1478400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读数据选择与访问响应</a:t>
            </a:r>
          </a:p>
        </p:txBody>
      </p:sp>
      <p:sp>
        <p:nvSpPr>
          <p:cNvPr id="43" name="text-042: rdata = 选中寄存器值"/>
          <p:cNvSpPr txBox="1"/>
          <p:nvPr/>
        </p:nvSpPr>
        <p:spPr>
          <a:xfrm>
            <a:off x="3021419" y="3472448"/>
            <a:ext cx="1405162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rdata = 选中寄存器值</a:t>
            </a:r>
          </a:p>
        </p:txBody>
      </p:sp>
      <p:sp>
        <p:nvSpPr>
          <p:cNvPr id="44" name="text-043: ready = 本次访问可完成"/>
          <p:cNvSpPr txBox="1"/>
          <p:nvPr/>
        </p:nvSpPr>
        <p:spPr>
          <a:xfrm>
            <a:off x="2947459" y="3651648"/>
            <a:ext cx="1553081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ready = 本次访问可完成</a:t>
            </a:r>
          </a:p>
        </p:txBody>
      </p:sp>
      <p:sp>
        <p:nvSpPr>
          <p:cNvPr id="45" name="text-044: error = 地址 / 权限等错误"/>
          <p:cNvSpPr txBox="1"/>
          <p:nvPr/>
        </p:nvSpPr>
        <p:spPr>
          <a:xfrm>
            <a:off x="2893778" y="3830848"/>
            <a:ext cx="1660444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error = 地址 / 权限等错误</a:t>
            </a:r>
          </a:p>
        </p:txBody>
      </p:sp>
      <p:sp>
        <p:nvSpPr>
          <p:cNvPr id="46" name="polyline-045"/>
          <p:cNvSpPr/>
          <p:nvPr/>
        </p:nvSpPr>
        <p:spPr>
          <a:xfrm>
            <a:off x="3192000" y="2520000"/>
            <a:ext cx="1" cy="728000"/>
          </a:xfrm>
          <a:custGeom>
            <a:avLst/>
            <a:gdLst/>
            <a:ahLst/>
            <a:cxnLst/>
            <a:rect l="0" t="0" r="r" b="b"/>
            <a:pathLst>
              <a:path w="1" h="728000">
                <a:moveTo>
                  <a:pt x="0" y="0"/>
                </a:moveTo>
                <a:lnTo>
                  <a:pt x="0" y="728000"/>
                </a:lnTo>
              </a:path>
            </a:pathLst>
          </a:custGeom>
          <a:noFill/>
          <a:ln w="13440" cap="flat">
            <a:solidFill>
              <a:srgbClr val="925021"/>
            </a:solidFill>
            <a:custDash>
              <a:ds d="333333" sp="208333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polygon-046"/>
          <p:cNvSpPr/>
          <p:nvPr/>
        </p:nvSpPr>
        <p:spPr>
          <a:xfrm>
            <a:off x="3166800" y="3186400"/>
            <a:ext cx="50400" cy="61600"/>
          </a:xfrm>
          <a:custGeom>
            <a:avLst/>
            <a:gdLst/>
            <a:ahLst/>
            <a:cxnLst/>
            <a:rect l="0" t="0" r="r" b="b"/>
            <a:pathLst>
              <a:path w="50400" h="61600">
                <a:moveTo>
                  <a:pt x="25200" y="61600"/>
                </a:moveTo>
                <a:lnTo>
                  <a:pt x="50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9250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-047: offset / 访问属性"/>
          <p:cNvSpPr txBox="1"/>
          <p:nvPr/>
        </p:nvSpPr>
        <p:spPr>
          <a:xfrm>
            <a:off x="3326400" y="2772896"/>
            <a:ext cx="1112291" cy="2060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offset / 访问属性</a:t>
            </a:r>
          </a:p>
        </p:txBody>
      </p:sp>
      <p:sp>
        <p:nvSpPr>
          <p:cNvPr id="49" name="polyline-048"/>
          <p:cNvSpPr/>
          <p:nvPr/>
        </p:nvSpPr>
        <p:spPr>
          <a:xfrm>
            <a:off x="4704000" y="2268000"/>
            <a:ext cx="1568000" cy="1232000"/>
          </a:xfrm>
          <a:custGeom>
            <a:avLst/>
            <a:gdLst/>
            <a:ahLst/>
            <a:cxnLst/>
            <a:rect l="0" t="0" r="r" b="b"/>
            <a:pathLst>
              <a:path w="1568000" h="1232000">
                <a:moveTo>
                  <a:pt x="1568000" y="0"/>
                </a:moveTo>
                <a:lnTo>
                  <a:pt x="1568000" y="448000"/>
                </a:lnTo>
                <a:lnTo>
                  <a:pt x="336000" y="448000"/>
                </a:lnTo>
                <a:lnTo>
                  <a:pt x="336000" y="1232000"/>
                </a:lnTo>
                <a:lnTo>
                  <a:pt x="0" y="1232000"/>
                </a:lnTo>
              </a:path>
            </a:pathLst>
          </a:custGeom>
          <a:noFill/>
          <a:ln w="1344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polygon-049"/>
          <p:cNvSpPr/>
          <p:nvPr/>
        </p:nvSpPr>
        <p:spPr>
          <a:xfrm>
            <a:off x="4704000" y="3474800"/>
            <a:ext cx="61600" cy="50400"/>
          </a:xfrm>
          <a:custGeom>
            <a:avLst/>
            <a:gdLst/>
            <a:ahLst/>
            <a:cxnLst/>
            <a:rect l="0" t="0" r="r" b="b"/>
            <a:pathLst>
              <a:path w="61600" h="50400">
                <a:moveTo>
                  <a:pt x="0" y="25200"/>
                </a:moveTo>
                <a:lnTo>
                  <a:pt x="61600" y="50400"/>
                </a:lnTo>
                <a:lnTo>
                  <a:pt x="61600" y="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-050: 配置回读"/>
          <p:cNvSpPr txBox="1"/>
          <p:nvPr/>
        </p:nvSpPr>
        <p:spPr>
          <a:xfrm>
            <a:off x="5320000" y="2476096"/>
            <a:ext cx="644000" cy="2060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配置回读</a:t>
            </a:r>
          </a:p>
        </p:txBody>
      </p:sp>
      <p:sp>
        <p:nvSpPr>
          <p:cNvPr id="52" name="polyline-051"/>
          <p:cNvSpPr/>
          <p:nvPr/>
        </p:nvSpPr>
        <p:spPr>
          <a:xfrm>
            <a:off x="4704000" y="3864000"/>
            <a:ext cx="1344000" cy="1"/>
          </a:xfrm>
          <a:custGeom>
            <a:avLst/>
            <a:gdLst/>
            <a:ahLst/>
            <a:cxnLst/>
            <a:rect l="0" t="0" r="r" b="b"/>
            <a:pathLst>
              <a:path w="1344000" h="1">
                <a:moveTo>
                  <a:pt x="1344000" y="0"/>
                </a:moveTo>
                <a:lnTo>
                  <a:pt x="0" y="0"/>
                </a:lnTo>
              </a:path>
            </a:pathLst>
          </a:custGeom>
          <a:noFill/>
          <a:ln w="1344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polygon-052"/>
          <p:cNvSpPr/>
          <p:nvPr/>
        </p:nvSpPr>
        <p:spPr>
          <a:xfrm>
            <a:off x="4704000" y="3838800"/>
            <a:ext cx="61600" cy="50400"/>
          </a:xfrm>
          <a:custGeom>
            <a:avLst/>
            <a:gdLst/>
            <a:ahLst/>
            <a:cxnLst/>
            <a:rect l="0" t="0" r="r" b="b"/>
            <a:pathLst>
              <a:path w="61600" h="50400">
                <a:moveTo>
                  <a:pt x="0" y="25200"/>
                </a:moveTo>
                <a:lnTo>
                  <a:pt x="61600" y="50400"/>
                </a:lnTo>
                <a:lnTo>
                  <a:pt x="61600" y="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-053: 状态回读"/>
          <p:cNvSpPr txBox="1"/>
          <p:nvPr/>
        </p:nvSpPr>
        <p:spPr>
          <a:xfrm>
            <a:off x="5045600" y="3618496"/>
            <a:ext cx="644000" cy="2060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状态回读</a:t>
            </a:r>
          </a:p>
        </p:txBody>
      </p:sp>
      <p:sp>
        <p:nvSpPr>
          <p:cNvPr id="55" name="polyline-054"/>
          <p:cNvSpPr/>
          <p:nvPr/>
        </p:nvSpPr>
        <p:spPr>
          <a:xfrm>
            <a:off x="6804000" y="4144000"/>
            <a:ext cx="1" cy="207200"/>
          </a:xfrm>
          <a:custGeom>
            <a:avLst/>
            <a:gdLst/>
            <a:ahLst/>
            <a:cxnLst/>
            <a:rect l="0" t="0" r="r" b="b"/>
            <a:pathLst>
              <a:path w="1" h="207200">
                <a:moveTo>
                  <a:pt x="0" y="207200"/>
                </a:moveTo>
                <a:lnTo>
                  <a:pt x="0" y="0"/>
                </a:lnTo>
              </a:path>
            </a:pathLst>
          </a:custGeom>
          <a:noFill/>
          <a:ln w="13440" cap="flat">
            <a:solidFill>
              <a:srgbClr val="925021"/>
            </a:solidFill>
            <a:custDash>
              <a:ds d="333333" sp="208333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polygon-055"/>
          <p:cNvSpPr/>
          <p:nvPr/>
        </p:nvSpPr>
        <p:spPr>
          <a:xfrm>
            <a:off x="6778800" y="4144000"/>
            <a:ext cx="50400" cy="61600"/>
          </a:xfrm>
          <a:custGeom>
            <a:avLst/>
            <a:gdLst/>
            <a:ahLst/>
            <a:cxnLst/>
            <a:rect l="0" t="0" r="r" b="b"/>
            <a:pathLst>
              <a:path w="50400" h="61600">
                <a:moveTo>
                  <a:pt x="25200" y="0"/>
                </a:moveTo>
                <a:lnTo>
                  <a:pt x="0" y="61600"/>
                </a:lnTo>
                <a:lnTo>
                  <a:pt x="50400" y="61600"/>
                </a:lnTo>
                <a:close/>
              </a:path>
            </a:pathLst>
          </a:custGeom>
          <a:solidFill>
            <a:srgbClr val="9250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-056: 合法 W1C 写生成清除使能"/>
          <p:cNvSpPr txBox="1"/>
          <p:nvPr/>
        </p:nvSpPr>
        <p:spPr>
          <a:xfrm>
            <a:off x="5992000" y="4352096"/>
            <a:ext cx="1627736" cy="2060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4" b="0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合法 W1C 写生成清除使能</a:t>
            </a:r>
          </a:p>
        </p:txBody>
      </p:sp>
      <p:sp>
        <p:nvSpPr>
          <p:cNvPr id="58" name="polyline-057"/>
          <p:cNvSpPr/>
          <p:nvPr/>
        </p:nvSpPr>
        <p:spPr>
          <a:xfrm>
            <a:off x="252000" y="3696000"/>
            <a:ext cx="2492000" cy="1"/>
          </a:xfrm>
          <a:custGeom>
            <a:avLst/>
            <a:gdLst/>
            <a:ahLst/>
            <a:cxnLst/>
            <a:rect l="0" t="0" r="r" b="b"/>
            <a:pathLst>
              <a:path w="2492000" h="1">
                <a:moveTo>
                  <a:pt x="2492000" y="0"/>
                </a:moveTo>
                <a:lnTo>
                  <a:pt x="0" y="0"/>
                </a:lnTo>
              </a:path>
            </a:pathLst>
          </a:custGeom>
          <a:noFill/>
          <a:ln w="1344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polygon-058"/>
          <p:cNvSpPr/>
          <p:nvPr/>
        </p:nvSpPr>
        <p:spPr>
          <a:xfrm>
            <a:off x="252000" y="3670800"/>
            <a:ext cx="61600" cy="50400"/>
          </a:xfrm>
          <a:custGeom>
            <a:avLst/>
            <a:gdLst/>
            <a:ahLst/>
            <a:cxnLst/>
            <a:rect l="0" t="0" r="r" b="b"/>
            <a:pathLst>
              <a:path w="61600" h="50400">
                <a:moveTo>
                  <a:pt x="0" y="25200"/>
                </a:moveTo>
                <a:lnTo>
                  <a:pt x="61600" y="50400"/>
                </a:lnTo>
                <a:lnTo>
                  <a:pt x="61600" y="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-059: reg_ext_slv_rsp_i[k]"/>
          <p:cNvSpPr txBox="1"/>
          <p:nvPr/>
        </p:nvSpPr>
        <p:spPr>
          <a:xfrm>
            <a:off x="196000" y="3237248"/>
            <a:ext cx="1286381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reg_ext_slv_rsp_i[k]</a:t>
            </a:r>
          </a:p>
        </p:txBody>
      </p:sp>
      <p:sp>
        <p:nvSpPr>
          <p:cNvPr id="61" name="text-060: rdata / error / ready"/>
          <p:cNvSpPr txBox="1"/>
          <p:nvPr/>
        </p:nvSpPr>
        <p:spPr>
          <a:xfrm>
            <a:off x="196000" y="3433248"/>
            <a:ext cx="1328775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rdata / error / ready</a:t>
            </a:r>
          </a:p>
        </p:txBody>
      </p:sp>
      <p:sp>
        <p:nvSpPr>
          <p:cNvPr id="62" name="text-061: 短寄存器访问及时应答；长任务用 busy / done 或中断报告，不让 rea"/>
          <p:cNvSpPr txBox="1"/>
          <p:nvPr/>
        </p:nvSpPr>
        <p:spPr>
          <a:xfrm>
            <a:off x="224000" y="4710048"/>
            <a:ext cx="5624456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短寄存器访问及时应答；长任务用 busy / done 或中断报告，不让 ready 一直等到任务完成。</a:t>
            </a:r>
          </a:p>
        </p:txBody>
      </p:sp>
      <p:sp>
        <p:nvSpPr>
          <p:cNvPr id="63" name="text-062: 中断另接 SoC 中断输入；跨时钟时，事务或配置/状态传递必须有明确的 CDC "/>
          <p:cNvSpPr txBox="1"/>
          <p:nvPr/>
        </p:nvSpPr>
        <p:spPr>
          <a:xfrm>
            <a:off x="224000" y="4973248"/>
            <a:ext cx="5563294" cy="21504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536174"/>
                </a:solidFill>
                <a:latin typeface="WenQuanYi Zen Hei"/>
                <a:ea typeface="WenQuanYi Zen Hei"/>
                <a:cs typeface="WenQuanYi Zen Hei"/>
              </a:rPr>
              <a:t>中断另接 SoC 中断输入；跨时钟时，事务或配置/状态传递必须有明确的 CDC 与复位方案。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413</Words>
  <Application>Microsoft Office PowerPoint</Application>
  <PresentationFormat>自定义</PresentationFormat>
  <Paragraphs>76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WenQuanYi Zen Hei</vt:lpstr>
      <vt:lpstr>Arial</vt:lpstr>
      <vt:lpstr>Calibri</vt:lpstr>
      <vt:lpstr>Office Theme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文尧 赵</cp:lastModifiedBy>
  <cp:revision>2</cp:revision>
  <dcterms:created xsi:type="dcterms:W3CDTF">2013-01-27T09:14:16Z</dcterms:created>
  <dcterms:modified xsi:type="dcterms:W3CDTF">2026-10-12T14:46:44Z</dcterms:modified>
  <cp:category/>
</cp:coreProperties>
</file>