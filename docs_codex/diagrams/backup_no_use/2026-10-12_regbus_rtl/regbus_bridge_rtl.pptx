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9212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02: AXI → Regbus：桥内部的数据通路与时序边界"/>
          <p:cNvSpPr txBox="1"/>
          <p:nvPr/>
        </p:nvSpPr>
        <p:spPr>
          <a:xfrm>
            <a:off x="240030" y="85131"/>
            <a:ext cx="4299887" cy="32430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Regbus：桥内部的数据通路与时序边界</a:t>
            </a:r>
          </a:p>
        </p:txBody>
      </p:sp>
      <p:sp>
        <p:nvSpPr>
          <p:cNvPr id="3" name="n003: i_axi_to_reg_v2 · 默认参数展开：AXI 64 bit / Re"/>
          <p:cNvSpPr txBox="1"/>
          <p:nvPr/>
        </p:nvSpPr>
        <p:spPr>
          <a:xfrm>
            <a:off x="240030" y="395569"/>
            <a:ext cx="48028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i_axi_to_reg_v2 · 默认参数展开：AXI 64 bit / Reg 32 bit / 地址 48 bit / NumBanks = 2</a:t>
            </a:r>
          </a:p>
        </p:txBody>
      </p:sp>
      <p:sp>
        <p:nvSpPr>
          <p:cNvPr id="4" name="n004"/>
          <p:cNvSpPr/>
          <p:nvPr/>
        </p:nvSpPr>
        <p:spPr>
          <a:xfrm>
            <a:off x="213360" y="720090"/>
            <a:ext cx="12374880" cy="282702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n005: A  i_axi_to_detailed_mem：AXI 请求、状态与内部子通路"/>
          <p:cNvSpPr txBox="1"/>
          <p:nvPr/>
        </p:nvSpPr>
        <p:spPr>
          <a:xfrm>
            <a:off x="320040" y="761909"/>
            <a:ext cx="371618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i_axi_to_detailed_mem：AXI 请求、状态与内部子通路</a:t>
            </a:r>
          </a:p>
        </p:txBody>
      </p:sp>
      <p:sp>
        <p:nvSpPr>
          <p:cNvPr id="6" name="n006"/>
          <p:cNvSpPr/>
          <p:nvPr/>
        </p:nvSpPr>
        <p:spPr>
          <a:xfrm>
            <a:off x="400050" y="1200150"/>
            <a:ext cx="1760220" cy="56007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n007: AR 读请求处理"/>
          <p:cNvSpPr txBox="1"/>
          <p:nvPr/>
        </p:nvSpPr>
        <p:spPr>
          <a:xfrm>
            <a:off x="801475" y="1224580"/>
            <a:ext cx="9573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读请求处理</a:t>
            </a:r>
          </a:p>
        </p:txBody>
      </p:sp>
      <p:sp>
        <p:nvSpPr>
          <p:cNvPr id="8" name="n008: rd_meta_q / r_cnt_q"/>
          <p:cNvSpPr txBox="1"/>
          <p:nvPr/>
        </p:nvSpPr>
        <p:spPr>
          <a:xfrm>
            <a:off x="724028" y="1401882"/>
            <a:ext cx="111226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rd_meta_q / r_cnt_q</a:t>
            </a:r>
          </a:p>
        </p:txBody>
      </p:sp>
      <p:sp>
        <p:nvSpPr>
          <p:cNvPr id="9" name="n009: 握手推进地址与剩余拍数"/>
          <p:cNvSpPr txBox="1"/>
          <p:nvPr/>
        </p:nvSpPr>
        <p:spPr>
          <a:xfrm>
            <a:off x="608076" y="1561902"/>
            <a:ext cx="134416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握手推进地址与剩余拍数</a:t>
            </a:r>
          </a:p>
        </p:txBody>
      </p:sp>
      <p:sp>
        <p:nvSpPr>
          <p:cNvPr id="10" name="n010"/>
          <p:cNvSpPr/>
          <p:nvPr/>
        </p:nvSpPr>
        <p:spPr>
          <a:xfrm>
            <a:off x="400050" y="2160270"/>
            <a:ext cx="1760220" cy="56007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n011: AW + W 写请求处理"/>
          <p:cNvSpPr txBox="1"/>
          <p:nvPr/>
        </p:nvSpPr>
        <p:spPr>
          <a:xfrm>
            <a:off x="659457" y="2184700"/>
            <a:ext cx="124140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AW + W 写请求处理</a:t>
            </a:r>
          </a:p>
        </p:txBody>
      </p:sp>
      <p:sp>
        <p:nvSpPr>
          <p:cNvPr id="12" name="n012: wr_meta_q / w_cnt_q"/>
          <p:cNvSpPr txBox="1"/>
          <p:nvPr/>
        </p:nvSpPr>
        <p:spPr>
          <a:xfrm>
            <a:off x="698271" y="2362002"/>
            <a:ext cx="116377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wr_meta_q / w_cnt_q</a:t>
            </a:r>
          </a:p>
        </p:txBody>
      </p:sp>
      <p:sp>
        <p:nvSpPr>
          <p:cNvPr id="13" name="n013: 新写需 AWVALID &amp; WVALID"/>
          <p:cNvSpPr txBox="1"/>
          <p:nvPr/>
        </p:nvSpPr>
        <p:spPr>
          <a:xfrm>
            <a:off x="560274" y="2522022"/>
            <a:ext cx="143977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新写需 AWVALID &amp; WVALID</a:t>
            </a:r>
          </a:p>
        </p:txBody>
      </p:sp>
      <p:sp>
        <p:nvSpPr>
          <p:cNvPr id="14" name="n014"/>
          <p:cNvSpPr/>
          <p:nvPr/>
        </p:nvSpPr>
        <p:spPr>
          <a:xfrm>
            <a:off x="2747010" y="1333500"/>
            <a:ext cx="826770" cy="1333500"/>
          </a:xfrm>
          <a:custGeom>
            <a:avLst/>
            <a:gdLst/>
            <a:ahLst/>
            <a:cxnLst/>
            <a:rect l="0" t="0" r="r" b="b"/>
            <a:pathLst>
              <a:path w="826770" h="1333500">
                <a:moveTo>
                  <a:pt x="0" y="0"/>
                </a:moveTo>
                <a:lnTo>
                  <a:pt x="826770" y="149352"/>
                </a:lnTo>
                <a:lnTo>
                  <a:pt x="826770" y="1184148"/>
                </a:lnTo>
                <a:lnTo>
                  <a:pt x="0" y="133350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n015: 2:1"/>
          <p:cNvSpPr txBox="1"/>
          <p:nvPr/>
        </p:nvSpPr>
        <p:spPr>
          <a:xfrm>
            <a:off x="3000438" y="1904665"/>
            <a:ext cx="31991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2:1</a:t>
            </a:r>
          </a:p>
        </p:txBody>
      </p:sp>
      <p:sp>
        <p:nvSpPr>
          <p:cNvPr id="16" name="n016"/>
          <p:cNvSpPr/>
          <p:nvPr/>
        </p:nvSpPr>
        <p:spPr>
          <a:xfrm>
            <a:off x="2160270" y="1477518"/>
            <a:ext cx="586740" cy="149352"/>
          </a:xfrm>
          <a:custGeom>
            <a:avLst/>
            <a:gdLst/>
            <a:ahLst/>
            <a:cxnLst/>
            <a:rect l="0" t="0" r="r" b="b"/>
            <a:pathLst>
              <a:path w="586740" h="149352" fill="none">
                <a:moveTo>
                  <a:pt x="0" y="0"/>
                </a:moveTo>
                <a:lnTo>
                  <a:pt x="320040" y="0"/>
                </a:lnTo>
                <a:lnTo>
                  <a:pt x="320040" y="149352"/>
                </a:lnTo>
                <a:lnTo>
                  <a:pt x="586740" y="149352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n017"/>
          <p:cNvSpPr/>
          <p:nvPr/>
        </p:nvSpPr>
        <p:spPr>
          <a:xfrm>
            <a:off x="2160270" y="2373630"/>
            <a:ext cx="586740" cy="64008"/>
          </a:xfrm>
          <a:custGeom>
            <a:avLst/>
            <a:gdLst/>
            <a:ahLst/>
            <a:cxnLst/>
            <a:rect l="0" t="0" r="r" b="b"/>
            <a:pathLst>
              <a:path w="586740" h="64008" fill="none">
                <a:moveTo>
                  <a:pt x="0" y="64008"/>
                </a:moveTo>
                <a:lnTo>
                  <a:pt x="320040" y="64008"/>
                </a:lnTo>
                <a:lnTo>
                  <a:pt x="320040" y="0"/>
                </a:lnTo>
                <a:lnTo>
                  <a:pt x="58674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n018: i_ax_mux"/>
          <p:cNvSpPr txBox="1"/>
          <p:nvPr/>
        </p:nvSpPr>
        <p:spPr>
          <a:xfrm>
            <a:off x="2850060" y="1110325"/>
            <a:ext cx="61533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i_ax_mux</a:t>
            </a:r>
          </a:p>
        </p:txBody>
      </p:sp>
      <p:sp>
        <p:nvSpPr>
          <p:cNvPr id="19" name="n019"/>
          <p:cNvSpPr/>
          <p:nvPr/>
        </p:nvSpPr>
        <p:spPr>
          <a:xfrm>
            <a:off x="2373630" y="2960370"/>
            <a:ext cx="2160270" cy="40005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020: 读写选择 + 背压锁定"/>
          <p:cNvSpPr txBox="1"/>
          <p:nvPr/>
        </p:nvSpPr>
        <p:spPr>
          <a:xfrm>
            <a:off x="2800933" y="2984800"/>
            <a:ext cx="13056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读写选择 + 背压锁定</a:t>
            </a:r>
          </a:p>
        </p:txBody>
      </p:sp>
      <p:sp>
        <p:nvSpPr>
          <p:cNvPr id="21" name="n021: meta_sel_q / sel_lock_q"/>
          <p:cNvSpPr txBox="1"/>
          <p:nvPr/>
        </p:nvSpPr>
        <p:spPr>
          <a:xfrm>
            <a:off x="2794691" y="3162102"/>
            <a:ext cx="131814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meta_sel_q / sel_lock_q</a:t>
            </a:r>
          </a:p>
        </p:txBody>
      </p:sp>
      <p:sp>
        <p:nvSpPr>
          <p:cNvPr id="22" name="n022"/>
          <p:cNvSpPr/>
          <p:nvPr/>
        </p:nvSpPr>
        <p:spPr>
          <a:xfrm>
            <a:off x="3147060" y="2667000"/>
            <a:ext cx="1" cy="293370"/>
          </a:xfrm>
          <a:custGeom>
            <a:avLst/>
            <a:gdLst/>
            <a:ahLst/>
            <a:cxnLst/>
            <a:rect l="0" t="0" r="r" b="b"/>
            <a:pathLst>
              <a:path w="1" h="293370" fill="none">
                <a:moveTo>
                  <a:pt x="0" y="29337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n023"/>
          <p:cNvSpPr/>
          <p:nvPr/>
        </p:nvSpPr>
        <p:spPr>
          <a:xfrm>
            <a:off x="4160520" y="1093470"/>
            <a:ext cx="1226820" cy="48006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n024: i_fork"/>
          <p:cNvSpPr txBox="1"/>
          <p:nvPr/>
        </p:nvSpPr>
        <p:spPr>
          <a:xfrm>
            <a:off x="4556465" y="1157905"/>
            <a:ext cx="43492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i_fork</a:t>
            </a:r>
          </a:p>
        </p:txBody>
      </p:sp>
      <p:sp>
        <p:nvSpPr>
          <p:cNvPr id="25" name="n025: 仅三路握手控制"/>
          <p:cNvSpPr txBox="1"/>
          <p:nvPr/>
        </p:nvSpPr>
        <p:spPr>
          <a:xfrm>
            <a:off x="4325874" y="1335207"/>
            <a:ext cx="89611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仅三路握手控制</a:t>
            </a:r>
          </a:p>
        </p:txBody>
      </p:sp>
      <p:sp>
        <p:nvSpPr>
          <p:cNvPr id="26" name="n026"/>
          <p:cNvSpPr/>
          <p:nvPr/>
        </p:nvSpPr>
        <p:spPr>
          <a:xfrm>
            <a:off x="3573780" y="1333500"/>
            <a:ext cx="586740" cy="506730"/>
          </a:xfrm>
          <a:custGeom>
            <a:avLst/>
            <a:gdLst/>
            <a:ahLst/>
            <a:cxnLst/>
            <a:rect l="0" t="0" r="r" b="b"/>
            <a:pathLst>
              <a:path w="586740" h="506730" fill="none">
                <a:moveTo>
                  <a:pt x="0" y="506730"/>
                </a:moveTo>
                <a:lnTo>
                  <a:pt x="320040" y="506730"/>
                </a:lnTo>
                <a:lnTo>
                  <a:pt x="320040" y="0"/>
                </a:lnTo>
                <a:lnTo>
                  <a:pt x="58674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n027"/>
          <p:cNvSpPr/>
          <p:nvPr/>
        </p:nvSpPr>
        <p:spPr>
          <a:xfrm>
            <a:off x="6240780" y="1706880"/>
            <a:ext cx="2080260" cy="58674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n028: i_stream_to_mem"/>
          <p:cNvSpPr txBox="1"/>
          <p:nvPr/>
        </p:nvSpPr>
        <p:spPr>
          <a:xfrm>
            <a:off x="6715652" y="1744645"/>
            <a:ext cx="113051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i_stream_to_mem</a:t>
            </a:r>
          </a:p>
        </p:txBody>
      </p:sp>
      <p:sp>
        <p:nvSpPr>
          <p:cNvPr id="29" name="n029: 在途计数 / 响应缓冲"/>
          <p:cNvSpPr txBox="1"/>
          <p:nvPr/>
        </p:nvSpPr>
        <p:spPr>
          <a:xfrm>
            <a:off x="6714168" y="1921947"/>
            <a:ext cx="113348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在途计数 / 响应缓冲</a:t>
            </a:r>
          </a:p>
        </p:txBody>
      </p:sp>
      <p:sp>
        <p:nvSpPr>
          <p:cNvPr id="30" name="n030: BufDepth = 1"/>
          <p:cNvSpPr txBox="1"/>
          <p:nvPr/>
        </p:nvSpPr>
        <p:spPr>
          <a:xfrm>
            <a:off x="6897125" y="2081967"/>
            <a:ext cx="767571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BufDepth = 1</a:t>
            </a:r>
          </a:p>
        </p:txBody>
      </p:sp>
      <p:sp>
        <p:nvSpPr>
          <p:cNvPr id="31" name="n031"/>
          <p:cNvSpPr/>
          <p:nvPr/>
        </p:nvSpPr>
        <p:spPr>
          <a:xfrm>
            <a:off x="3573780" y="2000250"/>
            <a:ext cx="2667000" cy="1"/>
          </a:xfrm>
          <a:custGeom>
            <a:avLst/>
            <a:gdLst/>
            <a:ahLst/>
            <a:cxnLst/>
            <a:rect l="0" t="0" r="r" b="b"/>
            <a:pathLst>
              <a:path w="2667000" h="1" fill="none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n032: meta + W.data / W.strb"/>
          <p:cNvSpPr txBox="1"/>
          <p:nvPr/>
        </p:nvSpPr>
        <p:spPr>
          <a:xfrm>
            <a:off x="4241726" y="1799265"/>
            <a:ext cx="127776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meta + W.data / W.strb</a:t>
            </a:r>
          </a:p>
        </p:txBody>
      </p:sp>
      <p:sp>
        <p:nvSpPr>
          <p:cNvPr id="33" name="n033"/>
          <p:cNvSpPr/>
          <p:nvPr/>
        </p:nvSpPr>
        <p:spPr>
          <a:xfrm>
            <a:off x="5387340" y="1333500"/>
            <a:ext cx="853440" cy="453390"/>
          </a:xfrm>
          <a:custGeom>
            <a:avLst/>
            <a:gdLst/>
            <a:ahLst/>
            <a:cxnLst/>
            <a:rect l="0" t="0" r="r" b="b"/>
            <a:pathLst>
              <a:path w="853440" h="453390" fill="none">
                <a:moveTo>
                  <a:pt x="0" y="0"/>
                </a:moveTo>
                <a:lnTo>
                  <a:pt x="480060" y="0"/>
                </a:lnTo>
                <a:lnTo>
                  <a:pt x="480060" y="453390"/>
                </a:lnTo>
                <a:lnTo>
                  <a:pt x="853440" y="45339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n034"/>
          <p:cNvSpPr/>
          <p:nvPr/>
        </p:nvSpPr>
        <p:spPr>
          <a:xfrm>
            <a:off x="9281160" y="1520190"/>
            <a:ext cx="2987040" cy="104013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n035: i_mem_to_banks"/>
          <p:cNvSpPr txBox="1"/>
          <p:nvPr/>
        </p:nvSpPr>
        <p:spPr>
          <a:xfrm>
            <a:off x="10236238" y="1704640"/>
            <a:ext cx="107688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i_mem_to_banks</a:t>
            </a:r>
          </a:p>
        </p:txBody>
      </p:sp>
      <p:sp>
        <p:nvSpPr>
          <p:cNvPr id="36" name="n036: 按 8 B 对齐；两个 32-bit 子通路"/>
          <p:cNvSpPr txBox="1"/>
          <p:nvPr/>
        </p:nvSpPr>
        <p:spPr>
          <a:xfrm>
            <a:off x="9916969" y="1881942"/>
            <a:ext cx="171542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8 B 对齐；两个 32-bit 子通路</a:t>
            </a:r>
          </a:p>
        </p:txBody>
      </p:sp>
      <p:sp>
        <p:nvSpPr>
          <p:cNvPr id="37" name="n037: 每路请求 FIFO = 1；响应 FIFO = 1"/>
          <p:cNvSpPr txBox="1"/>
          <p:nvPr/>
        </p:nvSpPr>
        <p:spPr>
          <a:xfrm>
            <a:off x="9881210" y="2041962"/>
            <a:ext cx="178694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每路请求 FIFO = 1；响应 FIFO = 1</a:t>
            </a:r>
          </a:p>
        </p:txBody>
      </p:sp>
      <p:sp>
        <p:nvSpPr>
          <p:cNvPr id="38" name="n038: addr[i] = align8(addr) + 4×i"/>
          <p:cNvSpPr txBox="1"/>
          <p:nvPr/>
        </p:nvSpPr>
        <p:spPr>
          <a:xfrm>
            <a:off x="10057528" y="2201982"/>
            <a:ext cx="143430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addr[i] = align8(addr) + 4×i</a:t>
            </a:r>
          </a:p>
        </p:txBody>
      </p:sp>
      <p:sp>
        <p:nvSpPr>
          <p:cNvPr id="39" name="n039"/>
          <p:cNvSpPr/>
          <p:nvPr/>
        </p:nvSpPr>
        <p:spPr>
          <a:xfrm>
            <a:off x="8321040" y="200025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n040: 64 bit"/>
          <p:cNvSpPr txBox="1"/>
          <p:nvPr/>
        </p:nvSpPr>
        <p:spPr>
          <a:xfrm>
            <a:off x="8572988" y="1799265"/>
            <a:ext cx="40288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bit</a:t>
            </a:r>
          </a:p>
        </p:txBody>
      </p:sp>
      <p:sp>
        <p:nvSpPr>
          <p:cNvPr id="41" name="n041"/>
          <p:cNvSpPr/>
          <p:nvPr/>
        </p:nvSpPr>
        <p:spPr>
          <a:xfrm>
            <a:off x="5227320" y="2853690"/>
            <a:ext cx="1920240" cy="45339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n042: i_meta_buf"/>
          <p:cNvSpPr txBox="1"/>
          <p:nvPr/>
        </p:nvSpPr>
        <p:spPr>
          <a:xfrm>
            <a:off x="5829574" y="2910550"/>
            <a:ext cx="715731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i_meta_buf</a:t>
            </a:r>
          </a:p>
        </p:txBody>
      </p:sp>
      <p:sp>
        <p:nvSpPr>
          <p:cNvPr id="43" name="n043: 深度 2 · ID / size / last / …"/>
          <p:cNvSpPr txBox="1"/>
          <p:nvPr/>
        </p:nvSpPr>
        <p:spPr>
          <a:xfrm>
            <a:off x="5439767" y="3082092"/>
            <a:ext cx="14953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深度 2 · ID / size / last / …</a:t>
            </a:r>
          </a:p>
        </p:txBody>
      </p:sp>
      <p:sp>
        <p:nvSpPr>
          <p:cNvPr id="44" name="n044"/>
          <p:cNvSpPr/>
          <p:nvPr/>
        </p:nvSpPr>
        <p:spPr>
          <a:xfrm>
            <a:off x="5275326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n045"/>
          <p:cNvSpPr/>
          <p:nvPr/>
        </p:nvSpPr>
        <p:spPr>
          <a:xfrm>
            <a:off x="5317998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n046"/>
          <p:cNvSpPr/>
          <p:nvPr/>
        </p:nvSpPr>
        <p:spPr>
          <a:xfrm>
            <a:off x="7840980" y="2853690"/>
            <a:ext cx="1920240" cy="45339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n047: i_sel_buf"/>
          <p:cNvSpPr txBox="1"/>
          <p:nvPr/>
        </p:nvSpPr>
        <p:spPr>
          <a:xfrm>
            <a:off x="8499604" y="2910550"/>
            <a:ext cx="60299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i_sel_buf</a:t>
            </a:r>
          </a:p>
        </p:txBody>
      </p:sp>
      <p:sp>
        <p:nvSpPr>
          <p:cNvPr id="48" name="n048: 深度 2 · {sel_b, sel_r}"/>
          <p:cNvSpPr txBox="1"/>
          <p:nvPr/>
        </p:nvSpPr>
        <p:spPr>
          <a:xfrm>
            <a:off x="8219098" y="3082092"/>
            <a:ext cx="116400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深度 2 · {sel_b, sel_r}</a:t>
            </a:r>
          </a:p>
        </p:txBody>
      </p:sp>
      <p:sp>
        <p:nvSpPr>
          <p:cNvPr id="49" name="n049"/>
          <p:cNvSpPr/>
          <p:nvPr/>
        </p:nvSpPr>
        <p:spPr>
          <a:xfrm>
            <a:off x="7888986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n050"/>
          <p:cNvSpPr/>
          <p:nvPr/>
        </p:nvSpPr>
        <p:spPr>
          <a:xfrm>
            <a:off x="7931658" y="2901696"/>
            <a:ext cx="1" cy="357378"/>
          </a:xfrm>
          <a:custGeom>
            <a:avLst/>
            <a:gdLst/>
            <a:ahLst/>
            <a:cxnLst/>
            <a:rect l="0" t="0" r="r" b="b"/>
            <a:pathLst>
              <a:path w="1" h="357378" fill="none">
                <a:moveTo>
                  <a:pt x="0" y="0"/>
                </a:moveTo>
                <a:lnTo>
                  <a:pt x="0" y="35737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n051"/>
          <p:cNvSpPr/>
          <p:nvPr/>
        </p:nvSpPr>
        <p:spPr>
          <a:xfrm>
            <a:off x="4352544" y="16535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n052: F0"/>
          <p:cNvSpPr txBox="1"/>
          <p:nvPr/>
        </p:nvSpPr>
        <p:spPr>
          <a:xfrm>
            <a:off x="4439001" y="166634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53" name="n053"/>
          <p:cNvSpPr/>
          <p:nvPr/>
        </p:nvSpPr>
        <p:spPr>
          <a:xfrm>
            <a:off x="4533900" y="1573530"/>
            <a:ext cx="1" cy="80010"/>
          </a:xfrm>
          <a:custGeom>
            <a:avLst/>
            <a:gdLst/>
            <a:ahLst/>
            <a:cxnLst/>
            <a:rect l="0" t="0" r="r" b="b"/>
            <a:pathLst>
              <a:path w="1" h="80010" fill="none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n054"/>
          <p:cNvSpPr/>
          <p:nvPr/>
        </p:nvSpPr>
        <p:spPr>
          <a:xfrm>
            <a:off x="4859274" y="16535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n055: F1"/>
          <p:cNvSpPr txBox="1"/>
          <p:nvPr/>
        </p:nvSpPr>
        <p:spPr>
          <a:xfrm>
            <a:off x="4945731" y="166634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56" name="n056"/>
          <p:cNvSpPr/>
          <p:nvPr/>
        </p:nvSpPr>
        <p:spPr>
          <a:xfrm>
            <a:off x="5040630" y="1573530"/>
            <a:ext cx="1" cy="80010"/>
          </a:xfrm>
          <a:custGeom>
            <a:avLst/>
            <a:gdLst/>
            <a:ahLst/>
            <a:cxnLst/>
            <a:rect l="0" t="0" r="r" b="b"/>
            <a:pathLst>
              <a:path w="1" h="80010" fill="none">
                <a:moveTo>
                  <a:pt x="0" y="0"/>
                </a:moveTo>
                <a:lnTo>
                  <a:pt x="0" y="8001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n057"/>
          <p:cNvSpPr/>
          <p:nvPr/>
        </p:nvSpPr>
        <p:spPr>
          <a:xfrm>
            <a:off x="5963412" y="256032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n058: F0"/>
          <p:cNvSpPr txBox="1"/>
          <p:nvPr/>
        </p:nvSpPr>
        <p:spPr>
          <a:xfrm>
            <a:off x="6049869" y="257312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59" name="n059"/>
          <p:cNvSpPr/>
          <p:nvPr/>
        </p:nvSpPr>
        <p:spPr>
          <a:xfrm>
            <a:off x="6160770" y="2741676"/>
            <a:ext cx="1" cy="112014"/>
          </a:xfrm>
          <a:custGeom>
            <a:avLst/>
            <a:gdLst/>
            <a:ahLst/>
            <a:cxnLst/>
            <a:rect l="0" t="0" r="r" b="b"/>
            <a:pathLst>
              <a:path w="1" h="112014" fill="none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n060"/>
          <p:cNvSpPr/>
          <p:nvPr/>
        </p:nvSpPr>
        <p:spPr>
          <a:xfrm>
            <a:off x="8577072" y="256032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n061: F1"/>
          <p:cNvSpPr txBox="1"/>
          <p:nvPr/>
        </p:nvSpPr>
        <p:spPr>
          <a:xfrm>
            <a:off x="8663529" y="2573122"/>
            <a:ext cx="221803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62" name="n062"/>
          <p:cNvSpPr/>
          <p:nvPr/>
        </p:nvSpPr>
        <p:spPr>
          <a:xfrm>
            <a:off x="8774430" y="2741676"/>
            <a:ext cx="1" cy="112014"/>
          </a:xfrm>
          <a:custGeom>
            <a:avLst/>
            <a:gdLst/>
            <a:ahLst/>
            <a:cxnLst/>
            <a:rect l="0" t="0" r="r" b="b"/>
            <a:pathLst>
              <a:path w="1" h="112014" fill="none">
                <a:moveTo>
                  <a:pt x="0" y="0"/>
                </a:moveTo>
                <a:lnTo>
                  <a:pt x="0" y="112014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n063: F0/F1：握手；FIFO 数据来自 meta"/>
          <p:cNvSpPr txBox="1"/>
          <p:nvPr/>
        </p:nvSpPr>
        <p:spPr>
          <a:xfrm>
            <a:off x="3883656" y="2332665"/>
            <a:ext cx="183388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F0/F1：握手；FIFO 数据来自 meta</a:t>
            </a:r>
          </a:p>
        </p:txBody>
      </p:sp>
      <p:sp>
        <p:nvSpPr>
          <p:cNvPr id="64" name="n064"/>
          <p:cNvSpPr/>
          <p:nvPr/>
        </p:nvSpPr>
        <p:spPr>
          <a:xfrm>
            <a:off x="7254240" y="29870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n065: META"/>
          <p:cNvSpPr txBox="1"/>
          <p:nvPr/>
        </p:nvSpPr>
        <p:spPr>
          <a:xfrm>
            <a:off x="7268183" y="2999842"/>
            <a:ext cx="36682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META</a:t>
            </a:r>
          </a:p>
        </p:txBody>
      </p:sp>
      <p:sp>
        <p:nvSpPr>
          <p:cNvPr id="66" name="n066"/>
          <p:cNvSpPr/>
          <p:nvPr/>
        </p:nvSpPr>
        <p:spPr>
          <a:xfrm>
            <a:off x="7147560" y="3077718"/>
            <a:ext cx="106680" cy="1"/>
          </a:xfrm>
          <a:custGeom>
            <a:avLst/>
            <a:gdLst/>
            <a:ahLst/>
            <a:cxnLst/>
            <a:rect l="0" t="0" r="r" b="b"/>
            <a:pathLst>
              <a:path w="106680" h="1" fill="none">
                <a:moveTo>
                  <a:pt x="0" y="0"/>
                </a:moveTo>
                <a:lnTo>
                  <a:pt x="10668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n067"/>
          <p:cNvSpPr/>
          <p:nvPr/>
        </p:nvSpPr>
        <p:spPr>
          <a:xfrm>
            <a:off x="9921240" y="29870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n068: RB"/>
          <p:cNvSpPr txBox="1"/>
          <p:nvPr/>
        </p:nvSpPr>
        <p:spPr>
          <a:xfrm>
            <a:off x="9999208" y="2999842"/>
            <a:ext cx="23878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RB</a:t>
            </a:r>
          </a:p>
        </p:txBody>
      </p:sp>
      <p:sp>
        <p:nvSpPr>
          <p:cNvPr id="69" name="n069"/>
          <p:cNvSpPr/>
          <p:nvPr/>
        </p:nvSpPr>
        <p:spPr>
          <a:xfrm>
            <a:off x="9761220" y="3077718"/>
            <a:ext cx="160020" cy="1"/>
          </a:xfrm>
          <a:custGeom>
            <a:avLst/>
            <a:gdLst/>
            <a:ahLst/>
            <a:cxnLst/>
            <a:rect l="0" t="0" r="r" b="b"/>
            <a:pathLst>
              <a:path w="160020" h="1" fill="none">
                <a:moveTo>
                  <a:pt x="0" y="0"/>
                </a:moveTo>
                <a:lnTo>
                  <a:pt x="16002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n070"/>
          <p:cNvSpPr/>
          <p:nvPr/>
        </p:nvSpPr>
        <p:spPr>
          <a:xfrm>
            <a:off x="10774680" y="2560320"/>
            <a:ext cx="1" cy="213360"/>
          </a:xfrm>
          <a:custGeom>
            <a:avLst/>
            <a:gdLst/>
            <a:ahLst/>
            <a:cxnLst/>
            <a:rect l="0" t="0" r="r" b="b"/>
            <a:pathLst>
              <a:path w="1" h="213360" fill="none">
                <a:moveTo>
                  <a:pt x="0" y="0"/>
                </a:moveTo>
                <a:lnTo>
                  <a:pt x="0" y="21336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n071"/>
          <p:cNvSpPr/>
          <p:nvPr/>
        </p:nvSpPr>
        <p:spPr>
          <a:xfrm>
            <a:off x="10577322" y="277368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n072: P0/1"/>
          <p:cNvSpPr txBox="1"/>
          <p:nvPr/>
        </p:nvSpPr>
        <p:spPr>
          <a:xfrm>
            <a:off x="10599812" y="2786482"/>
            <a:ext cx="349735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P0/1</a:t>
            </a:r>
          </a:p>
        </p:txBody>
      </p:sp>
      <p:sp>
        <p:nvSpPr>
          <p:cNvPr id="73" name="n073"/>
          <p:cNvSpPr/>
          <p:nvPr/>
        </p:nvSpPr>
        <p:spPr>
          <a:xfrm>
            <a:off x="11361420" y="2560320"/>
            <a:ext cx="1" cy="480060"/>
          </a:xfrm>
          <a:custGeom>
            <a:avLst/>
            <a:gdLst/>
            <a:ahLst/>
            <a:cxnLst/>
            <a:rect l="0" t="0" r="r" b="b"/>
            <a:pathLst>
              <a:path w="1" h="480060" fill="none">
                <a:moveTo>
                  <a:pt x="0" y="48006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n074"/>
          <p:cNvSpPr/>
          <p:nvPr/>
        </p:nvSpPr>
        <p:spPr>
          <a:xfrm>
            <a:off x="11164062" y="304038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n075: T0/1"/>
          <p:cNvSpPr txBox="1"/>
          <p:nvPr/>
        </p:nvSpPr>
        <p:spPr>
          <a:xfrm>
            <a:off x="11189732" y="3053182"/>
            <a:ext cx="34337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T0/1</a:t>
            </a:r>
          </a:p>
        </p:txBody>
      </p:sp>
      <p:sp>
        <p:nvSpPr>
          <p:cNvPr id="76" name="n076: P：请求 / gnt；T：返回 / rvalid"/>
          <p:cNvSpPr txBox="1"/>
          <p:nvPr/>
        </p:nvSpPr>
        <p:spPr>
          <a:xfrm>
            <a:off x="9976072" y="3298546"/>
            <a:ext cx="159721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P：请求 / gnt；T：返回 / rvalid</a:t>
            </a:r>
          </a:p>
        </p:txBody>
      </p:sp>
      <p:sp>
        <p:nvSpPr>
          <p:cNvPr id="77" name="n077"/>
          <p:cNvSpPr/>
          <p:nvPr/>
        </p:nvSpPr>
        <p:spPr>
          <a:xfrm>
            <a:off x="213360" y="3733800"/>
            <a:ext cx="12374880" cy="3307080"/>
          </a:xfrm>
          <a:prstGeom prst="rect">
            <a:avLst/>
          </a:prstGeom>
          <a:solidFill>
            <a:srgbClr val="FAF8FB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n078: B  gen_tcdm_to_reg[i] × 2：32-bit 子请求 → 一"/>
          <p:cNvSpPr txBox="1"/>
          <p:nvPr/>
        </p:nvSpPr>
        <p:spPr>
          <a:xfrm>
            <a:off x="320040" y="3775619"/>
            <a:ext cx="40844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gen_tcdm_to_reg[i] × 2：32-bit 子请求 → 一个公共 Regbus</a:t>
            </a:r>
          </a:p>
        </p:txBody>
      </p:sp>
      <p:sp>
        <p:nvSpPr>
          <p:cNvPr id="79" name="n079"/>
          <p:cNvSpPr/>
          <p:nvPr/>
        </p:nvSpPr>
        <p:spPr>
          <a:xfrm>
            <a:off x="373380" y="448056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n080: P0"/>
          <p:cNvSpPr txBox="1"/>
          <p:nvPr/>
        </p:nvSpPr>
        <p:spPr>
          <a:xfrm>
            <a:off x="455565" y="4493362"/>
            <a:ext cx="230345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81" name="n081"/>
          <p:cNvSpPr/>
          <p:nvPr/>
        </p:nvSpPr>
        <p:spPr>
          <a:xfrm>
            <a:off x="768096" y="4571238"/>
            <a:ext cx="538734" cy="1"/>
          </a:xfrm>
          <a:custGeom>
            <a:avLst/>
            <a:gdLst/>
            <a:ahLst/>
            <a:cxnLst/>
            <a:rect l="0" t="0" r="r" b="b"/>
            <a:pathLst>
              <a:path w="538734" h="1" fill="none">
                <a:moveTo>
                  <a:pt x="0" y="0"/>
                </a:moveTo>
                <a:lnTo>
                  <a:pt x="538734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n082"/>
          <p:cNvSpPr/>
          <p:nvPr/>
        </p:nvSpPr>
        <p:spPr>
          <a:xfrm>
            <a:off x="1306830" y="4320540"/>
            <a:ext cx="165354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n083: i_mem_req_spill"/>
          <p:cNvSpPr txBox="1"/>
          <p:nvPr/>
        </p:nvSpPr>
        <p:spPr>
          <a:xfrm>
            <a:off x="1637292" y="4404070"/>
            <a:ext cx="9926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i_mem_req_spill</a:t>
            </a:r>
          </a:p>
        </p:txBody>
      </p:sp>
      <p:sp>
        <p:nvSpPr>
          <p:cNvPr id="84" name="n084: CutMemReqs = 1（默认）"/>
          <p:cNvSpPr txBox="1"/>
          <p:nvPr/>
        </p:nvSpPr>
        <p:spPr>
          <a:xfrm>
            <a:off x="1423940" y="4575612"/>
            <a:ext cx="141931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CutMemReqs = 1（默认）</a:t>
            </a:r>
          </a:p>
        </p:txBody>
      </p:sp>
      <p:sp>
        <p:nvSpPr>
          <p:cNvPr id="85" name="n085"/>
          <p:cNvSpPr/>
          <p:nvPr/>
        </p:nvSpPr>
        <p:spPr>
          <a:xfrm>
            <a:off x="1354836" y="43685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n086"/>
          <p:cNvSpPr/>
          <p:nvPr/>
        </p:nvSpPr>
        <p:spPr>
          <a:xfrm>
            <a:off x="1397508" y="43685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n087"/>
          <p:cNvSpPr/>
          <p:nvPr/>
        </p:nvSpPr>
        <p:spPr>
          <a:xfrm>
            <a:off x="3493770" y="4320540"/>
            <a:ext cx="189357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n088: i_periph_to_reg"/>
          <p:cNvSpPr txBox="1"/>
          <p:nvPr/>
        </p:nvSpPr>
        <p:spPr>
          <a:xfrm>
            <a:off x="3949556" y="4398310"/>
            <a:ext cx="98199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i_periph_to_reg</a:t>
            </a:r>
          </a:p>
        </p:txBody>
      </p:sp>
      <p:sp>
        <p:nvSpPr>
          <p:cNvPr id="89" name="n089: 请求直通；响应寄存器见 C"/>
          <p:cNvSpPr txBox="1"/>
          <p:nvPr/>
        </p:nvSpPr>
        <p:spPr>
          <a:xfrm>
            <a:off x="3717006" y="4575612"/>
            <a:ext cx="144709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请求直通；响应寄存器见 C</a:t>
            </a:r>
          </a:p>
        </p:txBody>
      </p:sp>
      <p:sp>
        <p:nvSpPr>
          <p:cNvPr id="90" name="n090"/>
          <p:cNvSpPr/>
          <p:nvPr/>
        </p:nvSpPr>
        <p:spPr>
          <a:xfrm>
            <a:off x="2960370" y="45712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n091: 32 bit"/>
          <p:cNvSpPr txBox="1"/>
          <p:nvPr/>
        </p:nvSpPr>
        <p:spPr>
          <a:xfrm>
            <a:off x="2987211" y="4354678"/>
            <a:ext cx="38370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32 bit</a:t>
            </a:r>
          </a:p>
        </p:txBody>
      </p:sp>
      <p:sp>
        <p:nvSpPr>
          <p:cNvPr id="92" name="n092"/>
          <p:cNvSpPr/>
          <p:nvPr/>
        </p:nvSpPr>
        <p:spPr>
          <a:xfrm>
            <a:off x="5920740" y="4320540"/>
            <a:ext cx="2026920" cy="50673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n093: 零写过滤 · reg_demux(2)"/>
          <p:cNvSpPr txBox="1"/>
          <p:nvPr/>
        </p:nvSpPr>
        <p:spPr>
          <a:xfrm>
            <a:off x="6180668" y="4398310"/>
            <a:ext cx="15070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零写过滤 · reg_demux(2)</a:t>
            </a:r>
          </a:p>
        </p:txBody>
      </p:sp>
      <p:sp>
        <p:nvSpPr>
          <p:cNvPr id="94" name="n094: Z = write &amp; (wstrb == 0)"/>
          <p:cNvSpPr txBox="1"/>
          <p:nvPr/>
        </p:nvSpPr>
        <p:spPr>
          <a:xfrm>
            <a:off x="6293024" y="4575612"/>
            <a:ext cx="128235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 = write &amp; (wstrb == 0)</a:t>
            </a:r>
          </a:p>
        </p:txBody>
      </p:sp>
      <p:sp>
        <p:nvSpPr>
          <p:cNvPr id="95" name="n095"/>
          <p:cNvSpPr/>
          <p:nvPr/>
        </p:nvSpPr>
        <p:spPr>
          <a:xfrm>
            <a:off x="5387340" y="45712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n096"/>
          <p:cNvSpPr/>
          <p:nvPr/>
        </p:nvSpPr>
        <p:spPr>
          <a:xfrm>
            <a:off x="7947660" y="4496562"/>
            <a:ext cx="1493520" cy="357378"/>
          </a:xfrm>
          <a:custGeom>
            <a:avLst/>
            <a:gdLst/>
            <a:ahLst/>
            <a:cxnLst/>
            <a:rect l="0" t="0" r="r" b="b"/>
            <a:pathLst>
              <a:path w="1493520" h="357378" fill="none">
                <a:moveTo>
                  <a:pt x="0" y="0"/>
                </a:moveTo>
                <a:lnTo>
                  <a:pt x="1066800" y="0"/>
                </a:lnTo>
                <a:lnTo>
                  <a:pt x="1066800" y="357378"/>
                </a:lnTo>
                <a:lnTo>
                  <a:pt x="1493520" y="357378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n097: Z=0：正常请求"/>
          <p:cNvSpPr txBox="1"/>
          <p:nvPr/>
        </p:nvSpPr>
        <p:spPr>
          <a:xfrm>
            <a:off x="8014960" y="4280002"/>
            <a:ext cx="82552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Z=0：正常请求</a:t>
            </a:r>
          </a:p>
        </p:txBody>
      </p:sp>
      <p:sp>
        <p:nvSpPr>
          <p:cNvPr id="98" name="n098"/>
          <p:cNvSpPr/>
          <p:nvPr/>
        </p:nvSpPr>
        <p:spPr>
          <a:xfrm>
            <a:off x="6080760" y="5093970"/>
            <a:ext cx="1813560" cy="34671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n099: Z=1：本地成功响应"/>
          <p:cNvSpPr txBox="1"/>
          <p:nvPr/>
        </p:nvSpPr>
        <p:spPr>
          <a:xfrm>
            <a:off x="6442126" y="5109012"/>
            <a:ext cx="109082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Z=1：本地成功响应</a:t>
            </a:r>
          </a:p>
        </p:txBody>
      </p:sp>
      <p:sp>
        <p:nvSpPr>
          <p:cNvPr id="100" name="n100: ready=1 / error=0 / rdata=0"/>
          <p:cNvSpPr txBox="1"/>
          <p:nvPr/>
        </p:nvSpPr>
        <p:spPr>
          <a:xfrm>
            <a:off x="6232312" y="5269032"/>
            <a:ext cx="151045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ready=1 / error=0 / rdata=0</a:t>
            </a:r>
          </a:p>
        </p:txBody>
      </p:sp>
      <p:sp>
        <p:nvSpPr>
          <p:cNvPr id="101" name="n101"/>
          <p:cNvSpPr/>
          <p:nvPr/>
        </p:nvSpPr>
        <p:spPr>
          <a:xfrm>
            <a:off x="6934200" y="482727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n102"/>
          <p:cNvSpPr/>
          <p:nvPr/>
        </p:nvSpPr>
        <p:spPr>
          <a:xfrm>
            <a:off x="8177022" y="498729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n103: R0"/>
          <p:cNvSpPr txBox="1"/>
          <p:nvPr/>
        </p:nvSpPr>
        <p:spPr>
          <a:xfrm>
            <a:off x="8256032" y="5000092"/>
            <a:ext cx="23669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R0</a:t>
            </a:r>
          </a:p>
        </p:txBody>
      </p:sp>
      <p:sp>
        <p:nvSpPr>
          <p:cNvPr id="104" name="n104"/>
          <p:cNvSpPr/>
          <p:nvPr/>
        </p:nvSpPr>
        <p:spPr>
          <a:xfrm>
            <a:off x="7947660" y="4720590"/>
            <a:ext cx="426720" cy="266700"/>
          </a:xfrm>
          <a:custGeom>
            <a:avLst/>
            <a:gdLst/>
            <a:ahLst/>
            <a:cxnLst/>
            <a:rect l="0" t="0" r="r" b="b"/>
            <a:pathLst>
              <a:path w="426720" h="266700" fill="none">
                <a:moveTo>
                  <a:pt x="426720" y="266700"/>
                </a:moveTo>
                <a:lnTo>
                  <a:pt x="426720" y="0"/>
                </a:ln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n105"/>
          <p:cNvSpPr/>
          <p:nvPr/>
        </p:nvSpPr>
        <p:spPr>
          <a:xfrm>
            <a:off x="5760720" y="4784598"/>
            <a:ext cx="320040" cy="485394"/>
          </a:xfrm>
          <a:custGeom>
            <a:avLst/>
            <a:gdLst/>
            <a:ahLst/>
            <a:cxnLst/>
            <a:rect l="0" t="0" r="r" b="b"/>
            <a:pathLst>
              <a:path w="320040" h="485394" fill="none">
                <a:moveTo>
                  <a:pt x="320040" y="485394"/>
                </a:moveTo>
                <a:lnTo>
                  <a:pt x="0" y="485394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n106"/>
          <p:cNvSpPr/>
          <p:nvPr/>
        </p:nvSpPr>
        <p:spPr>
          <a:xfrm>
            <a:off x="4453890" y="4720590"/>
            <a:ext cx="1466850" cy="250698"/>
          </a:xfrm>
          <a:custGeom>
            <a:avLst/>
            <a:gdLst/>
            <a:ahLst/>
            <a:cxnLst/>
            <a:rect l="0" t="0" r="r" b="b"/>
            <a:pathLst>
              <a:path w="1466850" h="250698" fill="none">
                <a:moveTo>
                  <a:pt x="1466850" y="0"/>
                </a:moveTo>
                <a:lnTo>
                  <a:pt x="1146810" y="0"/>
                </a:lnTo>
                <a:lnTo>
                  <a:pt x="1146810" y="250698"/>
                </a:lnTo>
                <a:lnTo>
                  <a:pt x="0" y="250698"/>
                </a:lnTo>
                <a:lnTo>
                  <a:pt x="0" y="10668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n107: reg_rsp[i]"/>
          <p:cNvSpPr txBox="1"/>
          <p:nvPr/>
        </p:nvSpPr>
        <p:spPr>
          <a:xfrm>
            <a:off x="4730112" y="4829830"/>
            <a:ext cx="514356" cy="162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reg_rsp[i]</a:t>
            </a:r>
          </a:p>
        </p:txBody>
      </p:sp>
      <p:sp>
        <p:nvSpPr>
          <p:cNvPr id="108" name="n108"/>
          <p:cNvSpPr/>
          <p:nvPr/>
        </p:nvSpPr>
        <p:spPr>
          <a:xfrm>
            <a:off x="2880360" y="4693920"/>
            <a:ext cx="613410" cy="496062"/>
          </a:xfrm>
          <a:custGeom>
            <a:avLst/>
            <a:gdLst/>
            <a:ahLst/>
            <a:cxnLst/>
            <a:rect l="0" t="0" r="r" b="b"/>
            <a:pathLst>
              <a:path w="613410" h="496062" fill="none">
                <a:moveTo>
                  <a:pt x="613410" y="0"/>
                </a:moveTo>
                <a:lnTo>
                  <a:pt x="400050" y="0"/>
                </a:lnTo>
                <a:lnTo>
                  <a:pt x="400050" y="496062"/>
                </a:lnTo>
                <a:lnTo>
                  <a:pt x="0" y="496062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n109"/>
          <p:cNvSpPr/>
          <p:nvPr/>
        </p:nvSpPr>
        <p:spPr>
          <a:xfrm>
            <a:off x="1306830" y="5029962"/>
            <a:ext cx="1573530" cy="3200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n110: i_mem_rsp_spill：旁路"/>
          <p:cNvSpPr txBox="1"/>
          <p:nvPr/>
        </p:nvSpPr>
        <p:spPr>
          <a:xfrm>
            <a:off x="1473513" y="5031669"/>
            <a:ext cx="124016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i_mem_rsp_spill：旁路</a:t>
            </a:r>
          </a:p>
        </p:txBody>
      </p:sp>
      <p:sp>
        <p:nvSpPr>
          <p:cNvPr id="111" name="n111: CutMemRsps = 0"/>
          <p:cNvSpPr txBox="1"/>
          <p:nvPr/>
        </p:nvSpPr>
        <p:spPr>
          <a:xfrm>
            <a:off x="1609055" y="5191689"/>
            <a:ext cx="96907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CutMemRsps = 0</a:t>
            </a:r>
          </a:p>
        </p:txBody>
      </p:sp>
      <p:sp>
        <p:nvSpPr>
          <p:cNvPr id="112" name="n112"/>
          <p:cNvSpPr/>
          <p:nvPr/>
        </p:nvSpPr>
        <p:spPr>
          <a:xfrm>
            <a:off x="773430" y="5189982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53340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n113"/>
          <p:cNvSpPr/>
          <p:nvPr/>
        </p:nvSpPr>
        <p:spPr>
          <a:xfrm>
            <a:off x="378714" y="5099304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n114: T0"/>
          <p:cNvSpPr txBox="1"/>
          <p:nvPr/>
        </p:nvSpPr>
        <p:spPr>
          <a:xfrm>
            <a:off x="464079" y="5112106"/>
            <a:ext cx="223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T0</a:t>
            </a:r>
          </a:p>
        </p:txBody>
      </p:sp>
      <p:sp>
        <p:nvSpPr>
          <p:cNvPr id="115" name="n115"/>
          <p:cNvSpPr/>
          <p:nvPr/>
        </p:nvSpPr>
        <p:spPr>
          <a:xfrm>
            <a:off x="373380" y="581406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116: P1"/>
          <p:cNvSpPr txBox="1"/>
          <p:nvPr/>
        </p:nvSpPr>
        <p:spPr>
          <a:xfrm>
            <a:off x="455565" y="5826862"/>
            <a:ext cx="230345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17" name="n117"/>
          <p:cNvSpPr/>
          <p:nvPr/>
        </p:nvSpPr>
        <p:spPr>
          <a:xfrm>
            <a:off x="768096" y="5904738"/>
            <a:ext cx="538734" cy="1"/>
          </a:xfrm>
          <a:custGeom>
            <a:avLst/>
            <a:gdLst/>
            <a:ahLst/>
            <a:cxnLst/>
            <a:rect l="0" t="0" r="r" b="b"/>
            <a:pathLst>
              <a:path w="538734" h="1" fill="none">
                <a:moveTo>
                  <a:pt x="0" y="0"/>
                </a:moveTo>
                <a:lnTo>
                  <a:pt x="538734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n118"/>
          <p:cNvSpPr/>
          <p:nvPr/>
        </p:nvSpPr>
        <p:spPr>
          <a:xfrm>
            <a:off x="1306830" y="5654040"/>
            <a:ext cx="165354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n119: i_mem_req_spill"/>
          <p:cNvSpPr txBox="1"/>
          <p:nvPr/>
        </p:nvSpPr>
        <p:spPr>
          <a:xfrm>
            <a:off x="1637292" y="5737570"/>
            <a:ext cx="9926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i_mem_req_spill</a:t>
            </a:r>
          </a:p>
        </p:txBody>
      </p:sp>
      <p:sp>
        <p:nvSpPr>
          <p:cNvPr id="120" name="n120: CutMemReqs = 1（默认）"/>
          <p:cNvSpPr txBox="1"/>
          <p:nvPr/>
        </p:nvSpPr>
        <p:spPr>
          <a:xfrm>
            <a:off x="1423940" y="5909112"/>
            <a:ext cx="141931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CutMemReqs = 1（默认）</a:t>
            </a:r>
          </a:p>
        </p:txBody>
      </p:sp>
      <p:sp>
        <p:nvSpPr>
          <p:cNvPr id="121" name="n121"/>
          <p:cNvSpPr/>
          <p:nvPr/>
        </p:nvSpPr>
        <p:spPr>
          <a:xfrm>
            <a:off x="1354836" y="57020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n122"/>
          <p:cNvSpPr/>
          <p:nvPr/>
        </p:nvSpPr>
        <p:spPr>
          <a:xfrm>
            <a:off x="1397508" y="5702046"/>
            <a:ext cx="1" cy="410718"/>
          </a:xfrm>
          <a:custGeom>
            <a:avLst/>
            <a:gdLst/>
            <a:ahLst/>
            <a:cxnLst/>
            <a:rect l="0" t="0" r="r" b="b"/>
            <a:pathLst>
              <a:path w="1" h="410718" fill="none">
                <a:moveTo>
                  <a:pt x="0" y="0"/>
                </a:moveTo>
                <a:lnTo>
                  <a:pt x="0" y="410718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n123"/>
          <p:cNvSpPr/>
          <p:nvPr/>
        </p:nvSpPr>
        <p:spPr>
          <a:xfrm>
            <a:off x="3493770" y="5654040"/>
            <a:ext cx="1893570" cy="50673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n124: i_periph_to_reg"/>
          <p:cNvSpPr txBox="1"/>
          <p:nvPr/>
        </p:nvSpPr>
        <p:spPr>
          <a:xfrm>
            <a:off x="3949556" y="5731810"/>
            <a:ext cx="98199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i_periph_to_reg</a:t>
            </a:r>
          </a:p>
        </p:txBody>
      </p:sp>
      <p:sp>
        <p:nvSpPr>
          <p:cNvPr id="125" name="n125: 请求直通；响应寄存器见 C"/>
          <p:cNvSpPr txBox="1"/>
          <p:nvPr/>
        </p:nvSpPr>
        <p:spPr>
          <a:xfrm>
            <a:off x="3717006" y="5909112"/>
            <a:ext cx="144709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请求直通；响应寄存器见 C</a:t>
            </a:r>
          </a:p>
        </p:txBody>
      </p:sp>
      <p:sp>
        <p:nvSpPr>
          <p:cNvPr id="126" name="n126"/>
          <p:cNvSpPr/>
          <p:nvPr/>
        </p:nvSpPr>
        <p:spPr>
          <a:xfrm>
            <a:off x="2960370" y="59047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n127: 32 bit"/>
          <p:cNvSpPr txBox="1"/>
          <p:nvPr/>
        </p:nvSpPr>
        <p:spPr>
          <a:xfrm>
            <a:off x="2987211" y="5688178"/>
            <a:ext cx="38370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32 bit</a:t>
            </a:r>
          </a:p>
        </p:txBody>
      </p:sp>
      <p:sp>
        <p:nvSpPr>
          <p:cNvPr id="128" name="n128"/>
          <p:cNvSpPr/>
          <p:nvPr/>
        </p:nvSpPr>
        <p:spPr>
          <a:xfrm>
            <a:off x="5920740" y="5654040"/>
            <a:ext cx="2026920" cy="50673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n129: 零写过滤 · reg_demux(2)"/>
          <p:cNvSpPr txBox="1"/>
          <p:nvPr/>
        </p:nvSpPr>
        <p:spPr>
          <a:xfrm>
            <a:off x="6180668" y="5731810"/>
            <a:ext cx="150706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零写过滤 · reg_demux(2)</a:t>
            </a:r>
          </a:p>
        </p:txBody>
      </p:sp>
      <p:sp>
        <p:nvSpPr>
          <p:cNvPr id="130" name="n130: Z = write &amp; (wstrb == 0)"/>
          <p:cNvSpPr txBox="1"/>
          <p:nvPr/>
        </p:nvSpPr>
        <p:spPr>
          <a:xfrm>
            <a:off x="6293024" y="5909112"/>
            <a:ext cx="1282352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 = write &amp; (wstrb == 0)</a:t>
            </a:r>
          </a:p>
        </p:txBody>
      </p:sp>
      <p:sp>
        <p:nvSpPr>
          <p:cNvPr id="131" name="n131"/>
          <p:cNvSpPr/>
          <p:nvPr/>
        </p:nvSpPr>
        <p:spPr>
          <a:xfrm>
            <a:off x="5387340" y="5904738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n132"/>
          <p:cNvSpPr/>
          <p:nvPr/>
        </p:nvSpPr>
        <p:spPr>
          <a:xfrm>
            <a:off x="7947660" y="5654040"/>
            <a:ext cx="1493520" cy="176022"/>
          </a:xfrm>
          <a:custGeom>
            <a:avLst/>
            <a:gdLst/>
            <a:ahLst/>
            <a:cxnLst/>
            <a:rect l="0" t="0" r="r" b="b"/>
            <a:pathLst>
              <a:path w="1493520" h="176022" fill="none">
                <a:moveTo>
                  <a:pt x="0" y="176022"/>
                </a:moveTo>
                <a:lnTo>
                  <a:pt x="1066800" y="176022"/>
                </a:lnTo>
                <a:lnTo>
                  <a:pt x="1066800" y="0"/>
                </a:lnTo>
                <a:lnTo>
                  <a:pt x="149352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n133: Z=0：正常请求"/>
          <p:cNvSpPr txBox="1"/>
          <p:nvPr/>
        </p:nvSpPr>
        <p:spPr>
          <a:xfrm>
            <a:off x="8014960" y="5613502"/>
            <a:ext cx="82552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Z=0：正常请求</a:t>
            </a:r>
          </a:p>
        </p:txBody>
      </p:sp>
      <p:sp>
        <p:nvSpPr>
          <p:cNvPr id="134" name="n134"/>
          <p:cNvSpPr/>
          <p:nvPr/>
        </p:nvSpPr>
        <p:spPr>
          <a:xfrm>
            <a:off x="6080760" y="6427470"/>
            <a:ext cx="1813560" cy="34671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n135: Z=1：本地成功响应"/>
          <p:cNvSpPr txBox="1"/>
          <p:nvPr/>
        </p:nvSpPr>
        <p:spPr>
          <a:xfrm>
            <a:off x="6442126" y="6442512"/>
            <a:ext cx="1090828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Z=1：本地成功响应</a:t>
            </a:r>
          </a:p>
        </p:txBody>
      </p:sp>
      <p:sp>
        <p:nvSpPr>
          <p:cNvPr id="136" name="n136: ready=1 / error=0 / rdata=0"/>
          <p:cNvSpPr txBox="1"/>
          <p:nvPr/>
        </p:nvSpPr>
        <p:spPr>
          <a:xfrm>
            <a:off x="6232312" y="6602532"/>
            <a:ext cx="151045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ready=1 / error=0 / rdata=0</a:t>
            </a:r>
          </a:p>
        </p:txBody>
      </p:sp>
      <p:sp>
        <p:nvSpPr>
          <p:cNvPr id="137" name="n137"/>
          <p:cNvSpPr/>
          <p:nvPr/>
        </p:nvSpPr>
        <p:spPr>
          <a:xfrm>
            <a:off x="6934200" y="616077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n138"/>
          <p:cNvSpPr/>
          <p:nvPr/>
        </p:nvSpPr>
        <p:spPr>
          <a:xfrm>
            <a:off x="8177022" y="632079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n139: R1"/>
          <p:cNvSpPr txBox="1"/>
          <p:nvPr/>
        </p:nvSpPr>
        <p:spPr>
          <a:xfrm>
            <a:off x="8256032" y="6333592"/>
            <a:ext cx="23669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40" name="n140"/>
          <p:cNvSpPr/>
          <p:nvPr/>
        </p:nvSpPr>
        <p:spPr>
          <a:xfrm>
            <a:off x="7947660" y="6054090"/>
            <a:ext cx="426720" cy="266700"/>
          </a:xfrm>
          <a:custGeom>
            <a:avLst/>
            <a:gdLst/>
            <a:ahLst/>
            <a:cxnLst/>
            <a:rect l="0" t="0" r="r" b="b"/>
            <a:pathLst>
              <a:path w="426720" h="266700" fill="none">
                <a:moveTo>
                  <a:pt x="426720" y="266700"/>
                </a:moveTo>
                <a:lnTo>
                  <a:pt x="426720" y="0"/>
                </a:ln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n141"/>
          <p:cNvSpPr/>
          <p:nvPr/>
        </p:nvSpPr>
        <p:spPr>
          <a:xfrm>
            <a:off x="5760720" y="6118098"/>
            <a:ext cx="320040" cy="485394"/>
          </a:xfrm>
          <a:custGeom>
            <a:avLst/>
            <a:gdLst/>
            <a:ahLst/>
            <a:cxnLst/>
            <a:rect l="0" t="0" r="r" b="b"/>
            <a:pathLst>
              <a:path w="320040" h="485394" fill="none">
                <a:moveTo>
                  <a:pt x="320040" y="485394"/>
                </a:moveTo>
                <a:lnTo>
                  <a:pt x="0" y="485394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n142"/>
          <p:cNvSpPr/>
          <p:nvPr/>
        </p:nvSpPr>
        <p:spPr>
          <a:xfrm>
            <a:off x="4453890" y="6054090"/>
            <a:ext cx="1466850" cy="250698"/>
          </a:xfrm>
          <a:custGeom>
            <a:avLst/>
            <a:gdLst/>
            <a:ahLst/>
            <a:cxnLst/>
            <a:rect l="0" t="0" r="r" b="b"/>
            <a:pathLst>
              <a:path w="1466850" h="250698" fill="none">
                <a:moveTo>
                  <a:pt x="1466850" y="0"/>
                </a:moveTo>
                <a:lnTo>
                  <a:pt x="1146810" y="0"/>
                </a:lnTo>
                <a:lnTo>
                  <a:pt x="1146810" y="250698"/>
                </a:lnTo>
                <a:lnTo>
                  <a:pt x="0" y="250698"/>
                </a:lnTo>
                <a:lnTo>
                  <a:pt x="0" y="10668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n143: reg_rsp[i]"/>
          <p:cNvSpPr txBox="1"/>
          <p:nvPr/>
        </p:nvSpPr>
        <p:spPr>
          <a:xfrm>
            <a:off x="4730112" y="6163330"/>
            <a:ext cx="514356" cy="162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reg_rsp[i]</a:t>
            </a:r>
          </a:p>
        </p:txBody>
      </p:sp>
      <p:sp>
        <p:nvSpPr>
          <p:cNvPr id="144" name="n144"/>
          <p:cNvSpPr/>
          <p:nvPr/>
        </p:nvSpPr>
        <p:spPr>
          <a:xfrm>
            <a:off x="2880360" y="6027420"/>
            <a:ext cx="613410" cy="496062"/>
          </a:xfrm>
          <a:custGeom>
            <a:avLst/>
            <a:gdLst/>
            <a:ahLst/>
            <a:cxnLst/>
            <a:rect l="0" t="0" r="r" b="b"/>
            <a:pathLst>
              <a:path w="613410" h="496062" fill="none">
                <a:moveTo>
                  <a:pt x="613410" y="0"/>
                </a:moveTo>
                <a:lnTo>
                  <a:pt x="400050" y="0"/>
                </a:lnTo>
                <a:lnTo>
                  <a:pt x="400050" y="496062"/>
                </a:lnTo>
                <a:lnTo>
                  <a:pt x="0" y="496062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n145"/>
          <p:cNvSpPr/>
          <p:nvPr/>
        </p:nvSpPr>
        <p:spPr>
          <a:xfrm>
            <a:off x="1306830" y="6363462"/>
            <a:ext cx="1573530" cy="3200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n146: i_mem_rsp_spill：旁路"/>
          <p:cNvSpPr txBox="1"/>
          <p:nvPr/>
        </p:nvSpPr>
        <p:spPr>
          <a:xfrm>
            <a:off x="1473513" y="6365169"/>
            <a:ext cx="124016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i_mem_rsp_spill：旁路</a:t>
            </a:r>
          </a:p>
        </p:txBody>
      </p:sp>
      <p:sp>
        <p:nvSpPr>
          <p:cNvPr id="147" name="n147: CutMemRsps = 0"/>
          <p:cNvSpPr txBox="1"/>
          <p:nvPr/>
        </p:nvSpPr>
        <p:spPr>
          <a:xfrm>
            <a:off x="1609055" y="6525189"/>
            <a:ext cx="969079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CutMemRsps = 0</a:t>
            </a:r>
          </a:p>
        </p:txBody>
      </p:sp>
      <p:sp>
        <p:nvSpPr>
          <p:cNvPr id="148" name="n148"/>
          <p:cNvSpPr/>
          <p:nvPr/>
        </p:nvSpPr>
        <p:spPr>
          <a:xfrm>
            <a:off x="773430" y="6523482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533400" y="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n149"/>
          <p:cNvSpPr/>
          <p:nvPr/>
        </p:nvSpPr>
        <p:spPr>
          <a:xfrm>
            <a:off x="378714" y="6432804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n150: T1"/>
          <p:cNvSpPr txBox="1"/>
          <p:nvPr/>
        </p:nvSpPr>
        <p:spPr>
          <a:xfrm>
            <a:off x="464079" y="6445606"/>
            <a:ext cx="2239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51" name="n151"/>
          <p:cNvSpPr/>
          <p:nvPr/>
        </p:nvSpPr>
        <p:spPr>
          <a:xfrm>
            <a:off x="9441180" y="4613910"/>
            <a:ext cx="960120" cy="1386840"/>
          </a:xfrm>
          <a:custGeom>
            <a:avLst/>
            <a:gdLst/>
            <a:ahLst/>
            <a:cxnLst/>
            <a:rect l="0" t="0" r="r" b="b"/>
            <a:pathLst>
              <a:path w="960120" h="1386840">
                <a:moveTo>
                  <a:pt x="0" y="0"/>
                </a:moveTo>
                <a:lnTo>
                  <a:pt x="960120" y="149352"/>
                </a:lnTo>
                <a:lnTo>
                  <a:pt x="960120" y="1237488"/>
                </a:lnTo>
                <a:lnTo>
                  <a:pt x="0" y="138684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n152: 2:1"/>
          <p:cNvSpPr txBox="1"/>
          <p:nvPr/>
        </p:nvSpPr>
        <p:spPr>
          <a:xfrm>
            <a:off x="9761283" y="5211745"/>
            <a:ext cx="31991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2:1</a:t>
            </a:r>
          </a:p>
        </p:txBody>
      </p:sp>
      <p:sp>
        <p:nvSpPr>
          <p:cNvPr id="153" name="n153: i_reg_mux"/>
          <p:cNvSpPr txBox="1"/>
          <p:nvPr/>
        </p:nvSpPr>
        <p:spPr>
          <a:xfrm>
            <a:off x="9575884" y="4336969"/>
            <a:ext cx="69071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i_reg_mux</a:t>
            </a:r>
          </a:p>
        </p:txBody>
      </p:sp>
      <p:sp>
        <p:nvSpPr>
          <p:cNvPr id="154" name="n154"/>
          <p:cNvSpPr/>
          <p:nvPr/>
        </p:nvSpPr>
        <p:spPr>
          <a:xfrm>
            <a:off x="11041380" y="4853940"/>
            <a:ext cx="1253490" cy="853440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n155: 公共 Regbus"/>
          <p:cNvSpPr txBox="1"/>
          <p:nvPr/>
        </p:nvSpPr>
        <p:spPr>
          <a:xfrm>
            <a:off x="11248510" y="5025055"/>
            <a:ext cx="83923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公共 Regbus</a:t>
            </a:r>
          </a:p>
        </p:txBody>
      </p:sp>
      <p:sp>
        <p:nvSpPr>
          <p:cNvPr id="156" name="n156: reg_req_o"/>
          <p:cNvSpPr txBox="1"/>
          <p:nvPr/>
        </p:nvSpPr>
        <p:spPr>
          <a:xfrm>
            <a:off x="11371571" y="5202357"/>
            <a:ext cx="59310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reg_req_o</a:t>
            </a:r>
          </a:p>
        </p:txBody>
      </p:sp>
      <p:sp>
        <p:nvSpPr>
          <p:cNvPr id="157" name="n157: reg_rsp_i"/>
          <p:cNvSpPr txBox="1"/>
          <p:nvPr/>
        </p:nvSpPr>
        <p:spPr>
          <a:xfrm>
            <a:off x="11389453" y="5362377"/>
            <a:ext cx="5573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reg_rsp_i</a:t>
            </a:r>
          </a:p>
        </p:txBody>
      </p:sp>
      <p:sp>
        <p:nvSpPr>
          <p:cNvPr id="158" name="n158"/>
          <p:cNvSpPr/>
          <p:nvPr/>
        </p:nvSpPr>
        <p:spPr>
          <a:xfrm>
            <a:off x="10401300" y="5189982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2802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n159: req"/>
          <p:cNvSpPr txBox="1"/>
          <p:nvPr/>
        </p:nvSpPr>
        <p:spPr>
          <a:xfrm>
            <a:off x="10587065" y="4956993"/>
            <a:ext cx="268550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req</a:t>
            </a:r>
          </a:p>
        </p:txBody>
      </p:sp>
      <p:sp>
        <p:nvSpPr>
          <p:cNvPr id="160" name="n160"/>
          <p:cNvSpPr/>
          <p:nvPr/>
        </p:nvSpPr>
        <p:spPr>
          <a:xfrm>
            <a:off x="10241280" y="6016752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n161: R0/1"/>
          <p:cNvSpPr txBox="1"/>
          <p:nvPr/>
        </p:nvSpPr>
        <p:spPr>
          <a:xfrm>
            <a:off x="10260595" y="6029554"/>
            <a:ext cx="35608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R0/1</a:t>
            </a:r>
          </a:p>
        </p:txBody>
      </p:sp>
      <p:sp>
        <p:nvSpPr>
          <p:cNvPr id="162" name="n162"/>
          <p:cNvSpPr/>
          <p:nvPr/>
        </p:nvSpPr>
        <p:spPr>
          <a:xfrm>
            <a:off x="10635996" y="5707380"/>
            <a:ext cx="1029462" cy="400050"/>
          </a:xfrm>
          <a:custGeom>
            <a:avLst/>
            <a:gdLst/>
            <a:ahLst/>
            <a:cxnLst/>
            <a:rect l="0" t="0" r="r" b="b"/>
            <a:pathLst>
              <a:path w="1029462" h="400050" fill="none">
                <a:moveTo>
                  <a:pt x="1029462" y="0"/>
                </a:moveTo>
                <a:lnTo>
                  <a:pt x="1029462" y="400050"/>
                </a:lnTo>
                <a:lnTo>
                  <a:pt x="0" y="40005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n163: rdata / error 广播；ready 仅回选中路"/>
          <p:cNvSpPr txBox="1"/>
          <p:nvPr/>
        </p:nvSpPr>
        <p:spPr>
          <a:xfrm>
            <a:off x="10321348" y="6222004"/>
            <a:ext cx="1760103" cy="1621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rdata / error 广播；ready 仅回选中路</a:t>
            </a:r>
          </a:p>
        </p:txBody>
      </p:sp>
      <p:sp>
        <p:nvSpPr>
          <p:cNvPr id="164" name="n164"/>
          <p:cNvSpPr/>
          <p:nvPr/>
        </p:nvSpPr>
        <p:spPr>
          <a:xfrm>
            <a:off x="9014460" y="6480810"/>
            <a:ext cx="3333750" cy="400050"/>
          </a:xfrm>
          <a:prstGeom prst="rect">
            <a:avLst/>
          </a:pr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n165: stream_arbiter：轮询 / 等待时保持选择"/>
          <p:cNvSpPr txBox="1"/>
          <p:nvPr/>
        </p:nvSpPr>
        <p:spPr>
          <a:xfrm>
            <a:off x="9547172" y="6511000"/>
            <a:ext cx="226832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stream_arbiter：轮询 / 等待时保持选择</a:t>
            </a:r>
          </a:p>
        </p:txBody>
      </p:sp>
      <p:sp>
        <p:nvSpPr>
          <p:cNvPr id="166" name="n166: 内部两路仲裁，不是 SoC 外设地址解码"/>
          <p:cNvSpPr txBox="1"/>
          <p:nvPr/>
        </p:nvSpPr>
        <p:spPr>
          <a:xfrm>
            <a:off x="9652102" y="6682542"/>
            <a:ext cx="2058466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内部两路仲裁，不是 SoC 外设地址解码</a:t>
            </a:r>
          </a:p>
        </p:txBody>
      </p:sp>
      <p:sp>
        <p:nvSpPr>
          <p:cNvPr id="167" name="n167"/>
          <p:cNvSpPr/>
          <p:nvPr/>
        </p:nvSpPr>
        <p:spPr>
          <a:xfrm>
            <a:off x="9627870" y="6000750"/>
            <a:ext cx="1" cy="480060"/>
          </a:xfrm>
          <a:custGeom>
            <a:avLst/>
            <a:gdLst/>
            <a:ahLst/>
            <a:cxnLst/>
            <a:rect l="0" t="0" r="r" b="b"/>
            <a:pathLst>
              <a:path w="1" h="480060" fill="none">
                <a:moveTo>
                  <a:pt x="0" y="480060"/>
                </a:moveTo>
                <a:lnTo>
                  <a:pt x="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n168"/>
          <p:cNvSpPr/>
          <p:nvPr/>
        </p:nvSpPr>
        <p:spPr>
          <a:xfrm>
            <a:off x="213360" y="7227570"/>
            <a:ext cx="7307580" cy="205359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n169: C  periph_to_reg：请求直通，返回数据与有效位打一拍"/>
          <p:cNvSpPr txBox="1"/>
          <p:nvPr/>
        </p:nvSpPr>
        <p:spPr>
          <a:xfrm>
            <a:off x="320040" y="7269389"/>
            <a:ext cx="362211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periph_to_reg：请求直通，返回数据与有效位打一拍</a:t>
            </a:r>
          </a:p>
        </p:txBody>
      </p:sp>
      <p:sp>
        <p:nvSpPr>
          <p:cNvPr id="170" name="n170: req_i"/>
          <p:cNvSpPr txBox="1"/>
          <p:nvPr/>
        </p:nvSpPr>
        <p:spPr>
          <a:xfrm>
            <a:off x="373380" y="7516033"/>
            <a:ext cx="40155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req_i</a:t>
            </a:r>
          </a:p>
        </p:txBody>
      </p:sp>
      <p:sp>
        <p:nvSpPr>
          <p:cNvPr id="171" name="n171: reg_rsp.ready"/>
          <p:cNvSpPr txBox="1"/>
          <p:nvPr/>
        </p:nvSpPr>
        <p:spPr>
          <a:xfrm>
            <a:off x="373380" y="7895173"/>
            <a:ext cx="84560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reg_rsp.ready</a:t>
            </a:r>
          </a:p>
        </p:txBody>
      </p:sp>
      <p:sp>
        <p:nvSpPr>
          <p:cNvPr id="172" name="n172"/>
          <p:cNvSpPr/>
          <p:nvPr/>
        </p:nvSpPr>
        <p:spPr>
          <a:xfrm>
            <a:off x="1813560" y="7520940"/>
            <a:ext cx="720090" cy="640080"/>
          </a:xfrm>
          <a:custGeom>
            <a:avLst/>
            <a:gdLst/>
            <a:ahLst/>
            <a:cxnLst/>
            <a:rect l="0" t="0" r="r" b="b"/>
            <a:pathLst>
              <a:path w="720090" h="640080">
                <a:moveTo>
                  <a:pt x="0" y="0"/>
                </a:moveTo>
                <a:lnTo>
                  <a:pt x="346710" y="0"/>
                </a:lnTo>
                <a:cubicBezTo>
                  <a:pt x="720090" y="0"/>
                  <a:pt x="720090" y="640080"/>
                  <a:pt x="346710" y="640080"/>
                </a:cubicBezTo>
                <a:lnTo>
                  <a:pt x="0" y="640080"/>
                </a:lnTo>
                <a:close/>
              </a:path>
            </a:pathLst>
          </a:custGeom>
          <a:solidFill>
            <a:srgbClr val="E8DFED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n173: &amp;"/>
          <p:cNvSpPr txBox="1"/>
          <p:nvPr/>
        </p:nvSpPr>
        <p:spPr>
          <a:xfrm>
            <a:off x="1952911" y="7709977"/>
            <a:ext cx="2867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&amp;</a:t>
            </a:r>
          </a:p>
        </p:txBody>
      </p:sp>
      <p:sp>
        <p:nvSpPr>
          <p:cNvPr id="174" name="n174"/>
          <p:cNvSpPr/>
          <p:nvPr/>
        </p:nvSpPr>
        <p:spPr>
          <a:xfrm>
            <a:off x="880110" y="7611618"/>
            <a:ext cx="933450" cy="1"/>
          </a:xfrm>
          <a:custGeom>
            <a:avLst/>
            <a:gdLst/>
            <a:ahLst/>
            <a:cxnLst/>
            <a:rect l="0" t="0" r="r" b="b"/>
            <a:pathLst>
              <a:path w="933450" h="1" fill="none">
                <a:moveTo>
                  <a:pt x="0" y="0"/>
                </a:moveTo>
                <a:lnTo>
                  <a:pt x="933450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n175"/>
          <p:cNvSpPr/>
          <p:nvPr/>
        </p:nvSpPr>
        <p:spPr>
          <a:xfrm>
            <a:off x="1360170" y="7984998"/>
            <a:ext cx="453390" cy="1"/>
          </a:xfrm>
          <a:custGeom>
            <a:avLst/>
            <a:gdLst/>
            <a:ahLst/>
            <a:cxnLst/>
            <a:rect l="0" t="0" r="r" b="b"/>
            <a:pathLst>
              <a:path w="453390" h="1" fill="none">
                <a:moveTo>
                  <a:pt x="0" y="0"/>
                </a:moveTo>
                <a:lnTo>
                  <a:pt x="45339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n176"/>
          <p:cNvSpPr/>
          <p:nvPr/>
        </p:nvSpPr>
        <p:spPr>
          <a:xfrm>
            <a:off x="2442972" y="7840980"/>
            <a:ext cx="597408" cy="1"/>
          </a:xfrm>
          <a:custGeom>
            <a:avLst/>
            <a:gdLst/>
            <a:ahLst/>
            <a:cxnLst/>
            <a:rect l="0" t="0" r="r" b="b"/>
            <a:pathLst>
              <a:path w="597408" h="1" fill="none">
                <a:moveTo>
                  <a:pt x="0" y="0"/>
                </a:moveTo>
                <a:lnTo>
                  <a:pt x="597408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n177: gnt_o"/>
          <p:cNvSpPr txBox="1"/>
          <p:nvPr/>
        </p:nvSpPr>
        <p:spPr>
          <a:xfrm>
            <a:off x="2530058" y="7602657"/>
            <a:ext cx="38056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gnt_o</a:t>
            </a:r>
          </a:p>
        </p:txBody>
      </p:sp>
      <p:sp>
        <p:nvSpPr>
          <p:cNvPr id="178" name="n178"/>
          <p:cNvSpPr/>
          <p:nvPr/>
        </p:nvSpPr>
        <p:spPr>
          <a:xfrm>
            <a:off x="3040380" y="7600950"/>
            <a:ext cx="1786890" cy="48006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n179: D → r_valid_q → Q"/>
          <p:cNvSpPr txBox="1"/>
          <p:nvPr/>
        </p:nvSpPr>
        <p:spPr>
          <a:xfrm>
            <a:off x="3358932" y="7671145"/>
            <a:ext cx="1149785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→ r_valid_q → Q</a:t>
            </a:r>
          </a:p>
        </p:txBody>
      </p:sp>
      <p:sp>
        <p:nvSpPr>
          <p:cNvPr id="180" name="n180: clk_i / rst_ni"/>
          <p:cNvSpPr txBox="1"/>
          <p:nvPr/>
        </p:nvSpPr>
        <p:spPr>
          <a:xfrm>
            <a:off x="3569009" y="7842687"/>
            <a:ext cx="72963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clk_i / rst_ni</a:t>
            </a:r>
          </a:p>
        </p:txBody>
      </p:sp>
      <p:sp>
        <p:nvSpPr>
          <p:cNvPr id="181" name="n181"/>
          <p:cNvSpPr/>
          <p:nvPr/>
        </p:nvSpPr>
        <p:spPr>
          <a:xfrm>
            <a:off x="3040380" y="7931658"/>
            <a:ext cx="64008" cy="85344"/>
          </a:xfrm>
          <a:custGeom>
            <a:avLst/>
            <a:gdLst/>
            <a:ahLst/>
            <a:cxnLst/>
            <a:rect l="0" t="0" r="r" b="b"/>
            <a:pathLst>
              <a:path w="64008" h="85344" fill="none">
                <a:moveTo>
                  <a:pt x="0" y="0"/>
                </a:moveTo>
                <a:lnTo>
                  <a:pt x="64008" y="42672"/>
                </a:lnTo>
                <a:lnTo>
                  <a:pt x="0" y="85344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n182"/>
          <p:cNvSpPr/>
          <p:nvPr/>
        </p:nvSpPr>
        <p:spPr>
          <a:xfrm>
            <a:off x="4827270" y="7840980"/>
            <a:ext cx="2213610" cy="1"/>
          </a:xfrm>
          <a:custGeom>
            <a:avLst/>
            <a:gdLst/>
            <a:ahLst/>
            <a:cxnLst/>
            <a:rect l="0" t="0" r="r" b="b"/>
            <a:pathLst>
              <a:path w="2213610" h="1" fill="none">
                <a:moveTo>
                  <a:pt x="0" y="0"/>
                </a:moveTo>
                <a:lnTo>
                  <a:pt x="221361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n183: r_valid_o（下一拍）"/>
          <p:cNvSpPr txBox="1"/>
          <p:nvPr/>
        </p:nvSpPr>
        <p:spPr>
          <a:xfrm>
            <a:off x="5182514" y="7607564"/>
            <a:ext cx="1156411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r_valid_o（下一拍）</a:t>
            </a:r>
          </a:p>
        </p:txBody>
      </p:sp>
      <p:sp>
        <p:nvSpPr>
          <p:cNvPr id="184" name="n184: reg_rsp.{rdata,error}"/>
          <p:cNvSpPr txBox="1"/>
          <p:nvPr/>
        </p:nvSpPr>
        <p:spPr>
          <a:xfrm>
            <a:off x="373380" y="8348563"/>
            <a:ext cx="1193416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reg_rsp.{rdata,error}</a:t>
            </a:r>
          </a:p>
        </p:txBody>
      </p:sp>
      <p:sp>
        <p:nvSpPr>
          <p:cNvPr id="185" name="n185"/>
          <p:cNvSpPr/>
          <p:nvPr/>
        </p:nvSpPr>
        <p:spPr>
          <a:xfrm>
            <a:off x="1733550" y="8438388"/>
            <a:ext cx="1306830" cy="1"/>
          </a:xfrm>
          <a:custGeom>
            <a:avLst/>
            <a:gdLst/>
            <a:ahLst/>
            <a:cxnLst/>
            <a:rect l="0" t="0" r="r" b="b"/>
            <a:pathLst>
              <a:path w="1306830" h="1" fill="none">
                <a:moveTo>
                  <a:pt x="0" y="0"/>
                </a:moveTo>
                <a:lnTo>
                  <a:pt x="130683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n186"/>
          <p:cNvSpPr/>
          <p:nvPr/>
        </p:nvSpPr>
        <p:spPr>
          <a:xfrm>
            <a:off x="3040380" y="8214360"/>
            <a:ext cx="1786890" cy="48006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n187: r_rdata_q / r_opc_q"/>
          <p:cNvSpPr txBox="1"/>
          <p:nvPr/>
        </p:nvSpPr>
        <p:spPr>
          <a:xfrm>
            <a:off x="3341914" y="8284555"/>
            <a:ext cx="1183823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r_rdata_q / r_opc_q</a:t>
            </a:r>
          </a:p>
        </p:txBody>
      </p:sp>
      <p:sp>
        <p:nvSpPr>
          <p:cNvPr id="188" name="n188: 每拍采样；无 gnt 数据使能"/>
          <p:cNvSpPr txBox="1"/>
          <p:nvPr/>
        </p:nvSpPr>
        <p:spPr>
          <a:xfrm>
            <a:off x="3208088" y="8456097"/>
            <a:ext cx="1451473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每拍采样；无 gnt 数据使能</a:t>
            </a:r>
          </a:p>
        </p:txBody>
      </p:sp>
      <p:sp>
        <p:nvSpPr>
          <p:cNvPr id="189" name="n189"/>
          <p:cNvSpPr/>
          <p:nvPr/>
        </p:nvSpPr>
        <p:spPr>
          <a:xfrm>
            <a:off x="3040380" y="8545068"/>
            <a:ext cx="64008" cy="85344"/>
          </a:xfrm>
          <a:custGeom>
            <a:avLst/>
            <a:gdLst/>
            <a:ahLst/>
            <a:cxnLst/>
            <a:rect l="0" t="0" r="r" b="b"/>
            <a:pathLst>
              <a:path w="64008" h="85344" fill="none">
                <a:moveTo>
                  <a:pt x="0" y="0"/>
                </a:moveTo>
                <a:lnTo>
                  <a:pt x="64008" y="42672"/>
                </a:lnTo>
                <a:lnTo>
                  <a:pt x="0" y="85344"/>
                </a:lnTo>
              </a:path>
            </a:pathLst>
          </a:custGeom>
          <a:noFill/>
          <a:ln w="128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n190"/>
          <p:cNvSpPr/>
          <p:nvPr/>
        </p:nvSpPr>
        <p:spPr>
          <a:xfrm>
            <a:off x="4827270" y="8438388"/>
            <a:ext cx="2213610" cy="1"/>
          </a:xfrm>
          <a:custGeom>
            <a:avLst/>
            <a:gdLst/>
            <a:ahLst/>
            <a:cxnLst/>
            <a:rect l="0" t="0" r="r" b="b"/>
            <a:pathLst>
              <a:path w="2213610" h="1" fill="none">
                <a:moveTo>
                  <a:pt x="0" y="0"/>
                </a:moveTo>
                <a:lnTo>
                  <a:pt x="2213610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n191: r_rdata_o / r_opc_o"/>
          <p:cNvSpPr txBox="1"/>
          <p:nvPr/>
        </p:nvSpPr>
        <p:spPr>
          <a:xfrm>
            <a:off x="5301238" y="8194304"/>
            <a:ext cx="1132325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r_rdata_o / r_opc_o</a:t>
            </a:r>
          </a:p>
        </p:txBody>
      </p:sp>
      <p:sp>
        <p:nvSpPr>
          <p:cNvPr id="192" name="n192: 请求字段直通；write = ~wen_i；valid = req_i；低有效异"/>
          <p:cNvSpPr txBox="1"/>
          <p:nvPr/>
        </p:nvSpPr>
        <p:spPr>
          <a:xfrm>
            <a:off x="400050" y="8898392"/>
            <a:ext cx="418740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请求字段直通；write = ~wen_i；valid = req_i；低有效异步复位清零响应寄存器</a:t>
            </a:r>
          </a:p>
        </p:txBody>
      </p:sp>
      <p:sp>
        <p:nvSpPr>
          <p:cNvPr id="193" name="n193"/>
          <p:cNvSpPr/>
          <p:nvPr/>
        </p:nvSpPr>
        <p:spPr>
          <a:xfrm>
            <a:off x="7680960" y="7227570"/>
            <a:ext cx="4907280" cy="2053590"/>
          </a:xfrm>
          <a:prstGeom prst="rect">
            <a:avLst/>
          </a:prstGeom>
          <a:solidFill>
            <a:srgbClr val="F3F7FA"/>
          </a:solidFill>
          <a:ln w="9601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n194: D  AXI 响应重建（位于 A 内部）"/>
          <p:cNvSpPr txBox="1"/>
          <p:nvPr/>
        </p:nvSpPr>
        <p:spPr>
          <a:xfrm>
            <a:off x="7787640" y="7269389"/>
            <a:ext cx="217125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 AXI 响应重建（位于 A 内部）</a:t>
            </a:r>
          </a:p>
        </p:txBody>
      </p:sp>
      <p:sp>
        <p:nvSpPr>
          <p:cNvPr id="195" name="n195"/>
          <p:cNvSpPr/>
          <p:nvPr/>
        </p:nvSpPr>
        <p:spPr>
          <a:xfrm>
            <a:off x="7840980" y="762762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n196: T0/1"/>
          <p:cNvSpPr txBox="1"/>
          <p:nvPr/>
        </p:nvSpPr>
        <p:spPr>
          <a:xfrm>
            <a:off x="7866650" y="7640422"/>
            <a:ext cx="343376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T0/1</a:t>
            </a:r>
          </a:p>
        </p:txBody>
      </p:sp>
      <p:sp>
        <p:nvSpPr>
          <p:cNvPr id="197" name="n197"/>
          <p:cNvSpPr/>
          <p:nvPr/>
        </p:nvSpPr>
        <p:spPr>
          <a:xfrm>
            <a:off x="7840980" y="805434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n198: META"/>
          <p:cNvSpPr txBox="1"/>
          <p:nvPr/>
        </p:nvSpPr>
        <p:spPr>
          <a:xfrm>
            <a:off x="7854923" y="8067142"/>
            <a:ext cx="366829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META</a:t>
            </a:r>
          </a:p>
        </p:txBody>
      </p:sp>
      <p:sp>
        <p:nvSpPr>
          <p:cNvPr id="199" name="n199"/>
          <p:cNvSpPr/>
          <p:nvPr/>
        </p:nvSpPr>
        <p:spPr>
          <a:xfrm>
            <a:off x="7840980" y="8481060"/>
            <a:ext cx="394716" cy="181356"/>
          </a:xfrm>
          <a:prstGeom prst="rect">
            <a:avLst/>
          </a:prstGeom>
          <a:solidFill>
            <a:srgbClr val="FFFFFF"/>
          </a:solidFill>
          <a:ln w="9601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n200: RB"/>
          <p:cNvSpPr txBox="1"/>
          <p:nvPr/>
        </p:nvSpPr>
        <p:spPr>
          <a:xfrm>
            <a:off x="7918948" y="8493862"/>
            <a:ext cx="238780" cy="17068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RB</a:t>
            </a:r>
          </a:p>
        </p:txBody>
      </p:sp>
      <p:sp>
        <p:nvSpPr>
          <p:cNvPr id="201" name="n201"/>
          <p:cNvSpPr/>
          <p:nvPr/>
        </p:nvSpPr>
        <p:spPr>
          <a:xfrm>
            <a:off x="8854440" y="7520940"/>
            <a:ext cx="3493770" cy="586740"/>
          </a:xfrm>
          <a:prstGeom prst="rect">
            <a:avLst/>
          </a:prstGeom>
          <a:solidFill>
            <a:srgbClr val="D9EEE8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n202: 收集两路响应 + 配对元数据"/>
          <p:cNvSpPr txBox="1"/>
          <p:nvPr/>
        </p:nvSpPr>
        <p:spPr>
          <a:xfrm>
            <a:off x="9791674" y="7644475"/>
            <a:ext cx="1619302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收集两路响应 + 配对元数据</a:t>
            </a:r>
          </a:p>
        </p:txBody>
      </p:sp>
      <p:sp>
        <p:nvSpPr>
          <p:cNvPr id="203" name="n203: bank 响应 FIFO → stream_to_mem → i_join"/>
          <p:cNvSpPr txBox="1"/>
          <p:nvPr/>
        </p:nvSpPr>
        <p:spPr>
          <a:xfrm>
            <a:off x="9472113" y="7816017"/>
            <a:ext cx="2258424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响应 FIFO → stream_to_mem → i_join</a:t>
            </a:r>
          </a:p>
        </p:txBody>
      </p:sp>
      <p:sp>
        <p:nvSpPr>
          <p:cNvPr id="204" name="n204"/>
          <p:cNvSpPr/>
          <p:nvPr/>
        </p:nvSpPr>
        <p:spPr>
          <a:xfrm>
            <a:off x="8235696" y="7718298"/>
            <a:ext cx="618744" cy="1"/>
          </a:xfrm>
          <a:custGeom>
            <a:avLst/>
            <a:gdLst/>
            <a:ahLst/>
            <a:cxnLst/>
            <a:rect l="0" t="0" r="r" b="b"/>
            <a:pathLst>
              <a:path w="618744" h="1" fill="none">
                <a:moveTo>
                  <a:pt x="0" y="0"/>
                </a:moveTo>
                <a:lnTo>
                  <a:pt x="618744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n205"/>
          <p:cNvSpPr/>
          <p:nvPr/>
        </p:nvSpPr>
        <p:spPr>
          <a:xfrm>
            <a:off x="8235696" y="7904988"/>
            <a:ext cx="618744" cy="240030"/>
          </a:xfrm>
          <a:custGeom>
            <a:avLst/>
            <a:gdLst/>
            <a:ahLst/>
            <a:cxnLst/>
            <a:rect l="0" t="0" r="r" b="b"/>
            <a:pathLst>
              <a:path w="618744" h="240030" fill="none">
                <a:moveTo>
                  <a:pt x="0" y="240030"/>
                </a:moveTo>
                <a:lnTo>
                  <a:pt x="298704" y="240030"/>
                </a:lnTo>
                <a:lnTo>
                  <a:pt x="298704" y="0"/>
                </a:lnTo>
                <a:lnTo>
                  <a:pt x="618744" y="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n206"/>
          <p:cNvSpPr/>
          <p:nvPr/>
        </p:nvSpPr>
        <p:spPr>
          <a:xfrm>
            <a:off x="8854440" y="8374380"/>
            <a:ext cx="3493770" cy="613410"/>
          </a:xfrm>
          <a:prstGeom prst="rect">
            <a:avLst/>
          </a:prstGeom>
          <a:solidFill>
            <a:srgbClr val="D8E8F4"/>
          </a:solidFill>
          <a:ln w="96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n207: i_fork_dynamic → AXI R / B"/>
          <p:cNvSpPr txBox="1"/>
          <p:nvPr/>
        </p:nvSpPr>
        <p:spPr>
          <a:xfrm>
            <a:off x="9798495" y="8431240"/>
            <a:ext cx="1605659" cy="1962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i_fork_dynamic → AXI R / B</a:t>
            </a:r>
          </a:p>
        </p:txBody>
      </p:sp>
      <p:sp>
        <p:nvSpPr>
          <p:cNvPr id="208" name="n208: R：数据 / ID / LAST；B：写错误累积"/>
          <p:cNvSpPr txBox="1"/>
          <p:nvPr/>
        </p:nvSpPr>
        <p:spPr>
          <a:xfrm>
            <a:off x="9617052" y="8602782"/>
            <a:ext cx="1968546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R：数据 / ID / LAST；B：写错误累积</a:t>
            </a:r>
          </a:p>
        </p:txBody>
      </p:sp>
      <p:sp>
        <p:nvSpPr>
          <p:cNvPr id="209" name="n209: 由 RREADY / BREADY 施加反压"/>
          <p:cNvSpPr txBox="1"/>
          <p:nvPr/>
        </p:nvSpPr>
        <p:spPr>
          <a:xfrm>
            <a:off x="9768442" y="8762802"/>
            <a:ext cx="1665767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由 RREADY / BREADY 施加反压</a:t>
            </a:r>
          </a:p>
        </p:txBody>
      </p:sp>
      <p:sp>
        <p:nvSpPr>
          <p:cNvPr id="210" name="n210"/>
          <p:cNvSpPr/>
          <p:nvPr/>
        </p:nvSpPr>
        <p:spPr>
          <a:xfrm>
            <a:off x="10587990" y="810768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802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n211"/>
          <p:cNvSpPr/>
          <p:nvPr/>
        </p:nvSpPr>
        <p:spPr>
          <a:xfrm>
            <a:off x="8235696" y="8571738"/>
            <a:ext cx="618744" cy="1"/>
          </a:xfrm>
          <a:custGeom>
            <a:avLst/>
            <a:gdLst/>
            <a:ahLst/>
            <a:cxnLst/>
            <a:rect l="0" t="0" r="r" b="b"/>
            <a:pathLst>
              <a:path w="618744" h="1" fill="none">
                <a:moveTo>
                  <a:pt x="0" y="0"/>
                </a:moveTo>
                <a:lnTo>
                  <a:pt x="618744" y="0"/>
                </a:lnTo>
              </a:path>
            </a:pathLst>
          </a:custGeom>
          <a:noFill/>
          <a:ln w="12802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n212: 蓝：请求／数据   绿：响应   紫：握手／选择   P、T、R、META、RB"/>
          <p:cNvSpPr txBox="1"/>
          <p:nvPr/>
        </p:nvSpPr>
        <p:spPr>
          <a:xfrm>
            <a:off x="240030" y="9437126"/>
            <a:ext cx="6164662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蓝：请求／数据   绿：响应   紫：握手／选择   P、T、R、META、RB、F：同名连接点；正向箭头旁的反压未逐线展开</a:t>
            </a:r>
          </a:p>
        </p:txBody>
      </p:sp>
      <p:sp>
        <p:nvSpPr>
          <p:cNvPr id="213" name="n213: 范围：原子适配与外部 AXI 切片之后；时序单元使用 clk_i / rst_n"/>
          <p:cNvSpPr txBox="1"/>
          <p:nvPr/>
        </p:nvSpPr>
        <p:spPr>
          <a:xfrm>
            <a:off x="240030" y="9634484"/>
            <a:ext cx="5963887" cy="1877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4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范围：原子适配与外部 AXI 切片之后；时序单元使用 clk_i / rst_ni。子通路 bank 是宽度拆分，不是 SRAM bank。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