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885333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vds-io-region"/>
          <p:cNvSpPr/>
          <p:nvPr/>
        </p:nvSpPr>
        <p:spPr>
          <a:xfrm>
            <a:off x="11294533" y="823942"/>
            <a:ext cx="1388533" cy="5283200"/>
          </a:xfrm>
          <a:prstGeom prst="rect">
            <a:avLst/>
          </a:prstGeom>
          <a:solidFill>
            <a:srgbClr val="F1EC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lvds-io-region-title: LVDS I/O / 直通"/>
          <p:cNvSpPr txBox="1"/>
          <p:nvPr/>
        </p:nvSpPr>
        <p:spPr>
          <a:xfrm>
            <a:off x="11523583" y="861704"/>
            <a:ext cx="930434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I/O / 直通</a:t>
            </a:r>
          </a:p>
        </p:txBody>
      </p:sp>
      <p:sp>
        <p:nvSpPr>
          <p:cNvPr id="4" name="lvds-io-region-status: PAD / PHY 待确认"/>
          <p:cNvSpPr txBox="1"/>
          <p:nvPr/>
        </p:nvSpPr>
        <p:spPr>
          <a:xfrm>
            <a:off x="11595213" y="1036320"/>
            <a:ext cx="787172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PAD / PHY 待确认</a:t>
            </a:r>
          </a:p>
        </p:txBody>
      </p:sp>
      <p:sp>
        <p:nvSpPr>
          <p:cNvPr id="5" name="lvds-input-buffer"/>
          <p:cNvSpPr/>
          <p:nvPr/>
        </p:nvSpPr>
        <p:spPr>
          <a:xfrm>
            <a:off x="11514666" y="1348216"/>
            <a:ext cx="609600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vds-input-title: LVDS 输入"/>
          <p:cNvSpPr txBox="1"/>
          <p:nvPr/>
        </p:nvSpPr>
        <p:spPr>
          <a:xfrm>
            <a:off x="11540170" y="1384657"/>
            <a:ext cx="55859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输入</a:t>
            </a:r>
          </a:p>
        </p:txBody>
      </p:sp>
      <p:sp>
        <p:nvSpPr>
          <p:cNvPr id="7" name="lvds-input-detail: 电气缓冲"/>
          <p:cNvSpPr txBox="1"/>
          <p:nvPr/>
        </p:nvSpPr>
        <p:spPr>
          <a:xfrm>
            <a:off x="11607800" y="1524323"/>
            <a:ext cx="423333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电气缓冲</a:t>
            </a:r>
          </a:p>
        </p:txBody>
      </p:sp>
      <p:sp>
        <p:nvSpPr>
          <p:cNvPr id="8" name="lvds-output-select"/>
          <p:cNvSpPr/>
          <p:nvPr/>
        </p:nvSpPr>
        <p:spPr>
          <a:xfrm>
            <a:off x="11480800" y="5717016"/>
            <a:ext cx="440267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lvds-select-title: 二选一"/>
          <p:cNvSpPr txBox="1"/>
          <p:nvPr/>
        </p:nvSpPr>
        <p:spPr>
          <a:xfrm>
            <a:off x="11511280" y="5753456"/>
            <a:ext cx="37930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二选一</a:t>
            </a:r>
          </a:p>
        </p:txBody>
      </p:sp>
      <p:sp>
        <p:nvSpPr>
          <p:cNvPr id="10" name="lvds-select-detail: 数据/时钟"/>
          <p:cNvSpPr txBox="1"/>
          <p:nvPr/>
        </p:nvSpPr>
        <p:spPr>
          <a:xfrm>
            <a:off x="11489560" y="5900438"/>
            <a:ext cx="422746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数据/时钟</a:t>
            </a:r>
          </a:p>
        </p:txBody>
      </p:sp>
      <p:sp>
        <p:nvSpPr>
          <p:cNvPr id="11" name="lvds-common-driver"/>
          <p:cNvSpPr/>
          <p:nvPr/>
        </p:nvSpPr>
        <p:spPr>
          <a:xfrm>
            <a:off x="12022666" y="5717016"/>
            <a:ext cx="609600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lvds-driver-title: LVDS 输出"/>
          <p:cNvSpPr txBox="1"/>
          <p:nvPr/>
        </p:nvSpPr>
        <p:spPr>
          <a:xfrm>
            <a:off x="12048170" y="5753456"/>
            <a:ext cx="55859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3" name="lvds-driver-detail: 共用驱动"/>
          <p:cNvSpPr txBox="1"/>
          <p:nvPr/>
        </p:nvSpPr>
        <p:spPr>
          <a:xfrm>
            <a:off x="12115800" y="5893123"/>
            <a:ext cx="423333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共用驱动</a:t>
            </a:r>
          </a:p>
        </p:txBody>
      </p:sp>
      <p:sp>
        <p:nvSpPr>
          <p:cNvPr id="14" name="lvds-mode-control"/>
          <p:cNvSpPr/>
          <p:nvPr/>
        </p:nvSpPr>
        <p:spPr>
          <a:xfrm>
            <a:off x="11514666" y="4944533"/>
            <a:ext cx="1117600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lvds-control-title: C5 · 模式选择"/>
          <p:cNvSpPr txBox="1"/>
          <p:nvPr/>
        </p:nvSpPr>
        <p:spPr>
          <a:xfrm>
            <a:off x="11713752" y="4956996"/>
            <a:ext cx="719429" cy="1571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C5 · 模式选择</a:t>
            </a:r>
          </a:p>
        </p:txBody>
      </p:sp>
      <p:sp>
        <p:nvSpPr>
          <p:cNvPr id="16" name="lvds-control-priority: 软件选择 / 外部强制优先"/>
          <p:cNvSpPr txBox="1"/>
          <p:nvPr/>
        </p:nvSpPr>
        <p:spPr>
          <a:xfrm>
            <a:off x="11585011" y="5093818"/>
            <a:ext cx="97691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软件选择 / 外部强制优先</a:t>
            </a:r>
          </a:p>
        </p:txBody>
      </p:sp>
      <p:sp>
        <p:nvSpPr>
          <p:cNvPr id="17" name="lvds-control-independent: 无需 CPU / DDR"/>
          <p:cNvSpPr txBox="1"/>
          <p:nvPr/>
        </p:nvSpPr>
        <p:spPr>
          <a:xfrm>
            <a:off x="11727267" y="5215738"/>
            <a:ext cx="69239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无需 CPU / DDR</a:t>
            </a:r>
          </a:p>
        </p:txBody>
      </p:sp>
      <p:sp>
        <p:nvSpPr>
          <p:cNvPr id="18" name="lvds-force-external"/>
          <p:cNvSpPr/>
          <p:nvPr/>
        </p:nvSpPr>
        <p:spPr>
          <a:xfrm>
            <a:off x="12835466" y="4944533"/>
            <a:ext cx="711200" cy="406400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lvds-force-title: 外部强制"/>
          <p:cNvSpPr txBox="1"/>
          <p:nvPr/>
        </p:nvSpPr>
        <p:spPr>
          <a:xfrm>
            <a:off x="12945533" y="4963770"/>
            <a:ext cx="491067" cy="1571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外部强制</a:t>
            </a:r>
          </a:p>
        </p:txBody>
      </p:sp>
      <p:sp>
        <p:nvSpPr>
          <p:cNvPr id="20" name="lvds-force-signal: BYPASS_FORCE"/>
          <p:cNvSpPr txBox="1"/>
          <p:nvPr/>
        </p:nvSpPr>
        <p:spPr>
          <a:xfrm>
            <a:off x="12870399" y="5111022"/>
            <a:ext cx="641334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BYPASS_FORCE</a:t>
            </a:r>
          </a:p>
        </p:txBody>
      </p:sp>
      <p:sp>
        <p:nvSpPr>
          <p:cNvPr id="21" name="lvds-force-pin-status: 管脚待分配"/>
          <p:cNvSpPr txBox="1"/>
          <p:nvPr/>
        </p:nvSpPr>
        <p:spPr>
          <a:xfrm>
            <a:off x="12957386" y="5216008"/>
            <a:ext cx="467360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管脚待分配</a:t>
            </a:r>
          </a:p>
        </p:txBody>
      </p:sp>
      <p:sp>
        <p:nvSpPr>
          <p:cNvPr id="22" name="lvds-bypass-title: 解串前串行旁路"/>
          <p:cNvSpPr txBox="1"/>
          <p:nvPr/>
        </p:nvSpPr>
        <p:spPr>
          <a:xfrm>
            <a:off x="11616266" y="3022939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解串前串行旁路</a:t>
            </a:r>
          </a:p>
        </p:txBody>
      </p:sp>
      <p:sp>
        <p:nvSpPr>
          <p:cNvPr id="23" name="lvds-bypass-lanes: 128 对数据＋1 对时钟"/>
          <p:cNvSpPr txBox="1"/>
          <p:nvPr/>
        </p:nvSpPr>
        <p:spPr>
          <a:xfrm>
            <a:off x="11559646" y="3193627"/>
            <a:ext cx="926042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128 对数据＋1 对时钟</a:t>
            </a:r>
          </a:p>
        </p:txBody>
      </p:sp>
      <p:sp>
        <p:nvSpPr>
          <p:cNvPr id="24" name="lvds-bypass-protocol: 保持传感器原始协议"/>
          <p:cNvSpPr txBox="1"/>
          <p:nvPr/>
        </p:nvSpPr>
        <p:spPr>
          <a:xfrm>
            <a:off x="11599333" y="3342640"/>
            <a:ext cx="846667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保持传感器原始协议</a:t>
            </a:r>
          </a:p>
        </p:txBody>
      </p:sp>
      <p:sp>
        <p:nvSpPr>
          <p:cNvPr id="25" name="lvds-processor-compatibility: 需支持原始协议"/>
          <p:cNvSpPr txBox="1"/>
          <p:nvPr/>
        </p:nvSpPr>
        <p:spPr>
          <a:xfrm>
            <a:off x="12879493" y="6059288"/>
            <a:ext cx="623147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需支持原始协议</a:t>
            </a:r>
          </a:p>
        </p:txBody>
      </p:sp>
      <p:sp>
        <p:nvSpPr>
          <p:cNvPr id="26" name="sensor-to-input-buffer"/>
          <p:cNvSpPr/>
          <p:nvPr/>
        </p:nvSpPr>
        <p:spPr>
          <a:xfrm>
            <a:off x="12124266" y="1517549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7112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lvds-raw-bypass"/>
          <p:cNvSpPr/>
          <p:nvPr/>
        </p:nvSpPr>
        <p:spPr>
          <a:xfrm>
            <a:off x="11396133" y="1517549"/>
            <a:ext cx="203200" cy="4199467"/>
          </a:xfrm>
          <a:custGeom>
            <a:avLst/>
            <a:gdLst/>
            <a:ahLst/>
            <a:cxnLst/>
            <a:rect l="0" t="0" r="r" b="b"/>
            <a:pathLst>
              <a:path w="203200" h="4199467" fill="none">
                <a:moveTo>
                  <a:pt x="0" y="0"/>
                </a:moveTo>
                <a:lnTo>
                  <a:pt x="0" y="4070451"/>
                </a:lnTo>
                <a:lnTo>
                  <a:pt x="203200" y="4070451"/>
                </a:lnTo>
                <a:lnTo>
                  <a:pt x="203200" y="4199467"/>
                </a:lnTo>
              </a:path>
            </a:pathLst>
          </a:custGeom>
          <a:noFill/>
          <a:ln w="16256" cap="flat">
            <a:solidFill>
              <a:srgbClr val="B96043"/>
            </a:solidFill>
            <a:custDash>
              <a:ds d="291667" sp="1875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lvds-serial-branch"/>
          <p:cNvSpPr/>
          <p:nvPr/>
        </p:nvSpPr>
        <p:spPr>
          <a:xfrm>
            <a:off x="11379200" y="1500616"/>
            <a:ext cx="33867" cy="33867"/>
          </a:xfrm>
          <a:prstGeom prst="ellipse">
            <a:avLst/>
          </a:prstGeom>
          <a:solidFill>
            <a:srgbClr val="B96043"/>
          </a:solidFill>
          <a:ln w="3387" cap="flat">
            <a:solidFill>
              <a:srgbClr val="B960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lvds-select-to-driver"/>
          <p:cNvSpPr/>
          <p:nvPr/>
        </p:nvSpPr>
        <p:spPr>
          <a:xfrm>
            <a:off x="11921066" y="58863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lvds-driver-to-processor"/>
          <p:cNvSpPr/>
          <p:nvPr/>
        </p:nvSpPr>
        <p:spPr>
          <a:xfrm>
            <a:off x="12632266" y="5886349"/>
            <a:ext cx="203200" cy="1"/>
          </a:xfrm>
          <a:custGeom>
            <a:avLst/>
            <a:gdLst/>
            <a:ahLst/>
            <a:cxnLst/>
            <a:rect l="0" t="0" r="r" b="b"/>
            <a:pathLst>
              <a:path w="203200" h="1" fill="none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lvds-force-to-control"/>
          <p:cNvSpPr/>
          <p:nvPr/>
        </p:nvSpPr>
        <p:spPr>
          <a:xfrm>
            <a:off x="12632266" y="5147733"/>
            <a:ext cx="203200" cy="1"/>
          </a:xfrm>
          <a:custGeom>
            <a:avLst/>
            <a:gdLst/>
            <a:ahLst/>
            <a:cxnLst/>
            <a:rect l="0" t="0" r="r" b="b"/>
            <a:pathLst>
              <a:path w="203200" h="1" fill="none">
                <a:moveTo>
                  <a:pt x="203200" y="0"/>
                </a:moveTo>
                <a:lnTo>
                  <a:pt x="0" y="0"/>
                </a:lnTo>
              </a:path>
            </a:pathLst>
          </a:custGeom>
          <a:noFill/>
          <a:ln w="10837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lvds-control-to-select"/>
          <p:cNvSpPr/>
          <p:nvPr/>
        </p:nvSpPr>
        <p:spPr>
          <a:xfrm>
            <a:off x="11819466" y="5350933"/>
            <a:ext cx="33867" cy="366083"/>
          </a:xfrm>
          <a:custGeom>
            <a:avLst/>
            <a:gdLst/>
            <a:ahLst/>
            <a:cxnLst/>
            <a:rect l="0" t="0" r="r" b="b"/>
            <a:pathLst>
              <a:path w="33867" h="366083" fill="none">
                <a:moveTo>
                  <a:pt x="33867" y="0"/>
                </a:moveTo>
                <a:lnTo>
                  <a:pt x="33867" y="203200"/>
                </a:lnTo>
                <a:lnTo>
                  <a:pt x="0" y="203200"/>
                </a:lnTo>
                <a:lnTo>
                  <a:pt x="0" y="366083"/>
                </a:lnTo>
              </a:path>
            </a:pathLst>
          </a:custGeom>
          <a:noFill/>
          <a:ln w="10837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geometry-sensor-rx"/>
          <p:cNvSpPr/>
          <p:nvPr/>
        </p:nvSpPr>
        <p:spPr>
          <a:xfrm>
            <a:off x="11129433" y="1517549"/>
            <a:ext cx="385233" cy="1"/>
          </a:xfrm>
          <a:custGeom>
            <a:avLst/>
            <a:gdLst/>
            <a:ahLst/>
            <a:cxnLst/>
            <a:rect l="0" t="0" r="r" b="b"/>
            <a:pathLst>
              <a:path w="385233" h="1" fill="none">
                <a:moveTo>
                  <a:pt x="3852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geometry-tx-processor"/>
          <p:cNvSpPr/>
          <p:nvPr/>
        </p:nvSpPr>
        <p:spPr>
          <a:xfrm>
            <a:off x="11142133" y="5886349"/>
            <a:ext cx="338667" cy="1"/>
          </a:xfrm>
          <a:custGeom>
            <a:avLst/>
            <a:gdLst/>
            <a:ahLst/>
            <a:cxnLst/>
            <a:rect l="0" t="0" r="r" b="b"/>
            <a:pathLst>
              <a:path w="338667" h="1" fill="none">
                <a:moveTo>
                  <a:pt x="0" y="0"/>
                </a:moveTo>
                <a:lnTo>
                  <a:pt x="338667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geometry-phy-ddr"/>
          <p:cNvSpPr/>
          <p:nvPr/>
        </p:nvSpPr>
        <p:spPr>
          <a:xfrm>
            <a:off x="11125200" y="6326616"/>
            <a:ext cx="1710267" cy="1"/>
          </a:xfrm>
          <a:custGeom>
            <a:avLst/>
            <a:gdLst/>
            <a:ahLst/>
            <a:cxnLst/>
            <a:rect l="0" t="0" r="r" b="b"/>
            <a:pathLst>
              <a:path w="1710267" h="1" fill="none">
                <a:moveTo>
                  <a:pt x="0" y="0"/>
                </a:moveTo>
                <a:lnTo>
                  <a:pt x="1710267" y="0"/>
                </a:lnTo>
              </a:path>
            </a:pathLst>
          </a:custGeom>
          <a:noFill/>
          <a:ln w="16256" cap="flat">
            <a:solidFill>
              <a:srgbClr val="B960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geometry-emmc-physical"/>
          <p:cNvSpPr/>
          <p:nvPr/>
        </p:nvSpPr>
        <p:spPr>
          <a:xfrm>
            <a:off x="8228189" y="2330349"/>
            <a:ext cx="4962877" cy="84667"/>
          </a:xfrm>
          <a:custGeom>
            <a:avLst/>
            <a:gdLst/>
            <a:ahLst/>
            <a:cxnLst/>
            <a:rect l="0" t="0" r="r" b="b"/>
            <a:pathLst>
              <a:path w="4962877" h="84667" fill="none">
                <a:moveTo>
                  <a:pt x="4962877" y="84667"/>
                </a:moveTo>
                <a:lnTo>
                  <a:pt x="4962877" y="0"/>
                </a:lnTo>
                <a:lnTo>
                  <a:pt x="3195037" y="0"/>
                </a:lnTo>
                <a:cubicBezTo>
                  <a:pt x="3176975" y="36124"/>
                  <a:pt x="3158913" y="36124"/>
                  <a:pt x="3140850" y="0"/>
                </a:cubicBezTo>
                <a:lnTo>
                  <a:pt x="1975837" y="0"/>
                </a:lnTo>
                <a:cubicBezTo>
                  <a:pt x="1957775" y="36124"/>
                  <a:pt x="1939713" y="36124"/>
                  <a:pt x="1921650" y="0"/>
                </a:cubicBezTo>
                <a:lnTo>
                  <a:pt x="1874237" y="0"/>
                </a:lnTo>
                <a:cubicBezTo>
                  <a:pt x="1856175" y="36124"/>
                  <a:pt x="1838113" y="36124"/>
                  <a:pt x="1820050" y="0"/>
                </a:cubicBezTo>
                <a:lnTo>
                  <a:pt x="1772637" y="0"/>
                </a:lnTo>
                <a:cubicBezTo>
                  <a:pt x="1754575" y="36124"/>
                  <a:pt x="1736513" y="36124"/>
                  <a:pt x="1718450" y="0"/>
                </a:cubicBezTo>
                <a:lnTo>
                  <a:pt x="0" y="0"/>
                </a:ln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B960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