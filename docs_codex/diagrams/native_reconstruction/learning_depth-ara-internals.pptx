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686308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177800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 fill="none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295148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451612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 fill="none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824992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 fill="none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942340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1098804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 fill="none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312928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 fill="none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1"/>
          <p:cNvSpPr/>
          <p:nvPr/>
        </p:nvSpPr>
        <p:spPr>
          <a:xfrm>
            <a:off x="960120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 fill="none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23"/>
          <p:cNvSpPr/>
          <p:nvPr/>
        </p:nvSpPr>
        <p:spPr>
          <a:xfrm>
            <a:off x="5867400" y="5369560"/>
            <a:ext cx="533400" cy="462280"/>
          </a:xfrm>
          <a:custGeom>
            <a:avLst/>
            <a:gdLst/>
            <a:ahLst/>
            <a:cxnLst/>
            <a:rect l="0" t="0" r="r" b="b"/>
            <a:pathLst>
              <a:path w="533400" h="462280" fill="none">
                <a:moveTo>
                  <a:pt x="0" y="0"/>
                </a:moveTo>
                <a:lnTo>
                  <a:pt x="533400" y="0"/>
                </a:lnTo>
                <a:lnTo>
                  <a:pt x="533400" y="462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25"/>
          <p:cNvSpPr/>
          <p:nvPr/>
        </p:nvSpPr>
        <p:spPr>
          <a:xfrm>
            <a:off x="6578600" y="5369560"/>
            <a:ext cx="284480" cy="462280"/>
          </a:xfrm>
          <a:custGeom>
            <a:avLst/>
            <a:gdLst/>
            <a:ahLst/>
            <a:cxnLst/>
            <a:rect l="0" t="0" r="r" b="b"/>
            <a:pathLst>
              <a:path w="284480" h="462280" fill="none">
                <a:moveTo>
                  <a:pt x="284480" y="0"/>
                </a:moveTo>
                <a:lnTo>
                  <a:pt x="0" y="0"/>
                </a:lnTo>
                <a:lnTo>
                  <a:pt x="0" y="462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27"/>
          <p:cNvSpPr/>
          <p:nvPr/>
        </p:nvSpPr>
        <p:spPr>
          <a:xfrm>
            <a:off x="5049520" y="5582920"/>
            <a:ext cx="391160" cy="248920"/>
          </a:xfrm>
          <a:custGeom>
            <a:avLst/>
            <a:gdLst/>
            <a:ahLst/>
            <a:cxnLst/>
            <a:rect l="0" t="0" r="r" b="b"/>
            <a:pathLst>
              <a:path w="391160" h="248920" fill="none">
                <a:moveTo>
                  <a:pt x="0" y="248920"/>
                </a:moveTo>
                <a:lnTo>
                  <a:pt x="0" y="106680"/>
                </a:lnTo>
                <a:lnTo>
                  <a:pt x="391160" y="106680"/>
                </a:ln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29"/>
          <p:cNvSpPr/>
          <p:nvPr/>
        </p:nvSpPr>
        <p:spPr>
          <a:xfrm>
            <a:off x="7396480" y="5582920"/>
            <a:ext cx="355600" cy="248920"/>
          </a:xfrm>
          <a:custGeom>
            <a:avLst/>
            <a:gdLst/>
            <a:ahLst/>
            <a:cxnLst/>
            <a:rect l="0" t="0" r="r" b="b"/>
            <a:pathLst>
              <a:path w="355600" h="248920" fill="none">
                <a:moveTo>
                  <a:pt x="355600" y="248920"/>
                </a:moveTo>
                <a:lnTo>
                  <a:pt x="355600" y="106680"/>
                </a:ln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31"/>
          <p:cNvSpPr/>
          <p:nvPr/>
        </p:nvSpPr>
        <p:spPr>
          <a:xfrm>
            <a:off x="312928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 fill="none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33"/>
          <p:cNvSpPr/>
          <p:nvPr/>
        </p:nvSpPr>
        <p:spPr>
          <a:xfrm>
            <a:off x="960120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 fill="none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35: Ara 内部：向量元素分散到 lanes，再重排回内存"/>
          <p:cNvSpPr txBox="1"/>
          <p:nvPr/>
        </p:nvSpPr>
        <p:spPr>
          <a:xfrm>
            <a:off x="483616" y="271109"/>
            <a:ext cx="627278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内部：向量元素分散到 lanes，再重排回内存</a:t>
            </a:r>
          </a:p>
        </p:txBody>
      </p:sp>
      <p:sp>
        <p:nvSpPr>
          <p:cNvPr id="22" name="text-036: 示例：VLEN=2048、2 lanes、32 个向量寄存器；每个寄存器 256"/>
          <p:cNvSpPr txBox="1"/>
          <p:nvPr/>
        </p:nvSpPr>
        <p:spPr>
          <a:xfrm>
            <a:off x="483616" y="676778"/>
            <a:ext cx="73200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示例：VLEN=2048、2 lanes、32 个向量寄存器；每个寄存器 256 B，VRF 总计 8 KiB。</a:t>
            </a:r>
          </a:p>
        </p:txBody>
      </p:sp>
      <p:sp>
        <p:nvSpPr>
          <p:cNvPr id="23" name="text-037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38: 源码：ara.sv / lane.sv / vlsu.sv；数据分布示意，不表示"/>
          <p:cNvSpPr txBox="1"/>
          <p:nvPr/>
        </p:nvSpPr>
        <p:spPr>
          <a:xfrm>
            <a:off x="341376" y="7726477"/>
            <a:ext cx="59598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源码：ara.sv / lane.sv / vlsu.sv；数据分布示意，不表示每周期恰好完成一元素</a:t>
            </a:r>
          </a:p>
        </p:txBody>
      </p:sp>
      <p:sp>
        <p:nvSpPr>
          <p:cNvPr id="25" name="rect-039"/>
          <p:cNvSpPr/>
          <p:nvPr/>
        </p:nvSpPr>
        <p:spPr>
          <a:xfrm>
            <a:off x="391160" y="1422400"/>
            <a:ext cx="11948160" cy="696976"/>
          </a:xfrm>
          <a:prstGeom prst="roundRect">
            <a:avLst>
              <a:gd name="adj" fmla="val 71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40"/>
          <p:cNvSpPr/>
          <p:nvPr/>
        </p:nvSpPr>
        <p:spPr>
          <a:xfrm>
            <a:off x="391160" y="1422400"/>
            <a:ext cx="35560" cy="696976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41: dispatcher → sequencer"/>
          <p:cNvSpPr txBox="1"/>
          <p:nvPr/>
        </p:nvSpPr>
        <p:spPr>
          <a:xfrm>
            <a:off x="512064" y="1450279"/>
            <a:ext cx="28938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dispatcher → sequencer</a:t>
            </a:r>
          </a:p>
        </p:txBody>
      </p:sp>
      <p:sp>
        <p:nvSpPr>
          <p:cNvPr id="28" name="text-042: vtype / vl / vstart → 依赖跟踪、功能单元发出与完成汇总"/>
          <p:cNvSpPr txBox="1"/>
          <p:nvPr/>
        </p:nvSpPr>
        <p:spPr>
          <a:xfrm>
            <a:off x="512064" y="1721673"/>
            <a:ext cx="54022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vtype / vl / vstart → 依赖跟踪、功能单元发出与完成汇总</a:t>
            </a:r>
          </a:p>
        </p:txBody>
      </p:sp>
      <p:sp>
        <p:nvSpPr>
          <p:cNvPr id="29" name="text-043: lane 0：VRF 4 KiB"/>
          <p:cNvSpPr txBox="1"/>
          <p:nvPr/>
        </p:nvSpPr>
        <p:spPr>
          <a:xfrm>
            <a:off x="519176" y="2581656"/>
            <a:ext cx="20891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0：VRF 4 KiB</a:t>
            </a:r>
          </a:p>
        </p:txBody>
      </p:sp>
      <p:sp>
        <p:nvSpPr>
          <p:cNvPr id="30" name="rect-044"/>
          <p:cNvSpPr/>
          <p:nvPr/>
        </p:nvSpPr>
        <p:spPr>
          <a:xfrm>
            <a:off x="60452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45"/>
          <p:cNvSpPr/>
          <p:nvPr/>
        </p:nvSpPr>
        <p:spPr>
          <a:xfrm>
            <a:off x="60452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46: 分布式寄存器字节"/>
          <p:cNvSpPr txBox="1"/>
          <p:nvPr/>
        </p:nvSpPr>
        <p:spPr>
          <a:xfrm>
            <a:off x="72542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33" name="text-047: e32 元素 0、2、4、6 …"/>
          <p:cNvSpPr txBox="1"/>
          <p:nvPr/>
        </p:nvSpPr>
        <p:spPr>
          <a:xfrm>
            <a:off x="725424" y="3286313"/>
            <a:ext cx="23042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0、2、4、6 …</a:t>
            </a:r>
          </a:p>
        </p:txBody>
      </p:sp>
      <p:sp>
        <p:nvSpPr>
          <p:cNvPr id="34" name="text-048: VLEN 与 lane 数共同决定存储分片"/>
          <p:cNvSpPr txBox="1"/>
          <p:nvPr/>
        </p:nvSpPr>
        <p:spPr>
          <a:xfrm>
            <a:off x="725424" y="3499673"/>
            <a:ext cx="30979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35" name="rect-049"/>
          <p:cNvSpPr/>
          <p:nvPr/>
        </p:nvSpPr>
        <p:spPr>
          <a:xfrm>
            <a:off x="60452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50"/>
          <p:cNvSpPr/>
          <p:nvPr/>
        </p:nvSpPr>
        <p:spPr>
          <a:xfrm>
            <a:off x="60452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51: 操作数队列 → ALU"/>
          <p:cNvSpPr txBox="1"/>
          <p:nvPr/>
        </p:nvSpPr>
        <p:spPr>
          <a:xfrm>
            <a:off x="725424" y="4366199"/>
            <a:ext cx="18953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38" name="text-052: 整数 / MUL / FPU"/>
          <p:cNvSpPr txBox="1"/>
          <p:nvPr/>
        </p:nvSpPr>
        <p:spPr>
          <a:xfrm>
            <a:off x="725424" y="4637593"/>
            <a:ext cx="18434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39" name="rect-053"/>
          <p:cNvSpPr/>
          <p:nvPr/>
        </p:nvSpPr>
        <p:spPr>
          <a:xfrm>
            <a:off x="334264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54"/>
          <p:cNvSpPr/>
          <p:nvPr/>
        </p:nvSpPr>
        <p:spPr>
          <a:xfrm>
            <a:off x="334264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55: 结果写回 VRF"/>
          <p:cNvSpPr txBox="1"/>
          <p:nvPr/>
        </p:nvSpPr>
        <p:spPr>
          <a:xfrm>
            <a:off x="3463544" y="436619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42" name="text-056: 按目标寄存器归位"/>
          <p:cNvSpPr txBox="1"/>
          <p:nvPr/>
        </p:nvSpPr>
        <p:spPr>
          <a:xfrm>
            <a:off x="346354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43" name="text-057: lane 1：VRF 4 KiB"/>
          <p:cNvSpPr txBox="1"/>
          <p:nvPr/>
        </p:nvSpPr>
        <p:spPr>
          <a:xfrm>
            <a:off x="6991096" y="2581656"/>
            <a:ext cx="20891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1：VRF 4 KiB</a:t>
            </a:r>
          </a:p>
        </p:txBody>
      </p:sp>
      <p:sp>
        <p:nvSpPr>
          <p:cNvPr id="44" name="rect-058"/>
          <p:cNvSpPr/>
          <p:nvPr/>
        </p:nvSpPr>
        <p:spPr>
          <a:xfrm>
            <a:off x="707644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9"/>
          <p:cNvSpPr/>
          <p:nvPr/>
        </p:nvSpPr>
        <p:spPr>
          <a:xfrm>
            <a:off x="707644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60: 分布式寄存器字节"/>
          <p:cNvSpPr txBox="1"/>
          <p:nvPr/>
        </p:nvSpPr>
        <p:spPr>
          <a:xfrm>
            <a:off x="719734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47" name="text-061: e32 元素 1、3、5、7 …"/>
          <p:cNvSpPr txBox="1"/>
          <p:nvPr/>
        </p:nvSpPr>
        <p:spPr>
          <a:xfrm>
            <a:off x="7197344" y="3286313"/>
            <a:ext cx="23042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1、3、5、7 …</a:t>
            </a:r>
          </a:p>
        </p:txBody>
      </p:sp>
      <p:sp>
        <p:nvSpPr>
          <p:cNvPr id="48" name="text-062: VLEN 与 lane 数共同决定存储分片"/>
          <p:cNvSpPr txBox="1"/>
          <p:nvPr/>
        </p:nvSpPr>
        <p:spPr>
          <a:xfrm>
            <a:off x="7197344" y="3499673"/>
            <a:ext cx="30979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49" name="rect-063"/>
          <p:cNvSpPr/>
          <p:nvPr/>
        </p:nvSpPr>
        <p:spPr>
          <a:xfrm>
            <a:off x="707644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64"/>
          <p:cNvSpPr/>
          <p:nvPr/>
        </p:nvSpPr>
        <p:spPr>
          <a:xfrm>
            <a:off x="707644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65: 操作数队列 → ALU"/>
          <p:cNvSpPr txBox="1"/>
          <p:nvPr/>
        </p:nvSpPr>
        <p:spPr>
          <a:xfrm>
            <a:off x="7197344" y="4366199"/>
            <a:ext cx="18953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52" name="text-066: 整数 / MUL / FPU"/>
          <p:cNvSpPr txBox="1"/>
          <p:nvPr/>
        </p:nvSpPr>
        <p:spPr>
          <a:xfrm>
            <a:off x="7197344" y="4637593"/>
            <a:ext cx="18434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53" name="rect-067"/>
          <p:cNvSpPr/>
          <p:nvPr/>
        </p:nvSpPr>
        <p:spPr>
          <a:xfrm>
            <a:off x="981456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68"/>
          <p:cNvSpPr/>
          <p:nvPr/>
        </p:nvSpPr>
        <p:spPr>
          <a:xfrm>
            <a:off x="981456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9: 结果写回 VRF"/>
          <p:cNvSpPr txBox="1"/>
          <p:nvPr/>
        </p:nvSpPr>
        <p:spPr>
          <a:xfrm>
            <a:off x="9935464" y="436619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56" name="text-070: 按目标寄存器归位"/>
          <p:cNvSpPr txBox="1"/>
          <p:nvPr/>
        </p:nvSpPr>
        <p:spPr>
          <a:xfrm>
            <a:off x="993546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57" name="rect-071"/>
          <p:cNvSpPr/>
          <p:nvPr/>
        </p:nvSpPr>
        <p:spPr>
          <a:xfrm>
            <a:off x="4516120" y="5831840"/>
            <a:ext cx="3733800" cy="497840"/>
          </a:xfrm>
          <a:prstGeom prst="roundRect">
            <a:avLst>
              <a:gd name="adj" fmla="val 10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72"/>
          <p:cNvSpPr/>
          <p:nvPr/>
        </p:nvSpPr>
        <p:spPr>
          <a:xfrm>
            <a:off x="4516120" y="5831840"/>
            <a:ext cx="35560" cy="4978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73: masku / sldu：使能与跨 lane 交换"/>
          <p:cNvSpPr txBox="1"/>
          <p:nvPr/>
        </p:nvSpPr>
        <p:spPr>
          <a:xfrm>
            <a:off x="4637024" y="5859719"/>
            <a:ext cx="36427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masku / sldu：使能与跨 lane 交换</a:t>
            </a:r>
          </a:p>
        </p:txBody>
      </p:sp>
      <p:sp>
        <p:nvSpPr>
          <p:cNvPr id="60" name="rect-074"/>
          <p:cNvSpPr/>
          <p:nvPr/>
        </p:nvSpPr>
        <p:spPr>
          <a:xfrm>
            <a:off x="391160" y="6614160"/>
            <a:ext cx="11948160" cy="590296"/>
          </a:xfrm>
          <a:prstGeom prst="roundRect">
            <a:avLst>
              <a:gd name="adj" fmla="val 84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75"/>
          <p:cNvSpPr/>
          <p:nvPr/>
        </p:nvSpPr>
        <p:spPr>
          <a:xfrm>
            <a:off x="391160" y="6614160"/>
            <a:ext cx="35560" cy="59029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76: VLSU：连续内存 → load 分发 → lanes → store 重排 →"/>
          <p:cNvSpPr txBox="1"/>
          <p:nvPr/>
        </p:nvSpPr>
        <p:spPr>
          <a:xfrm>
            <a:off x="512064" y="6642039"/>
            <a:ext cx="63147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VLSU：连续内存 → load 分发 → lanes → store 重排 → AXI</a:t>
            </a:r>
          </a:p>
        </p:txBody>
      </p:sp>
      <p:sp>
        <p:nvSpPr>
          <p:cNvPr id="63" name="text-077: VRF 与临时 FIFO 不构成 NPU 可寻址共享 cache"/>
          <p:cNvSpPr txBox="1"/>
          <p:nvPr/>
        </p:nvSpPr>
        <p:spPr>
          <a:xfrm>
            <a:off x="512064" y="6928795"/>
            <a:ext cx="40133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与临时 FIFO 不构成 NPU 可寻址共享 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