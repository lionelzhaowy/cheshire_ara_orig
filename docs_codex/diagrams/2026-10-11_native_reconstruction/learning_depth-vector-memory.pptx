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20040" y="1315720"/>
            <a:ext cx="12161520" cy="2418080"/>
          </a:xfrm>
          <a:prstGeom prst="roundRect">
            <a:avLst>
              <a:gd name="adj" fmla="val 3529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20040" y="4089400"/>
            <a:ext cx="12161520" cy="1991360"/>
          </a:xfrm>
          <a:prstGeom prst="roundRect">
            <a:avLst>
              <a:gd name="adj" fmla="val 428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449320" y="25247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7752080" y="236474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7752080" y="284480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145796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3449320" y="4994402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3449320" y="5426456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7752080" y="513842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 fill="none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9"/>
          <p:cNvSpPr/>
          <p:nvPr/>
        </p:nvSpPr>
        <p:spPr>
          <a:xfrm>
            <a:off x="6223000" y="3058160"/>
            <a:ext cx="1" cy="1600200"/>
          </a:xfrm>
          <a:custGeom>
            <a:avLst/>
            <a:gdLst/>
            <a:ahLst/>
            <a:cxnLst/>
            <a:rect l="0" t="0" r="r" b="b"/>
            <a:pathLst>
              <a:path w="1" h="1600200" fill="none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21: 向量访存：地址翻译与数据搬运是两条路径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向量访存：地址翻译与数据搬运是两条路径</a:t>
            </a:r>
          </a:p>
        </p:txBody>
      </p:sp>
      <p:sp>
        <p:nvSpPr>
          <p:cNvPr id="15" name="text-022: 控制平面确定地址、权限与异常；数据平面在 AXI 和分布式 VRF 之间传输。"/>
          <p:cNvSpPr txBox="1"/>
          <p:nvPr/>
        </p:nvSpPr>
        <p:spPr>
          <a:xfrm>
            <a:off x="483616" y="676778"/>
            <a:ext cx="59705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控制平面确定地址、权限与异常；数据平面在 AXI 和分布式 VRF 之间传输。</a:t>
            </a:r>
          </a:p>
        </p:txBody>
      </p:sp>
      <p:sp>
        <p:nvSpPr>
          <p:cNvPr id="16" name="text-023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24: 源码：Ara addrgen / vldu / vstu；CVA6 load_s"/>
          <p:cNvSpPr txBox="1"/>
          <p:nvPr/>
        </p:nvSpPr>
        <p:spPr>
          <a:xfrm>
            <a:off x="341376" y="7726477"/>
            <a:ext cx="69555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 addrgen / vldu / vstu；CVA6 load_store_unit；cheshire_soc::gen_ara</a:t>
            </a:r>
          </a:p>
        </p:txBody>
      </p:sp>
      <p:sp>
        <p:nvSpPr>
          <p:cNvPr id="18" name="text-025: 地址 / 权限 / 异常平面"/>
          <p:cNvSpPr txBox="1"/>
          <p:nvPr/>
        </p:nvSpPr>
        <p:spPr>
          <a:xfrm>
            <a:off x="448056" y="1372616"/>
            <a:ext cx="22936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地址 / 权限 / 异常平面</a:t>
            </a:r>
          </a:p>
        </p:txBody>
      </p:sp>
      <p:sp>
        <p:nvSpPr>
          <p:cNvPr id="19" name="rect-026"/>
          <p:cNvSpPr/>
          <p:nvPr/>
        </p:nvSpPr>
        <p:spPr>
          <a:xfrm>
            <a:off x="533400" y="1991360"/>
            <a:ext cx="291592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7"/>
          <p:cNvSpPr/>
          <p:nvPr/>
        </p:nvSpPr>
        <p:spPr>
          <a:xfrm>
            <a:off x="533400" y="199136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8: CVA6 标量寄存器"/>
          <p:cNvSpPr txBox="1"/>
          <p:nvPr/>
        </p:nvSpPr>
        <p:spPr>
          <a:xfrm>
            <a:off x="654304" y="2019239"/>
            <a:ext cx="17104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标量寄存器</a:t>
            </a:r>
          </a:p>
        </p:txBody>
      </p:sp>
      <p:sp>
        <p:nvSpPr>
          <p:cNvPr id="22" name="text-029: rs1 = base；rs2 = stride"/>
          <p:cNvSpPr txBox="1"/>
          <p:nvPr/>
        </p:nvSpPr>
        <p:spPr>
          <a:xfrm>
            <a:off x="654304" y="2290633"/>
            <a:ext cx="27822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rs1 = base；rs2 = stride</a:t>
            </a:r>
          </a:p>
        </p:txBody>
      </p:sp>
      <p:sp>
        <p:nvSpPr>
          <p:cNvPr id="23" name="text-030: vstart / 元素索引影响地址"/>
          <p:cNvSpPr txBox="1"/>
          <p:nvPr/>
        </p:nvSpPr>
        <p:spPr>
          <a:xfrm>
            <a:off x="654304" y="2503993"/>
            <a:ext cx="253471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vstart / 元素索引影响地址</a:t>
            </a:r>
          </a:p>
        </p:txBody>
      </p:sp>
      <p:sp>
        <p:nvSpPr>
          <p:cNvPr id="24" name="rect-031"/>
          <p:cNvSpPr/>
          <p:nvPr/>
        </p:nvSpPr>
        <p:spPr>
          <a:xfrm>
            <a:off x="469392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2"/>
          <p:cNvSpPr/>
          <p:nvPr/>
        </p:nvSpPr>
        <p:spPr>
          <a:xfrm>
            <a:off x="469392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3: Ara addrgen"/>
          <p:cNvSpPr txBox="1"/>
          <p:nvPr/>
        </p:nvSpPr>
        <p:spPr>
          <a:xfrm>
            <a:off x="4814824" y="2019239"/>
            <a:ext cx="15070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addrgen</a:t>
            </a:r>
          </a:p>
        </p:txBody>
      </p:sp>
      <p:sp>
        <p:nvSpPr>
          <p:cNvPr id="27" name="text-034: base + 元素偏移"/>
          <p:cNvSpPr txBox="1"/>
          <p:nvPr/>
        </p:nvSpPr>
        <p:spPr>
          <a:xfrm>
            <a:off x="4814824" y="229063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base + 元素偏移</a:t>
            </a:r>
          </a:p>
        </p:txBody>
      </p:sp>
      <p:sp>
        <p:nvSpPr>
          <p:cNvPr id="28" name="text-035: 可选地址翻译与异常处理"/>
          <p:cNvSpPr txBox="1"/>
          <p:nvPr/>
        </p:nvSpPr>
        <p:spPr>
          <a:xfrm>
            <a:off x="4814824" y="2503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可选地址翻译与异常处理</a:t>
            </a:r>
          </a:p>
        </p:txBody>
      </p:sp>
      <p:sp>
        <p:nvSpPr>
          <p:cNvPr id="29" name="rect-036"/>
          <p:cNvSpPr/>
          <p:nvPr/>
        </p:nvSpPr>
        <p:spPr>
          <a:xfrm>
            <a:off x="921004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7"/>
          <p:cNvSpPr/>
          <p:nvPr/>
        </p:nvSpPr>
        <p:spPr>
          <a:xfrm>
            <a:off x="921004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8: CVA6 MMU / LSU"/>
          <p:cNvSpPr txBox="1"/>
          <p:nvPr/>
        </p:nvSpPr>
        <p:spPr>
          <a:xfrm>
            <a:off x="9330944" y="201923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CVA6 MMU / LSU</a:t>
            </a:r>
          </a:p>
        </p:txBody>
      </p:sp>
      <p:sp>
        <p:nvSpPr>
          <p:cNvPr id="32" name="text-039: 仲裁翻译、PMP / 权限"/>
          <p:cNvSpPr txBox="1"/>
          <p:nvPr/>
        </p:nvSpPr>
        <p:spPr>
          <a:xfrm>
            <a:off x="9330944" y="2290633"/>
            <a:ext cx="20311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仲裁翻译、PMP / 权限</a:t>
            </a:r>
          </a:p>
        </p:txBody>
      </p:sp>
      <p:sp>
        <p:nvSpPr>
          <p:cNvPr id="33" name="text-040: 物理地址或异常返回"/>
          <p:cNvSpPr txBox="1"/>
          <p:nvPr/>
        </p:nvSpPr>
        <p:spPr>
          <a:xfrm>
            <a:off x="9330944" y="25039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物理地址或异常返回</a:t>
            </a:r>
          </a:p>
        </p:txBody>
      </p:sp>
      <p:sp>
        <p:nvSpPr>
          <p:cNvPr id="34" name="text-041: load / store 数据平面"/>
          <p:cNvSpPr txBox="1"/>
          <p:nvPr/>
        </p:nvSpPr>
        <p:spPr>
          <a:xfrm>
            <a:off x="448056" y="4146296"/>
            <a:ext cx="23914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load / store 数据平面</a:t>
            </a:r>
          </a:p>
        </p:txBody>
      </p:sp>
      <p:sp>
        <p:nvSpPr>
          <p:cNvPr id="35" name="rect-042"/>
          <p:cNvSpPr/>
          <p:nvPr/>
        </p:nvSpPr>
        <p:spPr>
          <a:xfrm>
            <a:off x="533400" y="4658360"/>
            <a:ext cx="291592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3"/>
          <p:cNvSpPr/>
          <p:nvPr/>
        </p:nvSpPr>
        <p:spPr>
          <a:xfrm>
            <a:off x="53340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4: VRF / lanes"/>
          <p:cNvSpPr txBox="1"/>
          <p:nvPr/>
        </p:nvSpPr>
        <p:spPr>
          <a:xfrm>
            <a:off x="654304" y="4686239"/>
            <a:ext cx="15070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</a:t>
            </a:r>
          </a:p>
        </p:txBody>
      </p:sp>
      <p:sp>
        <p:nvSpPr>
          <p:cNvPr id="38" name="text-045: store 数据 / index / mask"/>
          <p:cNvSpPr txBox="1"/>
          <p:nvPr/>
        </p:nvSpPr>
        <p:spPr>
          <a:xfrm>
            <a:off x="654304" y="4957633"/>
            <a:ext cx="284195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数据 / index / mask</a:t>
            </a:r>
          </a:p>
        </p:txBody>
      </p:sp>
      <p:sp>
        <p:nvSpPr>
          <p:cNvPr id="39" name="text-046: load 目的寄存器"/>
          <p:cNvSpPr txBox="1"/>
          <p:nvPr/>
        </p:nvSpPr>
        <p:spPr>
          <a:xfrm>
            <a:off x="654304" y="5170993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目的寄存器</a:t>
            </a:r>
          </a:p>
        </p:txBody>
      </p:sp>
      <p:sp>
        <p:nvSpPr>
          <p:cNvPr id="40" name="rect-047"/>
          <p:cNvSpPr/>
          <p:nvPr/>
        </p:nvSpPr>
        <p:spPr>
          <a:xfrm>
            <a:off x="469392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8"/>
          <p:cNvSpPr/>
          <p:nvPr/>
        </p:nvSpPr>
        <p:spPr>
          <a:xfrm>
            <a:off x="469392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9: VLSU · vldu / vstu"/>
          <p:cNvSpPr txBox="1"/>
          <p:nvPr/>
        </p:nvSpPr>
        <p:spPr>
          <a:xfrm>
            <a:off x="4814824" y="4686239"/>
            <a:ext cx="234838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VLSU · vldu / vstu</a:t>
            </a:r>
          </a:p>
        </p:txBody>
      </p:sp>
      <p:sp>
        <p:nvSpPr>
          <p:cNvPr id="43" name="text-050: 队列、重排、字节计数"/>
          <p:cNvSpPr txBox="1"/>
          <p:nvPr/>
        </p:nvSpPr>
        <p:spPr>
          <a:xfrm>
            <a:off x="4814824" y="49576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队列、重排、字节计数</a:t>
            </a:r>
          </a:p>
        </p:txBody>
      </p:sp>
      <p:sp>
        <p:nvSpPr>
          <p:cNvPr id="44" name="text-051: 地址应答与数据完成分开"/>
          <p:cNvSpPr txBox="1"/>
          <p:nvPr/>
        </p:nvSpPr>
        <p:spPr>
          <a:xfrm>
            <a:off x="4814824" y="5170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地址应答与数据完成分开</a:t>
            </a:r>
          </a:p>
        </p:txBody>
      </p:sp>
      <p:sp>
        <p:nvSpPr>
          <p:cNvPr id="45" name="rect-052"/>
          <p:cNvSpPr/>
          <p:nvPr/>
        </p:nvSpPr>
        <p:spPr>
          <a:xfrm>
            <a:off x="921004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3"/>
          <p:cNvSpPr/>
          <p:nvPr/>
        </p:nvSpPr>
        <p:spPr>
          <a:xfrm>
            <a:off x="9210040" y="465836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4: Ara AXI"/>
          <p:cNvSpPr txBox="1"/>
          <p:nvPr/>
        </p:nvSpPr>
        <p:spPr>
          <a:xfrm>
            <a:off x="9330944" y="4686239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Ara AXI</a:t>
            </a:r>
          </a:p>
        </p:txBody>
      </p:sp>
      <p:sp>
        <p:nvSpPr>
          <p:cNvPr id="48" name="text-055: AR → / R ←"/>
          <p:cNvSpPr txBox="1"/>
          <p:nvPr/>
        </p:nvSpPr>
        <p:spPr>
          <a:xfrm>
            <a:off x="9330944" y="4957633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→ / R ←</a:t>
            </a:r>
          </a:p>
        </p:txBody>
      </p:sp>
      <p:sp>
        <p:nvSpPr>
          <p:cNvPr id="49" name="text-056: AW、W → / B ←"/>
          <p:cNvSpPr txBox="1"/>
          <p:nvPr/>
        </p:nvSpPr>
        <p:spPr>
          <a:xfrm>
            <a:off x="9330944" y="5170993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AW、W → / B ←</a:t>
            </a:r>
          </a:p>
        </p:txBody>
      </p:sp>
      <p:sp>
        <p:nvSpPr>
          <p:cNvPr id="50" name="rect-057"/>
          <p:cNvSpPr/>
          <p:nvPr/>
        </p:nvSpPr>
        <p:spPr>
          <a:xfrm>
            <a:off x="391160" y="6507480"/>
            <a:ext cx="12019280" cy="817880"/>
          </a:xfrm>
          <a:prstGeom prst="roundRect">
            <a:avLst>
              <a:gd name="adj" fmla="val 608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8"/>
          <p:cNvSpPr/>
          <p:nvPr/>
        </p:nvSpPr>
        <p:spPr>
          <a:xfrm>
            <a:off x="391160" y="6507480"/>
            <a:ext cx="35560" cy="8178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9: 系统路径与验收边界"/>
          <p:cNvSpPr txBox="1"/>
          <p:nvPr/>
        </p:nvSpPr>
        <p:spPr>
          <a:xfrm>
            <a:off x="512064" y="6535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系统路径与验收边界</a:t>
            </a:r>
          </a:p>
        </p:txBody>
      </p:sp>
      <p:sp>
        <p:nvSpPr>
          <p:cNvPr id="53" name="text-060: 失效过滤 / 位宽适配 → Crossbar → SPM 或 LLC → 外存；"/>
          <p:cNvSpPr txBox="1"/>
          <p:nvPr/>
        </p:nvSpPr>
        <p:spPr>
          <a:xfrm>
            <a:off x="512064" y="6822115"/>
            <a:ext cx="73616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 → Crossbar → SPM 或 LLC → 外存；AXI 口独立于 CPU L1 数据口</a:t>
            </a:r>
          </a:p>
        </p:txBody>
      </p:sp>
      <p:sp>
        <p:nvSpPr>
          <p:cNvPr id="54" name="text-061: 本地 store B 错误处理仍有 TODO；complete 不能单独作为传输"/>
          <p:cNvSpPr txBox="1"/>
          <p:nvPr/>
        </p:nvSpPr>
        <p:spPr>
          <a:xfrm>
            <a:off x="512064" y="7035475"/>
            <a:ext cx="57813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store B 错误处理仍有 TODO；complete 不能单独作为传输成功证据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