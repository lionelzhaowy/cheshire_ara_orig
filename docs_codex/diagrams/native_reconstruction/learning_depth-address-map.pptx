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5689600" y="20553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5689600" y="28874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5689600" y="37195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5689600" y="45516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5689600" y="53837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5689600" y="62158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地址路由窗口与物理资源的映射"/>
          <p:cNvSpPr txBox="1"/>
          <p:nvPr/>
        </p:nvSpPr>
        <p:spPr>
          <a:xfrm>
            <a:off x="483616" y="271109"/>
            <a:ext cx="38404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2" name="text-018: 区间含起点、不含终点；图不按地址跨度比例。容量、权限与就绪状态分别判断。"/>
          <p:cNvSpPr txBox="1"/>
          <p:nvPr/>
        </p:nvSpPr>
        <p:spPr>
          <a:xfrm>
            <a:off x="483616" y="676778"/>
            <a:ext cx="60523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源码：cheshire_pkg.sv::gen_axi_out / gen_re"/>
          <p:cNvSpPr txBox="1"/>
          <p:nvPr/>
        </p:nvSpPr>
        <p:spPr>
          <a:xfrm>
            <a:off x="341376" y="7726477"/>
            <a:ext cx="65501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15" name="text-021: AXI 地址范围"/>
          <p:cNvSpPr txBox="1"/>
          <p:nvPr/>
        </p:nvSpPr>
        <p:spPr>
          <a:xfrm>
            <a:off x="462280" y="1250574"/>
            <a:ext cx="145938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16" name="text-022: 路由去向与实际资源"/>
          <p:cNvSpPr txBox="1"/>
          <p:nvPr/>
        </p:nvSpPr>
        <p:spPr>
          <a:xfrm>
            <a:off x="7183120" y="1250574"/>
            <a:ext cx="192024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17" name="rect-023"/>
          <p:cNvSpPr/>
          <p:nvPr/>
        </p:nvSpPr>
        <p:spPr>
          <a:xfrm>
            <a:off x="462280" y="17424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4"/>
          <p:cNvSpPr/>
          <p:nvPr/>
        </p:nvSpPr>
        <p:spPr>
          <a:xfrm>
            <a:off x="46228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5: 0x0000_0000 … 0x0004_0000"/>
          <p:cNvSpPr txBox="1"/>
          <p:nvPr/>
        </p:nvSpPr>
        <p:spPr>
          <a:xfrm>
            <a:off x="583184" y="177031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0" name="rect-026"/>
          <p:cNvSpPr/>
          <p:nvPr/>
        </p:nvSpPr>
        <p:spPr>
          <a:xfrm>
            <a:off x="6827520" y="17424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682752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Debug 目标"/>
          <p:cNvSpPr txBox="1"/>
          <p:nvPr/>
        </p:nvSpPr>
        <p:spPr>
          <a:xfrm>
            <a:off x="6948424" y="177031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23" name="text-029: 256 KiB 地址窗口；与 Debug SBA 发起口不同"/>
          <p:cNvSpPr txBox="1"/>
          <p:nvPr/>
        </p:nvSpPr>
        <p:spPr>
          <a:xfrm>
            <a:off x="6948424" y="2057075"/>
            <a:ext cx="38098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24" name="rect-030"/>
          <p:cNvSpPr/>
          <p:nvPr/>
        </p:nvSpPr>
        <p:spPr>
          <a:xfrm>
            <a:off x="462280" y="25745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1"/>
          <p:cNvSpPr/>
          <p:nvPr/>
        </p:nvSpPr>
        <p:spPr>
          <a:xfrm>
            <a:off x="46228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2: 0x0100_0000 … 0x0100_1000"/>
          <p:cNvSpPr txBox="1"/>
          <p:nvPr/>
        </p:nvSpPr>
        <p:spPr>
          <a:xfrm>
            <a:off x="583184" y="2602423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27" name="rect-033"/>
          <p:cNvSpPr/>
          <p:nvPr/>
        </p:nvSpPr>
        <p:spPr>
          <a:xfrm>
            <a:off x="6827520" y="25745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4"/>
          <p:cNvSpPr/>
          <p:nvPr/>
        </p:nvSpPr>
        <p:spPr>
          <a:xfrm>
            <a:off x="682752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5: iDMA 控制"/>
          <p:cNvSpPr txBox="1"/>
          <p:nvPr/>
        </p:nvSpPr>
        <p:spPr>
          <a:xfrm>
            <a:off x="6948424" y="2602423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0" name="text-036: 4 KiB 控制窗口；数据传输使用独立发起口"/>
          <p:cNvSpPr txBox="1"/>
          <p:nvPr/>
        </p:nvSpPr>
        <p:spPr>
          <a:xfrm>
            <a:off x="6948424" y="2889179"/>
            <a:ext cx="3270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1" name="rect-037"/>
          <p:cNvSpPr/>
          <p:nvPr/>
        </p:nvSpPr>
        <p:spPr>
          <a:xfrm>
            <a:off x="462280" y="34066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8"/>
          <p:cNvSpPr/>
          <p:nvPr/>
        </p:nvSpPr>
        <p:spPr>
          <a:xfrm>
            <a:off x="46228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9: 0x0200_0000 … 0x0C00_0000"/>
          <p:cNvSpPr txBox="1"/>
          <p:nvPr/>
        </p:nvSpPr>
        <p:spPr>
          <a:xfrm>
            <a:off x="583184" y="3434527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34" name="rect-040"/>
          <p:cNvSpPr/>
          <p:nvPr/>
        </p:nvSpPr>
        <p:spPr>
          <a:xfrm>
            <a:off x="6827520" y="34066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1"/>
          <p:cNvSpPr/>
          <p:nvPr/>
        </p:nvSpPr>
        <p:spPr>
          <a:xfrm>
            <a:off x="682752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2: Reg 桥 → 二级译码"/>
          <p:cNvSpPr txBox="1"/>
          <p:nvPr/>
        </p:nvSpPr>
        <p:spPr>
          <a:xfrm>
            <a:off x="6948424" y="3434527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37" name="text-043: 160 MiB 总窗口；包含空洞，不是连续 RAM"/>
          <p:cNvSpPr txBox="1"/>
          <p:nvPr/>
        </p:nvSpPr>
        <p:spPr>
          <a:xfrm>
            <a:off x="6948424" y="3721283"/>
            <a:ext cx="34109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38" name="rect-044"/>
          <p:cNvSpPr/>
          <p:nvPr/>
        </p:nvSpPr>
        <p:spPr>
          <a:xfrm>
            <a:off x="462280" y="42387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5"/>
          <p:cNvSpPr/>
          <p:nvPr/>
        </p:nvSpPr>
        <p:spPr>
          <a:xfrm>
            <a:off x="46228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6: 0x1000_0000 / 0x1400_0000"/>
          <p:cNvSpPr txBox="1"/>
          <p:nvPr/>
        </p:nvSpPr>
        <p:spPr>
          <a:xfrm>
            <a:off x="583184" y="4266631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1" name="rect-047"/>
          <p:cNvSpPr/>
          <p:nvPr/>
        </p:nvSpPr>
        <p:spPr>
          <a:xfrm>
            <a:off x="6827520" y="42387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8"/>
          <p:cNvSpPr/>
          <p:nvPr/>
        </p:nvSpPr>
        <p:spPr>
          <a:xfrm>
            <a:off x="682752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9: 同一 LLC / SPM 阵列"/>
          <p:cNvSpPr txBox="1"/>
          <p:nvPr/>
        </p:nvSpPr>
        <p:spPr>
          <a:xfrm>
            <a:off x="6948424" y="4266631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44" name="text-050: 默认每个 SPM 别名各 128 KiB；并非双份容量"/>
          <p:cNvSpPr txBox="1"/>
          <p:nvPr/>
        </p:nvSpPr>
        <p:spPr>
          <a:xfrm>
            <a:off x="6948424" y="4553387"/>
            <a:ext cx="36690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50708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228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0x8000_0000 … 0x1_0000_0000"/>
          <p:cNvSpPr txBox="1"/>
          <p:nvPr/>
        </p:nvSpPr>
        <p:spPr>
          <a:xfrm>
            <a:off x="583184" y="5098735"/>
            <a:ext cx="34948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48" name="rect-054"/>
          <p:cNvSpPr/>
          <p:nvPr/>
        </p:nvSpPr>
        <p:spPr>
          <a:xfrm>
            <a:off x="6827520" y="50708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5"/>
          <p:cNvSpPr/>
          <p:nvPr/>
        </p:nvSpPr>
        <p:spPr>
          <a:xfrm>
            <a:off x="682752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6: LLC 下游主存"/>
          <p:cNvSpPr txBox="1"/>
          <p:nvPr/>
        </p:nvSpPr>
        <p:spPr>
          <a:xfrm>
            <a:off x="6948424" y="5098735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1" name="text-057: 2 GiB 路由窗；实际 DDR 容量取决于平台"/>
          <p:cNvSpPr txBox="1"/>
          <p:nvPr/>
        </p:nvSpPr>
        <p:spPr>
          <a:xfrm>
            <a:off x="6948424" y="5385491"/>
            <a:ext cx="3309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2" name="rect-058"/>
          <p:cNvSpPr/>
          <p:nvPr/>
        </p:nvSpPr>
        <p:spPr>
          <a:xfrm>
            <a:off x="462280" y="59029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9"/>
          <p:cNvSpPr/>
          <p:nvPr/>
        </p:nvSpPr>
        <p:spPr>
          <a:xfrm>
            <a:off x="46228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0: 0x1_0000_0000 … 0x2_0000_0000"/>
          <p:cNvSpPr txBox="1"/>
          <p:nvPr/>
        </p:nvSpPr>
        <p:spPr>
          <a:xfrm>
            <a:off x="583184" y="5930839"/>
            <a:ext cx="3735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55" name="rect-061"/>
          <p:cNvSpPr/>
          <p:nvPr/>
        </p:nvSpPr>
        <p:spPr>
          <a:xfrm>
            <a:off x="6827520" y="59029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62"/>
          <p:cNvSpPr/>
          <p:nvPr/>
        </p:nvSpPr>
        <p:spPr>
          <a:xfrm>
            <a:off x="682752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63: Serial Link TX"/>
          <p:cNvSpPr txBox="1"/>
          <p:nvPr/>
        </p:nvSpPr>
        <p:spPr>
          <a:xfrm>
            <a:off x="6948424" y="59308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58" name="text-064: 4 GiB 对端窗口；受配置与地址映射约束"/>
          <p:cNvSpPr txBox="1"/>
          <p:nvPr/>
        </p:nvSpPr>
        <p:spPr>
          <a:xfrm>
            <a:off x="6948424" y="6217595"/>
            <a:ext cx="3113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59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6919976"/>
            <a:ext cx="7645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