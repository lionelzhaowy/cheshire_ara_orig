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DDR–GB：逐行 I/O 一致性候选"/>
          <p:cNvSpPr txBox="1"/>
          <p:nvPr/>
        </p:nvSpPr>
        <p:spPr>
          <a:xfrm>
            <a:off x="333375" y="100813"/>
            <a:ext cx="3554778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DDR–GB：逐行 I/O 一致性候选</a:t>
            </a:r>
          </a:p>
        </p:txBody>
      </p:sp>
      <p:sp>
        <p:nvSpPr>
          <p:cNvPr id="3" name="text-003: 设备数据不分配 LLC 行；缓存探测、在途事务与访问次序仍需协调"/>
          <p:cNvSpPr txBox="1"/>
          <p:nvPr/>
        </p:nvSpPr>
        <p:spPr>
          <a:xfrm>
            <a:off x="333375" y="467258"/>
            <a:ext cx="483560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设备数据不分配 LLC 行；缓存探测、在途事务与访问次序仍需协调</a:t>
            </a:r>
          </a:p>
        </p:txBody>
      </p:sp>
      <p:sp>
        <p:nvSpPr>
          <p:cNvPr id="4" name="cva6"/>
          <p:cNvSpPr/>
          <p:nvPr/>
        </p:nvSpPr>
        <p:spPr>
          <a:xfrm>
            <a:off x="400050" y="1400175"/>
            <a:ext cx="2933700" cy="1800225"/>
          </a:xfrm>
          <a:prstGeom prst="rect">
            <a:avLst/>
          </a:prstGeom>
          <a:solidFill>
            <a:srgbClr val="F1D7D9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VA6"/>
          <p:cNvSpPr txBox="1"/>
          <p:nvPr/>
        </p:nvSpPr>
        <p:spPr>
          <a:xfrm>
            <a:off x="1533061" y="1517523"/>
            <a:ext cx="667677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6" name="text-006: 缓存侧需扩展探测与冲突处理"/>
          <p:cNvSpPr txBox="1"/>
          <p:nvPr/>
        </p:nvSpPr>
        <p:spPr>
          <a:xfrm>
            <a:off x="793432" y="1821294"/>
            <a:ext cx="2146935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缓存侧需扩展探测与冲突处理</a:t>
            </a:r>
          </a:p>
        </p:txBody>
      </p:sp>
      <p:sp>
        <p:nvSpPr>
          <p:cNvPr id="7" name="l1d"/>
          <p:cNvSpPr/>
          <p:nvPr/>
        </p:nvSpPr>
        <p:spPr>
          <a:xfrm>
            <a:off x="600075" y="2200275"/>
            <a:ext cx="1133475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L1D"/>
          <p:cNvSpPr txBox="1"/>
          <p:nvPr/>
        </p:nvSpPr>
        <p:spPr>
          <a:xfrm>
            <a:off x="918490" y="2325891"/>
            <a:ext cx="49664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</a:t>
            </a:r>
          </a:p>
        </p:txBody>
      </p:sp>
      <p:sp>
        <p:nvSpPr>
          <p:cNvPr id="9" name="text-009: WT / 读副本"/>
          <p:cNvSpPr txBox="1"/>
          <p:nvPr/>
        </p:nvSpPr>
        <p:spPr>
          <a:xfrm>
            <a:off x="651670" y="2580856"/>
            <a:ext cx="103028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WT / 读副本</a:t>
            </a:r>
          </a:p>
        </p:txBody>
      </p:sp>
      <p:sp>
        <p:nvSpPr>
          <p:cNvPr id="10" name="wbuffer"/>
          <p:cNvSpPr/>
          <p:nvPr/>
        </p:nvSpPr>
        <p:spPr>
          <a:xfrm>
            <a:off x="1933575" y="2200275"/>
            <a:ext cx="12001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写缓冲"/>
          <p:cNvSpPr txBox="1"/>
          <p:nvPr/>
        </p:nvSpPr>
        <p:spPr>
          <a:xfrm>
            <a:off x="2173605" y="2325891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text-012: 在途标量写"/>
          <p:cNvSpPr txBox="1"/>
          <p:nvPr/>
        </p:nvSpPr>
        <p:spPr>
          <a:xfrm>
            <a:off x="2053590" y="2580856"/>
            <a:ext cx="9601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在途标量写</a:t>
            </a:r>
          </a:p>
        </p:txBody>
      </p:sp>
      <p:sp>
        <p:nvSpPr>
          <p:cNvPr id="13" name="ara"/>
          <p:cNvSpPr/>
          <p:nvPr/>
        </p:nvSpPr>
        <p:spPr>
          <a:xfrm>
            <a:off x="4133850" y="1666875"/>
            <a:ext cx="1666875" cy="1066800"/>
          </a:xfrm>
          <a:prstGeom prst="rect">
            <a:avLst/>
          </a:prstGeom>
          <a:solidFill>
            <a:srgbClr val="F1D7D9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Ara"/>
          <p:cNvSpPr txBox="1"/>
          <p:nvPr/>
        </p:nvSpPr>
        <p:spPr>
          <a:xfrm>
            <a:off x="4749646" y="1845831"/>
            <a:ext cx="4352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5" name="text-015: 独立 AXI 访存"/>
          <p:cNvSpPr txBox="1"/>
          <p:nvPr/>
        </p:nvSpPr>
        <p:spPr>
          <a:xfrm>
            <a:off x="4410577" y="2100796"/>
            <a:ext cx="11134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AXI 访存</a:t>
            </a:r>
          </a:p>
        </p:txBody>
      </p:sp>
      <p:sp>
        <p:nvSpPr>
          <p:cNvPr id="16" name="text-016: 保留现有协作机制"/>
          <p:cNvSpPr txBox="1"/>
          <p:nvPr/>
        </p:nvSpPr>
        <p:spPr>
          <a:xfrm>
            <a:off x="4247198" y="233415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保留现有协作机制</a:t>
            </a:r>
          </a:p>
        </p:txBody>
      </p:sp>
      <p:sp>
        <p:nvSpPr>
          <p:cNvPr id="17" name="device"/>
          <p:cNvSpPr/>
          <p:nvPr/>
        </p:nvSpPr>
        <p:spPr>
          <a:xfrm>
            <a:off x="7267575" y="1666875"/>
            <a:ext cx="2000250" cy="1066800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NPU / ISP 数据代理"/>
          <p:cNvSpPr txBox="1"/>
          <p:nvPr/>
        </p:nvSpPr>
        <p:spPr>
          <a:xfrm>
            <a:off x="7393158" y="1845831"/>
            <a:ext cx="174908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ISP 数据代理</a:t>
            </a:r>
          </a:p>
        </p:txBody>
      </p:sp>
      <p:sp>
        <p:nvSpPr>
          <p:cNvPr id="19" name="text-019: 任务 / 搬运事务"/>
          <p:cNvSpPr txBox="1"/>
          <p:nvPr/>
        </p:nvSpPr>
        <p:spPr>
          <a:xfrm>
            <a:off x="7618088" y="2100796"/>
            <a:ext cx="129922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任务 / 搬运事务</a:t>
            </a:r>
          </a:p>
        </p:txBody>
      </p:sp>
      <p:sp>
        <p:nvSpPr>
          <p:cNvPr id="20" name="text-020: 候选一致性入口"/>
          <p:cNvSpPr txBox="1"/>
          <p:nvPr/>
        </p:nvSpPr>
        <p:spPr>
          <a:xfrm>
            <a:off x="7627620" y="233415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候选一致性入口</a:t>
            </a:r>
          </a:p>
        </p:txBody>
      </p:sp>
      <p:sp>
        <p:nvSpPr>
          <p:cNvPr id="21" name="gb"/>
          <p:cNvSpPr/>
          <p:nvPr/>
        </p:nvSpPr>
        <p:spPr>
          <a:xfrm>
            <a:off x="10201275" y="1666875"/>
            <a:ext cx="2000250" cy="1066800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GB 独立 SRAM"/>
          <p:cNvSpPr txBox="1"/>
          <p:nvPr/>
        </p:nvSpPr>
        <p:spPr>
          <a:xfrm>
            <a:off x="10526748" y="1845831"/>
            <a:ext cx="134930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独立 SRAM</a:t>
            </a:r>
          </a:p>
        </p:txBody>
      </p:sp>
      <p:sp>
        <p:nvSpPr>
          <p:cNvPr id="23" name="text-023: 显式搬运 / 分块所有权"/>
          <p:cNvSpPr txBox="1"/>
          <p:nvPr/>
        </p:nvSpPr>
        <p:spPr>
          <a:xfrm>
            <a:off x="10311758" y="2100796"/>
            <a:ext cx="177928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显式搬运 / 分块所有权</a:t>
            </a:r>
          </a:p>
        </p:txBody>
      </p:sp>
      <p:sp>
        <p:nvSpPr>
          <p:cNvPr id="24" name="text-024: 不跟踪 DDR 后续修改"/>
          <p:cNvSpPr txBox="1"/>
          <p:nvPr/>
        </p:nvSpPr>
        <p:spPr>
          <a:xfrm>
            <a:off x="10358326" y="2334158"/>
            <a:ext cx="16861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不跟踪 DDR 后续修改</a:t>
            </a:r>
          </a:p>
        </p:txBody>
      </p:sp>
      <p:sp>
        <p:nvSpPr>
          <p:cNvPr id="25" name="xbar"/>
          <p:cNvSpPr/>
          <p:nvPr/>
        </p:nvSpPr>
        <p:spPr>
          <a:xfrm>
            <a:off x="400050" y="3800475"/>
            <a:ext cx="5400675" cy="733425"/>
          </a:xfrm>
          <a:prstGeom prst="rect">
            <a:avLst/>
          </a:prstGeom>
          <a:solidFill>
            <a:srgbClr val="F5E1C9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主 Xbar / 原子适配"/>
          <p:cNvSpPr txBox="1"/>
          <p:nvPr/>
        </p:nvSpPr>
        <p:spPr>
          <a:xfrm>
            <a:off x="2258282" y="3926091"/>
            <a:ext cx="168421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Xbar / 原子适配</a:t>
            </a:r>
          </a:p>
        </p:txBody>
      </p:sp>
      <p:sp>
        <p:nvSpPr>
          <p:cNvPr id="27" name="text-027: 普通内存路径；reservation 观察域需重审"/>
          <p:cNvSpPr txBox="1"/>
          <p:nvPr/>
        </p:nvSpPr>
        <p:spPr>
          <a:xfrm>
            <a:off x="1568087" y="4181056"/>
            <a:ext cx="306460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普通内存路径；reservation 观察域需重审</a:t>
            </a:r>
          </a:p>
        </p:txBody>
      </p:sp>
      <p:sp>
        <p:nvSpPr>
          <p:cNvPr id="28" name="llc"/>
          <p:cNvSpPr/>
          <p:nvPr/>
        </p:nvSpPr>
        <p:spPr>
          <a:xfrm>
            <a:off x="733425" y="5133975"/>
            <a:ext cx="4000500" cy="86677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LLC"/>
          <p:cNvSpPr txBox="1"/>
          <p:nvPr/>
        </p:nvSpPr>
        <p:spPr>
          <a:xfrm>
            <a:off x="2497922" y="5326266"/>
            <a:ext cx="47150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30" name="text-030: WB 数据阵列 + 候选逐行探测 / 供数接口"/>
          <p:cNvSpPr txBox="1"/>
          <p:nvPr/>
        </p:nvSpPr>
        <p:spPr>
          <a:xfrm>
            <a:off x="1208953" y="5581231"/>
            <a:ext cx="304944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数据阵列 + 候选逐行探测 / 供数接口</a:t>
            </a:r>
          </a:p>
        </p:txBody>
      </p:sp>
      <p:sp>
        <p:nvSpPr>
          <p:cNvPr id="31" name="coord"/>
          <p:cNvSpPr/>
          <p:nvPr/>
        </p:nvSpPr>
        <p:spPr>
          <a:xfrm>
            <a:off x="6667500" y="3800475"/>
            <a:ext cx="3200400" cy="166687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一致性协调点（候选职责）"/>
          <p:cNvSpPr txBox="1"/>
          <p:nvPr/>
        </p:nvSpPr>
        <p:spPr>
          <a:xfrm>
            <a:off x="7097554" y="4166121"/>
            <a:ext cx="2340292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一致性协调点（候选职责）</a:t>
            </a:r>
          </a:p>
        </p:txBody>
      </p:sp>
      <p:sp>
        <p:nvSpPr>
          <p:cNvPr id="33" name="text-033: 逐行串行化 / 在途跟踪"/>
          <p:cNvSpPr txBox="1"/>
          <p:nvPr/>
        </p:nvSpPr>
        <p:spPr>
          <a:xfrm>
            <a:off x="7378058" y="4421086"/>
            <a:ext cx="177928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逐行串行化 / 在途跟踪</a:t>
            </a:r>
          </a:p>
        </p:txBody>
      </p:sp>
      <p:sp>
        <p:nvSpPr>
          <p:cNvPr id="34" name="text-034: 探测、失效确认与数据来源选择"/>
          <p:cNvSpPr txBox="1"/>
          <p:nvPr/>
        </p:nvSpPr>
        <p:spPr>
          <a:xfrm>
            <a:off x="7067550" y="4654448"/>
            <a:ext cx="24003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探测、失效确认与数据来源选择</a:t>
            </a:r>
          </a:p>
        </p:txBody>
      </p:sp>
      <p:sp>
        <p:nvSpPr>
          <p:cNvPr id="35" name="text-035: 缓存侧与各访存入口共同配合"/>
          <p:cNvSpPr txBox="1"/>
          <p:nvPr/>
        </p:nvSpPr>
        <p:spPr>
          <a:xfrm>
            <a:off x="7147560" y="4887811"/>
            <a:ext cx="22402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缓存侧与各访存入口共同配合</a:t>
            </a:r>
          </a:p>
        </p:txBody>
      </p:sp>
      <p:sp>
        <p:nvSpPr>
          <p:cNvPr id="36" name="controller"/>
          <p:cNvSpPr/>
          <p:nvPr/>
        </p:nvSpPr>
        <p:spPr>
          <a:xfrm>
            <a:off x="10668000" y="4200525"/>
            <a:ext cx="1733550" cy="800100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DDR Controller"/>
          <p:cNvSpPr txBox="1"/>
          <p:nvPr/>
        </p:nvSpPr>
        <p:spPr>
          <a:xfrm>
            <a:off x="10864259" y="4359478"/>
            <a:ext cx="1341032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38" name="text-038: AXI4 下游接口"/>
          <p:cNvSpPr txBox="1"/>
          <p:nvPr/>
        </p:nvSpPr>
        <p:spPr>
          <a:xfrm>
            <a:off x="10954077" y="4614443"/>
            <a:ext cx="116139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AXI4 下游接口</a:t>
            </a:r>
          </a:p>
        </p:txBody>
      </p:sp>
      <p:sp>
        <p:nvSpPr>
          <p:cNvPr id="39" name="ddr"/>
          <p:cNvSpPr/>
          <p:nvPr/>
        </p:nvSpPr>
        <p:spPr>
          <a:xfrm>
            <a:off x="10668000" y="5667375"/>
            <a:ext cx="1733550" cy="800100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DDR"/>
          <p:cNvSpPr txBox="1"/>
          <p:nvPr/>
        </p:nvSpPr>
        <p:spPr>
          <a:xfrm>
            <a:off x="11270362" y="5826328"/>
            <a:ext cx="52882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1" name="text-041: 外部主存"/>
          <p:cNvSpPr txBox="1"/>
          <p:nvPr/>
        </p:nvSpPr>
        <p:spPr>
          <a:xfrm>
            <a:off x="11134725" y="6081293"/>
            <a:ext cx="8001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外部主存</a:t>
            </a:r>
          </a:p>
        </p:txBody>
      </p:sp>
      <p:sp>
        <p:nvSpPr>
          <p:cNvPr id="42" name="cpu-path"/>
          <p:cNvSpPr/>
          <p:nvPr/>
        </p:nvSpPr>
        <p:spPr>
          <a:xfrm>
            <a:off x="1866900" y="3200400"/>
            <a:ext cx="1" cy="600075"/>
          </a:xfrm>
          <a:custGeom>
            <a:avLst/>
            <a:gdLst/>
            <a:ahLst/>
            <a:cxnLst/>
            <a:rect l="0" t="0" r="r" b="b"/>
            <a:pathLst>
              <a:path w="1" h="600075" fill="none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18669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ara-path"/>
          <p:cNvSpPr/>
          <p:nvPr/>
        </p:nvSpPr>
        <p:spPr>
          <a:xfrm>
            <a:off x="4967288" y="2733675"/>
            <a:ext cx="1" cy="1066800"/>
          </a:xfrm>
          <a:custGeom>
            <a:avLst/>
            <a:gdLst/>
            <a:ahLst/>
            <a:cxnLst/>
            <a:rect l="0" t="0" r="r" b="b"/>
            <a:pathLst>
              <a:path w="1" h="1066800" fill="none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/>
          <a:ln w="18669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xbar-llc"/>
          <p:cNvSpPr/>
          <p:nvPr/>
        </p:nvSpPr>
        <p:spPr>
          <a:xfrm>
            <a:off x="2667000" y="4533900"/>
            <a:ext cx="1" cy="600075"/>
          </a:xfrm>
          <a:custGeom>
            <a:avLst/>
            <a:gdLst/>
            <a:ahLst/>
            <a:cxnLst/>
            <a:rect l="0" t="0" r="r" b="b"/>
            <a:pathLst>
              <a:path w="1" h="600075" fill="none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18669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普通请求 / 返回"/>
          <p:cNvSpPr txBox="1"/>
          <p:nvPr/>
        </p:nvSpPr>
        <p:spPr>
          <a:xfrm>
            <a:off x="2800350" y="4721657"/>
            <a:ext cx="1245093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普通请求 / 返回</a:t>
            </a:r>
          </a:p>
        </p:txBody>
      </p:sp>
      <p:sp>
        <p:nvSpPr>
          <p:cNvPr id="46" name="llc-path"/>
          <p:cNvSpPr/>
          <p:nvPr/>
        </p:nvSpPr>
        <p:spPr>
          <a:xfrm>
            <a:off x="4733925" y="4933950"/>
            <a:ext cx="1933575" cy="633412"/>
          </a:xfrm>
          <a:custGeom>
            <a:avLst/>
            <a:gdLst/>
            <a:ahLst/>
            <a:cxnLst/>
            <a:rect l="0" t="0" r="r" b="b"/>
            <a:pathLst>
              <a:path w="1933575" h="633412" fill="none">
                <a:moveTo>
                  <a:pt x="0" y="633412"/>
                </a:moveTo>
                <a:lnTo>
                  <a:pt x="1266825" y="633412"/>
                </a:lnTo>
                <a:lnTo>
                  <a:pt x="1266825" y="0"/>
                </a:lnTo>
                <a:lnTo>
                  <a:pt x="1933575" y="0"/>
                </a:lnTo>
              </a:path>
            </a:pathLst>
          </a:custGeom>
          <a:noFill/>
          <a:ln w="18669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普通数据路径"/>
          <p:cNvSpPr txBox="1"/>
          <p:nvPr/>
        </p:nvSpPr>
        <p:spPr>
          <a:xfrm>
            <a:off x="4867275" y="5688444"/>
            <a:ext cx="107346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普通数据路径</a:t>
            </a:r>
          </a:p>
        </p:txBody>
      </p:sp>
      <p:sp>
        <p:nvSpPr>
          <p:cNvPr id="48" name="device-path"/>
          <p:cNvSpPr/>
          <p:nvPr/>
        </p:nvSpPr>
        <p:spPr>
          <a:xfrm>
            <a:off x="8267700" y="2733675"/>
            <a:ext cx="1" cy="1066800"/>
          </a:xfrm>
          <a:custGeom>
            <a:avLst/>
            <a:gdLst/>
            <a:ahLst/>
            <a:cxnLst/>
            <a:rect l="0" t="0" r="r" b="b"/>
            <a:pathLst>
              <a:path w="1" h="1066800" fill="none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/>
          <a:ln w="18669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不分配 LLC 行"/>
          <p:cNvSpPr txBox="1"/>
          <p:nvPr/>
        </p:nvSpPr>
        <p:spPr>
          <a:xfrm>
            <a:off x="8401050" y="3094253"/>
            <a:ext cx="115514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不分配 LLC 行</a:t>
            </a:r>
          </a:p>
        </p:txBody>
      </p:sp>
      <p:sp>
        <p:nvSpPr>
          <p:cNvPr id="50" name="device-gb"/>
          <p:cNvSpPr/>
          <p:nvPr/>
        </p:nvSpPr>
        <p:spPr>
          <a:xfrm>
            <a:off x="9267825" y="2200275"/>
            <a:ext cx="933450" cy="1"/>
          </a:xfrm>
          <a:custGeom>
            <a:avLst/>
            <a:gdLst/>
            <a:ahLst/>
            <a:cxnLst/>
            <a:rect l="0" t="0" r="r" b="b"/>
            <a:pathLst>
              <a:path w="933450" h="1" fill="none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18669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搬运"/>
          <p:cNvSpPr txBox="1"/>
          <p:nvPr/>
        </p:nvSpPr>
        <p:spPr>
          <a:xfrm>
            <a:off x="9494520" y="1840763"/>
            <a:ext cx="4800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52" name="ara-gb"/>
          <p:cNvSpPr/>
          <p:nvPr/>
        </p:nvSpPr>
        <p:spPr>
          <a:xfrm>
            <a:off x="5800725" y="1133475"/>
            <a:ext cx="5400675" cy="766762"/>
          </a:xfrm>
          <a:custGeom>
            <a:avLst/>
            <a:gdLst/>
            <a:ahLst/>
            <a:cxnLst/>
            <a:rect l="0" t="0" r="r" b="b"/>
            <a:pathLst>
              <a:path w="5400675" h="766762" fill="none">
                <a:moveTo>
                  <a:pt x="0" y="766762"/>
                </a:moveTo>
                <a:lnTo>
                  <a:pt x="400050" y="766762"/>
                </a:lnTo>
                <a:lnTo>
                  <a:pt x="400050" y="0"/>
                </a:lnTo>
                <a:lnTo>
                  <a:pt x="5400675" y="0"/>
                </a:lnTo>
                <a:lnTo>
                  <a:pt x="5400675" y="533400"/>
                </a:lnTo>
              </a:path>
            </a:pathLst>
          </a:custGeom>
          <a:noFill/>
          <a:ln w="18669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Ara→GB 候选支路"/>
          <p:cNvSpPr txBox="1"/>
          <p:nvPr/>
        </p:nvSpPr>
        <p:spPr>
          <a:xfrm>
            <a:off x="8067675" y="853973"/>
            <a:ext cx="143955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Ara→GB 候选支路</a:t>
            </a:r>
          </a:p>
        </p:txBody>
      </p:sp>
      <p:sp>
        <p:nvSpPr>
          <p:cNvPr id="54" name="coord-ddr"/>
          <p:cNvSpPr/>
          <p:nvPr/>
        </p:nvSpPr>
        <p:spPr>
          <a:xfrm>
            <a:off x="9867900" y="4600575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ontroller-ddr"/>
          <p:cNvSpPr/>
          <p:nvPr/>
        </p:nvSpPr>
        <p:spPr>
          <a:xfrm>
            <a:off x="11534775" y="5000625"/>
            <a:ext cx="1" cy="666750"/>
          </a:xfrm>
          <a:custGeom>
            <a:avLst/>
            <a:gdLst/>
            <a:ahLst/>
            <a:cxnLst/>
            <a:rect l="0" t="0" r="r" b="b"/>
            <a:pathLst>
              <a:path w="1" h="666750" fill="none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8669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robe-l1"/>
          <p:cNvSpPr/>
          <p:nvPr/>
        </p:nvSpPr>
        <p:spPr>
          <a:xfrm>
            <a:off x="1166812" y="2933700"/>
            <a:ext cx="5500688" cy="1066800"/>
          </a:xfrm>
          <a:custGeom>
            <a:avLst/>
            <a:gdLst/>
            <a:ahLst/>
            <a:cxnLst/>
            <a:rect l="0" t="0" r="r" b="b"/>
            <a:pathLst>
              <a:path w="5500688" h="1066800" fill="none">
                <a:moveTo>
                  <a:pt x="5500688" y="1066800"/>
                </a:moveTo>
                <a:lnTo>
                  <a:pt x="5167312" y="1066800"/>
                </a:lnTo>
                <a:lnTo>
                  <a:pt x="5167312" y="500062"/>
                </a:lnTo>
                <a:lnTo>
                  <a:pt x="3867150" y="500062"/>
                </a:lnTo>
                <a:cubicBezTo>
                  <a:pt x="3822700" y="433388"/>
                  <a:pt x="3778250" y="433388"/>
                  <a:pt x="3733800" y="500062"/>
                </a:cubicBezTo>
                <a:lnTo>
                  <a:pt x="766762" y="500062"/>
                </a:lnTo>
                <a:cubicBezTo>
                  <a:pt x="722312" y="433388"/>
                  <a:pt x="677863" y="433388"/>
                  <a:pt x="633412" y="500062"/>
                </a:cubicBezTo>
                <a:lnTo>
                  <a:pt x="0" y="500062"/>
                </a:lnTo>
                <a:lnTo>
                  <a:pt x="0" y="0"/>
                </a:lnTo>
              </a:path>
            </a:pathLst>
          </a:custGeom>
          <a:noFill/>
          <a:ln w="18669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L1 探测 / 确认"/>
          <p:cNvSpPr txBox="1"/>
          <p:nvPr/>
        </p:nvSpPr>
        <p:spPr>
          <a:xfrm>
            <a:off x="3200400" y="3168129"/>
            <a:ext cx="115298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L1 探测 / 确认</a:t>
            </a:r>
          </a:p>
        </p:txBody>
      </p:sp>
      <p:sp>
        <p:nvSpPr>
          <p:cNvPr id="58" name="probe-llc"/>
          <p:cNvSpPr/>
          <p:nvPr/>
        </p:nvSpPr>
        <p:spPr>
          <a:xfrm>
            <a:off x="2667000" y="5233988"/>
            <a:ext cx="4000500" cy="1080135"/>
          </a:xfrm>
          <a:custGeom>
            <a:avLst/>
            <a:gdLst/>
            <a:ahLst/>
            <a:cxnLst/>
            <a:rect l="0" t="0" r="r" b="b"/>
            <a:pathLst>
              <a:path w="4000500" h="1080135" fill="none">
                <a:moveTo>
                  <a:pt x="4000500" y="0"/>
                </a:moveTo>
                <a:lnTo>
                  <a:pt x="3700462" y="0"/>
                </a:lnTo>
                <a:lnTo>
                  <a:pt x="3700462" y="1080135"/>
                </a:lnTo>
                <a:lnTo>
                  <a:pt x="0" y="1080135"/>
                </a:lnTo>
                <a:lnTo>
                  <a:pt x="0" y="766762"/>
                </a:lnTo>
              </a:path>
            </a:pathLst>
          </a:custGeom>
          <a:noFill/>
          <a:ln w="18669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LLC 探测 / 确认 / 必要时供数"/>
          <p:cNvSpPr txBox="1"/>
          <p:nvPr/>
        </p:nvSpPr>
        <p:spPr>
          <a:xfrm>
            <a:off x="3233738" y="6048489"/>
            <a:ext cx="2171053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LLC 探测 / 确认 / 必要时供数</a:t>
            </a:r>
          </a:p>
        </p:txBody>
      </p:sp>
      <p:sp>
        <p:nvSpPr>
          <p:cNvPr id="60" name="text-060: 蓝灰：数据访问（请求 / 返回合并画）    紫：候选一致性接口    绿：GB"/>
          <p:cNvSpPr txBox="1"/>
          <p:nvPr/>
        </p:nvSpPr>
        <p:spPr>
          <a:xfrm>
            <a:off x="366712" y="6628028"/>
            <a:ext cx="561601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蓝灰：数据访问（请求 / 返回合并画）    紫：候选一致性接口    绿：GB 访问</a:t>
            </a:r>
          </a:p>
        </p:txBody>
      </p:sp>
      <p:sp>
        <p:nvSpPr>
          <p:cNvPr id="61" name="text-061: 虚线框：新增职责。缓存直接供数为待评审路径；不是仅在 LLC 出口增加一个桥。"/>
          <p:cNvSpPr txBox="1"/>
          <p:nvPr/>
        </p:nvSpPr>
        <p:spPr>
          <a:xfrm>
            <a:off x="366712" y="6868592"/>
            <a:ext cx="570758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虚线框：新增职责。缓存直接供数为待评审路径；不是仅在 LLC 出口增加一个桥。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DDR 地址数据搬入 GB：最新版本从哪里来"/>
          <p:cNvSpPr txBox="1"/>
          <p:nvPr/>
        </p:nvSpPr>
        <p:spPr>
          <a:xfrm>
            <a:off x="333375" y="100813"/>
            <a:ext cx="4756324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地址数据搬入 GB：最新版本从哪里来</a:t>
            </a:r>
          </a:p>
        </p:txBody>
      </p:sp>
      <p:sp>
        <p:nvSpPr>
          <p:cNvPr id="3" name="text-003: 先满足发布顺序，再协调目标行；一致性读不要求把所有数据先写入 DDR"/>
          <p:cNvSpPr txBox="1"/>
          <p:nvPr/>
        </p:nvSpPr>
        <p:spPr>
          <a:xfrm>
            <a:off x="333375" y="467258"/>
            <a:ext cx="531863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先满足发布顺序，再协调目标行；一致性读不要求把所有数据先写入 DDR</a:t>
            </a:r>
          </a:p>
        </p:txBody>
      </p:sp>
      <p:sp>
        <p:nvSpPr>
          <p:cNvPr id="4" name="row-0"/>
          <p:cNvSpPr/>
          <p:nvPr/>
        </p:nvSpPr>
        <p:spPr>
          <a:xfrm>
            <a:off x="266700" y="1000125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DDR 已最新，无冲突在途事务"/>
          <p:cNvSpPr txBox="1"/>
          <p:nvPr/>
        </p:nvSpPr>
        <p:spPr>
          <a:xfrm>
            <a:off x="433388" y="1072401"/>
            <a:ext cx="2771732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DDR 已最新，无冲突在途事务</a:t>
            </a:r>
          </a:p>
        </p:txBody>
      </p:sp>
      <p:sp>
        <p:nvSpPr>
          <p:cNvPr id="6" name="r0-0"/>
          <p:cNvSpPr/>
          <p:nvPr/>
        </p:nvSpPr>
        <p:spPr>
          <a:xfrm>
            <a:off x="466725" y="1480185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DDR"/>
          <p:cNvSpPr txBox="1"/>
          <p:nvPr/>
        </p:nvSpPr>
        <p:spPr>
          <a:xfrm>
            <a:off x="1469137" y="1605801"/>
            <a:ext cx="52882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8" name="text-008: 最新版本可读"/>
          <p:cNvSpPr txBox="1"/>
          <p:nvPr/>
        </p:nvSpPr>
        <p:spPr>
          <a:xfrm>
            <a:off x="1173480" y="186076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最新版本可读</a:t>
            </a:r>
          </a:p>
        </p:txBody>
      </p:sp>
      <p:sp>
        <p:nvSpPr>
          <p:cNvPr id="9" name="r0-1"/>
          <p:cNvSpPr/>
          <p:nvPr/>
        </p:nvSpPr>
        <p:spPr>
          <a:xfrm>
            <a:off x="3800475" y="1480185"/>
            <a:ext cx="2533650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协调点"/>
          <p:cNvSpPr txBox="1"/>
          <p:nvPr/>
        </p:nvSpPr>
        <p:spPr>
          <a:xfrm>
            <a:off x="4707255" y="1605801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协调点</a:t>
            </a:r>
          </a:p>
        </p:txBody>
      </p:sp>
      <p:sp>
        <p:nvSpPr>
          <p:cNvPr id="11" name="text-011: 确认无更新缓存版本"/>
          <p:cNvSpPr txBox="1"/>
          <p:nvPr/>
        </p:nvSpPr>
        <p:spPr>
          <a:xfrm>
            <a:off x="4267200" y="1860766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确认无更新缓存版本</a:t>
            </a:r>
          </a:p>
        </p:txBody>
      </p:sp>
      <p:sp>
        <p:nvSpPr>
          <p:cNvPr id="12" name="r0-2"/>
          <p:cNvSpPr/>
          <p:nvPr/>
        </p:nvSpPr>
        <p:spPr>
          <a:xfrm>
            <a:off x="7134225" y="1480185"/>
            <a:ext cx="2333625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搬运器"/>
          <p:cNvSpPr txBox="1"/>
          <p:nvPr/>
        </p:nvSpPr>
        <p:spPr>
          <a:xfrm>
            <a:off x="7940992" y="1605801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</a:t>
            </a:r>
          </a:p>
        </p:txBody>
      </p:sp>
      <p:sp>
        <p:nvSpPr>
          <p:cNvPr id="14" name="text-014: 接收本次读取结果"/>
          <p:cNvSpPr txBox="1"/>
          <p:nvPr/>
        </p:nvSpPr>
        <p:spPr>
          <a:xfrm>
            <a:off x="7580948" y="1860766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接收本次读取结果</a:t>
            </a:r>
          </a:p>
        </p:txBody>
      </p:sp>
      <p:sp>
        <p:nvSpPr>
          <p:cNvPr id="15" name="r0-3"/>
          <p:cNvSpPr/>
          <p:nvPr/>
        </p:nvSpPr>
        <p:spPr>
          <a:xfrm>
            <a:off x="10334625" y="1480185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GB"/>
          <p:cNvSpPr txBox="1"/>
          <p:nvPr/>
        </p:nvSpPr>
        <p:spPr>
          <a:xfrm>
            <a:off x="11096335" y="1605801"/>
            <a:ext cx="41015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7" name="text-017: 写入后发布 ready"/>
          <p:cNvSpPr txBox="1"/>
          <p:nvPr/>
        </p:nvSpPr>
        <p:spPr>
          <a:xfrm>
            <a:off x="10608826" y="1860766"/>
            <a:ext cx="138517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写入后发布 ready</a:t>
            </a:r>
          </a:p>
        </p:txBody>
      </p:sp>
      <p:sp>
        <p:nvSpPr>
          <p:cNvPr id="18" name="r0-flow-0"/>
          <p:cNvSpPr/>
          <p:nvPr/>
        </p:nvSpPr>
        <p:spPr>
          <a:xfrm>
            <a:off x="3000375" y="184689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0-flow-1"/>
          <p:cNvSpPr/>
          <p:nvPr/>
        </p:nvSpPr>
        <p:spPr>
          <a:xfrm>
            <a:off x="6334125" y="184689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0-flow-2"/>
          <p:cNvSpPr/>
          <p:nvPr/>
        </p:nvSpPr>
        <p:spPr>
          <a:xfrm>
            <a:off x="9467850" y="1846898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L1D / LLC 的干净副本可以保留；不需要无条件 flush。"/>
          <p:cNvSpPr txBox="1"/>
          <p:nvPr/>
        </p:nvSpPr>
        <p:spPr>
          <a:xfrm>
            <a:off x="466725" y="2307488"/>
            <a:ext cx="40378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L1D / LLC 的干净副本可以保留；不需要无条件 flush。</a:t>
            </a:r>
          </a:p>
        </p:txBody>
      </p:sp>
      <p:sp>
        <p:nvSpPr>
          <p:cNvPr id="22" name="row-1"/>
          <p:cNvSpPr/>
          <p:nvPr/>
        </p:nvSpPr>
        <p:spPr>
          <a:xfrm>
            <a:off x="266700" y="2900362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B  LLC 持有最新脏数据"/>
          <p:cNvSpPr txBox="1"/>
          <p:nvPr/>
        </p:nvSpPr>
        <p:spPr>
          <a:xfrm>
            <a:off x="433388" y="2972638"/>
            <a:ext cx="200505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LLC 持有最新脏数据</a:t>
            </a:r>
          </a:p>
        </p:txBody>
      </p:sp>
      <p:sp>
        <p:nvSpPr>
          <p:cNvPr id="24" name="r1-0"/>
          <p:cNvSpPr/>
          <p:nvPr/>
        </p:nvSpPr>
        <p:spPr>
          <a:xfrm>
            <a:off x="466725" y="3380422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LLC 脏行"/>
          <p:cNvSpPr txBox="1"/>
          <p:nvPr/>
        </p:nvSpPr>
        <p:spPr>
          <a:xfrm>
            <a:off x="1290786" y="3506038"/>
            <a:ext cx="88552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脏行</a:t>
            </a:r>
          </a:p>
        </p:txBody>
      </p:sp>
      <p:sp>
        <p:nvSpPr>
          <p:cNvPr id="26" name="text-026: 比 DDR 更新"/>
          <p:cNvSpPr txBox="1"/>
          <p:nvPr/>
        </p:nvSpPr>
        <p:spPr>
          <a:xfrm>
            <a:off x="1210516" y="3761003"/>
            <a:ext cx="10460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比 DDR 更新</a:t>
            </a:r>
          </a:p>
        </p:txBody>
      </p:sp>
      <p:sp>
        <p:nvSpPr>
          <p:cNvPr id="27" name="r1-1"/>
          <p:cNvSpPr/>
          <p:nvPr/>
        </p:nvSpPr>
        <p:spPr>
          <a:xfrm>
            <a:off x="3800475" y="3380422"/>
            <a:ext cx="2533650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协调点"/>
          <p:cNvSpPr txBox="1"/>
          <p:nvPr/>
        </p:nvSpPr>
        <p:spPr>
          <a:xfrm>
            <a:off x="4707255" y="3506038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协调点</a:t>
            </a:r>
          </a:p>
        </p:txBody>
      </p:sp>
      <p:sp>
        <p:nvSpPr>
          <p:cNvPr id="29" name="text-029: 取得缓存数据"/>
          <p:cNvSpPr txBox="1"/>
          <p:nvPr/>
        </p:nvSpPr>
        <p:spPr>
          <a:xfrm>
            <a:off x="4507230" y="3761003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取得缓存数据</a:t>
            </a:r>
          </a:p>
        </p:txBody>
      </p:sp>
      <p:sp>
        <p:nvSpPr>
          <p:cNvPr id="30" name="r1-2"/>
          <p:cNvSpPr/>
          <p:nvPr/>
        </p:nvSpPr>
        <p:spPr>
          <a:xfrm>
            <a:off x="7134225" y="3380422"/>
            <a:ext cx="2333625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搬运器"/>
          <p:cNvSpPr txBox="1"/>
          <p:nvPr/>
        </p:nvSpPr>
        <p:spPr>
          <a:xfrm>
            <a:off x="7940992" y="3506038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</a:t>
            </a:r>
          </a:p>
        </p:txBody>
      </p:sp>
      <p:sp>
        <p:nvSpPr>
          <p:cNvPr id="32" name="text-032: 接收最新版本"/>
          <p:cNvSpPr txBox="1"/>
          <p:nvPr/>
        </p:nvSpPr>
        <p:spPr>
          <a:xfrm>
            <a:off x="7740968" y="3761003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接收最新版本</a:t>
            </a:r>
          </a:p>
        </p:txBody>
      </p:sp>
      <p:sp>
        <p:nvSpPr>
          <p:cNvPr id="33" name="r1-3"/>
          <p:cNvSpPr/>
          <p:nvPr/>
        </p:nvSpPr>
        <p:spPr>
          <a:xfrm>
            <a:off x="10334625" y="3380422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GB"/>
          <p:cNvSpPr txBox="1"/>
          <p:nvPr/>
        </p:nvSpPr>
        <p:spPr>
          <a:xfrm>
            <a:off x="11096335" y="3506038"/>
            <a:ext cx="41015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35" name="text-035: 保存显式快照"/>
          <p:cNvSpPr txBox="1"/>
          <p:nvPr/>
        </p:nvSpPr>
        <p:spPr>
          <a:xfrm>
            <a:off x="10741342" y="3761003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保存显式快照</a:t>
            </a:r>
          </a:p>
        </p:txBody>
      </p:sp>
      <p:sp>
        <p:nvSpPr>
          <p:cNvPr id="36" name="r1-flow-0"/>
          <p:cNvSpPr/>
          <p:nvPr/>
        </p:nvSpPr>
        <p:spPr>
          <a:xfrm>
            <a:off x="3000375" y="3747135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1-flow-1"/>
          <p:cNvSpPr/>
          <p:nvPr/>
        </p:nvSpPr>
        <p:spPr>
          <a:xfrm>
            <a:off x="6334125" y="3747135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1-flow-2"/>
          <p:cNvSpPr/>
          <p:nvPr/>
        </p:nvSpPr>
        <p:spPr>
          <a:xfrm>
            <a:off x="9467850" y="3747135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本行画候选缓存供数；若限定仅从 DDR 读取，则先 clean 到 DDR，再读"/>
          <p:cNvSpPr txBox="1"/>
          <p:nvPr/>
        </p:nvSpPr>
        <p:spPr>
          <a:xfrm>
            <a:off x="466725" y="4207726"/>
            <a:ext cx="555428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本行画候选缓存供数；若限定仅从 DDR 读取，则先 clean 到 DDR，再读取。</a:t>
            </a:r>
          </a:p>
        </p:txBody>
      </p:sp>
      <p:sp>
        <p:nvSpPr>
          <p:cNvPr id="40" name="row-2"/>
          <p:cNvSpPr/>
          <p:nvPr/>
        </p:nvSpPr>
        <p:spPr>
          <a:xfrm>
            <a:off x="266700" y="4800600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C  CPU 有按顺序必须先完成的写"/>
          <p:cNvSpPr txBox="1"/>
          <p:nvPr/>
        </p:nvSpPr>
        <p:spPr>
          <a:xfrm>
            <a:off x="433388" y="4872876"/>
            <a:ext cx="2761001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CPU 有按顺序必须先完成的写</a:t>
            </a:r>
          </a:p>
        </p:txBody>
      </p:sp>
      <p:sp>
        <p:nvSpPr>
          <p:cNvPr id="42" name="r2-0"/>
          <p:cNvSpPr/>
          <p:nvPr/>
        </p:nvSpPr>
        <p:spPr>
          <a:xfrm>
            <a:off x="466725" y="5280660"/>
            <a:ext cx="2533650" cy="733425"/>
          </a:xfrm>
          <a:prstGeom prst="rect">
            <a:avLst/>
          </a:prstGeom>
          <a:solidFill>
            <a:srgbClr val="F1D7D9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PU 写缓冲"/>
          <p:cNvSpPr txBox="1"/>
          <p:nvPr/>
        </p:nvSpPr>
        <p:spPr>
          <a:xfrm>
            <a:off x="1182846" y="5406276"/>
            <a:ext cx="110140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写缓冲</a:t>
            </a:r>
          </a:p>
        </p:txBody>
      </p:sp>
      <p:sp>
        <p:nvSpPr>
          <p:cNvPr id="44" name="text-044: 建立发布顺序 / 排空"/>
          <p:cNvSpPr txBox="1"/>
          <p:nvPr/>
        </p:nvSpPr>
        <p:spPr>
          <a:xfrm>
            <a:off x="923918" y="5661241"/>
            <a:ext cx="16192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建立发布顺序 / 排空</a:t>
            </a:r>
          </a:p>
        </p:txBody>
      </p:sp>
      <p:sp>
        <p:nvSpPr>
          <p:cNvPr id="45" name="r2-1"/>
          <p:cNvSpPr/>
          <p:nvPr/>
        </p:nvSpPr>
        <p:spPr>
          <a:xfrm>
            <a:off x="3800475" y="5280660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LLC / 共享点"/>
          <p:cNvSpPr txBox="1"/>
          <p:nvPr/>
        </p:nvSpPr>
        <p:spPr>
          <a:xfrm>
            <a:off x="4460771" y="5406276"/>
            <a:ext cx="121305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共享点</a:t>
            </a:r>
          </a:p>
        </p:txBody>
      </p:sp>
      <p:sp>
        <p:nvSpPr>
          <p:cNvPr id="47" name="text-047: 接收已排序的更新"/>
          <p:cNvSpPr txBox="1"/>
          <p:nvPr/>
        </p:nvSpPr>
        <p:spPr>
          <a:xfrm>
            <a:off x="4347210" y="566124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接收已排序的更新</a:t>
            </a:r>
          </a:p>
        </p:txBody>
      </p:sp>
      <p:sp>
        <p:nvSpPr>
          <p:cNvPr id="48" name="r2-2"/>
          <p:cNvSpPr/>
          <p:nvPr/>
        </p:nvSpPr>
        <p:spPr>
          <a:xfrm>
            <a:off x="7134225" y="5280660"/>
            <a:ext cx="2333625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协调后搬运"/>
          <p:cNvSpPr txBox="1"/>
          <p:nvPr/>
        </p:nvSpPr>
        <p:spPr>
          <a:xfrm>
            <a:off x="7760970" y="5406276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协调后搬运</a:t>
            </a:r>
          </a:p>
        </p:txBody>
      </p:sp>
      <p:sp>
        <p:nvSpPr>
          <p:cNvPr id="50" name="text-050: 不抢读旧 DDR"/>
          <p:cNvSpPr txBox="1"/>
          <p:nvPr/>
        </p:nvSpPr>
        <p:spPr>
          <a:xfrm>
            <a:off x="7721981" y="5661241"/>
            <a:ext cx="115811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不抢读旧 DDR</a:t>
            </a:r>
          </a:p>
        </p:txBody>
      </p:sp>
      <p:sp>
        <p:nvSpPr>
          <p:cNvPr id="51" name="r2-3"/>
          <p:cNvSpPr/>
          <p:nvPr/>
        </p:nvSpPr>
        <p:spPr>
          <a:xfrm>
            <a:off x="10334625" y="5280660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GB"/>
          <p:cNvSpPr txBox="1"/>
          <p:nvPr/>
        </p:nvSpPr>
        <p:spPr>
          <a:xfrm>
            <a:off x="11096335" y="5406276"/>
            <a:ext cx="41015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53" name="text-053: 数据完整后才 ready"/>
          <p:cNvSpPr txBox="1"/>
          <p:nvPr/>
        </p:nvSpPr>
        <p:spPr>
          <a:xfrm>
            <a:off x="10528816" y="5661241"/>
            <a:ext cx="15451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数据完整后才 ready</a:t>
            </a:r>
          </a:p>
        </p:txBody>
      </p:sp>
      <p:sp>
        <p:nvSpPr>
          <p:cNvPr id="54" name="r2-flow-0"/>
          <p:cNvSpPr/>
          <p:nvPr/>
        </p:nvSpPr>
        <p:spPr>
          <a:xfrm>
            <a:off x="3000375" y="564737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2-flow-1"/>
          <p:cNvSpPr/>
          <p:nvPr/>
        </p:nvSpPr>
        <p:spPr>
          <a:xfrm>
            <a:off x="6334125" y="564737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2-flow-2"/>
          <p:cNvSpPr/>
          <p:nvPr/>
        </p:nvSpPr>
        <p:spPr>
          <a:xfrm>
            <a:off x="9467850" y="5647372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协调同址回填 / 替换；不要求外部读看见尚未发布的任意 CPU 写。"/>
          <p:cNvSpPr txBox="1"/>
          <p:nvPr/>
        </p:nvSpPr>
        <p:spPr>
          <a:xfrm>
            <a:off x="466725" y="6107963"/>
            <a:ext cx="48865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协调同址回填 / 替换；不要求外部读看见尚未发布的任意 CPU 写。</a:t>
            </a:r>
          </a:p>
        </p:txBody>
      </p:sp>
      <p:sp>
        <p:nvSpPr>
          <p:cNvPr id="58" name="text-058: 箭头表示受协调的数据传递。GB 就绪后，源 DDR 的后续变化不会自动更新这份副"/>
          <p:cNvSpPr txBox="1"/>
          <p:nvPr/>
        </p:nvSpPr>
        <p:spPr>
          <a:xfrm>
            <a:off x="366712" y="6687502"/>
            <a:ext cx="6520023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箭头表示受协调的数据传递。GB 就绪后，源 DDR 的后续变化不会自动更新这份副本。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GB 数据写入 DDR：先协调，再发布新版本"/>
          <p:cNvSpPr txBox="1"/>
          <p:nvPr/>
        </p:nvSpPr>
        <p:spPr>
          <a:xfrm>
            <a:off x="333375" y="100813"/>
            <a:ext cx="4756324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数据写入 DDR：先协调，再发布新版本</a:t>
            </a:r>
          </a:p>
        </p:txBody>
      </p:sp>
      <p:sp>
        <p:nvSpPr>
          <p:cNvPr id="3" name="text-003: 完整覆盖与部分更新都需处理在途冲突、失效确认及任务完成；下图为逻辑阶段"/>
          <p:cNvSpPr txBox="1"/>
          <p:nvPr/>
        </p:nvSpPr>
        <p:spPr>
          <a:xfrm>
            <a:off x="333375" y="467258"/>
            <a:ext cx="57607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完整覆盖与部分更新都需处理在途冲突、失效确认及任务完成；下图为逻辑阶段</a:t>
            </a:r>
          </a:p>
        </p:txBody>
      </p:sp>
      <p:sp>
        <p:nvSpPr>
          <p:cNvPr id="4" name="full-panel"/>
          <p:cNvSpPr/>
          <p:nvPr/>
        </p:nvSpPr>
        <p:spPr>
          <a:xfrm>
            <a:off x="266700" y="1000125"/>
            <a:ext cx="12268200" cy="233362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完整覆盖所有相关一致性粒度"/>
          <p:cNvSpPr txBox="1"/>
          <p:nvPr/>
        </p:nvSpPr>
        <p:spPr>
          <a:xfrm>
            <a:off x="433388" y="1091870"/>
            <a:ext cx="2830083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完整覆盖所有相关一致性粒度</a:t>
            </a:r>
          </a:p>
        </p:txBody>
      </p:sp>
      <p:sp>
        <p:nvSpPr>
          <p:cNvPr id="6" name="full-0"/>
          <p:cNvSpPr/>
          <p:nvPr/>
        </p:nvSpPr>
        <p:spPr>
          <a:xfrm>
            <a:off x="400050" y="1566862"/>
            <a:ext cx="2000250" cy="10001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GB 新数据"/>
          <p:cNvSpPr txBox="1"/>
          <p:nvPr/>
        </p:nvSpPr>
        <p:spPr>
          <a:xfrm>
            <a:off x="898076" y="1712481"/>
            <a:ext cx="100419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新数据</a:t>
            </a:r>
          </a:p>
        </p:txBody>
      </p:sp>
      <p:sp>
        <p:nvSpPr>
          <p:cNvPr id="8" name="text-008: 全行备妥"/>
          <p:cNvSpPr txBox="1"/>
          <p:nvPr/>
        </p:nvSpPr>
        <p:spPr>
          <a:xfrm>
            <a:off x="1000125" y="1967446"/>
            <a:ext cx="8001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全行备妥</a:t>
            </a:r>
          </a:p>
        </p:txBody>
      </p:sp>
      <p:sp>
        <p:nvSpPr>
          <p:cNvPr id="9" name="text-009: 全部字节有效"/>
          <p:cNvSpPr txBox="1"/>
          <p:nvPr/>
        </p:nvSpPr>
        <p:spPr>
          <a:xfrm>
            <a:off x="840105" y="220080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全部字节有效</a:t>
            </a:r>
          </a:p>
        </p:txBody>
      </p:sp>
      <p:sp>
        <p:nvSpPr>
          <p:cNvPr id="10" name="full-1"/>
          <p:cNvSpPr/>
          <p:nvPr/>
        </p:nvSpPr>
        <p:spPr>
          <a:xfrm>
            <a:off x="2867025" y="1566862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目标行协调"/>
          <p:cNvSpPr txBox="1"/>
          <p:nvPr/>
        </p:nvSpPr>
        <p:spPr>
          <a:xfrm>
            <a:off x="3327082" y="1712481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目标行协调</a:t>
            </a:r>
          </a:p>
        </p:txBody>
      </p:sp>
      <p:sp>
        <p:nvSpPr>
          <p:cNvPr id="12" name="text-012: 排序在途访问"/>
          <p:cNvSpPr txBox="1"/>
          <p:nvPr/>
        </p:nvSpPr>
        <p:spPr>
          <a:xfrm>
            <a:off x="3307080" y="196744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排序在途访问</a:t>
            </a:r>
          </a:p>
        </p:txBody>
      </p:sp>
      <p:sp>
        <p:nvSpPr>
          <p:cNvPr id="13" name="text-013: 取得本次写权限"/>
          <p:cNvSpPr txBox="1"/>
          <p:nvPr/>
        </p:nvSpPr>
        <p:spPr>
          <a:xfrm>
            <a:off x="3227070" y="22008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取得本次写权限</a:t>
            </a:r>
          </a:p>
        </p:txBody>
      </p:sp>
      <p:sp>
        <p:nvSpPr>
          <p:cNvPr id="14" name="full-2"/>
          <p:cNvSpPr/>
          <p:nvPr/>
        </p:nvSpPr>
        <p:spPr>
          <a:xfrm>
            <a:off x="5334000" y="1566862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L1D / LLC"/>
          <p:cNvSpPr txBox="1"/>
          <p:nvPr/>
        </p:nvSpPr>
        <p:spPr>
          <a:xfrm>
            <a:off x="5839318" y="1712481"/>
            <a:ext cx="9896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LLC</a:t>
            </a:r>
          </a:p>
        </p:txBody>
      </p:sp>
      <p:sp>
        <p:nvSpPr>
          <p:cNvPr id="16" name="text-016: 失效并确认"/>
          <p:cNvSpPr txBox="1"/>
          <p:nvPr/>
        </p:nvSpPr>
        <p:spPr>
          <a:xfrm>
            <a:off x="5854065" y="1967446"/>
            <a:ext cx="9601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失效并确认</a:t>
            </a:r>
          </a:p>
        </p:txBody>
      </p:sp>
      <p:sp>
        <p:nvSpPr>
          <p:cNvPr id="17" name="text-017: 条件满足可弃旧脏行"/>
          <p:cNvSpPr txBox="1"/>
          <p:nvPr/>
        </p:nvSpPr>
        <p:spPr>
          <a:xfrm>
            <a:off x="5534025" y="2200808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条件满足可弃旧脏行</a:t>
            </a:r>
          </a:p>
        </p:txBody>
      </p:sp>
      <p:sp>
        <p:nvSpPr>
          <p:cNvPr id="18" name="full-3"/>
          <p:cNvSpPr/>
          <p:nvPr/>
        </p:nvSpPr>
        <p:spPr>
          <a:xfrm>
            <a:off x="7800975" y="1566862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 写入"/>
          <p:cNvSpPr txBox="1"/>
          <p:nvPr/>
        </p:nvSpPr>
        <p:spPr>
          <a:xfrm>
            <a:off x="8329676" y="1712481"/>
            <a:ext cx="94284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写入</a:t>
            </a:r>
          </a:p>
        </p:txBody>
      </p:sp>
      <p:sp>
        <p:nvSpPr>
          <p:cNvPr id="20" name="text-020: 提交完整新行"/>
          <p:cNvSpPr txBox="1"/>
          <p:nvPr/>
        </p:nvSpPr>
        <p:spPr>
          <a:xfrm>
            <a:off x="8241030" y="196744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提交完整新行</a:t>
            </a:r>
          </a:p>
        </p:txBody>
      </p:sp>
      <p:sp>
        <p:nvSpPr>
          <p:cNvPr id="21" name="text-021: 旧写不得迟到覆盖"/>
          <p:cNvSpPr txBox="1"/>
          <p:nvPr/>
        </p:nvSpPr>
        <p:spPr>
          <a:xfrm>
            <a:off x="8081010" y="22008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旧写不得迟到覆盖</a:t>
            </a:r>
          </a:p>
        </p:txBody>
      </p:sp>
      <p:sp>
        <p:nvSpPr>
          <p:cNvPr id="22" name="full-4"/>
          <p:cNvSpPr/>
          <p:nvPr/>
        </p:nvSpPr>
        <p:spPr>
          <a:xfrm>
            <a:off x="10267950" y="1566862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完成 / 释放"/>
          <p:cNvSpPr txBox="1"/>
          <p:nvPr/>
        </p:nvSpPr>
        <p:spPr>
          <a:xfrm>
            <a:off x="10717277" y="1712481"/>
            <a:ext cx="110159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 / 释放</a:t>
            </a:r>
          </a:p>
        </p:txBody>
      </p:sp>
      <p:sp>
        <p:nvSpPr>
          <p:cNvPr id="24" name="text-024: 达到约定可见点"/>
          <p:cNvSpPr txBox="1"/>
          <p:nvPr/>
        </p:nvSpPr>
        <p:spPr>
          <a:xfrm>
            <a:off x="10627995" y="1967446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达到约定可见点</a:t>
            </a:r>
          </a:p>
        </p:txBody>
      </p:sp>
      <p:sp>
        <p:nvSpPr>
          <p:cNvPr id="25" name="text-025: 再发布任务状态"/>
          <p:cNvSpPr txBox="1"/>
          <p:nvPr/>
        </p:nvSpPr>
        <p:spPr>
          <a:xfrm>
            <a:off x="10627995" y="22008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再发布任务状态</a:t>
            </a:r>
          </a:p>
        </p:txBody>
      </p:sp>
      <p:sp>
        <p:nvSpPr>
          <p:cNvPr id="26" name="full-flow-0"/>
          <p:cNvSpPr/>
          <p:nvPr/>
        </p:nvSpPr>
        <p:spPr>
          <a:xfrm>
            <a:off x="2400300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ull-flow-1"/>
          <p:cNvSpPr/>
          <p:nvPr/>
        </p:nvSpPr>
        <p:spPr>
          <a:xfrm>
            <a:off x="4867275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ull-flow-2"/>
          <p:cNvSpPr/>
          <p:nvPr/>
        </p:nvSpPr>
        <p:spPr>
          <a:xfrm>
            <a:off x="7334250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ull-flow-3"/>
          <p:cNvSpPr/>
          <p:nvPr/>
        </p:nvSpPr>
        <p:spPr>
          <a:xfrm>
            <a:off x="9801225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“完整”按实际缓存粒度判断：满 WSTRB 的一个 beat，可能仍只覆盖缓存行"/>
          <p:cNvSpPr txBox="1"/>
          <p:nvPr/>
        </p:nvSpPr>
        <p:spPr>
          <a:xfrm>
            <a:off x="466725" y="2773680"/>
            <a:ext cx="644693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“完整”按实际缓存粒度判断：满 WSTRB 的一个 beat，可能仍只覆盖缓存行的一部分。</a:t>
            </a:r>
          </a:p>
        </p:txBody>
      </p:sp>
      <p:sp>
        <p:nvSpPr>
          <p:cNvPr id="31" name="partial-panel"/>
          <p:cNvSpPr/>
          <p:nvPr/>
        </p:nvSpPr>
        <p:spPr>
          <a:xfrm>
            <a:off x="266700" y="3633788"/>
            <a:ext cx="12268200" cy="2900362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B  部分行更新：先保护未覆盖字节的最新值"/>
          <p:cNvSpPr txBox="1"/>
          <p:nvPr/>
        </p:nvSpPr>
        <p:spPr>
          <a:xfrm>
            <a:off x="433388" y="3725532"/>
            <a:ext cx="3774649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部分行更新：先保护未覆盖字节的最新值</a:t>
            </a:r>
          </a:p>
        </p:txBody>
      </p:sp>
      <p:sp>
        <p:nvSpPr>
          <p:cNvPr id="33" name="part-0"/>
          <p:cNvSpPr/>
          <p:nvPr/>
        </p:nvSpPr>
        <p:spPr>
          <a:xfrm>
            <a:off x="400050" y="4200525"/>
            <a:ext cx="2000250" cy="10001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GB 新字节"/>
          <p:cNvSpPr txBox="1"/>
          <p:nvPr/>
        </p:nvSpPr>
        <p:spPr>
          <a:xfrm>
            <a:off x="898076" y="4346143"/>
            <a:ext cx="100419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新字节</a:t>
            </a:r>
          </a:p>
        </p:txBody>
      </p:sp>
      <p:sp>
        <p:nvSpPr>
          <p:cNvPr id="35" name="text-035: 地址 / 长度"/>
          <p:cNvSpPr txBox="1"/>
          <p:nvPr/>
        </p:nvSpPr>
        <p:spPr>
          <a:xfrm>
            <a:off x="910583" y="4601108"/>
            <a:ext cx="97918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</a:t>
            </a:r>
          </a:p>
        </p:txBody>
      </p:sp>
      <p:sp>
        <p:nvSpPr>
          <p:cNvPr id="36" name="text-036: 字节有效掩码"/>
          <p:cNvSpPr txBox="1"/>
          <p:nvPr/>
        </p:nvSpPr>
        <p:spPr>
          <a:xfrm>
            <a:off x="840105" y="4834471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字节有效掩码</a:t>
            </a:r>
          </a:p>
        </p:txBody>
      </p:sp>
      <p:sp>
        <p:nvSpPr>
          <p:cNvPr id="37" name="part-1"/>
          <p:cNvSpPr/>
          <p:nvPr/>
        </p:nvSpPr>
        <p:spPr>
          <a:xfrm>
            <a:off x="2867025" y="4200525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目标行协调"/>
          <p:cNvSpPr txBox="1"/>
          <p:nvPr/>
        </p:nvSpPr>
        <p:spPr>
          <a:xfrm>
            <a:off x="3327082" y="4346143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目标行协调</a:t>
            </a:r>
          </a:p>
        </p:txBody>
      </p:sp>
      <p:sp>
        <p:nvSpPr>
          <p:cNvPr id="39" name="text-039: 阻止冲突越过"/>
          <p:cNvSpPr txBox="1"/>
          <p:nvPr/>
        </p:nvSpPr>
        <p:spPr>
          <a:xfrm>
            <a:off x="3307080" y="460110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阻止冲突越过</a:t>
            </a:r>
          </a:p>
        </p:txBody>
      </p:sp>
      <p:sp>
        <p:nvSpPr>
          <p:cNvPr id="40" name="text-040: 排序回填 / 替换"/>
          <p:cNvSpPr txBox="1"/>
          <p:nvPr/>
        </p:nvSpPr>
        <p:spPr>
          <a:xfrm>
            <a:off x="3217538" y="4834471"/>
            <a:ext cx="129922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排序回填 / 替换</a:t>
            </a:r>
          </a:p>
        </p:txBody>
      </p:sp>
      <p:sp>
        <p:nvSpPr>
          <p:cNvPr id="41" name="part-2"/>
          <p:cNvSpPr/>
          <p:nvPr/>
        </p:nvSpPr>
        <p:spPr>
          <a:xfrm>
            <a:off x="5334000" y="4200525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L1D / LLC"/>
          <p:cNvSpPr txBox="1"/>
          <p:nvPr/>
        </p:nvSpPr>
        <p:spPr>
          <a:xfrm>
            <a:off x="5839318" y="4346143"/>
            <a:ext cx="9896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LLC</a:t>
            </a:r>
          </a:p>
        </p:txBody>
      </p:sp>
      <p:sp>
        <p:nvSpPr>
          <p:cNvPr id="43" name="text-043: clean 或取数暂存"/>
          <p:cNvSpPr txBox="1"/>
          <p:nvPr/>
        </p:nvSpPr>
        <p:spPr>
          <a:xfrm>
            <a:off x="5643179" y="4601108"/>
            <a:ext cx="138189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clean 或取数暂存</a:t>
            </a:r>
          </a:p>
        </p:txBody>
      </p:sp>
      <p:sp>
        <p:nvSpPr>
          <p:cNvPr id="44" name="text-044: 失效旧副本并确认"/>
          <p:cNvSpPr txBox="1"/>
          <p:nvPr/>
        </p:nvSpPr>
        <p:spPr>
          <a:xfrm>
            <a:off x="5614035" y="483447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失效旧副本并确认</a:t>
            </a:r>
          </a:p>
        </p:txBody>
      </p:sp>
      <p:sp>
        <p:nvSpPr>
          <p:cNvPr id="45" name="part-3"/>
          <p:cNvSpPr/>
          <p:nvPr/>
        </p:nvSpPr>
        <p:spPr>
          <a:xfrm>
            <a:off x="7800975" y="4200525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DDR 更新"/>
          <p:cNvSpPr txBox="1"/>
          <p:nvPr/>
        </p:nvSpPr>
        <p:spPr>
          <a:xfrm>
            <a:off x="8329676" y="4346143"/>
            <a:ext cx="94284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更新</a:t>
            </a:r>
          </a:p>
        </p:txBody>
      </p:sp>
      <p:sp>
        <p:nvSpPr>
          <p:cNvPr id="47" name="text-047: 按 WSTRB 更新"/>
          <p:cNvSpPr txBox="1"/>
          <p:nvPr/>
        </p:nvSpPr>
        <p:spPr>
          <a:xfrm>
            <a:off x="8178913" y="4601108"/>
            <a:ext cx="124437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WSTRB 更新</a:t>
            </a:r>
          </a:p>
        </p:txBody>
      </p:sp>
      <p:sp>
        <p:nvSpPr>
          <p:cNvPr id="48" name="text-048: 或写入已合并新行"/>
          <p:cNvSpPr txBox="1"/>
          <p:nvPr/>
        </p:nvSpPr>
        <p:spPr>
          <a:xfrm>
            <a:off x="8081010" y="483447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或写入已合并新行</a:t>
            </a:r>
          </a:p>
        </p:txBody>
      </p:sp>
      <p:sp>
        <p:nvSpPr>
          <p:cNvPr id="49" name="part-4"/>
          <p:cNvSpPr/>
          <p:nvPr/>
        </p:nvSpPr>
        <p:spPr>
          <a:xfrm>
            <a:off x="10267950" y="4200525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完成 / 释放"/>
          <p:cNvSpPr txBox="1"/>
          <p:nvPr/>
        </p:nvSpPr>
        <p:spPr>
          <a:xfrm>
            <a:off x="10717277" y="4346143"/>
            <a:ext cx="110159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 / 释放</a:t>
            </a:r>
          </a:p>
        </p:txBody>
      </p:sp>
      <p:sp>
        <p:nvSpPr>
          <p:cNvPr id="51" name="text-051: 不把请求接收"/>
          <p:cNvSpPr txBox="1"/>
          <p:nvPr/>
        </p:nvSpPr>
        <p:spPr>
          <a:xfrm>
            <a:off x="10708005" y="460110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不把请求接收</a:t>
            </a:r>
          </a:p>
        </p:txBody>
      </p:sp>
      <p:sp>
        <p:nvSpPr>
          <p:cNvPr id="52" name="text-052: 当作全部动作完成"/>
          <p:cNvSpPr txBox="1"/>
          <p:nvPr/>
        </p:nvSpPr>
        <p:spPr>
          <a:xfrm>
            <a:off x="10547985" y="483447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当作全部动作完成</a:t>
            </a:r>
          </a:p>
        </p:txBody>
      </p:sp>
      <p:sp>
        <p:nvSpPr>
          <p:cNvPr id="53" name="part-flow-0"/>
          <p:cNvSpPr/>
          <p:nvPr/>
        </p:nvSpPr>
        <p:spPr>
          <a:xfrm>
            <a:off x="2400300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rt-flow-1"/>
          <p:cNvSpPr/>
          <p:nvPr/>
        </p:nvSpPr>
        <p:spPr>
          <a:xfrm>
            <a:off x="4867275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rt-flow-2"/>
          <p:cNvSpPr/>
          <p:nvPr/>
        </p:nvSpPr>
        <p:spPr>
          <a:xfrm>
            <a:off x="7334250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rt-flow-3"/>
          <p:cNvSpPr/>
          <p:nvPr/>
        </p:nvSpPr>
        <p:spPr>
          <a:xfrm>
            <a:off x="9801225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最新旧行"/>
          <p:cNvSpPr txBox="1"/>
          <p:nvPr/>
        </p:nvSpPr>
        <p:spPr>
          <a:xfrm>
            <a:off x="500062" y="5494553"/>
            <a:ext cx="8001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最新旧行</a:t>
            </a:r>
          </a:p>
        </p:txBody>
      </p:sp>
      <p:sp>
        <p:nvSpPr>
          <p:cNvPr id="58" name="old-0"/>
          <p:cNvSpPr/>
          <p:nvPr/>
        </p:nvSpPr>
        <p:spPr>
          <a:xfrm>
            <a:off x="1500188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A"/>
          <p:cNvSpPr txBox="1"/>
          <p:nvPr/>
        </p:nvSpPr>
        <p:spPr>
          <a:xfrm>
            <a:off x="1619843" y="5472951"/>
            <a:ext cx="28075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0" name="old-1"/>
          <p:cNvSpPr/>
          <p:nvPr/>
        </p:nvSpPr>
        <p:spPr>
          <a:xfrm>
            <a:off x="2066925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B"/>
          <p:cNvSpPr txBox="1"/>
          <p:nvPr/>
        </p:nvSpPr>
        <p:spPr>
          <a:xfrm>
            <a:off x="2181215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2" name="old-2"/>
          <p:cNvSpPr/>
          <p:nvPr/>
        </p:nvSpPr>
        <p:spPr>
          <a:xfrm>
            <a:off x="2633662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C"/>
          <p:cNvSpPr txBox="1"/>
          <p:nvPr/>
        </p:nvSpPr>
        <p:spPr>
          <a:xfrm>
            <a:off x="2747953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64" name="old-3"/>
          <p:cNvSpPr/>
          <p:nvPr/>
        </p:nvSpPr>
        <p:spPr>
          <a:xfrm>
            <a:off x="3200400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"/>
          <p:cNvSpPr txBox="1"/>
          <p:nvPr/>
        </p:nvSpPr>
        <p:spPr>
          <a:xfrm>
            <a:off x="3311086" y="5472951"/>
            <a:ext cx="29869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66" name="text-066: + GB 仅更新第二段 X"/>
          <p:cNvSpPr txBox="1"/>
          <p:nvPr/>
        </p:nvSpPr>
        <p:spPr>
          <a:xfrm>
            <a:off x="4067175" y="5487352"/>
            <a:ext cx="171962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+ GB 仅更新第二段 X</a:t>
            </a:r>
          </a:p>
        </p:txBody>
      </p:sp>
      <p:sp>
        <p:nvSpPr>
          <p:cNvPr id="67" name="merge-example"/>
          <p:cNvSpPr/>
          <p:nvPr/>
        </p:nvSpPr>
        <p:spPr>
          <a:xfrm>
            <a:off x="6067425" y="5600700"/>
            <a:ext cx="1133475" cy="1"/>
          </a:xfrm>
          <a:custGeom>
            <a:avLst/>
            <a:gdLst/>
            <a:ahLst/>
            <a:cxnLst/>
            <a:rect l="0" t="0" r="r" b="b"/>
            <a:pathLst>
              <a:path w="1133475" h="1" fill="none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new-0"/>
          <p:cNvSpPr/>
          <p:nvPr/>
        </p:nvSpPr>
        <p:spPr>
          <a:xfrm>
            <a:off x="7467600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A"/>
          <p:cNvSpPr txBox="1"/>
          <p:nvPr/>
        </p:nvSpPr>
        <p:spPr>
          <a:xfrm>
            <a:off x="7587256" y="5472951"/>
            <a:ext cx="28075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0" name="new-1"/>
          <p:cNvSpPr/>
          <p:nvPr/>
        </p:nvSpPr>
        <p:spPr>
          <a:xfrm>
            <a:off x="8034338" y="5367338"/>
            <a:ext cx="520065" cy="4667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X"/>
          <p:cNvSpPr txBox="1"/>
          <p:nvPr/>
        </p:nvSpPr>
        <p:spPr>
          <a:xfrm>
            <a:off x="8155837" y="5472951"/>
            <a:ext cx="27706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72" name="new-2"/>
          <p:cNvSpPr/>
          <p:nvPr/>
        </p:nvSpPr>
        <p:spPr>
          <a:xfrm>
            <a:off x="8601075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C"/>
          <p:cNvSpPr txBox="1"/>
          <p:nvPr/>
        </p:nvSpPr>
        <p:spPr>
          <a:xfrm>
            <a:off x="8715365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74" name="new-3"/>
          <p:cNvSpPr/>
          <p:nvPr/>
        </p:nvSpPr>
        <p:spPr>
          <a:xfrm>
            <a:off x="9167812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D"/>
          <p:cNvSpPr txBox="1"/>
          <p:nvPr/>
        </p:nvSpPr>
        <p:spPr>
          <a:xfrm>
            <a:off x="9278498" y="5472951"/>
            <a:ext cx="29869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76" name="text-076: A / C / D 不丢失"/>
          <p:cNvSpPr txBox="1"/>
          <p:nvPr/>
        </p:nvSpPr>
        <p:spPr>
          <a:xfrm>
            <a:off x="10101262" y="5487352"/>
            <a:ext cx="1396185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/ C / D 不丢失</a:t>
            </a:r>
          </a:p>
        </p:txBody>
      </p:sp>
      <p:sp>
        <p:nvSpPr>
          <p:cNvPr id="77" name="text-077: 旧 dirty 行不能在新写之后再覆盖 DDR；失败或超时不能直接复用缓冲，也不"/>
          <p:cNvSpPr txBox="1"/>
          <p:nvPr/>
        </p:nvSpPr>
        <p:spPr>
          <a:xfrm>
            <a:off x="466725" y="6047422"/>
            <a:ext cx="6946504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旧 dirty 行不能在新写之后再覆盖 DDR；失败或超时不能直接复用缓冲，也不承诺自动回滚。</a:t>
            </a:r>
          </a:p>
        </p:txBody>
      </p:sp>
      <p:sp>
        <p:nvSpPr>
          <p:cNvPr id="78" name="text-078: 逐行协调不等于整帧快照；跨行数据发布仍需版本、所有权或双缓冲。"/>
          <p:cNvSpPr txBox="1"/>
          <p:nvPr/>
        </p:nvSpPr>
        <p:spPr>
          <a:xfrm>
            <a:off x="366712" y="6687502"/>
            <a:ext cx="5334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逐行协调不等于整帧快照；跨行数据发布仍需版本、所有权或双缓冲。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