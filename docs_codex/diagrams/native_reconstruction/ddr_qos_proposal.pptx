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1: 参考 DDR Controller V2.1 的多端口接入建议"/>
          <p:cNvSpPr txBox="1"/>
          <p:nvPr/>
        </p:nvSpPr>
        <p:spPr>
          <a:xfrm>
            <a:off x="228600" y="116434"/>
            <a:ext cx="5640931" cy="4145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参考 DDR Controller V2.1 的多端口接入建议</a:t>
            </a:r>
          </a:p>
        </p:txBody>
      </p:sp>
      <p:sp>
        <p:nvSpPr>
          <p:cNvPr id="3" name="text-002: 工程建议，当前 RTL 尚未集成供应商 IP；Crossbar 原有结构沿用，I"/>
          <p:cNvSpPr txBox="1"/>
          <p:nvPr/>
        </p:nvSpPr>
        <p:spPr>
          <a:xfrm>
            <a:off x="228600" y="529438"/>
            <a:ext cx="76808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工程建议，当前 RTL 尚未集成供应商 IP；Crossbar 原有结构沿用，ISP/NPU 数据直接进入控制器的不同 AXI Slave。</a:t>
            </a:r>
          </a:p>
        </p:txBody>
      </p:sp>
      <p:sp>
        <p:nvSpPr>
          <p:cNvPr id="4" name="rect-002"/>
          <p:cNvSpPr/>
          <p:nvPr/>
        </p:nvSpPr>
        <p:spPr>
          <a:xfrm>
            <a:off x="228600" y="853440"/>
            <a:ext cx="12344400" cy="388620"/>
          </a:xfrm>
          <a:prstGeom prst="rect">
            <a:avLst/>
          </a:prstGeom>
          <a:solidFill>
            <a:srgbClr val="E8F4ED"/>
          </a:solidFill>
          <a:ln w="15240" cap="flat">
            <a:solidFill>
              <a:srgbClr val="B4D5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3: SoC → S0  ·  ISP → S1  ·  NPU → S2 ；控制器集"/>
          <p:cNvSpPr txBox="1"/>
          <p:nvPr/>
        </p:nvSpPr>
        <p:spPr>
          <a:xfrm>
            <a:off x="365760" y="932078"/>
            <a:ext cx="644413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SoC → S0  ·  ISP → S1  ·  NPU → S2 ；控制器集成多端口仲裁，可配置优先级及 QoS。</a:t>
            </a:r>
          </a:p>
        </p:txBody>
      </p:sp>
      <p:sp>
        <p:nvSpPr>
          <p:cNvPr id="6" name="rect-003"/>
          <p:cNvSpPr/>
          <p:nvPr/>
        </p:nvSpPr>
        <p:spPr>
          <a:xfrm>
            <a:off x="5905500" y="1386840"/>
            <a:ext cx="5257800" cy="3695700"/>
          </a:xfrm>
          <a:prstGeom prst="rect">
            <a:avLst/>
          </a:prstGeom>
          <a:solidFill>
            <a:srgbClr val="EEF4F9"/>
          </a:solidFill>
          <a:ln w="15240" cap="flat">
            <a:solidFill>
              <a:srgbClr val="9AB3C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4: DDR Controller 内部（仅画与接入相关的功能）"/>
          <p:cNvSpPr txBox="1"/>
          <p:nvPr/>
        </p:nvSpPr>
        <p:spPr>
          <a:xfrm>
            <a:off x="6057900" y="1440180"/>
            <a:ext cx="4370713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DDR Controller 内部（仅画与接入相关的功能）</a:t>
            </a:r>
          </a:p>
        </p:txBody>
      </p:sp>
      <p:sp>
        <p:nvSpPr>
          <p:cNvPr id="8" name="rect-004"/>
          <p:cNvSpPr/>
          <p:nvPr/>
        </p:nvSpPr>
        <p:spPr>
          <a:xfrm>
            <a:off x="228600" y="1889760"/>
            <a:ext cx="1409700" cy="563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5: CVA6 + Ara"/>
          <p:cNvSpPr txBox="1"/>
          <p:nvPr/>
        </p:nvSpPr>
        <p:spPr>
          <a:xfrm>
            <a:off x="365760" y="1927860"/>
            <a:ext cx="129741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10" name="text-006: 当前 SoC 发起端"/>
          <p:cNvSpPr txBox="1"/>
          <p:nvPr/>
        </p:nvSpPr>
        <p:spPr>
          <a:xfrm>
            <a:off x="365760" y="2199437"/>
            <a:ext cx="1097661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当前 SoC 发起端</a:t>
            </a:r>
          </a:p>
        </p:txBody>
      </p:sp>
      <p:sp>
        <p:nvSpPr>
          <p:cNvPr id="11" name="rect-005"/>
          <p:cNvSpPr/>
          <p:nvPr/>
        </p:nvSpPr>
        <p:spPr>
          <a:xfrm>
            <a:off x="1943100" y="1889760"/>
            <a:ext cx="1371600" cy="56388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07: Cheshire"/>
          <p:cNvSpPr txBox="1"/>
          <p:nvPr/>
        </p:nvSpPr>
        <p:spPr>
          <a:xfrm>
            <a:off x="2057400" y="1977238"/>
            <a:ext cx="74297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Cheshire</a:t>
            </a:r>
          </a:p>
        </p:txBody>
      </p:sp>
      <p:sp>
        <p:nvSpPr>
          <p:cNvPr id="13" name="text-008: Crossbar"/>
          <p:cNvSpPr txBox="1"/>
          <p:nvPr/>
        </p:nvSpPr>
        <p:spPr>
          <a:xfrm>
            <a:off x="2057400" y="2182978"/>
            <a:ext cx="74666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Crossbar</a:t>
            </a:r>
          </a:p>
        </p:txBody>
      </p:sp>
      <p:sp>
        <p:nvSpPr>
          <p:cNvPr id="14" name="rect-006"/>
          <p:cNvSpPr/>
          <p:nvPr/>
        </p:nvSpPr>
        <p:spPr>
          <a:xfrm>
            <a:off x="3619500" y="1790700"/>
            <a:ext cx="2057400" cy="76200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09: 现有原子适配 + LLC"/>
          <p:cNvSpPr txBox="1"/>
          <p:nvPr/>
        </p:nvSpPr>
        <p:spPr>
          <a:xfrm>
            <a:off x="3741420" y="1878178"/>
            <a:ext cx="144693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现有原子适配 + LLC</a:t>
            </a:r>
          </a:p>
        </p:txBody>
      </p:sp>
      <p:sp>
        <p:nvSpPr>
          <p:cNvPr id="16" name="text-010: 经 LLC 出口访问外存"/>
          <p:cNvSpPr txBox="1"/>
          <p:nvPr/>
        </p:nvSpPr>
        <p:spPr>
          <a:xfrm>
            <a:off x="3741420" y="2091538"/>
            <a:ext cx="148432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经 LLC 出口访问外存</a:t>
            </a:r>
          </a:p>
        </p:txBody>
      </p:sp>
      <p:sp>
        <p:nvSpPr>
          <p:cNvPr id="17" name="text-011: SPM 访问仍可在片内完成"/>
          <p:cNvSpPr txBox="1"/>
          <p:nvPr/>
        </p:nvSpPr>
        <p:spPr>
          <a:xfrm>
            <a:off x="3741420" y="2306117"/>
            <a:ext cx="1614309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SPM 访问仍可在片内完成</a:t>
            </a:r>
          </a:p>
        </p:txBody>
      </p:sp>
      <p:cxnSp>
        <p:nvCxnSpPr>
          <p:cNvPr id="18" name="line-001"/>
          <p:cNvCxnSpPr/>
          <p:nvPr/>
        </p:nvCxnSpPr>
        <p:spPr>
          <a:xfrm>
            <a:off x="1638300" y="21717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19" name="line-002"/>
          <p:cNvCxnSpPr/>
          <p:nvPr/>
        </p:nvCxnSpPr>
        <p:spPr>
          <a:xfrm>
            <a:off x="3314700" y="21717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cxnSp>
        <p:nvCxnSpPr>
          <p:cNvPr id="20" name="line-003"/>
          <p:cNvCxnSpPr/>
          <p:nvPr/>
        </p:nvCxnSpPr>
        <p:spPr>
          <a:xfrm>
            <a:off x="5676900" y="2171700"/>
            <a:ext cx="3810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21" name="rect-007"/>
          <p:cNvSpPr/>
          <p:nvPr/>
        </p:nvSpPr>
        <p:spPr>
          <a:xfrm>
            <a:off x="228600" y="2994660"/>
            <a:ext cx="2743200" cy="640080"/>
          </a:xfrm>
          <a:prstGeom prst="rect">
            <a:avLst/>
          </a:prstGeom>
          <a:solidFill>
            <a:srgbClr val="FFF2E5"/>
          </a:solidFill>
          <a:ln w="15240" cap="flat">
            <a:solidFill>
              <a:srgbClr val="D9B48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12: ISP 数据 AXI Master"/>
          <p:cNvSpPr txBox="1"/>
          <p:nvPr/>
        </p:nvSpPr>
        <p:spPr>
          <a:xfrm>
            <a:off x="365760" y="3055620"/>
            <a:ext cx="205560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ISP 数据 AXI Master</a:t>
            </a:r>
          </a:p>
        </p:txBody>
      </p:sp>
      <p:sp>
        <p:nvSpPr>
          <p:cNvPr id="23" name="text-013: 写帧缓存，绕过 Crossbar / LLC"/>
          <p:cNvSpPr txBox="1"/>
          <p:nvPr/>
        </p:nvSpPr>
        <p:spPr>
          <a:xfrm>
            <a:off x="365760" y="3333598"/>
            <a:ext cx="21909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写帧缓存，绕过 Crossbar / LLC</a:t>
            </a:r>
          </a:p>
        </p:txBody>
      </p:sp>
      <p:cxnSp>
        <p:nvCxnSpPr>
          <p:cNvPr id="24" name="line-004"/>
          <p:cNvCxnSpPr/>
          <p:nvPr/>
        </p:nvCxnSpPr>
        <p:spPr>
          <a:xfrm>
            <a:off x="2971800" y="3314700"/>
            <a:ext cx="30861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25" name="rect-008"/>
          <p:cNvSpPr/>
          <p:nvPr/>
        </p:nvSpPr>
        <p:spPr>
          <a:xfrm>
            <a:off x="228600" y="4137660"/>
            <a:ext cx="2743200" cy="640080"/>
          </a:xfrm>
          <a:prstGeom prst="rect">
            <a:avLst/>
          </a:prstGeom>
          <a:solidFill>
            <a:srgbClr val="EDF5EE"/>
          </a:solidFill>
          <a:ln w="15240" cap="flat">
            <a:solidFill>
              <a:srgbClr val="A5C5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14: NPU 数据 AXI Master"/>
          <p:cNvSpPr txBox="1"/>
          <p:nvPr/>
        </p:nvSpPr>
        <p:spPr>
          <a:xfrm>
            <a:off x="365760" y="4198620"/>
            <a:ext cx="2186571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NPU 数据 AXI Master</a:t>
            </a:r>
          </a:p>
        </p:txBody>
      </p:sp>
      <p:sp>
        <p:nvSpPr>
          <p:cNvPr id="27" name="text-015: 读写权重 / 特征图，绕过 LLC"/>
          <p:cNvSpPr txBox="1"/>
          <p:nvPr/>
        </p:nvSpPr>
        <p:spPr>
          <a:xfrm>
            <a:off x="365760" y="4476598"/>
            <a:ext cx="20233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读写权重 / 特征图，绕过 LLC</a:t>
            </a:r>
          </a:p>
        </p:txBody>
      </p:sp>
      <p:cxnSp>
        <p:nvCxnSpPr>
          <p:cNvPr id="28" name="line-005"/>
          <p:cNvCxnSpPr/>
          <p:nvPr/>
        </p:nvCxnSpPr>
        <p:spPr>
          <a:xfrm>
            <a:off x="2971800" y="4457700"/>
            <a:ext cx="30861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29" name="rect-009"/>
          <p:cNvSpPr/>
          <p:nvPr/>
        </p:nvSpPr>
        <p:spPr>
          <a:xfrm>
            <a:off x="6057900" y="18288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16: AXI S0"/>
          <p:cNvSpPr txBox="1"/>
          <p:nvPr/>
        </p:nvSpPr>
        <p:spPr>
          <a:xfrm>
            <a:off x="6172200" y="18897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S0</a:t>
            </a:r>
          </a:p>
        </p:txBody>
      </p:sp>
      <p:sp>
        <p:nvSpPr>
          <p:cNvPr id="31" name="text-017: SoC 外存流量"/>
          <p:cNvSpPr txBox="1"/>
          <p:nvPr/>
        </p:nvSpPr>
        <p:spPr>
          <a:xfrm>
            <a:off x="6172200" y="2207057"/>
            <a:ext cx="929795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SoC 外存流量</a:t>
            </a:r>
          </a:p>
        </p:txBody>
      </p:sp>
      <p:cxnSp>
        <p:nvCxnSpPr>
          <p:cNvPr id="32" name="line-006"/>
          <p:cNvCxnSpPr/>
          <p:nvPr/>
        </p:nvCxnSpPr>
        <p:spPr>
          <a:xfrm>
            <a:off x="7124700" y="21717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33" name="rect-010"/>
          <p:cNvSpPr/>
          <p:nvPr/>
        </p:nvSpPr>
        <p:spPr>
          <a:xfrm>
            <a:off x="6057900" y="29718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18: AXI S1"/>
          <p:cNvSpPr txBox="1"/>
          <p:nvPr/>
        </p:nvSpPr>
        <p:spPr>
          <a:xfrm>
            <a:off x="6172200" y="30327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S1</a:t>
            </a:r>
          </a:p>
        </p:txBody>
      </p:sp>
      <p:sp>
        <p:nvSpPr>
          <p:cNvPr id="35" name="text-019: ISP 写入"/>
          <p:cNvSpPr txBox="1"/>
          <p:nvPr/>
        </p:nvSpPr>
        <p:spPr>
          <a:xfrm>
            <a:off x="6172200" y="3350057"/>
            <a:ext cx="619042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ISP 写入</a:t>
            </a:r>
          </a:p>
        </p:txBody>
      </p:sp>
      <p:cxnSp>
        <p:nvCxnSpPr>
          <p:cNvPr id="36" name="line-007"/>
          <p:cNvCxnSpPr/>
          <p:nvPr/>
        </p:nvCxnSpPr>
        <p:spPr>
          <a:xfrm>
            <a:off x="7124700" y="33147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37" name="rect-011"/>
          <p:cNvSpPr/>
          <p:nvPr/>
        </p:nvSpPr>
        <p:spPr>
          <a:xfrm>
            <a:off x="6057900" y="4114800"/>
            <a:ext cx="1066800" cy="6858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20: AXI S2"/>
          <p:cNvSpPr txBox="1"/>
          <p:nvPr/>
        </p:nvSpPr>
        <p:spPr>
          <a:xfrm>
            <a:off x="6172200" y="4175760"/>
            <a:ext cx="819852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AXI S2</a:t>
            </a:r>
          </a:p>
        </p:txBody>
      </p:sp>
      <p:sp>
        <p:nvSpPr>
          <p:cNvPr id="39" name="text-021: NPU 读 / 写"/>
          <p:cNvSpPr txBox="1"/>
          <p:nvPr/>
        </p:nvSpPr>
        <p:spPr>
          <a:xfrm>
            <a:off x="6172200" y="4493057"/>
            <a:ext cx="840224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NPU 读 / 写</a:t>
            </a:r>
          </a:p>
        </p:txBody>
      </p:sp>
      <p:cxnSp>
        <p:nvCxnSpPr>
          <p:cNvPr id="40" name="line-008"/>
          <p:cNvCxnSpPr/>
          <p:nvPr/>
        </p:nvCxnSpPr>
        <p:spPr>
          <a:xfrm>
            <a:off x="7124700" y="4457700"/>
            <a:ext cx="3048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41" name="rect-012"/>
          <p:cNvSpPr/>
          <p:nvPr/>
        </p:nvSpPr>
        <p:spPr>
          <a:xfrm>
            <a:off x="7429500" y="1828800"/>
            <a:ext cx="1524000" cy="2971800"/>
          </a:xfrm>
          <a:prstGeom prst="rect">
            <a:avLst/>
          </a:prstGeom>
          <a:solidFill>
            <a:srgbClr val="F9F5FF"/>
          </a:solidFill>
          <a:ln w="15240" cap="flat">
            <a:solidFill>
              <a:srgbClr val="B9A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22: 内部 Arbiter"/>
          <p:cNvSpPr txBox="1"/>
          <p:nvPr/>
        </p:nvSpPr>
        <p:spPr>
          <a:xfrm>
            <a:off x="7574280" y="2194560"/>
            <a:ext cx="1305127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 Arbiter</a:t>
            </a:r>
          </a:p>
        </p:txBody>
      </p:sp>
      <p:sp>
        <p:nvSpPr>
          <p:cNvPr id="43" name="text-023: 可配置优先级"/>
          <p:cNvSpPr txBox="1"/>
          <p:nvPr/>
        </p:nvSpPr>
        <p:spPr>
          <a:xfrm>
            <a:off x="7574280" y="2579218"/>
            <a:ext cx="101346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可配置优先级</a:t>
            </a:r>
          </a:p>
        </p:txBody>
      </p:sp>
      <p:sp>
        <p:nvSpPr>
          <p:cNvPr id="44" name="text-024: 轮询 / QoS"/>
          <p:cNvSpPr txBox="1"/>
          <p:nvPr/>
        </p:nvSpPr>
        <p:spPr>
          <a:xfrm>
            <a:off x="7574280" y="2845918"/>
            <a:ext cx="875467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轮询 / QoS</a:t>
            </a:r>
          </a:p>
        </p:txBody>
      </p:sp>
      <p:sp>
        <p:nvSpPr>
          <p:cNvPr id="45" name="text-025: 页命中限制"/>
          <p:cNvSpPr txBox="1"/>
          <p:nvPr/>
        </p:nvSpPr>
        <p:spPr>
          <a:xfrm>
            <a:off x="7574280" y="3425038"/>
            <a:ext cx="86868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页命中限制</a:t>
            </a:r>
          </a:p>
        </p:txBody>
      </p:sp>
      <p:sp>
        <p:nvSpPr>
          <p:cNvPr id="46" name="text-026: 端口请求仲裁"/>
          <p:cNvSpPr txBox="1"/>
          <p:nvPr/>
        </p:nvSpPr>
        <p:spPr>
          <a:xfrm>
            <a:off x="7574280" y="3746297"/>
            <a:ext cx="906780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端口请求仲裁</a:t>
            </a:r>
          </a:p>
        </p:txBody>
      </p:sp>
      <p:cxnSp>
        <p:nvCxnSpPr>
          <p:cNvPr id="47" name="line-009"/>
          <p:cNvCxnSpPr/>
          <p:nvPr/>
        </p:nvCxnSpPr>
        <p:spPr>
          <a:xfrm>
            <a:off x="8953500" y="3314700"/>
            <a:ext cx="2667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48" name="rect-013"/>
          <p:cNvSpPr/>
          <p:nvPr/>
        </p:nvSpPr>
        <p:spPr>
          <a:xfrm>
            <a:off x="9220200" y="2628900"/>
            <a:ext cx="1752600" cy="1447800"/>
          </a:xfrm>
          <a:prstGeom prst="rect">
            <a:avLst/>
          </a:prstGeom>
          <a:solidFill>
            <a:srgbClr val="E8F2FE"/>
          </a:solidFill>
          <a:ln w="15240" cap="flat">
            <a:solidFill>
              <a:srgbClr val="96B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27: Controller Core"/>
          <p:cNvSpPr txBox="1"/>
          <p:nvPr/>
        </p:nvSpPr>
        <p:spPr>
          <a:xfrm>
            <a:off x="9349740" y="2762098"/>
            <a:ext cx="1203686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Controller Core</a:t>
            </a:r>
          </a:p>
        </p:txBody>
      </p:sp>
      <p:sp>
        <p:nvSpPr>
          <p:cNvPr id="50" name="text-028: 内部命令队列"/>
          <p:cNvSpPr txBox="1"/>
          <p:nvPr/>
        </p:nvSpPr>
        <p:spPr>
          <a:xfrm>
            <a:off x="9349740" y="305043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内部命令队列</a:t>
            </a:r>
          </a:p>
        </p:txBody>
      </p:sp>
      <p:sp>
        <p:nvSpPr>
          <p:cNvPr id="51" name="text-029: FR-FCFS 调度"/>
          <p:cNvSpPr txBox="1"/>
          <p:nvPr/>
        </p:nvSpPr>
        <p:spPr>
          <a:xfrm>
            <a:off x="9349740" y="3402178"/>
            <a:ext cx="1043428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FR-FCFS 调度</a:t>
            </a:r>
          </a:p>
        </p:txBody>
      </p:sp>
      <p:sp>
        <p:nvSpPr>
          <p:cNvPr id="52" name="text-030: 遵守 DRAM 时序"/>
          <p:cNvSpPr txBox="1"/>
          <p:nvPr/>
        </p:nvSpPr>
        <p:spPr>
          <a:xfrm>
            <a:off x="9349740" y="3714598"/>
            <a:ext cx="125770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遵守 DRAM 时序</a:t>
            </a:r>
          </a:p>
        </p:txBody>
      </p:sp>
      <p:cxnSp>
        <p:nvCxnSpPr>
          <p:cNvPr id="53" name="line-010"/>
          <p:cNvCxnSpPr/>
          <p:nvPr/>
        </p:nvCxnSpPr>
        <p:spPr>
          <a:xfrm>
            <a:off x="10972800" y="3314700"/>
            <a:ext cx="381000" cy="0"/>
          </a:xfrm>
          <a:prstGeom prst="line">
            <a:avLst/>
          </a:prstGeom>
          <a:ln w="15240" cap="flat">
            <a:solidFill>
              <a:srgbClr val="8094A6"/>
            </a:solidFill>
            <a:tailEnd type="triangle" w="med" len="med"/>
          </a:ln>
          <a:effectLst/>
        </p:spPr>
      </p:cxnSp>
      <p:sp>
        <p:nvSpPr>
          <p:cNvPr id="54" name="rect-014"/>
          <p:cNvSpPr/>
          <p:nvPr/>
        </p:nvSpPr>
        <p:spPr>
          <a:xfrm>
            <a:off x="11353800" y="3002280"/>
            <a:ext cx="1219200" cy="62484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CCB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31: PHY"/>
          <p:cNvSpPr txBox="1"/>
          <p:nvPr/>
        </p:nvSpPr>
        <p:spPr>
          <a:xfrm>
            <a:off x="11506200" y="3055620"/>
            <a:ext cx="595694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56" name="text-032: + SDRAM"/>
          <p:cNvSpPr txBox="1"/>
          <p:nvPr/>
        </p:nvSpPr>
        <p:spPr>
          <a:xfrm>
            <a:off x="11506200" y="3325978"/>
            <a:ext cx="826687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+ SDRAM</a:t>
            </a:r>
          </a:p>
        </p:txBody>
      </p:sp>
      <p:sp>
        <p:nvSpPr>
          <p:cNvPr id="57" name="rect-015"/>
          <p:cNvSpPr/>
          <p:nvPr/>
        </p:nvSpPr>
        <p:spPr>
          <a:xfrm>
            <a:off x="228600" y="5303520"/>
            <a:ext cx="12344400" cy="12801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CBD9E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33: 依据与待确认边界"/>
          <p:cNvSpPr txBox="1"/>
          <p:nvPr/>
        </p:nvSpPr>
        <p:spPr>
          <a:xfrm>
            <a:off x="365760" y="5341620"/>
            <a:ext cx="17145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83044"/>
                </a:solidFill>
                <a:latin typeface="Microsoft YaHei"/>
                <a:ea typeface="Microsoft YaHei"/>
                <a:cs typeface="Microsoft YaHei"/>
              </a:rPr>
              <a:t>依据与待确认边界</a:t>
            </a:r>
          </a:p>
        </p:txBody>
      </p:sp>
      <p:sp>
        <p:nvSpPr>
          <p:cNvPr id="59" name="text-034: Datasheet V2.1：p8 最多 8 个 AXI 端口；p10 仲裁特性"/>
          <p:cNvSpPr txBox="1"/>
          <p:nvPr/>
        </p:nvSpPr>
        <p:spPr>
          <a:xfrm>
            <a:off x="365760" y="5650078"/>
            <a:ext cx="716713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Datasheet V2.1：p8 最多 8 个 AXI 端口；p10 仲裁特性；p13 每端口 QoS；p17–18 内部结构与命令调度。</a:t>
            </a:r>
          </a:p>
        </p:txBody>
      </p:sp>
      <p:sp>
        <p:nvSpPr>
          <p:cNvPr id="60" name="text-035: p14：独立 AXI Urgent 接口不支持。优先级 / QoS 的具体寄存器"/>
          <p:cNvSpPr txBox="1"/>
          <p:nvPr/>
        </p:nvSpPr>
        <p:spPr>
          <a:xfrm>
            <a:off x="365760" y="5893918"/>
            <a:ext cx="781731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p14：独立 AXI Urgent 接口不支持。优先级 / QoS 的具体寄存器、映射规则、带宽保底和最坏延迟仍需用户手册确认。</a:t>
            </a:r>
          </a:p>
        </p:txBody>
      </p:sp>
      <p:sp>
        <p:nvSpPr>
          <p:cNvPr id="61" name="text-036: 多端口不会自动保证共享缓存一致性或旁路写的 AMO/LRSC 语义；RT 是否需"/>
          <p:cNvSpPr txBox="1"/>
          <p:nvPr/>
        </p:nvSpPr>
        <p:spPr>
          <a:xfrm>
            <a:off x="365760" y="6137758"/>
            <a:ext cx="744470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0667A"/>
                </a:solidFill>
                <a:latin typeface="Microsoft YaHei"/>
                <a:ea typeface="Microsoft YaHei"/>
                <a:cs typeface="Microsoft YaHei"/>
              </a:rPr>
              <a:t>多端口不会自动保证共享缓存一致性或旁路写的 AMO/LRSC 语义；RT 是否需要添加，后续结合控制器能力评估。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