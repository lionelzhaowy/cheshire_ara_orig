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801600" cy="7200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1: 01  GB：所有权、权限与仲裁"/>
          <p:cNvSpPr txBox="1"/>
          <p:nvPr/>
        </p:nvSpPr>
        <p:spPr>
          <a:xfrm>
            <a:off x="400050" y="162260"/>
            <a:ext cx="3829491" cy="4352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42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01  GB：所有权、权限与仲裁</a:t>
            </a:r>
          </a:p>
        </p:txBody>
      </p:sp>
      <p:sp>
        <p:nvSpPr>
          <p:cNvPr id="3" name="text-2: 共享 M5 决定接入路径；权限检查、bank 服务与缓冲区交接分别设计。"/>
          <p:cNvSpPr txBox="1"/>
          <p:nvPr/>
        </p:nvSpPr>
        <p:spPr>
          <a:xfrm>
            <a:off x="400050" y="610636"/>
            <a:ext cx="5449844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共享 M5 决定接入路径；权限检查、bank 服务与缓冲区交接分别设计。</a:t>
            </a:r>
          </a:p>
        </p:txBody>
      </p:sp>
      <p:sp>
        <p:nvSpPr>
          <p:cNvPr id="4" name="rect-3"/>
          <p:cNvSpPr/>
          <p:nvPr/>
        </p:nvSpPr>
        <p:spPr>
          <a:xfrm>
            <a:off x="360045" y="1160145"/>
            <a:ext cx="4720590" cy="3120390"/>
          </a:xfrm>
          <a:prstGeom prst="roundRect">
            <a:avLst>
              <a:gd name="adj" fmla="val 4102"/>
            </a:avLst>
          </a:prstGeom>
          <a:solidFill>
            <a:srgbClr val="F1F4F7"/>
          </a:solidFill>
          <a:ln w="16002" cap="flat">
            <a:solidFill>
              <a:srgbClr val="B7C4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4: 主 Xbar64：独立输入，共享 GB 目标"/>
          <p:cNvSpPr txBox="1"/>
          <p:nvPr/>
        </p:nvSpPr>
        <p:spPr>
          <a:xfrm>
            <a:off x="520065" y="1226073"/>
            <a:ext cx="304755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主 Xbar64：独立输入，共享 GB 目标</a:t>
            </a:r>
          </a:p>
        </p:txBody>
      </p:sp>
      <p:sp>
        <p:nvSpPr>
          <p:cNvPr id="6" name="cpu"/>
          <p:cNvSpPr/>
          <p:nvPr/>
        </p:nvSpPr>
        <p:spPr>
          <a:xfrm>
            <a:off x="600075" y="1680210"/>
            <a:ext cx="1760220" cy="560070"/>
          </a:xfrm>
          <a:prstGeom prst="roundRect">
            <a:avLst>
              <a:gd name="adj" fmla="val 17142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5: CPU · S0"/>
          <p:cNvSpPr txBox="1"/>
          <p:nvPr/>
        </p:nvSpPr>
        <p:spPr>
          <a:xfrm>
            <a:off x="1051038" y="1834149"/>
            <a:ext cx="85829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CPU · S0</a:t>
            </a:r>
          </a:p>
        </p:txBody>
      </p:sp>
      <p:cxnSp>
        <p:nvCxnSpPr>
          <p:cNvPr id="8" name="cpu-xbar"/>
          <p:cNvCxnSpPr/>
          <p:nvPr/>
        </p:nvCxnSpPr>
        <p:spPr>
          <a:xfrm>
            <a:off x="2360295" y="1960245"/>
            <a:ext cx="680085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9" name="ara"/>
          <p:cNvSpPr/>
          <p:nvPr/>
        </p:nvSpPr>
        <p:spPr>
          <a:xfrm>
            <a:off x="600075" y="2560320"/>
            <a:ext cx="1760220" cy="560070"/>
          </a:xfrm>
          <a:prstGeom prst="roundRect">
            <a:avLst>
              <a:gd name="adj" fmla="val 17142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6: Ara2 · S2"/>
          <p:cNvSpPr txBox="1"/>
          <p:nvPr/>
        </p:nvSpPr>
        <p:spPr>
          <a:xfrm>
            <a:off x="1033504" y="2714259"/>
            <a:ext cx="89336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Ara2 · S2</a:t>
            </a:r>
          </a:p>
        </p:txBody>
      </p:sp>
      <p:cxnSp>
        <p:nvCxnSpPr>
          <p:cNvPr id="11" name="ara-xbar"/>
          <p:cNvCxnSpPr/>
          <p:nvPr/>
        </p:nvCxnSpPr>
        <p:spPr>
          <a:xfrm>
            <a:off x="2360295" y="2840355"/>
            <a:ext cx="680085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2" name="emmc"/>
          <p:cNvSpPr/>
          <p:nvPr/>
        </p:nvSpPr>
        <p:spPr>
          <a:xfrm>
            <a:off x="600075" y="3440430"/>
            <a:ext cx="1760220" cy="560070"/>
          </a:xfrm>
          <a:prstGeom prst="roundRect">
            <a:avLst>
              <a:gd name="adj" fmla="val 17142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7: eMMC DMA · S7"/>
          <p:cNvSpPr txBox="1"/>
          <p:nvPr/>
        </p:nvSpPr>
        <p:spPr>
          <a:xfrm>
            <a:off x="759164" y="3594369"/>
            <a:ext cx="144204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eMMC DMA · S7</a:t>
            </a:r>
          </a:p>
        </p:txBody>
      </p:sp>
      <p:cxnSp>
        <p:nvCxnSpPr>
          <p:cNvPr id="14" name="emmc-xbar"/>
          <p:cNvCxnSpPr/>
          <p:nvPr/>
        </p:nvCxnSpPr>
        <p:spPr>
          <a:xfrm>
            <a:off x="2360295" y="3720465"/>
            <a:ext cx="680085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5" name="xbar"/>
          <p:cNvSpPr/>
          <p:nvPr/>
        </p:nvSpPr>
        <p:spPr>
          <a:xfrm>
            <a:off x="3040380" y="1600200"/>
            <a:ext cx="1760220" cy="2480310"/>
          </a:xfrm>
          <a:prstGeom prst="roundRect">
            <a:avLst>
              <a:gd name="adj" fmla="val 5454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8: 主 Xbar64"/>
          <p:cNvSpPr txBox="1"/>
          <p:nvPr/>
        </p:nvSpPr>
        <p:spPr>
          <a:xfrm>
            <a:off x="3442099" y="2474229"/>
            <a:ext cx="95678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主 Xbar64</a:t>
            </a:r>
          </a:p>
        </p:txBody>
      </p:sp>
      <p:sp>
        <p:nvSpPr>
          <p:cNvPr id="17" name="text-9: 共享 M5"/>
          <p:cNvSpPr txBox="1"/>
          <p:nvPr/>
        </p:nvSpPr>
        <p:spPr>
          <a:xfrm>
            <a:off x="3505188" y="2714259"/>
            <a:ext cx="83060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共享 M5</a:t>
            </a:r>
          </a:p>
        </p:txBody>
      </p:sp>
      <p:sp>
        <p:nvSpPr>
          <p:cNvPr id="18" name="text-10: GB 请求 / 返回"/>
          <p:cNvSpPr txBox="1"/>
          <p:nvPr/>
        </p:nvSpPr>
        <p:spPr>
          <a:xfrm>
            <a:off x="3243049" y="2954289"/>
            <a:ext cx="135488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GB 请求 / 返回</a:t>
            </a:r>
          </a:p>
        </p:txBody>
      </p:sp>
      <p:sp>
        <p:nvSpPr>
          <p:cNvPr id="19" name="local"/>
          <p:cNvSpPr/>
          <p:nvPr/>
        </p:nvSpPr>
        <p:spPr>
          <a:xfrm>
            <a:off x="5520690" y="1320165"/>
            <a:ext cx="2720340" cy="720090"/>
          </a:xfrm>
          <a:prstGeom prst="roundRect">
            <a:avLst>
              <a:gd name="adj" fmla="val 13333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11: NPU / ISP / GB 搬运器"/>
          <p:cNvSpPr txBox="1"/>
          <p:nvPr/>
        </p:nvSpPr>
        <p:spPr>
          <a:xfrm>
            <a:off x="5902769" y="1434099"/>
            <a:ext cx="195618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NPU / ISP / GB 搬运器</a:t>
            </a:r>
          </a:p>
        </p:txBody>
      </p:sp>
      <p:sp>
        <p:nvSpPr>
          <p:cNvPr id="21" name="text-12: 本地服务入口"/>
          <p:cNvSpPr txBox="1"/>
          <p:nvPr/>
        </p:nvSpPr>
        <p:spPr>
          <a:xfrm>
            <a:off x="6264783" y="1674129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本地服务入口</a:t>
            </a:r>
          </a:p>
        </p:txBody>
      </p:sp>
      <p:sp>
        <p:nvSpPr>
          <p:cNvPr id="22" name="adapt"/>
          <p:cNvSpPr/>
          <p:nvPr/>
        </p:nvSpPr>
        <p:spPr>
          <a:xfrm>
            <a:off x="5520690" y="2680335"/>
            <a:ext cx="2720340" cy="880110"/>
          </a:xfrm>
          <a:prstGeom prst="roundRect">
            <a:avLst>
              <a:gd name="adj" fmla="val 10909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13: 访问适配 + 来源检查"/>
          <p:cNvSpPr txBox="1"/>
          <p:nvPr/>
        </p:nvSpPr>
        <p:spPr>
          <a:xfrm>
            <a:off x="5983217" y="2874279"/>
            <a:ext cx="179528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访问适配 + 来源检查</a:t>
            </a:r>
          </a:p>
        </p:txBody>
      </p:sp>
      <p:sp>
        <p:nvSpPr>
          <p:cNvPr id="24" name="text-14: 范围 / 操作 / 所有权"/>
          <p:cNvSpPr txBox="1"/>
          <p:nvPr/>
        </p:nvSpPr>
        <p:spPr>
          <a:xfrm>
            <a:off x="5979785" y="3114309"/>
            <a:ext cx="180215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范围 / 操作 / 所有权</a:t>
            </a:r>
          </a:p>
        </p:txBody>
      </p:sp>
      <p:cxnSp>
        <p:nvCxnSpPr>
          <p:cNvPr id="25" name="m5-gb"/>
          <p:cNvCxnSpPr/>
          <p:nvPr/>
        </p:nvCxnSpPr>
        <p:spPr>
          <a:xfrm>
            <a:off x="4800600" y="3120390"/>
            <a:ext cx="720090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26" name="local-gb"/>
          <p:cNvCxnSpPr/>
          <p:nvPr/>
        </p:nvCxnSpPr>
        <p:spPr>
          <a:xfrm>
            <a:off x="6880860" y="2040255"/>
            <a:ext cx="0" cy="64008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27" name="banks"/>
          <p:cNvSpPr/>
          <p:nvPr/>
        </p:nvSpPr>
        <p:spPr>
          <a:xfrm>
            <a:off x="9281160" y="2560320"/>
            <a:ext cx="2960370" cy="1120140"/>
          </a:xfrm>
          <a:prstGeom prst="roundRect">
            <a:avLst>
              <a:gd name="adj" fmla="val 8571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15: 仲裁 → bank / SRAM"/>
          <p:cNvSpPr txBox="1"/>
          <p:nvPr/>
        </p:nvSpPr>
        <p:spPr>
          <a:xfrm>
            <a:off x="9841355" y="2754264"/>
            <a:ext cx="183998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仲裁 → bank / SRAM</a:t>
            </a:r>
          </a:p>
        </p:txBody>
      </p:sp>
      <p:sp>
        <p:nvSpPr>
          <p:cNvPr id="29" name="text-16: 按物理端口服务"/>
          <p:cNvSpPr txBox="1"/>
          <p:nvPr/>
        </p:nvSpPr>
        <p:spPr>
          <a:xfrm>
            <a:off x="10057257" y="2994294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按物理端口服务</a:t>
            </a:r>
          </a:p>
        </p:txBody>
      </p:sp>
      <p:sp>
        <p:nvSpPr>
          <p:cNvPr id="30" name="text-17: 冲突排队与有界等待"/>
          <p:cNvSpPr txBox="1"/>
          <p:nvPr/>
        </p:nvSpPr>
        <p:spPr>
          <a:xfrm>
            <a:off x="9881235" y="3234324"/>
            <a:ext cx="176022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冲突排队与有界等待</a:t>
            </a:r>
          </a:p>
        </p:txBody>
      </p:sp>
      <p:cxnSp>
        <p:nvCxnSpPr>
          <p:cNvPr id="31" name="access-bank"/>
          <p:cNvCxnSpPr/>
          <p:nvPr/>
        </p:nvCxnSpPr>
        <p:spPr>
          <a:xfrm>
            <a:off x="8241030" y="3120390"/>
            <a:ext cx="1040130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32" name="policy"/>
          <p:cNvSpPr/>
          <p:nvPr/>
        </p:nvSpPr>
        <p:spPr>
          <a:xfrm>
            <a:off x="9201150" y="1320165"/>
            <a:ext cx="3040380" cy="680085"/>
          </a:xfrm>
          <a:prstGeom prst="roundRect">
            <a:avLst>
              <a:gd name="adj" fmla="val 14117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18: 软件分配 / 交接状态"/>
          <p:cNvSpPr txBox="1"/>
          <p:nvPr/>
        </p:nvSpPr>
        <p:spPr>
          <a:xfrm>
            <a:off x="9830747" y="1414097"/>
            <a:ext cx="178118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软件分配 / 交接状态</a:t>
            </a:r>
          </a:p>
        </p:txBody>
      </p:sp>
      <p:sp>
        <p:nvSpPr>
          <p:cNvPr id="34" name="text-19: 硬件隔离能力待定"/>
          <p:cNvSpPr txBox="1"/>
          <p:nvPr/>
        </p:nvSpPr>
        <p:spPr>
          <a:xfrm>
            <a:off x="9929241" y="1654127"/>
            <a:ext cx="158419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硬件隔离能力待定</a:t>
            </a:r>
          </a:p>
        </p:txBody>
      </p:sp>
      <p:sp>
        <p:nvSpPr>
          <p:cNvPr id="35" name="policy-check"/>
          <p:cNvSpPr/>
          <p:nvPr/>
        </p:nvSpPr>
        <p:spPr>
          <a:xfrm>
            <a:off x="7440930" y="1656207"/>
            <a:ext cx="1760220" cy="1024128"/>
          </a:xfrm>
          <a:custGeom>
            <a:avLst/>
            <a:gdLst/>
            <a:ahLst/>
            <a:cxnLst/>
            <a:rect l="0" t="0" r="r" b="b"/>
            <a:pathLst>
              <a:path w="1760220" h="1024128" fill="none">
                <a:moveTo>
                  <a:pt x="1760220" y="0"/>
                </a:moveTo>
                <a:lnTo>
                  <a:pt x="1200150" y="0"/>
                </a:lnTo>
                <a:lnTo>
                  <a:pt x="1200150" y="704088"/>
                </a:lnTo>
                <a:lnTo>
                  <a:pt x="0" y="704088"/>
                </a:lnTo>
                <a:lnTo>
                  <a:pt x="0" y="1024128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20: 同一范围：可多读的条件需定义；任何写者与旧读写活动必须隔离。"/>
          <p:cNvSpPr txBox="1"/>
          <p:nvPr/>
        </p:nvSpPr>
        <p:spPr>
          <a:xfrm>
            <a:off x="600075" y="4459117"/>
            <a:ext cx="5208651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同一范围：可多读的条件需定义；任何写者与旧读写活动必须隔离。</a:t>
            </a:r>
          </a:p>
        </p:txBody>
      </p:sp>
      <p:sp>
        <p:nvSpPr>
          <p:cNvPr id="37" name="produce"/>
          <p:cNvSpPr/>
          <p:nvPr/>
        </p:nvSpPr>
        <p:spPr>
          <a:xfrm>
            <a:off x="600075" y="5120640"/>
            <a:ext cx="2400300" cy="800100"/>
          </a:xfrm>
          <a:prstGeom prst="roundRect">
            <a:avLst>
              <a:gd name="adj" fmla="val 12000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21: 生产者持有"/>
          <p:cNvSpPr txBox="1"/>
          <p:nvPr/>
        </p:nvSpPr>
        <p:spPr>
          <a:xfrm>
            <a:off x="1272159" y="5274579"/>
            <a:ext cx="10561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生产者持有</a:t>
            </a:r>
          </a:p>
        </p:txBody>
      </p:sp>
      <p:sp>
        <p:nvSpPr>
          <p:cNvPr id="39" name="text-22: 写入参数 / 结果"/>
          <p:cNvSpPr txBox="1"/>
          <p:nvPr/>
        </p:nvSpPr>
        <p:spPr>
          <a:xfrm>
            <a:off x="1085654" y="5514609"/>
            <a:ext cx="142914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写入参数 / 结果</a:t>
            </a:r>
          </a:p>
        </p:txBody>
      </p:sp>
      <p:sp>
        <p:nvSpPr>
          <p:cNvPr id="40" name="visible"/>
          <p:cNvSpPr/>
          <p:nvPr/>
        </p:nvSpPr>
        <p:spPr>
          <a:xfrm>
            <a:off x="3560445" y="5120640"/>
            <a:ext cx="2400300" cy="800100"/>
          </a:xfrm>
          <a:prstGeom prst="roundRect">
            <a:avLst>
              <a:gd name="adj" fmla="val 12000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23: 写入达到 GB 可见"/>
          <p:cNvSpPr txBox="1"/>
          <p:nvPr/>
        </p:nvSpPr>
        <p:spPr>
          <a:xfrm>
            <a:off x="3979241" y="5274579"/>
            <a:ext cx="156270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写入达到 GB 可见</a:t>
            </a:r>
          </a:p>
        </p:txBody>
      </p:sp>
      <p:sp>
        <p:nvSpPr>
          <p:cNvPr id="42" name="text-24: 发布范围与长度"/>
          <p:cNvSpPr txBox="1"/>
          <p:nvPr/>
        </p:nvSpPr>
        <p:spPr>
          <a:xfrm>
            <a:off x="4056507" y="5514609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发布范围与长度</a:t>
            </a:r>
          </a:p>
        </p:txBody>
      </p:sp>
      <p:sp>
        <p:nvSpPr>
          <p:cNvPr id="43" name="consume"/>
          <p:cNvSpPr/>
          <p:nvPr/>
        </p:nvSpPr>
        <p:spPr>
          <a:xfrm>
            <a:off x="6520815" y="5120640"/>
            <a:ext cx="2400300" cy="800100"/>
          </a:xfrm>
          <a:prstGeom prst="roundRect">
            <a:avLst>
              <a:gd name="adj" fmla="val 12000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25: 消费者持有"/>
          <p:cNvSpPr txBox="1"/>
          <p:nvPr/>
        </p:nvSpPr>
        <p:spPr>
          <a:xfrm>
            <a:off x="7192899" y="5274579"/>
            <a:ext cx="10561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消费者持有</a:t>
            </a:r>
          </a:p>
        </p:txBody>
      </p:sp>
      <p:sp>
        <p:nvSpPr>
          <p:cNvPr id="45" name="text-26: 全部读者退出"/>
          <p:cNvSpPr txBox="1"/>
          <p:nvPr/>
        </p:nvSpPr>
        <p:spPr>
          <a:xfrm>
            <a:off x="7104888" y="5514609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全部读者退出</a:t>
            </a:r>
          </a:p>
        </p:txBody>
      </p:sp>
      <p:sp>
        <p:nvSpPr>
          <p:cNvPr id="46" name="free"/>
          <p:cNvSpPr/>
          <p:nvPr/>
        </p:nvSpPr>
        <p:spPr>
          <a:xfrm>
            <a:off x="9481185" y="5120640"/>
            <a:ext cx="2400300" cy="800100"/>
          </a:xfrm>
          <a:prstGeom prst="roundRect">
            <a:avLst>
              <a:gd name="adj" fmla="val 12000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27: 在途访问终止"/>
          <p:cNvSpPr txBox="1"/>
          <p:nvPr/>
        </p:nvSpPr>
        <p:spPr>
          <a:xfrm>
            <a:off x="10065258" y="5274579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在途访问终止</a:t>
            </a:r>
          </a:p>
        </p:txBody>
      </p:sp>
      <p:sp>
        <p:nvSpPr>
          <p:cNvPr id="48" name="text-28: 区间可复用"/>
          <p:cNvSpPr txBox="1"/>
          <p:nvPr/>
        </p:nvSpPr>
        <p:spPr>
          <a:xfrm>
            <a:off x="10153269" y="5514609"/>
            <a:ext cx="10561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区间可复用</a:t>
            </a:r>
          </a:p>
        </p:txBody>
      </p:sp>
      <p:cxnSp>
        <p:nvCxnSpPr>
          <p:cNvPr id="49" name="handoff-0"/>
          <p:cNvCxnSpPr/>
          <p:nvPr/>
        </p:nvCxnSpPr>
        <p:spPr>
          <a:xfrm>
            <a:off x="3000375" y="5520690"/>
            <a:ext cx="560070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cxnSp>
        <p:nvCxnSpPr>
          <p:cNvPr id="50" name="handoff-1"/>
          <p:cNvCxnSpPr/>
          <p:nvPr/>
        </p:nvCxnSpPr>
        <p:spPr>
          <a:xfrm>
            <a:off x="5960745" y="5520690"/>
            <a:ext cx="560070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cxnSp>
        <p:nvCxnSpPr>
          <p:cNvPr id="51" name="handoff-2"/>
          <p:cNvCxnSpPr/>
          <p:nvPr/>
        </p:nvCxnSpPr>
        <p:spPr>
          <a:xfrm>
            <a:off x="8921115" y="5520690"/>
            <a:ext cx="560070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cxnSp>
        <p:nvCxnSpPr>
          <p:cNvPr id="52" name="legend-data"/>
          <p:cNvCxnSpPr/>
          <p:nvPr/>
        </p:nvCxnSpPr>
        <p:spPr>
          <a:xfrm>
            <a:off x="440055" y="6864858"/>
            <a:ext cx="384048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53" name="text-29: 数据 / 请求"/>
          <p:cNvSpPr txBox="1"/>
          <p:nvPr/>
        </p:nvSpPr>
        <p:spPr>
          <a:xfrm>
            <a:off x="94411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数据 / 请求</a:t>
            </a:r>
          </a:p>
        </p:txBody>
      </p:sp>
      <p:cxnSp>
        <p:nvCxnSpPr>
          <p:cNvPr id="54" name="legend-control"/>
          <p:cNvCxnSpPr/>
          <p:nvPr/>
        </p:nvCxnSpPr>
        <p:spPr>
          <a:xfrm>
            <a:off x="2720340" y="6864858"/>
            <a:ext cx="384048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sp>
        <p:nvSpPr>
          <p:cNvPr id="55" name="text-30: 配置 / 控制"/>
          <p:cNvSpPr txBox="1"/>
          <p:nvPr/>
        </p:nvSpPr>
        <p:spPr>
          <a:xfrm>
            <a:off x="322440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cxnSp>
        <p:nvCxnSpPr>
          <p:cNvPr id="56" name="legend-done"/>
          <p:cNvCxnSpPr/>
          <p:nvPr/>
        </p:nvCxnSpPr>
        <p:spPr>
          <a:xfrm>
            <a:off x="5000625" y="6864858"/>
            <a:ext cx="384048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57" name="text-31: 完成 / 交接"/>
          <p:cNvSpPr txBox="1"/>
          <p:nvPr/>
        </p:nvSpPr>
        <p:spPr>
          <a:xfrm>
            <a:off x="550468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完成 / 交接</a:t>
            </a:r>
          </a:p>
        </p:txBody>
      </p:sp>
      <p:cxnSp>
        <p:nvCxnSpPr>
          <p:cNvPr id="58" name="legend-error"/>
          <p:cNvCxnSpPr/>
          <p:nvPr/>
        </p:nvCxnSpPr>
        <p:spPr>
          <a:xfrm>
            <a:off x="7280910" y="6864858"/>
            <a:ext cx="384048" cy="0"/>
          </a:xfrm>
          <a:prstGeom prst="line">
            <a:avLst/>
          </a:prstGeom>
          <a:ln w="24003" cap="flat">
            <a:solidFill>
              <a:srgbClr val="B65353"/>
            </a:solidFill>
            <a:tailEnd type="triangle" w="med" len="med"/>
          </a:ln>
          <a:effectLst/>
        </p:spPr>
      </p:cxnSp>
      <p:sp>
        <p:nvSpPr>
          <p:cNvPr id="59" name="text-32: 故障 / 恢复"/>
          <p:cNvSpPr txBox="1"/>
          <p:nvPr/>
        </p:nvSpPr>
        <p:spPr>
          <a:xfrm>
            <a:off x="778497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故障 / 恢复</a:t>
            </a:r>
          </a:p>
        </p:txBody>
      </p:sp>
      <p:sp>
        <p:nvSpPr>
          <p:cNvPr id="60" name="text-33: 01 / 13"/>
          <p:cNvSpPr txBox="1"/>
          <p:nvPr/>
        </p:nvSpPr>
        <p:spPr>
          <a:xfrm>
            <a:off x="11594774" y="6756684"/>
            <a:ext cx="68676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01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1: 02  DDR–GB：跨层数据同步"/>
          <p:cNvSpPr txBox="1"/>
          <p:nvPr/>
        </p:nvSpPr>
        <p:spPr>
          <a:xfrm>
            <a:off x="400050" y="162260"/>
            <a:ext cx="3691624" cy="4352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42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02  DDR–GB：跨层数据同步</a:t>
            </a:r>
          </a:p>
        </p:txBody>
      </p:sp>
      <p:sp>
        <p:nvSpPr>
          <p:cNvPr id="3" name="text-2: 已有确认方向：软件显式交接 + 硬件范围维护；GB 是独立 SRAM。"/>
          <p:cNvSpPr txBox="1"/>
          <p:nvPr/>
        </p:nvSpPr>
        <p:spPr>
          <a:xfrm>
            <a:off x="400050" y="610636"/>
            <a:ext cx="5157270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已有确认方向：软件显式交接 + 硬件范围维护；GB 是独立 SRAM。</a:t>
            </a:r>
          </a:p>
        </p:txBody>
      </p:sp>
      <p:sp>
        <p:nvSpPr>
          <p:cNvPr id="4" name="rect-3"/>
          <p:cNvSpPr/>
          <p:nvPr/>
        </p:nvSpPr>
        <p:spPr>
          <a:xfrm>
            <a:off x="360045" y="1120140"/>
            <a:ext cx="12081510" cy="2120265"/>
          </a:xfrm>
          <a:prstGeom prst="roundRect">
            <a:avLst>
              <a:gd name="adj" fmla="val 6037"/>
            </a:avLst>
          </a:prstGeom>
          <a:solidFill>
            <a:srgbClr val="F1F4F7"/>
          </a:solidFill>
          <a:ln w="16002" cap="flat">
            <a:solidFill>
              <a:srgbClr val="B7C4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4: 数据面：CPU 缓存位于主 Xbar 上游；GB 的 M5 路径另见图 01"/>
          <p:cNvSpPr txBox="1"/>
          <p:nvPr/>
        </p:nvSpPr>
        <p:spPr>
          <a:xfrm>
            <a:off x="520065" y="1186068"/>
            <a:ext cx="50606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数据面：CPU 缓存位于主 Xbar 上游；GB 的 M5 路径另见图 01</a:t>
            </a:r>
          </a:p>
        </p:txBody>
      </p:sp>
      <p:sp>
        <p:nvSpPr>
          <p:cNvPr id="6" name="cpu"/>
          <p:cNvSpPr/>
          <p:nvPr/>
        </p:nvSpPr>
        <p:spPr>
          <a:xfrm>
            <a:off x="560070" y="1720215"/>
            <a:ext cx="1680210" cy="640080"/>
          </a:xfrm>
          <a:prstGeom prst="roundRect">
            <a:avLst>
              <a:gd name="adj" fmla="val 1500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5: CVA6"/>
          <p:cNvSpPr txBox="1"/>
          <p:nvPr/>
        </p:nvSpPr>
        <p:spPr>
          <a:xfrm>
            <a:off x="1106395" y="1794144"/>
            <a:ext cx="58756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CVA6</a:t>
            </a:r>
          </a:p>
        </p:txBody>
      </p:sp>
      <p:sp>
        <p:nvSpPr>
          <p:cNvPr id="8" name="text-6: L1D / WT 写缓冲"/>
          <p:cNvSpPr txBox="1"/>
          <p:nvPr/>
        </p:nvSpPr>
        <p:spPr>
          <a:xfrm>
            <a:off x="652344" y="2034174"/>
            <a:ext cx="149566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L1D / WT 写缓冲</a:t>
            </a:r>
          </a:p>
        </p:txBody>
      </p:sp>
      <p:sp>
        <p:nvSpPr>
          <p:cNvPr id="9" name="ara"/>
          <p:cNvSpPr/>
          <p:nvPr/>
        </p:nvSpPr>
        <p:spPr>
          <a:xfrm>
            <a:off x="560070" y="2600325"/>
            <a:ext cx="1680210" cy="480060"/>
          </a:xfrm>
          <a:prstGeom prst="roundRect">
            <a:avLst>
              <a:gd name="adj" fmla="val 2000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7: Ara2 · S2"/>
          <p:cNvSpPr txBox="1"/>
          <p:nvPr/>
        </p:nvSpPr>
        <p:spPr>
          <a:xfrm>
            <a:off x="953494" y="2714259"/>
            <a:ext cx="89336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Ara2 · S2</a:t>
            </a:r>
          </a:p>
        </p:txBody>
      </p:sp>
      <p:sp>
        <p:nvSpPr>
          <p:cNvPr id="11" name="xbar"/>
          <p:cNvSpPr/>
          <p:nvPr/>
        </p:nvSpPr>
        <p:spPr>
          <a:xfrm>
            <a:off x="2840355" y="1720215"/>
            <a:ext cx="1480185" cy="1360170"/>
          </a:xfrm>
          <a:prstGeom prst="roundRect">
            <a:avLst>
              <a:gd name="adj" fmla="val 7058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8: 主 Xbar64"/>
          <p:cNvSpPr txBox="1"/>
          <p:nvPr/>
        </p:nvSpPr>
        <p:spPr>
          <a:xfrm>
            <a:off x="3102056" y="2154189"/>
            <a:ext cx="95678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主 Xbar64</a:t>
            </a:r>
          </a:p>
        </p:txBody>
      </p:sp>
      <p:sp>
        <p:nvSpPr>
          <p:cNvPr id="13" name="text-9: M2 主存"/>
          <p:cNvSpPr txBox="1"/>
          <p:nvPr/>
        </p:nvSpPr>
        <p:spPr>
          <a:xfrm>
            <a:off x="3165146" y="2394219"/>
            <a:ext cx="83060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M2 主存</a:t>
            </a:r>
          </a:p>
        </p:txBody>
      </p:sp>
      <p:sp>
        <p:nvSpPr>
          <p:cNvPr id="14" name="cache"/>
          <p:cNvSpPr/>
          <p:nvPr/>
        </p:nvSpPr>
        <p:spPr>
          <a:xfrm>
            <a:off x="4880610" y="2120265"/>
            <a:ext cx="1680210" cy="720090"/>
          </a:xfrm>
          <a:prstGeom prst="roundRect">
            <a:avLst>
              <a:gd name="adj" fmla="val 13333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10: 原子适配 → LLC"/>
          <p:cNvSpPr txBox="1"/>
          <p:nvPr/>
        </p:nvSpPr>
        <p:spPr>
          <a:xfrm>
            <a:off x="4997375" y="2234199"/>
            <a:ext cx="144668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原子适配 → LLC</a:t>
            </a:r>
          </a:p>
        </p:txBody>
      </p:sp>
      <p:sp>
        <p:nvSpPr>
          <p:cNvPr id="16" name="text-11: F0"/>
          <p:cNvSpPr txBox="1"/>
          <p:nvPr/>
        </p:nvSpPr>
        <p:spPr>
          <a:xfrm>
            <a:off x="5537730" y="2474229"/>
            <a:ext cx="36597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F0</a:t>
            </a:r>
          </a:p>
        </p:txBody>
      </p:sp>
      <p:sp>
        <p:nvSpPr>
          <p:cNvPr id="17" name="front"/>
          <p:cNvSpPr/>
          <p:nvPr/>
        </p:nvSpPr>
        <p:spPr>
          <a:xfrm>
            <a:off x="7120890" y="2120265"/>
            <a:ext cx="2440305" cy="720090"/>
          </a:xfrm>
          <a:prstGeom prst="roundRect">
            <a:avLst>
              <a:gd name="adj" fmla="val 13333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12: 共享压缩前端"/>
          <p:cNvSpPr txBox="1"/>
          <p:nvPr/>
        </p:nvSpPr>
        <p:spPr>
          <a:xfrm>
            <a:off x="7724966" y="2234199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共享压缩前端</a:t>
            </a:r>
          </a:p>
        </p:txBody>
      </p:sp>
      <p:sp>
        <p:nvSpPr>
          <p:cNvPr id="19" name="text-13: 四口统一格式"/>
          <p:cNvSpPr txBox="1"/>
          <p:nvPr/>
        </p:nvSpPr>
        <p:spPr>
          <a:xfrm>
            <a:off x="7724966" y="2474229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四口统一格式</a:t>
            </a:r>
          </a:p>
        </p:txBody>
      </p:sp>
      <p:sp>
        <p:nvSpPr>
          <p:cNvPr id="20" name="ddr"/>
          <p:cNvSpPr/>
          <p:nvPr/>
        </p:nvSpPr>
        <p:spPr>
          <a:xfrm>
            <a:off x="10081260" y="2120265"/>
            <a:ext cx="2040255" cy="720090"/>
          </a:xfrm>
          <a:prstGeom prst="roundRect">
            <a:avLst>
              <a:gd name="adj" fmla="val 13333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14: 单 DDR Controller"/>
          <p:cNvSpPr txBox="1"/>
          <p:nvPr/>
        </p:nvSpPr>
        <p:spPr>
          <a:xfrm>
            <a:off x="10331379" y="2234199"/>
            <a:ext cx="154001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单 DDR Controller</a:t>
            </a:r>
          </a:p>
        </p:txBody>
      </p:sp>
      <p:sp>
        <p:nvSpPr>
          <p:cNvPr id="22" name="text-15: DDR.S0～S3"/>
          <p:cNvSpPr txBox="1"/>
          <p:nvPr/>
        </p:nvSpPr>
        <p:spPr>
          <a:xfrm>
            <a:off x="10513920" y="2474229"/>
            <a:ext cx="117493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DDR.S0～S3</a:t>
            </a:r>
          </a:p>
        </p:txBody>
      </p:sp>
      <p:sp>
        <p:nvSpPr>
          <p:cNvPr id="23" name="dev"/>
          <p:cNvSpPr/>
          <p:nvPr/>
        </p:nvSpPr>
        <p:spPr>
          <a:xfrm>
            <a:off x="7120890" y="1320165"/>
            <a:ext cx="2440305" cy="520065"/>
          </a:xfrm>
          <a:prstGeom prst="roundRect">
            <a:avLst>
              <a:gd name="adj" fmla="val 18461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16: F1 · 搬运 ↔ GB / NPU"/>
          <p:cNvSpPr txBox="1"/>
          <p:nvPr/>
        </p:nvSpPr>
        <p:spPr>
          <a:xfrm>
            <a:off x="7392868" y="1454102"/>
            <a:ext cx="189635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F1 · 搬运 ↔ GB / NPU</a:t>
            </a:r>
          </a:p>
        </p:txBody>
      </p:sp>
      <p:cxnSp>
        <p:nvCxnSpPr>
          <p:cNvPr id="25" name="cpu-xbar"/>
          <p:cNvCxnSpPr/>
          <p:nvPr/>
        </p:nvCxnSpPr>
        <p:spPr>
          <a:xfrm>
            <a:off x="2240280" y="2040255"/>
            <a:ext cx="600075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26" name="ara-xbar"/>
          <p:cNvCxnSpPr/>
          <p:nvPr/>
        </p:nvCxnSpPr>
        <p:spPr>
          <a:xfrm>
            <a:off x="2240280" y="2840355"/>
            <a:ext cx="600075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27" name="xbar-cache"/>
          <p:cNvCxnSpPr/>
          <p:nvPr/>
        </p:nvCxnSpPr>
        <p:spPr>
          <a:xfrm>
            <a:off x="4320540" y="2480310"/>
            <a:ext cx="560070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28" name="cache-front"/>
          <p:cNvCxnSpPr/>
          <p:nvPr/>
        </p:nvCxnSpPr>
        <p:spPr>
          <a:xfrm>
            <a:off x="6560820" y="2480310"/>
            <a:ext cx="560070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29" name="front-ddr"/>
          <p:cNvCxnSpPr/>
          <p:nvPr/>
        </p:nvCxnSpPr>
        <p:spPr>
          <a:xfrm>
            <a:off x="9561195" y="2480310"/>
            <a:ext cx="520065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30" name="device-front"/>
          <p:cNvCxnSpPr/>
          <p:nvPr/>
        </p:nvCxnSpPr>
        <p:spPr>
          <a:xfrm>
            <a:off x="8337042" y="1840230"/>
            <a:ext cx="0" cy="280035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31" name="text-17: F2：帧写；F3：帧读"/>
          <p:cNvSpPr txBox="1"/>
          <p:nvPr/>
        </p:nvSpPr>
        <p:spPr>
          <a:xfrm>
            <a:off x="9921240" y="2956209"/>
            <a:ext cx="1544243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F2：帧写；F3：帧读</a:t>
            </a:r>
          </a:p>
        </p:txBody>
      </p:sp>
      <p:sp>
        <p:nvSpPr>
          <p:cNvPr id="32" name="service"/>
          <p:cNvSpPr/>
          <p:nvPr/>
        </p:nvSpPr>
        <p:spPr>
          <a:xfrm>
            <a:off x="440055" y="3760470"/>
            <a:ext cx="2320290" cy="1440180"/>
          </a:xfrm>
          <a:prstGeom prst="roundRect">
            <a:avLst>
              <a:gd name="adj" fmla="val 6666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18: 范围维护服务"/>
          <p:cNvSpPr txBox="1"/>
          <p:nvPr/>
        </p:nvSpPr>
        <p:spPr>
          <a:xfrm>
            <a:off x="984123" y="4114434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范围维护服务</a:t>
            </a:r>
          </a:p>
        </p:txBody>
      </p:sp>
      <p:sp>
        <p:nvSpPr>
          <p:cNvPr id="34" name="text-19: 保存范围 / 身份"/>
          <p:cNvSpPr txBox="1"/>
          <p:nvPr/>
        </p:nvSpPr>
        <p:spPr>
          <a:xfrm>
            <a:off x="885629" y="4354464"/>
            <a:ext cx="142914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保存范围 / 身份</a:t>
            </a:r>
          </a:p>
        </p:txBody>
      </p:sp>
      <p:sp>
        <p:nvSpPr>
          <p:cNvPr id="35" name="text-20: 窗口 + 完成 + 错误"/>
          <p:cNvSpPr txBox="1"/>
          <p:nvPr/>
        </p:nvSpPr>
        <p:spPr>
          <a:xfrm>
            <a:off x="773034" y="4594494"/>
            <a:ext cx="16543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窗口 + 完成 + 错误</a:t>
            </a:r>
          </a:p>
        </p:txBody>
      </p:sp>
      <p:sp>
        <p:nvSpPr>
          <p:cNvPr id="36" name="service-cache"/>
          <p:cNvSpPr/>
          <p:nvPr/>
        </p:nvSpPr>
        <p:spPr>
          <a:xfrm>
            <a:off x="1600200" y="2840355"/>
            <a:ext cx="4120515" cy="920115"/>
          </a:xfrm>
          <a:custGeom>
            <a:avLst/>
            <a:gdLst/>
            <a:ahLst/>
            <a:cxnLst/>
            <a:rect l="0" t="0" r="r" b="b"/>
            <a:pathLst>
              <a:path w="4120515" h="920115" fill="none">
                <a:moveTo>
                  <a:pt x="0" y="920115"/>
                </a:moveTo>
                <a:lnTo>
                  <a:pt x="0" y="560070"/>
                </a:lnTo>
                <a:lnTo>
                  <a:pt x="4120515" y="560070"/>
                </a:lnTo>
                <a:lnTo>
                  <a:pt x="4120515" y="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service-l1"/>
          <p:cNvSpPr/>
          <p:nvPr/>
        </p:nvSpPr>
        <p:spPr>
          <a:xfrm>
            <a:off x="240030" y="2040255"/>
            <a:ext cx="320040" cy="2040255"/>
          </a:xfrm>
          <a:custGeom>
            <a:avLst/>
            <a:gdLst/>
            <a:ahLst/>
            <a:cxnLst/>
            <a:rect l="0" t="0" r="r" b="b"/>
            <a:pathLst>
              <a:path w="320040" h="2040255" fill="none">
                <a:moveTo>
                  <a:pt x="200025" y="2040255"/>
                </a:moveTo>
                <a:lnTo>
                  <a:pt x="0" y="2040255"/>
                </a:lnTo>
                <a:lnTo>
                  <a:pt x="0" y="0"/>
                </a:lnTo>
                <a:lnTo>
                  <a:pt x="320040" y="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in"/>
          <p:cNvSpPr/>
          <p:nvPr/>
        </p:nvSpPr>
        <p:spPr>
          <a:xfrm>
            <a:off x="3400425" y="3520440"/>
            <a:ext cx="8721090" cy="720090"/>
          </a:xfrm>
          <a:prstGeom prst="roundRect">
            <a:avLst>
              <a:gd name="adj" fmla="val 13333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21: ① 输入交设备"/>
          <p:cNvSpPr txBox="1"/>
          <p:nvPr/>
        </p:nvSpPr>
        <p:spPr>
          <a:xfrm>
            <a:off x="7118508" y="3634374"/>
            <a:ext cx="128492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① 输入交设备</a:t>
            </a:r>
          </a:p>
        </p:txBody>
      </p:sp>
      <p:sp>
        <p:nvSpPr>
          <p:cNvPr id="40" name="text-22: 生产者完成 → 上游排空 → LLC clean → 跨口可见"/>
          <p:cNvSpPr txBox="1"/>
          <p:nvPr/>
        </p:nvSpPr>
        <p:spPr>
          <a:xfrm>
            <a:off x="5731998" y="3874404"/>
            <a:ext cx="405794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生产者完成 → 上游排空 → LLC clean → 跨口可见</a:t>
            </a:r>
          </a:p>
        </p:txBody>
      </p:sp>
      <p:sp>
        <p:nvSpPr>
          <p:cNvPr id="41" name="sync-in"/>
          <p:cNvSpPr/>
          <p:nvPr/>
        </p:nvSpPr>
        <p:spPr>
          <a:xfrm>
            <a:off x="2760345" y="3880485"/>
            <a:ext cx="640080" cy="560070"/>
          </a:xfrm>
          <a:custGeom>
            <a:avLst/>
            <a:gdLst/>
            <a:ahLst/>
            <a:cxnLst/>
            <a:rect l="0" t="0" r="r" b="b"/>
            <a:pathLst>
              <a:path w="640080" h="560070" fill="none">
                <a:moveTo>
                  <a:pt x="0" y="560070"/>
                </a:moveTo>
                <a:lnTo>
                  <a:pt x="320040" y="560070"/>
                </a:lnTo>
                <a:lnTo>
                  <a:pt x="320040" y="0"/>
                </a:lnTo>
                <a:lnTo>
                  <a:pt x="640080" y="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pre"/>
          <p:cNvSpPr/>
          <p:nvPr/>
        </p:nvSpPr>
        <p:spPr>
          <a:xfrm>
            <a:off x="3400425" y="4480560"/>
            <a:ext cx="8721090" cy="720090"/>
          </a:xfrm>
          <a:prstGeom prst="roundRect">
            <a:avLst>
              <a:gd name="adj" fmla="val 13333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23: ② 输出写前准备"/>
          <p:cNvSpPr txBox="1"/>
          <p:nvPr/>
        </p:nvSpPr>
        <p:spPr>
          <a:xfrm>
            <a:off x="7030497" y="4594494"/>
            <a:ext cx="146094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② 输出写前准备</a:t>
            </a:r>
          </a:p>
        </p:txBody>
      </p:sp>
      <p:sp>
        <p:nvSpPr>
          <p:cNvPr id="44" name="text-24: 排空旧写 → clean + invalidate → 保护未覆盖字节"/>
          <p:cNvSpPr txBox="1"/>
          <p:nvPr/>
        </p:nvSpPr>
        <p:spPr>
          <a:xfrm>
            <a:off x="5744968" y="4834524"/>
            <a:ext cx="403200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排空旧写 → clean + invalidate → 保护未覆盖字节</a:t>
            </a:r>
          </a:p>
        </p:txBody>
      </p:sp>
      <p:sp>
        <p:nvSpPr>
          <p:cNvPr id="45" name="sync-pre"/>
          <p:cNvSpPr/>
          <p:nvPr/>
        </p:nvSpPr>
        <p:spPr>
          <a:xfrm>
            <a:off x="2760345" y="4440555"/>
            <a:ext cx="640080" cy="400050"/>
          </a:xfrm>
          <a:custGeom>
            <a:avLst/>
            <a:gdLst/>
            <a:ahLst/>
            <a:cxnLst/>
            <a:rect l="0" t="0" r="r" b="b"/>
            <a:pathLst>
              <a:path w="640080" h="400050" fill="none">
                <a:moveTo>
                  <a:pt x="0" y="0"/>
                </a:moveTo>
                <a:lnTo>
                  <a:pt x="320040" y="0"/>
                </a:lnTo>
                <a:lnTo>
                  <a:pt x="320040" y="400050"/>
                </a:lnTo>
                <a:lnTo>
                  <a:pt x="640080" y="40005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post"/>
          <p:cNvSpPr/>
          <p:nvPr/>
        </p:nvSpPr>
        <p:spPr>
          <a:xfrm>
            <a:off x="3400425" y="5440680"/>
            <a:ext cx="8721090" cy="720090"/>
          </a:xfrm>
          <a:prstGeom prst="roundRect">
            <a:avLst>
              <a:gd name="adj" fmla="val 13333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25: ③ 输出交回 CPU"/>
          <p:cNvSpPr txBox="1"/>
          <p:nvPr/>
        </p:nvSpPr>
        <p:spPr>
          <a:xfrm>
            <a:off x="7020096" y="5554614"/>
            <a:ext cx="148174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③ 输出交回 CPU</a:t>
            </a:r>
          </a:p>
        </p:txBody>
      </p:sp>
      <p:sp>
        <p:nvSpPr>
          <p:cNvPr id="48" name="text-26: 设备写可见 → 旧读结束 → 最终 invalidate → 消费"/>
          <p:cNvSpPr txBox="1"/>
          <p:nvPr/>
        </p:nvSpPr>
        <p:spPr>
          <a:xfrm>
            <a:off x="5712914" y="5794644"/>
            <a:ext cx="409611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设备写可见 → 旧读结束 → 最终 invalidate → 消费</a:t>
            </a:r>
          </a:p>
        </p:txBody>
      </p:sp>
      <p:sp>
        <p:nvSpPr>
          <p:cNvPr id="49" name="sync-post"/>
          <p:cNvSpPr/>
          <p:nvPr/>
        </p:nvSpPr>
        <p:spPr>
          <a:xfrm>
            <a:off x="2760345" y="4440555"/>
            <a:ext cx="640080" cy="1360170"/>
          </a:xfrm>
          <a:custGeom>
            <a:avLst/>
            <a:gdLst/>
            <a:ahLst/>
            <a:cxnLst/>
            <a:rect l="0" t="0" r="r" b="b"/>
            <a:pathLst>
              <a:path w="640080" h="1360170" fill="none">
                <a:moveTo>
                  <a:pt x="0" y="0"/>
                </a:moveTo>
                <a:lnTo>
                  <a:pt x="320040" y="0"/>
                </a:lnTo>
                <a:lnTo>
                  <a:pt x="320040" y="1360170"/>
                </a:lnTo>
                <a:lnTo>
                  <a:pt x="640080" y="136017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27: 命令接受 ≠ 整体完成；设备持有期保持所有权，旧脏写不能覆盖设备新结果。"/>
          <p:cNvSpPr txBox="1"/>
          <p:nvPr/>
        </p:nvSpPr>
        <p:spPr>
          <a:xfrm>
            <a:off x="440055" y="6259342"/>
            <a:ext cx="5953257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命令接受 ≠ 整体完成；设备持有期保持所有权，旧脏写不能覆盖设备新结果。</a:t>
            </a:r>
          </a:p>
        </p:txBody>
      </p:sp>
      <p:cxnSp>
        <p:nvCxnSpPr>
          <p:cNvPr id="51" name="legend-data"/>
          <p:cNvCxnSpPr/>
          <p:nvPr/>
        </p:nvCxnSpPr>
        <p:spPr>
          <a:xfrm>
            <a:off x="440055" y="6864858"/>
            <a:ext cx="384048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52" name="text-28: 数据 / 请求"/>
          <p:cNvSpPr txBox="1"/>
          <p:nvPr/>
        </p:nvSpPr>
        <p:spPr>
          <a:xfrm>
            <a:off x="94411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数据 / 请求</a:t>
            </a:r>
          </a:p>
        </p:txBody>
      </p:sp>
      <p:cxnSp>
        <p:nvCxnSpPr>
          <p:cNvPr id="53" name="legend-control"/>
          <p:cNvCxnSpPr/>
          <p:nvPr/>
        </p:nvCxnSpPr>
        <p:spPr>
          <a:xfrm>
            <a:off x="2720340" y="6864858"/>
            <a:ext cx="384048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sp>
        <p:nvSpPr>
          <p:cNvPr id="54" name="text-29: 配置 / 控制"/>
          <p:cNvSpPr txBox="1"/>
          <p:nvPr/>
        </p:nvSpPr>
        <p:spPr>
          <a:xfrm>
            <a:off x="322440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cxnSp>
        <p:nvCxnSpPr>
          <p:cNvPr id="55" name="legend-done"/>
          <p:cNvCxnSpPr/>
          <p:nvPr/>
        </p:nvCxnSpPr>
        <p:spPr>
          <a:xfrm>
            <a:off x="5000625" y="6864858"/>
            <a:ext cx="384048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56" name="text-30: 完成 / 交接"/>
          <p:cNvSpPr txBox="1"/>
          <p:nvPr/>
        </p:nvSpPr>
        <p:spPr>
          <a:xfrm>
            <a:off x="550468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完成 / 交接</a:t>
            </a:r>
          </a:p>
        </p:txBody>
      </p:sp>
      <p:cxnSp>
        <p:nvCxnSpPr>
          <p:cNvPr id="57" name="legend-error"/>
          <p:cNvCxnSpPr/>
          <p:nvPr/>
        </p:nvCxnSpPr>
        <p:spPr>
          <a:xfrm>
            <a:off x="7280910" y="6864858"/>
            <a:ext cx="384048" cy="0"/>
          </a:xfrm>
          <a:prstGeom prst="line">
            <a:avLst/>
          </a:prstGeom>
          <a:ln w="24003" cap="flat">
            <a:solidFill>
              <a:srgbClr val="B65353"/>
            </a:solidFill>
            <a:tailEnd type="triangle" w="med" len="med"/>
          </a:ln>
          <a:effectLst/>
        </p:spPr>
      </p:cxnSp>
      <p:sp>
        <p:nvSpPr>
          <p:cNvPr id="58" name="text-31: 故障 / 恢复"/>
          <p:cNvSpPr txBox="1"/>
          <p:nvPr/>
        </p:nvSpPr>
        <p:spPr>
          <a:xfrm>
            <a:off x="778497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故障 / 恢复</a:t>
            </a:r>
          </a:p>
        </p:txBody>
      </p:sp>
      <p:sp>
        <p:nvSpPr>
          <p:cNvPr id="59" name="text-32: 02 / 13"/>
          <p:cNvSpPr txBox="1"/>
          <p:nvPr/>
        </p:nvSpPr>
        <p:spPr>
          <a:xfrm>
            <a:off x="11594774" y="6756684"/>
            <a:ext cx="68676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1: 03  设备地址体系：先定义地址，再选择翻译机制"/>
          <p:cNvSpPr txBox="1"/>
          <p:nvPr/>
        </p:nvSpPr>
        <p:spPr>
          <a:xfrm>
            <a:off x="400050" y="162260"/>
            <a:ext cx="6202075" cy="4352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42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03  设备地址体系：先定义地址，再选择翻译机制</a:t>
            </a:r>
          </a:p>
        </p:txBody>
      </p:sp>
      <p:sp>
        <p:nvSpPr>
          <p:cNvPr id="3" name="text-2: CPU VA、CPU PA、设备 DMA 地址、GB 偏移需要独立类型与生命周期"/>
          <p:cNvSpPr txBox="1"/>
          <p:nvPr/>
        </p:nvSpPr>
        <p:spPr>
          <a:xfrm>
            <a:off x="400050" y="610636"/>
            <a:ext cx="5492674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CPU VA、CPU PA、设备 DMA 地址、GB 偏移需要独立类型与生命周期。</a:t>
            </a:r>
          </a:p>
        </p:txBody>
      </p:sp>
      <p:sp>
        <p:nvSpPr>
          <p:cNvPr id="4" name="rect-3"/>
          <p:cNvSpPr/>
          <p:nvPr/>
        </p:nvSpPr>
        <p:spPr>
          <a:xfrm>
            <a:off x="360045" y="1160145"/>
            <a:ext cx="12081510" cy="1880235"/>
          </a:xfrm>
          <a:prstGeom prst="roundRect">
            <a:avLst>
              <a:gd name="adj" fmla="val 6808"/>
            </a:avLst>
          </a:prstGeom>
          <a:solidFill>
            <a:srgbClr val="F1F4F7"/>
          </a:solidFill>
          <a:ln w="16002" cap="flat">
            <a:solidFill>
              <a:srgbClr val="B7C4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4: CPU / Ara 既有路径"/>
          <p:cNvSpPr txBox="1"/>
          <p:nvPr/>
        </p:nvSpPr>
        <p:spPr>
          <a:xfrm>
            <a:off x="520065" y="1226073"/>
            <a:ext cx="169953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CPU / Ara 既有路径</a:t>
            </a:r>
          </a:p>
        </p:txBody>
      </p:sp>
      <p:sp>
        <p:nvSpPr>
          <p:cNvPr id="6" name="va"/>
          <p:cNvSpPr/>
          <p:nvPr/>
        </p:nvSpPr>
        <p:spPr>
          <a:xfrm>
            <a:off x="600075" y="1800225"/>
            <a:ext cx="2080260" cy="720090"/>
          </a:xfrm>
          <a:prstGeom prst="roundRect">
            <a:avLst>
              <a:gd name="adj" fmla="val 13333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5: CPU 虚拟地址 VA"/>
          <p:cNvSpPr txBox="1"/>
          <p:nvPr/>
        </p:nvSpPr>
        <p:spPr>
          <a:xfrm>
            <a:off x="888842" y="1914159"/>
            <a:ext cx="150272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CPU 虚拟地址 VA</a:t>
            </a:r>
          </a:p>
        </p:txBody>
      </p:sp>
      <p:sp>
        <p:nvSpPr>
          <p:cNvPr id="8" name="text-6: 进程 / 页表上下文"/>
          <p:cNvSpPr txBox="1"/>
          <p:nvPr/>
        </p:nvSpPr>
        <p:spPr>
          <a:xfrm>
            <a:off x="837623" y="2154189"/>
            <a:ext cx="160516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进程 / 页表上下文</a:t>
            </a:r>
          </a:p>
        </p:txBody>
      </p:sp>
      <p:sp>
        <p:nvSpPr>
          <p:cNvPr id="9" name="mmu"/>
          <p:cNvSpPr/>
          <p:nvPr/>
        </p:nvSpPr>
        <p:spPr>
          <a:xfrm>
            <a:off x="3800475" y="1800225"/>
            <a:ext cx="2800350" cy="720090"/>
          </a:xfrm>
          <a:prstGeom prst="roundRect">
            <a:avLst>
              <a:gd name="adj" fmla="val 13333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7: CVA6 MMU → CPU PA"/>
          <p:cNvSpPr txBox="1"/>
          <p:nvPr/>
        </p:nvSpPr>
        <p:spPr>
          <a:xfrm>
            <a:off x="4254269" y="1914159"/>
            <a:ext cx="189276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CVA6 MMU → CPU PA</a:t>
            </a:r>
          </a:p>
        </p:txBody>
      </p:sp>
      <p:sp>
        <p:nvSpPr>
          <p:cNvPr id="11" name="text-8: Ara 使用专用 MMU 交互"/>
          <p:cNvSpPr txBox="1"/>
          <p:nvPr/>
        </p:nvSpPr>
        <p:spPr>
          <a:xfrm>
            <a:off x="4180110" y="2154189"/>
            <a:ext cx="204108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Ara 使用专用 MMU 交互</a:t>
            </a:r>
          </a:p>
        </p:txBody>
      </p:sp>
      <p:sp>
        <p:nvSpPr>
          <p:cNvPr id="12" name="pa"/>
          <p:cNvSpPr/>
          <p:nvPr/>
        </p:nvSpPr>
        <p:spPr>
          <a:xfrm>
            <a:off x="9321165" y="1800225"/>
            <a:ext cx="2800350" cy="720090"/>
          </a:xfrm>
          <a:prstGeom prst="roundRect">
            <a:avLst>
              <a:gd name="adj" fmla="val 13333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9: 系统存储窗口"/>
          <p:cNvSpPr txBox="1"/>
          <p:nvPr/>
        </p:nvSpPr>
        <p:spPr>
          <a:xfrm>
            <a:off x="10105263" y="1914159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系统存储窗口</a:t>
            </a:r>
          </a:p>
        </p:txBody>
      </p:sp>
      <p:sp>
        <p:nvSpPr>
          <p:cNvPr id="14" name="text-10: DDR / GB"/>
          <p:cNvSpPr txBox="1"/>
          <p:nvPr/>
        </p:nvSpPr>
        <p:spPr>
          <a:xfrm>
            <a:off x="10251806" y="2154189"/>
            <a:ext cx="93906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DDR / GB</a:t>
            </a:r>
          </a:p>
        </p:txBody>
      </p:sp>
      <p:cxnSp>
        <p:nvCxnSpPr>
          <p:cNvPr id="15" name="va-mmu"/>
          <p:cNvCxnSpPr/>
          <p:nvPr/>
        </p:nvCxnSpPr>
        <p:spPr>
          <a:xfrm>
            <a:off x="2680335" y="2160270"/>
            <a:ext cx="1120140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cxnSp>
        <p:nvCxnSpPr>
          <p:cNvPr id="16" name="mmu-pa"/>
          <p:cNvCxnSpPr/>
          <p:nvPr/>
        </p:nvCxnSpPr>
        <p:spPr>
          <a:xfrm>
            <a:off x="6600825" y="2160270"/>
            <a:ext cx="2720340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17" name="rect-11"/>
          <p:cNvSpPr/>
          <p:nvPr/>
        </p:nvSpPr>
        <p:spPr>
          <a:xfrm>
            <a:off x="360045" y="3320415"/>
            <a:ext cx="12081510" cy="2360295"/>
          </a:xfrm>
          <a:prstGeom prst="roundRect">
            <a:avLst>
              <a:gd name="adj" fmla="val 5423"/>
            </a:avLst>
          </a:prstGeom>
          <a:solidFill>
            <a:srgbClr val="F1F4F7"/>
          </a:solidFill>
          <a:ln w="16002" cap="flat">
            <a:solidFill>
              <a:srgbClr val="B7C4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12: 新增独立发起端：GB 搬运、帧 DMA、eMMC DMA"/>
          <p:cNvSpPr txBox="1"/>
          <p:nvPr/>
        </p:nvSpPr>
        <p:spPr>
          <a:xfrm>
            <a:off x="520065" y="3386343"/>
            <a:ext cx="40574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新增独立发起端：GB 搬运、帧 DMA、eMMC DMA</a:t>
            </a:r>
          </a:p>
        </p:txBody>
      </p:sp>
      <p:sp>
        <p:nvSpPr>
          <p:cNvPr id="19" name="driver"/>
          <p:cNvSpPr/>
          <p:nvPr/>
        </p:nvSpPr>
        <p:spPr>
          <a:xfrm>
            <a:off x="600075" y="4000500"/>
            <a:ext cx="2240280" cy="800100"/>
          </a:xfrm>
          <a:prstGeom prst="roundRect">
            <a:avLst>
              <a:gd name="adj" fmla="val 1200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13: 驱动管理缓冲"/>
          <p:cNvSpPr txBox="1"/>
          <p:nvPr/>
        </p:nvSpPr>
        <p:spPr>
          <a:xfrm>
            <a:off x="1104138" y="4154439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驱动管理缓冲</a:t>
            </a:r>
          </a:p>
        </p:txBody>
      </p:sp>
      <p:sp>
        <p:nvSpPr>
          <p:cNvPr id="21" name="text-14: 映射 / 固定生命周期"/>
          <p:cNvSpPr txBox="1"/>
          <p:nvPr/>
        </p:nvSpPr>
        <p:spPr>
          <a:xfrm>
            <a:off x="829622" y="4394469"/>
            <a:ext cx="178118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映射 / 固定生命周期</a:t>
            </a:r>
          </a:p>
        </p:txBody>
      </p:sp>
      <p:sp>
        <p:nvSpPr>
          <p:cNvPr id="22" name="dma"/>
          <p:cNvSpPr/>
          <p:nvPr/>
        </p:nvSpPr>
        <p:spPr>
          <a:xfrm>
            <a:off x="3840480" y="4000500"/>
            <a:ext cx="2400300" cy="800100"/>
          </a:xfrm>
          <a:prstGeom prst="roundRect">
            <a:avLst>
              <a:gd name="adj" fmla="val 1200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15: 提交设备 DMA 地址"/>
          <p:cNvSpPr txBox="1"/>
          <p:nvPr/>
        </p:nvSpPr>
        <p:spPr>
          <a:xfrm>
            <a:off x="4192411" y="4154439"/>
            <a:ext cx="169643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提交设备 DMA 地址</a:t>
            </a:r>
          </a:p>
        </p:txBody>
      </p:sp>
      <p:sp>
        <p:nvSpPr>
          <p:cNvPr id="24" name="text-16: 能力与范围检查"/>
          <p:cNvSpPr txBox="1"/>
          <p:nvPr/>
        </p:nvSpPr>
        <p:spPr>
          <a:xfrm>
            <a:off x="4336542" y="4394469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能力与范围检查</a:t>
            </a:r>
          </a:p>
        </p:txBody>
      </p:sp>
      <p:sp>
        <p:nvSpPr>
          <p:cNvPr id="25" name="iommu"/>
          <p:cNvSpPr/>
          <p:nvPr/>
        </p:nvSpPr>
        <p:spPr>
          <a:xfrm>
            <a:off x="7200900" y="3880485"/>
            <a:ext cx="2160270" cy="1040130"/>
          </a:xfrm>
          <a:prstGeom prst="roundRect">
            <a:avLst>
              <a:gd name="adj" fmla="val 923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  <a:custDash>
              <a:ds d="45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17: 可选 IOMMU"/>
          <p:cNvSpPr txBox="1"/>
          <p:nvPr/>
        </p:nvSpPr>
        <p:spPr>
          <a:xfrm>
            <a:off x="7709226" y="4034424"/>
            <a:ext cx="114361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可选 IOMMU</a:t>
            </a:r>
          </a:p>
        </p:txBody>
      </p:sp>
      <p:sp>
        <p:nvSpPr>
          <p:cNvPr id="27" name="text-18: IOVA → 系统 PA"/>
          <p:cNvSpPr txBox="1"/>
          <p:nvPr/>
        </p:nvSpPr>
        <p:spPr>
          <a:xfrm>
            <a:off x="7571959" y="4274454"/>
            <a:ext cx="141815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IOVA → 系统 PA</a:t>
            </a:r>
          </a:p>
        </p:txBody>
      </p:sp>
      <p:sp>
        <p:nvSpPr>
          <p:cNvPr id="28" name="text-19: 尚未选定"/>
          <p:cNvSpPr txBox="1"/>
          <p:nvPr/>
        </p:nvSpPr>
        <p:spPr>
          <a:xfrm>
            <a:off x="7840980" y="4514484"/>
            <a:ext cx="88011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尚未选定</a:t>
            </a:r>
          </a:p>
        </p:txBody>
      </p:sp>
      <p:sp>
        <p:nvSpPr>
          <p:cNvPr id="29" name="target"/>
          <p:cNvSpPr/>
          <p:nvPr/>
        </p:nvSpPr>
        <p:spPr>
          <a:xfrm>
            <a:off x="10161270" y="4000500"/>
            <a:ext cx="1960245" cy="800100"/>
          </a:xfrm>
          <a:prstGeom prst="roundRect">
            <a:avLst>
              <a:gd name="adj" fmla="val 12000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20: 设备侧地址路由"/>
          <p:cNvSpPr txBox="1"/>
          <p:nvPr/>
        </p:nvSpPr>
        <p:spPr>
          <a:xfrm>
            <a:off x="10437304" y="4154439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设备侧地址路由</a:t>
            </a:r>
          </a:p>
        </p:txBody>
      </p:sp>
      <p:sp>
        <p:nvSpPr>
          <p:cNvPr id="31" name="text-21: 按实际接入目标"/>
          <p:cNvSpPr txBox="1"/>
          <p:nvPr/>
        </p:nvSpPr>
        <p:spPr>
          <a:xfrm>
            <a:off x="10437304" y="4394469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按实际接入目标</a:t>
            </a:r>
          </a:p>
        </p:txBody>
      </p:sp>
      <p:cxnSp>
        <p:nvCxnSpPr>
          <p:cNvPr id="32" name="map-submit"/>
          <p:cNvCxnSpPr/>
          <p:nvPr/>
        </p:nvCxnSpPr>
        <p:spPr>
          <a:xfrm>
            <a:off x="2840355" y="4400550"/>
            <a:ext cx="1000125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cxnSp>
        <p:nvCxnSpPr>
          <p:cNvPr id="33" name="dma-optional"/>
          <p:cNvCxnSpPr/>
          <p:nvPr/>
        </p:nvCxnSpPr>
        <p:spPr>
          <a:xfrm>
            <a:off x="6240780" y="4240530"/>
            <a:ext cx="960120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cxnSp>
        <p:nvCxnSpPr>
          <p:cNvPr id="34" name="iommu-target"/>
          <p:cNvCxnSpPr/>
          <p:nvPr/>
        </p:nvCxnSpPr>
        <p:spPr>
          <a:xfrm>
            <a:off x="9361170" y="4240530"/>
            <a:ext cx="800100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35" name="direct-bus"/>
          <p:cNvSpPr/>
          <p:nvPr/>
        </p:nvSpPr>
        <p:spPr>
          <a:xfrm>
            <a:off x="6240780" y="4600575"/>
            <a:ext cx="4896612" cy="640080"/>
          </a:xfrm>
          <a:custGeom>
            <a:avLst/>
            <a:gdLst/>
            <a:ahLst/>
            <a:cxnLst/>
            <a:rect l="0" t="0" r="r" b="b"/>
            <a:pathLst>
              <a:path w="4896612" h="640080" fill="none">
                <a:moveTo>
                  <a:pt x="0" y="0"/>
                </a:moveTo>
                <a:lnTo>
                  <a:pt x="400050" y="0"/>
                </a:lnTo>
                <a:lnTo>
                  <a:pt x="400050" y="640080"/>
                </a:lnTo>
                <a:lnTo>
                  <a:pt x="4896612" y="640080"/>
                </a:lnTo>
                <a:lnTo>
                  <a:pt x="4896612" y="200025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22: 不启用翻译时：按已定义总线映射直接访问"/>
          <p:cNvSpPr txBox="1"/>
          <p:nvPr/>
        </p:nvSpPr>
        <p:spPr>
          <a:xfrm>
            <a:off x="7040880" y="5347868"/>
            <a:ext cx="320040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不启用翻译时：按已定义总线映射直接访问</a:t>
            </a:r>
          </a:p>
        </p:txBody>
      </p:sp>
      <p:sp>
        <p:nvSpPr>
          <p:cNvPr id="37" name="target-decode"/>
          <p:cNvSpPr/>
          <p:nvPr/>
        </p:nvSpPr>
        <p:spPr>
          <a:xfrm>
            <a:off x="10721340" y="2520315"/>
            <a:ext cx="416052" cy="1480185"/>
          </a:xfrm>
          <a:custGeom>
            <a:avLst/>
            <a:gdLst/>
            <a:ahLst/>
            <a:cxnLst/>
            <a:rect l="0" t="0" r="r" b="b"/>
            <a:pathLst>
              <a:path w="416052" h="1480185" fill="none">
                <a:moveTo>
                  <a:pt x="416052" y="1480185"/>
                </a:moveTo>
                <a:lnTo>
                  <a:pt x="416052" y="520065"/>
                </a:lnTo>
                <a:lnTo>
                  <a:pt x="0" y="520065"/>
                </a:lnTo>
                <a:lnTo>
                  <a:pt x="0" y="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gb-offset"/>
          <p:cNvSpPr/>
          <p:nvPr/>
        </p:nvSpPr>
        <p:spPr>
          <a:xfrm>
            <a:off x="600075" y="6000750"/>
            <a:ext cx="2400300" cy="600075"/>
          </a:xfrm>
          <a:prstGeom prst="roundRect">
            <a:avLst>
              <a:gd name="adj" fmla="val 16000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23: NPU / ISP"/>
          <p:cNvSpPr txBox="1"/>
          <p:nvPr/>
        </p:nvSpPr>
        <p:spPr>
          <a:xfrm>
            <a:off x="1323553" y="6054677"/>
            <a:ext cx="95334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NPU / ISP</a:t>
            </a:r>
          </a:p>
        </p:txBody>
      </p:sp>
      <p:sp>
        <p:nvSpPr>
          <p:cNvPr id="40" name="text-24: 本地 GB 偏移"/>
          <p:cNvSpPr txBox="1"/>
          <p:nvPr/>
        </p:nvSpPr>
        <p:spPr>
          <a:xfrm>
            <a:off x="1194893" y="6294707"/>
            <a:ext cx="121066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本地 GB 偏移</a:t>
            </a:r>
          </a:p>
        </p:txBody>
      </p:sp>
      <p:sp>
        <p:nvSpPr>
          <p:cNvPr id="41" name="gb-bank"/>
          <p:cNvSpPr/>
          <p:nvPr/>
        </p:nvSpPr>
        <p:spPr>
          <a:xfrm>
            <a:off x="3440430" y="6000750"/>
            <a:ext cx="1960245" cy="600075"/>
          </a:xfrm>
          <a:prstGeom prst="roundRect">
            <a:avLst>
              <a:gd name="adj" fmla="val 16000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25: GB bank / 范围"/>
          <p:cNvSpPr txBox="1"/>
          <p:nvPr/>
        </p:nvSpPr>
        <p:spPr>
          <a:xfrm>
            <a:off x="3732798" y="6174692"/>
            <a:ext cx="137550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GB bank / 范围</a:t>
            </a:r>
          </a:p>
        </p:txBody>
      </p:sp>
      <p:cxnSp>
        <p:nvCxnSpPr>
          <p:cNvPr id="43" name="offset-bank"/>
          <p:cNvCxnSpPr/>
          <p:nvPr/>
        </p:nvCxnSpPr>
        <p:spPr>
          <a:xfrm>
            <a:off x="3000375" y="6296787"/>
            <a:ext cx="440055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44" name="text-26: 压缩块地址映射与 VA→PA 翻译是不同机制。"/>
          <p:cNvSpPr txBox="1"/>
          <p:nvPr/>
        </p:nvSpPr>
        <p:spPr>
          <a:xfrm>
            <a:off x="5880735" y="6179332"/>
            <a:ext cx="3501213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压缩块地址映射与 VA→PA 翻译是不同机制。</a:t>
            </a:r>
          </a:p>
        </p:txBody>
      </p:sp>
      <p:cxnSp>
        <p:nvCxnSpPr>
          <p:cNvPr id="45" name="legend-data"/>
          <p:cNvCxnSpPr/>
          <p:nvPr/>
        </p:nvCxnSpPr>
        <p:spPr>
          <a:xfrm>
            <a:off x="440055" y="6864858"/>
            <a:ext cx="384048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46" name="text-27: 数据 / 请求"/>
          <p:cNvSpPr txBox="1"/>
          <p:nvPr/>
        </p:nvSpPr>
        <p:spPr>
          <a:xfrm>
            <a:off x="94411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数据 / 请求</a:t>
            </a:r>
          </a:p>
        </p:txBody>
      </p:sp>
      <p:cxnSp>
        <p:nvCxnSpPr>
          <p:cNvPr id="47" name="legend-control"/>
          <p:cNvCxnSpPr/>
          <p:nvPr/>
        </p:nvCxnSpPr>
        <p:spPr>
          <a:xfrm>
            <a:off x="2720340" y="6864858"/>
            <a:ext cx="384048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sp>
        <p:nvSpPr>
          <p:cNvPr id="48" name="text-28: 配置 / 控制"/>
          <p:cNvSpPr txBox="1"/>
          <p:nvPr/>
        </p:nvSpPr>
        <p:spPr>
          <a:xfrm>
            <a:off x="322440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cxnSp>
        <p:nvCxnSpPr>
          <p:cNvPr id="49" name="legend-done"/>
          <p:cNvCxnSpPr/>
          <p:nvPr/>
        </p:nvCxnSpPr>
        <p:spPr>
          <a:xfrm>
            <a:off x="5000625" y="6864858"/>
            <a:ext cx="384048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50" name="text-29: 完成 / 交接"/>
          <p:cNvSpPr txBox="1"/>
          <p:nvPr/>
        </p:nvSpPr>
        <p:spPr>
          <a:xfrm>
            <a:off x="550468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完成 / 交接</a:t>
            </a:r>
          </a:p>
        </p:txBody>
      </p:sp>
      <p:cxnSp>
        <p:nvCxnSpPr>
          <p:cNvPr id="51" name="legend-error"/>
          <p:cNvCxnSpPr/>
          <p:nvPr/>
        </p:nvCxnSpPr>
        <p:spPr>
          <a:xfrm>
            <a:off x="7280910" y="6864858"/>
            <a:ext cx="384048" cy="0"/>
          </a:xfrm>
          <a:prstGeom prst="line">
            <a:avLst/>
          </a:prstGeom>
          <a:ln w="24003" cap="flat">
            <a:solidFill>
              <a:srgbClr val="B65353"/>
            </a:solidFill>
            <a:tailEnd type="triangle" w="med" len="med"/>
          </a:ln>
          <a:effectLst/>
        </p:spPr>
      </p:cxnSp>
      <p:sp>
        <p:nvSpPr>
          <p:cNvPr id="52" name="text-30: 故障 / 恢复"/>
          <p:cNvSpPr txBox="1"/>
          <p:nvPr/>
        </p:nvSpPr>
        <p:spPr>
          <a:xfrm>
            <a:off x="778497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故障 / 恢复</a:t>
            </a:r>
          </a:p>
        </p:txBody>
      </p:sp>
      <p:sp>
        <p:nvSpPr>
          <p:cNvPr id="53" name="text-31: 03 / 13"/>
          <p:cNvSpPr txBox="1"/>
          <p:nvPr/>
        </p:nvSpPr>
        <p:spPr>
          <a:xfrm>
            <a:off x="11594774" y="6756684"/>
            <a:ext cx="68676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1: 04  配置寄存器：数量来自行为契约"/>
          <p:cNvSpPr txBox="1"/>
          <p:nvPr/>
        </p:nvSpPr>
        <p:spPr>
          <a:xfrm>
            <a:off x="400050" y="162260"/>
            <a:ext cx="4569871" cy="4352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42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04  配置寄存器：数量来自行为契约</a:t>
            </a:r>
          </a:p>
        </p:txBody>
      </p:sp>
      <p:sp>
        <p:nvSpPr>
          <p:cNvPr id="3" name="text-2: C1～C16 是功能组；寄存器数量、偏移、复位值与生效规则仍待冻结。"/>
          <p:cNvSpPr txBox="1"/>
          <p:nvPr/>
        </p:nvSpPr>
        <p:spPr>
          <a:xfrm>
            <a:off x="400050" y="610636"/>
            <a:ext cx="5433279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C1～C16 是功能组；寄存器数量、偏移、复位值与生效规则仍待冻结。</a:t>
            </a:r>
          </a:p>
        </p:txBody>
      </p:sp>
      <p:sp>
        <p:nvSpPr>
          <p:cNvPr id="4" name="sw"/>
          <p:cNvSpPr/>
          <p:nvPr/>
        </p:nvSpPr>
        <p:spPr>
          <a:xfrm>
            <a:off x="520065" y="1720215"/>
            <a:ext cx="2640330" cy="960120"/>
          </a:xfrm>
          <a:prstGeom prst="roundRect">
            <a:avLst>
              <a:gd name="adj" fmla="val 1000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3: 驱动写入"/>
          <p:cNvSpPr txBox="1"/>
          <p:nvPr/>
        </p:nvSpPr>
        <p:spPr>
          <a:xfrm>
            <a:off x="1400175" y="1954164"/>
            <a:ext cx="88011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驱动写入</a:t>
            </a:r>
          </a:p>
        </p:txBody>
      </p:sp>
      <p:sp>
        <p:nvSpPr>
          <p:cNvPr id="6" name="text-4: 地址 / 尺寸 / 模式"/>
          <p:cNvSpPr txBox="1"/>
          <p:nvPr/>
        </p:nvSpPr>
        <p:spPr>
          <a:xfrm>
            <a:off x="1027166" y="2194194"/>
            <a:ext cx="162612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地址 / 尺寸 / 模式</a:t>
            </a:r>
          </a:p>
        </p:txBody>
      </p:sp>
      <p:sp>
        <p:nvSpPr>
          <p:cNvPr id="7" name="shadow"/>
          <p:cNvSpPr/>
          <p:nvPr/>
        </p:nvSpPr>
        <p:spPr>
          <a:xfrm>
            <a:off x="3520440" y="1720215"/>
            <a:ext cx="2640330" cy="960120"/>
          </a:xfrm>
          <a:prstGeom prst="roundRect">
            <a:avLst>
              <a:gd name="adj" fmla="val 1000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5: 待生效配置"/>
          <p:cNvSpPr txBox="1"/>
          <p:nvPr/>
        </p:nvSpPr>
        <p:spPr>
          <a:xfrm>
            <a:off x="4312539" y="1954164"/>
            <a:ext cx="10561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待生效配置</a:t>
            </a:r>
          </a:p>
        </p:txBody>
      </p:sp>
      <p:sp>
        <p:nvSpPr>
          <p:cNvPr id="9" name="text-6: 完整参数与版本"/>
          <p:cNvSpPr txBox="1"/>
          <p:nvPr/>
        </p:nvSpPr>
        <p:spPr>
          <a:xfrm>
            <a:off x="4136517" y="2194194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完整参数与版本</a:t>
            </a:r>
          </a:p>
        </p:txBody>
      </p:sp>
      <p:sp>
        <p:nvSpPr>
          <p:cNvPr id="10" name="commit"/>
          <p:cNvSpPr/>
          <p:nvPr/>
        </p:nvSpPr>
        <p:spPr>
          <a:xfrm>
            <a:off x="6520815" y="1720215"/>
            <a:ext cx="2640330" cy="960120"/>
          </a:xfrm>
          <a:prstGeom prst="roundRect">
            <a:avLst>
              <a:gd name="adj" fmla="val 1000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7: 提交 / 边界切换"/>
          <p:cNvSpPr txBox="1"/>
          <p:nvPr/>
        </p:nvSpPr>
        <p:spPr>
          <a:xfrm>
            <a:off x="7126409" y="1954164"/>
            <a:ext cx="142914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提交 / 边界切换</a:t>
            </a:r>
          </a:p>
        </p:txBody>
      </p:sp>
      <p:sp>
        <p:nvSpPr>
          <p:cNvPr id="12" name="text-8: 合法性 + busy 检查"/>
          <p:cNvSpPr txBox="1"/>
          <p:nvPr/>
        </p:nvSpPr>
        <p:spPr>
          <a:xfrm>
            <a:off x="7003413" y="2194194"/>
            <a:ext cx="167513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合法性 + busy 检查</a:t>
            </a:r>
          </a:p>
        </p:txBody>
      </p:sp>
      <p:sp>
        <p:nvSpPr>
          <p:cNvPr id="13" name="active"/>
          <p:cNvSpPr/>
          <p:nvPr/>
        </p:nvSpPr>
        <p:spPr>
          <a:xfrm>
            <a:off x="9521190" y="1720215"/>
            <a:ext cx="2640330" cy="960120"/>
          </a:xfrm>
          <a:prstGeom prst="roundRect">
            <a:avLst>
              <a:gd name="adj" fmla="val 1000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9: 活动配置"/>
          <p:cNvSpPr txBox="1"/>
          <p:nvPr/>
        </p:nvSpPr>
        <p:spPr>
          <a:xfrm>
            <a:off x="10401300" y="1954164"/>
            <a:ext cx="88011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活动配置</a:t>
            </a:r>
          </a:p>
        </p:txBody>
      </p:sp>
      <p:sp>
        <p:nvSpPr>
          <p:cNvPr id="15" name="text-10: 本帧 / 本任务快照"/>
          <p:cNvSpPr txBox="1"/>
          <p:nvPr/>
        </p:nvSpPr>
        <p:spPr>
          <a:xfrm>
            <a:off x="10038773" y="2194194"/>
            <a:ext cx="160516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本帧 / 本任务快照</a:t>
            </a:r>
          </a:p>
        </p:txBody>
      </p:sp>
      <p:cxnSp>
        <p:nvCxnSpPr>
          <p:cNvPr id="16" name="cfg-0"/>
          <p:cNvCxnSpPr/>
          <p:nvPr/>
        </p:nvCxnSpPr>
        <p:spPr>
          <a:xfrm>
            <a:off x="3160395" y="2200275"/>
            <a:ext cx="360045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cxnSp>
        <p:nvCxnSpPr>
          <p:cNvPr id="17" name="cfg-1"/>
          <p:cNvCxnSpPr/>
          <p:nvPr/>
        </p:nvCxnSpPr>
        <p:spPr>
          <a:xfrm>
            <a:off x="6160770" y="2200275"/>
            <a:ext cx="360045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cxnSp>
        <p:nvCxnSpPr>
          <p:cNvPr id="18" name="cfg-2"/>
          <p:cNvCxnSpPr/>
          <p:nvPr/>
        </p:nvCxnSpPr>
        <p:spPr>
          <a:xfrm>
            <a:off x="9161145" y="2200275"/>
            <a:ext cx="360045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sp>
        <p:nvSpPr>
          <p:cNvPr id="19" name="execute"/>
          <p:cNvSpPr/>
          <p:nvPr/>
        </p:nvSpPr>
        <p:spPr>
          <a:xfrm>
            <a:off x="9521190" y="3800475"/>
            <a:ext cx="2640330" cy="960120"/>
          </a:xfrm>
          <a:prstGeom prst="roundRect">
            <a:avLst>
              <a:gd name="adj" fmla="val 1000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11: 执行单元"/>
          <p:cNvSpPr txBox="1"/>
          <p:nvPr/>
        </p:nvSpPr>
        <p:spPr>
          <a:xfrm>
            <a:off x="10401300" y="4034424"/>
            <a:ext cx="88011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执行单元</a:t>
            </a:r>
          </a:p>
        </p:txBody>
      </p:sp>
      <p:sp>
        <p:nvSpPr>
          <p:cNvPr id="21" name="text-12: 不可看到半套新参数"/>
          <p:cNvSpPr txBox="1"/>
          <p:nvPr/>
        </p:nvSpPr>
        <p:spPr>
          <a:xfrm>
            <a:off x="9961245" y="4274454"/>
            <a:ext cx="176022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不可看到半套新参数</a:t>
            </a:r>
          </a:p>
        </p:txBody>
      </p:sp>
      <p:cxnSp>
        <p:nvCxnSpPr>
          <p:cNvPr id="22" name="active-execute"/>
          <p:cNvCxnSpPr/>
          <p:nvPr/>
        </p:nvCxnSpPr>
        <p:spPr>
          <a:xfrm>
            <a:off x="10841355" y="2680335"/>
            <a:ext cx="0" cy="112014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sp>
        <p:nvSpPr>
          <p:cNvPr id="23" name="text-13: 约定边界生效"/>
          <p:cNvSpPr txBox="1"/>
          <p:nvPr/>
        </p:nvSpPr>
        <p:spPr>
          <a:xfrm>
            <a:off x="11041380" y="3139592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约定边界生效</a:t>
            </a:r>
          </a:p>
        </p:txBody>
      </p:sp>
      <p:sp>
        <p:nvSpPr>
          <p:cNvPr id="24" name="status"/>
          <p:cNvSpPr/>
          <p:nvPr/>
        </p:nvSpPr>
        <p:spPr>
          <a:xfrm>
            <a:off x="4960620" y="3800475"/>
            <a:ext cx="3040380" cy="960120"/>
          </a:xfrm>
          <a:prstGeom prst="roundRect">
            <a:avLst>
              <a:gd name="adj" fmla="val 10000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14: 状态 / 错误 / 任务身份"/>
          <p:cNvSpPr txBox="1"/>
          <p:nvPr/>
        </p:nvSpPr>
        <p:spPr>
          <a:xfrm>
            <a:off x="5491724" y="4034424"/>
            <a:ext cx="197817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状态 / 错误 / 任务身份</a:t>
            </a:r>
          </a:p>
        </p:txBody>
      </p:sp>
      <p:sp>
        <p:nvSpPr>
          <p:cNvPr id="26" name="text-15: DONE、IRQ 与清源规则"/>
          <p:cNvSpPr txBox="1"/>
          <p:nvPr/>
        </p:nvSpPr>
        <p:spPr>
          <a:xfrm>
            <a:off x="5479685" y="4274454"/>
            <a:ext cx="200225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DONE、IRQ 与清源规则</a:t>
            </a:r>
          </a:p>
        </p:txBody>
      </p:sp>
      <p:cxnSp>
        <p:nvCxnSpPr>
          <p:cNvPr id="27" name="execute-status"/>
          <p:cNvCxnSpPr/>
          <p:nvPr/>
        </p:nvCxnSpPr>
        <p:spPr>
          <a:xfrm flipH="1">
            <a:off x="8001000" y="4280535"/>
            <a:ext cx="1520190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28" name="status-software"/>
          <p:cNvSpPr/>
          <p:nvPr/>
        </p:nvSpPr>
        <p:spPr>
          <a:xfrm>
            <a:off x="1840230" y="2680335"/>
            <a:ext cx="3120390" cy="1600200"/>
          </a:xfrm>
          <a:custGeom>
            <a:avLst/>
            <a:gdLst/>
            <a:ahLst/>
            <a:cxnLst/>
            <a:rect l="0" t="0" r="r" b="b"/>
            <a:pathLst>
              <a:path w="3120390" h="1600200" fill="none">
                <a:moveTo>
                  <a:pt x="3120390" y="1600200"/>
                </a:moveTo>
                <a:lnTo>
                  <a:pt x="0" y="1600200"/>
                </a:lnTo>
                <a:lnTo>
                  <a:pt x="0" y="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16: 查询 / 确认"/>
          <p:cNvSpPr txBox="1"/>
          <p:nvPr/>
        </p:nvSpPr>
        <p:spPr>
          <a:xfrm>
            <a:off x="2870821" y="3987698"/>
            <a:ext cx="979197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查询 / 确认</a:t>
            </a:r>
          </a:p>
        </p:txBody>
      </p:sp>
      <p:sp>
        <p:nvSpPr>
          <p:cNvPr id="30" name="reset"/>
          <p:cNvSpPr/>
          <p:nvPr/>
        </p:nvSpPr>
        <p:spPr>
          <a:xfrm>
            <a:off x="520065" y="5400675"/>
            <a:ext cx="3520440" cy="88011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6002" cap="flat">
            <a:solidFill>
              <a:srgbClr val="B653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17: 复位状态"/>
          <p:cNvSpPr txBox="1"/>
          <p:nvPr/>
        </p:nvSpPr>
        <p:spPr>
          <a:xfrm>
            <a:off x="1840230" y="5594619"/>
            <a:ext cx="88011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复位状态</a:t>
            </a:r>
          </a:p>
        </p:txBody>
      </p:sp>
      <p:sp>
        <p:nvSpPr>
          <p:cNvPr id="32" name="text-18: 禁止误启动；有效位需定义"/>
          <p:cNvSpPr txBox="1"/>
          <p:nvPr/>
        </p:nvSpPr>
        <p:spPr>
          <a:xfrm>
            <a:off x="1136142" y="5834649"/>
            <a:ext cx="228828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禁止误启动；有效位需定义</a:t>
            </a:r>
          </a:p>
        </p:txBody>
      </p:sp>
      <p:sp>
        <p:nvSpPr>
          <p:cNvPr id="33" name="contract"/>
          <p:cNvSpPr/>
          <p:nvPr/>
        </p:nvSpPr>
        <p:spPr>
          <a:xfrm>
            <a:off x="4960620" y="5400675"/>
            <a:ext cx="7200900" cy="880110"/>
          </a:xfrm>
          <a:prstGeom prst="roundRect">
            <a:avLst>
              <a:gd name="adj" fmla="val 10909"/>
            </a:avLst>
          </a:prstGeom>
          <a:solidFill>
            <a:srgbClr val="F1F4F7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19: 每个字段记录：位宽、访问属性、复位来源、合法范围"/>
          <p:cNvSpPr txBox="1"/>
          <p:nvPr/>
        </p:nvSpPr>
        <p:spPr>
          <a:xfrm>
            <a:off x="6360795" y="5594619"/>
            <a:ext cx="440055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每个字段记录：位宽、访问属性、复位来源、合法范围</a:t>
            </a:r>
          </a:p>
        </p:txBody>
      </p:sp>
      <p:sp>
        <p:nvSpPr>
          <p:cNvPr id="35" name="text-20: 复位值 ≠ 推荐运行值；64 位分拆写 ≠ 自动原子生效"/>
          <p:cNvSpPr txBox="1"/>
          <p:nvPr/>
        </p:nvSpPr>
        <p:spPr>
          <a:xfrm>
            <a:off x="6416921" y="5834649"/>
            <a:ext cx="428829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复位值 ≠ 推荐运行值；64 位分拆写 ≠ 自动原子生效</a:t>
            </a:r>
          </a:p>
        </p:txBody>
      </p:sp>
      <p:sp>
        <p:nvSpPr>
          <p:cNvPr id="36" name="reset-shadow"/>
          <p:cNvSpPr/>
          <p:nvPr/>
        </p:nvSpPr>
        <p:spPr>
          <a:xfrm>
            <a:off x="4040505" y="2680335"/>
            <a:ext cx="320040" cy="3160395"/>
          </a:xfrm>
          <a:custGeom>
            <a:avLst/>
            <a:gdLst/>
            <a:ahLst/>
            <a:cxnLst/>
            <a:rect l="0" t="0" r="r" b="b"/>
            <a:pathLst>
              <a:path w="320040" h="3160395" fill="none">
                <a:moveTo>
                  <a:pt x="0" y="3160395"/>
                </a:moveTo>
                <a:lnTo>
                  <a:pt x="320040" y="3160395"/>
                </a:lnTo>
                <a:lnTo>
                  <a:pt x="320040" y="0"/>
                </a:lnTo>
              </a:path>
            </a:pathLst>
          </a:custGeom>
          <a:noFill/>
          <a:ln w="24003" cap="flat">
            <a:solidFill>
              <a:srgbClr val="B6535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" name="legend-data"/>
          <p:cNvCxnSpPr/>
          <p:nvPr/>
        </p:nvCxnSpPr>
        <p:spPr>
          <a:xfrm>
            <a:off x="440055" y="6864858"/>
            <a:ext cx="384048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38" name="text-21: 数据 / 请求"/>
          <p:cNvSpPr txBox="1"/>
          <p:nvPr/>
        </p:nvSpPr>
        <p:spPr>
          <a:xfrm>
            <a:off x="94411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数据 / 请求</a:t>
            </a:r>
          </a:p>
        </p:txBody>
      </p:sp>
      <p:cxnSp>
        <p:nvCxnSpPr>
          <p:cNvPr id="39" name="legend-control"/>
          <p:cNvCxnSpPr/>
          <p:nvPr/>
        </p:nvCxnSpPr>
        <p:spPr>
          <a:xfrm>
            <a:off x="2720340" y="6864858"/>
            <a:ext cx="384048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sp>
        <p:nvSpPr>
          <p:cNvPr id="40" name="text-22: 配置 / 控制"/>
          <p:cNvSpPr txBox="1"/>
          <p:nvPr/>
        </p:nvSpPr>
        <p:spPr>
          <a:xfrm>
            <a:off x="322440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cxnSp>
        <p:nvCxnSpPr>
          <p:cNvPr id="41" name="legend-done"/>
          <p:cNvCxnSpPr/>
          <p:nvPr/>
        </p:nvCxnSpPr>
        <p:spPr>
          <a:xfrm>
            <a:off x="5000625" y="6864858"/>
            <a:ext cx="384048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42" name="text-23: 完成 / 交接"/>
          <p:cNvSpPr txBox="1"/>
          <p:nvPr/>
        </p:nvSpPr>
        <p:spPr>
          <a:xfrm>
            <a:off x="550468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完成 / 交接</a:t>
            </a:r>
          </a:p>
        </p:txBody>
      </p:sp>
      <p:cxnSp>
        <p:nvCxnSpPr>
          <p:cNvPr id="43" name="legend-error"/>
          <p:cNvCxnSpPr/>
          <p:nvPr/>
        </p:nvCxnSpPr>
        <p:spPr>
          <a:xfrm>
            <a:off x="7280910" y="6864858"/>
            <a:ext cx="384048" cy="0"/>
          </a:xfrm>
          <a:prstGeom prst="line">
            <a:avLst/>
          </a:prstGeom>
          <a:ln w="24003" cap="flat">
            <a:solidFill>
              <a:srgbClr val="B65353"/>
            </a:solidFill>
            <a:tailEnd type="triangle" w="med" len="med"/>
          </a:ln>
          <a:effectLst/>
        </p:spPr>
      </p:cxnSp>
      <p:sp>
        <p:nvSpPr>
          <p:cNvPr id="44" name="text-24: 故障 / 恢复"/>
          <p:cNvSpPr txBox="1"/>
          <p:nvPr/>
        </p:nvSpPr>
        <p:spPr>
          <a:xfrm>
            <a:off x="778497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故障 / 恢复</a:t>
            </a:r>
          </a:p>
        </p:txBody>
      </p:sp>
      <p:sp>
        <p:nvSpPr>
          <p:cNvPr id="45" name="text-25: 04 / 13"/>
          <p:cNvSpPr txBox="1"/>
          <p:nvPr/>
        </p:nvSpPr>
        <p:spPr>
          <a:xfrm>
            <a:off x="11594774" y="6756684"/>
            <a:ext cx="68676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1: 05  四口 DDR：独立入口，共享物理存储"/>
          <p:cNvSpPr txBox="1"/>
          <p:nvPr/>
        </p:nvSpPr>
        <p:spPr>
          <a:xfrm>
            <a:off x="400050" y="162260"/>
            <a:ext cx="5178510" cy="4352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42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05  四口 DDR：独立入口，共享物理存储</a:t>
            </a:r>
          </a:p>
        </p:txBody>
      </p:sp>
      <p:sp>
        <p:nvSpPr>
          <p:cNvPr id="3" name="text-2: 四口是 v1 目标；实际供应商实例、跨口可见条件和服务保证待确认。"/>
          <p:cNvSpPr txBox="1"/>
          <p:nvPr/>
        </p:nvSpPr>
        <p:spPr>
          <a:xfrm>
            <a:off x="400050" y="610636"/>
            <a:ext cx="5315952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四口是 v1 目标；实际供应商实例、跨口可见条件和服务保证待确认。</a:t>
            </a:r>
          </a:p>
        </p:txBody>
      </p:sp>
      <p:sp>
        <p:nvSpPr>
          <p:cNvPr id="4" name="rect-3"/>
          <p:cNvSpPr/>
          <p:nvPr/>
        </p:nvSpPr>
        <p:spPr>
          <a:xfrm>
            <a:off x="4040505" y="1160145"/>
            <a:ext cx="3680460" cy="3640455"/>
          </a:xfrm>
          <a:prstGeom prst="roundRect">
            <a:avLst>
              <a:gd name="adj" fmla="val 3516"/>
            </a:avLst>
          </a:prstGeom>
          <a:solidFill>
            <a:srgbClr val="F1F4F7"/>
          </a:solidFill>
          <a:ln w="16002" cap="flat">
            <a:solidFill>
              <a:srgbClr val="B7C4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4: 一个共享前端：压缩 / 旁路 / 元数据"/>
          <p:cNvSpPr txBox="1"/>
          <p:nvPr/>
        </p:nvSpPr>
        <p:spPr>
          <a:xfrm>
            <a:off x="4200525" y="1226073"/>
            <a:ext cx="303430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一个共享前端：压缩 / 旁路 / 元数据</a:t>
            </a:r>
          </a:p>
        </p:txBody>
      </p:sp>
      <p:sp>
        <p:nvSpPr>
          <p:cNvPr id="6" name="rect-5"/>
          <p:cNvSpPr/>
          <p:nvPr/>
        </p:nvSpPr>
        <p:spPr>
          <a:xfrm>
            <a:off x="8721090" y="1160145"/>
            <a:ext cx="3640455" cy="3640455"/>
          </a:xfrm>
          <a:prstGeom prst="roundRect">
            <a:avLst>
              <a:gd name="adj" fmla="val 3516"/>
            </a:avLst>
          </a:prstGeom>
          <a:solidFill>
            <a:srgbClr val="F1F4F7"/>
          </a:solidFill>
          <a:ln w="16002" cap="flat">
            <a:solidFill>
              <a:srgbClr val="B7C4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6: 一个 DDR Controller"/>
          <p:cNvSpPr txBox="1"/>
          <p:nvPr/>
        </p:nvSpPr>
        <p:spPr>
          <a:xfrm>
            <a:off x="8881110" y="1226073"/>
            <a:ext cx="171603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一个 DDR Controller</a:t>
            </a:r>
          </a:p>
        </p:txBody>
      </p:sp>
      <p:sp>
        <p:nvSpPr>
          <p:cNvPr id="8" name="src0"/>
          <p:cNvSpPr/>
          <p:nvPr/>
        </p:nvSpPr>
        <p:spPr>
          <a:xfrm>
            <a:off x="480060" y="1544193"/>
            <a:ext cx="2680335" cy="512064"/>
          </a:xfrm>
          <a:prstGeom prst="roundRect">
            <a:avLst>
              <a:gd name="adj" fmla="val 1875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7: LLC 出口"/>
          <p:cNvSpPr txBox="1"/>
          <p:nvPr/>
        </p:nvSpPr>
        <p:spPr>
          <a:xfrm>
            <a:off x="1387305" y="1674129"/>
            <a:ext cx="86584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LLC 出口</a:t>
            </a:r>
          </a:p>
        </p:txBody>
      </p:sp>
      <p:sp>
        <p:nvSpPr>
          <p:cNvPr id="10" name="f0"/>
          <p:cNvSpPr/>
          <p:nvPr/>
        </p:nvSpPr>
        <p:spPr>
          <a:xfrm>
            <a:off x="4280535" y="1544193"/>
            <a:ext cx="1280160" cy="512064"/>
          </a:xfrm>
          <a:prstGeom prst="roundRect">
            <a:avLst>
              <a:gd name="adj" fmla="val 18750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8: F0"/>
          <p:cNvSpPr txBox="1"/>
          <p:nvPr/>
        </p:nvSpPr>
        <p:spPr>
          <a:xfrm>
            <a:off x="4737630" y="1674129"/>
            <a:ext cx="36597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F0</a:t>
            </a:r>
          </a:p>
        </p:txBody>
      </p:sp>
      <p:sp>
        <p:nvSpPr>
          <p:cNvPr id="12" name="s0"/>
          <p:cNvSpPr/>
          <p:nvPr/>
        </p:nvSpPr>
        <p:spPr>
          <a:xfrm>
            <a:off x="8961120" y="1544193"/>
            <a:ext cx="1240155" cy="512064"/>
          </a:xfrm>
          <a:prstGeom prst="roundRect">
            <a:avLst>
              <a:gd name="adj" fmla="val 18750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9: DDR.S0"/>
          <p:cNvSpPr txBox="1"/>
          <p:nvPr/>
        </p:nvSpPr>
        <p:spPr>
          <a:xfrm>
            <a:off x="9189011" y="1674129"/>
            <a:ext cx="78437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cxnSp>
        <p:nvCxnSpPr>
          <p:cNvPr id="14" name="source-f0"/>
          <p:cNvCxnSpPr/>
          <p:nvPr/>
        </p:nvCxnSpPr>
        <p:spPr>
          <a:xfrm>
            <a:off x="3160395" y="1800225"/>
            <a:ext cx="1120140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15" name="f-s0"/>
          <p:cNvCxnSpPr/>
          <p:nvPr/>
        </p:nvCxnSpPr>
        <p:spPr>
          <a:xfrm>
            <a:off x="5560695" y="1800225"/>
            <a:ext cx="3400425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6" name="s-memory0"/>
          <p:cNvSpPr/>
          <p:nvPr/>
        </p:nvSpPr>
        <p:spPr>
          <a:xfrm>
            <a:off x="10201275" y="1800225"/>
            <a:ext cx="560070" cy="1200150"/>
          </a:xfrm>
          <a:custGeom>
            <a:avLst/>
            <a:gdLst/>
            <a:ahLst/>
            <a:cxnLst/>
            <a:rect l="0" t="0" r="r" b="b"/>
            <a:pathLst>
              <a:path w="560070" h="1200150" fill="none">
                <a:moveTo>
                  <a:pt x="0" y="0"/>
                </a:moveTo>
                <a:lnTo>
                  <a:pt x="280035" y="0"/>
                </a:lnTo>
                <a:lnTo>
                  <a:pt x="280035" y="1200150"/>
                </a:lnTo>
                <a:lnTo>
                  <a:pt x="560070" y="1200150"/>
                </a:lnTo>
              </a:path>
            </a:pathLst>
          </a:custGeom>
          <a:noFill/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src1"/>
          <p:cNvSpPr/>
          <p:nvPr/>
        </p:nvSpPr>
        <p:spPr>
          <a:xfrm>
            <a:off x="480060" y="2344293"/>
            <a:ext cx="2680335" cy="512064"/>
          </a:xfrm>
          <a:prstGeom prst="roundRect">
            <a:avLst>
              <a:gd name="adj" fmla="val 1875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10: DDR ↔ GB 搬运"/>
          <p:cNvSpPr txBox="1"/>
          <p:nvPr/>
        </p:nvSpPr>
        <p:spPr>
          <a:xfrm>
            <a:off x="1106001" y="2474229"/>
            <a:ext cx="14284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DDR ↔ GB 搬运</a:t>
            </a:r>
          </a:p>
        </p:txBody>
      </p:sp>
      <p:sp>
        <p:nvSpPr>
          <p:cNvPr id="19" name="f1"/>
          <p:cNvSpPr/>
          <p:nvPr/>
        </p:nvSpPr>
        <p:spPr>
          <a:xfrm>
            <a:off x="4280535" y="2344293"/>
            <a:ext cx="1280160" cy="512064"/>
          </a:xfrm>
          <a:prstGeom prst="roundRect">
            <a:avLst>
              <a:gd name="adj" fmla="val 18750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11: F1"/>
          <p:cNvSpPr txBox="1"/>
          <p:nvPr/>
        </p:nvSpPr>
        <p:spPr>
          <a:xfrm>
            <a:off x="4737630" y="2474229"/>
            <a:ext cx="36597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F1</a:t>
            </a:r>
          </a:p>
        </p:txBody>
      </p:sp>
      <p:sp>
        <p:nvSpPr>
          <p:cNvPr id="21" name="s1"/>
          <p:cNvSpPr/>
          <p:nvPr/>
        </p:nvSpPr>
        <p:spPr>
          <a:xfrm>
            <a:off x="8961120" y="2344293"/>
            <a:ext cx="1240155" cy="512064"/>
          </a:xfrm>
          <a:prstGeom prst="roundRect">
            <a:avLst>
              <a:gd name="adj" fmla="val 18750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12: DDR.S1"/>
          <p:cNvSpPr txBox="1"/>
          <p:nvPr/>
        </p:nvSpPr>
        <p:spPr>
          <a:xfrm>
            <a:off x="9189011" y="2474229"/>
            <a:ext cx="78437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cxnSp>
        <p:nvCxnSpPr>
          <p:cNvPr id="23" name="source-f1"/>
          <p:cNvCxnSpPr/>
          <p:nvPr/>
        </p:nvCxnSpPr>
        <p:spPr>
          <a:xfrm>
            <a:off x="3160395" y="2600325"/>
            <a:ext cx="1120140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24" name="f-s1"/>
          <p:cNvCxnSpPr/>
          <p:nvPr/>
        </p:nvCxnSpPr>
        <p:spPr>
          <a:xfrm>
            <a:off x="5560695" y="2600325"/>
            <a:ext cx="3400425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25" name="s-memory1"/>
          <p:cNvSpPr/>
          <p:nvPr/>
        </p:nvSpPr>
        <p:spPr>
          <a:xfrm>
            <a:off x="10201275" y="2600325"/>
            <a:ext cx="560070" cy="400050"/>
          </a:xfrm>
          <a:custGeom>
            <a:avLst/>
            <a:gdLst/>
            <a:ahLst/>
            <a:cxnLst/>
            <a:rect l="0" t="0" r="r" b="b"/>
            <a:pathLst>
              <a:path w="560070" h="400050" fill="none">
                <a:moveTo>
                  <a:pt x="0" y="0"/>
                </a:moveTo>
                <a:lnTo>
                  <a:pt x="280035" y="0"/>
                </a:lnTo>
                <a:lnTo>
                  <a:pt x="280035" y="400050"/>
                </a:lnTo>
                <a:lnTo>
                  <a:pt x="560070" y="400050"/>
                </a:lnTo>
              </a:path>
            </a:pathLst>
          </a:custGeom>
          <a:noFill/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src2"/>
          <p:cNvSpPr/>
          <p:nvPr/>
        </p:nvSpPr>
        <p:spPr>
          <a:xfrm>
            <a:off x="480060" y="3144393"/>
            <a:ext cx="2680335" cy="512064"/>
          </a:xfrm>
          <a:prstGeom prst="roundRect">
            <a:avLst>
              <a:gd name="adj" fmla="val 1875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13: 帧写 DMA"/>
          <p:cNvSpPr txBox="1"/>
          <p:nvPr/>
        </p:nvSpPr>
        <p:spPr>
          <a:xfrm>
            <a:off x="1350438" y="3274329"/>
            <a:ext cx="93958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帧写 DMA</a:t>
            </a:r>
          </a:p>
        </p:txBody>
      </p:sp>
      <p:sp>
        <p:nvSpPr>
          <p:cNvPr id="28" name="f2"/>
          <p:cNvSpPr/>
          <p:nvPr/>
        </p:nvSpPr>
        <p:spPr>
          <a:xfrm>
            <a:off x="4280535" y="3144393"/>
            <a:ext cx="1280160" cy="512064"/>
          </a:xfrm>
          <a:prstGeom prst="roundRect">
            <a:avLst>
              <a:gd name="adj" fmla="val 18750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14: F2"/>
          <p:cNvSpPr txBox="1"/>
          <p:nvPr/>
        </p:nvSpPr>
        <p:spPr>
          <a:xfrm>
            <a:off x="4737630" y="3274329"/>
            <a:ext cx="36597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F2</a:t>
            </a:r>
          </a:p>
        </p:txBody>
      </p:sp>
      <p:sp>
        <p:nvSpPr>
          <p:cNvPr id="30" name="s2"/>
          <p:cNvSpPr/>
          <p:nvPr/>
        </p:nvSpPr>
        <p:spPr>
          <a:xfrm>
            <a:off x="8961120" y="3144393"/>
            <a:ext cx="1240155" cy="512064"/>
          </a:xfrm>
          <a:prstGeom prst="roundRect">
            <a:avLst>
              <a:gd name="adj" fmla="val 18750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15: DDR.S2"/>
          <p:cNvSpPr txBox="1"/>
          <p:nvPr/>
        </p:nvSpPr>
        <p:spPr>
          <a:xfrm>
            <a:off x="9189011" y="3274329"/>
            <a:ext cx="78437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cxnSp>
        <p:nvCxnSpPr>
          <p:cNvPr id="32" name="source-f2"/>
          <p:cNvCxnSpPr/>
          <p:nvPr/>
        </p:nvCxnSpPr>
        <p:spPr>
          <a:xfrm>
            <a:off x="3160395" y="3400425"/>
            <a:ext cx="1120140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33" name="f-s2"/>
          <p:cNvCxnSpPr/>
          <p:nvPr/>
        </p:nvCxnSpPr>
        <p:spPr>
          <a:xfrm>
            <a:off x="5560695" y="3400425"/>
            <a:ext cx="3400425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34" name="text-16: AW / W →；B ←"/>
          <p:cNvSpPr txBox="1"/>
          <p:nvPr/>
        </p:nvSpPr>
        <p:spPr>
          <a:xfrm>
            <a:off x="6280785" y="3148874"/>
            <a:ext cx="1229379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AW / W →；B ←</a:t>
            </a:r>
          </a:p>
        </p:txBody>
      </p:sp>
      <p:sp>
        <p:nvSpPr>
          <p:cNvPr id="35" name="s-memory2"/>
          <p:cNvSpPr/>
          <p:nvPr/>
        </p:nvSpPr>
        <p:spPr>
          <a:xfrm>
            <a:off x="10201275" y="3000375"/>
            <a:ext cx="560070" cy="400050"/>
          </a:xfrm>
          <a:custGeom>
            <a:avLst/>
            <a:gdLst/>
            <a:ahLst/>
            <a:cxnLst/>
            <a:rect l="0" t="0" r="r" b="b"/>
            <a:pathLst>
              <a:path w="560070" h="400050" fill="none">
                <a:moveTo>
                  <a:pt x="0" y="400050"/>
                </a:moveTo>
                <a:lnTo>
                  <a:pt x="280035" y="400050"/>
                </a:lnTo>
                <a:lnTo>
                  <a:pt x="280035" y="0"/>
                </a:lnTo>
                <a:lnTo>
                  <a:pt x="560070" y="0"/>
                </a:lnTo>
              </a:path>
            </a:pathLst>
          </a:custGeom>
          <a:noFill/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src3"/>
          <p:cNvSpPr/>
          <p:nvPr/>
        </p:nvSpPr>
        <p:spPr>
          <a:xfrm>
            <a:off x="480060" y="3944493"/>
            <a:ext cx="2680335" cy="512064"/>
          </a:xfrm>
          <a:prstGeom prst="roundRect">
            <a:avLst>
              <a:gd name="adj" fmla="val 1875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17: 二维帧读 DMA"/>
          <p:cNvSpPr txBox="1"/>
          <p:nvPr/>
        </p:nvSpPr>
        <p:spPr>
          <a:xfrm>
            <a:off x="1174416" y="4074429"/>
            <a:ext cx="129162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二维帧读 DMA</a:t>
            </a:r>
          </a:p>
        </p:txBody>
      </p:sp>
      <p:sp>
        <p:nvSpPr>
          <p:cNvPr id="38" name="f3"/>
          <p:cNvSpPr/>
          <p:nvPr/>
        </p:nvSpPr>
        <p:spPr>
          <a:xfrm>
            <a:off x="4280535" y="3944493"/>
            <a:ext cx="1280160" cy="512064"/>
          </a:xfrm>
          <a:prstGeom prst="roundRect">
            <a:avLst>
              <a:gd name="adj" fmla="val 18750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18: F3"/>
          <p:cNvSpPr txBox="1"/>
          <p:nvPr/>
        </p:nvSpPr>
        <p:spPr>
          <a:xfrm>
            <a:off x="4737630" y="4074429"/>
            <a:ext cx="36597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F3</a:t>
            </a:r>
          </a:p>
        </p:txBody>
      </p:sp>
      <p:sp>
        <p:nvSpPr>
          <p:cNvPr id="40" name="s3"/>
          <p:cNvSpPr/>
          <p:nvPr/>
        </p:nvSpPr>
        <p:spPr>
          <a:xfrm>
            <a:off x="8961120" y="3944493"/>
            <a:ext cx="1240155" cy="512064"/>
          </a:xfrm>
          <a:prstGeom prst="roundRect">
            <a:avLst>
              <a:gd name="adj" fmla="val 18750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19: DDR.S3"/>
          <p:cNvSpPr txBox="1"/>
          <p:nvPr/>
        </p:nvSpPr>
        <p:spPr>
          <a:xfrm>
            <a:off x="9189011" y="4074429"/>
            <a:ext cx="78437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cxnSp>
        <p:nvCxnSpPr>
          <p:cNvPr id="42" name="source-f3"/>
          <p:cNvCxnSpPr/>
          <p:nvPr/>
        </p:nvCxnSpPr>
        <p:spPr>
          <a:xfrm>
            <a:off x="3160395" y="4200525"/>
            <a:ext cx="1120140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43" name="f-s3"/>
          <p:cNvCxnSpPr/>
          <p:nvPr/>
        </p:nvCxnSpPr>
        <p:spPr>
          <a:xfrm>
            <a:off x="5560695" y="4200525"/>
            <a:ext cx="3400425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44" name="text-20: AR →；R ←"/>
          <p:cNvSpPr txBox="1"/>
          <p:nvPr/>
        </p:nvSpPr>
        <p:spPr>
          <a:xfrm>
            <a:off x="6280785" y="3948974"/>
            <a:ext cx="921365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AR →；R ←</a:t>
            </a:r>
          </a:p>
        </p:txBody>
      </p:sp>
      <p:sp>
        <p:nvSpPr>
          <p:cNvPr id="45" name="s-memory3"/>
          <p:cNvSpPr/>
          <p:nvPr/>
        </p:nvSpPr>
        <p:spPr>
          <a:xfrm>
            <a:off x="10201275" y="3000375"/>
            <a:ext cx="560070" cy="1200150"/>
          </a:xfrm>
          <a:custGeom>
            <a:avLst/>
            <a:gdLst/>
            <a:ahLst/>
            <a:cxnLst/>
            <a:rect l="0" t="0" r="r" b="b"/>
            <a:pathLst>
              <a:path w="560070" h="1200150" fill="none">
                <a:moveTo>
                  <a:pt x="0" y="1200150"/>
                </a:moveTo>
                <a:lnTo>
                  <a:pt x="280035" y="1200150"/>
                </a:lnTo>
                <a:lnTo>
                  <a:pt x="280035" y="0"/>
                </a:lnTo>
                <a:lnTo>
                  <a:pt x="560070" y="0"/>
                </a:lnTo>
              </a:path>
            </a:pathLst>
          </a:custGeom>
          <a:noFill/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dram"/>
          <p:cNvSpPr/>
          <p:nvPr/>
        </p:nvSpPr>
        <p:spPr>
          <a:xfrm>
            <a:off x="10761345" y="2320290"/>
            <a:ext cx="1400175" cy="1360170"/>
          </a:xfrm>
          <a:prstGeom prst="roundRect">
            <a:avLst>
              <a:gd name="adj" fmla="val 7058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21: 队列 / 调度"/>
          <p:cNvSpPr txBox="1"/>
          <p:nvPr/>
        </p:nvSpPr>
        <p:spPr>
          <a:xfrm>
            <a:off x="10922884" y="2634249"/>
            <a:ext cx="107709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队列 / 调度</a:t>
            </a:r>
          </a:p>
        </p:txBody>
      </p:sp>
      <p:sp>
        <p:nvSpPr>
          <p:cNvPr id="48" name="text-22: PHY"/>
          <p:cNvSpPr txBox="1"/>
          <p:nvPr/>
        </p:nvSpPr>
        <p:spPr>
          <a:xfrm>
            <a:off x="11216908" y="2874279"/>
            <a:ext cx="48904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49" name="text-23: 同一 DDR"/>
          <p:cNvSpPr txBox="1"/>
          <p:nvPr/>
        </p:nvSpPr>
        <p:spPr>
          <a:xfrm>
            <a:off x="11000494" y="3114309"/>
            <a:ext cx="92187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同一 DDR</a:t>
            </a:r>
          </a:p>
        </p:txBody>
      </p:sp>
      <p:sp>
        <p:nvSpPr>
          <p:cNvPr id="50" name="wa"/>
          <p:cNvSpPr/>
          <p:nvPr/>
        </p:nvSpPr>
        <p:spPr>
          <a:xfrm>
            <a:off x="480060" y="5440680"/>
            <a:ext cx="3040380" cy="800100"/>
          </a:xfrm>
          <a:prstGeom prst="roundRect">
            <a:avLst>
              <a:gd name="adj" fmla="val 1200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24: 端口 A 写地址 X"/>
          <p:cNvSpPr txBox="1"/>
          <p:nvPr/>
        </p:nvSpPr>
        <p:spPr>
          <a:xfrm>
            <a:off x="1296337" y="5594619"/>
            <a:ext cx="140782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端口 A 写地址 X</a:t>
            </a:r>
          </a:p>
        </p:txBody>
      </p:sp>
      <p:sp>
        <p:nvSpPr>
          <p:cNvPr id="52" name="text-25: 数据 + 元数据提交"/>
          <p:cNvSpPr txBox="1"/>
          <p:nvPr/>
        </p:nvSpPr>
        <p:spPr>
          <a:xfrm>
            <a:off x="1190618" y="5834649"/>
            <a:ext cx="161926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数据 + 元数据提交</a:t>
            </a:r>
          </a:p>
        </p:txBody>
      </p:sp>
      <p:sp>
        <p:nvSpPr>
          <p:cNvPr id="53" name="visible"/>
          <p:cNvSpPr/>
          <p:nvPr/>
        </p:nvSpPr>
        <p:spPr>
          <a:xfrm>
            <a:off x="4760595" y="5440680"/>
            <a:ext cx="3280410" cy="800100"/>
          </a:xfrm>
          <a:prstGeom prst="roundRect">
            <a:avLst>
              <a:gd name="adj" fmla="val 12000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26: 满足跨口可见条件"/>
          <p:cNvSpPr txBox="1"/>
          <p:nvPr/>
        </p:nvSpPr>
        <p:spPr>
          <a:xfrm>
            <a:off x="5608701" y="5594619"/>
            <a:ext cx="158419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满足跨口可见条件</a:t>
            </a:r>
          </a:p>
        </p:txBody>
      </p:sp>
      <p:sp>
        <p:nvSpPr>
          <p:cNvPr id="55" name="text-27: B 语义 / 额外同步待确认"/>
          <p:cNvSpPr txBox="1"/>
          <p:nvPr/>
        </p:nvSpPr>
        <p:spPr>
          <a:xfrm>
            <a:off x="5341318" y="5834649"/>
            <a:ext cx="211896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B 语义 / 额外同步待确认</a:t>
            </a:r>
          </a:p>
        </p:txBody>
      </p:sp>
      <p:sp>
        <p:nvSpPr>
          <p:cNvPr id="56" name="rb"/>
          <p:cNvSpPr/>
          <p:nvPr/>
        </p:nvSpPr>
        <p:spPr>
          <a:xfrm>
            <a:off x="9241155" y="5440680"/>
            <a:ext cx="3080385" cy="800100"/>
          </a:xfrm>
          <a:prstGeom prst="roundRect">
            <a:avLst>
              <a:gd name="adj" fmla="val 1200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28: 端口 B 随后读 X"/>
          <p:cNvSpPr txBox="1"/>
          <p:nvPr/>
        </p:nvSpPr>
        <p:spPr>
          <a:xfrm>
            <a:off x="10072190" y="5594619"/>
            <a:ext cx="141831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端口 B 随后读 X</a:t>
            </a:r>
          </a:p>
        </p:txBody>
      </p:sp>
      <p:sp>
        <p:nvSpPr>
          <p:cNvPr id="58" name="text-29: 必须取得新逻辑数据"/>
          <p:cNvSpPr txBox="1"/>
          <p:nvPr/>
        </p:nvSpPr>
        <p:spPr>
          <a:xfrm>
            <a:off x="9901238" y="5834649"/>
            <a:ext cx="176022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必须取得新逻辑数据</a:t>
            </a:r>
          </a:p>
        </p:txBody>
      </p:sp>
      <p:cxnSp>
        <p:nvCxnSpPr>
          <p:cNvPr id="59" name="write-visible"/>
          <p:cNvCxnSpPr/>
          <p:nvPr/>
        </p:nvCxnSpPr>
        <p:spPr>
          <a:xfrm>
            <a:off x="3520440" y="5840730"/>
            <a:ext cx="1240155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cxnSp>
        <p:nvCxnSpPr>
          <p:cNvPr id="60" name="visible-read"/>
          <p:cNvCxnSpPr/>
          <p:nvPr/>
        </p:nvCxnSpPr>
        <p:spPr>
          <a:xfrm>
            <a:off x="8041005" y="5840730"/>
            <a:ext cx="1200150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cxnSp>
        <p:nvCxnSpPr>
          <p:cNvPr id="61" name="legend-data"/>
          <p:cNvCxnSpPr/>
          <p:nvPr/>
        </p:nvCxnSpPr>
        <p:spPr>
          <a:xfrm>
            <a:off x="440055" y="6864858"/>
            <a:ext cx="384048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62" name="text-30: 数据 / 请求"/>
          <p:cNvSpPr txBox="1"/>
          <p:nvPr/>
        </p:nvSpPr>
        <p:spPr>
          <a:xfrm>
            <a:off x="94411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数据 / 请求</a:t>
            </a:r>
          </a:p>
        </p:txBody>
      </p:sp>
      <p:cxnSp>
        <p:nvCxnSpPr>
          <p:cNvPr id="63" name="legend-control"/>
          <p:cNvCxnSpPr/>
          <p:nvPr/>
        </p:nvCxnSpPr>
        <p:spPr>
          <a:xfrm>
            <a:off x="2720340" y="6864858"/>
            <a:ext cx="384048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sp>
        <p:nvSpPr>
          <p:cNvPr id="64" name="text-31: 配置 / 控制"/>
          <p:cNvSpPr txBox="1"/>
          <p:nvPr/>
        </p:nvSpPr>
        <p:spPr>
          <a:xfrm>
            <a:off x="322440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cxnSp>
        <p:nvCxnSpPr>
          <p:cNvPr id="65" name="legend-done"/>
          <p:cNvCxnSpPr/>
          <p:nvPr/>
        </p:nvCxnSpPr>
        <p:spPr>
          <a:xfrm>
            <a:off x="5000625" y="6864858"/>
            <a:ext cx="384048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66" name="text-32: 完成 / 交接"/>
          <p:cNvSpPr txBox="1"/>
          <p:nvPr/>
        </p:nvSpPr>
        <p:spPr>
          <a:xfrm>
            <a:off x="550468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完成 / 交接</a:t>
            </a:r>
          </a:p>
        </p:txBody>
      </p:sp>
      <p:cxnSp>
        <p:nvCxnSpPr>
          <p:cNvPr id="67" name="legend-error"/>
          <p:cNvCxnSpPr/>
          <p:nvPr/>
        </p:nvCxnSpPr>
        <p:spPr>
          <a:xfrm>
            <a:off x="7280910" y="6864858"/>
            <a:ext cx="384048" cy="0"/>
          </a:xfrm>
          <a:prstGeom prst="line">
            <a:avLst/>
          </a:prstGeom>
          <a:ln w="24003" cap="flat">
            <a:solidFill>
              <a:srgbClr val="B65353"/>
            </a:solidFill>
            <a:tailEnd type="triangle" w="med" len="med"/>
          </a:ln>
          <a:effectLst/>
        </p:spPr>
      </p:cxnSp>
      <p:sp>
        <p:nvSpPr>
          <p:cNvPr id="68" name="text-33: 故障 / 恢复"/>
          <p:cNvSpPr txBox="1"/>
          <p:nvPr/>
        </p:nvSpPr>
        <p:spPr>
          <a:xfrm>
            <a:off x="778497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故障 / 恢复</a:t>
            </a:r>
          </a:p>
        </p:txBody>
      </p:sp>
      <p:sp>
        <p:nvSpPr>
          <p:cNvPr id="69" name="text-34: 05 / 13"/>
          <p:cNvSpPr txBox="1"/>
          <p:nvPr/>
        </p:nvSpPr>
        <p:spPr>
          <a:xfrm>
            <a:off x="11594774" y="6756684"/>
            <a:ext cx="68676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1: 06  共享压缩前端：算法之外的事务系统"/>
          <p:cNvSpPr txBox="1"/>
          <p:nvPr/>
        </p:nvSpPr>
        <p:spPr>
          <a:xfrm>
            <a:off x="400050" y="162260"/>
            <a:ext cx="5113939" cy="4352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42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06  共享压缩前端：算法之外的事务系统</a:t>
            </a:r>
          </a:p>
        </p:txBody>
      </p:sp>
      <p:sp>
        <p:nvSpPr>
          <p:cNvPr id="3" name="text-2: 同一逻辑地址的格式、元数据和完成条件必须对四个入口一致。"/>
          <p:cNvSpPr txBox="1"/>
          <p:nvPr/>
        </p:nvSpPr>
        <p:spPr>
          <a:xfrm>
            <a:off x="400050" y="610636"/>
            <a:ext cx="4872609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同一逻辑地址的格式、元数据和完成条件必须对四个入口一致。</a:t>
            </a:r>
          </a:p>
        </p:txBody>
      </p:sp>
      <p:sp>
        <p:nvSpPr>
          <p:cNvPr id="4" name="ports"/>
          <p:cNvSpPr/>
          <p:nvPr/>
        </p:nvSpPr>
        <p:spPr>
          <a:xfrm>
            <a:off x="440055" y="1560195"/>
            <a:ext cx="2080260" cy="800100"/>
          </a:xfrm>
          <a:prstGeom prst="roundRect">
            <a:avLst>
              <a:gd name="adj" fmla="val 1200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3: F0～F3 请求"/>
          <p:cNvSpPr txBox="1"/>
          <p:nvPr/>
        </p:nvSpPr>
        <p:spPr>
          <a:xfrm>
            <a:off x="911808" y="1714134"/>
            <a:ext cx="113675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F0～F3 请求</a:t>
            </a:r>
          </a:p>
        </p:txBody>
      </p:sp>
      <p:sp>
        <p:nvSpPr>
          <p:cNvPr id="6" name="text-4: AR / AW / W"/>
          <p:cNvSpPr txBox="1"/>
          <p:nvPr/>
        </p:nvSpPr>
        <p:spPr>
          <a:xfrm>
            <a:off x="897975" y="1954164"/>
            <a:ext cx="116442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AR / AW / W</a:t>
            </a:r>
          </a:p>
        </p:txBody>
      </p:sp>
      <p:sp>
        <p:nvSpPr>
          <p:cNvPr id="7" name="route"/>
          <p:cNvSpPr/>
          <p:nvPr/>
        </p:nvSpPr>
        <p:spPr>
          <a:xfrm>
            <a:off x="3400425" y="1560195"/>
            <a:ext cx="3280410" cy="800100"/>
          </a:xfrm>
          <a:prstGeom prst="roundRect">
            <a:avLst>
              <a:gd name="adj" fmla="val 1200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5: 区域 / 块映射 / 事务上下文"/>
          <p:cNvSpPr txBox="1"/>
          <p:nvPr/>
        </p:nvSpPr>
        <p:spPr>
          <a:xfrm>
            <a:off x="3875522" y="1714134"/>
            <a:ext cx="233021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区域 / 块映射 / 事务上下文</a:t>
            </a:r>
          </a:p>
        </p:txBody>
      </p:sp>
      <p:sp>
        <p:nvSpPr>
          <p:cNvPr id="9" name="text-6: 锁定冲突块；保留 ID 与长度"/>
          <p:cNvSpPr txBox="1"/>
          <p:nvPr/>
        </p:nvSpPr>
        <p:spPr>
          <a:xfrm>
            <a:off x="3850850" y="1954164"/>
            <a:ext cx="237956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锁定冲突块；保留 ID 与长度</a:t>
            </a:r>
          </a:p>
        </p:txBody>
      </p:sp>
      <p:cxnSp>
        <p:nvCxnSpPr>
          <p:cNvPr id="10" name="ports-route"/>
          <p:cNvCxnSpPr/>
          <p:nvPr/>
        </p:nvCxnSpPr>
        <p:spPr>
          <a:xfrm>
            <a:off x="2520315" y="1960245"/>
            <a:ext cx="880110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11" name="meta"/>
          <p:cNvSpPr/>
          <p:nvPr/>
        </p:nvSpPr>
        <p:spPr>
          <a:xfrm>
            <a:off x="8081010" y="1440180"/>
            <a:ext cx="4000500" cy="960120"/>
          </a:xfrm>
          <a:prstGeom prst="roundRect">
            <a:avLst>
              <a:gd name="adj" fmla="val 10000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7: 共享元数据与发布状态"/>
          <p:cNvSpPr txBox="1"/>
          <p:nvPr/>
        </p:nvSpPr>
        <p:spPr>
          <a:xfrm>
            <a:off x="9113139" y="1674129"/>
            <a:ext cx="193624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共享元数据与发布状态</a:t>
            </a:r>
          </a:p>
        </p:txBody>
      </p:sp>
      <p:sp>
        <p:nvSpPr>
          <p:cNvPr id="13" name="text-8: 格式 / 位置 / 长度 / 有效性"/>
          <p:cNvSpPr txBox="1"/>
          <p:nvPr/>
        </p:nvSpPr>
        <p:spPr>
          <a:xfrm>
            <a:off x="8905669" y="1914159"/>
            <a:ext cx="235118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格式 / 位置 / 长度 / 有效性</a:t>
            </a:r>
          </a:p>
        </p:txBody>
      </p:sp>
      <p:cxnSp>
        <p:nvCxnSpPr>
          <p:cNvPr id="14" name="route-meta"/>
          <p:cNvCxnSpPr/>
          <p:nvPr/>
        </p:nvCxnSpPr>
        <p:spPr>
          <a:xfrm>
            <a:off x="6680835" y="1960245"/>
            <a:ext cx="1400175" cy="0"/>
          </a:xfrm>
          <a:prstGeom prst="line">
            <a:avLst/>
          </a:prstGeom>
          <a:ln w="24003" cap="flat">
            <a:solidFill>
              <a:srgbClr val="8161A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5" name="address-downstream"/>
          <p:cNvSpPr/>
          <p:nvPr/>
        </p:nvSpPr>
        <p:spPr>
          <a:xfrm>
            <a:off x="6680835" y="1040130"/>
            <a:ext cx="5800725" cy="2760345"/>
          </a:xfrm>
          <a:custGeom>
            <a:avLst/>
            <a:gdLst/>
            <a:ahLst/>
            <a:cxnLst/>
            <a:rect l="0" t="0" r="r" b="b"/>
            <a:pathLst>
              <a:path w="5800725" h="2760345" fill="none">
                <a:moveTo>
                  <a:pt x="0" y="680085"/>
                </a:moveTo>
                <a:lnTo>
                  <a:pt x="880110" y="680085"/>
                </a:lnTo>
                <a:lnTo>
                  <a:pt x="880110" y="0"/>
                </a:lnTo>
                <a:lnTo>
                  <a:pt x="5800725" y="0"/>
                </a:lnTo>
                <a:lnTo>
                  <a:pt x="5800725" y="2760345"/>
                </a:lnTo>
                <a:lnTo>
                  <a:pt x="5600700" y="2760345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9: AR / AW：地址控制"/>
          <p:cNvSpPr txBox="1"/>
          <p:nvPr/>
        </p:nvSpPr>
        <p:spPr>
          <a:xfrm>
            <a:off x="9467027" y="795299"/>
            <a:ext cx="1548506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AR / AW：地址控制</a:t>
            </a:r>
          </a:p>
        </p:txBody>
      </p:sp>
      <p:sp>
        <p:nvSpPr>
          <p:cNvPr id="17" name="raw"/>
          <p:cNvSpPr/>
          <p:nvPr/>
        </p:nvSpPr>
        <p:spPr>
          <a:xfrm>
            <a:off x="440055" y="3320415"/>
            <a:ext cx="2800350" cy="920115"/>
          </a:xfrm>
          <a:prstGeom prst="roundRect">
            <a:avLst>
              <a:gd name="adj" fmla="val 10434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10: 普通区旁路"/>
          <p:cNvSpPr txBox="1"/>
          <p:nvPr/>
        </p:nvSpPr>
        <p:spPr>
          <a:xfrm>
            <a:off x="1312164" y="3534362"/>
            <a:ext cx="10561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普通区旁路</a:t>
            </a:r>
          </a:p>
        </p:txBody>
      </p:sp>
      <p:sp>
        <p:nvSpPr>
          <p:cNvPr id="19" name="text-11: 原样 W / R"/>
          <p:cNvSpPr txBox="1"/>
          <p:nvPr/>
        </p:nvSpPr>
        <p:spPr>
          <a:xfrm>
            <a:off x="1324716" y="3774392"/>
            <a:ext cx="103102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原样 W / R</a:t>
            </a:r>
          </a:p>
        </p:txBody>
      </p:sp>
      <p:sp>
        <p:nvSpPr>
          <p:cNvPr id="20" name="write"/>
          <p:cNvSpPr/>
          <p:nvPr/>
        </p:nvSpPr>
        <p:spPr>
          <a:xfrm>
            <a:off x="3400425" y="3320415"/>
            <a:ext cx="2800350" cy="920115"/>
          </a:xfrm>
          <a:prstGeom prst="roundRect">
            <a:avLst>
              <a:gd name="adj" fmla="val 10434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12: 压缩写 / 部分写合并"/>
          <p:cNvSpPr txBox="1"/>
          <p:nvPr/>
        </p:nvSpPr>
        <p:spPr>
          <a:xfrm>
            <a:off x="3910007" y="3534362"/>
            <a:ext cx="178118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压缩写 / 部分写合并</a:t>
            </a:r>
          </a:p>
        </p:txBody>
      </p:sp>
      <p:sp>
        <p:nvSpPr>
          <p:cNvPr id="22" name="text-13: 旧块 + WSTRB → 新块"/>
          <p:cNvSpPr txBox="1"/>
          <p:nvPr/>
        </p:nvSpPr>
        <p:spPr>
          <a:xfrm>
            <a:off x="3834623" y="3774392"/>
            <a:ext cx="19319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旧块 + WSTRB → 新块</a:t>
            </a:r>
          </a:p>
        </p:txBody>
      </p:sp>
      <p:sp>
        <p:nvSpPr>
          <p:cNvPr id="23" name="read"/>
          <p:cNvSpPr/>
          <p:nvPr/>
        </p:nvSpPr>
        <p:spPr>
          <a:xfrm>
            <a:off x="6800850" y="3320415"/>
            <a:ext cx="2800350" cy="920115"/>
          </a:xfrm>
          <a:prstGeom prst="roundRect">
            <a:avLst>
              <a:gd name="adj" fmla="val 10434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14: 读块 + 解压"/>
          <p:cNvSpPr txBox="1"/>
          <p:nvPr/>
        </p:nvSpPr>
        <p:spPr>
          <a:xfrm>
            <a:off x="7655426" y="3534362"/>
            <a:ext cx="109119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读块 + 解压</a:t>
            </a:r>
          </a:p>
        </p:txBody>
      </p:sp>
      <p:sp>
        <p:nvSpPr>
          <p:cNvPr id="25" name="text-15: 恢复逻辑字节 / 拍数"/>
          <p:cNvSpPr txBox="1"/>
          <p:nvPr/>
        </p:nvSpPr>
        <p:spPr>
          <a:xfrm>
            <a:off x="7310432" y="3774392"/>
            <a:ext cx="178118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恢复逻辑字节 / 拍数</a:t>
            </a:r>
          </a:p>
        </p:txBody>
      </p:sp>
      <p:sp>
        <p:nvSpPr>
          <p:cNvPr id="26" name="route-raw"/>
          <p:cNvSpPr/>
          <p:nvPr/>
        </p:nvSpPr>
        <p:spPr>
          <a:xfrm>
            <a:off x="1840230" y="2360295"/>
            <a:ext cx="2080260" cy="960120"/>
          </a:xfrm>
          <a:custGeom>
            <a:avLst/>
            <a:gdLst/>
            <a:ahLst/>
            <a:cxnLst/>
            <a:rect l="0" t="0" r="r" b="b"/>
            <a:pathLst>
              <a:path w="2080260" h="960120" fill="none">
                <a:moveTo>
                  <a:pt x="2080260" y="0"/>
                </a:moveTo>
                <a:lnTo>
                  <a:pt x="2080260" y="440055"/>
                </a:lnTo>
                <a:lnTo>
                  <a:pt x="0" y="440055"/>
                </a:lnTo>
                <a:lnTo>
                  <a:pt x="0" y="96012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route-write"/>
          <p:cNvCxnSpPr/>
          <p:nvPr/>
        </p:nvCxnSpPr>
        <p:spPr>
          <a:xfrm>
            <a:off x="5040630" y="2360295"/>
            <a:ext cx="0" cy="96012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28" name="route-read"/>
          <p:cNvSpPr/>
          <p:nvPr/>
        </p:nvSpPr>
        <p:spPr>
          <a:xfrm>
            <a:off x="6160770" y="2360295"/>
            <a:ext cx="2040255" cy="960120"/>
          </a:xfrm>
          <a:custGeom>
            <a:avLst/>
            <a:gdLst/>
            <a:ahLst/>
            <a:cxnLst/>
            <a:rect l="0" t="0" r="r" b="b"/>
            <a:pathLst>
              <a:path w="2040255" h="960120" fill="none">
                <a:moveTo>
                  <a:pt x="0" y="0"/>
                </a:moveTo>
                <a:lnTo>
                  <a:pt x="0" y="440055"/>
                </a:lnTo>
                <a:lnTo>
                  <a:pt x="2040255" y="440055"/>
                </a:lnTo>
                <a:lnTo>
                  <a:pt x="2040255" y="96012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down"/>
          <p:cNvSpPr/>
          <p:nvPr/>
        </p:nvSpPr>
        <p:spPr>
          <a:xfrm>
            <a:off x="10161270" y="3240405"/>
            <a:ext cx="2120265" cy="1120140"/>
          </a:xfrm>
          <a:prstGeom prst="roundRect">
            <a:avLst>
              <a:gd name="adj" fmla="val 8571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16: 四个下游接口"/>
          <p:cNvSpPr txBox="1"/>
          <p:nvPr/>
        </p:nvSpPr>
        <p:spPr>
          <a:xfrm>
            <a:off x="10605326" y="3434349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四个下游接口</a:t>
            </a:r>
          </a:p>
        </p:txBody>
      </p:sp>
      <p:sp>
        <p:nvSpPr>
          <p:cNvPr id="31" name="text-17: 数据 / 元数据"/>
          <p:cNvSpPr txBox="1"/>
          <p:nvPr/>
        </p:nvSpPr>
        <p:spPr>
          <a:xfrm>
            <a:off x="10594843" y="3674379"/>
            <a:ext cx="125311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数据 / 元数据</a:t>
            </a:r>
          </a:p>
        </p:txBody>
      </p:sp>
      <p:sp>
        <p:nvSpPr>
          <p:cNvPr id="32" name="text-18: 经已有口路由"/>
          <p:cNvSpPr txBox="1"/>
          <p:nvPr/>
        </p:nvSpPr>
        <p:spPr>
          <a:xfrm>
            <a:off x="10605326" y="3914409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经已有口路由</a:t>
            </a:r>
          </a:p>
        </p:txBody>
      </p:sp>
      <p:sp>
        <p:nvSpPr>
          <p:cNvPr id="33" name="raw-down"/>
          <p:cNvSpPr/>
          <p:nvPr/>
        </p:nvSpPr>
        <p:spPr>
          <a:xfrm>
            <a:off x="1840230" y="4240530"/>
            <a:ext cx="8561070" cy="440055"/>
          </a:xfrm>
          <a:custGeom>
            <a:avLst/>
            <a:gdLst/>
            <a:ahLst/>
            <a:cxnLst/>
            <a:rect l="0" t="0" r="r" b="b"/>
            <a:pathLst>
              <a:path w="8561070" h="440055" fill="none">
                <a:moveTo>
                  <a:pt x="0" y="0"/>
                </a:moveTo>
                <a:lnTo>
                  <a:pt x="0" y="440055"/>
                </a:lnTo>
                <a:lnTo>
                  <a:pt x="8561070" y="440055"/>
                </a:lnTo>
                <a:lnTo>
                  <a:pt x="8561070" y="120015"/>
                </a:lnTo>
              </a:path>
            </a:pathLst>
          </a:custGeom>
          <a:noFill/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write-down"/>
          <p:cNvSpPr/>
          <p:nvPr/>
        </p:nvSpPr>
        <p:spPr>
          <a:xfrm>
            <a:off x="4800600" y="4240530"/>
            <a:ext cx="6400800" cy="720090"/>
          </a:xfrm>
          <a:custGeom>
            <a:avLst/>
            <a:gdLst/>
            <a:ahLst/>
            <a:cxnLst/>
            <a:rect l="0" t="0" r="r" b="b"/>
            <a:pathLst>
              <a:path w="6400800" h="720090" fill="none">
                <a:moveTo>
                  <a:pt x="0" y="0"/>
                </a:moveTo>
                <a:lnTo>
                  <a:pt x="0" y="720090"/>
                </a:lnTo>
                <a:lnTo>
                  <a:pt x="6400800" y="720090"/>
                </a:lnTo>
                <a:lnTo>
                  <a:pt x="6400800" y="120015"/>
                </a:lnTo>
              </a:path>
            </a:pathLst>
          </a:custGeom>
          <a:noFill/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" name="read-down"/>
          <p:cNvCxnSpPr/>
          <p:nvPr/>
        </p:nvCxnSpPr>
        <p:spPr>
          <a:xfrm>
            <a:off x="9601200" y="3760470"/>
            <a:ext cx="560070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36" name="metadata-io"/>
          <p:cNvCxnSpPr/>
          <p:nvPr/>
        </p:nvCxnSpPr>
        <p:spPr>
          <a:xfrm>
            <a:off x="11201400" y="2400300"/>
            <a:ext cx="0" cy="840105"/>
          </a:xfrm>
          <a:prstGeom prst="line">
            <a:avLst/>
          </a:prstGeom>
          <a:ln w="24003" cap="flat">
            <a:solidFill>
              <a:srgbClr val="8161A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37" name="aggregate"/>
          <p:cNvSpPr/>
          <p:nvPr/>
        </p:nvSpPr>
        <p:spPr>
          <a:xfrm>
            <a:off x="6800850" y="5400675"/>
            <a:ext cx="5480685" cy="920115"/>
          </a:xfrm>
          <a:prstGeom prst="roundRect">
            <a:avLst>
              <a:gd name="adj" fmla="val 10434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19: 子事务与响应汇合"/>
          <p:cNvSpPr txBox="1"/>
          <p:nvPr/>
        </p:nvSpPr>
        <p:spPr>
          <a:xfrm>
            <a:off x="8749094" y="5614622"/>
            <a:ext cx="158419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子事务与响应汇合</a:t>
            </a:r>
          </a:p>
        </p:txBody>
      </p:sp>
      <p:sp>
        <p:nvSpPr>
          <p:cNvPr id="39" name="text-20: R：重组返回；B：汇合写结果 / 错误"/>
          <p:cNvSpPr txBox="1"/>
          <p:nvPr/>
        </p:nvSpPr>
        <p:spPr>
          <a:xfrm>
            <a:off x="8013545" y="5854652"/>
            <a:ext cx="305529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R：重组返回；B：汇合写结果 / 错误</a:t>
            </a:r>
          </a:p>
        </p:txBody>
      </p:sp>
      <p:cxnSp>
        <p:nvCxnSpPr>
          <p:cNvPr id="40" name="down-result"/>
          <p:cNvCxnSpPr/>
          <p:nvPr/>
        </p:nvCxnSpPr>
        <p:spPr>
          <a:xfrm>
            <a:off x="11961495" y="4360545"/>
            <a:ext cx="0" cy="104013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41" name="text-21: B / 错误"/>
          <p:cNvSpPr txBox="1"/>
          <p:nvPr/>
        </p:nvSpPr>
        <p:spPr>
          <a:xfrm>
            <a:off x="11702394" y="5027828"/>
            <a:ext cx="758232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B / 错误</a:t>
            </a:r>
          </a:p>
        </p:txBody>
      </p:sp>
      <p:cxnSp>
        <p:nvCxnSpPr>
          <p:cNvPr id="42" name="decoded-r"/>
          <p:cNvCxnSpPr/>
          <p:nvPr/>
        </p:nvCxnSpPr>
        <p:spPr>
          <a:xfrm>
            <a:off x="8201025" y="4240530"/>
            <a:ext cx="0" cy="1160145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43" name="text-22: 解压后 R"/>
          <p:cNvSpPr txBox="1"/>
          <p:nvPr/>
        </p:nvSpPr>
        <p:spPr>
          <a:xfrm>
            <a:off x="8487542" y="5027828"/>
            <a:ext cx="787136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解压后 R</a:t>
            </a:r>
          </a:p>
        </p:txBody>
      </p:sp>
      <p:sp>
        <p:nvSpPr>
          <p:cNvPr id="44" name="complete"/>
          <p:cNvSpPr/>
          <p:nvPr/>
        </p:nvSpPr>
        <p:spPr>
          <a:xfrm>
            <a:off x="440055" y="5400675"/>
            <a:ext cx="5120640" cy="920115"/>
          </a:xfrm>
          <a:prstGeom prst="roundRect">
            <a:avLst>
              <a:gd name="adj" fmla="val 10434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23: 向原 F 口返回 R / B"/>
          <p:cNvSpPr txBox="1"/>
          <p:nvPr/>
        </p:nvSpPr>
        <p:spPr>
          <a:xfrm>
            <a:off x="2143474" y="5614622"/>
            <a:ext cx="171380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向原 F 口返回 R / B</a:t>
            </a:r>
          </a:p>
        </p:txBody>
      </p:sp>
      <p:sp>
        <p:nvSpPr>
          <p:cNvPr id="46" name="text-24: 成功须覆盖所需数据及元数据操作"/>
          <p:cNvSpPr txBox="1"/>
          <p:nvPr/>
        </p:nvSpPr>
        <p:spPr>
          <a:xfrm>
            <a:off x="1592199" y="5854652"/>
            <a:ext cx="281635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成功须覆盖所需数据及元数据操作</a:t>
            </a:r>
          </a:p>
        </p:txBody>
      </p:sp>
      <p:cxnSp>
        <p:nvCxnSpPr>
          <p:cNvPr id="47" name="reply-aggregate"/>
          <p:cNvCxnSpPr/>
          <p:nvPr/>
        </p:nvCxnSpPr>
        <p:spPr>
          <a:xfrm flipH="1">
            <a:off x="5560695" y="5840730"/>
            <a:ext cx="1240155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cxnSp>
        <p:nvCxnSpPr>
          <p:cNvPr id="48" name="raw-r"/>
          <p:cNvCxnSpPr/>
          <p:nvPr/>
        </p:nvCxnSpPr>
        <p:spPr>
          <a:xfrm>
            <a:off x="720090" y="4240530"/>
            <a:ext cx="0" cy="1160145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49" name="text-25: 旁路 R"/>
          <p:cNvSpPr txBox="1"/>
          <p:nvPr/>
        </p:nvSpPr>
        <p:spPr>
          <a:xfrm>
            <a:off x="846587" y="5027828"/>
            <a:ext cx="627116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旁路 R</a:t>
            </a:r>
          </a:p>
        </p:txBody>
      </p:sp>
      <p:cxnSp>
        <p:nvCxnSpPr>
          <p:cNvPr id="50" name="legend-data"/>
          <p:cNvCxnSpPr/>
          <p:nvPr/>
        </p:nvCxnSpPr>
        <p:spPr>
          <a:xfrm>
            <a:off x="440055" y="6864858"/>
            <a:ext cx="384048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51" name="text-26: 数据 / 请求"/>
          <p:cNvSpPr txBox="1"/>
          <p:nvPr/>
        </p:nvSpPr>
        <p:spPr>
          <a:xfrm>
            <a:off x="94411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数据 / 请求</a:t>
            </a:r>
          </a:p>
        </p:txBody>
      </p:sp>
      <p:cxnSp>
        <p:nvCxnSpPr>
          <p:cNvPr id="52" name="legend-control"/>
          <p:cNvCxnSpPr/>
          <p:nvPr/>
        </p:nvCxnSpPr>
        <p:spPr>
          <a:xfrm>
            <a:off x="2720340" y="6864858"/>
            <a:ext cx="384048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sp>
        <p:nvSpPr>
          <p:cNvPr id="53" name="text-27: 配置 / 控制"/>
          <p:cNvSpPr txBox="1"/>
          <p:nvPr/>
        </p:nvSpPr>
        <p:spPr>
          <a:xfrm>
            <a:off x="322440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cxnSp>
        <p:nvCxnSpPr>
          <p:cNvPr id="54" name="legend-done"/>
          <p:cNvCxnSpPr/>
          <p:nvPr/>
        </p:nvCxnSpPr>
        <p:spPr>
          <a:xfrm>
            <a:off x="5000625" y="6864858"/>
            <a:ext cx="384048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55" name="text-28: 完成 / 交接"/>
          <p:cNvSpPr txBox="1"/>
          <p:nvPr/>
        </p:nvSpPr>
        <p:spPr>
          <a:xfrm>
            <a:off x="550468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完成 / 交接</a:t>
            </a:r>
          </a:p>
        </p:txBody>
      </p:sp>
      <p:cxnSp>
        <p:nvCxnSpPr>
          <p:cNvPr id="56" name="legend-error"/>
          <p:cNvCxnSpPr/>
          <p:nvPr/>
        </p:nvCxnSpPr>
        <p:spPr>
          <a:xfrm>
            <a:off x="7280910" y="6864858"/>
            <a:ext cx="384048" cy="0"/>
          </a:xfrm>
          <a:prstGeom prst="line">
            <a:avLst/>
          </a:prstGeom>
          <a:ln w="24003" cap="flat">
            <a:solidFill>
              <a:srgbClr val="B65353"/>
            </a:solidFill>
            <a:tailEnd type="triangle" w="med" len="med"/>
          </a:ln>
          <a:effectLst/>
        </p:spPr>
      </p:cxnSp>
      <p:sp>
        <p:nvSpPr>
          <p:cNvPr id="57" name="text-29: 故障 / 恢复"/>
          <p:cNvSpPr txBox="1"/>
          <p:nvPr/>
        </p:nvSpPr>
        <p:spPr>
          <a:xfrm>
            <a:off x="778497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故障 / 恢复</a:t>
            </a:r>
          </a:p>
        </p:txBody>
      </p:sp>
      <p:sp>
        <p:nvSpPr>
          <p:cNvPr id="58" name="text-30: 06 / 13"/>
          <p:cNvSpPr txBox="1"/>
          <p:nvPr/>
        </p:nvSpPr>
        <p:spPr>
          <a:xfrm>
            <a:off x="11594774" y="6756684"/>
            <a:ext cx="68676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1: 07  完成与回收：区分五个时间点"/>
          <p:cNvSpPr txBox="1"/>
          <p:nvPr/>
        </p:nvSpPr>
        <p:spPr>
          <a:xfrm>
            <a:off x="400050" y="162260"/>
            <a:ext cx="4297837" cy="4352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42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07  完成与回收：区分五个时间点</a:t>
            </a:r>
          </a:p>
        </p:txBody>
      </p:sp>
      <p:sp>
        <p:nvSpPr>
          <p:cNvPr id="3" name="text-2: 超时表示软件等待结束；旧事务是否还能写内存，需要另行确认。"/>
          <p:cNvSpPr txBox="1"/>
          <p:nvPr/>
        </p:nvSpPr>
        <p:spPr>
          <a:xfrm>
            <a:off x="400050" y="610636"/>
            <a:ext cx="5040630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超时表示软件等待结束；旧事务是否还能写内存，需要另行确认。</a:t>
            </a:r>
          </a:p>
        </p:txBody>
      </p:sp>
      <p:sp>
        <p:nvSpPr>
          <p:cNvPr id="4" name="phase0"/>
          <p:cNvSpPr/>
          <p:nvPr/>
        </p:nvSpPr>
        <p:spPr>
          <a:xfrm>
            <a:off x="440055" y="1760220"/>
            <a:ext cx="1840230" cy="880110"/>
          </a:xfrm>
          <a:prstGeom prst="roundRect">
            <a:avLst>
              <a:gd name="adj" fmla="val 10909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3: 命令已接受"/>
          <p:cNvSpPr txBox="1"/>
          <p:nvPr/>
        </p:nvSpPr>
        <p:spPr>
          <a:xfrm>
            <a:off x="832104" y="1954164"/>
            <a:ext cx="10561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命令已接受</a:t>
            </a:r>
          </a:p>
        </p:txBody>
      </p:sp>
      <p:sp>
        <p:nvSpPr>
          <p:cNvPr id="6" name="text-4: 上下文已保存"/>
          <p:cNvSpPr txBox="1"/>
          <p:nvPr/>
        </p:nvSpPr>
        <p:spPr>
          <a:xfrm>
            <a:off x="744093" y="2194194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上下文已保存</a:t>
            </a:r>
          </a:p>
        </p:txBody>
      </p:sp>
      <p:sp>
        <p:nvSpPr>
          <p:cNvPr id="7" name="phase1"/>
          <p:cNvSpPr/>
          <p:nvPr/>
        </p:nvSpPr>
        <p:spPr>
          <a:xfrm>
            <a:off x="2960370" y="1760220"/>
            <a:ext cx="1840230" cy="880110"/>
          </a:xfrm>
          <a:prstGeom prst="roundRect">
            <a:avLst>
              <a:gd name="adj" fmla="val 10909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5: 执行结束"/>
          <p:cNvSpPr txBox="1"/>
          <p:nvPr/>
        </p:nvSpPr>
        <p:spPr>
          <a:xfrm>
            <a:off x="3440430" y="1954164"/>
            <a:ext cx="88011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执行结束</a:t>
            </a:r>
          </a:p>
        </p:txBody>
      </p:sp>
      <p:sp>
        <p:nvSpPr>
          <p:cNvPr id="9" name="text-6: 数据尚可在途"/>
          <p:cNvSpPr txBox="1"/>
          <p:nvPr/>
        </p:nvSpPr>
        <p:spPr>
          <a:xfrm>
            <a:off x="3264408" y="2194194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数据尚可在途</a:t>
            </a:r>
          </a:p>
        </p:txBody>
      </p:sp>
      <p:sp>
        <p:nvSpPr>
          <p:cNvPr id="10" name="phase2"/>
          <p:cNvSpPr/>
          <p:nvPr/>
        </p:nvSpPr>
        <p:spPr>
          <a:xfrm>
            <a:off x="5480685" y="1760220"/>
            <a:ext cx="1840230" cy="880110"/>
          </a:xfrm>
          <a:prstGeom prst="roundRect">
            <a:avLst>
              <a:gd name="adj" fmla="val 10909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7: 数据已可见"/>
          <p:cNvSpPr txBox="1"/>
          <p:nvPr/>
        </p:nvSpPr>
        <p:spPr>
          <a:xfrm>
            <a:off x="5872734" y="1954164"/>
            <a:ext cx="10561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数据已可见</a:t>
            </a:r>
          </a:p>
        </p:txBody>
      </p:sp>
      <p:sp>
        <p:nvSpPr>
          <p:cNvPr id="12" name="text-8: 含元数据提交"/>
          <p:cNvSpPr txBox="1"/>
          <p:nvPr/>
        </p:nvSpPr>
        <p:spPr>
          <a:xfrm>
            <a:off x="5784723" y="2194194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含元数据提交</a:t>
            </a:r>
          </a:p>
        </p:txBody>
      </p:sp>
      <p:sp>
        <p:nvSpPr>
          <p:cNvPr id="13" name="phase3"/>
          <p:cNvSpPr/>
          <p:nvPr/>
        </p:nvSpPr>
        <p:spPr>
          <a:xfrm>
            <a:off x="8001000" y="1760220"/>
            <a:ext cx="1840230" cy="880110"/>
          </a:xfrm>
          <a:prstGeom prst="roundRect">
            <a:avLst>
              <a:gd name="adj" fmla="val 10909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9: 交接完成"/>
          <p:cNvSpPr txBox="1"/>
          <p:nvPr/>
        </p:nvSpPr>
        <p:spPr>
          <a:xfrm>
            <a:off x="8481060" y="1954164"/>
            <a:ext cx="88011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交接完成</a:t>
            </a:r>
          </a:p>
        </p:txBody>
      </p:sp>
      <p:sp>
        <p:nvSpPr>
          <p:cNvPr id="15" name="text-10: 消费者获准使用"/>
          <p:cNvSpPr txBox="1"/>
          <p:nvPr/>
        </p:nvSpPr>
        <p:spPr>
          <a:xfrm>
            <a:off x="8217027" y="2194194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消费者获准使用</a:t>
            </a:r>
          </a:p>
        </p:txBody>
      </p:sp>
      <p:sp>
        <p:nvSpPr>
          <p:cNvPr id="16" name="phase4"/>
          <p:cNvSpPr/>
          <p:nvPr/>
        </p:nvSpPr>
        <p:spPr>
          <a:xfrm>
            <a:off x="10521315" y="1760220"/>
            <a:ext cx="1840230" cy="880110"/>
          </a:xfrm>
          <a:prstGeom prst="roundRect">
            <a:avLst>
              <a:gd name="adj" fmla="val 10909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11: 安全释放"/>
          <p:cNvSpPr txBox="1"/>
          <p:nvPr/>
        </p:nvSpPr>
        <p:spPr>
          <a:xfrm>
            <a:off x="11001375" y="1954164"/>
            <a:ext cx="88011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安全释放</a:t>
            </a:r>
          </a:p>
        </p:txBody>
      </p:sp>
      <p:sp>
        <p:nvSpPr>
          <p:cNvPr id="18" name="text-12: 所有使用者退出"/>
          <p:cNvSpPr txBox="1"/>
          <p:nvPr/>
        </p:nvSpPr>
        <p:spPr>
          <a:xfrm>
            <a:off x="10737342" y="2194194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所有使用者退出</a:t>
            </a:r>
          </a:p>
        </p:txBody>
      </p:sp>
      <p:cxnSp>
        <p:nvCxnSpPr>
          <p:cNvPr id="19" name="phase-edge0"/>
          <p:cNvCxnSpPr/>
          <p:nvPr/>
        </p:nvCxnSpPr>
        <p:spPr>
          <a:xfrm>
            <a:off x="2280285" y="2200275"/>
            <a:ext cx="680085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cxnSp>
        <p:nvCxnSpPr>
          <p:cNvPr id="20" name="phase-edge1"/>
          <p:cNvCxnSpPr/>
          <p:nvPr/>
        </p:nvCxnSpPr>
        <p:spPr>
          <a:xfrm>
            <a:off x="4800600" y="2200275"/>
            <a:ext cx="680085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cxnSp>
        <p:nvCxnSpPr>
          <p:cNvPr id="21" name="phase-edge2"/>
          <p:cNvCxnSpPr/>
          <p:nvPr/>
        </p:nvCxnSpPr>
        <p:spPr>
          <a:xfrm>
            <a:off x="7320915" y="2200275"/>
            <a:ext cx="680085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cxnSp>
        <p:nvCxnSpPr>
          <p:cNvPr id="22" name="phase-edge3"/>
          <p:cNvCxnSpPr/>
          <p:nvPr/>
        </p:nvCxnSpPr>
        <p:spPr>
          <a:xfrm>
            <a:off x="9841230" y="2200275"/>
            <a:ext cx="680085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23" name="fail"/>
          <p:cNvSpPr/>
          <p:nvPr/>
        </p:nvSpPr>
        <p:spPr>
          <a:xfrm>
            <a:off x="520065" y="3880485"/>
            <a:ext cx="2280285" cy="920115"/>
          </a:xfrm>
          <a:prstGeom prst="roundRect">
            <a:avLst>
              <a:gd name="adj" fmla="val 10434"/>
            </a:avLst>
          </a:prstGeom>
          <a:solidFill>
            <a:srgbClr val="FBEAEA"/>
          </a:solidFill>
          <a:ln w="16002" cap="flat">
            <a:solidFill>
              <a:srgbClr val="B653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13: 错误 / 超时"/>
          <p:cNvSpPr txBox="1"/>
          <p:nvPr/>
        </p:nvSpPr>
        <p:spPr>
          <a:xfrm>
            <a:off x="1121659" y="4094432"/>
            <a:ext cx="107709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错误 / 超时</a:t>
            </a:r>
          </a:p>
        </p:txBody>
      </p:sp>
      <p:sp>
        <p:nvSpPr>
          <p:cNvPr id="25" name="text-14: 保存任务与范围"/>
          <p:cNvSpPr txBox="1"/>
          <p:nvPr/>
        </p:nvSpPr>
        <p:spPr>
          <a:xfrm>
            <a:off x="956120" y="4334462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保存任务与范围</a:t>
            </a:r>
          </a:p>
        </p:txBody>
      </p:sp>
      <p:sp>
        <p:nvSpPr>
          <p:cNvPr id="26" name="isolate"/>
          <p:cNvSpPr/>
          <p:nvPr/>
        </p:nvSpPr>
        <p:spPr>
          <a:xfrm>
            <a:off x="3640455" y="3880485"/>
            <a:ext cx="2280285" cy="920115"/>
          </a:xfrm>
          <a:prstGeom prst="roundRect">
            <a:avLst>
              <a:gd name="adj" fmla="val 10434"/>
            </a:avLst>
          </a:prstGeom>
          <a:solidFill>
            <a:srgbClr val="FBEAEA"/>
          </a:solidFill>
          <a:ln w="16002" cap="flat">
            <a:solidFill>
              <a:srgbClr val="B653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15: 停止新提交"/>
          <p:cNvSpPr txBox="1"/>
          <p:nvPr/>
        </p:nvSpPr>
        <p:spPr>
          <a:xfrm>
            <a:off x="4252532" y="4094432"/>
            <a:ext cx="10561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停止新提交</a:t>
            </a:r>
          </a:p>
        </p:txBody>
      </p:sp>
      <p:sp>
        <p:nvSpPr>
          <p:cNvPr id="28" name="text-16: 缓冲保持隔离"/>
          <p:cNvSpPr txBox="1"/>
          <p:nvPr/>
        </p:nvSpPr>
        <p:spPr>
          <a:xfrm>
            <a:off x="4164520" y="4334462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缓冲保持隔离</a:t>
            </a:r>
          </a:p>
        </p:txBody>
      </p:sp>
      <p:sp>
        <p:nvSpPr>
          <p:cNvPr id="29" name="drain"/>
          <p:cNvSpPr/>
          <p:nvPr/>
        </p:nvSpPr>
        <p:spPr>
          <a:xfrm>
            <a:off x="6760845" y="3880485"/>
            <a:ext cx="2280285" cy="920115"/>
          </a:xfrm>
          <a:prstGeom prst="roundRect">
            <a:avLst>
              <a:gd name="adj" fmla="val 10434"/>
            </a:avLst>
          </a:prstGeom>
          <a:solidFill>
            <a:srgbClr val="FBEAEA"/>
          </a:solidFill>
          <a:ln w="16002" cap="flat">
            <a:solidFill>
              <a:srgbClr val="B653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17: 排空 / 受控复位"/>
          <p:cNvSpPr txBox="1"/>
          <p:nvPr/>
        </p:nvSpPr>
        <p:spPr>
          <a:xfrm>
            <a:off x="7186417" y="4094432"/>
            <a:ext cx="142914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排空 / 受控复位</a:t>
            </a:r>
          </a:p>
        </p:txBody>
      </p:sp>
      <p:sp>
        <p:nvSpPr>
          <p:cNvPr id="31" name="text-18: 证明旧访问终止"/>
          <p:cNvSpPr txBox="1"/>
          <p:nvPr/>
        </p:nvSpPr>
        <p:spPr>
          <a:xfrm>
            <a:off x="7196900" y="4334462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证明旧访问终止</a:t>
            </a:r>
          </a:p>
        </p:txBody>
      </p:sp>
      <p:sp>
        <p:nvSpPr>
          <p:cNvPr id="32" name="rebuild"/>
          <p:cNvSpPr/>
          <p:nvPr/>
        </p:nvSpPr>
        <p:spPr>
          <a:xfrm>
            <a:off x="9881235" y="3880485"/>
            <a:ext cx="2280285" cy="920115"/>
          </a:xfrm>
          <a:prstGeom prst="roundRect">
            <a:avLst>
              <a:gd name="adj" fmla="val 10434"/>
            </a:avLst>
          </a:prstGeom>
          <a:solidFill>
            <a:srgbClr val="FBEAEA"/>
          </a:solidFill>
          <a:ln w="16002" cap="flat">
            <a:solidFill>
              <a:srgbClr val="B653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19: 废弃部分结果"/>
          <p:cNvSpPr txBox="1"/>
          <p:nvPr/>
        </p:nvSpPr>
        <p:spPr>
          <a:xfrm>
            <a:off x="10405300" y="4094432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废弃部分结果</a:t>
            </a:r>
          </a:p>
        </p:txBody>
      </p:sp>
      <p:sp>
        <p:nvSpPr>
          <p:cNvPr id="34" name="text-20: 可靠输入重建"/>
          <p:cNvSpPr txBox="1"/>
          <p:nvPr/>
        </p:nvSpPr>
        <p:spPr>
          <a:xfrm>
            <a:off x="10405300" y="4334462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可靠输入重建</a:t>
            </a:r>
          </a:p>
        </p:txBody>
      </p:sp>
      <p:cxnSp>
        <p:nvCxnSpPr>
          <p:cNvPr id="35" name="recover0"/>
          <p:cNvCxnSpPr/>
          <p:nvPr/>
        </p:nvCxnSpPr>
        <p:spPr>
          <a:xfrm>
            <a:off x="2800350" y="4344543"/>
            <a:ext cx="840105" cy="0"/>
          </a:xfrm>
          <a:prstGeom prst="line">
            <a:avLst/>
          </a:prstGeom>
          <a:ln w="24003" cap="flat">
            <a:solidFill>
              <a:srgbClr val="B65353"/>
            </a:solidFill>
            <a:tailEnd type="triangle" w="med" len="med"/>
          </a:ln>
          <a:effectLst/>
        </p:spPr>
      </p:cxnSp>
      <p:cxnSp>
        <p:nvCxnSpPr>
          <p:cNvPr id="36" name="recover1"/>
          <p:cNvCxnSpPr/>
          <p:nvPr/>
        </p:nvCxnSpPr>
        <p:spPr>
          <a:xfrm>
            <a:off x="5920740" y="4344543"/>
            <a:ext cx="840105" cy="0"/>
          </a:xfrm>
          <a:prstGeom prst="line">
            <a:avLst/>
          </a:prstGeom>
          <a:ln w="24003" cap="flat">
            <a:solidFill>
              <a:srgbClr val="B65353"/>
            </a:solidFill>
            <a:tailEnd type="triangle" w="med" len="med"/>
          </a:ln>
          <a:effectLst/>
        </p:spPr>
      </p:cxnSp>
      <p:cxnSp>
        <p:nvCxnSpPr>
          <p:cNvPr id="37" name="recover2"/>
          <p:cNvCxnSpPr/>
          <p:nvPr/>
        </p:nvCxnSpPr>
        <p:spPr>
          <a:xfrm>
            <a:off x="9041130" y="4344543"/>
            <a:ext cx="840105" cy="0"/>
          </a:xfrm>
          <a:prstGeom prst="line">
            <a:avLst/>
          </a:prstGeom>
          <a:ln w="24003" cap="flat">
            <a:solidFill>
              <a:srgbClr val="B65353"/>
            </a:solidFill>
            <a:tailEnd type="triangle" w="med" len="med"/>
          </a:ln>
          <a:effectLst/>
        </p:spPr>
      </p:cxnSp>
      <p:sp>
        <p:nvSpPr>
          <p:cNvPr id="38" name="failure-branch0"/>
          <p:cNvSpPr/>
          <p:nvPr/>
        </p:nvSpPr>
        <p:spPr>
          <a:xfrm>
            <a:off x="1360170" y="2640330"/>
            <a:ext cx="320040" cy="1240155"/>
          </a:xfrm>
          <a:custGeom>
            <a:avLst/>
            <a:gdLst/>
            <a:ahLst/>
            <a:cxnLst/>
            <a:rect l="0" t="0" r="r" b="b"/>
            <a:pathLst>
              <a:path w="320040" h="1240155" fill="none">
                <a:moveTo>
                  <a:pt x="0" y="0"/>
                </a:moveTo>
                <a:lnTo>
                  <a:pt x="0" y="600075"/>
                </a:lnTo>
                <a:lnTo>
                  <a:pt x="320040" y="600075"/>
                </a:lnTo>
                <a:lnTo>
                  <a:pt x="320040" y="1240155"/>
                </a:lnTo>
              </a:path>
            </a:pathLst>
          </a:custGeom>
          <a:noFill/>
          <a:ln w="24003" cap="flat">
            <a:solidFill>
              <a:srgbClr val="B6535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failure-branch1"/>
          <p:cNvSpPr/>
          <p:nvPr/>
        </p:nvSpPr>
        <p:spPr>
          <a:xfrm>
            <a:off x="1680210" y="2640330"/>
            <a:ext cx="2200275" cy="1240155"/>
          </a:xfrm>
          <a:custGeom>
            <a:avLst/>
            <a:gdLst/>
            <a:ahLst/>
            <a:cxnLst/>
            <a:rect l="0" t="0" r="r" b="b"/>
            <a:pathLst>
              <a:path w="2200275" h="1240155" fill="none">
                <a:moveTo>
                  <a:pt x="2200275" y="0"/>
                </a:moveTo>
                <a:lnTo>
                  <a:pt x="2200275" y="600075"/>
                </a:lnTo>
                <a:lnTo>
                  <a:pt x="0" y="600075"/>
                </a:lnTo>
                <a:lnTo>
                  <a:pt x="0" y="1240155"/>
                </a:lnTo>
              </a:path>
            </a:pathLst>
          </a:custGeom>
          <a:noFill/>
          <a:ln w="24003" cap="flat">
            <a:solidFill>
              <a:srgbClr val="B6535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failure-branch2"/>
          <p:cNvSpPr/>
          <p:nvPr/>
        </p:nvSpPr>
        <p:spPr>
          <a:xfrm>
            <a:off x="1680210" y="2640330"/>
            <a:ext cx="4720590" cy="1240155"/>
          </a:xfrm>
          <a:custGeom>
            <a:avLst/>
            <a:gdLst/>
            <a:ahLst/>
            <a:cxnLst/>
            <a:rect l="0" t="0" r="r" b="b"/>
            <a:pathLst>
              <a:path w="4720590" h="1240155" fill="none">
                <a:moveTo>
                  <a:pt x="4720590" y="0"/>
                </a:moveTo>
                <a:lnTo>
                  <a:pt x="4720590" y="600075"/>
                </a:lnTo>
                <a:lnTo>
                  <a:pt x="0" y="600075"/>
                </a:lnTo>
                <a:lnTo>
                  <a:pt x="0" y="1240155"/>
                </a:lnTo>
              </a:path>
            </a:pathLst>
          </a:custGeom>
          <a:noFill/>
          <a:ln w="24003" cap="flat">
            <a:solidFill>
              <a:srgbClr val="B6535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failure-branch3"/>
          <p:cNvSpPr/>
          <p:nvPr/>
        </p:nvSpPr>
        <p:spPr>
          <a:xfrm>
            <a:off x="1680210" y="2640330"/>
            <a:ext cx="7240905" cy="1240155"/>
          </a:xfrm>
          <a:custGeom>
            <a:avLst/>
            <a:gdLst/>
            <a:ahLst/>
            <a:cxnLst/>
            <a:rect l="0" t="0" r="r" b="b"/>
            <a:pathLst>
              <a:path w="7240905" h="1240155" fill="none">
                <a:moveTo>
                  <a:pt x="7240905" y="0"/>
                </a:moveTo>
                <a:lnTo>
                  <a:pt x="7240905" y="600075"/>
                </a:lnTo>
                <a:lnTo>
                  <a:pt x="0" y="600075"/>
                </a:lnTo>
                <a:lnTo>
                  <a:pt x="0" y="1240155"/>
                </a:lnTo>
              </a:path>
            </a:pathLst>
          </a:custGeom>
          <a:noFill/>
          <a:ln w="24003" cap="flat">
            <a:solidFill>
              <a:srgbClr val="B6535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21: 任一未释放阶段检测到错误 / 超时"/>
          <p:cNvSpPr txBox="1"/>
          <p:nvPr/>
        </p:nvSpPr>
        <p:spPr>
          <a:xfrm>
            <a:off x="3640455" y="3427628"/>
            <a:ext cx="2579397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任一未释放阶段检测到错误 / 超时</a:t>
            </a:r>
          </a:p>
        </p:txBody>
      </p:sp>
      <p:sp>
        <p:nvSpPr>
          <p:cNvPr id="43" name="rebuild-free"/>
          <p:cNvSpPr/>
          <p:nvPr/>
        </p:nvSpPr>
        <p:spPr>
          <a:xfrm>
            <a:off x="11041380" y="2640330"/>
            <a:ext cx="400050" cy="1240155"/>
          </a:xfrm>
          <a:custGeom>
            <a:avLst/>
            <a:gdLst/>
            <a:ahLst/>
            <a:cxnLst/>
            <a:rect l="0" t="0" r="r" b="b"/>
            <a:pathLst>
              <a:path w="400050" h="1240155" fill="none">
                <a:moveTo>
                  <a:pt x="0" y="1240155"/>
                </a:moveTo>
                <a:lnTo>
                  <a:pt x="0" y="560070"/>
                </a:lnTo>
                <a:lnTo>
                  <a:pt x="400050" y="560070"/>
                </a:lnTo>
                <a:lnTo>
                  <a:pt x="400050" y="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still-active"/>
          <p:cNvSpPr/>
          <p:nvPr/>
        </p:nvSpPr>
        <p:spPr>
          <a:xfrm>
            <a:off x="4760595" y="4800600"/>
            <a:ext cx="3120390" cy="1040130"/>
          </a:xfrm>
          <a:custGeom>
            <a:avLst/>
            <a:gdLst/>
            <a:ahLst/>
            <a:cxnLst/>
            <a:rect l="0" t="0" r="r" b="b"/>
            <a:pathLst>
              <a:path w="3120390" h="1040130" fill="none">
                <a:moveTo>
                  <a:pt x="3120390" y="0"/>
                </a:moveTo>
                <a:lnTo>
                  <a:pt x="3120390" y="1040130"/>
                </a:lnTo>
                <a:lnTo>
                  <a:pt x="0" y="1040130"/>
                </a:lnTo>
                <a:lnTo>
                  <a:pt x="0" y="0"/>
                </a:lnTo>
              </a:path>
            </a:pathLst>
          </a:custGeom>
          <a:noFill/>
          <a:ln w="24003" cap="flat">
            <a:solidFill>
              <a:srgbClr val="B6535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22: 仍可能访问旧地址：保持隔离，上报平台故障"/>
          <p:cNvSpPr txBox="1"/>
          <p:nvPr/>
        </p:nvSpPr>
        <p:spPr>
          <a:xfrm>
            <a:off x="4800600" y="5987948"/>
            <a:ext cx="336042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仍可能访问旧地址：保持隔离，上报平台故障</a:t>
            </a:r>
          </a:p>
        </p:txBody>
      </p:sp>
      <p:sp>
        <p:nvSpPr>
          <p:cNvPr id="46" name="text-23: epoch / token 可识别迟到事件，但不能阻止迟到写；复位也不会补齐部分"/>
          <p:cNvSpPr txBox="1"/>
          <p:nvPr/>
        </p:nvSpPr>
        <p:spPr>
          <a:xfrm>
            <a:off x="520065" y="6259342"/>
            <a:ext cx="6131279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epoch / token 可识别迟到事件，但不能阻止迟到写；复位也不会补齐部分结果。</a:t>
            </a:r>
          </a:p>
        </p:txBody>
      </p:sp>
      <p:cxnSp>
        <p:nvCxnSpPr>
          <p:cNvPr id="47" name="legend-data"/>
          <p:cNvCxnSpPr/>
          <p:nvPr/>
        </p:nvCxnSpPr>
        <p:spPr>
          <a:xfrm>
            <a:off x="440055" y="6864858"/>
            <a:ext cx="384048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48" name="text-24: 数据 / 请求"/>
          <p:cNvSpPr txBox="1"/>
          <p:nvPr/>
        </p:nvSpPr>
        <p:spPr>
          <a:xfrm>
            <a:off x="94411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数据 / 请求</a:t>
            </a:r>
          </a:p>
        </p:txBody>
      </p:sp>
      <p:cxnSp>
        <p:nvCxnSpPr>
          <p:cNvPr id="49" name="legend-control"/>
          <p:cNvCxnSpPr/>
          <p:nvPr/>
        </p:nvCxnSpPr>
        <p:spPr>
          <a:xfrm>
            <a:off x="2720340" y="6864858"/>
            <a:ext cx="384048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sp>
        <p:nvSpPr>
          <p:cNvPr id="50" name="text-25: 配置 / 控制"/>
          <p:cNvSpPr txBox="1"/>
          <p:nvPr/>
        </p:nvSpPr>
        <p:spPr>
          <a:xfrm>
            <a:off x="322440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cxnSp>
        <p:nvCxnSpPr>
          <p:cNvPr id="51" name="legend-done"/>
          <p:cNvCxnSpPr/>
          <p:nvPr/>
        </p:nvCxnSpPr>
        <p:spPr>
          <a:xfrm>
            <a:off x="5000625" y="6864858"/>
            <a:ext cx="384048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52" name="text-26: 完成 / 交接"/>
          <p:cNvSpPr txBox="1"/>
          <p:nvPr/>
        </p:nvSpPr>
        <p:spPr>
          <a:xfrm>
            <a:off x="550468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完成 / 交接</a:t>
            </a:r>
          </a:p>
        </p:txBody>
      </p:sp>
      <p:cxnSp>
        <p:nvCxnSpPr>
          <p:cNvPr id="53" name="legend-error"/>
          <p:cNvCxnSpPr/>
          <p:nvPr/>
        </p:nvCxnSpPr>
        <p:spPr>
          <a:xfrm>
            <a:off x="7280910" y="6864858"/>
            <a:ext cx="384048" cy="0"/>
          </a:xfrm>
          <a:prstGeom prst="line">
            <a:avLst/>
          </a:prstGeom>
          <a:ln w="24003" cap="flat">
            <a:solidFill>
              <a:srgbClr val="B65353"/>
            </a:solidFill>
            <a:tailEnd type="triangle" w="med" len="med"/>
          </a:ln>
          <a:effectLst/>
        </p:spPr>
      </p:cxnSp>
      <p:sp>
        <p:nvSpPr>
          <p:cNvPr id="54" name="text-27: 故障 / 恢复"/>
          <p:cNvSpPr txBox="1"/>
          <p:nvPr/>
        </p:nvSpPr>
        <p:spPr>
          <a:xfrm>
            <a:off x="778497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故障 / 恢复</a:t>
            </a:r>
          </a:p>
        </p:txBody>
      </p:sp>
      <p:sp>
        <p:nvSpPr>
          <p:cNvPr id="55" name="text-28: 07 / 13"/>
          <p:cNvSpPr txBox="1"/>
          <p:nvPr/>
        </p:nvSpPr>
        <p:spPr>
          <a:xfrm>
            <a:off x="11594774" y="6756684"/>
            <a:ext cx="68676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1: 08  AXI 适配：五个通道分别保持语义"/>
          <p:cNvSpPr txBox="1"/>
          <p:nvPr/>
        </p:nvSpPr>
        <p:spPr>
          <a:xfrm>
            <a:off x="400050" y="162260"/>
            <a:ext cx="4748931" cy="4352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42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08  AXI 适配：五个通道分别保持语义</a:t>
            </a:r>
          </a:p>
        </p:txBody>
      </p:sp>
      <p:sp>
        <p:nvSpPr>
          <p:cNvPr id="3" name="text-2: 同一模块要处理位宽、ID、字节选通、顺序、背压与错误归属。"/>
          <p:cNvSpPr txBox="1"/>
          <p:nvPr/>
        </p:nvSpPr>
        <p:spPr>
          <a:xfrm>
            <a:off x="400050" y="610636"/>
            <a:ext cx="4858982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同一模块要处理位宽、ID、字节选通、顺序、背压与错误归属。</a:t>
            </a:r>
          </a:p>
        </p:txBody>
      </p:sp>
      <p:sp>
        <p:nvSpPr>
          <p:cNvPr id="4" name="rect-3"/>
          <p:cNvSpPr/>
          <p:nvPr/>
        </p:nvSpPr>
        <p:spPr>
          <a:xfrm>
            <a:off x="400050" y="1240155"/>
            <a:ext cx="2920365" cy="4640580"/>
          </a:xfrm>
          <a:prstGeom prst="roundRect">
            <a:avLst>
              <a:gd name="adj" fmla="val 4383"/>
            </a:avLst>
          </a:prstGeom>
          <a:solidFill>
            <a:srgbClr val="F1F4F7"/>
          </a:solidFill>
          <a:ln w="16002" cap="flat">
            <a:solidFill>
              <a:srgbClr val="B7C4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4: 上游发起端"/>
          <p:cNvSpPr txBox="1"/>
          <p:nvPr/>
        </p:nvSpPr>
        <p:spPr>
          <a:xfrm>
            <a:off x="560070" y="1306083"/>
            <a:ext cx="10561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上游发起端</a:t>
            </a:r>
          </a:p>
        </p:txBody>
      </p:sp>
      <p:sp>
        <p:nvSpPr>
          <p:cNvPr id="6" name="rect-5"/>
          <p:cNvSpPr/>
          <p:nvPr/>
        </p:nvSpPr>
        <p:spPr>
          <a:xfrm>
            <a:off x="4520565" y="1240155"/>
            <a:ext cx="3760470" cy="4640580"/>
          </a:xfrm>
          <a:prstGeom prst="roundRect">
            <a:avLst>
              <a:gd name="adj" fmla="val 3404"/>
            </a:avLst>
          </a:prstGeom>
          <a:solidFill>
            <a:srgbClr val="F1F4F7"/>
          </a:solidFill>
          <a:ln w="16002" cap="flat">
            <a:solidFill>
              <a:srgbClr val="B7C4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6: 适配 / 队列 / CDC（按实际边界）"/>
          <p:cNvSpPr txBox="1"/>
          <p:nvPr/>
        </p:nvSpPr>
        <p:spPr>
          <a:xfrm>
            <a:off x="4680585" y="1306083"/>
            <a:ext cx="284024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适配 / 队列 / CDC（按实际边界）</a:t>
            </a:r>
          </a:p>
        </p:txBody>
      </p:sp>
      <p:sp>
        <p:nvSpPr>
          <p:cNvPr id="8" name="rect-7"/>
          <p:cNvSpPr/>
          <p:nvPr/>
        </p:nvSpPr>
        <p:spPr>
          <a:xfrm>
            <a:off x="9481185" y="1240155"/>
            <a:ext cx="2920365" cy="4640580"/>
          </a:xfrm>
          <a:prstGeom prst="roundRect">
            <a:avLst>
              <a:gd name="adj" fmla="val 4383"/>
            </a:avLst>
          </a:prstGeom>
          <a:solidFill>
            <a:srgbClr val="F1F4F7"/>
          </a:solidFill>
          <a:ln w="16002" cap="flat">
            <a:solidFill>
              <a:srgbClr val="B7C4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8: 下游接收端"/>
          <p:cNvSpPr txBox="1"/>
          <p:nvPr/>
        </p:nvSpPr>
        <p:spPr>
          <a:xfrm>
            <a:off x="9641205" y="1306083"/>
            <a:ext cx="10561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下游接收端</a:t>
            </a:r>
          </a:p>
        </p:txBody>
      </p:sp>
      <p:sp>
        <p:nvSpPr>
          <p:cNvPr id="10" name="up-AW"/>
          <p:cNvSpPr/>
          <p:nvPr/>
        </p:nvSpPr>
        <p:spPr>
          <a:xfrm>
            <a:off x="600075" y="1880235"/>
            <a:ext cx="2520315" cy="520065"/>
          </a:xfrm>
          <a:prstGeom prst="roundRect">
            <a:avLst>
              <a:gd name="adj" fmla="val 18461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9: AW  请求发送"/>
          <p:cNvSpPr txBox="1"/>
          <p:nvPr/>
        </p:nvSpPr>
        <p:spPr>
          <a:xfrm>
            <a:off x="1246049" y="2014172"/>
            <a:ext cx="122836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AW  请求发送</a:t>
            </a:r>
          </a:p>
        </p:txBody>
      </p:sp>
      <p:sp>
        <p:nvSpPr>
          <p:cNvPr id="12" name="adapt-AW"/>
          <p:cNvSpPr/>
          <p:nvPr/>
        </p:nvSpPr>
        <p:spPr>
          <a:xfrm>
            <a:off x="4720590" y="1880235"/>
            <a:ext cx="3360420" cy="520065"/>
          </a:xfrm>
          <a:prstGeom prst="roundRect">
            <a:avLst>
              <a:gd name="adj" fmla="val 18461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10: 地址 / ID / burst"/>
          <p:cNvSpPr txBox="1"/>
          <p:nvPr/>
        </p:nvSpPr>
        <p:spPr>
          <a:xfrm>
            <a:off x="5662083" y="2014172"/>
            <a:ext cx="147743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地址 / ID / burst</a:t>
            </a:r>
          </a:p>
        </p:txBody>
      </p:sp>
      <p:sp>
        <p:nvSpPr>
          <p:cNvPr id="14" name="down-AW"/>
          <p:cNvSpPr/>
          <p:nvPr/>
        </p:nvSpPr>
        <p:spPr>
          <a:xfrm>
            <a:off x="9681210" y="1880235"/>
            <a:ext cx="2520315" cy="520065"/>
          </a:xfrm>
          <a:prstGeom prst="roundRect">
            <a:avLst>
              <a:gd name="adj" fmla="val 18461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11: AW  请求接收"/>
          <p:cNvSpPr txBox="1"/>
          <p:nvPr/>
        </p:nvSpPr>
        <p:spPr>
          <a:xfrm>
            <a:off x="10327184" y="2014172"/>
            <a:ext cx="122836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AW  请求接收</a:t>
            </a:r>
          </a:p>
        </p:txBody>
      </p:sp>
      <p:cxnSp>
        <p:nvCxnSpPr>
          <p:cNvPr id="16" name="AW0"/>
          <p:cNvCxnSpPr/>
          <p:nvPr/>
        </p:nvCxnSpPr>
        <p:spPr>
          <a:xfrm>
            <a:off x="3120390" y="2136267"/>
            <a:ext cx="1600200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cxnSp>
        <p:nvCxnSpPr>
          <p:cNvPr id="17" name="AW1"/>
          <p:cNvCxnSpPr/>
          <p:nvPr/>
        </p:nvCxnSpPr>
        <p:spPr>
          <a:xfrm>
            <a:off x="8081010" y="2136267"/>
            <a:ext cx="1600200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18" name="up-W"/>
          <p:cNvSpPr/>
          <p:nvPr/>
        </p:nvSpPr>
        <p:spPr>
          <a:xfrm>
            <a:off x="600075" y="2640330"/>
            <a:ext cx="2520315" cy="520065"/>
          </a:xfrm>
          <a:prstGeom prst="roundRect">
            <a:avLst>
              <a:gd name="adj" fmla="val 18461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12: W  请求发送"/>
          <p:cNvSpPr txBox="1"/>
          <p:nvPr/>
        </p:nvSpPr>
        <p:spPr>
          <a:xfrm>
            <a:off x="1295299" y="2774267"/>
            <a:ext cx="112986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W  请求发送</a:t>
            </a:r>
          </a:p>
        </p:txBody>
      </p:sp>
      <p:sp>
        <p:nvSpPr>
          <p:cNvPr id="20" name="adapt-W"/>
          <p:cNvSpPr/>
          <p:nvPr/>
        </p:nvSpPr>
        <p:spPr>
          <a:xfrm>
            <a:off x="4720590" y="2640330"/>
            <a:ext cx="3360420" cy="520065"/>
          </a:xfrm>
          <a:prstGeom prst="roundRect">
            <a:avLst>
              <a:gd name="adj" fmla="val 18461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13: 数据 / WSTRB / LAST"/>
          <p:cNvSpPr txBox="1"/>
          <p:nvPr/>
        </p:nvSpPr>
        <p:spPr>
          <a:xfrm>
            <a:off x="5468427" y="2774267"/>
            <a:ext cx="186474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数据 / WSTRB / LAST</a:t>
            </a:r>
          </a:p>
        </p:txBody>
      </p:sp>
      <p:sp>
        <p:nvSpPr>
          <p:cNvPr id="22" name="down-W"/>
          <p:cNvSpPr/>
          <p:nvPr/>
        </p:nvSpPr>
        <p:spPr>
          <a:xfrm>
            <a:off x="9681210" y="2640330"/>
            <a:ext cx="2520315" cy="520065"/>
          </a:xfrm>
          <a:prstGeom prst="roundRect">
            <a:avLst>
              <a:gd name="adj" fmla="val 18461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14: W  请求接收"/>
          <p:cNvSpPr txBox="1"/>
          <p:nvPr/>
        </p:nvSpPr>
        <p:spPr>
          <a:xfrm>
            <a:off x="10376434" y="2774267"/>
            <a:ext cx="112986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W  请求接收</a:t>
            </a:r>
          </a:p>
        </p:txBody>
      </p:sp>
      <p:cxnSp>
        <p:nvCxnSpPr>
          <p:cNvPr id="24" name="W0"/>
          <p:cNvCxnSpPr/>
          <p:nvPr/>
        </p:nvCxnSpPr>
        <p:spPr>
          <a:xfrm>
            <a:off x="3120390" y="2896362"/>
            <a:ext cx="1600200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cxnSp>
        <p:nvCxnSpPr>
          <p:cNvPr id="25" name="W1"/>
          <p:cNvCxnSpPr/>
          <p:nvPr/>
        </p:nvCxnSpPr>
        <p:spPr>
          <a:xfrm>
            <a:off x="8081010" y="2896362"/>
            <a:ext cx="1600200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26" name="up-B"/>
          <p:cNvSpPr/>
          <p:nvPr/>
        </p:nvSpPr>
        <p:spPr>
          <a:xfrm>
            <a:off x="600075" y="3400425"/>
            <a:ext cx="2520315" cy="520065"/>
          </a:xfrm>
          <a:prstGeom prst="roundRect">
            <a:avLst>
              <a:gd name="adj" fmla="val 18461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15: B  响应接收"/>
          <p:cNvSpPr txBox="1"/>
          <p:nvPr/>
        </p:nvSpPr>
        <p:spPr>
          <a:xfrm>
            <a:off x="1312914" y="3534362"/>
            <a:ext cx="109463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B  响应接收</a:t>
            </a:r>
          </a:p>
        </p:txBody>
      </p:sp>
      <p:sp>
        <p:nvSpPr>
          <p:cNvPr id="28" name="adapt-B"/>
          <p:cNvSpPr/>
          <p:nvPr/>
        </p:nvSpPr>
        <p:spPr>
          <a:xfrm>
            <a:off x="4720590" y="3400425"/>
            <a:ext cx="3360420" cy="520065"/>
          </a:xfrm>
          <a:prstGeom prst="roundRect">
            <a:avLst>
              <a:gd name="adj" fmla="val 18461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16: ID / BRESP"/>
          <p:cNvSpPr txBox="1"/>
          <p:nvPr/>
        </p:nvSpPr>
        <p:spPr>
          <a:xfrm>
            <a:off x="5871434" y="3534362"/>
            <a:ext cx="10587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ID / BRESP</a:t>
            </a:r>
          </a:p>
        </p:txBody>
      </p:sp>
      <p:sp>
        <p:nvSpPr>
          <p:cNvPr id="30" name="down-B"/>
          <p:cNvSpPr/>
          <p:nvPr/>
        </p:nvSpPr>
        <p:spPr>
          <a:xfrm>
            <a:off x="9681210" y="3400425"/>
            <a:ext cx="2520315" cy="520065"/>
          </a:xfrm>
          <a:prstGeom prst="roundRect">
            <a:avLst>
              <a:gd name="adj" fmla="val 18461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17: B  响应发送"/>
          <p:cNvSpPr txBox="1"/>
          <p:nvPr/>
        </p:nvSpPr>
        <p:spPr>
          <a:xfrm>
            <a:off x="10394049" y="3534362"/>
            <a:ext cx="109463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B  响应发送</a:t>
            </a:r>
          </a:p>
        </p:txBody>
      </p:sp>
      <p:cxnSp>
        <p:nvCxnSpPr>
          <p:cNvPr id="32" name="B0"/>
          <p:cNvCxnSpPr/>
          <p:nvPr/>
        </p:nvCxnSpPr>
        <p:spPr>
          <a:xfrm flipH="1">
            <a:off x="3120390" y="3656457"/>
            <a:ext cx="1600200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cxnSp>
        <p:nvCxnSpPr>
          <p:cNvPr id="33" name="B1"/>
          <p:cNvCxnSpPr/>
          <p:nvPr/>
        </p:nvCxnSpPr>
        <p:spPr>
          <a:xfrm flipH="1">
            <a:off x="8081010" y="3656457"/>
            <a:ext cx="1600200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34" name="up-AR"/>
          <p:cNvSpPr/>
          <p:nvPr/>
        </p:nvSpPr>
        <p:spPr>
          <a:xfrm>
            <a:off x="600075" y="4160520"/>
            <a:ext cx="2520315" cy="520065"/>
          </a:xfrm>
          <a:prstGeom prst="roundRect">
            <a:avLst>
              <a:gd name="adj" fmla="val 18461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18: AR  请求发送"/>
          <p:cNvSpPr txBox="1"/>
          <p:nvPr/>
        </p:nvSpPr>
        <p:spPr>
          <a:xfrm>
            <a:off x="1263664" y="4294457"/>
            <a:ext cx="119313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AR  请求发送</a:t>
            </a:r>
          </a:p>
        </p:txBody>
      </p:sp>
      <p:sp>
        <p:nvSpPr>
          <p:cNvPr id="36" name="adapt-AR"/>
          <p:cNvSpPr/>
          <p:nvPr/>
        </p:nvSpPr>
        <p:spPr>
          <a:xfrm>
            <a:off x="4720590" y="4160520"/>
            <a:ext cx="3360420" cy="520065"/>
          </a:xfrm>
          <a:prstGeom prst="roundRect">
            <a:avLst>
              <a:gd name="adj" fmla="val 18461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19: 地址 / ID / burst"/>
          <p:cNvSpPr txBox="1"/>
          <p:nvPr/>
        </p:nvSpPr>
        <p:spPr>
          <a:xfrm>
            <a:off x="5662083" y="4294457"/>
            <a:ext cx="147743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地址 / ID / burst</a:t>
            </a:r>
          </a:p>
        </p:txBody>
      </p:sp>
      <p:sp>
        <p:nvSpPr>
          <p:cNvPr id="38" name="down-AR"/>
          <p:cNvSpPr/>
          <p:nvPr/>
        </p:nvSpPr>
        <p:spPr>
          <a:xfrm>
            <a:off x="9681210" y="4160520"/>
            <a:ext cx="2520315" cy="520065"/>
          </a:xfrm>
          <a:prstGeom prst="roundRect">
            <a:avLst>
              <a:gd name="adj" fmla="val 18461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20: AR  请求接收"/>
          <p:cNvSpPr txBox="1"/>
          <p:nvPr/>
        </p:nvSpPr>
        <p:spPr>
          <a:xfrm>
            <a:off x="10344799" y="4294457"/>
            <a:ext cx="119313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AR  请求接收</a:t>
            </a:r>
          </a:p>
        </p:txBody>
      </p:sp>
      <p:cxnSp>
        <p:nvCxnSpPr>
          <p:cNvPr id="40" name="AR0"/>
          <p:cNvCxnSpPr/>
          <p:nvPr/>
        </p:nvCxnSpPr>
        <p:spPr>
          <a:xfrm>
            <a:off x="3120390" y="4416552"/>
            <a:ext cx="1600200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cxnSp>
        <p:nvCxnSpPr>
          <p:cNvPr id="41" name="AR1"/>
          <p:cNvCxnSpPr/>
          <p:nvPr/>
        </p:nvCxnSpPr>
        <p:spPr>
          <a:xfrm>
            <a:off x="8081010" y="4416552"/>
            <a:ext cx="1600200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42" name="up-R"/>
          <p:cNvSpPr/>
          <p:nvPr/>
        </p:nvSpPr>
        <p:spPr>
          <a:xfrm>
            <a:off x="600075" y="4920615"/>
            <a:ext cx="2520315" cy="520065"/>
          </a:xfrm>
          <a:prstGeom prst="roundRect">
            <a:avLst>
              <a:gd name="adj" fmla="val 18461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21: R  响应接收"/>
          <p:cNvSpPr txBox="1"/>
          <p:nvPr/>
        </p:nvSpPr>
        <p:spPr>
          <a:xfrm>
            <a:off x="1312914" y="5054552"/>
            <a:ext cx="109463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R  响应接收</a:t>
            </a:r>
          </a:p>
        </p:txBody>
      </p:sp>
      <p:sp>
        <p:nvSpPr>
          <p:cNvPr id="44" name="adapt-R"/>
          <p:cNvSpPr/>
          <p:nvPr/>
        </p:nvSpPr>
        <p:spPr>
          <a:xfrm>
            <a:off x="4720590" y="4920615"/>
            <a:ext cx="3360420" cy="520065"/>
          </a:xfrm>
          <a:prstGeom prst="roundRect">
            <a:avLst>
              <a:gd name="adj" fmla="val 18461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22: 数据 / ID / RRESP / LAST"/>
          <p:cNvSpPr txBox="1"/>
          <p:nvPr/>
        </p:nvSpPr>
        <p:spPr>
          <a:xfrm>
            <a:off x="5306670" y="5054552"/>
            <a:ext cx="218826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数据 / ID / RRESP / LAST</a:t>
            </a:r>
          </a:p>
        </p:txBody>
      </p:sp>
      <p:sp>
        <p:nvSpPr>
          <p:cNvPr id="46" name="down-R"/>
          <p:cNvSpPr/>
          <p:nvPr/>
        </p:nvSpPr>
        <p:spPr>
          <a:xfrm>
            <a:off x="9681210" y="4920615"/>
            <a:ext cx="2520315" cy="520065"/>
          </a:xfrm>
          <a:prstGeom prst="roundRect">
            <a:avLst>
              <a:gd name="adj" fmla="val 18461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23: R  响应发送"/>
          <p:cNvSpPr txBox="1"/>
          <p:nvPr/>
        </p:nvSpPr>
        <p:spPr>
          <a:xfrm>
            <a:off x="10394049" y="5054552"/>
            <a:ext cx="109463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R  响应发送</a:t>
            </a:r>
          </a:p>
        </p:txBody>
      </p:sp>
      <p:cxnSp>
        <p:nvCxnSpPr>
          <p:cNvPr id="48" name="R0"/>
          <p:cNvCxnSpPr/>
          <p:nvPr/>
        </p:nvCxnSpPr>
        <p:spPr>
          <a:xfrm flipH="1">
            <a:off x="3120390" y="5176647"/>
            <a:ext cx="1600200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cxnSp>
        <p:nvCxnSpPr>
          <p:cNvPr id="49" name="R1"/>
          <p:cNvCxnSpPr/>
          <p:nvPr/>
        </p:nvCxnSpPr>
        <p:spPr>
          <a:xfrm flipH="1">
            <a:off x="8081010" y="5176647"/>
            <a:ext cx="1600200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50" name="text-24: 每通道 VALID/READY 独立；AW/W 不保证同拍，背压时载荷保持，响应"/>
          <p:cNvSpPr txBox="1"/>
          <p:nvPr/>
        </p:nvSpPr>
        <p:spPr>
          <a:xfrm>
            <a:off x="560070" y="6139327"/>
            <a:ext cx="6658995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每通道 VALID/READY 独立；AW/W 不保证同拍，背压时载荷保持，响应回到正确来源。</a:t>
            </a:r>
          </a:p>
        </p:txBody>
      </p:sp>
      <p:cxnSp>
        <p:nvCxnSpPr>
          <p:cNvPr id="51" name="legend-data"/>
          <p:cNvCxnSpPr/>
          <p:nvPr/>
        </p:nvCxnSpPr>
        <p:spPr>
          <a:xfrm>
            <a:off x="440055" y="6864858"/>
            <a:ext cx="384048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52" name="text-25: 数据 / 请求"/>
          <p:cNvSpPr txBox="1"/>
          <p:nvPr/>
        </p:nvSpPr>
        <p:spPr>
          <a:xfrm>
            <a:off x="94411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数据 / 请求</a:t>
            </a:r>
          </a:p>
        </p:txBody>
      </p:sp>
      <p:cxnSp>
        <p:nvCxnSpPr>
          <p:cNvPr id="53" name="legend-control"/>
          <p:cNvCxnSpPr/>
          <p:nvPr/>
        </p:nvCxnSpPr>
        <p:spPr>
          <a:xfrm>
            <a:off x="2720340" y="6864858"/>
            <a:ext cx="384048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sp>
        <p:nvSpPr>
          <p:cNvPr id="54" name="text-26: 配置 / 控制"/>
          <p:cNvSpPr txBox="1"/>
          <p:nvPr/>
        </p:nvSpPr>
        <p:spPr>
          <a:xfrm>
            <a:off x="322440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cxnSp>
        <p:nvCxnSpPr>
          <p:cNvPr id="55" name="legend-done"/>
          <p:cNvCxnSpPr/>
          <p:nvPr/>
        </p:nvCxnSpPr>
        <p:spPr>
          <a:xfrm>
            <a:off x="5000625" y="6864858"/>
            <a:ext cx="384048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56" name="text-27: 完成 / 交接"/>
          <p:cNvSpPr txBox="1"/>
          <p:nvPr/>
        </p:nvSpPr>
        <p:spPr>
          <a:xfrm>
            <a:off x="550468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完成 / 交接</a:t>
            </a:r>
          </a:p>
        </p:txBody>
      </p:sp>
      <p:cxnSp>
        <p:nvCxnSpPr>
          <p:cNvPr id="57" name="legend-error"/>
          <p:cNvCxnSpPr/>
          <p:nvPr/>
        </p:nvCxnSpPr>
        <p:spPr>
          <a:xfrm>
            <a:off x="7280910" y="6864858"/>
            <a:ext cx="384048" cy="0"/>
          </a:xfrm>
          <a:prstGeom prst="line">
            <a:avLst/>
          </a:prstGeom>
          <a:ln w="24003" cap="flat">
            <a:solidFill>
              <a:srgbClr val="B65353"/>
            </a:solidFill>
            <a:tailEnd type="triangle" w="med" len="med"/>
          </a:ln>
          <a:effectLst/>
        </p:spPr>
      </p:cxnSp>
      <p:sp>
        <p:nvSpPr>
          <p:cNvPr id="58" name="text-28: 故障 / 恢复"/>
          <p:cNvSpPr txBox="1"/>
          <p:nvPr/>
        </p:nvSpPr>
        <p:spPr>
          <a:xfrm>
            <a:off x="778497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故障 / 恢复</a:t>
            </a:r>
          </a:p>
        </p:txBody>
      </p:sp>
      <p:sp>
        <p:nvSpPr>
          <p:cNvPr id="59" name="text-29: 08 / 13"/>
          <p:cNvSpPr txBox="1"/>
          <p:nvPr/>
        </p:nvSpPr>
        <p:spPr>
          <a:xfrm>
            <a:off x="11594774" y="6756684"/>
            <a:ext cx="68676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1: 09  实时预算：平均吞吐之外还要保证最长等待"/>
          <p:cNvSpPr txBox="1"/>
          <p:nvPr/>
        </p:nvSpPr>
        <p:spPr>
          <a:xfrm>
            <a:off x="400050" y="162260"/>
            <a:ext cx="5930041" cy="4352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42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09  实时预算：平均吞吐之外还要保证最长等待</a:t>
            </a:r>
          </a:p>
        </p:txBody>
      </p:sp>
      <p:sp>
        <p:nvSpPr>
          <p:cNvPr id="3" name="text-2: 输入是否可背压、ROI 峰值、维护和压缩最坏情况决定缓冲深度。"/>
          <p:cNvSpPr txBox="1"/>
          <p:nvPr/>
        </p:nvSpPr>
        <p:spPr>
          <a:xfrm>
            <a:off x="400050" y="610636"/>
            <a:ext cx="5013377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输入是否可背压、ROI 峰值、维护和压缩最坏情况决定缓冲深度。</a:t>
            </a:r>
          </a:p>
        </p:txBody>
      </p:sp>
      <p:sp>
        <p:nvSpPr>
          <p:cNvPr id="4" name="input"/>
          <p:cNvSpPr/>
          <p:nvPr/>
        </p:nvSpPr>
        <p:spPr>
          <a:xfrm>
            <a:off x="440055" y="1640205"/>
            <a:ext cx="2400300" cy="960120"/>
          </a:xfrm>
          <a:prstGeom prst="roundRect">
            <a:avLst>
              <a:gd name="adj" fmla="val 1000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3: LVDS / ISP 输入"/>
          <p:cNvSpPr txBox="1"/>
          <p:nvPr/>
        </p:nvSpPr>
        <p:spPr>
          <a:xfrm>
            <a:off x="918921" y="1874154"/>
            <a:ext cx="144256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LVDS / ISP 输入</a:t>
            </a:r>
          </a:p>
        </p:txBody>
      </p:sp>
      <p:sp>
        <p:nvSpPr>
          <p:cNvPr id="6" name="text-4: 像素率与突发峰值"/>
          <p:cNvSpPr txBox="1"/>
          <p:nvPr/>
        </p:nvSpPr>
        <p:spPr>
          <a:xfrm>
            <a:off x="848106" y="2114184"/>
            <a:ext cx="158419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像素率与突发峰值</a:t>
            </a:r>
          </a:p>
        </p:txBody>
      </p:sp>
      <p:sp>
        <p:nvSpPr>
          <p:cNvPr id="7" name="fifo"/>
          <p:cNvSpPr/>
          <p:nvPr/>
        </p:nvSpPr>
        <p:spPr>
          <a:xfrm>
            <a:off x="3960495" y="1640205"/>
            <a:ext cx="2400300" cy="960120"/>
          </a:xfrm>
          <a:prstGeom prst="roundRect">
            <a:avLst>
              <a:gd name="adj" fmla="val 10000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5: 输入 FIFO"/>
          <p:cNvSpPr txBox="1"/>
          <p:nvPr/>
        </p:nvSpPr>
        <p:spPr>
          <a:xfrm>
            <a:off x="4704951" y="1874154"/>
            <a:ext cx="91138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输入 FIFO</a:t>
            </a:r>
          </a:p>
        </p:txBody>
      </p:sp>
      <p:sp>
        <p:nvSpPr>
          <p:cNvPr id="9" name="text-6: 按最长无服务间隔定深"/>
          <p:cNvSpPr txBox="1"/>
          <p:nvPr/>
        </p:nvSpPr>
        <p:spPr>
          <a:xfrm>
            <a:off x="4192524" y="2114184"/>
            <a:ext cx="193624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按最长无服务间隔定深</a:t>
            </a:r>
          </a:p>
        </p:txBody>
      </p:sp>
      <p:sp>
        <p:nvSpPr>
          <p:cNvPr id="10" name="ddr"/>
          <p:cNvSpPr/>
          <p:nvPr/>
        </p:nvSpPr>
        <p:spPr>
          <a:xfrm>
            <a:off x="7720965" y="1520190"/>
            <a:ext cx="4480560" cy="1200150"/>
          </a:xfrm>
          <a:prstGeom prst="roundRect">
            <a:avLst>
              <a:gd name="adj" fmla="val 8000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7: GB bank / 四口前端 / DDR"/>
          <p:cNvSpPr txBox="1"/>
          <p:nvPr/>
        </p:nvSpPr>
        <p:spPr>
          <a:xfrm>
            <a:off x="8828453" y="1754139"/>
            <a:ext cx="226558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GB bank / 四口前端 / DDR</a:t>
            </a:r>
          </a:p>
        </p:txBody>
      </p:sp>
      <p:sp>
        <p:nvSpPr>
          <p:cNvPr id="12" name="text-8: 共享排队、仲裁、刷新与编解码"/>
          <p:cNvSpPr txBox="1"/>
          <p:nvPr/>
        </p:nvSpPr>
        <p:spPr>
          <a:xfrm>
            <a:off x="8641080" y="1994169"/>
            <a:ext cx="264033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共享排队、仲裁、刷新与编解码</a:t>
            </a:r>
          </a:p>
        </p:txBody>
      </p:sp>
      <p:sp>
        <p:nvSpPr>
          <p:cNvPr id="13" name="text-9: 不同瓶颈分别建预算"/>
          <p:cNvSpPr txBox="1"/>
          <p:nvPr/>
        </p:nvSpPr>
        <p:spPr>
          <a:xfrm>
            <a:off x="9081135" y="2234199"/>
            <a:ext cx="176022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不同瓶颈分别建预算</a:t>
            </a:r>
          </a:p>
        </p:txBody>
      </p:sp>
      <p:cxnSp>
        <p:nvCxnSpPr>
          <p:cNvPr id="14" name="input-fifo"/>
          <p:cNvCxnSpPr/>
          <p:nvPr/>
        </p:nvCxnSpPr>
        <p:spPr>
          <a:xfrm>
            <a:off x="2840355" y="2120265"/>
            <a:ext cx="1120140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cxnSp>
        <p:nvCxnSpPr>
          <p:cNvPr id="15" name="fifo-service"/>
          <p:cNvCxnSpPr/>
          <p:nvPr/>
        </p:nvCxnSpPr>
        <p:spPr>
          <a:xfrm>
            <a:off x="6360795" y="2120265"/>
            <a:ext cx="1360170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16" name="load"/>
          <p:cNvSpPr/>
          <p:nvPr/>
        </p:nvSpPr>
        <p:spPr>
          <a:xfrm>
            <a:off x="7720965" y="3520440"/>
            <a:ext cx="4480560" cy="880110"/>
          </a:xfrm>
          <a:prstGeom prst="roundRect">
            <a:avLst>
              <a:gd name="adj" fmla="val 10909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10: 竞争负载：LLC + GB 搬运 + 帧 / ROI"/>
          <p:cNvSpPr txBox="1"/>
          <p:nvPr/>
        </p:nvSpPr>
        <p:spPr>
          <a:xfrm>
            <a:off x="8442793" y="3714384"/>
            <a:ext cx="303690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竞争负载：LLC + GB 搬运 + 帧 / ROI</a:t>
            </a:r>
          </a:p>
        </p:txBody>
      </p:sp>
      <p:sp>
        <p:nvSpPr>
          <p:cNvPr id="18" name="text-11: 维护写回、元数据、不可压缩与部分写放大"/>
          <p:cNvSpPr txBox="1"/>
          <p:nvPr/>
        </p:nvSpPr>
        <p:spPr>
          <a:xfrm>
            <a:off x="8201025" y="3954414"/>
            <a:ext cx="352044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维护写回、元数据、不可压缩与部分写放大</a:t>
            </a:r>
          </a:p>
        </p:txBody>
      </p:sp>
      <p:cxnSp>
        <p:nvCxnSpPr>
          <p:cNvPr id="19" name="competition"/>
          <p:cNvCxnSpPr/>
          <p:nvPr/>
        </p:nvCxnSpPr>
        <p:spPr>
          <a:xfrm flipV="1">
            <a:off x="9961245" y="2720340"/>
            <a:ext cx="0" cy="80010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20" name="output"/>
          <p:cNvSpPr/>
          <p:nvPr/>
        </p:nvSpPr>
        <p:spPr>
          <a:xfrm>
            <a:off x="440055" y="3520440"/>
            <a:ext cx="2400300" cy="880110"/>
          </a:xfrm>
          <a:prstGeom prst="roundRect">
            <a:avLst>
              <a:gd name="adj" fmla="val 10909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12: LVDS TX / 消费者"/>
          <p:cNvSpPr txBox="1"/>
          <p:nvPr/>
        </p:nvSpPr>
        <p:spPr>
          <a:xfrm>
            <a:off x="866071" y="3714384"/>
            <a:ext cx="154826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LVDS TX / 消费者</a:t>
            </a:r>
          </a:p>
        </p:txBody>
      </p:sp>
      <p:sp>
        <p:nvSpPr>
          <p:cNvPr id="22" name="text-13: 欠载策略与输出期限"/>
          <p:cNvSpPr txBox="1"/>
          <p:nvPr/>
        </p:nvSpPr>
        <p:spPr>
          <a:xfrm>
            <a:off x="760095" y="3954414"/>
            <a:ext cx="176022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欠载策略与输出期限</a:t>
            </a:r>
          </a:p>
        </p:txBody>
      </p:sp>
      <p:sp>
        <p:nvSpPr>
          <p:cNvPr id="23" name="outfifo"/>
          <p:cNvSpPr/>
          <p:nvPr/>
        </p:nvSpPr>
        <p:spPr>
          <a:xfrm>
            <a:off x="3960495" y="3520440"/>
            <a:ext cx="2400300" cy="880110"/>
          </a:xfrm>
          <a:prstGeom prst="roundRect">
            <a:avLst>
              <a:gd name="adj" fmla="val 10909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14: 输出 FIFO"/>
          <p:cNvSpPr txBox="1"/>
          <p:nvPr/>
        </p:nvSpPr>
        <p:spPr>
          <a:xfrm>
            <a:off x="4704951" y="3714384"/>
            <a:ext cx="91138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25" name="text-15: 接收 ROI 解码数据"/>
          <p:cNvSpPr txBox="1"/>
          <p:nvPr/>
        </p:nvSpPr>
        <p:spPr>
          <a:xfrm>
            <a:off x="4356426" y="3954414"/>
            <a:ext cx="160843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接收 ROI 解码数据</a:t>
            </a:r>
          </a:p>
        </p:txBody>
      </p:sp>
      <p:sp>
        <p:nvSpPr>
          <p:cNvPr id="26" name="service-output"/>
          <p:cNvSpPr/>
          <p:nvPr/>
        </p:nvSpPr>
        <p:spPr>
          <a:xfrm>
            <a:off x="6360795" y="2480310"/>
            <a:ext cx="1360170" cy="1480185"/>
          </a:xfrm>
          <a:custGeom>
            <a:avLst/>
            <a:gdLst/>
            <a:ahLst/>
            <a:cxnLst/>
            <a:rect l="0" t="0" r="r" b="b"/>
            <a:pathLst>
              <a:path w="1360170" h="1480185" fill="none">
                <a:moveTo>
                  <a:pt x="1360170" y="0"/>
                </a:moveTo>
                <a:lnTo>
                  <a:pt x="600075" y="0"/>
                </a:lnTo>
                <a:lnTo>
                  <a:pt x="600075" y="1480185"/>
                </a:lnTo>
                <a:lnTo>
                  <a:pt x="0" y="1480185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output-consume"/>
          <p:cNvCxnSpPr/>
          <p:nvPr/>
        </p:nvCxnSpPr>
        <p:spPr>
          <a:xfrm flipH="1">
            <a:off x="2840355" y="3960495"/>
            <a:ext cx="1120140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28" name="budget"/>
          <p:cNvSpPr/>
          <p:nvPr/>
        </p:nvSpPr>
        <p:spPr>
          <a:xfrm>
            <a:off x="440055" y="5280660"/>
            <a:ext cx="11761470" cy="1040130"/>
          </a:xfrm>
          <a:prstGeom prst="roundRect">
            <a:avLst>
              <a:gd name="adj" fmla="val 9230"/>
            </a:avLst>
          </a:prstGeom>
          <a:solidFill>
            <a:srgbClr val="F1F4F7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16: FIFO 余量 ≥ 最坏区间内累计到达 - 累计服务 + 安全余量"/>
          <p:cNvSpPr txBox="1"/>
          <p:nvPr/>
        </p:nvSpPr>
        <p:spPr>
          <a:xfrm>
            <a:off x="4058213" y="5434599"/>
            <a:ext cx="452515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FIFO 余量 ≥ 最坏区间内累计到达 - 累计服务 + 安全余量</a:t>
            </a:r>
          </a:p>
        </p:txBody>
      </p:sp>
      <p:sp>
        <p:nvSpPr>
          <p:cNvPr id="30" name="text-17: GB：权重 + 激活 + 中间结果 + 并行搬运；DDR：有效负载 + 所有放大"/>
          <p:cNvSpPr txBox="1"/>
          <p:nvPr/>
        </p:nvSpPr>
        <p:spPr>
          <a:xfrm>
            <a:off x="3415308" y="5674629"/>
            <a:ext cx="581096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GB：权重 + 激活 + 中间结果 + 并行搬运；DDR：有效负载 + 所有放大项</a:t>
            </a:r>
          </a:p>
        </p:txBody>
      </p:sp>
      <p:sp>
        <p:nvSpPr>
          <p:cNvPr id="31" name="text-18: 持续记录：各源延迟 / 最长等待 / 队列峰值 / 每帧期限是否满足"/>
          <p:cNvSpPr txBox="1"/>
          <p:nvPr/>
        </p:nvSpPr>
        <p:spPr>
          <a:xfrm>
            <a:off x="3737023" y="5914659"/>
            <a:ext cx="516753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持续记录：各源延迟 / 最长等待 / 队列峰值 / 每帧期限是否满足</a:t>
            </a:r>
          </a:p>
        </p:txBody>
      </p:sp>
      <p:cxnSp>
        <p:nvCxnSpPr>
          <p:cNvPr id="32" name="legend-data"/>
          <p:cNvCxnSpPr/>
          <p:nvPr/>
        </p:nvCxnSpPr>
        <p:spPr>
          <a:xfrm>
            <a:off x="440055" y="6864858"/>
            <a:ext cx="384048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33" name="text-19: 数据 / 请求"/>
          <p:cNvSpPr txBox="1"/>
          <p:nvPr/>
        </p:nvSpPr>
        <p:spPr>
          <a:xfrm>
            <a:off x="94411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数据 / 请求</a:t>
            </a:r>
          </a:p>
        </p:txBody>
      </p:sp>
      <p:cxnSp>
        <p:nvCxnSpPr>
          <p:cNvPr id="34" name="legend-control"/>
          <p:cNvCxnSpPr/>
          <p:nvPr/>
        </p:nvCxnSpPr>
        <p:spPr>
          <a:xfrm>
            <a:off x="2720340" y="6864858"/>
            <a:ext cx="384048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sp>
        <p:nvSpPr>
          <p:cNvPr id="35" name="text-20: 配置 / 控制"/>
          <p:cNvSpPr txBox="1"/>
          <p:nvPr/>
        </p:nvSpPr>
        <p:spPr>
          <a:xfrm>
            <a:off x="322440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cxnSp>
        <p:nvCxnSpPr>
          <p:cNvPr id="36" name="legend-done"/>
          <p:cNvCxnSpPr/>
          <p:nvPr/>
        </p:nvCxnSpPr>
        <p:spPr>
          <a:xfrm>
            <a:off x="5000625" y="6864858"/>
            <a:ext cx="384048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37" name="text-21: 完成 / 交接"/>
          <p:cNvSpPr txBox="1"/>
          <p:nvPr/>
        </p:nvSpPr>
        <p:spPr>
          <a:xfrm>
            <a:off x="550468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完成 / 交接</a:t>
            </a:r>
          </a:p>
        </p:txBody>
      </p:sp>
      <p:cxnSp>
        <p:nvCxnSpPr>
          <p:cNvPr id="38" name="legend-error"/>
          <p:cNvCxnSpPr/>
          <p:nvPr/>
        </p:nvCxnSpPr>
        <p:spPr>
          <a:xfrm>
            <a:off x="7280910" y="6864858"/>
            <a:ext cx="384048" cy="0"/>
          </a:xfrm>
          <a:prstGeom prst="line">
            <a:avLst/>
          </a:prstGeom>
          <a:ln w="24003" cap="flat">
            <a:solidFill>
              <a:srgbClr val="B65353"/>
            </a:solidFill>
            <a:tailEnd type="triangle" w="med" len="med"/>
          </a:ln>
          <a:effectLst/>
        </p:spPr>
      </p:cxnSp>
      <p:sp>
        <p:nvSpPr>
          <p:cNvPr id="39" name="text-22: 故障 / 恢复"/>
          <p:cNvSpPr txBox="1"/>
          <p:nvPr/>
        </p:nvSpPr>
        <p:spPr>
          <a:xfrm>
            <a:off x="778497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故障 / 恢复</a:t>
            </a:r>
          </a:p>
        </p:txBody>
      </p:sp>
      <p:sp>
        <p:nvSpPr>
          <p:cNvPr id="40" name="text-23: 09 / 13"/>
          <p:cNvSpPr txBox="1"/>
          <p:nvPr/>
        </p:nvSpPr>
        <p:spPr>
          <a:xfrm>
            <a:off x="11594774" y="6756684"/>
            <a:ext cx="68676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1: 10  算法与布局：计算正确和搬得动必须同时满足"/>
          <p:cNvSpPr txBox="1"/>
          <p:nvPr/>
        </p:nvSpPr>
        <p:spPr>
          <a:xfrm>
            <a:off x="400050" y="162260"/>
            <a:ext cx="6202075" cy="4352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42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10  算法与布局：计算正确和搬得动必须同时满足</a:t>
            </a:r>
          </a:p>
        </p:txBody>
      </p:sp>
      <p:sp>
        <p:nvSpPr>
          <p:cNvPr id="3" name="text-2: 算子、精度、图像格式、误差边界与驻留策略先形成可执行参考。"/>
          <p:cNvSpPr txBox="1"/>
          <p:nvPr/>
        </p:nvSpPr>
        <p:spPr>
          <a:xfrm>
            <a:off x="400050" y="610636"/>
            <a:ext cx="5040630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算子、精度、图像格式、误差边界与驻留策略先形成可执行参考。</a:t>
            </a:r>
          </a:p>
        </p:txBody>
      </p:sp>
      <p:sp>
        <p:nvSpPr>
          <p:cNvPr id="4" name="gold"/>
          <p:cNvSpPr/>
          <p:nvPr/>
        </p:nvSpPr>
        <p:spPr>
          <a:xfrm>
            <a:off x="440055" y="1560195"/>
            <a:ext cx="2640330" cy="920115"/>
          </a:xfrm>
          <a:prstGeom prst="roundRect">
            <a:avLst>
              <a:gd name="adj" fmla="val 10434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3: 参考模型 / 数据集"/>
          <p:cNvSpPr txBox="1"/>
          <p:nvPr/>
        </p:nvSpPr>
        <p:spPr>
          <a:xfrm>
            <a:off x="957638" y="1774142"/>
            <a:ext cx="160516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参考模型 / 数据集</a:t>
            </a:r>
          </a:p>
        </p:txBody>
      </p:sp>
      <p:sp>
        <p:nvSpPr>
          <p:cNvPr id="6" name="text-4: 固定输入与质量指标"/>
          <p:cNvSpPr txBox="1"/>
          <p:nvPr/>
        </p:nvSpPr>
        <p:spPr>
          <a:xfrm>
            <a:off x="880110" y="2014172"/>
            <a:ext cx="176022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固定输入与质量指标</a:t>
            </a:r>
          </a:p>
        </p:txBody>
      </p:sp>
      <p:sp>
        <p:nvSpPr>
          <p:cNvPr id="7" name="quant"/>
          <p:cNvSpPr/>
          <p:nvPr/>
        </p:nvSpPr>
        <p:spPr>
          <a:xfrm>
            <a:off x="3520440" y="1560195"/>
            <a:ext cx="2640330" cy="920115"/>
          </a:xfrm>
          <a:prstGeom prst="roundRect">
            <a:avLst>
              <a:gd name="adj" fmla="val 10434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5: 量化 / 定点规则"/>
          <p:cNvSpPr txBox="1"/>
          <p:nvPr/>
        </p:nvSpPr>
        <p:spPr>
          <a:xfrm>
            <a:off x="4126034" y="1774142"/>
            <a:ext cx="142914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量化 / 定点规则</a:t>
            </a:r>
          </a:p>
        </p:txBody>
      </p:sp>
      <p:sp>
        <p:nvSpPr>
          <p:cNvPr id="9" name="text-6: 舍入、饱和、溢出"/>
          <p:cNvSpPr txBox="1"/>
          <p:nvPr/>
        </p:nvSpPr>
        <p:spPr>
          <a:xfrm>
            <a:off x="4048506" y="2014172"/>
            <a:ext cx="158419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舍入、饱和、溢出</a:t>
            </a:r>
          </a:p>
        </p:txBody>
      </p:sp>
      <p:sp>
        <p:nvSpPr>
          <p:cNvPr id="10" name="layout"/>
          <p:cNvSpPr/>
          <p:nvPr/>
        </p:nvSpPr>
        <p:spPr>
          <a:xfrm>
            <a:off x="6600825" y="1560195"/>
            <a:ext cx="2640330" cy="920115"/>
          </a:xfrm>
          <a:prstGeom prst="roundRect">
            <a:avLst>
              <a:gd name="adj" fmla="val 10434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7: 张量 / 像素布局"/>
          <p:cNvSpPr txBox="1"/>
          <p:nvPr/>
        </p:nvSpPr>
        <p:spPr>
          <a:xfrm>
            <a:off x="7206419" y="1774142"/>
            <a:ext cx="142914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张量 / 像素布局</a:t>
            </a:r>
          </a:p>
        </p:txBody>
      </p:sp>
      <p:sp>
        <p:nvSpPr>
          <p:cNvPr id="12" name="text-8: stride、对齐、尾块"/>
          <p:cNvSpPr txBox="1"/>
          <p:nvPr/>
        </p:nvSpPr>
        <p:spPr>
          <a:xfrm>
            <a:off x="7087036" y="2014172"/>
            <a:ext cx="166790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stride、对齐、尾块</a:t>
            </a:r>
          </a:p>
        </p:txBody>
      </p:sp>
      <p:sp>
        <p:nvSpPr>
          <p:cNvPr id="13" name="tiles"/>
          <p:cNvSpPr/>
          <p:nvPr/>
        </p:nvSpPr>
        <p:spPr>
          <a:xfrm>
            <a:off x="9681210" y="1560195"/>
            <a:ext cx="2640330" cy="920115"/>
          </a:xfrm>
          <a:prstGeom prst="roundRect">
            <a:avLst>
              <a:gd name="adj" fmla="val 10434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9: 分块与驻留计划"/>
          <p:cNvSpPr txBox="1"/>
          <p:nvPr/>
        </p:nvSpPr>
        <p:spPr>
          <a:xfrm>
            <a:off x="10297287" y="1774142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分块与驻留计划</a:t>
            </a:r>
          </a:p>
        </p:txBody>
      </p:sp>
      <p:sp>
        <p:nvSpPr>
          <p:cNvPr id="15" name="text-10: GB 容量 / DDR 交换"/>
          <p:cNvSpPr txBox="1"/>
          <p:nvPr/>
        </p:nvSpPr>
        <p:spPr>
          <a:xfrm>
            <a:off x="10127028" y="2014172"/>
            <a:ext cx="174869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GB 容量 / DDR 交换</a:t>
            </a:r>
          </a:p>
        </p:txBody>
      </p:sp>
      <p:cxnSp>
        <p:nvCxnSpPr>
          <p:cNvPr id="16" name="model0"/>
          <p:cNvCxnSpPr/>
          <p:nvPr/>
        </p:nvCxnSpPr>
        <p:spPr>
          <a:xfrm>
            <a:off x="3080385" y="2016252"/>
            <a:ext cx="440055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cxnSp>
        <p:nvCxnSpPr>
          <p:cNvPr id="17" name="model1"/>
          <p:cNvCxnSpPr/>
          <p:nvPr/>
        </p:nvCxnSpPr>
        <p:spPr>
          <a:xfrm>
            <a:off x="6160770" y="2016252"/>
            <a:ext cx="440055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cxnSp>
        <p:nvCxnSpPr>
          <p:cNvPr id="18" name="model2"/>
          <p:cNvCxnSpPr/>
          <p:nvPr/>
        </p:nvCxnSpPr>
        <p:spPr>
          <a:xfrm>
            <a:off x="9241155" y="2016252"/>
            <a:ext cx="440055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sp>
        <p:nvSpPr>
          <p:cNvPr id="19" name="cpu"/>
          <p:cNvSpPr/>
          <p:nvPr/>
        </p:nvSpPr>
        <p:spPr>
          <a:xfrm>
            <a:off x="1040130" y="3520440"/>
            <a:ext cx="2560320" cy="920115"/>
          </a:xfrm>
          <a:prstGeom prst="roundRect">
            <a:avLst>
              <a:gd name="adj" fmla="val 10434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11: CPU 标量"/>
          <p:cNvSpPr txBox="1"/>
          <p:nvPr/>
        </p:nvSpPr>
        <p:spPr>
          <a:xfrm>
            <a:off x="1869834" y="3734387"/>
            <a:ext cx="90091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CPU 标量</a:t>
            </a:r>
          </a:p>
        </p:txBody>
      </p:sp>
      <p:sp>
        <p:nvSpPr>
          <p:cNvPr id="21" name="text-12: 控制 / 回退 / 后处理"/>
          <p:cNvSpPr txBox="1"/>
          <p:nvPr/>
        </p:nvSpPr>
        <p:spPr>
          <a:xfrm>
            <a:off x="1419215" y="3974417"/>
            <a:ext cx="180215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控制 / 回退 / 后处理</a:t>
            </a:r>
          </a:p>
        </p:txBody>
      </p:sp>
      <p:sp>
        <p:nvSpPr>
          <p:cNvPr id="22" name="ara"/>
          <p:cNvSpPr/>
          <p:nvPr/>
        </p:nvSpPr>
        <p:spPr>
          <a:xfrm>
            <a:off x="5120640" y="3520440"/>
            <a:ext cx="2560320" cy="920115"/>
          </a:xfrm>
          <a:prstGeom prst="roundRect">
            <a:avLst>
              <a:gd name="adj" fmla="val 10434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13: Ara2 向量"/>
          <p:cNvSpPr txBox="1"/>
          <p:nvPr/>
        </p:nvSpPr>
        <p:spPr>
          <a:xfrm>
            <a:off x="5932810" y="3734387"/>
            <a:ext cx="93597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Ara2 向量</a:t>
            </a:r>
          </a:p>
        </p:txBody>
      </p:sp>
      <p:sp>
        <p:nvSpPr>
          <p:cNvPr id="24" name="text-14: 向量辅助算子"/>
          <p:cNvSpPr txBox="1"/>
          <p:nvPr/>
        </p:nvSpPr>
        <p:spPr>
          <a:xfrm>
            <a:off x="5784723" y="3974417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向量辅助算子</a:t>
            </a:r>
          </a:p>
        </p:txBody>
      </p:sp>
      <p:sp>
        <p:nvSpPr>
          <p:cNvPr id="25" name="npu"/>
          <p:cNvSpPr/>
          <p:nvPr/>
        </p:nvSpPr>
        <p:spPr>
          <a:xfrm>
            <a:off x="9201150" y="3520440"/>
            <a:ext cx="2560320" cy="920115"/>
          </a:xfrm>
          <a:prstGeom prst="roundRect">
            <a:avLst>
              <a:gd name="adj" fmla="val 10434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15: NPU 阵列"/>
          <p:cNvSpPr txBox="1"/>
          <p:nvPr/>
        </p:nvSpPr>
        <p:spPr>
          <a:xfrm>
            <a:off x="10027335" y="3734387"/>
            <a:ext cx="90795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NPU 阵列</a:t>
            </a:r>
          </a:p>
        </p:txBody>
      </p:sp>
      <p:sp>
        <p:nvSpPr>
          <p:cNvPr id="27" name="text-16: 选定加速算子"/>
          <p:cNvSpPr txBox="1"/>
          <p:nvPr/>
        </p:nvSpPr>
        <p:spPr>
          <a:xfrm>
            <a:off x="9865233" y="3974417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选定加速算子</a:t>
            </a:r>
          </a:p>
        </p:txBody>
      </p:sp>
      <p:sp>
        <p:nvSpPr>
          <p:cNvPr id="28" name="tile-cpu"/>
          <p:cNvSpPr/>
          <p:nvPr/>
        </p:nvSpPr>
        <p:spPr>
          <a:xfrm>
            <a:off x="2320290" y="2480310"/>
            <a:ext cx="8681085" cy="1040130"/>
          </a:xfrm>
          <a:custGeom>
            <a:avLst/>
            <a:gdLst/>
            <a:ahLst/>
            <a:cxnLst/>
            <a:rect l="0" t="0" r="r" b="b"/>
            <a:pathLst>
              <a:path w="8681085" h="1040130" fill="none">
                <a:moveTo>
                  <a:pt x="8681085" y="0"/>
                </a:moveTo>
                <a:lnTo>
                  <a:pt x="8681085" y="480060"/>
                </a:lnTo>
                <a:lnTo>
                  <a:pt x="0" y="480060"/>
                </a:lnTo>
                <a:lnTo>
                  <a:pt x="0" y="104013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ile-ara"/>
          <p:cNvSpPr/>
          <p:nvPr/>
        </p:nvSpPr>
        <p:spPr>
          <a:xfrm>
            <a:off x="6400800" y="2480310"/>
            <a:ext cx="4600575" cy="1040130"/>
          </a:xfrm>
          <a:custGeom>
            <a:avLst/>
            <a:gdLst/>
            <a:ahLst/>
            <a:cxnLst/>
            <a:rect l="0" t="0" r="r" b="b"/>
            <a:pathLst>
              <a:path w="4600575" h="1040130" fill="none">
                <a:moveTo>
                  <a:pt x="4600575" y="0"/>
                </a:moveTo>
                <a:lnTo>
                  <a:pt x="4600575" y="480060"/>
                </a:lnTo>
                <a:lnTo>
                  <a:pt x="0" y="480060"/>
                </a:lnTo>
                <a:lnTo>
                  <a:pt x="0" y="104013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ile-npu"/>
          <p:cNvSpPr/>
          <p:nvPr/>
        </p:nvSpPr>
        <p:spPr>
          <a:xfrm>
            <a:off x="10481310" y="2480310"/>
            <a:ext cx="520065" cy="1040130"/>
          </a:xfrm>
          <a:custGeom>
            <a:avLst/>
            <a:gdLst/>
            <a:ahLst/>
            <a:cxnLst/>
            <a:rect l="0" t="0" r="r" b="b"/>
            <a:pathLst>
              <a:path w="520065" h="1040130" fill="none">
                <a:moveTo>
                  <a:pt x="520065" y="0"/>
                </a:moveTo>
                <a:lnTo>
                  <a:pt x="520065" y="480060"/>
                </a:lnTo>
                <a:lnTo>
                  <a:pt x="0" y="480060"/>
                </a:lnTo>
                <a:lnTo>
                  <a:pt x="0" y="104013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compare"/>
          <p:cNvSpPr/>
          <p:nvPr/>
        </p:nvSpPr>
        <p:spPr>
          <a:xfrm>
            <a:off x="3800475" y="5400675"/>
            <a:ext cx="5200650" cy="880110"/>
          </a:xfrm>
          <a:prstGeom prst="roundRect">
            <a:avLst>
              <a:gd name="adj" fmla="val 10909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17: 结果检查：逐算子 → 子图 → 应用"/>
          <p:cNvSpPr txBox="1"/>
          <p:nvPr/>
        </p:nvSpPr>
        <p:spPr>
          <a:xfrm>
            <a:off x="4975097" y="5594619"/>
            <a:ext cx="285140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结果检查：逐算子 → 子图 → 应用</a:t>
            </a:r>
          </a:p>
        </p:txBody>
      </p:sp>
      <p:sp>
        <p:nvSpPr>
          <p:cNvPr id="33" name="text-18: 数值误差 + 质量指标 + 周期 / 流量"/>
          <p:cNvSpPr txBox="1"/>
          <p:nvPr/>
        </p:nvSpPr>
        <p:spPr>
          <a:xfrm>
            <a:off x="4947075" y="5834649"/>
            <a:ext cx="290745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数值误差 + 质量指标 + 周期 / 流量</a:t>
            </a:r>
          </a:p>
        </p:txBody>
      </p:sp>
      <p:sp>
        <p:nvSpPr>
          <p:cNvPr id="34" name="cpu-check"/>
          <p:cNvSpPr/>
          <p:nvPr/>
        </p:nvSpPr>
        <p:spPr>
          <a:xfrm>
            <a:off x="2320290" y="4440555"/>
            <a:ext cx="4080510" cy="960120"/>
          </a:xfrm>
          <a:custGeom>
            <a:avLst/>
            <a:gdLst/>
            <a:ahLst/>
            <a:cxnLst/>
            <a:rect l="0" t="0" r="r" b="b"/>
            <a:pathLst>
              <a:path w="4080510" h="960120" fill="none">
                <a:moveTo>
                  <a:pt x="0" y="0"/>
                </a:moveTo>
                <a:lnTo>
                  <a:pt x="0" y="560070"/>
                </a:lnTo>
                <a:lnTo>
                  <a:pt x="4080510" y="560070"/>
                </a:lnTo>
                <a:lnTo>
                  <a:pt x="4080510" y="96012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ara-check"/>
          <p:cNvSpPr/>
          <p:nvPr/>
        </p:nvSpPr>
        <p:spPr>
          <a:xfrm>
            <a:off x="6400800" y="4440555"/>
            <a:ext cx="1" cy="960120"/>
          </a:xfrm>
          <a:custGeom>
            <a:avLst/>
            <a:gdLst/>
            <a:ahLst/>
            <a:cxnLst/>
            <a:rect l="0" t="0" r="r" b="b"/>
            <a:pathLst>
              <a:path w="1" h="960120" fill="none">
                <a:moveTo>
                  <a:pt x="0" y="0"/>
                </a:moveTo>
                <a:lnTo>
                  <a:pt x="0" y="560070"/>
                </a:lnTo>
                <a:lnTo>
                  <a:pt x="0" y="560070"/>
                </a:lnTo>
                <a:lnTo>
                  <a:pt x="0" y="96012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npu-check"/>
          <p:cNvSpPr/>
          <p:nvPr/>
        </p:nvSpPr>
        <p:spPr>
          <a:xfrm>
            <a:off x="6400800" y="4440555"/>
            <a:ext cx="4080510" cy="960120"/>
          </a:xfrm>
          <a:custGeom>
            <a:avLst/>
            <a:gdLst/>
            <a:ahLst/>
            <a:cxnLst/>
            <a:rect l="0" t="0" r="r" b="b"/>
            <a:pathLst>
              <a:path w="4080510" h="960120" fill="none">
                <a:moveTo>
                  <a:pt x="4080510" y="0"/>
                </a:moveTo>
                <a:lnTo>
                  <a:pt x="4080510" y="560070"/>
                </a:lnTo>
                <a:lnTo>
                  <a:pt x="0" y="560070"/>
                </a:lnTo>
                <a:lnTo>
                  <a:pt x="0" y="96012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gold-reference"/>
          <p:cNvSpPr/>
          <p:nvPr/>
        </p:nvSpPr>
        <p:spPr>
          <a:xfrm>
            <a:off x="240030" y="2016252"/>
            <a:ext cx="3560445" cy="3824478"/>
          </a:xfrm>
          <a:custGeom>
            <a:avLst/>
            <a:gdLst/>
            <a:ahLst/>
            <a:cxnLst/>
            <a:rect l="0" t="0" r="r" b="b"/>
            <a:pathLst>
              <a:path w="3560445" h="3824478" fill="none">
                <a:moveTo>
                  <a:pt x="200025" y="0"/>
                </a:moveTo>
                <a:lnTo>
                  <a:pt x="0" y="0"/>
                </a:lnTo>
                <a:lnTo>
                  <a:pt x="0" y="3824478"/>
                </a:lnTo>
                <a:lnTo>
                  <a:pt x="3560445" y="3824478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" name="legend-data"/>
          <p:cNvCxnSpPr/>
          <p:nvPr/>
        </p:nvCxnSpPr>
        <p:spPr>
          <a:xfrm>
            <a:off x="440055" y="6864858"/>
            <a:ext cx="384048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39" name="text-19: 数据 / 请求"/>
          <p:cNvSpPr txBox="1"/>
          <p:nvPr/>
        </p:nvSpPr>
        <p:spPr>
          <a:xfrm>
            <a:off x="94411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数据 / 请求</a:t>
            </a:r>
          </a:p>
        </p:txBody>
      </p:sp>
      <p:cxnSp>
        <p:nvCxnSpPr>
          <p:cNvPr id="40" name="legend-control"/>
          <p:cNvCxnSpPr/>
          <p:nvPr/>
        </p:nvCxnSpPr>
        <p:spPr>
          <a:xfrm>
            <a:off x="2720340" y="6864858"/>
            <a:ext cx="384048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sp>
        <p:nvSpPr>
          <p:cNvPr id="41" name="text-20: 配置 / 控制"/>
          <p:cNvSpPr txBox="1"/>
          <p:nvPr/>
        </p:nvSpPr>
        <p:spPr>
          <a:xfrm>
            <a:off x="322440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cxnSp>
        <p:nvCxnSpPr>
          <p:cNvPr id="42" name="legend-done"/>
          <p:cNvCxnSpPr/>
          <p:nvPr/>
        </p:nvCxnSpPr>
        <p:spPr>
          <a:xfrm>
            <a:off x="5000625" y="6864858"/>
            <a:ext cx="384048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43" name="text-21: 完成 / 交接"/>
          <p:cNvSpPr txBox="1"/>
          <p:nvPr/>
        </p:nvSpPr>
        <p:spPr>
          <a:xfrm>
            <a:off x="550468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完成 / 交接</a:t>
            </a:r>
          </a:p>
        </p:txBody>
      </p:sp>
      <p:cxnSp>
        <p:nvCxnSpPr>
          <p:cNvPr id="44" name="legend-error"/>
          <p:cNvCxnSpPr/>
          <p:nvPr/>
        </p:nvCxnSpPr>
        <p:spPr>
          <a:xfrm>
            <a:off x="7280910" y="6864858"/>
            <a:ext cx="384048" cy="0"/>
          </a:xfrm>
          <a:prstGeom prst="line">
            <a:avLst/>
          </a:prstGeom>
          <a:ln w="24003" cap="flat">
            <a:solidFill>
              <a:srgbClr val="B65353"/>
            </a:solidFill>
            <a:tailEnd type="triangle" w="med" len="med"/>
          </a:ln>
          <a:effectLst/>
        </p:spPr>
      </p:cxnSp>
      <p:sp>
        <p:nvSpPr>
          <p:cNvPr id="45" name="text-22: 故障 / 恢复"/>
          <p:cNvSpPr txBox="1"/>
          <p:nvPr/>
        </p:nvSpPr>
        <p:spPr>
          <a:xfrm>
            <a:off x="778497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故障 / 恢复</a:t>
            </a:r>
          </a:p>
        </p:txBody>
      </p:sp>
      <p:sp>
        <p:nvSpPr>
          <p:cNvPr id="46" name="text-23: 10 / 13"/>
          <p:cNvSpPr txBox="1"/>
          <p:nvPr/>
        </p:nvSpPr>
        <p:spPr>
          <a:xfrm>
            <a:off x="11594774" y="6756684"/>
            <a:ext cx="68676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1: 11  启动、时钟、复位与 CDC：先建立可执行条件"/>
          <p:cNvSpPr txBox="1"/>
          <p:nvPr/>
        </p:nvSpPr>
        <p:spPr>
          <a:xfrm>
            <a:off x="400050" y="162260"/>
            <a:ext cx="6255757" cy="4352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42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11  启动、时钟、复位与 CDC：先建立可执行条件</a:t>
            </a:r>
          </a:p>
        </p:txBody>
      </p:sp>
      <p:sp>
        <p:nvSpPr>
          <p:cNvPr id="3" name="text-2: 已有 Platform ROM 方向；安全时钟、早期存储和 ready 前提不能"/>
          <p:cNvSpPr txBox="1"/>
          <p:nvPr/>
        </p:nvSpPr>
        <p:spPr>
          <a:xfrm>
            <a:off x="400050" y="610636"/>
            <a:ext cx="5811476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已有 Platform ROM 方向；安全时钟、早期存储和 ready 前提不能互相等待。</a:t>
            </a:r>
          </a:p>
        </p:txBody>
      </p:sp>
      <p:sp>
        <p:nvSpPr>
          <p:cNvPr id="4" name="clk"/>
          <p:cNvSpPr/>
          <p:nvPr/>
        </p:nvSpPr>
        <p:spPr>
          <a:xfrm>
            <a:off x="440055" y="1680210"/>
            <a:ext cx="2640330" cy="960120"/>
          </a:xfrm>
          <a:prstGeom prst="roundRect">
            <a:avLst>
              <a:gd name="adj" fmla="val 1000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3: 上电 / RefClk"/>
          <p:cNvSpPr txBox="1"/>
          <p:nvPr/>
        </p:nvSpPr>
        <p:spPr>
          <a:xfrm>
            <a:off x="1149812" y="1914159"/>
            <a:ext cx="122081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上电 / RefClk</a:t>
            </a:r>
          </a:p>
        </p:txBody>
      </p:sp>
      <p:sp>
        <p:nvSpPr>
          <p:cNvPr id="6" name="text-4: 安全时钟与复位"/>
          <p:cNvSpPr txBox="1"/>
          <p:nvPr/>
        </p:nvSpPr>
        <p:spPr>
          <a:xfrm>
            <a:off x="1056132" y="2154189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安全时钟与复位</a:t>
            </a:r>
          </a:p>
        </p:txBody>
      </p:sp>
      <p:sp>
        <p:nvSpPr>
          <p:cNvPr id="7" name="rom"/>
          <p:cNvSpPr/>
          <p:nvPr/>
        </p:nvSpPr>
        <p:spPr>
          <a:xfrm>
            <a:off x="3520440" y="1680210"/>
            <a:ext cx="2640330" cy="960120"/>
          </a:xfrm>
          <a:prstGeom prst="roundRect">
            <a:avLst>
              <a:gd name="adj" fmla="val 1000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5: Boot ROM / LLC SPM"/>
          <p:cNvSpPr txBox="1"/>
          <p:nvPr/>
        </p:nvSpPr>
        <p:spPr>
          <a:xfrm>
            <a:off x="3920871" y="1914159"/>
            <a:ext cx="183946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Boot ROM / LLC SPM</a:t>
            </a:r>
          </a:p>
        </p:txBody>
      </p:sp>
      <p:sp>
        <p:nvSpPr>
          <p:cNvPr id="9" name="text-6: 可执行代码与早期栈"/>
          <p:cNvSpPr txBox="1"/>
          <p:nvPr/>
        </p:nvSpPr>
        <p:spPr>
          <a:xfrm>
            <a:off x="3960495" y="2154189"/>
            <a:ext cx="176022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可执行代码与早期栈</a:t>
            </a:r>
          </a:p>
        </p:txBody>
      </p:sp>
      <p:sp>
        <p:nvSpPr>
          <p:cNvPr id="10" name="config"/>
          <p:cNvSpPr/>
          <p:nvPr/>
        </p:nvSpPr>
        <p:spPr>
          <a:xfrm>
            <a:off x="6600825" y="1680210"/>
            <a:ext cx="2640330" cy="960120"/>
          </a:xfrm>
          <a:prstGeom prst="roundRect">
            <a:avLst>
              <a:gd name="adj" fmla="val 1000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7: Platform ROM / 固件"/>
          <p:cNvSpPr txBox="1"/>
          <p:nvPr/>
        </p:nvSpPr>
        <p:spPr>
          <a:xfrm>
            <a:off x="7027566" y="1914159"/>
            <a:ext cx="178684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Platform ROM / 固件</a:t>
            </a:r>
          </a:p>
        </p:txBody>
      </p:sp>
      <p:sp>
        <p:nvSpPr>
          <p:cNvPr id="12" name="text-8: PLL、PAD、必要 IP"/>
          <p:cNvSpPr txBox="1"/>
          <p:nvPr/>
        </p:nvSpPr>
        <p:spPr>
          <a:xfrm>
            <a:off x="7088661" y="2154189"/>
            <a:ext cx="166465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PLL、PAD、必要 IP</a:t>
            </a:r>
          </a:p>
        </p:txBody>
      </p:sp>
      <p:sp>
        <p:nvSpPr>
          <p:cNvPr id="13" name="ready"/>
          <p:cNvSpPr/>
          <p:nvPr/>
        </p:nvSpPr>
        <p:spPr>
          <a:xfrm>
            <a:off x="9681210" y="1680210"/>
            <a:ext cx="2640330" cy="960120"/>
          </a:xfrm>
          <a:prstGeom prst="roundRect">
            <a:avLst>
              <a:gd name="adj" fmla="val 1000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9: DDR 训练 / ready"/>
          <p:cNvSpPr txBox="1"/>
          <p:nvPr/>
        </p:nvSpPr>
        <p:spPr>
          <a:xfrm>
            <a:off x="10234548" y="1914159"/>
            <a:ext cx="15336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DDR 训练 / ready</a:t>
            </a:r>
          </a:p>
        </p:txBody>
      </p:sp>
      <p:sp>
        <p:nvSpPr>
          <p:cNvPr id="15" name="text-10: 成功后允许 DDR 访问"/>
          <p:cNvSpPr txBox="1"/>
          <p:nvPr/>
        </p:nvSpPr>
        <p:spPr>
          <a:xfrm>
            <a:off x="10073997" y="2154189"/>
            <a:ext cx="185475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成功后允许 DDR 访问</a:t>
            </a:r>
          </a:p>
        </p:txBody>
      </p:sp>
      <p:cxnSp>
        <p:nvCxnSpPr>
          <p:cNvPr id="16" name="boot0"/>
          <p:cNvCxnSpPr/>
          <p:nvPr/>
        </p:nvCxnSpPr>
        <p:spPr>
          <a:xfrm>
            <a:off x="3080385" y="2160270"/>
            <a:ext cx="440055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cxnSp>
        <p:nvCxnSpPr>
          <p:cNvPr id="17" name="boot1"/>
          <p:cNvCxnSpPr/>
          <p:nvPr/>
        </p:nvCxnSpPr>
        <p:spPr>
          <a:xfrm>
            <a:off x="6160770" y="2160270"/>
            <a:ext cx="440055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cxnSp>
        <p:nvCxnSpPr>
          <p:cNvPr id="18" name="boot2"/>
          <p:cNvCxnSpPr/>
          <p:nvPr/>
        </p:nvCxnSpPr>
        <p:spPr>
          <a:xfrm>
            <a:off x="9241155" y="2160270"/>
            <a:ext cx="440055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sp>
        <p:nvSpPr>
          <p:cNvPr id="19" name="app"/>
          <p:cNvSpPr/>
          <p:nvPr/>
        </p:nvSpPr>
        <p:spPr>
          <a:xfrm>
            <a:off x="9681210" y="3760470"/>
            <a:ext cx="2640330" cy="880110"/>
          </a:xfrm>
          <a:prstGeom prst="roundRect">
            <a:avLst>
              <a:gd name="adj" fmla="val 10909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11: 加载应用 / 切换运行"/>
          <p:cNvSpPr txBox="1"/>
          <p:nvPr/>
        </p:nvSpPr>
        <p:spPr>
          <a:xfrm>
            <a:off x="10110782" y="3954414"/>
            <a:ext cx="178118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加载应用 / 切换运行</a:t>
            </a:r>
          </a:p>
        </p:txBody>
      </p:sp>
      <p:sp>
        <p:nvSpPr>
          <p:cNvPr id="21" name="text-12: MMIO、IRQ、异常入口"/>
          <p:cNvSpPr txBox="1"/>
          <p:nvPr/>
        </p:nvSpPr>
        <p:spPr>
          <a:xfrm>
            <a:off x="10024828" y="4194444"/>
            <a:ext cx="195309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MMIO、IRQ、异常入口</a:t>
            </a:r>
          </a:p>
        </p:txBody>
      </p:sp>
      <p:cxnSp>
        <p:nvCxnSpPr>
          <p:cNvPr id="22" name="ddr-app"/>
          <p:cNvCxnSpPr/>
          <p:nvPr/>
        </p:nvCxnSpPr>
        <p:spPr>
          <a:xfrm>
            <a:off x="11001375" y="2640330"/>
            <a:ext cx="0" cy="112014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23" name="safe"/>
          <p:cNvSpPr/>
          <p:nvPr/>
        </p:nvSpPr>
        <p:spPr>
          <a:xfrm>
            <a:off x="440055" y="3760470"/>
            <a:ext cx="3440430" cy="88011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6002" cap="flat">
            <a:solidFill>
              <a:srgbClr val="B653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13: PLL 不锁 / 训练失败 / 超时"/>
          <p:cNvSpPr txBox="1"/>
          <p:nvPr/>
        </p:nvSpPr>
        <p:spPr>
          <a:xfrm>
            <a:off x="1007538" y="3954414"/>
            <a:ext cx="230546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PLL 不锁 / 训练失败 / 超时</a:t>
            </a:r>
          </a:p>
        </p:txBody>
      </p:sp>
      <p:sp>
        <p:nvSpPr>
          <p:cNvPr id="25" name="text-14: 保持安全状态并报告"/>
          <p:cNvSpPr txBox="1"/>
          <p:nvPr/>
        </p:nvSpPr>
        <p:spPr>
          <a:xfrm>
            <a:off x="1280160" y="4194444"/>
            <a:ext cx="176022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保持安全状态并报告</a:t>
            </a:r>
          </a:p>
        </p:txBody>
      </p:sp>
      <p:sp>
        <p:nvSpPr>
          <p:cNvPr id="26" name="ready-fail"/>
          <p:cNvSpPr/>
          <p:nvPr/>
        </p:nvSpPr>
        <p:spPr>
          <a:xfrm>
            <a:off x="2160270" y="2640330"/>
            <a:ext cx="8841105" cy="1120140"/>
          </a:xfrm>
          <a:custGeom>
            <a:avLst/>
            <a:gdLst/>
            <a:ahLst/>
            <a:cxnLst/>
            <a:rect l="0" t="0" r="r" b="b"/>
            <a:pathLst>
              <a:path w="8841105" h="1120140" fill="none">
                <a:moveTo>
                  <a:pt x="8841105" y="0"/>
                </a:moveTo>
                <a:lnTo>
                  <a:pt x="8841105" y="520065"/>
                </a:lnTo>
                <a:lnTo>
                  <a:pt x="0" y="520065"/>
                </a:lnTo>
                <a:lnTo>
                  <a:pt x="0" y="1120140"/>
                </a:lnTo>
              </a:path>
            </a:pathLst>
          </a:custGeom>
          <a:noFill/>
          <a:ln w="24003" cap="flat">
            <a:solidFill>
              <a:srgbClr val="B6535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untime"/>
          <p:cNvSpPr/>
          <p:nvPr/>
        </p:nvSpPr>
        <p:spPr>
          <a:xfrm>
            <a:off x="5040630" y="5280660"/>
            <a:ext cx="7280910" cy="1000125"/>
          </a:xfrm>
          <a:prstGeom prst="roundRect">
            <a:avLst>
              <a:gd name="adj" fmla="val 960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15: 运行时调整：停新请求 → 排空 → 安全切钟 / 重配置 → 确认 → 恢复"/>
          <p:cNvSpPr txBox="1"/>
          <p:nvPr/>
        </p:nvSpPr>
        <p:spPr>
          <a:xfrm>
            <a:off x="5907207" y="5534612"/>
            <a:ext cx="554775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运行时调整：停新请求 → 排空 → 安全切钟 / 重配置 → 确认 → 恢复</a:t>
            </a:r>
          </a:p>
        </p:txBody>
      </p:sp>
      <p:sp>
        <p:nvSpPr>
          <p:cNvPr id="29" name="text-16: CDC 数据用握手 / 异步 FIFO；复位释放与队列状态按域审查"/>
          <p:cNvSpPr txBox="1"/>
          <p:nvPr/>
        </p:nvSpPr>
        <p:spPr>
          <a:xfrm>
            <a:off x="6261301" y="5774642"/>
            <a:ext cx="483956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CDC 数据用握手 / 异步 FIFO；复位释放与队列状态按域审查</a:t>
            </a:r>
          </a:p>
        </p:txBody>
      </p:sp>
      <p:sp>
        <p:nvSpPr>
          <p:cNvPr id="30" name="runtime-config"/>
          <p:cNvSpPr/>
          <p:nvPr/>
        </p:nvSpPr>
        <p:spPr>
          <a:xfrm>
            <a:off x="4400550" y="2640330"/>
            <a:ext cx="3520440" cy="3120390"/>
          </a:xfrm>
          <a:custGeom>
            <a:avLst/>
            <a:gdLst/>
            <a:ahLst/>
            <a:cxnLst/>
            <a:rect l="0" t="0" r="r" b="b"/>
            <a:pathLst>
              <a:path w="3520440" h="3120390" fill="none">
                <a:moveTo>
                  <a:pt x="640080" y="3120390"/>
                </a:moveTo>
                <a:lnTo>
                  <a:pt x="0" y="3120390"/>
                </a:lnTo>
                <a:lnTo>
                  <a:pt x="0" y="240030"/>
                </a:lnTo>
                <a:lnTo>
                  <a:pt x="3520440" y="240030"/>
                </a:lnTo>
                <a:lnTo>
                  <a:pt x="3520440" y="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" name="app-runtime"/>
          <p:cNvCxnSpPr/>
          <p:nvPr/>
        </p:nvCxnSpPr>
        <p:spPr>
          <a:xfrm>
            <a:off x="11001375" y="4640580"/>
            <a:ext cx="0" cy="64008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sp>
        <p:nvSpPr>
          <p:cNvPr id="32" name="text-17: 启用钩子前关闭返回路径缺陷；"/>
          <p:cNvSpPr txBox="1"/>
          <p:nvPr/>
        </p:nvSpPr>
        <p:spPr>
          <a:xfrm>
            <a:off x="480060" y="5827928"/>
            <a:ext cx="240030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启用钩子前关闭返回路径缺陷；</a:t>
            </a:r>
          </a:p>
        </p:txBody>
      </p:sp>
      <p:sp>
        <p:nvSpPr>
          <p:cNvPr id="33" name="text-18: C 栈对齐需单独复核。"/>
          <p:cNvSpPr txBox="1"/>
          <p:nvPr/>
        </p:nvSpPr>
        <p:spPr>
          <a:xfrm>
            <a:off x="480060" y="6107963"/>
            <a:ext cx="1747256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C 栈对齐需单独复核。</a:t>
            </a:r>
          </a:p>
        </p:txBody>
      </p:sp>
      <p:cxnSp>
        <p:nvCxnSpPr>
          <p:cNvPr id="34" name="legend-data"/>
          <p:cNvCxnSpPr/>
          <p:nvPr/>
        </p:nvCxnSpPr>
        <p:spPr>
          <a:xfrm>
            <a:off x="440055" y="6864858"/>
            <a:ext cx="384048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35" name="text-19: 数据 / 请求"/>
          <p:cNvSpPr txBox="1"/>
          <p:nvPr/>
        </p:nvSpPr>
        <p:spPr>
          <a:xfrm>
            <a:off x="94411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数据 / 请求</a:t>
            </a:r>
          </a:p>
        </p:txBody>
      </p:sp>
      <p:cxnSp>
        <p:nvCxnSpPr>
          <p:cNvPr id="36" name="legend-control"/>
          <p:cNvCxnSpPr/>
          <p:nvPr/>
        </p:nvCxnSpPr>
        <p:spPr>
          <a:xfrm>
            <a:off x="2720340" y="6864858"/>
            <a:ext cx="384048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sp>
        <p:nvSpPr>
          <p:cNvPr id="37" name="text-20: 配置 / 控制"/>
          <p:cNvSpPr txBox="1"/>
          <p:nvPr/>
        </p:nvSpPr>
        <p:spPr>
          <a:xfrm>
            <a:off x="322440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cxnSp>
        <p:nvCxnSpPr>
          <p:cNvPr id="38" name="legend-done"/>
          <p:cNvCxnSpPr/>
          <p:nvPr/>
        </p:nvCxnSpPr>
        <p:spPr>
          <a:xfrm>
            <a:off x="5000625" y="6864858"/>
            <a:ext cx="384048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39" name="text-21: 完成 / 交接"/>
          <p:cNvSpPr txBox="1"/>
          <p:nvPr/>
        </p:nvSpPr>
        <p:spPr>
          <a:xfrm>
            <a:off x="550468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完成 / 交接</a:t>
            </a:r>
          </a:p>
        </p:txBody>
      </p:sp>
      <p:cxnSp>
        <p:nvCxnSpPr>
          <p:cNvPr id="40" name="legend-error"/>
          <p:cNvCxnSpPr/>
          <p:nvPr/>
        </p:nvCxnSpPr>
        <p:spPr>
          <a:xfrm>
            <a:off x="7280910" y="6864858"/>
            <a:ext cx="384048" cy="0"/>
          </a:xfrm>
          <a:prstGeom prst="line">
            <a:avLst/>
          </a:prstGeom>
          <a:ln w="24003" cap="flat">
            <a:solidFill>
              <a:srgbClr val="B65353"/>
            </a:solidFill>
            <a:tailEnd type="triangle" w="med" len="med"/>
          </a:ln>
          <a:effectLst/>
        </p:spPr>
      </p:cxnSp>
      <p:sp>
        <p:nvSpPr>
          <p:cNvPr id="41" name="text-22: 故障 / 恢复"/>
          <p:cNvSpPr txBox="1"/>
          <p:nvPr/>
        </p:nvSpPr>
        <p:spPr>
          <a:xfrm>
            <a:off x="778497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故障 / 恢复</a:t>
            </a:r>
          </a:p>
        </p:txBody>
      </p:sp>
      <p:sp>
        <p:nvSpPr>
          <p:cNvPr id="42" name="text-23: 11 / 13"/>
          <p:cNvSpPr txBox="1"/>
          <p:nvPr/>
        </p:nvSpPr>
        <p:spPr>
          <a:xfrm>
            <a:off x="11594774" y="6756684"/>
            <a:ext cx="68676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1: 12  真实工艺：宏语义、测试接管与物理签核"/>
          <p:cNvSpPr txBox="1"/>
          <p:nvPr/>
        </p:nvSpPr>
        <p:spPr>
          <a:xfrm>
            <a:off x="400050" y="162260"/>
            <a:ext cx="5658007" cy="4352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42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12  真实工艺：宏语义、测试接管与物理签核</a:t>
            </a:r>
          </a:p>
        </p:txBody>
      </p:sp>
      <p:sp>
        <p:nvSpPr>
          <p:cNvPr id="3" name="text-2: FPGA 功能模型可作对照；宏的端口、时延、掩码和测试视图决定 ASIC 实现。"/>
          <p:cNvSpPr txBox="1"/>
          <p:nvPr/>
        </p:nvSpPr>
        <p:spPr>
          <a:xfrm>
            <a:off x="400050" y="610636"/>
            <a:ext cx="5916815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FPGA 功能模型可作对照；宏的端口、时延、掩码和测试视图决定 ASIC 实现。</a:t>
            </a:r>
          </a:p>
        </p:txBody>
      </p:sp>
      <p:sp>
        <p:nvSpPr>
          <p:cNvPr id="4" name="consumer"/>
          <p:cNvSpPr/>
          <p:nvPr/>
        </p:nvSpPr>
        <p:spPr>
          <a:xfrm>
            <a:off x="440055" y="1640205"/>
            <a:ext cx="2800350" cy="1040130"/>
          </a:xfrm>
          <a:prstGeom prst="roundRect">
            <a:avLst>
              <a:gd name="adj" fmla="val 923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3: 逻辑存储消费者"/>
          <p:cNvSpPr txBox="1"/>
          <p:nvPr/>
        </p:nvSpPr>
        <p:spPr>
          <a:xfrm>
            <a:off x="1136142" y="1794144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逻辑存储消费者</a:t>
            </a:r>
          </a:p>
        </p:txBody>
      </p:sp>
      <p:sp>
        <p:nvSpPr>
          <p:cNvPr id="6" name="text-4: CVA6 / Ara / LLC / GB"/>
          <p:cNvSpPr txBox="1"/>
          <p:nvPr/>
        </p:nvSpPr>
        <p:spPr>
          <a:xfrm>
            <a:off x="871159" y="2034174"/>
            <a:ext cx="193814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CVA6 / Ara / LLC / GB</a:t>
            </a:r>
          </a:p>
        </p:txBody>
      </p:sp>
      <p:sp>
        <p:nvSpPr>
          <p:cNvPr id="7" name="text-5: 读写与初始化假设"/>
          <p:cNvSpPr txBox="1"/>
          <p:nvPr/>
        </p:nvSpPr>
        <p:spPr>
          <a:xfrm>
            <a:off x="1048131" y="2274204"/>
            <a:ext cx="158419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读写与初始化假设</a:t>
            </a:r>
          </a:p>
        </p:txBody>
      </p:sp>
      <p:sp>
        <p:nvSpPr>
          <p:cNvPr id="8" name="wrapper"/>
          <p:cNvSpPr/>
          <p:nvPr/>
        </p:nvSpPr>
        <p:spPr>
          <a:xfrm>
            <a:off x="4560570" y="1640205"/>
            <a:ext cx="3360420" cy="1040130"/>
          </a:xfrm>
          <a:prstGeom prst="roundRect">
            <a:avLst>
              <a:gd name="adj" fmla="val 923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6: 宏适配与唯一实现选择"/>
          <p:cNvSpPr txBox="1"/>
          <p:nvPr/>
        </p:nvSpPr>
        <p:spPr>
          <a:xfrm>
            <a:off x="5272659" y="1794144"/>
            <a:ext cx="193624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宏适配与唯一实现选择</a:t>
            </a:r>
          </a:p>
        </p:txBody>
      </p:sp>
      <p:sp>
        <p:nvSpPr>
          <p:cNvPr id="10" name="text-7: 时延 / 掩码 / 同址冲突"/>
          <p:cNvSpPr txBox="1"/>
          <p:nvPr/>
        </p:nvSpPr>
        <p:spPr>
          <a:xfrm>
            <a:off x="5251694" y="2034174"/>
            <a:ext cx="197817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时延 / 掩码 / 同址冲突</a:t>
            </a:r>
          </a:p>
        </p:txBody>
      </p:sp>
      <p:sp>
        <p:nvSpPr>
          <p:cNvPr id="11" name="text-8: 有效位、复位与错误策略"/>
          <p:cNvSpPr txBox="1"/>
          <p:nvPr/>
        </p:nvSpPr>
        <p:spPr>
          <a:xfrm>
            <a:off x="5184648" y="2274204"/>
            <a:ext cx="211226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有效位、复位与错误策略</a:t>
            </a:r>
          </a:p>
        </p:txBody>
      </p:sp>
      <p:sp>
        <p:nvSpPr>
          <p:cNvPr id="12" name="macro"/>
          <p:cNvSpPr/>
          <p:nvPr/>
        </p:nvSpPr>
        <p:spPr>
          <a:xfrm>
            <a:off x="9241155" y="1640205"/>
            <a:ext cx="3120390" cy="1040130"/>
          </a:xfrm>
          <a:prstGeom prst="roundRect">
            <a:avLst>
              <a:gd name="adj" fmla="val 9230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9: 工艺 SRAM / ROM 宏"/>
          <p:cNvSpPr txBox="1"/>
          <p:nvPr/>
        </p:nvSpPr>
        <p:spPr>
          <a:xfrm>
            <a:off x="9883079" y="1794144"/>
            <a:ext cx="183654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工艺 SRAM / ROM 宏</a:t>
            </a:r>
          </a:p>
        </p:txBody>
      </p:sp>
      <p:sp>
        <p:nvSpPr>
          <p:cNvPr id="14" name="text-10: 功能模型 + 时序 / 物理视图"/>
          <p:cNvSpPr txBox="1"/>
          <p:nvPr/>
        </p:nvSpPr>
        <p:spPr>
          <a:xfrm>
            <a:off x="9629191" y="2034174"/>
            <a:ext cx="234431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功能模型 + 时序 / 物理视图</a:t>
            </a:r>
          </a:p>
        </p:txBody>
      </p:sp>
      <p:sp>
        <p:nvSpPr>
          <p:cNvPr id="15" name="text-11: PLL / IO / PHY 另行适配"/>
          <p:cNvSpPr txBox="1"/>
          <p:nvPr/>
        </p:nvSpPr>
        <p:spPr>
          <a:xfrm>
            <a:off x="9763270" y="2274204"/>
            <a:ext cx="207615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PLL / IO / PHY 另行适配</a:t>
            </a:r>
          </a:p>
        </p:txBody>
      </p:sp>
      <p:cxnSp>
        <p:nvCxnSpPr>
          <p:cNvPr id="16" name="consumer-wrap"/>
          <p:cNvCxnSpPr/>
          <p:nvPr/>
        </p:nvCxnSpPr>
        <p:spPr>
          <a:xfrm>
            <a:off x="3240405" y="2160270"/>
            <a:ext cx="1320165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17" name="wrap-macro"/>
          <p:cNvCxnSpPr/>
          <p:nvPr/>
        </p:nvCxnSpPr>
        <p:spPr>
          <a:xfrm>
            <a:off x="7920990" y="2160270"/>
            <a:ext cx="1320165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8" name="test"/>
          <p:cNvSpPr/>
          <p:nvPr/>
        </p:nvSpPr>
        <p:spPr>
          <a:xfrm>
            <a:off x="440055" y="3920490"/>
            <a:ext cx="2800350" cy="960120"/>
          </a:xfrm>
          <a:prstGeom prst="roundRect">
            <a:avLst>
              <a:gd name="adj" fmla="val 1000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12: Scan / MBIST / ATPG"/>
          <p:cNvSpPr txBox="1"/>
          <p:nvPr/>
        </p:nvSpPr>
        <p:spPr>
          <a:xfrm>
            <a:off x="915164" y="4034424"/>
            <a:ext cx="185013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Scan / MBIST / ATPG</a:t>
            </a:r>
          </a:p>
        </p:txBody>
      </p:sp>
      <p:sp>
        <p:nvSpPr>
          <p:cNvPr id="20" name="text-13: 测试时钟、复位、隔离"/>
          <p:cNvSpPr txBox="1"/>
          <p:nvPr/>
        </p:nvSpPr>
        <p:spPr>
          <a:xfrm>
            <a:off x="872109" y="4274454"/>
            <a:ext cx="193624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测试时钟、复位、隔离</a:t>
            </a:r>
          </a:p>
        </p:txBody>
      </p:sp>
      <p:sp>
        <p:nvSpPr>
          <p:cNvPr id="21" name="text-14: 测试访问与功能模式互斥"/>
          <p:cNvSpPr txBox="1"/>
          <p:nvPr/>
        </p:nvSpPr>
        <p:spPr>
          <a:xfrm>
            <a:off x="784098" y="4514484"/>
            <a:ext cx="211226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测试访问与功能模式互斥</a:t>
            </a:r>
          </a:p>
        </p:txBody>
      </p:sp>
      <p:sp>
        <p:nvSpPr>
          <p:cNvPr id="22" name="test-takeover"/>
          <p:cNvSpPr/>
          <p:nvPr/>
        </p:nvSpPr>
        <p:spPr>
          <a:xfrm>
            <a:off x="3240405" y="2680335"/>
            <a:ext cx="3000375" cy="1720215"/>
          </a:xfrm>
          <a:custGeom>
            <a:avLst/>
            <a:gdLst/>
            <a:ahLst/>
            <a:cxnLst/>
            <a:rect l="0" t="0" r="r" b="b"/>
            <a:pathLst>
              <a:path w="3000375" h="1720215" fill="none">
                <a:moveTo>
                  <a:pt x="0" y="1720215"/>
                </a:moveTo>
                <a:lnTo>
                  <a:pt x="760095" y="1720215"/>
                </a:lnTo>
                <a:lnTo>
                  <a:pt x="760095" y="400050"/>
                </a:lnTo>
                <a:lnTo>
                  <a:pt x="3000375" y="400050"/>
                </a:lnTo>
                <a:lnTo>
                  <a:pt x="3000375" y="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hysical"/>
          <p:cNvSpPr/>
          <p:nvPr/>
        </p:nvSpPr>
        <p:spPr>
          <a:xfrm>
            <a:off x="4560570" y="3920490"/>
            <a:ext cx="3360420" cy="960120"/>
          </a:xfrm>
          <a:prstGeom prst="roundRect">
            <a:avLst>
              <a:gd name="adj" fmla="val 1000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15: 综合 → 布局布线 → 提取"/>
          <p:cNvSpPr txBox="1"/>
          <p:nvPr/>
        </p:nvSpPr>
        <p:spPr>
          <a:xfrm>
            <a:off x="5167121" y="4034424"/>
            <a:ext cx="214731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综合 → 布局布线 → 提取</a:t>
            </a:r>
          </a:p>
        </p:txBody>
      </p:sp>
      <p:sp>
        <p:nvSpPr>
          <p:cNvPr id="25" name="text-16: 宏摆放 / 时钟 / 供电"/>
          <p:cNvSpPr txBox="1"/>
          <p:nvPr/>
        </p:nvSpPr>
        <p:spPr>
          <a:xfrm>
            <a:off x="5339705" y="4274454"/>
            <a:ext cx="180215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宏摆放 / 时钟 / 供电</a:t>
            </a:r>
          </a:p>
        </p:txBody>
      </p:sp>
      <p:sp>
        <p:nvSpPr>
          <p:cNvPr id="26" name="text-17: 真实库与 SDC"/>
          <p:cNvSpPr txBox="1"/>
          <p:nvPr/>
        </p:nvSpPr>
        <p:spPr>
          <a:xfrm>
            <a:off x="5607338" y="4514484"/>
            <a:ext cx="126688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真实库与 SDC</a:t>
            </a:r>
          </a:p>
        </p:txBody>
      </p:sp>
      <p:sp>
        <p:nvSpPr>
          <p:cNvPr id="27" name="macro-views"/>
          <p:cNvSpPr/>
          <p:nvPr/>
        </p:nvSpPr>
        <p:spPr>
          <a:xfrm>
            <a:off x="6240780" y="2680335"/>
            <a:ext cx="4560570" cy="1240155"/>
          </a:xfrm>
          <a:custGeom>
            <a:avLst/>
            <a:gdLst/>
            <a:ahLst/>
            <a:cxnLst/>
            <a:rect l="0" t="0" r="r" b="b"/>
            <a:pathLst>
              <a:path w="4560570" h="1240155" fill="none">
                <a:moveTo>
                  <a:pt x="4560570" y="0"/>
                </a:moveTo>
                <a:lnTo>
                  <a:pt x="4560570" y="520065"/>
                </a:lnTo>
                <a:lnTo>
                  <a:pt x="0" y="520065"/>
                </a:lnTo>
                <a:lnTo>
                  <a:pt x="0" y="1240155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signoff"/>
          <p:cNvSpPr/>
          <p:nvPr/>
        </p:nvSpPr>
        <p:spPr>
          <a:xfrm>
            <a:off x="9241155" y="3920490"/>
            <a:ext cx="3120390" cy="960120"/>
          </a:xfrm>
          <a:prstGeom prst="roundRect">
            <a:avLst>
              <a:gd name="adj" fmla="val 10000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18: 签核与交付证据"/>
          <p:cNvSpPr txBox="1"/>
          <p:nvPr/>
        </p:nvSpPr>
        <p:spPr>
          <a:xfrm>
            <a:off x="10097262" y="4034424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签核与交付证据</a:t>
            </a:r>
          </a:p>
        </p:txBody>
      </p:sp>
      <p:sp>
        <p:nvSpPr>
          <p:cNvPr id="30" name="text-19: STA / 等价 / DRC / LVS"/>
          <p:cNvSpPr txBox="1"/>
          <p:nvPr/>
        </p:nvSpPr>
        <p:spPr>
          <a:xfrm>
            <a:off x="9779335" y="4274454"/>
            <a:ext cx="204403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STA / 等价 / DRC / LVS</a:t>
            </a:r>
          </a:p>
        </p:txBody>
      </p:sp>
      <p:sp>
        <p:nvSpPr>
          <p:cNvPr id="31" name="text-20: 测试覆盖、IR / EM"/>
          <p:cNvSpPr txBox="1"/>
          <p:nvPr/>
        </p:nvSpPr>
        <p:spPr>
          <a:xfrm>
            <a:off x="9976072" y="4514484"/>
            <a:ext cx="165055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测试覆盖、IR / EM</a:t>
            </a:r>
          </a:p>
        </p:txBody>
      </p:sp>
      <p:cxnSp>
        <p:nvCxnSpPr>
          <p:cNvPr id="32" name="physical-signoff"/>
          <p:cNvCxnSpPr/>
          <p:nvPr/>
        </p:nvCxnSpPr>
        <p:spPr>
          <a:xfrm>
            <a:off x="7920990" y="4400550"/>
            <a:ext cx="1320165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33" name="test-signoff"/>
          <p:cNvSpPr/>
          <p:nvPr/>
        </p:nvSpPr>
        <p:spPr>
          <a:xfrm>
            <a:off x="1840230" y="4880610"/>
            <a:ext cx="8961120" cy="800100"/>
          </a:xfrm>
          <a:custGeom>
            <a:avLst/>
            <a:gdLst/>
            <a:ahLst/>
            <a:cxnLst/>
            <a:rect l="0" t="0" r="r" b="b"/>
            <a:pathLst>
              <a:path w="8961120" h="800100" fill="none">
                <a:moveTo>
                  <a:pt x="0" y="0"/>
                </a:moveTo>
                <a:lnTo>
                  <a:pt x="0" y="800100"/>
                </a:lnTo>
                <a:lnTo>
                  <a:pt x="8961120" y="800100"/>
                </a:lnTo>
                <a:lnTo>
                  <a:pt x="8961120" y="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21: 真实库的小设计试跑需早做；后端和 DFT 不宜等功能冻结才开始。"/>
          <p:cNvSpPr txBox="1"/>
          <p:nvPr/>
        </p:nvSpPr>
        <p:spPr>
          <a:xfrm>
            <a:off x="4560570" y="6059317"/>
            <a:ext cx="5080648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真实库的小设计试跑需早做；后端和 DFT 不宜等功能冻结才开始。</a:t>
            </a:r>
          </a:p>
        </p:txBody>
      </p:sp>
      <p:cxnSp>
        <p:nvCxnSpPr>
          <p:cNvPr id="35" name="legend-data"/>
          <p:cNvCxnSpPr/>
          <p:nvPr/>
        </p:nvCxnSpPr>
        <p:spPr>
          <a:xfrm>
            <a:off x="440055" y="6864858"/>
            <a:ext cx="384048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36" name="text-22: 数据 / 请求"/>
          <p:cNvSpPr txBox="1"/>
          <p:nvPr/>
        </p:nvSpPr>
        <p:spPr>
          <a:xfrm>
            <a:off x="94411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数据 / 请求</a:t>
            </a:r>
          </a:p>
        </p:txBody>
      </p:sp>
      <p:cxnSp>
        <p:nvCxnSpPr>
          <p:cNvPr id="37" name="legend-control"/>
          <p:cNvCxnSpPr/>
          <p:nvPr/>
        </p:nvCxnSpPr>
        <p:spPr>
          <a:xfrm>
            <a:off x="2720340" y="6864858"/>
            <a:ext cx="384048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sp>
        <p:nvSpPr>
          <p:cNvPr id="38" name="text-23: 配置 / 控制"/>
          <p:cNvSpPr txBox="1"/>
          <p:nvPr/>
        </p:nvSpPr>
        <p:spPr>
          <a:xfrm>
            <a:off x="322440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cxnSp>
        <p:nvCxnSpPr>
          <p:cNvPr id="39" name="legend-done"/>
          <p:cNvCxnSpPr/>
          <p:nvPr/>
        </p:nvCxnSpPr>
        <p:spPr>
          <a:xfrm>
            <a:off x="5000625" y="6864858"/>
            <a:ext cx="384048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40" name="text-24: 完成 / 交接"/>
          <p:cNvSpPr txBox="1"/>
          <p:nvPr/>
        </p:nvSpPr>
        <p:spPr>
          <a:xfrm>
            <a:off x="550468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完成 / 交接</a:t>
            </a:r>
          </a:p>
        </p:txBody>
      </p:sp>
      <p:cxnSp>
        <p:nvCxnSpPr>
          <p:cNvPr id="41" name="legend-error"/>
          <p:cNvCxnSpPr/>
          <p:nvPr/>
        </p:nvCxnSpPr>
        <p:spPr>
          <a:xfrm>
            <a:off x="7280910" y="6864858"/>
            <a:ext cx="384048" cy="0"/>
          </a:xfrm>
          <a:prstGeom prst="line">
            <a:avLst/>
          </a:prstGeom>
          <a:ln w="24003" cap="flat">
            <a:solidFill>
              <a:srgbClr val="B65353"/>
            </a:solidFill>
            <a:tailEnd type="triangle" w="med" len="med"/>
          </a:ln>
          <a:effectLst/>
        </p:spPr>
      </p:cxnSp>
      <p:sp>
        <p:nvSpPr>
          <p:cNvPr id="42" name="text-25: 故障 / 恢复"/>
          <p:cNvSpPr txBox="1"/>
          <p:nvPr/>
        </p:nvSpPr>
        <p:spPr>
          <a:xfrm>
            <a:off x="778497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故障 / 恢复</a:t>
            </a:r>
          </a:p>
        </p:txBody>
      </p:sp>
      <p:sp>
        <p:nvSpPr>
          <p:cNvPr id="43" name="text-26: 12 / 13"/>
          <p:cNvSpPr txBox="1"/>
          <p:nvPr/>
        </p:nvSpPr>
        <p:spPr>
          <a:xfrm>
            <a:off x="11594774" y="6756684"/>
            <a:ext cx="68676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1: 13  验证与调试：从故障触发到可追溯证据"/>
          <p:cNvSpPr txBox="1"/>
          <p:nvPr/>
        </p:nvSpPr>
        <p:spPr>
          <a:xfrm>
            <a:off x="400050" y="162260"/>
            <a:ext cx="5385973" cy="4352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42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13  验证与调试：从故障触发到可追溯证据</a:t>
            </a:r>
          </a:p>
        </p:txBody>
      </p:sp>
      <p:sp>
        <p:nvSpPr>
          <p:cNvPr id="3" name="text-2: 源码发现、动态复现、修复回归、系统通过是四种不同状态。"/>
          <p:cNvSpPr txBox="1"/>
          <p:nvPr/>
        </p:nvSpPr>
        <p:spPr>
          <a:xfrm>
            <a:off x="400050" y="610636"/>
            <a:ext cx="4704588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源码发现、动态复现、修复回归、系统通过是四种不同状态。</a:t>
            </a:r>
          </a:p>
        </p:txBody>
      </p:sp>
      <p:sp>
        <p:nvSpPr>
          <p:cNvPr id="4" name="stim"/>
          <p:cNvSpPr/>
          <p:nvPr/>
        </p:nvSpPr>
        <p:spPr>
          <a:xfrm>
            <a:off x="440055" y="1640205"/>
            <a:ext cx="2800350" cy="960120"/>
          </a:xfrm>
          <a:prstGeom prst="roundRect">
            <a:avLst>
              <a:gd name="adj" fmla="val 1000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3: 激励 / 故障注入"/>
          <p:cNvSpPr txBox="1"/>
          <p:nvPr/>
        </p:nvSpPr>
        <p:spPr>
          <a:xfrm>
            <a:off x="1125659" y="1754139"/>
            <a:ext cx="142914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激励 / 故障注入</a:t>
            </a:r>
          </a:p>
        </p:txBody>
      </p:sp>
      <p:sp>
        <p:nvSpPr>
          <p:cNvPr id="6" name="text-4: 并发、背压、错误响应"/>
          <p:cNvSpPr txBox="1"/>
          <p:nvPr/>
        </p:nvSpPr>
        <p:spPr>
          <a:xfrm>
            <a:off x="872109" y="1994169"/>
            <a:ext cx="193624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并发、背压、错误响应</a:t>
            </a:r>
          </a:p>
        </p:txBody>
      </p:sp>
      <p:sp>
        <p:nvSpPr>
          <p:cNvPr id="7" name="text-5: 迟到事件、复位边界"/>
          <p:cNvSpPr txBox="1"/>
          <p:nvPr/>
        </p:nvSpPr>
        <p:spPr>
          <a:xfrm>
            <a:off x="960120" y="2234199"/>
            <a:ext cx="176022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迟到事件、复位边界</a:t>
            </a:r>
          </a:p>
        </p:txBody>
      </p:sp>
      <p:sp>
        <p:nvSpPr>
          <p:cNvPr id="8" name="dut"/>
          <p:cNvSpPr/>
          <p:nvPr/>
        </p:nvSpPr>
        <p:spPr>
          <a:xfrm>
            <a:off x="4880610" y="1640205"/>
            <a:ext cx="3040380" cy="960120"/>
          </a:xfrm>
          <a:prstGeom prst="roundRect">
            <a:avLst>
              <a:gd name="adj" fmla="val 1000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6: 被测模块 / SoC"/>
          <p:cNvSpPr txBox="1"/>
          <p:nvPr/>
        </p:nvSpPr>
        <p:spPr>
          <a:xfrm>
            <a:off x="5705819" y="1754139"/>
            <a:ext cx="138996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被测模块 / SoC</a:t>
            </a:r>
          </a:p>
        </p:txBody>
      </p:sp>
      <p:sp>
        <p:nvSpPr>
          <p:cNvPr id="10" name="text-7: 固定配置与依赖版本"/>
          <p:cNvSpPr txBox="1"/>
          <p:nvPr/>
        </p:nvSpPr>
        <p:spPr>
          <a:xfrm>
            <a:off x="5520690" y="1994169"/>
            <a:ext cx="176022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固定配置与依赖版本</a:t>
            </a:r>
          </a:p>
        </p:txBody>
      </p:sp>
      <p:sp>
        <p:nvSpPr>
          <p:cNvPr id="11" name="text-8: 实际 RTL 或 FPGA"/>
          <p:cNvSpPr txBox="1"/>
          <p:nvPr/>
        </p:nvSpPr>
        <p:spPr>
          <a:xfrm>
            <a:off x="5628385" y="2234199"/>
            <a:ext cx="154483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实际 RTL 或 FPGA</a:t>
            </a:r>
          </a:p>
        </p:txBody>
      </p:sp>
      <p:sp>
        <p:nvSpPr>
          <p:cNvPr id="12" name="observe"/>
          <p:cNvSpPr/>
          <p:nvPr/>
        </p:nvSpPr>
        <p:spPr>
          <a:xfrm>
            <a:off x="9481185" y="1640205"/>
            <a:ext cx="2800350" cy="960120"/>
          </a:xfrm>
          <a:prstGeom prst="roundRect">
            <a:avLst>
              <a:gd name="adj" fmla="val 10000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9: 观测点 / 断言 / 计数"/>
          <p:cNvSpPr txBox="1"/>
          <p:nvPr/>
        </p:nvSpPr>
        <p:spPr>
          <a:xfrm>
            <a:off x="9980285" y="1754139"/>
            <a:ext cx="180215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观测点 / 断言 / 计数</a:t>
            </a:r>
          </a:p>
        </p:txBody>
      </p:sp>
      <p:sp>
        <p:nvSpPr>
          <p:cNvPr id="14" name="text-10: 请求、完成、数据版本"/>
          <p:cNvSpPr txBox="1"/>
          <p:nvPr/>
        </p:nvSpPr>
        <p:spPr>
          <a:xfrm>
            <a:off x="9913239" y="1994169"/>
            <a:ext cx="193624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请求、完成、数据版本</a:t>
            </a:r>
          </a:p>
        </p:txBody>
      </p:sp>
      <p:sp>
        <p:nvSpPr>
          <p:cNvPr id="15" name="text-11: 任务身份与错误阶段"/>
          <p:cNvSpPr txBox="1"/>
          <p:nvPr/>
        </p:nvSpPr>
        <p:spPr>
          <a:xfrm>
            <a:off x="10001250" y="2234199"/>
            <a:ext cx="176022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任务身份与错误阶段</a:t>
            </a:r>
          </a:p>
        </p:txBody>
      </p:sp>
      <p:cxnSp>
        <p:nvCxnSpPr>
          <p:cNvPr id="16" name="stim-dut"/>
          <p:cNvCxnSpPr/>
          <p:nvPr/>
        </p:nvCxnSpPr>
        <p:spPr>
          <a:xfrm>
            <a:off x="3240405" y="2120265"/>
            <a:ext cx="1640205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cxnSp>
        <p:nvCxnSpPr>
          <p:cNvPr id="17" name="dut-observe"/>
          <p:cNvCxnSpPr/>
          <p:nvPr/>
        </p:nvCxnSpPr>
        <p:spPr>
          <a:xfrm>
            <a:off x="7920990" y="2120265"/>
            <a:ext cx="1560195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18" name="gold"/>
          <p:cNvSpPr/>
          <p:nvPr/>
        </p:nvSpPr>
        <p:spPr>
          <a:xfrm>
            <a:off x="440055" y="3920490"/>
            <a:ext cx="2800350" cy="920115"/>
          </a:xfrm>
          <a:prstGeom prst="roundRect">
            <a:avLst>
              <a:gd name="adj" fmla="val 10434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12: 独立参考 / 期望行为"/>
          <p:cNvSpPr txBox="1"/>
          <p:nvPr/>
        </p:nvSpPr>
        <p:spPr>
          <a:xfrm>
            <a:off x="949637" y="4014422"/>
            <a:ext cx="178118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独立参考 / 期望行为</a:t>
            </a:r>
          </a:p>
        </p:txBody>
      </p:sp>
      <p:sp>
        <p:nvSpPr>
          <p:cNvPr id="20" name="text-13: 算法、字节和生命周期"/>
          <p:cNvSpPr txBox="1"/>
          <p:nvPr/>
        </p:nvSpPr>
        <p:spPr>
          <a:xfrm>
            <a:off x="872109" y="4254452"/>
            <a:ext cx="193624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算法、字节和生命周期</a:t>
            </a:r>
          </a:p>
        </p:txBody>
      </p:sp>
      <p:sp>
        <p:nvSpPr>
          <p:cNvPr id="21" name="text-14: 不从 DUT 输出自证"/>
          <p:cNvSpPr txBox="1"/>
          <p:nvPr/>
        </p:nvSpPr>
        <p:spPr>
          <a:xfrm>
            <a:off x="1013070" y="4494482"/>
            <a:ext cx="165431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不从 DUT 输出自证</a:t>
            </a:r>
          </a:p>
        </p:txBody>
      </p:sp>
      <p:sp>
        <p:nvSpPr>
          <p:cNvPr id="22" name="check"/>
          <p:cNvSpPr/>
          <p:nvPr/>
        </p:nvSpPr>
        <p:spPr>
          <a:xfrm>
            <a:off x="4880610" y="3920490"/>
            <a:ext cx="3040380" cy="920115"/>
          </a:xfrm>
          <a:prstGeom prst="roundRect">
            <a:avLst>
              <a:gd name="adj" fmla="val 10434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15: 检查器 / 覆盖矩阵"/>
          <p:cNvSpPr txBox="1"/>
          <p:nvPr/>
        </p:nvSpPr>
        <p:spPr>
          <a:xfrm>
            <a:off x="5598218" y="4014422"/>
            <a:ext cx="160516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检查器 / 覆盖矩阵</a:t>
            </a:r>
          </a:p>
        </p:txBody>
      </p:sp>
      <p:sp>
        <p:nvSpPr>
          <p:cNvPr id="24" name="text-16: 结果、顺序、进展"/>
          <p:cNvSpPr txBox="1"/>
          <p:nvPr/>
        </p:nvSpPr>
        <p:spPr>
          <a:xfrm>
            <a:off x="5608701" y="4254452"/>
            <a:ext cx="158419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结果、顺序、进展</a:t>
            </a:r>
          </a:p>
        </p:txBody>
      </p:sp>
      <p:sp>
        <p:nvSpPr>
          <p:cNvPr id="25" name="text-17: 部分结果与失败不得成功"/>
          <p:cNvSpPr txBox="1"/>
          <p:nvPr/>
        </p:nvSpPr>
        <p:spPr>
          <a:xfrm>
            <a:off x="5344668" y="4494482"/>
            <a:ext cx="211226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部分结果与失败不得成功</a:t>
            </a:r>
          </a:p>
        </p:txBody>
      </p:sp>
      <p:sp>
        <p:nvSpPr>
          <p:cNvPr id="26" name="evidence"/>
          <p:cNvSpPr/>
          <p:nvPr/>
        </p:nvSpPr>
        <p:spPr>
          <a:xfrm>
            <a:off x="9481185" y="3920490"/>
            <a:ext cx="2800350" cy="920115"/>
          </a:xfrm>
          <a:prstGeom prst="roundRect">
            <a:avLst>
              <a:gd name="adj" fmla="val 10434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18: 证据与关闭记录"/>
          <p:cNvSpPr txBox="1"/>
          <p:nvPr/>
        </p:nvSpPr>
        <p:spPr>
          <a:xfrm>
            <a:off x="10177272" y="4014422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证据与关闭记录</a:t>
            </a:r>
          </a:p>
        </p:txBody>
      </p:sp>
      <p:sp>
        <p:nvSpPr>
          <p:cNvPr id="28" name="text-19: 版本 / 命令 / 日志"/>
          <p:cNvSpPr txBox="1"/>
          <p:nvPr/>
        </p:nvSpPr>
        <p:spPr>
          <a:xfrm>
            <a:off x="10068296" y="4254452"/>
            <a:ext cx="162612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版本 / 命令 / 日志</a:t>
            </a:r>
          </a:p>
        </p:txBody>
      </p:sp>
      <p:sp>
        <p:nvSpPr>
          <p:cNvPr id="29" name="text-20: 未通过和未测项"/>
          <p:cNvSpPr txBox="1"/>
          <p:nvPr/>
        </p:nvSpPr>
        <p:spPr>
          <a:xfrm>
            <a:off x="10177272" y="4494482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未通过和未测项</a:t>
            </a:r>
          </a:p>
        </p:txBody>
      </p:sp>
      <p:cxnSp>
        <p:nvCxnSpPr>
          <p:cNvPr id="30" name="reference-check"/>
          <p:cNvCxnSpPr/>
          <p:nvPr/>
        </p:nvCxnSpPr>
        <p:spPr>
          <a:xfrm>
            <a:off x="3240405" y="4376547"/>
            <a:ext cx="1640205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sp>
        <p:nvSpPr>
          <p:cNvPr id="31" name="observe-check"/>
          <p:cNvSpPr/>
          <p:nvPr/>
        </p:nvSpPr>
        <p:spPr>
          <a:xfrm>
            <a:off x="6400800" y="2600325"/>
            <a:ext cx="4480560" cy="1320165"/>
          </a:xfrm>
          <a:custGeom>
            <a:avLst/>
            <a:gdLst/>
            <a:ahLst/>
            <a:cxnLst/>
            <a:rect l="0" t="0" r="r" b="b"/>
            <a:pathLst>
              <a:path w="4480560" h="1320165" fill="none">
                <a:moveTo>
                  <a:pt x="4480560" y="0"/>
                </a:moveTo>
                <a:lnTo>
                  <a:pt x="4480560" y="600075"/>
                </a:lnTo>
                <a:lnTo>
                  <a:pt x="0" y="600075"/>
                </a:lnTo>
                <a:lnTo>
                  <a:pt x="0" y="1320165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" name="check-evidence"/>
          <p:cNvCxnSpPr/>
          <p:nvPr/>
        </p:nvCxnSpPr>
        <p:spPr>
          <a:xfrm>
            <a:off x="7920990" y="4376547"/>
            <a:ext cx="1560195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33" name="defects"/>
          <p:cNvSpPr/>
          <p:nvPr/>
        </p:nvSpPr>
        <p:spPr>
          <a:xfrm>
            <a:off x="440055" y="5680710"/>
            <a:ext cx="11841480" cy="720090"/>
          </a:xfrm>
          <a:prstGeom prst="roundRect">
            <a:avLst>
              <a:gd name="adj" fmla="val 13333"/>
            </a:avLst>
          </a:prstGeom>
          <a:solidFill>
            <a:srgbClr val="FBEAEA"/>
          </a:solidFill>
          <a:ln w="16002" cap="flat">
            <a:solidFill>
              <a:srgbClr val="B653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21: 已登记：Platform ROM / C 栈 / LLC R-B 错误 / Ar"/>
          <p:cNvSpPr txBox="1"/>
          <p:nvPr/>
        </p:nvSpPr>
        <p:spPr>
          <a:xfrm>
            <a:off x="3333367" y="5794644"/>
            <a:ext cx="605485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已登记：Platform ROM / C 栈 / LLC R-B 错误 / Ara B 错误 / iDMA 控制宽度</a:t>
            </a:r>
          </a:p>
        </p:txBody>
      </p:sp>
      <p:sp>
        <p:nvSpPr>
          <p:cNvPr id="35" name="text-22: 按触发条件定向复现和关闭；HelloWorld 或文档检查不证明这些项目通过。"/>
          <p:cNvSpPr txBox="1"/>
          <p:nvPr/>
        </p:nvSpPr>
        <p:spPr>
          <a:xfrm>
            <a:off x="3370915" y="6034674"/>
            <a:ext cx="597976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按触发条件定向复现和关闭；HelloWorld 或文档检查不证明这些项目通过。</a:t>
            </a:r>
          </a:p>
        </p:txBody>
      </p:sp>
      <p:sp>
        <p:nvSpPr>
          <p:cNvPr id="36" name="defect-stim"/>
          <p:cNvSpPr/>
          <p:nvPr/>
        </p:nvSpPr>
        <p:spPr>
          <a:xfrm>
            <a:off x="240030" y="2120265"/>
            <a:ext cx="200025" cy="3920490"/>
          </a:xfrm>
          <a:custGeom>
            <a:avLst/>
            <a:gdLst/>
            <a:ahLst/>
            <a:cxnLst/>
            <a:rect l="0" t="0" r="r" b="b"/>
            <a:pathLst>
              <a:path w="200025" h="3920490" fill="none">
                <a:moveTo>
                  <a:pt x="200025" y="3920490"/>
                </a:moveTo>
                <a:lnTo>
                  <a:pt x="0" y="3920490"/>
                </a:lnTo>
                <a:lnTo>
                  <a:pt x="0" y="0"/>
                </a:lnTo>
                <a:lnTo>
                  <a:pt x="200025" y="0"/>
                </a:lnTo>
              </a:path>
            </a:pathLst>
          </a:custGeom>
          <a:noFill/>
          <a:ln w="24003" cap="flat">
            <a:solidFill>
              <a:srgbClr val="B6535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" name="legend-data"/>
          <p:cNvCxnSpPr/>
          <p:nvPr/>
        </p:nvCxnSpPr>
        <p:spPr>
          <a:xfrm>
            <a:off x="440055" y="6864858"/>
            <a:ext cx="384048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38" name="text-23: 数据 / 请求"/>
          <p:cNvSpPr txBox="1"/>
          <p:nvPr/>
        </p:nvSpPr>
        <p:spPr>
          <a:xfrm>
            <a:off x="94411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数据 / 请求</a:t>
            </a:r>
          </a:p>
        </p:txBody>
      </p:sp>
      <p:cxnSp>
        <p:nvCxnSpPr>
          <p:cNvPr id="39" name="legend-control"/>
          <p:cNvCxnSpPr/>
          <p:nvPr/>
        </p:nvCxnSpPr>
        <p:spPr>
          <a:xfrm>
            <a:off x="2720340" y="6864858"/>
            <a:ext cx="384048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sp>
        <p:nvSpPr>
          <p:cNvPr id="40" name="text-24: 配置 / 控制"/>
          <p:cNvSpPr txBox="1"/>
          <p:nvPr/>
        </p:nvSpPr>
        <p:spPr>
          <a:xfrm>
            <a:off x="322440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cxnSp>
        <p:nvCxnSpPr>
          <p:cNvPr id="41" name="legend-done"/>
          <p:cNvCxnSpPr/>
          <p:nvPr/>
        </p:nvCxnSpPr>
        <p:spPr>
          <a:xfrm>
            <a:off x="5000625" y="6864858"/>
            <a:ext cx="384048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42" name="text-25: 完成 / 交接"/>
          <p:cNvSpPr txBox="1"/>
          <p:nvPr/>
        </p:nvSpPr>
        <p:spPr>
          <a:xfrm>
            <a:off x="550468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完成 / 交接</a:t>
            </a:r>
          </a:p>
        </p:txBody>
      </p:sp>
      <p:cxnSp>
        <p:nvCxnSpPr>
          <p:cNvPr id="43" name="legend-error"/>
          <p:cNvCxnSpPr/>
          <p:nvPr/>
        </p:nvCxnSpPr>
        <p:spPr>
          <a:xfrm>
            <a:off x="7280910" y="6864858"/>
            <a:ext cx="384048" cy="0"/>
          </a:xfrm>
          <a:prstGeom prst="line">
            <a:avLst/>
          </a:prstGeom>
          <a:ln w="24003" cap="flat">
            <a:solidFill>
              <a:srgbClr val="B65353"/>
            </a:solidFill>
            <a:tailEnd type="triangle" w="med" len="med"/>
          </a:ln>
          <a:effectLst/>
        </p:spPr>
      </p:cxnSp>
      <p:sp>
        <p:nvSpPr>
          <p:cNvPr id="44" name="text-26: 故障 / 恢复"/>
          <p:cNvSpPr txBox="1"/>
          <p:nvPr/>
        </p:nvSpPr>
        <p:spPr>
          <a:xfrm>
            <a:off x="778497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故障 / 恢复</a:t>
            </a:r>
          </a:p>
        </p:txBody>
      </p:sp>
      <p:sp>
        <p:nvSpPr>
          <p:cNvPr id="45" name="text-27: 13 / 13"/>
          <p:cNvSpPr txBox="1"/>
          <p:nvPr/>
        </p:nvSpPr>
        <p:spPr>
          <a:xfrm>
            <a:off x="11594774" y="6756684"/>
            <a:ext cx="68676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