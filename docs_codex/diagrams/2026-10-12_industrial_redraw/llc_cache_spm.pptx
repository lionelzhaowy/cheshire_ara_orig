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LLC 多路组相联 Cache 与按 way 切换 SPM"/>
          <p:cNvSpPr txBox="1"/>
          <p:nvPr/>
        </p:nvSpPr>
        <p:spPr>
          <a:xfrm>
            <a:off x="470263" y="193957"/>
            <a:ext cx="8874954" cy="7189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3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多路组相联 Cache 与按 way 切换 SPM</a:t>
            </a:r>
          </a:p>
        </p:txBody>
      </p:sp>
      <p:sp>
        <p:nvSpPr>
          <p:cNvPr id="3" name="o3: DefaultCfg：8 way × 256 行/way × 8 个 64-bi"/>
          <p:cNvSpPr txBox="1"/>
          <p:nvPr/>
        </p:nvSpPr>
        <p:spPr>
          <a:xfrm>
            <a:off x="501614" y="899561"/>
            <a:ext cx="9102036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DefaultCfg：8 way × 256 行/way × 8 个 64-bit 块/行 = 128 KiB；每 way 16 KiB</a:t>
            </a:r>
          </a:p>
        </p:txBody>
      </p:sp>
      <p:sp>
        <p:nvSpPr>
          <p:cNvPr id="4" name="cache"/>
          <p:cNvSpPr/>
          <p:nvPr/>
        </p:nvSpPr>
        <p:spPr>
          <a:xfrm>
            <a:off x="522514" y="1933303"/>
            <a:ext cx="17242971" cy="9614263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① 全 Cache · 8 路组相联 · CFG_SPM = 0x00"/>
          <p:cNvSpPr txBox="1"/>
          <p:nvPr/>
        </p:nvSpPr>
        <p:spPr>
          <a:xfrm>
            <a:off x="5917050" y="2044076"/>
            <a:ext cx="6453901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全 Cache · 8 路组相联 · CFG_SPM = 0x00</a:t>
            </a:r>
          </a:p>
        </p:txBody>
      </p:sp>
      <p:sp>
        <p:nvSpPr>
          <p:cNvPr id="6" name="partition"/>
          <p:cNvSpPr/>
          <p:nvPr/>
        </p:nvSpPr>
        <p:spPr>
          <a:xfrm>
            <a:off x="18183497" y="1933303"/>
            <a:ext cx="10554789" cy="9614263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② 同一数据阵列按整 way 分配"/>
          <p:cNvSpPr txBox="1"/>
          <p:nvPr/>
        </p:nvSpPr>
        <p:spPr>
          <a:xfrm>
            <a:off x="21185203" y="2044076"/>
            <a:ext cx="4551377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同一数据阵列按整 way 分配</a:t>
            </a:r>
          </a:p>
        </p:txBody>
      </p:sp>
      <p:sp>
        <p:nvSpPr>
          <p:cNvPr id="8" name="tag"/>
          <p:cNvSpPr/>
          <p:nvPr/>
        </p:nvSpPr>
        <p:spPr>
          <a:xfrm>
            <a:off x="992777" y="2978331"/>
            <a:ext cx="5225143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Tag [47:14]"/>
          <p:cNvSpPr txBox="1"/>
          <p:nvPr/>
        </p:nvSpPr>
        <p:spPr>
          <a:xfrm>
            <a:off x="2707506" y="3106661"/>
            <a:ext cx="179568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Tag [47:14]</a:t>
            </a:r>
          </a:p>
        </p:txBody>
      </p:sp>
      <p:sp>
        <p:nvSpPr>
          <p:cNvPr id="10" name="o10: 34 bit"/>
          <p:cNvSpPr txBox="1"/>
          <p:nvPr/>
        </p:nvSpPr>
        <p:spPr>
          <a:xfrm>
            <a:off x="3154313" y="3507116"/>
            <a:ext cx="90207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11" name="set"/>
          <p:cNvSpPr/>
          <p:nvPr/>
        </p:nvSpPr>
        <p:spPr>
          <a:xfrm>
            <a:off x="6217920" y="2978331"/>
            <a:ext cx="3657600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12: Set [13:6]"/>
          <p:cNvSpPr txBox="1"/>
          <p:nvPr/>
        </p:nvSpPr>
        <p:spPr>
          <a:xfrm>
            <a:off x="7245599" y="3106661"/>
            <a:ext cx="160224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Set [13:6]</a:t>
            </a:r>
          </a:p>
        </p:txBody>
      </p:sp>
      <p:sp>
        <p:nvSpPr>
          <p:cNvPr id="13" name="o13: 256 组"/>
          <p:cNvSpPr txBox="1"/>
          <p:nvPr/>
        </p:nvSpPr>
        <p:spPr>
          <a:xfrm>
            <a:off x="7532737" y="3507116"/>
            <a:ext cx="102796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256 组</a:t>
            </a:r>
          </a:p>
        </p:txBody>
      </p:sp>
      <p:sp>
        <p:nvSpPr>
          <p:cNvPr id="14" name="block"/>
          <p:cNvSpPr/>
          <p:nvPr/>
        </p:nvSpPr>
        <p:spPr>
          <a:xfrm>
            <a:off x="9875520" y="2978331"/>
            <a:ext cx="3762103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15: Block [5:3]"/>
          <p:cNvSpPr txBox="1"/>
          <p:nvPr/>
        </p:nvSpPr>
        <p:spPr>
          <a:xfrm>
            <a:off x="10911584" y="3106661"/>
            <a:ext cx="168997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Block [5:3]</a:t>
            </a:r>
          </a:p>
        </p:txBody>
      </p:sp>
      <p:sp>
        <p:nvSpPr>
          <p:cNvPr id="16" name="o16: 8 个数据块"/>
          <p:cNvSpPr txBox="1"/>
          <p:nvPr/>
        </p:nvSpPr>
        <p:spPr>
          <a:xfrm>
            <a:off x="11016765" y="3507116"/>
            <a:ext cx="147961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8 个数据块</a:t>
            </a:r>
          </a:p>
        </p:txBody>
      </p:sp>
      <p:sp>
        <p:nvSpPr>
          <p:cNvPr id="17" name="byte"/>
          <p:cNvSpPr/>
          <p:nvPr/>
        </p:nvSpPr>
        <p:spPr>
          <a:xfrm>
            <a:off x="13637623" y="2978331"/>
            <a:ext cx="3657600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Byte [2:0]"/>
          <p:cNvSpPr txBox="1"/>
          <p:nvPr/>
        </p:nvSpPr>
        <p:spPr>
          <a:xfrm>
            <a:off x="14691591" y="3106661"/>
            <a:ext cx="154966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Byte [2:0]</a:t>
            </a:r>
          </a:p>
        </p:txBody>
      </p:sp>
      <p:sp>
        <p:nvSpPr>
          <p:cNvPr id="19" name="o19: 块内 8 字节"/>
          <p:cNvSpPr txBox="1"/>
          <p:nvPr/>
        </p:nvSpPr>
        <p:spPr>
          <a:xfrm>
            <a:off x="14689020" y="3507116"/>
            <a:ext cx="1554807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块内 8 字节</a:t>
            </a:r>
          </a:p>
        </p:txBody>
      </p:sp>
      <p:sp>
        <p:nvSpPr>
          <p:cNvPr id="20" name="o20: 选中一组；Tag 与各 way 的元数据并行比较"/>
          <p:cNvSpPr txBox="1"/>
          <p:nvPr/>
        </p:nvSpPr>
        <p:spPr>
          <a:xfrm>
            <a:off x="6523125" y="4177606"/>
            <a:ext cx="586876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选中一组；Tag 与各 way 的元数据并行比较</a:t>
            </a:r>
          </a:p>
        </p:txBody>
      </p:sp>
      <p:sp>
        <p:nvSpPr>
          <p:cNvPr id="21" name="o21: Way 0"/>
          <p:cNvSpPr txBox="1"/>
          <p:nvPr/>
        </p:nvSpPr>
        <p:spPr>
          <a:xfrm>
            <a:off x="2896697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0</a:t>
            </a:r>
          </a:p>
        </p:txBody>
      </p:sp>
      <p:sp>
        <p:nvSpPr>
          <p:cNvPr id="22" name="o22: Way 1"/>
          <p:cNvSpPr txBox="1"/>
          <p:nvPr/>
        </p:nvSpPr>
        <p:spPr>
          <a:xfrm>
            <a:off x="4673245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1</a:t>
            </a:r>
          </a:p>
        </p:txBody>
      </p:sp>
      <p:sp>
        <p:nvSpPr>
          <p:cNvPr id="23" name="o23: Way 2"/>
          <p:cNvSpPr txBox="1"/>
          <p:nvPr/>
        </p:nvSpPr>
        <p:spPr>
          <a:xfrm>
            <a:off x="6449794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2</a:t>
            </a:r>
          </a:p>
        </p:txBody>
      </p:sp>
      <p:sp>
        <p:nvSpPr>
          <p:cNvPr id="24" name="o24: Way 3"/>
          <p:cNvSpPr txBox="1"/>
          <p:nvPr/>
        </p:nvSpPr>
        <p:spPr>
          <a:xfrm>
            <a:off x="8226342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3</a:t>
            </a:r>
          </a:p>
        </p:txBody>
      </p:sp>
      <p:sp>
        <p:nvSpPr>
          <p:cNvPr id="25" name="o25: Way 4"/>
          <p:cNvSpPr txBox="1"/>
          <p:nvPr/>
        </p:nvSpPr>
        <p:spPr>
          <a:xfrm>
            <a:off x="10002891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4</a:t>
            </a:r>
          </a:p>
        </p:txBody>
      </p:sp>
      <p:sp>
        <p:nvSpPr>
          <p:cNvPr id="26" name="o26: Way 5"/>
          <p:cNvSpPr txBox="1"/>
          <p:nvPr/>
        </p:nvSpPr>
        <p:spPr>
          <a:xfrm>
            <a:off x="11779440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5</a:t>
            </a:r>
          </a:p>
        </p:txBody>
      </p:sp>
      <p:sp>
        <p:nvSpPr>
          <p:cNvPr id="27" name="o27: Way 6"/>
          <p:cNvSpPr txBox="1"/>
          <p:nvPr/>
        </p:nvSpPr>
        <p:spPr>
          <a:xfrm>
            <a:off x="13555988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6</a:t>
            </a:r>
          </a:p>
        </p:txBody>
      </p:sp>
      <p:sp>
        <p:nvSpPr>
          <p:cNvPr id="28" name="o28: Way 7"/>
          <p:cNvSpPr txBox="1"/>
          <p:nvPr/>
        </p:nvSpPr>
        <p:spPr>
          <a:xfrm>
            <a:off x="15332537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7</a:t>
            </a:r>
          </a:p>
        </p:txBody>
      </p:sp>
      <p:sp>
        <p:nvSpPr>
          <p:cNvPr id="29" name="selected-set"/>
          <p:cNvSpPr/>
          <p:nvPr/>
        </p:nvSpPr>
        <p:spPr>
          <a:xfrm>
            <a:off x="2403566" y="7451054"/>
            <a:ext cx="14421394" cy="982327"/>
          </a:xfrm>
          <a:prstGeom prst="rect">
            <a:avLst/>
          </a:prstGeom>
          <a:solidFill>
            <a:srgbClr val="EDF6EE"/>
          </a:solidFill>
          <a:ln w="26126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组 0"/>
          <p:cNvSpPr txBox="1"/>
          <p:nvPr/>
        </p:nvSpPr>
        <p:spPr>
          <a:xfrm>
            <a:off x="1001742" y="5422026"/>
            <a:ext cx="818094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0</a:t>
            </a:r>
          </a:p>
        </p:txBody>
      </p:sp>
      <p:sp>
        <p:nvSpPr>
          <p:cNvPr id="31" name="cell-0-0"/>
          <p:cNvSpPr/>
          <p:nvPr/>
        </p:nvSpPr>
        <p:spPr>
          <a:xfrm>
            <a:off x="2612571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32: T / V / D"/>
          <p:cNvSpPr txBox="1"/>
          <p:nvPr/>
        </p:nvSpPr>
        <p:spPr>
          <a:xfrm>
            <a:off x="2826525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33" name="o33: 64 B"/>
          <p:cNvSpPr txBox="1"/>
          <p:nvPr/>
        </p:nvSpPr>
        <p:spPr>
          <a:xfrm>
            <a:off x="3037890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34" name="cell-sep-0-0"/>
          <p:cNvCxnSpPr/>
          <p:nvPr/>
        </p:nvCxnSpPr>
        <p:spPr>
          <a:xfrm>
            <a:off x="2612571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35" name="cell-0-1"/>
          <p:cNvSpPr/>
          <p:nvPr/>
        </p:nvSpPr>
        <p:spPr>
          <a:xfrm>
            <a:off x="4389120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36: T / V / D"/>
          <p:cNvSpPr txBox="1"/>
          <p:nvPr/>
        </p:nvSpPr>
        <p:spPr>
          <a:xfrm>
            <a:off x="4603073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37" name="o37: 64 B"/>
          <p:cNvSpPr txBox="1"/>
          <p:nvPr/>
        </p:nvSpPr>
        <p:spPr>
          <a:xfrm>
            <a:off x="4814438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38" name="cell-sep-0-1"/>
          <p:cNvCxnSpPr/>
          <p:nvPr/>
        </p:nvCxnSpPr>
        <p:spPr>
          <a:xfrm>
            <a:off x="4389120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39" name="cell-0-2"/>
          <p:cNvSpPr/>
          <p:nvPr/>
        </p:nvSpPr>
        <p:spPr>
          <a:xfrm>
            <a:off x="6165669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40: T / V / D"/>
          <p:cNvSpPr txBox="1"/>
          <p:nvPr/>
        </p:nvSpPr>
        <p:spPr>
          <a:xfrm>
            <a:off x="6379622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1" name="o41: 64 B"/>
          <p:cNvSpPr txBox="1"/>
          <p:nvPr/>
        </p:nvSpPr>
        <p:spPr>
          <a:xfrm>
            <a:off x="6590987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42" name="cell-sep-0-2"/>
          <p:cNvCxnSpPr/>
          <p:nvPr/>
        </p:nvCxnSpPr>
        <p:spPr>
          <a:xfrm>
            <a:off x="6165669" y="5643154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43" name="cell-0-3"/>
          <p:cNvSpPr/>
          <p:nvPr/>
        </p:nvSpPr>
        <p:spPr>
          <a:xfrm>
            <a:off x="7942217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T / V / D"/>
          <p:cNvSpPr txBox="1"/>
          <p:nvPr/>
        </p:nvSpPr>
        <p:spPr>
          <a:xfrm>
            <a:off x="8156170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5" name="o45: 64 B"/>
          <p:cNvSpPr txBox="1"/>
          <p:nvPr/>
        </p:nvSpPr>
        <p:spPr>
          <a:xfrm>
            <a:off x="8367536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46" name="cell-sep-0-3"/>
          <p:cNvCxnSpPr/>
          <p:nvPr/>
        </p:nvCxnSpPr>
        <p:spPr>
          <a:xfrm>
            <a:off x="7942217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47" name="cell-0-4"/>
          <p:cNvSpPr/>
          <p:nvPr/>
        </p:nvSpPr>
        <p:spPr>
          <a:xfrm>
            <a:off x="9718766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48: T / V / D"/>
          <p:cNvSpPr txBox="1"/>
          <p:nvPr/>
        </p:nvSpPr>
        <p:spPr>
          <a:xfrm>
            <a:off x="9932719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9" name="o49: 64 B"/>
          <p:cNvSpPr txBox="1"/>
          <p:nvPr/>
        </p:nvSpPr>
        <p:spPr>
          <a:xfrm>
            <a:off x="10144084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50" name="cell-sep-0-4"/>
          <p:cNvCxnSpPr/>
          <p:nvPr/>
        </p:nvCxnSpPr>
        <p:spPr>
          <a:xfrm>
            <a:off x="9718766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51" name="cell-0-5"/>
          <p:cNvSpPr/>
          <p:nvPr/>
        </p:nvSpPr>
        <p:spPr>
          <a:xfrm>
            <a:off x="11495314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T / V / D"/>
          <p:cNvSpPr txBox="1"/>
          <p:nvPr/>
        </p:nvSpPr>
        <p:spPr>
          <a:xfrm>
            <a:off x="11709268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3" name="o53: 64 B"/>
          <p:cNvSpPr txBox="1"/>
          <p:nvPr/>
        </p:nvSpPr>
        <p:spPr>
          <a:xfrm>
            <a:off x="11920633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54" name="cell-sep-0-5"/>
          <p:cNvCxnSpPr/>
          <p:nvPr/>
        </p:nvCxnSpPr>
        <p:spPr>
          <a:xfrm>
            <a:off x="11495314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55" name="cell-0-6"/>
          <p:cNvSpPr/>
          <p:nvPr/>
        </p:nvSpPr>
        <p:spPr>
          <a:xfrm>
            <a:off x="13271863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56: T / V / D"/>
          <p:cNvSpPr txBox="1"/>
          <p:nvPr/>
        </p:nvSpPr>
        <p:spPr>
          <a:xfrm>
            <a:off x="13485816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7" name="o57: 64 B"/>
          <p:cNvSpPr txBox="1"/>
          <p:nvPr/>
        </p:nvSpPr>
        <p:spPr>
          <a:xfrm>
            <a:off x="13697181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58" name="cell-sep-0-6"/>
          <p:cNvCxnSpPr/>
          <p:nvPr/>
        </p:nvCxnSpPr>
        <p:spPr>
          <a:xfrm>
            <a:off x="13271863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59" name="cell-0-7"/>
          <p:cNvSpPr/>
          <p:nvPr/>
        </p:nvSpPr>
        <p:spPr>
          <a:xfrm>
            <a:off x="15048411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60: T / V / D"/>
          <p:cNvSpPr txBox="1"/>
          <p:nvPr/>
        </p:nvSpPr>
        <p:spPr>
          <a:xfrm>
            <a:off x="15262365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1" name="o61: 64 B"/>
          <p:cNvSpPr txBox="1"/>
          <p:nvPr/>
        </p:nvSpPr>
        <p:spPr>
          <a:xfrm>
            <a:off x="15473730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62" name="cell-sep-0-7"/>
          <p:cNvCxnSpPr/>
          <p:nvPr/>
        </p:nvCxnSpPr>
        <p:spPr>
          <a:xfrm>
            <a:off x="15048411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63" name="o63: 组 1"/>
          <p:cNvSpPr txBox="1"/>
          <p:nvPr/>
        </p:nvSpPr>
        <p:spPr>
          <a:xfrm>
            <a:off x="1001742" y="6571558"/>
            <a:ext cx="818094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64" name="cell-1-0"/>
          <p:cNvSpPr/>
          <p:nvPr/>
        </p:nvSpPr>
        <p:spPr>
          <a:xfrm>
            <a:off x="2612571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65: T / V / D"/>
          <p:cNvSpPr txBox="1"/>
          <p:nvPr/>
        </p:nvSpPr>
        <p:spPr>
          <a:xfrm>
            <a:off x="2826525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6" name="o66: 64 B"/>
          <p:cNvSpPr txBox="1"/>
          <p:nvPr/>
        </p:nvSpPr>
        <p:spPr>
          <a:xfrm>
            <a:off x="3037890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67" name="cell-sep-1-0"/>
          <p:cNvCxnSpPr/>
          <p:nvPr/>
        </p:nvCxnSpPr>
        <p:spPr>
          <a:xfrm>
            <a:off x="2612571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68" name="cell-1-1"/>
          <p:cNvSpPr/>
          <p:nvPr/>
        </p:nvSpPr>
        <p:spPr>
          <a:xfrm>
            <a:off x="4389120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69: T / V / D"/>
          <p:cNvSpPr txBox="1"/>
          <p:nvPr/>
        </p:nvSpPr>
        <p:spPr>
          <a:xfrm>
            <a:off x="4603073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0" name="o70: 64 B"/>
          <p:cNvSpPr txBox="1"/>
          <p:nvPr/>
        </p:nvSpPr>
        <p:spPr>
          <a:xfrm>
            <a:off x="4814438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71" name="cell-sep-1-1"/>
          <p:cNvCxnSpPr/>
          <p:nvPr/>
        </p:nvCxnSpPr>
        <p:spPr>
          <a:xfrm>
            <a:off x="4389120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72" name="cell-1-2"/>
          <p:cNvSpPr/>
          <p:nvPr/>
        </p:nvSpPr>
        <p:spPr>
          <a:xfrm>
            <a:off x="6165669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73: T / V / D"/>
          <p:cNvSpPr txBox="1"/>
          <p:nvPr/>
        </p:nvSpPr>
        <p:spPr>
          <a:xfrm>
            <a:off x="6379622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4" name="o74: 64 B"/>
          <p:cNvSpPr txBox="1"/>
          <p:nvPr/>
        </p:nvSpPr>
        <p:spPr>
          <a:xfrm>
            <a:off x="6590987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75" name="cell-sep-1-2"/>
          <p:cNvCxnSpPr/>
          <p:nvPr/>
        </p:nvCxnSpPr>
        <p:spPr>
          <a:xfrm>
            <a:off x="6165669" y="6792686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76" name="cell-1-3"/>
          <p:cNvSpPr/>
          <p:nvPr/>
        </p:nvSpPr>
        <p:spPr>
          <a:xfrm>
            <a:off x="7942217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77: T / V / D"/>
          <p:cNvSpPr txBox="1"/>
          <p:nvPr/>
        </p:nvSpPr>
        <p:spPr>
          <a:xfrm>
            <a:off x="8156170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8" name="o78: 64 B"/>
          <p:cNvSpPr txBox="1"/>
          <p:nvPr/>
        </p:nvSpPr>
        <p:spPr>
          <a:xfrm>
            <a:off x="8367536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79" name="cell-sep-1-3"/>
          <p:cNvCxnSpPr/>
          <p:nvPr/>
        </p:nvCxnSpPr>
        <p:spPr>
          <a:xfrm>
            <a:off x="7942217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80" name="cell-1-4"/>
          <p:cNvSpPr/>
          <p:nvPr/>
        </p:nvSpPr>
        <p:spPr>
          <a:xfrm>
            <a:off x="9718766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81: T / V / D"/>
          <p:cNvSpPr txBox="1"/>
          <p:nvPr/>
        </p:nvSpPr>
        <p:spPr>
          <a:xfrm>
            <a:off x="9932719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2" name="o82: 64 B"/>
          <p:cNvSpPr txBox="1"/>
          <p:nvPr/>
        </p:nvSpPr>
        <p:spPr>
          <a:xfrm>
            <a:off x="10144084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83" name="cell-sep-1-4"/>
          <p:cNvCxnSpPr/>
          <p:nvPr/>
        </p:nvCxnSpPr>
        <p:spPr>
          <a:xfrm>
            <a:off x="9718766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84" name="cell-1-5"/>
          <p:cNvSpPr/>
          <p:nvPr/>
        </p:nvSpPr>
        <p:spPr>
          <a:xfrm>
            <a:off x="11495314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T / V / D"/>
          <p:cNvSpPr txBox="1"/>
          <p:nvPr/>
        </p:nvSpPr>
        <p:spPr>
          <a:xfrm>
            <a:off x="11709268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6" name="o86: 64 B"/>
          <p:cNvSpPr txBox="1"/>
          <p:nvPr/>
        </p:nvSpPr>
        <p:spPr>
          <a:xfrm>
            <a:off x="11920633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87" name="cell-sep-1-5"/>
          <p:cNvCxnSpPr/>
          <p:nvPr/>
        </p:nvCxnSpPr>
        <p:spPr>
          <a:xfrm>
            <a:off x="11495314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88" name="cell-1-6"/>
          <p:cNvSpPr/>
          <p:nvPr/>
        </p:nvSpPr>
        <p:spPr>
          <a:xfrm>
            <a:off x="13271863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T / V / D"/>
          <p:cNvSpPr txBox="1"/>
          <p:nvPr/>
        </p:nvSpPr>
        <p:spPr>
          <a:xfrm>
            <a:off x="13485816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0" name="o90: 64 B"/>
          <p:cNvSpPr txBox="1"/>
          <p:nvPr/>
        </p:nvSpPr>
        <p:spPr>
          <a:xfrm>
            <a:off x="13697181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91" name="cell-sep-1-6"/>
          <p:cNvCxnSpPr/>
          <p:nvPr/>
        </p:nvCxnSpPr>
        <p:spPr>
          <a:xfrm>
            <a:off x="13271863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92" name="cell-1-7"/>
          <p:cNvSpPr/>
          <p:nvPr/>
        </p:nvSpPr>
        <p:spPr>
          <a:xfrm>
            <a:off x="15048411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T / V / D"/>
          <p:cNvSpPr txBox="1"/>
          <p:nvPr/>
        </p:nvSpPr>
        <p:spPr>
          <a:xfrm>
            <a:off x="15262365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4" name="o94: 64 B"/>
          <p:cNvSpPr txBox="1"/>
          <p:nvPr/>
        </p:nvSpPr>
        <p:spPr>
          <a:xfrm>
            <a:off x="15473730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95" name="cell-sep-1-7"/>
          <p:cNvCxnSpPr/>
          <p:nvPr/>
        </p:nvCxnSpPr>
        <p:spPr>
          <a:xfrm>
            <a:off x="15048411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96" name="o96: 组 42"/>
          <p:cNvSpPr txBox="1"/>
          <p:nvPr/>
        </p:nvSpPr>
        <p:spPr>
          <a:xfrm>
            <a:off x="917151" y="7721089"/>
            <a:ext cx="987274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42</a:t>
            </a:r>
          </a:p>
        </p:txBody>
      </p:sp>
      <p:sp>
        <p:nvSpPr>
          <p:cNvPr id="97" name="cell-2-0"/>
          <p:cNvSpPr/>
          <p:nvPr/>
        </p:nvSpPr>
        <p:spPr>
          <a:xfrm>
            <a:off x="2612571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98: T / V / D"/>
          <p:cNvSpPr txBox="1"/>
          <p:nvPr/>
        </p:nvSpPr>
        <p:spPr>
          <a:xfrm>
            <a:off x="2826525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9" name="o99: 64 B"/>
          <p:cNvSpPr txBox="1"/>
          <p:nvPr/>
        </p:nvSpPr>
        <p:spPr>
          <a:xfrm>
            <a:off x="3037890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00" name="cell-sep-2-0"/>
          <p:cNvCxnSpPr/>
          <p:nvPr/>
        </p:nvCxnSpPr>
        <p:spPr>
          <a:xfrm>
            <a:off x="2612571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01" name="cell-2-1"/>
          <p:cNvSpPr/>
          <p:nvPr/>
        </p:nvSpPr>
        <p:spPr>
          <a:xfrm>
            <a:off x="4389120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102: T / V / D"/>
          <p:cNvSpPr txBox="1"/>
          <p:nvPr/>
        </p:nvSpPr>
        <p:spPr>
          <a:xfrm>
            <a:off x="4603073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3" name="o103: 64 B"/>
          <p:cNvSpPr txBox="1"/>
          <p:nvPr/>
        </p:nvSpPr>
        <p:spPr>
          <a:xfrm>
            <a:off x="4814438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04" name="cell-sep-2-1"/>
          <p:cNvCxnSpPr/>
          <p:nvPr/>
        </p:nvCxnSpPr>
        <p:spPr>
          <a:xfrm>
            <a:off x="4389120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05" name="cell-2-2"/>
          <p:cNvSpPr/>
          <p:nvPr/>
        </p:nvSpPr>
        <p:spPr>
          <a:xfrm>
            <a:off x="6165669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106: T / V / D"/>
          <p:cNvSpPr txBox="1"/>
          <p:nvPr/>
        </p:nvSpPr>
        <p:spPr>
          <a:xfrm>
            <a:off x="6379622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7" name="o107: 64 B"/>
          <p:cNvSpPr txBox="1"/>
          <p:nvPr/>
        </p:nvSpPr>
        <p:spPr>
          <a:xfrm>
            <a:off x="6590987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08" name="cell-sep-2-2"/>
          <p:cNvCxnSpPr/>
          <p:nvPr/>
        </p:nvCxnSpPr>
        <p:spPr>
          <a:xfrm>
            <a:off x="6165669" y="7942217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09" name="cell-2-3"/>
          <p:cNvSpPr/>
          <p:nvPr/>
        </p:nvSpPr>
        <p:spPr>
          <a:xfrm>
            <a:off x="7942217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110: T / V / D"/>
          <p:cNvSpPr txBox="1"/>
          <p:nvPr/>
        </p:nvSpPr>
        <p:spPr>
          <a:xfrm>
            <a:off x="8156170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1" name="o111: 64 B"/>
          <p:cNvSpPr txBox="1"/>
          <p:nvPr/>
        </p:nvSpPr>
        <p:spPr>
          <a:xfrm>
            <a:off x="8367536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12" name="cell-sep-2-3"/>
          <p:cNvCxnSpPr/>
          <p:nvPr/>
        </p:nvCxnSpPr>
        <p:spPr>
          <a:xfrm>
            <a:off x="7942217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13" name="cell-2-4"/>
          <p:cNvSpPr/>
          <p:nvPr/>
        </p:nvSpPr>
        <p:spPr>
          <a:xfrm>
            <a:off x="9718766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114: T / V / D"/>
          <p:cNvSpPr txBox="1"/>
          <p:nvPr/>
        </p:nvSpPr>
        <p:spPr>
          <a:xfrm>
            <a:off x="9932719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5" name="o115: 64 B"/>
          <p:cNvSpPr txBox="1"/>
          <p:nvPr/>
        </p:nvSpPr>
        <p:spPr>
          <a:xfrm>
            <a:off x="10144084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16" name="cell-sep-2-4"/>
          <p:cNvCxnSpPr/>
          <p:nvPr/>
        </p:nvCxnSpPr>
        <p:spPr>
          <a:xfrm>
            <a:off x="9718766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17" name="cell-2-5"/>
          <p:cNvSpPr/>
          <p:nvPr/>
        </p:nvSpPr>
        <p:spPr>
          <a:xfrm>
            <a:off x="11495314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118: T / V / D"/>
          <p:cNvSpPr txBox="1"/>
          <p:nvPr/>
        </p:nvSpPr>
        <p:spPr>
          <a:xfrm>
            <a:off x="11709268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9" name="o119: 64 B"/>
          <p:cNvSpPr txBox="1"/>
          <p:nvPr/>
        </p:nvSpPr>
        <p:spPr>
          <a:xfrm>
            <a:off x="11920633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20" name="cell-sep-2-5"/>
          <p:cNvCxnSpPr/>
          <p:nvPr/>
        </p:nvCxnSpPr>
        <p:spPr>
          <a:xfrm>
            <a:off x="11495314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21" name="cell-2-6"/>
          <p:cNvSpPr/>
          <p:nvPr/>
        </p:nvSpPr>
        <p:spPr>
          <a:xfrm>
            <a:off x="13271863" y="7524206"/>
            <a:ext cx="1567543" cy="836023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122: T / V / D"/>
          <p:cNvSpPr txBox="1"/>
          <p:nvPr/>
        </p:nvSpPr>
        <p:spPr>
          <a:xfrm>
            <a:off x="13485816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3" name="o123: 64 B"/>
          <p:cNvSpPr txBox="1"/>
          <p:nvPr/>
        </p:nvSpPr>
        <p:spPr>
          <a:xfrm>
            <a:off x="13697181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24" name="cell-sep-2-6"/>
          <p:cNvCxnSpPr/>
          <p:nvPr/>
        </p:nvCxnSpPr>
        <p:spPr>
          <a:xfrm>
            <a:off x="13271863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25" name="cell-2-7"/>
          <p:cNvSpPr/>
          <p:nvPr/>
        </p:nvSpPr>
        <p:spPr>
          <a:xfrm>
            <a:off x="15048411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126: T / V / D"/>
          <p:cNvSpPr txBox="1"/>
          <p:nvPr/>
        </p:nvSpPr>
        <p:spPr>
          <a:xfrm>
            <a:off x="15262365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7" name="o127: 64 B"/>
          <p:cNvSpPr txBox="1"/>
          <p:nvPr/>
        </p:nvSpPr>
        <p:spPr>
          <a:xfrm>
            <a:off x="15473730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28" name="cell-sep-2-7"/>
          <p:cNvCxnSpPr/>
          <p:nvPr/>
        </p:nvCxnSpPr>
        <p:spPr>
          <a:xfrm>
            <a:off x="15048411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29" name="o129: 组 255"/>
          <p:cNvSpPr txBox="1"/>
          <p:nvPr/>
        </p:nvSpPr>
        <p:spPr>
          <a:xfrm>
            <a:off x="832561" y="9758895"/>
            <a:ext cx="1156455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255</a:t>
            </a:r>
          </a:p>
        </p:txBody>
      </p:sp>
      <p:sp>
        <p:nvSpPr>
          <p:cNvPr id="130" name="cell-3-0"/>
          <p:cNvSpPr/>
          <p:nvPr/>
        </p:nvSpPr>
        <p:spPr>
          <a:xfrm>
            <a:off x="2612571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131: T / V / D"/>
          <p:cNvSpPr txBox="1"/>
          <p:nvPr/>
        </p:nvSpPr>
        <p:spPr>
          <a:xfrm>
            <a:off x="2826525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2" name="o132: 64 B"/>
          <p:cNvSpPr txBox="1"/>
          <p:nvPr/>
        </p:nvSpPr>
        <p:spPr>
          <a:xfrm>
            <a:off x="3037890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33" name="cell-sep-3-0"/>
          <p:cNvCxnSpPr/>
          <p:nvPr/>
        </p:nvCxnSpPr>
        <p:spPr>
          <a:xfrm>
            <a:off x="2612571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34" name="cell-3-1"/>
          <p:cNvSpPr/>
          <p:nvPr/>
        </p:nvSpPr>
        <p:spPr>
          <a:xfrm>
            <a:off x="4389120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135: T / V / D"/>
          <p:cNvSpPr txBox="1"/>
          <p:nvPr/>
        </p:nvSpPr>
        <p:spPr>
          <a:xfrm>
            <a:off x="4603073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6" name="o136: 64 B"/>
          <p:cNvSpPr txBox="1"/>
          <p:nvPr/>
        </p:nvSpPr>
        <p:spPr>
          <a:xfrm>
            <a:off x="4814438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37" name="cell-sep-3-1"/>
          <p:cNvCxnSpPr/>
          <p:nvPr/>
        </p:nvCxnSpPr>
        <p:spPr>
          <a:xfrm>
            <a:off x="4389120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38" name="cell-3-2"/>
          <p:cNvSpPr/>
          <p:nvPr/>
        </p:nvSpPr>
        <p:spPr>
          <a:xfrm>
            <a:off x="6165669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139: T / V / D"/>
          <p:cNvSpPr txBox="1"/>
          <p:nvPr/>
        </p:nvSpPr>
        <p:spPr>
          <a:xfrm>
            <a:off x="6379622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0" name="o140: 64 B"/>
          <p:cNvSpPr txBox="1"/>
          <p:nvPr/>
        </p:nvSpPr>
        <p:spPr>
          <a:xfrm>
            <a:off x="6590987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41" name="cell-sep-3-2"/>
          <p:cNvCxnSpPr/>
          <p:nvPr/>
        </p:nvCxnSpPr>
        <p:spPr>
          <a:xfrm>
            <a:off x="6165669" y="9980023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42" name="cell-3-3"/>
          <p:cNvSpPr/>
          <p:nvPr/>
        </p:nvSpPr>
        <p:spPr>
          <a:xfrm>
            <a:off x="7942217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143: T / V / D"/>
          <p:cNvSpPr txBox="1"/>
          <p:nvPr/>
        </p:nvSpPr>
        <p:spPr>
          <a:xfrm>
            <a:off x="8156170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4" name="o144: 64 B"/>
          <p:cNvSpPr txBox="1"/>
          <p:nvPr/>
        </p:nvSpPr>
        <p:spPr>
          <a:xfrm>
            <a:off x="8367536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45" name="cell-sep-3-3"/>
          <p:cNvCxnSpPr/>
          <p:nvPr/>
        </p:nvCxnSpPr>
        <p:spPr>
          <a:xfrm>
            <a:off x="7942217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46" name="cell-3-4"/>
          <p:cNvSpPr/>
          <p:nvPr/>
        </p:nvSpPr>
        <p:spPr>
          <a:xfrm>
            <a:off x="9718766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147: T / V / D"/>
          <p:cNvSpPr txBox="1"/>
          <p:nvPr/>
        </p:nvSpPr>
        <p:spPr>
          <a:xfrm>
            <a:off x="9932719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8" name="o148: 64 B"/>
          <p:cNvSpPr txBox="1"/>
          <p:nvPr/>
        </p:nvSpPr>
        <p:spPr>
          <a:xfrm>
            <a:off x="10144084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49" name="cell-sep-3-4"/>
          <p:cNvCxnSpPr/>
          <p:nvPr/>
        </p:nvCxnSpPr>
        <p:spPr>
          <a:xfrm>
            <a:off x="9718766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50" name="cell-3-5"/>
          <p:cNvSpPr/>
          <p:nvPr/>
        </p:nvSpPr>
        <p:spPr>
          <a:xfrm>
            <a:off x="11495314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151: T / V / D"/>
          <p:cNvSpPr txBox="1"/>
          <p:nvPr/>
        </p:nvSpPr>
        <p:spPr>
          <a:xfrm>
            <a:off x="11709268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2" name="o152: 64 B"/>
          <p:cNvSpPr txBox="1"/>
          <p:nvPr/>
        </p:nvSpPr>
        <p:spPr>
          <a:xfrm>
            <a:off x="11920633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53" name="cell-sep-3-5"/>
          <p:cNvCxnSpPr/>
          <p:nvPr/>
        </p:nvCxnSpPr>
        <p:spPr>
          <a:xfrm>
            <a:off x="11495314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54" name="cell-3-6"/>
          <p:cNvSpPr/>
          <p:nvPr/>
        </p:nvSpPr>
        <p:spPr>
          <a:xfrm>
            <a:off x="13271863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155: T / V / D"/>
          <p:cNvSpPr txBox="1"/>
          <p:nvPr/>
        </p:nvSpPr>
        <p:spPr>
          <a:xfrm>
            <a:off x="13485816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6" name="o156: 64 B"/>
          <p:cNvSpPr txBox="1"/>
          <p:nvPr/>
        </p:nvSpPr>
        <p:spPr>
          <a:xfrm>
            <a:off x="13697181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57" name="cell-sep-3-6"/>
          <p:cNvCxnSpPr/>
          <p:nvPr/>
        </p:nvCxnSpPr>
        <p:spPr>
          <a:xfrm>
            <a:off x="13271863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58" name="cell-3-7"/>
          <p:cNvSpPr/>
          <p:nvPr/>
        </p:nvSpPr>
        <p:spPr>
          <a:xfrm>
            <a:off x="15048411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o159: T / V / D"/>
          <p:cNvSpPr txBox="1"/>
          <p:nvPr/>
        </p:nvSpPr>
        <p:spPr>
          <a:xfrm>
            <a:off x="15262365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0" name="o160: 64 B"/>
          <p:cNvSpPr txBox="1"/>
          <p:nvPr/>
        </p:nvSpPr>
        <p:spPr>
          <a:xfrm>
            <a:off x="15473730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61" name="cell-sep-3-7"/>
          <p:cNvCxnSpPr/>
          <p:nvPr/>
        </p:nvCxnSpPr>
        <p:spPr>
          <a:xfrm>
            <a:off x="15048411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62" name="ellipsis-0-0"/>
          <p:cNvSpPr/>
          <p:nvPr/>
        </p:nvSpPr>
        <p:spPr>
          <a:xfrm>
            <a:off x="3370217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ellipsis-0-1"/>
          <p:cNvSpPr/>
          <p:nvPr/>
        </p:nvSpPr>
        <p:spPr>
          <a:xfrm>
            <a:off x="3370217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ellipsis-0-2"/>
          <p:cNvSpPr/>
          <p:nvPr/>
        </p:nvSpPr>
        <p:spPr>
          <a:xfrm>
            <a:off x="3370217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ellipsis-1-0"/>
          <p:cNvSpPr/>
          <p:nvPr/>
        </p:nvSpPr>
        <p:spPr>
          <a:xfrm>
            <a:off x="5146766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ellipsis-1-1"/>
          <p:cNvSpPr/>
          <p:nvPr/>
        </p:nvSpPr>
        <p:spPr>
          <a:xfrm>
            <a:off x="5146766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ellipsis-1-2"/>
          <p:cNvSpPr/>
          <p:nvPr/>
        </p:nvSpPr>
        <p:spPr>
          <a:xfrm>
            <a:off x="5146766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ellipsis-2-0"/>
          <p:cNvSpPr/>
          <p:nvPr/>
        </p:nvSpPr>
        <p:spPr>
          <a:xfrm>
            <a:off x="6923314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ellipsis-2-1"/>
          <p:cNvSpPr/>
          <p:nvPr/>
        </p:nvSpPr>
        <p:spPr>
          <a:xfrm>
            <a:off x="6923314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ellipsis-2-2"/>
          <p:cNvSpPr/>
          <p:nvPr/>
        </p:nvSpPr>
        <p:spPr>
          <a:xfrm>
            <a:off x="6923314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ellipsis-3-0"/>
          <p:cNvSpPr/>
          <p:nvPr/>
        </p:nvSpPr>
        <p:spPr>
          <a:xfrm>
            <a:off x="8699863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ellipsis-3-1"/>
          <p:cNvSpPr/>
          <p:nvPr/>
        </p:nvSpPr>
        <p:spPr>
          <a:xfrm>
            <a:off x="8699863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llipsis-3-2"/>
          <p:cNvSpPr/>
          <p:nvPr/>
        </p:nvSpPr>
        <p:spPr>
          <a:xfrm>
            <a:off x="8699863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ellipsis-4-0"/>
          <p:cNvSpPr/>
          <p:nvPr/>
        </p:nvSpPr>
        <p:spPr>
          <a:xfrm>
            <a:off x="10476411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ellipsis-4-1"/>
          <p:cNvSpPr/>
          <p:nvPr/>
        </p:nvSpPr>
        <p:spPr>
          <a:xfrm>
            <a:off x="10476411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ellipsis-4-2"/>
          <p:cNvSpPr/>
          <p:nvPr/>
        </p:nvSpPr>
        <p:spPr>
          <a:xfrm>
            <a:off x="10476411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ellipsis-5-0"/>
          <p:cNvSpPr/>
          <p:nvPr/>
        </p:nvSpPr>
        <p:spPr>
          <a:xfrm>
            <a:off x="12252960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ellipsis-5-1"/>
          <p:cNvSpPr/>
          <p:nvPr/>
        </p:nvSpPr>
        <p:spPr>
          <a:xfrm>
            <a:off x="12252960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ellipsis-5-2"/>
          <p:cNvSpPr/>
          <p:nvPr/>
        </p:nvSpPr>
        <p:spPr>
          <a:xfrm>
            <a:off x="12252960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ellipsis-6-0"/>
          <p:cNvSpPr/>
          <p:nvPr/>
        </p:nvSpPr>
        <p:spPr>
          <a:xfrm>
            <a:off x="14029509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ellipsis-6-1"/>
          <p:cNvSpPr/>
          <p:nvPr/>
        </p:nvSpPr>
        <p:spPr>
          <a:xfrm>
            <a:off x="14029509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ellipsis-6-2"/>
          <p:cNvSpPr/>
          <p:nvPr/>
        </p:nvSpPr>
        <p:spPr>
          <a:xfrm>
            <a:off x="14029509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llipsis-7-0"/>
          <p:cNvSpPr/>
          <p:nvPr/>
        </p:nvSpPr>
        <p:spPr>
          <a:xfrm>
            <a:off x="15806057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ellipsis-7-1"/>
          <p:cNvSpPr/>
          <p:nvPr/>
        </p:nvSpPr>
        <p:spPr>
          <a:xfrm>
            <a:off x="15806057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ellipsis-7-2"/>
          <p:cNvSpPr/>
          <p:nvPr/>
        </p:nvSpPr>
        <p:spPr>
          <a:xfrm>
            <a:off x="15806057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set-index"/>
          <p:cNvSpPr/>
          <p:nvPr/>
        </p:nvSpPr>
        <p:spPr>
          <a:xfrm>
            <a:off x="2194560" y="4023360"/>
            <a:ext cx="5852160" cy="3918857"/>
          </a:xfrm>
          <a:custGeom>
            <a:avLst/>
            <a:gdLst/>
            <a:ahLst/>
            <a:cxnLst/>
            <a:rect l="0" t="0" r="r" b="b"/>
            <a:pathLst>
              <a:path w="5852160" h="3918857" fill="none">
                <a:moveTo>
                  <a:pt x="5852160" y="0"/>
                </a:moveTo>
                <a:lnTo>
                  <a:pt x="5852160" y="156754"/>
                </a:lnTo>
                <a:lnTo>
                  <a:pt x="0" y="156754"/>
                </a:lnTo>
                <a:lnTo>
                  <a:pt x="0" y="3918857"/>
                </a:lnTo>
                <a:lnTo>
                  <a:pt x="209006" y="3918857"/>
                </a:lnTo>
              </a:path>
            </a:pathLst>
          </a:custGeom>
          <a:noFill/>
          <a:ln w="3135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o187: C = Cache · S = SPM"/>
          <p:cNvSpPr txBox="1"/>
          <p:nvPr/>
        </p:nvSpPr>
        <p:spPr>
          <a:xfrm>
            <a:off x="22183099" y="2488004"/>
            <a:ext cx="255558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 = Cache · S = SPM</a:t>
            </a:r>
          </a:p>
        </p:txBody>
      </p:sp>
      <p:sp>
        <p:nvSpPr>
          <p:cNvPr id="188" name="o188: 示例命中：组 42 / Way 6，由 Tag + Valid 选 way"/>
          <p:cNvSpPr txBox="1"/>
          <p:nvPr/>
        </p:nvSpPr>
        <p:spPr>
          <a:xfrm>
            <a:off x="6259525" y="10532216"/>
            <a:ext cx="639596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示例命中：组 42 / Way 6，由 Tag + Valid 选 way</a:t>
            </a:r>
          </a:p>
        </p:txBody>
      </p:sp>
      <p:sp>
        <p:nvSpPr>
          <p:cNvPr id="189" name="o189: 未命中：替换 / 回填；Dirty 决定是否回写 DDR"/>
          <p:cNvSpPr txBox="1"/>
          <p:nvPr/>
        </p:nvSpPr>
        <p:spPr>
          <a:xfrm>
            <a:off x="6634192" y="10951899"/>
            <a:ext cx="5646632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未命中：替换 / 回填；Dirty 决定是否回写 DDR</a:t>
            </a:r>
          </a:p>
        </p:txBody>
      </p:sp>
      <p:sp>
        <p:nvSpPr>
          <p:cNvPr id="190" name="o190: 0x00：128 KiB Cache"/>
          <p:cNvSpPr txBox="1"/>
          <p:nvPr/>
        </p:nvSpPr>
        <p:spPr>
          <a:xfrm>
            <a:off x="18601509" y="2819069"/>
            <a:ext cx="316900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0x00：128 KiB Cache</a:t>
            </a:r>
          </a:p>
        </p:txBody>
      </p:sp>
      <p:sp>
        <p:nvSpPr>
          <p:cNvPr id="191" name="partition-0-0"/>
          <p:cNvSpPr/>
          <p:nvPr/>
        </p:nvSpPr>
        <p:spPr>
          <a:xfrm>
            <a:off x="18601509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192: W0"/>
          <p:cNvSpPr txBox="1"/>
          <p:nvPr/>
        </p:nvSpPr>
        <p:spPr>
          <a:xfrm>
            <a:off x="18825904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193" name="o193: C"/>
          <p:cNvSpPr txBox="1"/>
          <p:nvPr/>
        </p:nvSpPr>
        <p:spPr>
          <a:xfrm>
            <a:off x="18926202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4" name="partition-0-1"/>
          <p:cNvSpPr/>
          <p:nvPr/>
        </p:nvSpPr>
        <p:spPr>
          <a:xfrm>
            <a:off x="19824192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o195: W1"/>
          <p:cNvSpPr txBox="1"/>
          <p:nvPr/>
        </p:nvSpPr>
        <p:spPr>
          <a:xfrm>
            <a:off x="20048587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96" name="o196: C"/>
          <p:cNvSpPr txBox="1"/>
          <p:nvPr/>
        </p:nvSpPr>
        <p:spPr>
          <a:xfrm>
            <a:off x="20148886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7" name="partition-0-2"/>
          <p:cNvSpPr/>
          <p:nvPr/>
        </p:nvSpPr>
        <p:spPr>
          <a:xfrm>
            <a:off x="21046875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o198: W2"/>
          <p:cNvSpPr txBox="1"/>
          <p:nvPr/>
        </p:nvSpPr>
        <p:spPr>
          <a:xfrm>
            <a:off x="21271271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99" name="o199: C"/>
          <p:cNvSpPr txBox="1"/>
          <p:nvPr/>
        </p:nvSpPr>
        <p:spPr>
          <a:xfrm>
            <a:off x="21371569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0" name="partition-0-3"/>
          <p:cNvSpPr/>
          <p:nvPr/>
        </p:nvSpPr>
        <p:spPr>
          <a:xfrm>
            <a:off x="22269559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o201: W3"/>
          <p:cNvSpPr txBox="1"/>
          <p:nvPr/>
        </p:nvSpPr>
        <p:spPr>
          <a:xfrm>
            <a:off x="22493954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02" name="o202: C"/>
          <p:cNvSpPr txBox="1"/>
          <p:nvPr/>
        </p:nvSpPr>
        <p:spPr>
          <a:xfrm>
            <a:off x="22594252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3" name="partition-0-4"/>
          <p:cNvSpPr/>
          <p:nvPr/>
        </p:nvSpPr>
        <p:spPr>
          <a:xfrm>
            <a:off x="23492242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o204: W4"/>
          <p:cNvSpPr txBox="1"/>
          <p:nvPr/>
        </p:nvSpPr>
        <p:spPr>
          <a:xfrm>
            <a:off x="23716638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05" name="o205: C"/>
          <p:cNvSpPr txBox="1"/>
          <p:nvPr/>
        </p:nvSpPr>
        <p:spPr>
          <a:xfrm>
            <a:off x="23816936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6" name="partition-0-5"/>
          <p:cNvSpPr/>
          <p:nvPr/>
        </p:nvSpPr>
        <p:spPr>
          <a:xfrm>
            <a:off x="24714926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o207: W5"/>
          <p:cNvSpPr txBox="1"/>
          <p:nvPr/>
        </p:nvSpPr>
        <p:spPr>
          <a:xfrm>
            <a:off x="24939321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08" name="o208: C"/>
          <p:cNvSpPr txBox="1"/>
          <p:nvPr/>
        </p:nvSpPr>
        <p:spPr>
          <a:xfrm>
            <a:off x="25039619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9" name="partition-0-6"/>
          <p:cNvSpPr/>
          <p:nvPr/>
        </p:nvSpPr>
        <p:spPr>
          <a:xfrm>
            <a:off x="25937609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o210: W6"/>
          <p:cNvSpPr txBox="1"/>
          <p:nvPr/>
        </p:nvSpPr>
        <p:spPr>
          <a:xfrm>
            <a:off x="26162005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11" name="o211: C"/>
          <p:cNvSpPr txBox="1"/>
          <p:nvPr/>
        </p:nvSpPr>
        <p:spPr>
          <a:xfrm>
            <a:off x="26262303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2" name="partition-0-7"/>
          <p:cNvSpPr/>
          <p:nvPr/>
        </p:nvSpPr>
        <p:spPr>
          <a:xfrm>
            <a:off x="27160293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o213: W7"/>
          <p:cNvSpPr txBox="1"/>
          <p:nvPr/>
        </p:nvSpPr>
        <p:spPr>
          <a:xfrm>
            <a:off x="27384688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14" name="o214: C"/>
          <p:cNvSpPr txBox="1"/>
          <p:nvPr/>
        </p:nvSpPr>
        <p:spPr>
          <a:xfrm>
            <a:off x="27484986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5" name="o215: 0x0F：64 KiB SPM + 64 KiB Cache"/>
          <p:cNvSpPr txBox="1"/>
          <p:nvPr/>
        </p:nvSpPr>
        <p:spPr>
          <a:xfrm>
            <a:off x="18601509" y="4856875"/>
            <a:ext cx="485270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0x0F：64 KiB SPM + 64 KiB Cache</a:t>
            </a:r>
          </a:p>
        </p:txBody>
      </p:sp>
      <p:sp>
        <p:nvSpPr>
          <p:cNvPr id="216" name="partition-1-0"/>
          <p:cNvSpPr/>
          <p:nvPr/>
        </p:nvSpPr>
        <p:spPr>
          <a:xfrm>
            <a:off x="18601509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o217: W0"/>
          <p:cNvSpPr txBox="1"/>
          <p:nvPr/>
        </p:nvSpPr>
        <p:spPr>
          <a:xfrm>
            <a:off x="18825904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18" name="o218: S"/>
          <p:cNvSpPr txBox="1"/>
          <p:nvPr/>
        </p:nvSpPr>
        <p:spPr>
          <a:xfrm>
            <a:off x="18926202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9" name="partition-1-1"/>
          <p:cNvSpPr/>
          <p:nvPr/>
        </p:nvSpPr>
        <p:spPr>
          <a:xfrm>
            <a:off x="19824192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o220: W1"/>
          <p:cNvSpPr txBox="1"/>
          <p:nvPr/>
        </p:nvSpPr>
        <p:spPr>
          <a:xfrm>
            <a:off x="20048587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21" name="o221: S"/>
          <p:cNvSpPr txBox="1"/>
          <p:nvPr/>
        </p:nvSpPr>
        <p:spPr>
          <a:xfrm>
            <a:off x="20148886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2" name="partition-1-2"/>
          <p:cNvSpPr/>
          <p:nvPr/>
        </p:nvSpPr>
        <p:spPr>
          <a:xfrm>
            <a:off x="21046875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o223: W2"/>
          <p:cNvSpPr txBox="1"/>
          <p:nvPr/>
        </p:nvSpPr>
        <p:spPr>
          <a:xfrm>
            <a:off x="21271271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24" name="o224: S"/>
          <p:cNvSpPr txBox="1"/>
          <p:nvPr/>
        </p:nvSpPr>
        <p:spPr>
          <a:xfrm>
            <a:off x="21371569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5" name="partition-1-3"/>
          <p:cNvSpPr/>
          <p:nvPr/>
        </p:nvSpPr>
        <p:spPr>
          <a:xfrm>
            <a:off x="22269559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o226: W3"/>
          <p:cNvSpPr txBox="1"/>
          <p:nvPr/>
        </p:nvSpPr>
        <p:spPr>
          <a:xfrm>
            <a:off x="22493954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27" name="o227: S"/>
          <p:cNvSpPr txBox="1"/>
          <p:nvPr/>
        </p:nvSpPr>
        <p:spPr>
          <a:xfrm>
            <a:off x="22594252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8" name="partition-1-4"/>
          <p:cNvSpPr/>
          <p:nvPr/>
        </p:nvSpPr>
        <p:spPr>
          <a:xfrm>
            <a:off x="23492242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o229: W4"/>
          <p:cNvSpPr txBox="1"/>
          <p:nvPr/>
        </p:nvSpPr>
        <p:spPr>
          <a:xfrm>
            <a:off x="23716638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30" name="o230: C"/>
          <p:cNvSpPr txBox="1"/>
          <p:nvPr/>
        </p:nvSpPr>
        <p:spPr>
          <a:xfrm>
            <a:off x="23816936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1" name="partition-1-5"/>
          <p:cNvSpPr/>
          <p:nvPr/>
        </p:nvSpPr>
        <p:spPr>
          <a:xfrm>
            <a:off x="24714926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232: W5"/>
          <p:cNvSpPr txBox="1"/>
          <p:nvPr/>
        </p:nvSpPr>
        <p:spPr>
          <a:xfrm>
            <a:off x="24939321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33" name="o233: C"/>
          <p:cNvSpPr txBox="1"/>
          <p:nvPr/>
        </p:nvSpPr>
        <p:spPr>
          <a:xfrm>
            <a:off x="25039619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4" name="partition-1-6"/>
          <p:cNvSpPr/>
          <p:nvPr/>
        </p:nvSpPr>
        <p:spPr>
          <a:xfrm>
            <a:off x="25937609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o235: W6"/>
          <p:cNvSpPr txBox="1"/>
          <p:nvPr/>
        </p:nvSpPr>
        <p:spPr>
          <a:xfrm>
            <a:off x="26162005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36" name="o236: C"/>
          <p:cNvSpPr txBox="1"/>
          <p:nvPr/>
        </p:nvSpPr>
        <p:spPr>
          <a:xfrm>
            <a:off x="26262303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7" name="partition-1-7"/>
          <p:cNvSpPr/>
          <p:nvPr/>
        </p:nvSpPr>
        <p:spPr>
          <a:xfrm>
            <a:off x="27160293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o238: W7"/>
          <p:cNvSpPr txBox="1"/>
          <p:nvPr/>
        </p:nvSpPr>
        <p:spPr>
          <a:xfrm>
            <a:off x="27384688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39" name="o239: C"/>
          <p:cNvSpPr txBox="1"/>
          <p:nvPr/>
        </p:nvSpPr>
        <p:spPr>
          <a:xfrm>
            <a:off x="27484986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0" name="o240: 0xFF：128 KiB SPM；DDR 访问旁路"/>
          <p:cNvSpPr txBox="1"/>
          <p:nvPr/>
        </p:nvSpPr>
        <p:spPr>
          <a:xfrm>
            <a:off x="18601509" y="6894681"/>
            <a:ext cx="500642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0xFF：128 KiB SPM；DDR 访问旁路</a:t>
            </a:r>
          </a:p>
        </p:txBody>
      </p:sp>
      <p:sp>
        <p:nvSpPr>
          <p:cNvPr id="241" name="partition-2-0"/>
          <p:cNvSpPr/>
          <p:nvPr/>
        </p:nvSpPr>
        <p:spPr>
          <a:xfrm>
            <a:off x="18601509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o242: W0"/>
          <p:cNvSpPr txBox="1"/>
          <p:nvPr/>
        </p:nvSpPr>
        <p:spPr>
          <a:xfrm>
            <a:off x="18825904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43" name="o243: S"/>
          <p:cNvSpPr txBox="1"/>
          <p:nvPr/>
        </p:nvSpPr>
        <p:spPr>
          <a:xfrm>
            <a:off x="18926202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4" name="partition-2-1"/>
          <p:cNvSpPr/>
          <p:nvPr/>
        </p:nvSpPr>
        <p:spPr>
          <a:xfrm>
            <a:off x="19824192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o245: W1"/>
          <p:cNvSpPr txBox="1"/>
          <p:nvPr/>
        </p:nvSpPr>
        <p:spPr>
          <a:xfrm>
            <a:off x="20048587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46" name="o246: S"/>
          <p:cNvSpPr txBox="1"/>
          <p:nvPr/>
        </p:nvSpPr>
        <p:spPr>
          <a:xfrm>
            <a:off x="20148886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7" name="partition-2-2"/>
          <p:cNvSpPr/>
          <p:nvPr/>
        </p:nvSpPr>
        <p:spPr>
          <a:xfrm>
            <a:off x="21046875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248: W2"/>
          <p:cNvSpPr txBox="1"/>
          <p:nvPr/>
        </p:nvSpPr>
        <p:spPr>
          <a:xfrm>
            <a:off x="21271271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49" name="o249: S"/>
          <p:cNvSpPr txBox="1"/>
          <p:nvPr/>
        </p:nvSpPr>
        <p:spPr>
          <a:xfrm>
            <a:off x="21371569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0" name="partition-2-3"/>
          <p:cNvSpPr/>
          <p:nvPr/>
        </p:nvSpPr>
        <p:spPr>
          <a:xfrm>
            <a:off x="22269559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o251: W3"/>
          <p:cNvSpPr txBox="1"/>
          <p:nvPr/>
        </p:nvSpPr>
        <p:spPr>
          <a:xfrm>
            <a:off x="22493954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52" name="o252: S"/>
          <p:cNvSpPr txBox="1"/>
          <p:nvPr/>
        </p:nvSpPr>
        <p:spPr>
          <a:xfrm>
            <a:off x="22594252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3" name="partition-2-4"/>
          <p:cNvSpPr/>
          <p:nvPr/>
        </p:nvSpPr>
        <p:spPr>
          <a:xfrm>
            <a:off x="23492242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o254: W4"/>
          <p:cNvSpPr txBox="1"/>
          <p:nvPr/>
        </p:nvSpPr>
        <p:spPr>
          <a:xfrm>
            <a:off x="23716638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55" name="o255: S"/>
          <p:cNvSpPr txBox="1"/>
          <p:nvPr/>
        </p:nvSpPr>
        <p:spPr>
          <a:xfrm>
            <a:off x="23816936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6" name="partition-2-5"/>
          <p:cNvSpPr/>
          <p:nvPr/>
        </p:nvSpPr>
        <p:spPr>
          <a:xfrm>
            <a:off x="24714926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o257: W5"/>
          <p:cNvSpPr txBox="1"/>
          <p:nvPr/>
        </p:nvSpPr>
        <p:spPr>
          <a:xfrm>
            <a:off x="24939321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58" name="o258: S"/>
          <p:cNvSpPr txBox="1"/>
          <p:nvPr/>
        </p:nvSpPr>
        <p:spPr>
          <a:xfrm>
            <a:off x="25039619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9" name="partition-2-6"/>
          <p:cNvSpPr/>
          <p:nvPr/>
        </p:nvSpPr>
        <p:spPr>
          <a:xfrm>
            <a:off x="25937609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260: W6"/>
          <p:cNvSpPr txBox="1"/>
          <p:nvPr/>
        </p:nvSpPr>
        <p:spPr>
          <a:xfrm>
            <a:off x="26162005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61" name="o261: S"/>
          <p:cNvSpPr txBox="1"/>
          <p:nvPr/>
        </p:nvSpPr>
        <p:spPr>
          <a:xfrm>
            <a:off x="26262303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2" name="partition-2-7"/>
          <p:cNvSpPr/>
          <p:nvPr/>
        </p:nvSpPr>
        <p:spPr>
          <a:xfrm>
            <a:off x="27160293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263: W7"/>
          <p:cNvSpPr txBox="1"/>
          <p:nvPr/>
        </p:nvSpPr>
        <p:spPr>
          <a:xfrm>
            <a:off x="27384688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64" name="o264: S"/>
          <p:cNvSpPr txBox="1"/>
          <p:nvPr/>
        </p:nvSpPr>
        <p:spPr>
          <a:xfrm>
            <a:off x="27484986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5" name="o265: SPM 固定映射：base + way × 0x4000"/>
          <p:cNvSpPr txBox="1"/>
          <p:nvPr/>
        </p:nvSpPr>
        <p:spPr>
          <a:xfrm>
            <a:off x="21124101" y="9332105"/>
            <a:ext cx="4673580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固定映射：base + way × 0x4000</a:t>
            </a:r>
          </a:p>
        </p:txBody>
      </p:sp>
      <p:sp>
        <p:nvSpPr>
          <p:cNvPr id="266" name="o266: Way 2：0x10008000–0x1000BFFF"/>
          <p:cNvSpPr txBox="1"/>
          <p:nvPr/>
        </p:nvSpPr>
        <p:spPr>
          <a:xfrm>
            <a:off x="21297070" y="9791918"/>
            <a:ext cx="4327643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2：0x10008000–0x1000BFFF</a:t>
            </a:r>
          </a:p>
        </p:txBody>
      </p:sp>
      <p:sp>
        <p:nvSpPr>
          <p:cNvPr id="267" name="o267: 0x10008AAB → Way 2 / 组 42 / 块 5 / 字节 3"/>
          <p:cNvSpPr txBox="1"/>
          <p:nvPr/>
        </p:nvSpPr>
        <p:spPr>
          <a:xfrm>
            <a:off x="20625166" y="10251730"/>
            <a:ext cx="5671452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0x10008AAB → Way 2 / 组 42 / 块 5 / 字节 3</a:t>
            </a:r>
          </a:p>
        </p:txBody>
      </p:sp>
      <p:sp>
        <p:nvSpPr>
          <p:cNvPr id="268" name="o268: 直接寻址；非 SPM way 的对应地址槽访问报错"/>
          <p:cNvSpPr txBox="1"/>
          <p:nvPr/>
        </p:nvSpPr>
        <p:spPr>
          <a:xfrm>
            <a:off x="20650336" y="10711543"/>
            <a:ext cx="5621111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直接寻址；非 SPM way 的对应地址槽访问报错</a:t>
            </a:r>
          </a:p>
        </p:txBody>
      </p:sp>
      <p:sp>
        <p:nvSpPr>
          <p:cNvPr id="269" name="transition"/>
          <p:cNvSpPr/>
          <p:nvPr/>
        </p:nvSpPr>
        <p:spPr>
          <a:xfrm>
            <a:off x="522514" y="12017829"/>
            <a:ext cx="28215771" cy="3448594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o270: ③ 用途转换：软件目标位图 → 硬件协调提交与刷新"/>
          <p:cNvSpPr txBox="1"/>
          <p:nvPr/>
        </p:nvSpPr>
        <p:spPr>
          <a:xfrm>
            <a:off x="10884071" y="12128602"/>
            <a:ext cx="7492659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用途转换：软件目标位图 → 硬件协调提交与刷新</a:t>
            </a:r>
          </a:p>
        </p:txBody>
      </p:sp>
      <p:sp>
        <p:nvSpPr>
          <p:cNvPr id="271" name="quiesce"/>
          <p:cNvSpPr/>
          <p:nvPr/>
        </p:nvSpPr>
        <p:spPr>
          <a:xfrm>
            <a:off x="888274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o272: 停止相关访问"/>
          <p:cNvSpPr txBox="1"/>
          <p:nvPr/>
        </p:nvSpPr>
        <p:spPr>
          <a:xfrm>
            <a:off x="2424466" y="13405418"/>
            <a:ext cx="20482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停止相关访问</a:t>
            </a:r>
          </a:p>
        </p:txBody>
      </p:sp>
      <p:sp>
        <p:nvSpPr>
          <p:cNvPr id="273" name="o273: 迁移代码 / 栈 / 保留数据"/>
          <p:cNvSpPr txBox="1"/>
          <p:nvPr/>
        </p:nvSpPr>
        <p:spPr>
          <a:xfrm>
            <a:off x="1913872" y="13805872"/>
            <a:ext cx="306944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迁移代码 / 栈 / 保留数据</a:t>
            </a:r>
          </a:p>
        </p:txBody>
      </p:sp>
      <p:sp>
        <p:nvSpPr>
          <p:cNvPr id="274" name="o274: 协调缓冲与在途事务"/>
          <p:cNvSpPr txBox="1"/>
          <p:nvPr/>
        </p:nvSpPr>
        <p:spPr>
          <a:xfrm>
            <a:off x="2194560" y="14161182"/>
            <a:ext cx="250806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协调缓冲与在途事务</a:t>
            </a:r>
          </a:p>
        </p:txBody>
      </p:sp>
      <p:cxnSp>
        <p:nvCxnSpPr>
          <p:cNvPr id="275" name="transition-0"/>
          <p:cNvCxnSpPr/>
          <p:nvPr/>
        </p:nvCxnSpPr>
        <p:spPr>
          <a:xfrm>
            <a:off x="6008914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76" name="cfg"/>
          <p:cNvSpPr/>
          <p:nvPr/>
        </p:nvSpPr>
        <p:spPr>
          <a:xfrm>
            <a:off x="6479177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o277: 写 CFG_SPM"/>
          <p:cNvSpPr txBox="1"/>
          <p:nvPr/>
        </p:nvSpPr>
        <p:spPr>
          <a:xfrm>
            <a:off x="8080357" y="13405418"/>
            <a:ext cx="191828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CFG_SPM</a:t>
            </a:r>
          </a:p>
        </p:txBody>
      </p:sp>
      <p:sp>
        <p:nvSpPr>
          <p:cNvPr id="278" name="o278: 1 → SPM"/>
          <p:cNvSpPr txBox="1"/>
          <p:nvPr/>
        </p:nvSpPr>
        <p:spPr>
          <a:xfrm>
            <a:off x="8387742" y="13805872"/>
            <a:ext cx="130351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1 → SPM</a:t>
            </a:r>
          </a:p>
        </p:txBody>
      </p:sp>
      <p:sp>
        <p:nvSpPr>
          <p:cNvPr id="279" name="o279: 0 → Cache"/>
          <p:cNvSpPr txBox="1"/>
          <p:nvPr/>
        </p:nvSpPr>
        <p:spPr>
          <a:xfrm>
            <a:off x="8297731" y="14161182"/>
            <a:ext cx="148353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 → Cache</a:t>
            </a:r>
          </a:p>
        </p:txBody>
      </p:sp>
      <p:cxnSp>
        <p:nvCxnSpPr>
          <p:cNvPr id="280" name="transition-1"/>
          <p:cNvCxnSpPr/>
          <p:nvPr/>
        </p:nvCxnSpPr>
        <p:spPr>
          <a:xfrm>
            <a:off x="11599817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81" name="commit"/>
          <p:cNvSpPr/>
          <p:nvPr/>
        </p:nvSpPr>
        <p:spPr>
          <a:xfrm>
            <a:off x="12070080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o282: 写 COMMIT = 1"/>
          <p:cNvSpPr txBox="1"/>
          <p:nvPr/>
        </p:nvSpPr>
        <p:spPr>
          <a:xfrm>
            <a:off x="13492805" y="13583072"/>
            <a:ext cx="227519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COMMIT = 1</a:t>
            </a:r>
          </a:p>
        </p:txBody>
      </p:sp>
      <p:sp>
        <p:nvSpPr>
          <p:cNvPr id="283" name="o283: 发起配置提交"/>
          <p:cNvSpPr txBox="1"/>
          <p:nvPr/>
        </p:nvSpPr>
        <p:spPr>
          <a:xfrm>
            <a:off x="13752576" y="13983527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发起配置提交</a:t>
            </a:r>
          </a:p>
        </p:txBody>
      </p:sp>
      <p:cxnSp>
        <p:nvCxnSpPr>
          <p:cNvPr id="284" name="transition-2"/>
          <p:cNvCxnSpPr/>
          <p:nvPr/>
        </p:nvCxnSpPr>
        <p:spPr>
          <a:xfrm>
            <a:off x="17190720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85" name="fsm"/>
          <p:cNvSpPr/>
          <p:nvPr/>
        </p:nvSpPr>
        <p:spPr>
          <a:xfrm>
            <a:off x="17660983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o286: LLC 配置 FSM"/>
          <p:cNvSpPr txBox="1"/>
          <p:nvPr/>
        </p:nvSpPr>
        <p:spPr>
          <a:xfrm>
            <a:off x="19177156" y="13405418"/>
            <a:ext cx="208829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 FSM</a:t>
            </a:r>
          </a:p>
        </p:txBody>
      </p:sp>
      <p:sp>
        <p:nvSpPr>
          <p:cNvPr id="287" name="o287: 协调已有请求"/>
          <p:cNvSpPr txBox="1"/>
          <p:nvPr/>
        </p:nvSpPr>
        <p:spPr>
          <a:xfrm>
            <a:off x="19343479" y="13805872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协调已有请求</a:t>
            </a:r>
          </a:p>
        </p:txBody>
      </p:sp>
      <p:sp>
        <p:nvSpPr>
          <p:cNvPr id="288" name="o288: 必要 flush / Dirty 回写"/>
          <p:cNvSpPr txBox="1"/>
          <p:nvPr/>
        </p:nvSpPr>
        <p:spPr>
          <a:xfrm>
            <a:off x="18865378" y="14161182"/>
            <a:ext cx="271184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必要 flush / Dirty 回写</a:t>
            </a:r>
          </a:p>
        </p:txBody>
      </p:sp>
      <p:cxnSp>
        <p:nvCxnSpPr>
          <p:cNvPr id="289" name="transition-3"/>
          <p:cNvCxnSpPr/>
          <p:nvPr/>
        </p:nvCxnSpPr>
        <p:spPr>
          <a:xfrm>
            <a:off x="22781623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90" name="resume"/>
          <p:cNvSpPr/>
          <p:nvPr/>
        </p:nvSpPr>
        <p:spPr>
          <a:xfrm>
            <a:off x="23251886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o291: 按寄存器契约确认完成"/>
          <p:cNvSpPr txBox="1"/>
          <p:nvPr/>
        </p:nvSpPr>
        <p:spPr>
          <a:xfrm>
            <a:off x="24202862" y="13583072"/>
            <a:ext cx="321868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按寄存器契约确认完成</a:t>
            </a:r>
          </a:p>
        </p:txBody>
      </p:sp>
      <p:sp>
        <p:nvSpPr>
          <p:cNvPr id="292" name="o292: 恢复对新用途的访问"/>
          <p:cNvSpPr txBox="1"/>
          <p:nvPr/>
        </p:nvSpPr>
        <p:spPr>
          <a:xfrm>
            <a:off x="24558171" y="13983527"/>
            <a:ext cx="250806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恢复对新用途的访问</a:t>
            </a:r>
          </a:p>
        </p:txBody>
      </p:sp>
      <p:sp>
        <p:nvSpPr>
          <p:cNvPr id="293" name="o293: SPM 复用原阵列；用途转换不自动复制数据。CPU L1 属性仍需单独处理。"/>
          <p:cNvSpPr txBox="1"/>
          <p:nvPr/>
        </p:nvSpPr>
        <p:spPr>
          <a:xfrm>
            <a:off x="783771" y="15715558"/>
            <a:ext cx="9541290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复用原阵列；用途转换不自动复制数据。CPU L1 属性仍需单独处理。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