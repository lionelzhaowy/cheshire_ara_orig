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801600" cy="8839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8392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-001: Cheshire + CVA6 + Ara：AXI Crossbar 的实际结构"/>
          <p:cNvSpPr txBox="1"/>
          <p:nvPr/>
        </p:nvSpPr>
        <p:spPr>
          <a:xfrm>
            <a:off x="228600" y="116434"/>
            <a:ext cx="6549628" cy="4145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39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Cheshire + CVA6 + Ara：AXI Crossbar 的实际结构</a:t>
            </a:r>
          </a:p>
        </p:txBody>
      </p:sp>
      <p:sp>
        <p:nvSpPr>
          <p:cNvPr id="4" name="text-002: 基线：tb_cheshire_pkg::gen_cheshire_ara_cfg"/>
          <p:cNvSpPr txBox="1"/>
          <p:nvPr/>
        </p:nvSpPr>
        <p:spPr>
          <a:xfrm>
            <a:off x="228600" y="529438"/>
            <a:ext cx="6469249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基线：tb_cheshire_pkg::gen_cheshire_ara_cfg() / SELCFG=3 · HEAD 5ddec4fb4 · 源码静态核对</a:t>
            </a:r>
          </a:p>
        </p:txBody>
      </p:sp>
      <p:sp>
        <p:nvSpPr>
          <p:cNvPr id="5" name="rect-002"/>
          <p:cNvSpPr/>
          <p:nvPr/>
        </p:nvSpPr>
        <p:spPr>
          <a:xfrm>
            <a:off x="228600" y="853440"/>
            <a:ext cx="12344400" cy="388620"/>
          </a:xfrm>
          <a:prstGeom prst="rect">
            <a:avLst/>
          </a:prstGeom>
          <a:solidFill>
            <a:srgbClr val="E8F4ED"/>
          </a:solidFill>
          <a:ln w="15240">
            <a:solidFill>
              <a:srgbClr val="B4D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-003: Ara = 1  ·  2 lanes / VLEN 2048  ·  AXI "/>
          <p:cNvSpPr txBox="1"/>
          <p:nvPr/>
        </p:nvSpPr>
        <p:spPr>
          <a:xfrm>
            <a:off x="365760" y="932078"/>
            <a:ext cx="794305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Ara = 1  ·  2 lanes / VLEN 2048  ·  AXI 数据 64 bit  ·  Cfg.AxiRt = 0（RT 不实例化，输入直接接 Crossbar）</a:t>
            </a:r>
          </a:p>
        </p:txBody>
      </p:sp>
      <p:sp>
        <p:nvSpPr>
          <p:cNvPr id="7" name="rect-003"/>
          <p:cNvSpPr/>
          <p:nvPr/>
        </p:nvSpPr>
        <p:spPr>
          <a:xfrm>
            <a:off x="4000500" y="1371600"/>
            <a:ext cx="4191000" cy="5699760"/>
          </a:xfrm>
          <a:prstGeom prst="rect">
            <a:avLst/>
          </a:prstGeom>
          <a:solidFill>
            <a:srgbClr val="EEF4F9"/>
          </a:solidFill>
          <a:ln w="15240">
            <a:solidFill>
              <a:srgbClr val="9AB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-004: i_axi_xbar · 7 × 5 · 全连接"/>
          <p:cNvSpPr txBox="1"/>
          <p:nvPr/>
        </p:nvSpPr>
        <p:spPr>
          <a:xfrm>
            <a:off x="4183380" y="1432560"/>
            <a:ext cx="2581704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i_axi_xbar · 7 × 5 · 全连接</a:t>
            </a:r>
          </a:p>
        </p:txBody>
      </p:sp>
      <p:sp>
        <p:nvSpPr>
          <p:cNvPr id="9" name="text-005: 发起者 / AXI master"/>
          <p:cNvSpPr txBox="1"/>
          <p:nvPr/>
        </p:nvSpPr>
        <p:spPr>
          <a:xfrm>
            <a:off x="266700" y="1371600"/>
            <a:ext cx="202361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发起者 / AXI master</a:t>
            </a:r>
          </a:p>
        </p:txBody>
      </p:sp>
      <p:sp>
        <p:nvSpPr>
          <p:cNvPr id="10" name="text-006: 入端局部适配"/>
          <p:cNvSpPr txBox="1"/>
          <p:nvPr/>
        </p:nvSpPr>
        <p:spPr>
          <a:xfrm>
            <a:off x="2095500" y="1420978"/>
            <a:ext cx="1013460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入端局部适配</a:t>
            </a:r>
          </a:p>
        </p:txBody>
      </p:sp>
      <p:sp>
        <p:nvSpPr>
          <p:cNvPr id="11" name="text-007: 目标 / AXI slave 与下游"/>
          <p:cNvSpPr txBox="1"/>
          <p:nvPr/>
        </p:nvSpPr>
        <p:spPr>
          <a:xfrm>
            <a:off x="8610600" y="1371600"/>
            <a:ext cx="2279773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目标 / AXI slave 与下游</a:t>
            </a:r>
          </a:p>
        </p:txBody>
      </p:sp>
      <p:sp>
        <p:nvSpPr>
          <p:cNvPr id="12" name="path-001"/>
          <p:cNvSpPr/>
          <p:nvPr/>
        </p:nvSpPr>
        <p:spPr>
          <a:xfrm>
            <a:off x="5143500" y="2019300"/>
            <a:ext cx="1905000" cy="1"/>
          </a:xfrm>
          <a:custGeom>
            <a:avLst/>
            <a:gdLst/>
            <a:ahLst/>
            <a:cxnLst/>
            <a:rect l="0" t="0" r="r" b="b"/>
            <a:pathLst>
              <a:path w="1905000" h="1" fill="none">
                <a:moveTo>
                  <a:pt x="0" y="0"/>
                </a:moveTo>
                <a:cubicBezTo>
                  <a:pt x="762000" y="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ath-002"/>
          <p:cNvSpPr/>
          <p:nvPr/>
        </p:nvSpPr>
        <p:spPr>
          <a:xfrm>
            <a:off x="5143500" y="2019300"/>
            <a:ext cx="1905000" cy="990600"/>
          </a:xfrm>
          <a:custGeom>
            <a:avLst/>
            <a:gdLst/>
            <a:ahLst/>
            <a:cxnLst/>
            <a:rect l="0" t="0" r="r" b="b"/>
            <a:pathLst>
              <a:path w="1905000" h="990600" fill="none">
                <a:moveTo>
                  <a:pt x="0" y="0"/>
                </a:moveTo>
                <a:cubicBezTo>
                  <a:pt x="762000" y="0"/>
                  <a:pt x="1104900" y="990600"/>
                  <a:pt x="1905000" y="99060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th-003"/>
          <p:cNvSpPr/>
          <p:nvPr/>
        </p:nvSpPr>
        <p:spPr>
          <a:xfrm>
            <a:off x="5143500" y="2019300"/>
            <a:ext cx="1905000" cy="2362200"/>
          </a:xfrm>
          <a:custGeom>
            <a:avLst/>
            <a:gdLst/>
            <a:ahLst/>
            <a:cxnLst/>
            <a:rect l="0" t="0" r="r" b="b"/>
            <a:pathLst>
              <a:path w="1905000" h="2362200" fill="none">
                <a:moveTo>
                  <a:pt x="0" y="0"/>
                </a:moveTo>
                <a:cubicBezTo>
                  <a:pt x="762000" y="0"/>
                  <a:pt x="1104900" y="2362200"/>
                  <a:pt x="1905000" y="236220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ath-004"/>
          <p:cNvSpPr/>
          <p:nvPr/>
        </p:nvSpPr>
        <p:spPr>
          <a:xfrm>
            <a:off x="5143500" y="2019300"/>
            <a:ext cx="1905000" cy="3657600"/>
          </a:xfrm>
          <a:custGeom>
            <a:avLst/>
            <a:gdLst/>
            <a:ahLst/>
            <a:cxnLst/>
            <a:rect l="0" t="0" r="r" b="b"/>
            <a:pathLst>
              <a:path w="1905000" h="3657600" fill="none">
                <a:moveTo>
                  <a:pt x="0" y="0"/>
                </a:moveTo>
                <a:cubicBezTo>
                  <a:pt x="762000" y="0"/>
                  <a:pt x="1104900" y="3657600"/>
                  <a:pt x="1905000" y="365760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th-005"/>
          <p:cNvSpPr/>
          <p:nvPr/>
        </p:nvSpPr>
        <p:spPr>
          <a:xfrm>
            <a:off x="5143500" y="2019300"/>
            <a:ext cx="1905000" cy="4572000"/>
          </a:xfrm>
          <a:custGeom>
            <a:avLst/>
            <a:gdLst/>
            <a:ahLst/>
            <a:cxnLst/>
            <a:rect l="0" t="0" r="r" b="b"/>
            <a:pathLst>
              <a:path w="1905000" h="4572000" fill="none">
                <a:moveTo>
                  <a:pt x="0" y="0"/>
                </a:moveTo>
                <a:cubicBezTo>
                  <a:pt x="762000" y="0"/>
                  <a:pt x="1104900" y="4572000"/>
                  <a:pt x="1905000" y="457200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ath-006"/>
          <p:cNvSpPr/>
          <p:nvPr/>
        </p:nvSpPr>
        <p:spPr>
          <a:xfrm>
            <a:off x="5143500" y="2019300"/>
            <a:ext cx="1905000" cy="762000"/>
          </a:xfrm>
          <a:custGeom>
            <a:avLst/>
            <a:gdLst/>
            <a:ahLst/>
            <a:cxnLst/>
            <a:rect l="0" t="0" r="r" b="b"/>
            <a:pathLst>
              <a:path w="1905000" h="762000" fill="none">
                <a:moveTo>
                  <a:pt x="0" y="762000"/>
                </a:moveTo>
                <a:cubicBezTo>
                  <a:pt x="762000" y="7620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ath-007"/>
          <p:cNvSpPr/>
          <p:nvPr/>
        </p:nvSpPr>
        <p:spPr>
          <a:xfrm>
            <a:off x="5143500" y="2781300"/>
            <a:ext cx="1905000" cy="228600"/>
          </a:xfrm>
          <a:custGeom>
            <a:avLst/>
            <a:gdLst/>
            <a:ahLst/>
            <a:cxnLst/>
            <a:rect l="0" t="0" r="r" b="b"/>
            <a:pathLst>
              <a:path w="1905000" h="228600" fill="none">
                <a:moveTo>
                  <a:pt x="0" y="0"/>
                </a:moveTo>
                <a:cubicBezTo>
                  <a:pt x="762000" y="0"/>
                  <a:pt x="1104900" y="228600"/>
                  <a:pt x="1905000" y="22860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ath-008"/>
          <p:cNvSpPr/>
          <p:nvPr/>
        </p:nvSpPr>
        <p:spPr>
          <a:xfrm>
            <a:off x="5143500" y="2781300"/>
            <a:ext cx="1905000" cy="1600200"/>
          </a:xfrm>
          <a:custGeom>
            <a:avLst/>
            <a:gdLst/>
            <a:ahLst/>
            <a:cxnLst/>
            <a:rect l="0" t="0" r="r" b="b"/>
            <a:pathLst>
              <a:path w="1905000" h="1600200" fill="none">
                <a:moveTo>
                  <a:pt x="0" y="0"/>
                </a:moveTo>
                <a:cubicBezTo>
                  <a:pt x="762000" y="0"/>
                  <a:pt x="1104900" y="1600200"/>
                  <a:pt x="1905000" y="160020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ath-009"/>
          <p:cNvSpPr/>
          <p:nvPr/>
        </p:nvSpPr>
        <p:spPr>
          <a:xfrm>
            <a:off x="5143500" y="2781300"/>
            <a:ext cx="1905000" cy="2895600"/>
          </a:xfrm>
          <a:custGeom>
            <a:avLst/>
            <a:gdLst/>
            <a:ahLst/>
            <a:cxnLst/>
            <a:rect l="0" t="0" r="r" b="b"/>
            <a:pathLst>
              <a:path w="1905000" h="2895600" fill="none">
                <a:moveTo>
                  <a:pt x="0" y="0"/>
                </a:moveTo>
                <a:cubicBezTo>
                  <a:pt x="762000" y="0"/>
                  <a:pt x="1104900" y="2895600"/>
                  <a:pt x="1905000" y="289560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ath-010"/>
          <p:cNvSpPr/>
          <p:nvPr/>
        </p:nvSpPr>
        <p:spPr>
          <a:xfrm>
            <a:off x="5143500" y="2781300"/>
            <a:ext cx="1905000" cy="3810000"/>
          </a:xfrm>
          <a:custGeom>
            <a:avLst/>
            <a:gdLst/>
            <a:ahLst/>
            <a:cxnLst/>
            <a:rect l="0" t="0" r="r" b="b"/>
            <a:pathLst>
              <a:path w="1905000" h="3810000" fill="none">
                <a:moveTo>
                  <a:pt x="0" y="0"/>
                </a:moveTo>
                <a:cubicBezTo>
                  <a:pt x="762000" y="0"/>
                  <a:pt x="1104900" y="3810000"/>
                  <a:pt x="1905000" y="381000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ath-011"/>
          <p:cNvSpPr/>
          <p:nvPr/>
        </p:nvSpPr>
        <p:spPr>
          <a:xfrm>
            <a:off x="5143500" y="2019300"/>
            <a:ext cx="1905000" cy="1524000"/>
          </a:xfrm>
          <a:custGeom>
            <a:avLst/>
            <a:gdLst/>
            <a:ahLst/>
            <a:cxnLst/>
            <a:rect l="0" t="0" r="r" b="b"/>
            <a:pathLst>
              <a:path w="1905000" h="1524000" fill="none">
                <a:moveTo>
                  <a:pt x="0" y="1524000"/>
                </a:moveTo>
                <a:cubicBezTo>
                  <a:pt x="762000" y="15240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ath-012"/>
          <p:cNvSpPr/>
          <p:nvPr/>
        </p:nvSpPr>
        <p:spPr>
          <a:xfrm>
            <a:off x="5143500" y="3009900"/>
            <a:ext cx="1905000" cy="533400"/>
          </a:xfrm>
          <a:custGeom>
            <a:avLst/>
            <a:gdLst/>
            <a:ahLst/>
            <a:cxnLst/>
            <a:rect l="0" t="0" r="r" b="b"/>
            <a:pathLst>
              <a:path w="1905000" h="533400" fill="none">
                <a:moveTo>
                  <a:pt x="0" y="533400"/>
                </a:moveTo>
                <a:cubicBezTo>
                  <a:pt x="762000" y="5334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ath-013"/>
          <p:cNvSpPr/>
          <p:nvPr/>
        </p:nvSpPr>
        <p:spPr>
          <a:xfrm>
            <a:off x="5143500" y="3543300"/>
            <a:ext cx="1905000" cy="838200"/>
          </a:xfrm>
          <a:custGeom>
            <a:avLst/>
            <a:gdLst/>
            <a:ahLst/>
            <a:cxnLst/>
            <a:rect l="0" t="0" r="r" b="b"/>
            <a:pathLst>
              <a:path w="1905000" h="838200" fill="none">
                <a:moveTo>
                  <a:pt x="0" y="0"/>
                </a:moveTo>
                <a:cubicBezTo>
                  <a:pt x="762000" y="0"/>
                  <a:pt x="1104900" y="838200"/>
                  <a:pt x="1905000" y="83820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ath-014"/>
          <p:cNvSpPr/>
          <p:nvPr/>
        </p:nvSpPr>
        <p:spPr>
          <a:xfrm>
            <a:off x="5143500" y="3543300"/>
            <a:ext cx="1905000" cy="2133600"/>
          </a:xfrm>
          <a:custGeom>
            <a:avLst/>
            <a:gdLst/>
            <a:ahLst/>
            <a:cxnLst/>
            <a:rect l="0" t="0" r="r" b="b"/>
            <a:pathLst>
              <a:path w="1905000" h="2133600" fill="none">
                <a:moveTo>
                  <a:pt x="0" y="0"/>
                </a:moveTo>
                <a:cubicBezTo>
                  <a:pt x="762000" y="0"/>
                  <a:pt x="1104900" y="2133600"/>
                  <a:pt x="1905000" y="213360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ath-015"/>
          <p:cNvSpPr/>
          <p:nvPr/>
        </p:nvSpPr>
        <p:spPr>
          <a:xfrm>
            <a:off x="5143500" y="3543300"/>
            <a:ext cx="1905000" cy="3048000"/>
          </a:xfrm>
          <a:custGeom>
            <a:avLst/>
            <a:gdLst/>
            <a:ahLst/>
            <a:cxnLst/>
            <a:rect l="0" t="0" r="r" b="b"/>
            <a:pathLst>
              <a:path w="1905000" h="3048000" fill="none">
                <a:moveTo>
                  <a:pt x="0" y="0"/>
                </a:moveTo>
                <a:cubicBezTo>
                  <a:pt x="762000" y="0"/>
                  <a:pt x="1104900" y="3048000"/>
                  <a:pt x="1905000" y="304800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th-016"/>
          <p:cNvSpPr/>
          <p:nvPr/>
        </p:nvSpPr>
        <p:spPr>
          <a:xfrm>
            <a:off x="5143500" y="2019300"/>
            <a:ext cx="1905000" cy="2286000"/>
          </a:xfrm>
          <a:custGeom>
            <a:avLst/>
            <a:gdLst/>
            <a:ahLst/>
            <a:cxnLst/>
            <a:rect l="0" t="0" r="r" b="b"/>
            <a:pathLst>
              <a:path w="1905000" h="2286000" fill="none">
                <a:moveTo>
                  <a:pt x="0" y="2286000"/>
                </a:moveTo>
                <a:cubicBezTo>
                  <a:pt x="762000" y="22860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ath-017"/>
          <p:cNvSpPr/>
          <p:nvPr/>
        </p:nvSpPr>
        <p:spPr>
          <a:xfrm>
            <a:off x="5143500" y="3009900"/>
            <a:ext cx="1905000" cy="1295400"/>
          </a:xfrm>
          <a:custGeom>
            <a:avLst/>
            <a:gdLst/>
            <a:ahLst/>
            <a:cxnLst/>
            <a:rect l="0" t="0" r="r" b="b"/>
            <a:pathLst>
              <a:path w="1905000" h="1295400" fill="none">
                <a:moveTo>
                  <a:pt x="0" y="1295400"/>
                </a:moveTo>
                <a:cubicBezTo>
                  <a:pt x="762000" y="12954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ath-018"/>
          <p:cNvSpPr/>
          <p:nvPr/>
        </p:nvSpPr>
        <p:spPr>
          <a:xfrm>
            <a:off x="5143500" y="4305300"/>
            <a:ext cx="1905000" cy="76200"/>
          </a:xfrm>
          <a:custGeom>
            <a:avLst/>
            <a:gdLst/>
            <a:ahLst/>
            <a:cxnLst/>
            <a:rect l="0" t="0" r="r" b="b"/>
            <a:pathLst>
              <a:path w="1905000" h="76200" fill="none">
                <a:moveTo>
                  <a:pt x="0" y="0"/>
                </a:moveTo>
                <a:cubicBezTo>
                  <a:pt x="762000" y="0"/>
                  <a:pt x="1104900" y="76200"/>
                  <a:pt x="1905000" y="7620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ath-019"/>
          <p:cNvSpPr/>
          <p:nvPr/>
        </p:nvSpPr>
        <p:spPr>
          <a:xfrm>
            <a:off x="5143500" y="4305300"/>
            <a:ext cx="1905000" cy="1371600"/>
          </a:xfrm>
          <a:custGeom>
            <a:avLst/>
            <a:gdLst/>
            <a:ahLst/>
            <a:cxnLst/>
            <a:rect l="0" t="0" r="r" b="b"/>
            <a:pathLst>
              <a:path w="1905000" h="1371600" fill="none">
                <a:moveTo>
                  <a:pt x="0" y="0"/>
                </a:moveTo>
                <a:cubicBezTo>
                  <a:pt x="762000" y="0"/>
                  <a:pt x="1104900" y="1371600"/>
                  <a:pt x="1905000" y="137160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ath-020"/>
          <p:cNvSpPr/>
          <p:nvPr/>
        </p:nvSpPr>
        <p:spPr>
          <a:xfrm>
            <a:off x="5143500" y="4305300"/>
            <a:ext cx="1905000" cy="2286000"/>
          </a:xfrm>
          <a:custGeom>
            <a:avLst/>
            <a:gdLst/>
            <a:ahLst/>
            <a:cxnLst/>
            <a:rect l="0" t="0" r="r" b="b"/>
            <a:pathLst>
              <a:path w="1905000" h="2286000" fill="none">
                <a:moveTo>
                  <a:pt x="0" y="0"/>
                </a:moveTo>
                <a:cubicBezTo>
                  <a:pt x="762000" y="0"/>
                  <a:pt x="1104900" y="2286000"/>
                  <a:pt x="1905000" y="228600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ath-021"/>
          <p:cNvSpPr/>
          <p:nvPr/>
        </p:nvSpPr>
        <p:spPr>
          <a:xfrm>
            <a:off x="5143500" y="2019300"/>
            <a:ext cx="1905000" cy="3048000"/>
          </a:xfrm>
          <a:custGeom>
            <a:avLst/>
            <a:gdLst/>
            <a:ahLst/>
            <a:cxnLst/>
            <a:rect l="0" t="0" r="r" b="b"/>
            <a:pathLst>
              <a:path w="1905000" h="3048000" fill="none">
                <a:moveTo>
                  <a:pt x="0" y="3048000"/>
                </a:moveTo>
                <a:cubicBezTo>
                  <a:pt x="762000" y="30480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ath-022"/>
          <p:cNvSpPr/>
          <p:nvPr/>
        </p:nvSpPr>
        <p:spPr>
          <a:xfrm>
            <a:off x="5143500" y="3009900"/>
            <a:ext cx="1905000" cy="2057400"/>
          </a:xfrm>
          <a:custGeom>
            <a:avLst/>
            <a:gdLst/>
            <a:ahLst/>
            <a:cxnLst/>
            <a:rect l="0" t="0" r="r" b="b"/>
            <a:pathLst>
              <a:path w="1905000" h="2057400" fill="none">
                <a:moveTo>
                  <a:pt x="0" y="2057400"/>
                </a:moveTo>
                <a:cubicBezTo>
                  <a:pt x="762000" y="20574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ath-023"/>
          <p:cNvSpPr/>
          <p:nvPr/>
        </p:nvSpPr>
        <p:spPr>
          <a:xfrm>
            <a:off x="5143500" y="4381500"/>
            <a:ext cx="1905000" cy="685800"/>
          </a:xfrm>
          <a:custGeom>
            <a:avLst/>
            <a:gdLst/>
            <a:ahLst/>
            <a:cxnLst/>
            <a:rect l="0" t="0" r="r" b="b"/>
            <a:pathLst>
              <a:path w="1905000" h="685800" fill="none">
                <a:moveTo>
                  <a:pt x="0" y="685800"/>
                </a:moveTo>
                <a:cubicBezTo>
                  <a:pt x="762000" y="6858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ath-024"/>
          <p:cNvSpPr/>
          <p:nvPr/>
        </p:nvSpPr>
        <p:spPr>
          <a:xfrm>
            <a:off x="5143500" y="5067300"/>
            <a:ext cx="1905000" cy="609600"/>
          </a:xfrm>
          <a:custGeom>
            <a:avLst/>
            <a:gdLst/>
            <a:ahLst/>
            <a:cxnLst/>
            <a:rect l="0" t="0" r="r" b="b"/>
            <a:pathLst>
              <a:path w="1905000" h="609600" fill="none">
                <a:moveTo>
                  <a:pt x="0" y="0"/>
                </a:moveTo>
                <a:cubicBezTo>
                  <a:pt x="762000" y="0"/>
                  <a:pt x="1104900" y="609600"/>
                  <a:pt x="1905000" y="60960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ath-025"/>
          <p:cNvSpPr/>
          <p:nvPr/>
        </p:nvSpPr>
        <p:spPr>
          <a:xfrm>
            <a:off x="5143500" y="5067300"/>
            <a:ext cx="1905000" cy="1524000"/>
          </a:xfrm>
          <a:custGeom>
            <a:avLst/>
            <a:gdLst/>
            <a:ahLst/>
            <a:cxnLst/>
            <a:rect l="0" t="0" r="r" b="b"/>
            <a:pathLst>
              <a:path w="1905000" h="1524000" fill="none">
                <a:moveTo>
                  <a:pt x="0" y="0"/>
                </a:moveTo>
                <a:cubicBezTo>
                  <a:pt x="762000" y="0"/>
                  <a:pt x="1104900" y="1524000"/>
                  <a:pt x="1905000" y="152400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path-026"/>
          <p:cNvSpPr/>
          <p:nvPr/>
        </p:nvSpPr>
        <p:spPr>
          <a:xfrm>
            <a:off x="5143500" y="2019300"/>
            <a:ext cx="1905000" cy="3810000"/>
          </a:xfrm>
          <a:custGeom>
            <a:avLst/>
            <a:gdLst/>
            <a:ahLst/>
            <a:cxnLst/>
            <a:rect l="0" t="0" r="r" b="b"/>
            <a:pathLst>
              <a:path w="1905000" h="3810000" fill="none">
                <a:moveTo>
                  <a:pt x="0" y="3810000"/>
                </a:moveTo>
                <a:cubicBezTo>
                  <a:pt x="762000" y="38100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ath-027"/>
          <p:cNvSpPr/>
          <p:nvPr/>
        </p:nvSpPr>
        <p:spPr>
          <a:xfrm>
            <a:off x="5143500" y="3009900"/>
            <a:ext cx="1905000" cy="2819400"/>
          </a:xfrm>
          <a:custGeom>
            <a:avLst/>
            <a:gdLst/>
            <a:ahLst/>
            <a:cxnLst/>
            <a:rect l="0" t="0" r="r" b="b"/>
            <a:pathLst>
              <a:path w="1905000" h="2819400" fill="none">
                <a:moveTo>
                  <a:pt x="0" y="2819400"/>
                </a:moveTo>
                <a:cubicBezTo>
                  <a:pt x="762000" y="28194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ath-028"/>
          <p:cNvSpPr/>
          <p:nvPr/>
        </p:nvSpPr>
        <p:spPr>
          <a:xfrm>
            <a:off x="5143500" y="4381500"/>
            <a:ext cx="1905000" cy="1447800"/>
          </a:xfrm>
          <a:custGeom>
            <a:avLst/>
            <a:gdLst/>
            <a:ahLst/>
            <a:cxnLst/>
            <a:rect l="0" t="0" r="r" b="b"/>
            <a:pathLst>
              <a:path w="1905000" h="1447800" fill="none">
                <a:moveTo>
                  <a:pt x="0" y="1447800"/>
                </a:moveTo>
                <a:cubicBezTo>
                  <a:pt x="762000" y="14478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path-029"/>
          <p:cNvSpPr/>
          <p:nvPr/>
        </p:nvSpPr>
        <p:spPr>
          <a:xfrm>
            <a:off x="5143500" y="5676900"/>
            <a:ext cx="1905000" cy="152400"/>
          </a:xfrm>
          <a:custGeom>
            <a:avLst/>
            <a:gdLst/>
            <a:ahLst/>
            <a:cxnLst/>
            <a:rect l="0" t="0" r="r" b="b"/>
            <a:pathLst>
              <a:path w="1905000" h="152400" fill="none">
                <a:moveTo>
                  <a:pt x="0" y="152400"/>
                </a:moveTo>
                <a:cubicBezTo>
                  <a:pt x="762000" y="1524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path-030"/>
          <p:cNvSpPr/>
          <p:nvPr/>
        </p:nvSpPr>
        <p:spPr>
          <a:xfrm>
            <a:off x="5143500" y="5829300"/>
            <a:ext cx="1905000" cy="762000"/>
          </a:xfrm>
          <a:custGeom>
            <a:avLst/>
            <a:gdLst/>
            <a:ahLst/>
            <a:cxnLst/>
            <a:rect l="0" t="0" r="r" b="b"/>
            <a:pathLst>
              <a:path w="1905000" h="762000" fill="none">
                <a:moveTo>
                  <a:pt x="0" y="0"/>
                </a:moveTo>
                <a:cubicBezTo>
                  <a:pt x="762000" y="0"/>
                  <a:pt x="1104900" y="762000"/>
                  <a:pt x="1905000" y="76200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th-031"/>
          <p:cNvSpPr/>
          <p:nvPr/>
        </p:nvSpPr>
        <p:spPr>
          <a:xfrm>
            <a:off x="5143500" y="2019300"/>
            <a:ext cx="1905000" cy="4572000"/>
          </a:xfrm>
          <a:custGeom>
            <a:avLst/>
            <a:gdLst/>
            <a:ahLst/>
            <a:cxnLst/>
            <a:rect l="0" t="0" r="r" b="b"/>
            <a:pathLst>
              <a:path w="1905000" h="4572000" fill="none">
                <a:moveTo>
                  <a:pt x="0" y="4572000"/>
                </a:moveTo>
                <a:cubicBezTo>
                  <a:pt x="762000" y="45720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path-032"/>
          <p:cNvSpPr/>
          <p:nvPr/>
        </p:nvSpPr>
        <p:spPr>
          <a:xfrm>
            <a:off x="5143500" y="3009900"/>
            <a:ext cx="1905000" cy="3581400"/>
          </a:xfrm>
          <a:custGeom>
            <a:avLst/>
            <a:gdLst/>
            <a:ahLst/>
            <a:cxnLst/>
            <a:rect l="0" t="0" r="r" b="b"/>
            <a:pathLst>
              <a:path w="1905000" h="3581400" fill="none">
                <a:moveTo>
                  <a:pt x="0" y="3581400"/>
                </a:moveTo>
                <a:cubicBezTo>
                  <a:pt x="762000" y="35814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path-033"/>
          <p:cNvSpPr/>
          <p:nvPr/>
        </p:nvSpPr>
        <p:spPr>
          <a:xfrm>
            <a:off x="5143500" y="4381500"/>
            <a:ext cx="1905000" cy="2209800"/>
          </a:xfrm>
          <a:custGeom>
            <a:avLst/>
            <a:gdLst/>
            <a:ahLst/>
            <a:cxnLst/>
            <a:rect l="0" t="0" r="r" b="b"/>
            <a:pathLst>
              <a:path w="1905000" h="2209800" fill="none">
                <a:moveTo>
                  <a:pt x="0" y="2209800"/>
                </a:moveTo>
                <a:cubicBezTo>
                  <a:pt x="762000" y="22098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path-034"/>
          <p:cNvSpPr/>
          <p:nvPr/>
        </p:nvSpPr>
        <p:spPr>
          <a:xfrm>
            <a:off x="5143500" y="5676900"/>
            <a:ext cx="1905000" cy="914400"/>
          </a:xfrm>
          <a:custGeom>
            <a:avLst/>
            <a:gdLst/>
            <a:ahLst/>
            <a:cxnLst/>
            <a:rect l="0" t="0" r="r" b="b"/>
            <a:pathLst>
              <a:path w="1905000" h="914400" fill="none">
                <a:moveTo>
                  <a:pt x="0" y="914400"/>
                </a:moveTo>
                <a:cubicBezTo>
                  <a:pt x="762000" y="9144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path-035"/>
          <p:cNvSpPr/>
          <p:nvPr/>
        </p:nvSpPr>
        <p:spPr>
          <a:xfrm>
            <a:off x="5143500" y="6591300"/>
            <a:ext cx="1905000" cy="1"/>
          </a:xfrm>
          <a:custGeom>
            <a:avLst/>
            <a:gdLst/>
            <a:ahLst/>
            <a:cxnLst/>
            <a:rect l="0" t="0" r="r" b="b"/>
            <a:pathLst>
              <a:path w="1905000" h="1" fill="none">
                <a:moveTo>
                  <a:pt x="0" y="0"/>
                </a:moveTo>
                <a:cubicBezTo>
                  <a:pt x="762000" y="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path-036"/>
          <p:cNvSpPr/>
          <p:nvPr/>
        </p:nvSpPr>
        <p:spPr>
          <a:xfrm>
            <a:off x="5143500" y="2019300"/>
            <a:ext cx="1905000" cy="990600"/>
          </a:xfrm>
          <a:custGeom>
            <a:avLst/>
            <a:gdLst/>
            <a:ahLst/>
            <a:cxnLst/>
            <a:rect l="0" t="0" r="r" b="b"/>
            <a:pathLst>
              <a:path w="1905000" h="990600" fill="none">
                <a:moveTo>
                  <a:pt x="0" y="0"/>
                </a:moveTo>
                <a:cubicBezTo>
                  <a:pt x="762000" y="0"/>
                  <a:pt x="1104900" y="990600"/>
                  <a:pt x="1905000" y="990600"/>
                </a:cubicBezTo>
              </a:path>
            </a:pathLst>
          </a:custGeom>
          <a:noFill/>
          <a:ln w="30480">
            <a:solidFill>
              <a:srgbClr val="C66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polygon-001"/>
          <p:cNvSpPr/>
          <p:nvPr/>
        </p:nvSpPr>
        <p:spPr>
          <a:xfrm>
            <a:off x="6972300" y="2971800"/>
            <a:ext cx="76200" cy="76200"/>
          </a:xfrm>
          <a:custGeom>
            <a:avLst/>
            <a:gdLst/>
            <a:ahLst/>
            <a:cxnLst/>
            <a:rect l="0" t="0" r="r" b="b"/>
            <a:pathLst>
              <a:path w="76200" h="76200" fill="norm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C66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path-037"/>
          <p:cNvSpPr/>
          <p:nvPr/>
        </p:nvSpPr>
        <p:spPr>
          <a:xfrm>
            <a:off x="5143500" y="3543300"/>
            <a:ext cx="1905000" cy="838200"/>
          </a:xfrm>
          <a:custGeom>
            <a:avLst/>
            <a:gdLst/>
            <a:ahLst/>
            <a:cxnLst/>
            <a:rect l="0" t="0" r="r" b="b"/>
            <a:pathLst>
              <a:path w="1905000" h="838200" fill="none">
                <a:moveTo>
                  <a:pt x="0" y="0"/>
                </a:moveTo>
                <a:cubicBezTo>
                  <a:pt x="762000" y="0"/>
                  <a:pt x="1104900" y="838200"/>
                  <a:pt x="1905000" y="838200"/>
                </a:cubicBezTo>
              </a:path>
            </a:pathLst>
          </a:custGeom>
          <a:noFill/>
          <a:ln w="30480">
            <a:solidFill>
              <a:srgbClr val="277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olygon-002"/>
          <p:cNvSpPr/>
          <p:nvPr/>
        </p:nvSpPr>
        <p:spPr>
          <a:xfrm>
            <a:off x="6972300" y="4343400"/>
            <a:ext cx="76200" cy="76200"/>
          </a:xfrm>
          <a:custGeom>
            <a:avLst/>
            <a:gdLst/>
            <a:ahLst/>
            <a:cxnLst/>
            <a:rect l="0" t="0" r="r" b="b"/>
            <a:pathLst>
              <a:path w="76200" h="76200" fill="norm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277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-004"/>
          <p:cNvSpPr/>
          <p:nvPr/>
        </p:nvSpPr>
        <p:spPr>
          <a:xfrm>
            <a:off x="228600" y="1775460"/>
            <a:ext cx="1600200" cy="487680"/>
          </a:xfrm>
          <a:prstGeom prst="rect">
            <a:avLst/>
          </a:prstGeom>
          <a:solidFill>
            <a:srgbClr val="FFF2E5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-008: S0 · CVA6 core 0"/>
          <p:cNvSpPr txBox="1"/>
          <p:nvPr/>
        </p:nvSpPr>
        <p:spPr>
          <a:xfrm>
            <a:off x="350520" y="1899818"/>
            <a:ext cx="141146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S0 · CVA6 core 0</a:t>
            </a:r>
          </a:p>
        </p:txBody>
      </p:sp>
      <p:sp>
        <p:nvSpPr>
          <p:cNvPr id="53" name="rect-005"/>
          <p:cNvSpPr/>
          <p:nvPr/>
        </p:nvSpPr>
        <p:spPr>
          <a:xfrm>
            <a:off x="2042160" y="1783080"/>
            <a:ext cx="1790700" cy="472440"/>
          </a:xfrm>
          <a:prstGeom prst="rect">
            <a:avLst/>
          </a:prstGeom>
          <a:solidFill>
            <a:srgbClr val="FFF2E5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-009: cheshire_cva6_wrap"/>
          <p:cNvSpPr txBox="1"/>
          <p:nvPr/>
        </p:nvSpPr>
        <p:spPr>
          <a:xfrm>
            <a:off x="2133600" y="1899818"/>
            <a:ext cx="165938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cheshire_cva6_wrap</a:t>
            </a:r>
          </a:p>
        </p:txBody>
      </p:sp>
      <p:cxnSp>
        <p:nvCxnSpPr>
          <p:cNvPr id="55" name="line-001"/>
          <p:cNvCxnSpPr/>
          <p:nvPr/>
        </p:nvCxnSpPr>
        <p:spPr>
          <a:xfrm>
            <a:off x="1828800" y="2019300"/>
            <a:ext cx="21336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polygon-003"/>
          <p:cNvSpPr/>
          <p:nvPr/>
        </p:nvSpPr>
        <p:spPr>
          <a:xfrm>
            <a:off x="1981200" y="1988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line-002"/>
          <p:cNvCxnSpPr/>
          <p:nvPr/>
        </p:nvCxnSpPr>
        <p:spPr>
          <a:xfrm>
            <a:off x="3832860" y="2019300"/>
            <a:ext cx="35814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polygon-004"/>
          <p:cNvSpPr/>
          <p:nvPr/>
        </p:nvSpPr>
        <p:spPr>
          <a:xfrm>
            <a:off x="4130040" y="1988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-006"/>
          <p:cNvSpPr/>
          <p:nvPr/>
        </p:nvSpPr>
        <p:spPr>
          <a:xfrm>
            <a:off x="4191000" y="1798320"/>
            <a:ext cx="952500" cy="44196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-010: AR/AW 译码"/>
          <p:cNvSpPr txBox="1"/>
          <p:nvPr/>
        </p:nvSpPr>
        <p:spPr>
          <a:xfrm>
            <a:off x="4267200" y="1848917"/>
            <a:ext cx="875895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61" name="text-011: DEMUX S0"/>
          <p:cNvSpPr txBox="1"/>
          <p:nvPr/>
        </p:nvSpPr>
        <p:spPr>
          <a:xfrm>
            <a:off x="4267200" y="2031797"/>
            <a:ext cx="795326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S0</a:t>
            </a:r>
          </a:p>
        </p:txBody>
      </p:sp>
      <p:sp>
        <p:nvSpPr>
          <p:cNvPr id="62" name="rect-007"/>
          <p:cNvSpPr/>
          <p:nvPr/>
        </p:nvSpPr>
        <p:spPr>
          <a:xfrm>
            <a:off x="228600" y="2537460"/>
            <a:ext cx="16002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-012: S1 · Debug / SBA"/>
          <p:cNvSpPr txBox="1"/>
          <p:nvPr/>
        </p:nvSpPr>
        <p:spPr>
          <a:xfrm>
            <a:off x="350520" y="2661818"/>
            <a:ext cx="1463731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S1 · Debug / SBA</a:t>
            </a:r>
          </a:p>
        </p:txBody>
      </p:sp>
      <p:cxnSp>
        <p:nvCxnSpPr>
          <p:cNvPr id="64" name="line-003"/>
          <p:cNvCxnSpPr/>
          <p:nvPr/>
        </p:nvCxnSpPr>
        <p:spPr>
          <a:xfrm>
            <a:off x="1828800" y="2781300"/>
            <a:ext cx="236220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polygon-005"/>
          <p:cNvSpPr/>
          <p:nvPr/>
        </p:nvSpPr>
        <p:spPr>
          <a:xfrm>
            <a:off x="4130040" y="2750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-008"/>
          <p:cNvSpPr/>
          <p:nvPr/>
        </p:nvSpPr>
        <p:spPr>
          <a:xfrm>
            <a:off x="4191000" y="2560320"/>
            <a:ext cx="952500" cy="44196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-013: AR/AW 译码"/>
          <p:cNvSpPr txBox="1"/>
          <p:nvPr/>
        </p:nvSpPr>
        <p:spPr>
          <a:xfrm>
            <a:off x="4267200" y="2610917"/>
            <a:ext cx="875895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68" name="text-014: DEMUX S1"/>
          <p:cNvSpPr txBox="1"/>
          <p:nvPr/>
        </p:nvSpPr>
        <p:spPr>
          <a:xfrm>
            <a:off x="4267200" y="2793797"/>
            <a:ext cx="795326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S1</a:t>
            </a:r>
          </a:p>
        </p:txBody>
      </p:sp>
      <p:sp>
        <p:nvSpPr>
          <p:cNvPr id="69" name="rect-009"/>
          <p:cNvSpPr/>
          <p:nvPr/>
        </p:nvSpPr>
        <p:spPr>
          <a:xfrm>
            <a:off x="228600" y="3299460"/>
            <a:ext cx="1600200" cy="487680"/>
          </a:xfrm>
          <a:prstGeom prst="rect">
            <a:avLst/>
          </a:prstGeom>
          <a:solidFill>
            <a:srgbClr val="E8F2FE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-015: S2 · Ara 访存"/>
          <p:cNvSpPr txBox="1"/>
          <p:nvPr/>
        </p:nvSpPr>
        <p:spPr>
          <a:xfrm>
            <a:off x="350520" y="3423818"/>
            <a:ext cx="1108984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S2 · Ara 访存</a:t>
            </a:r>
          </a:p>
        </p:txBody>
      </p:sp>
      <p:sp>
        <p:nvSpPr>
          <p:cNvPr id="71" name="rect-010"/>
          <p:cNvSpPr/>
          <p:nvPr/>
        </p:nvSpPr>
        <p:spPr>
          <a:xfrm>
            <a:off x="2042160" y="3215640"/>
            <a:ext cx="1790700" cy="655320"/>
          </a:xfrm>
          <a:prstGeom prst="rect">
            <a:avLst/>
          </a:prstGeom>
          <a:solidFill>
            <a:srgbClr val="E8F2FE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-016: inval filter → 位宽适配"/>
          <p:cNvSpPr txBox="1"/>
          <p:nvPr/>
        </p:nvSpPr>
        <p:spPr>
          <a:xfrm>
            <a:off x="2148840" y="3280258"/>
            <a:ext cx="1634073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inval filter → 位宽适配</a:t>
            </a:r>
          </a:p>
        </p:txBody>
      </p:sp>
      <p:sp>
        <p:nvSpPr>
          <p:cNvPr id="73" name="text-017: 本配置：64 → 64 bit"/>
          <p:cNvSpPr txBox="1"/>
          <p:nvPr/>
        </p:nvSpPr>
        <p:spPr>
          <a:xfrm>
            <a:off x="2148840" y="3478378"/>
            <a:ext cx="1521738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本配置：64 → 64 bit</a:t>
            </a:r>
          </a:p>
        </p:txBody>
      </p:sp>
      <p:sp>
        <p:nvSpPr>
          <p:cNvPr id="74" name="text-018: 另接 CVA6 指令/MMU 接口"/>
          <p:cNvSpPr txBox="1"/>
          <p:nvPr/>
        </p:nvSpPr>
        <p:spPr>
          <a:xfrm>
            <a:off x="2148840" y="3662477"/>
            <a:ext cx="1760339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另接 CVA6 指令/MMU 接口</a:t>
            </a:r>
          </a:p>
        </p:txBody>
      </p:sp>
      <p:cxnSp>
        <p:nvCxnSpPr>
          <p:cNvPr id="75" name="line-004"/>
          <p:cNvCxnSpPr/>
          <p:nvPr/>
        </p:nvCxnSpPr>
        <p:spPr>
          <a:xfrm>
            <a:off x="1828800" y="3543300"/>
            <a:ext cx="21336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polygon-006"/>
          <p:cNvSpPr/>
          <p:nvPr/>
        </p:nvSpPr>
        <p:spPr>
          <a:xfrm>
            <a:off x="1981200" y="3512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line-005"/>
          <p:cNvCxnSpPr/>
          <p:nvPr/>
        </p:nvCxnSpPr>
        <p:spPr>
          <a:xfrm>
            <a:off x="3832860" y="3543300"/>
            <a:ext cx="35814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polygon-007"/>
          <p:cNvSpPr/>
          <p:nvPr/>
        </p:nvSpPr>
        <p:spPr>
          <a:xfrm>
            <a:off x="4130040" y="3512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-011"/>
          <p:cNvSpPr/>
          <p:nvPr/>
        </p:nvSpPr>
        <p:spPr>
          <a:xfrm>
            <a:off x="4191000" y="3322320"/>
            <a:ext cx="952500" cy="44196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-019: AR/AW 译码"/>
          <p:cNvSpPr txBox="1"/>
          <p:nvPr/>
        </p:nvSpPr>
        <p:spPr>
          <a:xfrm>
            <a:off x="4267200" y="3372917"/>
            <a:ext cx="875895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81" name="text-020: DEMUX S2"/>
          <p:cNvSpPr txBox="1"/>
          <p:nvPr/>
        </p:nvSpPr>
        <p:spPr>
          <a:xfrm>
            <a:off x="4267200" y="3555797"/>
            <a:ext cx="795326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S2</a:t>
            </a:r>
          </a:p>
        </p:txBody>
      </p:sp>
      <p:sp>
        <p:nvSpPr>
          <p:cNvPr id="82" name="rect-012"/>
          <p:cNvSpPr/>
          <p:nvPr/>
        </p:nvSpPr>
        <p:spPr>
          <a:xfrm>
            <a:off x="228600" y="4061460"/>
            <a:ext cx="16002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-021: S3 · iDMA 数据"/>
          <p:cNvSpPr txBox="1"/>
          <p:nvPr/>
        </p:nvSpPr>
        <p:spPr>
          <a:xfrm>
            <a:off x="350520" y="4185818"/>
            <a:ext cx="1280267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S3 · iDMA 数据</a:t>
            </a:r>
          </a:p>
        </p:txBody>
      </p:sp>
      <p:cxnSp>
        <p:nvCxnSpPr>
          <p:cNvPr id="84" name="line-006"/>
          <p:cNvCxnSpPr/>
          <p:nvPr/>
        </p:nvCxnSpPr>
        <p:spPr>
          <a:xfrm>
            <a:off x="1828800" y="4305300"/>
            <a:ext cx="236220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polygon-008"/>
          <p:cNvSpPr/>
          <p:nvPr/>
        </p:nvSpPr>
        <p:spPr>
          <a:xfrm>
            <a:off x="4130040" y="4274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-013"/>
          <p:cNvSpPr/>
          <p:nvPr/>
        </p:nvSpPr>
        <p:spPr>
          <a:xfrm>
            <a:off x="4191000" y="4084320"/>
            <a:ext cx="952500" cy="44196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-022: AR/AW 译码"/>
          <p:cNvSpPr txBox="1"/>
          <p:nvPr/>
        </p:nvSpPr>
        <p:spPr>
          <a:xfrm>
            <a:off x="4267200" y="4134917"/>
            <a:ext cx="875895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88" name="text-023: DEMUX S3"/>
          <p:cNvSpPr txBox="1"/>
          <p:nvPr/>
        </p:nvSpPr>
        <p:spPr>
          <a:xfrm>
            <a:off x="4267200" y="4317797"/>
            <a:ext cx="795326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S3</a:t>
            </a:r>
          </a:p>
        </p:txBody>
      </p:sp>
      <p:sp>
        <p:nvSpPr>
          <p:cNvPr id="89" name="rect-014"/>
          <p:cNvSpPr/>
          <p:nvPr/>
        </p:nvSpPr>
        <p:spPr>
          <a:xfrm>
            <a:off x="228600" y="4823460"/>
            <a:ext cx="16002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-024: S4 · Serial Link RX"/>
          <p:cNvSpPr txBox="1"/>
          <p:nvPr/>
        </p:nvSpPr>
        <p:spPr>
          <a:xfrm>
            <a:off x="350520" y="4947818"/>
            <a:ext cx="1510141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S4 · Serial Link RX</a:t>
            </a:r>
          </a:p>
        </p:txBody>
      </p:sp>
      <p:cxnSp>
        <p:nvCxnSpPr>
          <p:cNvPr id="91" name="line-007"/>
          <p:cNvCxnSpPr/>
          <p:nvPr/>
        </p:nvCxnSpPr>
        <p:spPr>
          <a:xfrm>
            <a:off x="1828800" y="5067300"/>
            <a:ext cx="236220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polygon-009"/>
          <p:cNvSpPr/>
          <p:nvPr/>
        </p:nvSpPr>
        <p:spPr>
          <a:xfrm>
            <a:off x="4130040" y="5036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-015"/>
          <p:cNvSpPr/>
          <p:nvPr/>
        </p:nvSpPr>
        <p:spPr>
          <a:xfrm>
            <a:off x="4191000" y="4846320"/>
            <a:ext cx="952500" cy="44196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-025: AR/AW 译码"/>
          <p:cNvSpPr txBox="1"/>
          <p:nvPr/>
        </p:nvSpPr>
        <p:spPr>
          <a:xfrm>
            <a:off x="4267200" y="4896917"/>
            <a:ext cx="875895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95" name="text-026: DEMUX S4"/>
          <p:cNvSpPr txBox="1"/>
          <p:nvPr/>
        </p:nvSpPr>
        <p:spPr>
          <a:xfrm>
            <a:off x="4267200" y="5079797"/>
            <a:ext cx="795326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S4</a:t>
            </a:r>
          </a:p>
        </p:txBody>
      </p:sp>
      <p:sp>
        <p:nvSpPr>
          <p:cNvPr id="96" name="rect-016"/>
          <p:cNvSpPr/>
          <p:nvPr/>
        </p:nvSpPr>
        <p:spPr>
          <a:xfrm>
            <a:off x="228600" y="5585460"/>
            <a:ext cx="16002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-027: S5 · VGA 取帧"/>
          <p:cNvSpPr txBox="1"/>
          <p:nvPr/>
        </p:nvSpPr>
        <p:spPr>
          <a:xfrm>
            <a:off x="350520" y="5709818"/>
            <a:ext cx="1183053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S5 · VGA 取帧</a:t>
            </a:r>
          </a:p>
        </p:txBody>
      </p:sp>
      <p:cxnSp>
        <p:nvCxnSpPr>
          <p:cNvPr id="98" name="line-008"/>
          <p:cNvCxnSpPr/>
          <p:nvPr/>
        </p:nvCxnSpPr>
        <p:spPr>
          <a:xfrm>
            <a:off x="1828800" y="5829300"/>
            <a:ext cx="236220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polygon-010"/>
          <p:cNvSpPr/>
          <p:nvPr/>
        </p:nvSpPr>
        <p:spPr>
          <a:xfrm>
            <a:off x="4130040" y="5798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-017"/>
          <p:cNvSpPr/>
          <p:nvPr/>
        </p:nvSpPr>
        <p:spPr>
          <a:xfrm>
            <a:off x="4191000" y="5608320"/>
            <a:ext cx="952500" cy="44196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-028: AR/AW 译码"/>
          <p:cNvSpPr txBox="1"/>
          <p:nvPr/>
        </p:nvSpPr>
        <p:spPr>
          <a:xfrm>
            <a:off x="4267200" y="5658917"/>
            <a:ext cx="875895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102" name="text-029: DEMUX S5"/>
          <p:cNvSpPr txBox="1"/>
          <p:nvPr/>
        </p:nvSpPr>
        <p:spPr>
          <a:xfrm>
            <a:off x="4267200" y="5841797"/>
            <a:ext cx="795326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S5</a:t>
            </a:r>
          </a:p>
        </p:txBody>
      </p:sp>
      <p:sp>
        <p:nvSpPr>
          <p:cNvPr id="103" name="rect-018"/>
          <p:cNvSpPr/>
          <p:nvPr/>
        </p:nvSpPr>
        <p:spPr>
          <a:xfrm>
            <a:off x="228600" y="6347460"/>
            <a:ext cx="16002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-030: S6 · USB DMA"/>
          <p:cNvSpPr txBox="1"/>
          <p:nvPr/>
        </p:nvSpPr>
        <p:spPr>
          <a:xfrm>
            <a:off x="350520" y="6471818"/>
            <a:ext cx="12298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S6 · USB DMA</a:t>
            </a:r>
          </a:p>
        </p:txBody>
      </p:sp>
      <p:cxnSp>
        <p:nvCxnSpPr>
          <p:cNvPr id="105" name="line-009"/>
          <p:cNvCxnSpPr/>
          <p:nvPr/>
        </p:nvCxnSpPr>
        <p:spPr>
          <a:xfrm>
            <a:off x="1828800" y="6591300"/>
            <a:ext cx="236220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polygon-011"/>
          <p:cNvSpPr/>
          <p:nvPr/>
        </p:nvSpPr>
        <p:spPr>
          <a:xfrm>
            <a:off x="4130040" y="6560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-019"/>
          <p:cNvSpPr/>
          <p:nvPr/>
        </p:nvSpPr>
        <p:spPr>
          <a:xfrm>
            <a:off x="4191000" y="6370320"/>
            <a:ext cx="952500" cy="44196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-031: AR/AW 译码"/>
          <p:cNvSpPr txBox="1"/>
          <p:nvPr/>
        </p:nvSpPr>
        <p:spPr>
          <a:xfrm>
            <a:off x="4267200" y="6420917"/>
            <a:ext cx="875895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109" name="text-032: DEMUX S6"/>
          <p:cNvSpPr txBox="1"/>
          <p:nvPr/>
        </p:nvSpPr>
        <p:spPr>
          <a:xfrm>
            <a:off x="4267200" y="6603797"/>
            <a:ext cx="795326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S6</a:t>
            </a:r>
          </a:p>
        </p:txBody>
      </p:sp>
      <p:sp>
        <p:nvSpPr>
          <p:cNvPr id="110" name="text-033: 图中省略部分局部缓冲/适配"/>
          <p:cNvSpPr txBox="1"/>
          <p:nvPr/>
        </p:nvSpPr>
        <p:spPr>
          <a:xfrm>
            <a:off x="2095500" y="2298497"/>
            <a:ext cx="1739360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图中省略部分局部缓冲/适配</a:t>
            </a:r>
          </a:p>
        </p:txBody>
      </p:sp>
      <p:sp>
        <p:nvSpPr>
          <p:cNvPr id="111" name="text-034: 灰线 = 可达路径；彩线 = 请求示例"/>
          <p:cNvSpPr txBox="1"/>
          <p:nvPr/>
        </p:nvSpPr>
        <p:spPr>
          <a:xfrm>
            <a:off x="5349240" y="6832397"/>
            <a:ext cx="2159032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灰线 = 可达路径；彩线 = 请求示例</a:t>
            </a:r>
          </a:p>
        </p:txBody>
      </p:sp>
      <p:sp>
        <p:nvSpPr>
          <p:cNvPr id="112" name="rect-020"/>
          <p:cNvSpPr/>
          <p:nvPr/>
        </p:nvSpPr>
        <p:spPr>
          <a:xfrm>
            <a:off x="7048500" y="1775460"/>
            <a:ext cx="9525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-035: MUX M0"/>
          <p:cNvSpPr txBox="1"/>
          <p:nvPr/>
        </p:nvSpPr>
        <p:spPr>
          <a:xfrm>
            <a:off x="7193280" y="1809598"/>
            <a:ext cx="756904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MUX M0</a:t>
            </a:r>
          </a:p>
        </p:txBody>
      </p:sp>
      <p:sp>
        <p:nvSpPr>
          <p:cNvPr id="114" name="text-036: 独立仲裁"/>
          <p:cNvSpPr txBox="1"/>
          <p:nvPr/>
        </p:nvSpPr>
        <p:spPr>
          <a:xfrm>
            <a:off x="7162800" y="2007718"/>
            <a:ext cx="723900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15" name="line-010"/>
          <p:cNvCxnSpPr/>
          <p:nvPr/>
        </p:nvCxnSpPr>
        <p:spPr>
          <a:xfrm>
            <a:off x="8001000" y="2019300"/>
            <a:ext cx="51816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polygon-012"/>
          <p:cNvSpPr/>
          <p:nvPr/>
        </p:nvSpPr>
        <p:spPr>
          <a:xfrm>
            <a:off x="8458200" y="1988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-021"/>
          <p:cNvSpPr/>
          <p:nvPr/>
        </p:nvSpPr>
        <p:spPr>
          <a:xfrm>
            <a:off x="7048500" y="2766060"/>
            <a:ext cx="9525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-037: MUX M1"/>
          <p:cNvSpPr txBox="1"/>
          <p:nvPr/>
        </p:nvSpPr>
        <p:spPr>
          <a:xfrm>
            <a:off x="7193280" y="2800198"/>
            <a:ext cx="756904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MUX M1</a:t>
            </a:r>
          </a:p>
        </p:txBody>
      </p:sp>
      <p:sp>
        <p:nvSpPr>
          <p:cNvPr id="119" name="text-038: 独立仲裁"/>
          <p:cNvSpPr txBox="1"/>
          <p:nvPr/>
        </p:nvSpPr>
        <p:spPr>
          <a:xfrm>
            <a:off x="7162800" y="2998318"/>
            <a:ext cx="723900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20" name="line-011"/>
          <p:cNvCxnSpPr/>
          <p:nvPr/>
        </p:nvCxnSpPr>
        <p:spPr>
          <a:xfrm>
            <a:off x="8001000" y="3009900"/>
            <a:ext cx="51816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polygon-013"/>
          <p:cNvSpPr/>
          <p:nvPr/>
        </p:nvSpPr>
        <p:spPr>
          <a:xfrm>
            <a:off x="8458200" y="29794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-022"/>
          <p:cNvSpPr/>
          <p:nvPr/>
        </p:nvSpPr>
        <p:spPr>
          <a:xfrm>
            <a:off x="7048500" y="4137660"/>
            <a:ext cx="9525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-039: MUX M2"/>
          <p:cNvSpPr txBox="1"/>
          <p:nvPr/>
        </p:nvSpPr>
        <p:spPr>
          <a:xfrm>
            <a:off x="7193280" y="4171798"/>
            <a:ext cx="756904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MUX M2</a:t>
            </a:r>
          </a:p>
        </p:txBody>
      </p:sp>
      <p:sp>
        <p:nvSpPr>
          <p:cNvPr id="124" name="text-040: 独立仲裁"/>
          <p:cNvSpPr txBox="1"/>
          <p:nvPr/>
        </p:nvSpPr>
        <p:spPr>
          <a:xfrm>
            <a:off x="7162800" y="4369918"/>
            <a:ext cx="723900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25" name="line-012"/>
          <p:cNvCxnSpPr/>
          <p:nvPr/>
        </p:nvCxnSpPr>
        <p:spPr>
          <a:xfrm>
            <a:off x="8001000" y="4381500"/>
            <a:ext cx="51816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polygon-014"/>
          <p:cNvSpPr/>
          <p:nvPr/>
        </p:nvSpPr>
        <p:spPr>
          <a:xfrm>
            <a:off x="8458200" y="43510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-023"/>
          <p:cNvSpPr/>
          <p:nvPr/>
        </p:nvSpPr>
        <p:spPr>
          <a:xfrm>
            <a:off x="7048500" y="5433060"/>
            <a:ext cx="9525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-041: MUX M3"/>
          <p:cNvSpPr txBox="1"/>
          <p:nvPr/>
        </p:nvSpPr>
        <p:spPr>
          <a:xfrm>
            <a:off x="7193280" y="5467198"/>
            <a:ext cx="756904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MUX M3</a:t>
            </a:r>
          </a:p>
        </p:txBody>
      </p:sp>
      <p:sp>
        <p:nvSpPr>
          <p:cNvPr id="129" name="text-042: 独立仲裁"/>
          <p:cNvSpPr txBox="1"/>
          <p:nvPr/>
        </p:nvSpPr>
        <p:spPr>
          <a:xfrm>
            <a:off x="7162800" y="5665318"/>
            <a:ext cx="723900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30" name="line-013"/>
          <p:cNvCxnSpPr/>
          <p:nvPr/>
        </p:nvCxnSpPr>
        <p:spPr>
          <a:xfrm>
            <a:off x="8001000" y="5676900"/>
            <a:ext cx="51816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polygon-015"/>
          <p:cNvSpPr/>
          <p:nvPr/>
        </p:nvSpPr>
        <p:spPr>
          <a:xfrm>
            <a:off x="8458200" y="56464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-024"/>
          <p:cNvSpPr/>
          <p:nvPr/>
        </p:nvSpPr>
        <p:spPr>
          <a:xfrm>
            <a:off x="7048500" y="6347460"/>
            <a:ext cx="9525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-043: MUX M4"/>
          <p:cNvSpPr txBox="1"/>
          <p:nvPr/>
        </p:nvSpPr>
        <p:spPr>
          <a:xfrm>
            <a:off x="7193280" y="6381598"/>
            <a:ext cx="756904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MUX M4</a:t>
            </a:r>
          </a:p>
        </p:txBody>
      </p:sp>
      <p:sp>
        <p:nvSpPr>
          <p:cNvPr id="134" name="text-044: 独立仲裁"/>
          <p:cNvSpPr txBox="1"/>
          <p:nvPr/>
        </p:nvSpPr>
        <p:spPr>
          <a:xfrm>
            <a:off x="7162800" y="6579718"/>
            <a:ext cx="723900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35" name="line-014"/>
          <p:cNvCxnSpPr/>
          <p:nvPr/>
        </p:nvCxnSpPr>
        <p:spPr>
          <a:xfrm>
            <a:off x="8001000" y="6591300"/>
            <a:ext cx="51816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polygon-016"/>
          <p:cNvSpPr/>
          <p:nvPr/>
        </p:nvSpPr>
        <p:spPr>
          <a:xfrm>
            <a:off x="8458200" y="6560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-025"/>
          <p:cNvSpPr/>
          <p:nvPr/>
        </p:nvSpPr>
        <p:spPr>
          <a:xfrm>
            <a:off x="8534400" y="1775460"/>
            <a:ext cx="40386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-045: M0 · Debug 目标接口"/>
          <p:cNvSpPr txBox="1"/>
          <p:nvPr/>
        </p:nvSpPr>
        <p:spPr>
          <a:xfrm>
            <a:off x="8671560" y="1775460"/>
            <a:ext cx="2158389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M0 · Debug 目标接口</a:t>
            </a:r>
          </a:p>
        </p:txBody>
      </p:sp>
      <p:sp>
        <p:nvSpPr>
          <p:cNvPr id="139" name="text-046: 调试模块地址空间（与 SBA 发起端分开）"/>
          <p:cNvSpPr txBox="1"/>
          <p:nvPr/>
        </p:nvSpPr>
        <p:spPr>
          <a:xfrm>
            <a:off x="8671560" y="2016557"/>
            <a:ext cx="2526018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调试模块地址空间（与 SBA 发起端分开）</a:t>
            </a:r>
          </a:p>
        </p:txBody>
      </p:sp>
      <p:sp>
        <p:nvSpPr>
          <p:cNvPr id="140" name="rect-026"/>
          <p:cNvSpPr/>
          <p:nvPr/>
        </p:nvSpPr>
        <p:spPr>
          <a:xfrm>
            <a:off x="8534400" y="2529840"/>
            <a:ext cx="4038600" cy="960120"/>
          </a:xfrm>
          <a:prstGeom prst="rect">
            <a:avLst/>
          </a:prstGeom>
          <a:solidFill>
            <a:srgbClr val="FFF2E5"/>
          </a:solidFill>
          <a:ln w="15240">
            <a:solidFill>
              <a:srgbClr val="D9B4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-047: M1 · AXI → Regbus → Reg demux"/>
          <p:cNvSpPr txBox="1"/>
          <p:nvPr/>
        </p:nvSpPr>
        <p:spPr>
          <a:xfrm>
            <a:off x="8671560" y="2560320"/>
            <a:ext cx="3440668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M1 · AXI → Regbus → Reg demux</a:t>
            </a:r>
          </a:p>
        </p:txBody>
      </p:sp>
      <p:sp>
        <p:nvSpPr>
          <p:cNvPr id="142" name="text-048: Boot ROM / CLINT / PLIC / SoC regs"/>
          <p:cNvSpPr txBox="1"/>
          <p:nvPr/>
        </p:nvSpPr>
        <p:spPr>
          <a:xfrm>
            <a:off x="8671560" y="2821838"/>
            <a:ext cx="2916257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Boot ROM / CLINT / PLIC / SoC regs</a:t>
            </a:r>
          </a:p>
        </p:txBody>
      </p:sp>
      <p:sp>
        <p:nvSpPr>
          <p:cNvPr id="143" name="text-049: UART / I²C / SPI / GPIO / LLC 控制等"/>
          <p:cNvSpPr txBox="1"/>
          <p:nvPr/>
        </p:nvSpPr>
        <p:spPr>
          <a:xfrm>
            <a:off x="8671560" y="3050438"/>
            <a:ext cx="2875621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UART / I²C / SPI / GPIO / LLC 控制等</a:t>
            </a:r>
          </a:p>
        </p:txBody>
      </p:sp>
      <p:sp>
        <p:nvSpPr>
          <p:cNvPr id="144" name="rect-027"/>
          <p:cNvSpPr/>
          <p:nvPr/>
        </p:nvSpPr>
        <p:spPr>
          <a:xfrm>
            <a:off x="8534400" y="3710940"/>
            <a:ext cx="4038600" cy="1508760"/>
          </a:xfrm>
          <a:prstGeom prst="rect">
            <a:avLst/>
          </a:prstGeom>
          <a:solidFill>
            <a:srgbClr val="E8F2FE"/>
          </a:solidFill>
          <a:ln w="15240">
            <a:solidFill>
              <a:srgbClr val="96B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-050: M2 · LLC / SPM 共用一个目标端口"/>
          <p:cNvSpPr txBox="1"/>
          <p:nvPr/>
        </p:nvSpPr>
        <p:spPr>
          <a:xfrm>
            <a:off x="8671560" y="3764280"/>
            <a:ext cx="3252383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M2 · LLC / SPM 共用一个目标端口</a:t>
            </a:r>
          </a:p>
        </p:txBody>
      </p:sp>
      <p:sp>
        <p:nvSpPr>
          <p:cNvPr id="146" name="text-051: AMO/LRSC 适配 → cut / 地址重映射 → LLC"/>
          <p:cNvSpPr txBox="1"/>
          <p:nvPr/>
        </p:nvSpPr>
        <p:spPr>
          <a:xfrm>
            <a:off x="8671560" y="4057498"/>
            <a:ext cx="3038070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AMO/LRSC 适配 → cut / 地址重映射 → LLC</a:t>
            </a:r>
          </a:p>
        </p:txBody>
      </p:sp>
      <p:sp>
        <p:nvSpPr>
          <p:cNvPr id="147" name="text-052: SPM：128 KiB，含 cached / uncached 别名"/>
          <p:cNvSpPr txBox="1"/>
          <p:nvPr/>
        </p:nvSpPr>
        <p:spPr>
          <a:xfrm>
            <a:off x="8671560" y="4286098"/>
            <a:ext cx="3090982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SPM：128 KiB，含 cached / uncached 别名</a:t>
            </a:r>
          </a:p>
        </p:txBody>
      </p:sp>
      <p:sp>
        <p:nvSpPr>
          <p:cNvPr id="148" name="text-053: 外存窗口：0x8000_0000 ≤ addr &lt; 0x1_0000_0000"/>
          <p:cNvSpPr txBox="1"/>
          <p:nvPr/>
        </p:nvSpPr>
        <p:spPr>
          <a:xfrm>
            <a:off x="8671560" y="4531157"/>
            <a:ext cx="3158264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外存窗口：0x8000_0000 ≤ addr &lt; 0x1_0000_0000</a:t>
            </a:r>
          </a:p>
        </p:txBody>
      </p:sp>
      <p:sp>
        <p:nvSpPr>
          <p:cNvPr id="149" name="text-054: LLC 下游 AXI 端口 → 平台 DDR 控制器"/>
          <p:cNvSpPr txBox="1"/>
          <p:nvPr/>
        </p:nvSpPr>
        <p:spPr>
          <a:xfrm>
            <a:off x="8671560" y="4781398"/>
            <a:ext cx="2685752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LLC 下游 AXI 端口 → 平台 DDR 控制器</a:t>
            </a:r>
          </a:p>
        </p:txBody>
      </p:sp>
      <p:sp>
        <p:nvSpPr>
          <p:cNvPr id="150" name="text-055: SPM / cache 命中访问可在片内完成"/>
          <p:cNvSpPr txBox="1"/>
          <p:nvPr/>
        </p:nvSpPr>
        <p:spPr>
          <a:xfrm>
            <a:off x="8671560" y="4995977"/>
            <a:ext cx="2230624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SPM / cache 命中访问可在片内完成</a:t>
            </a:r>
          </a:p>
        </p:txBody>
      </p:sp>
      <p:sp>
        <p:nvSpPr>
          <p:cNvPr id="151" name="rect-028"/>
          <p:cNvSpPr/>
          <p:nvPr/>
        </p:nvSpPr>
        <p:spPr>
          <a:xfrm>
            <a:off x="8534400" y="5433060"/>
            <a:ext cx="40386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-056: M3 · iDMA 控制接口"/>
          <p:cNvSpPr txBox="1"/>
          <p:nvPr/>
        </p:nvSpPr>
        <p:spPr>
          <a:xfrm>
            <a:off x="8671560" y="5440680"/>
            <a:ext cx="2066103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M3 · iDMA 控制接口</a:t>
            </a:r>
          </a:p>
        </p:txBody>
      </p:sp>
      <p:sp>
        <p:nvSpPr>
          <p:cNvPr id="153" name="text-057: 0x0100_0000 起；与 DMA 数据发起端分开"/>
          <p:cNvSpPr txBox="1"/>
          <p:nvPr/>
        </p:nvSpPr>
        <p:spPr>
          <a:xfrm>
            <a:off x="8671560" y="5689397"/>
            <a:ext cx="2663678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0x0100_0000 起；与 DMA 数据发起端分开</a:t>
            </a:r>
          </a:p>
        </p:txBody>
      </p:sp>
      <p:sp>
        <p:nvSpPr>
          <p:cNvPr id="154" name="rect-029"/>
          <p:cNvSpPr/>
          <p:nvPr/>
        </p:nvSpPr>
        <p:spPr>
          <a:xfrm>
            <a:off x="8534400" y="6316980"/>
            <a:ext cx="403860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-058: M4 · Serial Link TX 目标窗口"/>
          <p:cNvSpPr txBox="1"/>
          <p:nvPr/>
        </p:nvSpPr>
        <p:spPr>
          <a:xfrm>
            <a:off x="8671560" y="6324600"/>
            <a:ext cx="2812673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M4 · Serial Link TX 目标窗口</a:t>
            </a:r>
          </a:p>
        </p:txBody>
      </p:sp>
      <p:sp>
        <p:nvSpPr>
          <p:cNvPr id="156" name="text-059: 0x1_0000_0000 ≤ addr &lt; 0x2_0000_0000"/>
          <p:cNvSpPr txBox="1"/>
          <p:nvPr/>
        </p:nvSpPr>
        <p:spPr>
          <a:xfrm>
            <a:off x="8671560" y="6588557"/>
            <a:ext cx="2644592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0x1_0000_0000 ≤ addr &lt; 0x2_0000_0000</a:t>
            </a:r>
          </a:p>
        </p:txBody>
      </p:sp>
      <p:sp>
        <p:nvSpPr>
          <p:cNvPr id="157" name="rect-030"/>
          <p:cNvSpPr/>
          <p:nvPr/>
        </p:nvSpPr>
        <p:spPr>
          <a:xfrm>
            <a:off x="228600" y="7246620"/>
            <a:ext cx="1234440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-060: 如何读这张图"/>
          <p:cNvSpPr txBox="1"/>
          <p:nvPr/>
        </p:nvSpPr>
        <p:spPr>
          <a:xfrm>
            <a:off x="381000" y="7284720"/>
            <a:ext cx="13335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如何读这张图</a:t>
            </a:r>
          </a:p>
        </p:txBody>
      </p:sp>
      <p:sp>
        <p:nvSpPr>
          <p:cNvPr id="159" name="text-061: ① 每个输入按地址分流；每个输出独立仲裁。访问不同输出可并行，争同一输出才在该处"/>
          <p:cNvSpPr txBox="1"/>
          <p:nvPr/>
        </p:nvSpPr>
        <p:spPr>
          <a:xfrm>
            <a:off x="381000" y="7593178"/>
            <a:ext cx="6268379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① 每个输入按地址分流；每个输出独立仲裁。访问不同输出可并行，争同一输出才在该处竞争。</a:t>
            </a:r>
          </a:p>
        </p:txBody>
      </p:sp>
      <p:sp>
        <p:nvSpPr>
          <p:cNvPr id="160" name="text-062: ② 线代表 AXI 通道组：AR/AW/W 向目标，R/B 返回；未映射地址进入"/>
          <p:cNvSpPr txBox="1"/>
          <p:nvPr/>
        </p:nvSpPr>
        <p:spPr>
          <a:xfrm>
            <a:off x="381000" y="7814158"/>
            <a:ext cx="6911804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② 线代表 AXI 通道组：AR/AW/W 向目标，R/B 返回；未映射地址进入各输入的错误响应单元（图略）。</a:t>
            </a:r>
          </a:p>
        </p:txBody>
      </p:sp>
      <p:sp>
        <p:nvSpPr>
          <p:cNvPr id="161" name="text-063: ③ 从 Crossbar 看：S 是 slave port（接发起者），M 是 "/>
          <p:cNvSpPr txBox="1"/>
          <p:nvPr/>
        </p:nvSpPr>
        <p:spPr>
          <a:xfrm>
            <a:off x="381000" y="8035138"/>
            <a:ext cx="7112782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③ 从 Crossbar 看：S 是 slave port（接发起者），M 是 master port（接目标），所以名称看起来反过来。</a:t>
            </a:r>
          </a:p>
        </p:txBody>
      </p:sp>
      <p:sp>
        <p:nvSpPr>
          <p:cNvPr id="162" name="text-064: ④ VCU118 当前加源脚本：SerialLink=0、USB=0、Ara=1"/>
          <p:cNvSpPr txBox="1"/>
          <p:nvPr/>
        </p:nvSpPr>
        <p:spPr>
          <a:xfrm>
            <a:off x="381000" y="8256118"/>
            <a:ext cx="6958798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④ VCU118 当前加源脚本：SerialLink=0、USB=0、Ara=1 ⇒ 5 × 4；RT 同样关闭。图为仿真 Ara 配置。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990600"/>
            <a:ext cx="128016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-001: 参考 DDR Controller V2.1 的多端口接入建议"/>
          <p:cNvSpPr txBox="1"/>
          <p:nvPr/>
        </p:nvSpPr>
        <p:spPr>
          <a:xfrm>
            <a:off x="228600" y="1107034"/>
            <a:ext cx="5640931" cy="4145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39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参考 DDR Controller V2.1 的多端口接入建议</a:t>
            </a:r>
          </a:p>
        </p:txBody>
      </p:sp>
      <p:sp>
        <p:nvSpPr>
          <p:cNvPr id="4" name="text-002: 工程建议，当前 RTL 尚未集成供应商 IP；Crossbar 原有结构沿用，I"/>
          <p:cNvSpPr txBox="1"/>
          <p:nvPr/>
        </p:nvSpPr>
        <p:spPr>
          <a:xfrm>
            <a:off x="228600" y="1520038"/>
            <a:ext cx="7680805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工程建议，当前 RTL 尚未集成供应商 IP；Crossbar 原有结构沿用，ISP/NPU 数据直接进入控制器的不同 AXI Slave。</a:t>
            </a:r>
          </a:p>
        </p:txBody>
      </p:sp>
      <p:sp>
        <p:nvSpPr>
          <p:cNvPr id="5" name="rect-002"/>
          <p:cNvSpPr/>
          <p:nvPr/>
        </p:nvSpPr>
        <p:spPr>
          <a:xfrm>
            <a:off x="228600" y="1844040"/>
            <a:ext cx="12344400" cy="388620"/>
          </a:xfrm>
          <a:prstGeom prst="rect">
            <a:avLst/>
          </a:prstGeom>
          <a:solidFill>
            <a:srgbClr val="E8F4ED"/>
          </a:solidFill>
          <a:ln w="15240">
            <a:solidFill>
              <a:srgbClr val="B4D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-003: SoC → S0  ·  ISP → S1  ·  NPU → S2 ；控制器集"/>
          <p:cNvSpPr txBox="1"/>
          <p:nvPr/>
        </p:nvSpPr>
        <p:spPr>
          <a:xfrm>
            <a:off x="365760" y="1922678"/>
            <a:ext cx="6444139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SoC → S0  ·  ISP → S1  ·  NPU → S2 ；控制器集成多端口仲裁，可配置优先级及 QoS。</a:t>
            </a:r>
          </a:p>
        </p:txBody>
      </p:sp>
      <p:sp>
        <p:nvSpPr>
          <p:cNvPr id="7" name="rect-003"/>
          <p:cNvSpPr/>
          <p:nvPr/>
        </p:nvSpPr>
        <p:spPr>
          <a:xfrm>
            <a:off x="5905500" y="2377440"/>
            <a:ext cx="5257800" cy="3695700"/>
          </a:xfrm>
          <a:prstGeom prst="rect">
            <a:avLst/>
          </a:prstGeom>
          <a:solidFill>
            <a:srgbClr val="EEF4F9"/>
          </a:solidFill>
          <a:ln w="15240">
            <a:solidFill>
              <a:srgbClr val="9AB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-004: DDR Controller 内部（仅画与接入相关的功能）"/>
          <p:cNvSpPr txBox="1"/>
          <p:nvPr/>
        </p:nvSpPr>
        <p:spPr>
          <a:xfrm>
            <a:off x="6057900" y="2430780"/>
            <a:ext cx="4370713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DDR Controller 内部（仅画与接入相关的功能）</a:t>
            </a:r>
          </a:p>
        </p:txBody>
      </p:sp>
      <p:sp>
        <p:nvSpPr>
          <p:cNvPr id="9" name="rect-004"/>
          <p:cNvSpPr/>
          <p:nvPr/>
        </p:nvSpPr>
        <p:spPr>
          <a:xfrm>
            <a:off x="228600" y="2880360"/>
            <a:ext cx="1409700" cy="5638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-005: CVA6 + Ara"/>
          <p:cNvSpPr txBox="1"/>
          <p:nvPr/>
        </p:nvSpPr>
        <p:spPr>
          <a:xfrm>
            <a:off x="365760" y="2918460"/>
            <a:ext cx="1297412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CVA6 + Ara</a:t>
            </a:r>
          </a:p>
        </p:txBody>
      </p:sp>
      <p:sp>
        <p:nvSpPr>
          <p:cNvPr id="11" name="text-006: 当前 SoC 发起端"/>
          <p:cNvSpPr txBox="1"/>
          <p:nvPr/>
        </p:nvSpPr>
        <p:spPr>
          <a:xfrm>
            <a:off x="365760" y="3190037"/>
            <a:ext cx="1097661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当前 SoC 发起端</a:t>
            </a:r>
          </a:p>
        </p:txBody>
      </p:sp>
      <p:sp>
        <p:nvSpPr>
          <p:cNvPr id="12" name="rect-005"/>
          <p:cNvSpPr/>
          <p:nvPr/>
        </p:nvSpPr>
        <p:spPr>
          <a:xfrm>
            <a:off x="1943100" y="2880360"/>
            <a:ext cx="1371600" cy="5638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-007: Cheshire"/>
          <p:cNvSpPr txBox="1"/>
          <p:nvPr/>
        </p:nvSpPr>
        <p:spPr>
          <a:xfrm>
            <a:off x="2057400" y="2967838"/>
            <a:ext cx="742974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Cheshire</a:t>
            </a:r>
          </a:p>
        </p:txBody>
      </p:sp>
      <p:sp>
        <p:nvSpPr>
          <p:cNvPr id="14" name="text-008: Crossbar"/>
          <p:cNvSpPr txBox="1"/>
          <p:nvPr/>
        </p:nvSpPr>
        <p:spPr>
          <a:xfrm>
            <a:off x="2057400" y="3173578"/>
            <a:ext cx="746665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Crossbar</a:t>
            </a:r>
          </a:p>
        </p:txBody>
      </p:sp>
      <p:sp>
        <p:nvSpPr>
          <p:cNvPr id="15" name="rect-006"/>
          <p:cNvSpPr/>
          <p:nvPr/>
        </p:nvSpPr>
        <p:spPr>
          <a:xfrm>
            <a:off x="3619500" y="2781300"/>
            <a:ext cx="2057400" cy="762000"/>
          </a:xfrm>
          <a:prstGeom prst="rect">
            <a:avLst/>
          </a:prstGeom>
          <a:solidFill>
            <a:srgbClr val="E8F2FE"/>
          </a:solidFill>
          <a:ln w="15240">
            <a:solidFill>
              <a:srgbClr val="96B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-009: 现有原子适配 + LLC"/>
          <p:cNvSpPr txBox="1"/>
          <p:nvPr/>
        </p:nvSpPr>
        <p:spPr>
          <a:xfrm>
            <a:off x="3741420" y="2868778"/>
            <a:ext cx="1446931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现有原子适配 + LLC</a:t>
            </a:r>
          </a:p>
        </p:txBody>
      </p:sp>
      <p:sp>
        <p:nvSpPr>
          <p:cNvPr id="17" name="text-010: 经 LLC 出口访问外存"/>
          <p:cNvSpPr txBox="1"/>
          <p:nvPr/>
        </p:nvSpPr>
        <p:spPr>
          <a:xfrm>
            <a:off x="3741420" y="3082138"/>
            <a:ext cx="1484328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经 LLC 出口访问外存</a:t>
            </a:r>
          </a:p>
        </p:txBody>
      </p:sp>
      <p:sp>
        <p:nvSpPr>
          <p:cNvPr id="18" name="text-011: SPM 访问仍可在片内完成"/>
          <p:cNvSpPr txBox="1"/>
          <p:nvPr/>
        </p:nvSpPr>
        <p:spPr>
          <a:xfrm>
            <a:off x="3741420" y="3296717"/>
            <a:ext cx="1614309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SPM 访问仍可在片内完成</a:t>
            </a:r>
          </a:p>
        </p:txBody>
      </p:sp>
      <p:cxnSp>
        <p:nvCxnSpPr>
          <p:cNvPr id="19" name="line-001"/>
          <p:cNvCxnSpPr/>
          <p:nvPr/>
        </p:nvCxnSpPr>
        <p:spPr>
          <a:xfrm>
            <a:off x="1638300" y="3162300"/>
            <a:ext cx="30480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olygon-001"/>
          <p:cNvSpPr/>
          <p:nvPr/>
        </p:nvSpPr>
        <p:spPr>
          <a:xfrm>
            <a:off x="1882140" y="3131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line-002"/>
          <p:cNvCxnSpPr/>
          <p:nvPr/>
        </p:nvCxnSpPr>
        <p:spPr>
          <a:xfrm>
            <a:off x="3314700" y="3162300"/>
            <a:ext cx="30480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olygon-002"/>
          <p:cNvSpPr/>
          <p:nvPr/>
        </p:nvSpPr>
        <p:spPr>
          <a:xfrm>
            <a:off x="3558540" y="3131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line-003"/>
          <p:cNvCxnSpPr/>
          <p:nvPr/>
        </p:nvCxnSpPr>
        <p:spPr>
          <a:xfrm>
            <a:off x="5676900" y="3162300"/>
            <a:ext cx="38100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olygon-003"/>
          <p:cNvSpPr/>
          <p:nvPr/>
        </p:nvSpPr>
        <p:spPr>
          <a:xfrm>
            <a:off x="5996940" y="3131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-007"/>
          <p:cNvSpPr/>
          <p:nvPr/>
        </p:nvSpPr>
        <p:spPr>
          <a:xfrm>
            <a:off x="228600" y="3985260"/>
            <a:ext cx="2743200" cy="640080"/>
          </a:xfrm>
          <a:prstGeom prst="rect">
            <a:avLst/>
          </a:prstGeom>
          <a:solidFill>
            <a:srgbClr val="FFF2E5"/>
          </a:solidFill>
          <a:ln w="15240">
            <a:solidFill>
              <a:srgbClr val="D9B4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-012: ISP 数据 AXI Master"/>
          <p:cNvSpPr txBox="1"/>
          <p:nvPr/>
        </p:nvSpPr>
        <p:spPr>
          <a:xfrm>
            <a:off x="365760" y="4046220"/>
            <a:ext cx="2055602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ISP 数据 AXI Master</a:t>
            </a:r>
          </a:p>
        </p:txBody>
      </p:sp>
      <p:sp>
        <p:nvSpPr>
          <p:cNvPr id="27" name="text-013: 写帧缓存，绕过 Crossbar / LLC"/>
          <p:cNvSpPr txBox="1"/>
          <p:nvPr/>
        </p:nvSpPr>
        <p:spPr>
          <a:xfrm>
            <a:off x="365760" y="4324198"/>
            <a:ext cx="2190905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写帧缓存，绕过 Crossbar / LLC</a:t>
            </a:r>
          </a:p>
        </p:txBody>
      </p:sp>
      <p:cxnSp>
        <p:nvCxnSpPr>
          <p:cNvPr id="28" name="line-004"/>
          <p:cNvCxnSpPr/>
          <p:nvPr/>
        </p:nvCxnSpPr>
        <p:spPr>
          <a:xfrm>
            <a:off x="2971800" y="4305300"/>
            <a:ext cx="308610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olygon-004"/>
          <p:cNvSpPr/>
          <p:nvPr/>
        </p:nvSpPr>
        <p:spPr>
          <a:xfrm>
            <a:off x="5996940" y="4274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-008"/>
          <p:cNvSpPr/>
          <p:nvPr/>
        </p:nvSpPr>
        <p:spPr>
          <a:xfrm>
            <a:off x="228600" y="5128260"/>
            <a:ext cx="2743200" cy="640080"/>
          </a:xfrm>
          <a:prstGeom prst="rect">
            <a:avLst/>
          </a:prstGeom>
          <a:solidFill>
            <a:srgbClr val="EDF5EE"/>
          </a:solidFill>
          <a:ln w="15240">
            <a:solidFill>
              <a:srgbClr val="A5C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-014: NPU 数据 AXI Master"/>
          <p:cNvSpPr txBox="1"/>
          <p:nvPr/>
        </p:nvSpPr>
        <p:spPr>
          <a:xfrm>
            <a:off x="365760" y="5189220"/>
            <a:ext cx="2186571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NPU 数据 AXI Master</a:t>
            </a:r>
          </a:p>
        </p:txBody>
      </p:sp>
      <p:sp>
        <p:nvSpPr>
          <p:cNvPr id="32" name="text-015: 读写权重 / 特征图，绕过 LLC"/>
          <p:cNvSpPr txBox="1"/>
          <p:nvPr/>
        </p:nvSpPr>
        <p:spPr>
          <a:xfrm>
            <a:off x="365760" y="5467198"/>
            <a:ext cx="2023360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读写权重 / 特征图，绕过 LLC</a:t>
            </a:r>
          </a:p>
        </p:txBody>
      </p:sp>
      <p:cxnSp>
        <p:nvCxnSpPr>
          <p:cNvPr id="33" name="line-005"/>
          <p:cNvCxnSpPr/>
          <p:nvPr/>
        </p:nvCxnSpPr>
        <p:spPr>
          <a:xfrm>
            <a:off x="2971800" y="5448300"/>
            <a:ext cx="308610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olygon-005"/>
          <p:cNvSpPr/>
          <p:nvPr/>
        </p:nvSpPr>
        <p:spPr>
          <a:xfrm>
            <a:off x="5996940" y="5417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-009"/>
          <p:cNvSpPr/>
          <p:nvPr/>
        </p:nvSpPr>
        <p:spPr>
          <a:xfrm>
            <a:off x="6057900" y="2819400"/>
            <a:ext cx="106680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-016: AXI S0"/>
          <p:cNvSpPr txBox="1"/>
          <p:nvPr/>
        </p:nvSpPr>
        <p:spPr>
          <a:xfrm>
            <a:off x="6172200" y="2880360"/>
            <a:ext cx="819852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AXI S0</a:t>
            </a:r>
          </a:p>
        </p:txBody>
      </p:sp>
      <p:sp>
        <p:nvSpPr>
          <p:cNvPr id="37" name="text-017: SoC 外存流量"/>
          <p:cNvSpPr txBox="1"/>
          <p:nvPr/>
        </p:nvSpPr>
        <p:spPr>
          <a:xfrm>
            <a:off x="6172200" y="3197657"/>
            <a:ext cx="929795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SoC 外存流量</a:t>
            </a:r>
          </a:p>
        </p:txBody>
      </p:sp>
      <p:cxnSp>
        <p:nvCxnSpPr>
          <p:cNvPr id="38" name="line-006"/>
          <p:cNvCxnSpPr/>
          <p:nvPr/>
        </p:nvCxnSpPr>
        <p:spPr>
          <a:xfrm>
            <a:off x="7124700" y="3162300"/>
            <a:ext cx="30480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polygon-006"/>
          <p:cNvSpPr/>
          <p:nvPr/>
        </p:nvSpPr>
        <p:spPr>
          <a:xfrm>
            <a:off x="7368540" y="3131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-010"/>
          <p:cNvSpPr/>
          <p:nvPr/>
        </p:nvSpPr>
        <p:spPr>
          <a:xfrm>
            <a:off x="6057900" y="3962400"/>
            <a:ext cx="106680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-018: AXI S1"/>
          <p:cNvSpPr txBox="1"/>
          <p:nvPr/>
        </p:nvSpPr>
        <p:spPr>
          <a:xfrm>
            <a:off x="6172200" y="4023360"/>
            <a:ext cx="819852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AXI S1</a:t>
            </a:r>
          </a:p>
        </p:txBody>
      </p:sp>
      <p:sp>
        <p:nvSpPr>
          <p:cNvPr id="42" name="text-019: ISP 写入"/>
          <p:cNvSpPr txBox="1"/>
          <p:nvPr/>
        </p:nvSpPr>
        <p:spPr>
          <a:xfrm>
            <a:off x="6172200" y="4340657"/>
            <a:ext cx="619042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ISP 写入</a:t>
            </a:r>
          </a:p>
        </p:txBody>
      </p:sp>
      <p:cxnSp>
        <p:nvCxnSpPr>
          <p:cNvPr id="43" name="line-007"/>
          <p:cNvCxnSpPr/>
          <p:nvPr/>
        </p:nvCxnSpPr>
        <p:spPr>
          <a:xfrm>
            <a:off x="7124700" y="4305300"/>
            <a:ext cx="30480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polygon-007"/>
          <p:cNvSpPr/>
          <p:nvPr/>
        </p:nvSpPr>
        <p:spPr>
          <a:xfrm>
            <a:off x="7368540" y="4274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-011"/>
          <p:cNvSpPr/>
          <p:nvPr/>
        </p:nvSpPr>
        <p:spPr>
          <a:xfrm>
            <a:off x="6057900" y="5105400"/>
            <a:ext cx="106680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-020: AXI S2"/>
          <p:cNvSpPr txBox="1"/>
          <p:nvPr/>
        </p:nvSpPr>
        <p:spPr>
          <a:xfrm>
            <a:off x="6172200" y="5166360"/>
            <a:ext cx="819852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AXI S2</a:t>
            </a:r>
          </a:p>
        </p:txBody>
      </p:sp>
      <p:sp>
        <p:nvSpPr>
          <p:cNvPr id="47" name="text-021: NPU 读 / 写"/>
          <p:cNvSpPr txBox="1"/>
          <p:nvPr/>
        </p:nvSpPr>
        <p:spPr>
          <a:xfrm>
            <a:off x="6172200" y="5483657"/>
            <a:ext cx="840224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NPU 读 / 写</a:t>
            </a:r>
          </a:p>
        </p:txBody>
      </p:sp>
      <p:cxnSp>
        <p:nvCxnSpPr>
          <p:cNvPr id="48" name="line-008"/>
          <p:cNvCxnSpPr/>
          <p:nvPr/>
        </p:nvCxnSpPr>
        <p:spPr>
          <a:xfrm>
            <a:off x="7124700" y="5448300"/>
            <a:ext cx="30480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polygon-008"/>
          <p:cNvSpPr/>
          <p:nvPr/>
        </p:nvSpPr>
        <p:spPr>
          <a:xfrm>
            <a:off x="7368540" y="5417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-012"/>
          <p:cNvSpPr/>
          <p:nvPr/>
        </p:nvSpPr>
        <p:spPr>
          <a:xfrm>
            <a:off x="7429500" y="2819400"/>
            <a:ext cx="1524000" cy="2971800"/>
          </a:xfrm>
          <a:prstGeom prst="rect">
            <a:avLst/>
          </a:prstGeom>
          <a:solidFill>
            <a:srgbClr val="F9F5FF"/>
          </a:solidFill>
          <a:ln w="15240">
            <a:solidFill>
              <a:srgbClr val="B9A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-022: 内部 Arbiter"/>
          <p:cNvSpPr txBox="1"/>
          <p:nvPr/>
        </p:nvSpPr>
        <p:spPr>
          <a:xfrm>
            <a:off x="7574280" y="3185160"/>
            <a:ext cx="1305127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内部 Arbiter</a:t>
            </a:r>
          </a:p>
        </p:txBody>
      </p:sp>
      <p:sp>
        <p:nvSpPr>
          <p:cNvPr id="52" name="text-023: 可配置优先级"/>
          <p:cNvSpPr txBox="1"/>
          <p:nvPr/>
        </p:nvSpPr>
        <p:spPr>
          <a:xfrm>
            <a:off x="7574280" y="3569818"/>
            <a:ext cx="1013460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可配置优先级</a:t>
            </a:r>
          </a:p>
        </p:txBody>
      </p:sp>
      <p:sp>
        <p:nvSpPr>
          <p:cNvPr id="53" name="text-024: 轮询 / QoS"/>
          <p:cNvSpPr txBox="1"/>
          <p:nvPr/>
        </p:nvSpPr>
        <p:spPr>
          <a:xfrm>
            <a:off x="7574280" y="3836518"/>
            <a:ext cx="875467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轮询 / QoS</a:t>
            </a:r>
          </a:p>
        </p:txBody>
      </p:sp>
      <p:sp>
        <p:nvSpPr>
          <p:cNvPr id="54" name="text-025: 页命中限制"/>
          <p:cNvSpPr txBox="1"/>
          <p:nvPr/>
        </p:nvSpPr>
        <p:spPr>
          <a:xfrm>
            <a:off x="7574280" y="4415638"/>
            <a:ext cx="868680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页命中限制</a:t>
            </a:r>
          </a:p>
        </p:txBody>
      </p:sp>
      <p:sp>
        <p:nvSpPr>
          <p:cNvPr id="55" name="text-026: 端口请求仲裁"/>
          <p:cNvSpPr txBox="1"/>
          <p:nvPr/>
        </p:nvSpPr>
        <p:spPr>
          <a:xfrm>
            <a:off x="7574280" y="4736897"/>
            <a:ext cx="906780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端口请求仲裁</a:t>
            </a:r>
          </a:p>
        </p:txBody>
      </p:sp>
      <p:cxnSp>
        <p:nvCxnSpPr>
          <p:cNvPr id="56" name="line-009"/>
          <p:cNvCxnSpPr/>
          <p:nvPr/>
        </p:nvCxnSpPr>
        <p:spPr>
          <a:xfrm>
            <a:off x="8953500" y="4305300"/>
            <a:ext cx="26670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polygon-009"/>
          <p:cNvSpPr/>
          <p:nvPr/>
        </p:nvSpPr>
        <p:spPr>
          <a:xfrm>
            <a:off x="9159240" y="4274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-013"/>
          <p:cNvSpPr/>
          <p:nvPr/>
        </p:nvSpPr>
        <p:spPr>
          <a:xfrm>
            <a:off x="9220200" y="3619500"/>
            <a:ext cx="1752600" cy="1447800"/>
          </a:xfrm>
          <a:prstGeom prst="rect">
            <a:avLst/>
          </a:prstGeom>
          <a:solidFill>
            <a:srgbClr val="E8F2FE"/>
          </a:solidFill>
          <a:ln w="15240">
            <a:solidFill>
              <a:srgbClr val="96B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-027: Controller Core"/>
          <p:cNvSpPr txBox="1"/>
          <p:nvPr/>
        </p:nvSpPr>
        <p:spPr>
          <a:xfrm>
            <a:off x="9349740" y="3752698"/>
            <a:ext cx="1203686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Controller Core</a:t>
            </a:r>
          </a:p>
        </p:txBody>
      </p:sp>
      <p:sp>
        <p:nvSpPr>
          <p:cNvPr id="60" name="text-028: 内部命令队列"/>
          <p:cNvSpPr txBox="1"/>
          <p:nvPr/>
        </p:nvSpPr>
        <p:spPr>
          <a:xfrm>
            <a:off x="9349740" y="4041038"/>
            <a:ext cx="11201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内部命令队列</a:t>
            </a:r>
          </a:p>
        </p:txBody>
      </p:sp>
      <p:sp>
        <p:nvSpPr>
          <p:cNvPr id="61" name="text-029: FR-FCFS 调度"/>
          <p:cNvSpPr txBox="1"/>
          <p:nvPr/>
        </p:nvSpPr>
        <p:spPr>
          <a:xfrm>
            <a:off x="9349740" y="4392778"/>
            <a:ext cx="1043428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FR-FCFS 调度</a:t>
            </a:r>
          </a:p>
        </p:txBody>
      </p:sp>
      <p:sp>
        <p:nvSpPr>
          <p:cNvPr id="62" name="text-030: 遵守 DRAM 时序"/>
          <p:cNvSpPr txBox="1"/>
          <p:nvPr/>
        </p:nvSpPr>
        <p:spPr>
          <a:xfrm>
            <a:off x="9349740" y="4705198"/>
            <a:ext cx="1257705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遵守 DRAM 时序</a:t>
            </a:r>
          </a:p>
        </p:txBody>
      </p:sp>
      <p:cxnSp>
        <p:nvCxnSpPr>
          <p:cNvPr id="63" name="line-010"/>
          <p:cNvCxnSpPr/>
          <p:nvPr/>
        </p:nvCxnSpPr>
        <p:spPr>
          <a:xfrm>
            <a:off x="10972800" y="4305300"/>
            <a:ext cx="38100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polygon-010"/>
          <p:cNvSpPr/>
          <p:nvPr/>
        </p:nvSpPr>
        <p:spPr>
          <a:xfrm>
            <a:off x="11292840" y="4274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-014"/>
          <p:cNvSpPr/>
          <p:nvPr/>
        </p:nvSpPr>
        <p:spPr>
          <a:xfrm>
            <a:off x="11353800" y="3992880"/>
            <a:ext cx="1219200" cy="62484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-031: PHY"/>
          <p:cNvSpPr txBox="1"/>
          <p:nvPr/>
        </p:nvSpPr>
        <p:spPr>
          <a:xfrm>
            <a:off x="11506200" y="4046220"/>
            <a:ext cx="595694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67" name="text-032: + SDRAM"/>
          <p:cNvSpPr txBox="1"/>
          <p:nvPr/>
        </p:nvSpPr>
        <p:spPr>
          <a:xfrm>
            <a:off x="11506200" y="4316578"/>
            <a:ext cx="826687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+ SDRAM</a:t>
            </a:r>
          </a:p>
        </p:txBody>
      </p:sp>
      <p:sp>
        <p:nvSpPr>
          <p:cNvPr id="68" name="rect-015"/>
          <p:cNvSpPr/>
          <p:nvPr/>
        </p:nvSpPr>
        <p:spPr>
          <a:xfrm>
            <a:off x="228600" y="6294120"/>
            <a:ext cx="12344400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-033: 依据与待确认边界"/>
          <p:cNvSpPr txBox="1"/>
          <p:nvPr/>
        </p:nvSpPr>
        <p:spPr>
          <a:xfrm>
            <a:off x="365760" y="6332220"/>
            <a:ext cx="17145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依据与待确认边界</a:t>
            </a:r>
          </a:p>
        </p:txBody>
      </p:sp>
      <p:sp>
        <p:nvSpPr>
          <p:cNvPr id="70" name="text-034: Datasheet V2.1：p8 最多 8 个 AXI 端口；p10 仲裁特性"/>
          <p:cNvSpPr txBox="1"/>
          <p:nvPr/>
        </p:nvSpPr>
        <p:spPr>
          <a:xfrm>
            <a:off x="365760" y="6640678"/>
            <a:ext cx="7167134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Datasheet V2.1：p8 最多 8 个 AXI 端口；p10 仲裁特性；p13 每端口 QoS；p17–18 内部结构与命令调度。</a:t>
            </a:r>
          </a:p>
        </p:txBody>
      </p:sp>
      <p:sp>
        <p:nvSpPr>
          <p:cNvPr id="71" name="text-035: p14：独立 AXI Urgent 接口不支持。优先级 / QoS 的具体寄存器"/>
          <p:cNvSpPr txBox="1"/>
          <p:nvPr/>
        </p:nvSpPr>
        <p:spPr>
          <a:xfrm>
            <a:off x="365760" y="6884518"/>
            <a:ext cx="7817310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p14：独立 AXI Urgent 接口不支持。优先级 / QoS 的具体寄存器、映射规则、带宽保底和最坏延迟仍需用户手册确认。</a:t>
            </a:r>
          </a:p>
        </p:txBody>
      </p:sp>
      <p:sp>
        <p:nvSpPr>
          <p:cNvPr id="72" name="text-036: 多端口不会自动保证共享缓存一致性或旁路写的 AMO/LRSC 语义；RT 是否需"/>
          <p:cNvSpPr txBox="1"/>
          <p:nvPr/>
        </p:nvSpPr>
        <p:spPr>
          <a:xfrm>
            <a:off x="365760" y="7128358"/>
            <a:ext cx="7444704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多端口不会自动保证共享缓存一致性或旁路写的 AMO/LRSC 语义；RT 是否需要添加，后续结合控制器能力评估。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Cheshire Ara / DDR multiport — editable diagrams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