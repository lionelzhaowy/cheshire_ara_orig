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152908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91160" y="334264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391160" y="515620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8"/>
          <p:cNvSpPr/>
          <p:nvPr/>
        </p:nvSpPr>
        <p:spPr>
          <a:xfrm>
            <a:off x="5120640" y="240030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0"/>
          <p:cNvSpPr/>
          <p:nvPr/>
        </p:nvSpPr>
        <p:spPr>
          <a:xfrm>
            <a:off x="5120640" y="421386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2"/>
          <p:cNvSpPr/>
          <p:nvPr/>
        </p:nvSpPr>
        <p:spPr>
          <a:xfrm>
            <a:off x="5120640" y="602742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 fill="none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4: 三种访问辨认 SoC：字符输出、数组计算、调试装载"/>
          <p:cNvSpPr txBox="1"/>
          <p:nvPr/>
        </p:nvSpPr>
        <p:spPr>
          <a:xfrm>
            <a:off x="483616" y="271109"/>
            <a:ext cx="629838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三种访问辨认 SoC：字符输出、数组计算、调试装载</a:t>
            </a:r>
          </a:p>
        </p:txBody>
      </p:sp>
      <p:sp>
        <p:nvSpPr>
          <p:cNvPr id="12" name="text-015: 用具体请求区分控制面与数据面；Ara 由 CPU 向量指令驱动，并通过自身 AX"/>
          <p:cNvSpPr txBox="1"/>
          <p:nvPr/>
        </p:nvSpPr>
        <p:spPr>
          <a:xfrm>
            <a:off x="483616" y="676778"/>
            <a:ext cx="68865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用具体请求区分控制面与数据面；Ara 由 CPU 向量指令驱动，并通过自身 AXI 口访存。</a:t>
            </a:r>
          </a:p>
        </p:txBody>
      </p:sp>
      <p:sp>
        <p:nvSpPr>
          <p:cNvPr id="13" name="text-016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17: 源码：cheshire_soc.sv；UART DIF；CVA6–Ara 专用控"/>
          <p:cNvSpPr txBox="1"/>
          <p:nvPr/>
        </p:nvSpPr>
        <p:spPr>
          <a:xfrm>
            <a:off x="341376" y="7726477"/>
            <a:ext cx="47152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源码：cheshire_soc.sv；UART DIF；CVA6–Ara 专用控制接口</a:t>
            </a:r>
          </a:p>
        </p:txBody>
      </p:sp>
      <p:sp>
        <p:nvSpPr>
          <p:cNvPr id="15" name="text-018: ① CPU 输出字符"/>
          <p:cNvSpPr txBox="1"/>
          <p:nvPr/>
        </p:nvSpPr>
        <p:spPr>
          <a:xfrm>
            <a:off x="519176" y="1585976"/>
            <a:ext cx="16446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CPU 输出字符</a:t>
            </a:r>
          </a:p>
        </p:txBody>
      </p:sp>
      <p:sp>
        <p:nvSpPr>
          <p:cNvPr id="16" name="rect-019"/>
          <p:cNvSpPr/>
          <p:nvPr/>
        </p:nvSpPr>
        <p:spPr>
          <a:xfrm>
            <a:off x="604520" y="199136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0"/>
          <p:cNvSpPr/>
          <p:nvPr/>
        </p:nvSpPr>
        <p:spPr>
          <a:xfrm>
            <a:off x="60452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1: CPU store → UART THR"/>
          <p:cNvSpPr txBox="1"/>
          <p:nvPr/>
        </p:nvSpPr>
        <p:spPr>
          <a:xfrm>
            <a:off x="725424" y="2019239"/>
            <a:ext cx="26534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store → UART THR</a:t>
            </a:r>
          </a:p>
        </p:txBody>
      </p:sp>
      <p:sp>
        <p:nvSpPr>
          <p:cNvPr id="19" name="text-022: 走寄存器控制路径"/>
          <p:cNvSpPr txBox="1"/>
          <p:nvPr/>
        </p:nvSpPr>
        <p:spPr>
          <a:xfrm>
            <a:off x="725424" y="22983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走寄存器控制路径</a:t>
            </a:r>
          </a:p>
        </p:txBody>
      </p:sp>
      <p:sp>
        <p:nvSpPr>
          <p:cNvPr id="20" name="rect-023"/>
          <p:cNvSpPr/>
          <p:nvPr/>
        </p:nvSpPr>
        <p:spPr>
          <a:xfrm>
            <a:off x="7147560" y="199136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4"/>
          <p:cNvSpPr/>
          <p:nvPr/>
        </p:nvSpPr>
        <p:spPr>
          <a:xfrm>
            <a:off x="714756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5: Crossbar → AXI/Reg → UART"/>
          <p:cNvSpPr txBox="1"/>
          <p:nvPr/>
        </p:nvSpPr>
        <p:spPr>
          <a:xfrm>
            <a:off x="7268464" y="2019239"/>
            <a:ext cx="33191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Crossbar → AXI/Reg → UART</a:t>
            </a:r>
          </a:p>
        </p:txBody>
      </p:sp>
      <p:sp>
        <p:nvSpPr>
          <p:cNvPr id="23" name="text-026: TX FIFO / 串行状态机 → TX 引脚"/>
          <p:cNvSpPr txBox="1"/>
          <p:nvPr/>
        </p:nvSpPr>
        <p:spPr>
          <a:xfrm>
            <a:off x="7268464" y="2298314"/>
            <a:ext cx="30670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FIFO / 串行状态机 → TX 引脚</a:t>
            </a:r>
          </a:p>
        </p:txBody>
      </p:sp>
      <p:sp>
        <p:nvSpPr>
          <p:cNvPr id="24" name="text-027: ② Ara 处理数组"/>
          <p:cNvSpPr txBox="1"/>
          <p:nvPr/>
        </p:nvSpPr>
        <p:spPr>
          <a:xfrm>
            <a:off x="519176" y="3399536"/>
            <a:ext cx="164465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Ara 处理数组</a:t>
            </a:r>
          </a:p>
        </p:txBody>
      </p:sp>
      <p:sp>
        <p:nvSpPr>
          <p:cNvPr id="25" name="rect-028"/>
          <p:cNvSpPr/>
          <p:nvPr/>
        </p:nvSpPr>
        <p:spPr>
          <a:xfrm>
            <a:off x="604520" y="380492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9"/>
          <p:cNvSpPr/>
          <p:nvPr/>
        </p:nvSpPr>
        <p:spPr>
          <a:xfrm>
            <a:off x="60452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0: CPU 发向量指令 / 操作数"/>
          <p:cNvSpPr txBox="1"/>
          <p:nvPr/>
        </p:nvSpPr>
        <p:spPr>
          <a:xfrm>
            <a:off x="725424" y="3832799"/>
            <a:ext cx="250555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发向量指令 / 操作数</a:t>
            </a:r>
          </a:p>
        </p:txBody>
      </p:sp>
      <p:sp>
        <p:nvSpPr>
          <p:cNvPr id="28" name="text-031: Ara VLSU 主动读写数据"/>
          <p:cNvSpPr txBox="1"/>
          <p:nvPr/>
        </p:nvSpPr>
        <p:spPr>
          <a:xfrm>
            <a:off x="725424" y="4111874"/>
            <a:ext cx="21019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VLSU 主动读写数据</a:t>
            </a:r>
          </a:p>
        </p:txBody>
      </p:sp>
      <p:sp>
        <p:nvSpPr>
          <p:cNvPr id="29" name="rect-032"/>
          <p:cNvSpPr/>
          <p:nvPr/>
        </p:nvSpPr>
        <p:spPr>
          <a:xfrm>
            <a:off x="7147560" y="380492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3"/>
          <p:cNvSpPr/>
          <p:nvPr/>
        </p:nvSpPr>
        <p:spPr>
          <a:xfrm>
            <a:off x="714756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4: Crossbar → LLC / SPM"/>
          <p:cNvSpPr txBox="1"/>
          <p:nvPr/>
        </p:nvSpPr>
        <p:spPr>
          <a:xfrm>
            <a:off x="7268464" y="3832799"/>
            <a:ext cx="26534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Crossbar → LLC / SPM</a:t>
            </a:r>
          </a:p>
        </p:txBody>
      </p:sp>
      <p:sp>
        <p:nvSpPr>
          <p:cNvPr id="32" name="text-035: 片上命中或 LLC 下游外存"/>
          <p:cNvSpPr txBox="1"/>
          <p:nvPr/>
        </p:nvSpPr>
        <p:spPr>
          <a:xfrm>
            <a:off x="7268464" y="4111874"/>
            <a:ext cx="21673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片上命中或 LLC 下游外存</a:t>
            </a:r>
          </a:p>
        </p:txBody>
      </p:sp>
      <p:sp>
        <p:nvSpPr>
          <p:cNvPr id="33" name="text-036: ③ Debug 装载程序"/>
          <p:cNvSpPr txBox="1"/>
          <p:nvPr/>
        </p:nvSpPr>
        <p:spPr>
          <a:xfrm>
            <a:off x="519176" y="5213096"/>
            <a:ext cx="187579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Debug 装载程序</a:t>
            </a:r>
          </a:p>
        </p:txBody>
      </p:sp>
      <p:sp>
        <p:nvSpPr>
          <p:cNvPr id="34" name="rect-037"/>
          <p:cNvSpPr/>
          <p:nvPr/>
        </p:nvSpPr>
        <p:spPr>
          <a:xfrm>
            <a:off x="604520" y="561848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8"/>
          <p:cNvSpPr/>
          <p:nvPr/>
        </p:nvSpPr>
        <p:spPr>
          <a:xfrm>
            <a:off x="60452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9: 主机 JTAG → DTM / DM"/>
          <p:cNvSpPr txBox="1"/>
          <p:nvPr/>
        </p:nvSpPr>
        <p:spPr>
          <a:xfrm>
            <a:off x="725424" y="5646359"/>
            <a:ext cx="25425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主机 JTAG → DTM / DM</a:t>
            </a:r>
          </a:p>
        </p:txBody>
      </p:sp>
      <p:sp>
        <p:nvSpPr>
          <p:cNvPr id="37" name="text-040: SBA 成为 AXI 请求发起端"/>
          <p:cNvSpPr txBox="1"/>
          <p:nvPr/>
        </p:nvSpPr>
        <p:spPr>
          <a:xfrm>
            <a:off x="725424" y="5925434"/>
            <a:ext cx="22655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SBA 成为 AXI 请求发起端</a:t>
            </a:r>
          </a:p>
        </p:txBody>
      </p:sp>
      <p:sp>
        <p:nvSpPr>
          <p:cNvPr id="38" name="rect-041"/>
          <p:cNvSpPr/>
          <p:nvPr/>
        </p:nvSpPr>
        <p:spPr>
          <a:xfrm>
            <a:off x="7147560" y="561848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2"/>
          <p:cNvSpPr/>
          <p:nvPr/>
        </p:nvSpPr>
        <p:spPr>
          <a:xfrm>
            <a:off x="714756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3: Crossbar → 目标可写内存"/>
          <p:cNvSpPr txBox="1"/>
          <p:nvPr/>
        </p:nvSpPr>
        <p:spPr>
          <a:xfrm>
            <a:off x="7268464" y="5646359"/>
            <a:ext cx="26812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目标可写内存</a:t>
            </a:r>
          </a:p>
        </p:txBody>
      </p:sp>
      <p:sp>
        <p:nvSpPr>
          <p:cNvPr id="41" name="text-044: halt / 写段 / DPC / resume"/>
          <p:cNvSpPr txBox="1"/>
          <p:nvPr/>
        </p:nvSpPr>
        <p:spPr>
          <a:xfrm>
            <a:off x="7268464" y="5925434"/>
            <a:ext cx="282986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halt / 写段 / DPC / resume</a:t>
            </a:r>
          </a:p>
        </p:txBody>
      </p:sp>
      <p:sp>
        <p:nvSpPr>
          <p:cNvPr id="42" name="text-045: 控制寄存器口、主动数据口、完成事件口是不同角色；完整连接结构见下一张系统图。"/>
          <p:cNvSpPr txBox="1"/>
          <p:nvPr/>
        </p:nvSpPr>
        <p:spPr>
          <a:xfrm>
            <a:off x="462280" y="6976872"/>
            <a:ext cx="6934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控制寄存器口、主动数据口、完成事件口是不同角色；完整连接结构见下一张系统图。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