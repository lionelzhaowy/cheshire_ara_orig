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4267200" y="171399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4267200" y="254609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426720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4267200" y="4210304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4267200" y="5042408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4267200" y="587451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7"/>
          <p:cNvSpPr/>
          <p:nvPr/>
        </p:nvSpPr>
        <p:spPr>
          <a:xfrm>
            <a:off x="4267200" y="670661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9: 七篇、30 章：由系统概念进入实现与验证"/>
          <p:cNvSpPr txBox="1"/>
          <p:nvPr/>
        </p:nvSpPr>
        <p:spPr>
          <a:xfrm>
            <a:off x="483616" y="271109"/>
            <a:ext cx="510783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七篇、30 章：由系统概念进入实现与验证</a:t>
            </a:r>
          </a:p>
        </p:txBody>
      </p:sp>
      <p:sp>
        <p:nvSpPr>
          <p:cNvPr id="13" name="text-020: 每一篇给出后续会消费的知识；章节编号从当前 pages.json 生成，避免沿用"/>
          <p:cNvSpPr txBox="1"/>
          <p:nvPr/>
        </p:nvSpPr>
        <p:spPr>
          <a:xfrm>
            <a:off x="483616" y="676778"/>
            <a:ext cx="66739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每一篇给出后续会消费的知识；章节编号从当前 pages.json 生成，避免沿用旧目录。</a:t>
            </a:r>
          </a:p>
        </p:txBody>
      </p:sp>
      <p:sp>
        <p:nvSpPr>
          <p:cNvPr id="14" name="text-021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5" name="text-022: 维护依据：scripts/pages.json；离线教材当前目录"/>
          <p:cNvSpPr txBox="1"/>
          <p:nvPr/>
        </p:nvSpPr>
        <p:spPr>
          <a:xfrm>
            <a:off x="341376" y="7726477"/>
            <a:ext cx="379780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维护依据：scripts/pages.json；离线教材当前目录</a:t>
            </a:r>
          </a:p>
        </p:txBody>
      </p:sp>
      <p:sp>
        <p:nvSpPr>
          <p:cNvPr id="16" name="rect-023"/>
          <p:cNvSpPr/>
          <p:nvPr/>
        </p:nvSpPr>
        <p:spPr>
          <a:xfrm>
            <a:off x="391160" y="138684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24"/>
          <p:cNvSpPr/>
          <p:nvPr/>
        </p:nvSpPr>
        <p:spPr>
          <a:xfrm>
            <a:off x="39116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25: 第一篇 · 01—03"/>
          <p:cNvSpPr txBox="1"/>
          <p:nvPr/>
        </p:nvSpPr>
        <p:spPr>
          <a:xfrm>
            <a:off x="512064" y="141471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第一篇 · 01—03</a:t>
            </a:r>
          </a:p>
        </p:txBody>
      </p:sp>
      <p:sp>
        <p:nvSpPr>
          <p:cNvPr id="19" name="text-026: 系统基础与配置"/>
          <p:cNvSpPr txBox="1"/>
          <p:nvPr/>
        </p:nvSpPr>
        <p:spPr>
          <a:xfrm>
            <a:off x="512064" y="16937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系统基础与配置</a:t>
            </a:r>
          </a:p>
        </p:txBody>
      </p:sp>
      <p:sp>
        <p:nvSpPr>
          <p:cNvPr id="20" name="rect-027"/>
          <p:cNvSpPr/>
          <p:nvPr/>
        </p:nvSpPr>
        <p:spPr>
          <a:xfrm>
            <a:off x="5298440" y="138684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8"/>
          <p:cNvSpPr/>
          <p:nvPr/>
        </p:nvSpPr>
        <p:spPr>
          <a:xfrm>
            <a:off x="529844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9: 辨认硬件职责、CPU 能力与配置约束"/>
          <p:cNvSpPr txBox="1"/>
          <p:nvPr/>
        </p:nvSpPr>
        <p:spPr>
          <a:xfrm>
            <a:off x="5419344" y="1414719"/>
            <a:ext cx="32544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辨认硬件职责、CPU 能力与配置约束</a:t>
            </a:r>
          </a:p>
        </p:txBody>
      </p:sp>
      <p:sp>
        <p:nvSpPr>
          <p:cNvPr id="23" name="text-030: 进入各章后结合本地源码、使用条件与验证边界阅读"/>
          <p:cNvSpPr txBox="1"/>
          <p:nvPr/>
        </p:nvSpPr>
        <p:spPr>
          <a:xfrm>
            <a:off x="5419344" y="170147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24" name="rect-031"/>
          <p:cNvSpPr/>
          <p:nvPr/>
        </p:nvSpPr>
        <p:spPr>
          <a:xfrm>
            <a:off x="391160" y="221894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2"/>
          <p:cNvSpPr/>
          <p:nvPr/>
        </p:nvSpPr>
        <p:spPr>
          <a:xfrm>
            <a:off x="39116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3: 第二篇 · 04—06"/>
          <p:cNvSpPr txBox="1"/>
          <p:nvPr/>
        </p:nvSpPr>
        <p:spPr>
          <a:xfrm>
            <a:off x="512064" y="2246823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第二篇 · 04—06</a:t>
            </a:r>
          </a:p>
        </p:txBody>
      </p:sp>
      <p:sp>
        <p:nvSpPr>
          <p:cNvPr id="27" name="text-034: ASIC 时钟、复位与电源"/>
          <p:cNvSpPr txBox="1"/>
          <p:nvPr/>
        </p:nvSpPr>
        <p:spPr>
          <a:xfrm>
            <a:off x="512064" y="2525898"/>
            <a:ext cx="200380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ASIC 时钟、复位与电源</a:t>
            </a:r>
          </a:p>
        </p:txBody>
      </p:sp>
      <p:sp>
        <p:nvSpPr>
          <p:cNvPr id="28" name="rect-035"/>
          <p:cNvSpPr/>
          <p:nvPr/>
        </p:nvSpPr>
        <p:spPr>
          <a:xfrm>
            <a:off x="5298440" y="221894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6"/>
          <p:cNvSpPr/>
          <p:nvPr/>
        </p:nvSpPr>
        <p:spPr>
          <a:xfrm>
            <a:off x="529844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7: 理解域边界、启动条件与安全恢复"/>
          <p:cNvSpPr txBox="1"/>
          <p:nvPr/>
        </p:nvSpPr>
        <p:spPr>
          <a:xfrm>
            <a:off x="5419344" y="2246823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理解域边界、启动条件与安全恢复</a:t>
            </a:r>
          </a:p>
        </p:txBody>
      </p:sp>
      <p:sp>
        <p:nvSpPr>
          <p:cNvPr id="31" name="text-038: 进入各章后结合本地源码、使用条件与验证边界阅读"/>
          <p:cNvSpPr txBox="1"/>
          <p:nvPr/>
        </p:nvSpPr>
        <p:spPr>
          <a:xfrm>
            <a:off x="5419344" y="253357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32" name="rect-039"/>
          <p:cNvSpPr/>
          <p:nvPr/>
        </p:nvSpPr>
        <p:spPr>
          <a:xfrm>
            <a:off x="391160" y="3051048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40"/>
          <p:cNvSpPr/>
          <p:nvPr/>
        </p:nvSpPr>
        <p:spPr>
          <a:xfrm>
            <a:off x="39116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41: 第三篇 · 07—12"/>
          <p:cNvSpPr txBox="1"/>
          <p:nvPr/>
        </p:nvSpPr>
        <p:spPr>
          <a:xfrm>
            <a:off x="512064" y="3078927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第三篇 · 07—12</a:t>
            </a:r>
          </a:p>
        </p:txBody>
      </p:sp>
      <p:sp>
        <p:nvSpPr>
          <p:cNvPr id="35" name="text-042: 互连与存储系统"/>
          <p:cNvSpPr txBox="1"/>
          <p:nvPr/>
        </p:nvSpPr>
        <p:spPr>
          <a:xfrm>
            <a:off x="512064" y="3358002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互连与存储系统</a:t>
            </a:r>
          </a:p>
        </p:txBody>
      </p:sp>
      <p:sp>
        <p:nvSpPr>
          <p:cNvPr id="36" name="rect-043"/>
          <p:cNvSpPr/>
          <p:nvPr/>
        </p:nvSpPr>
        <p:spPr>
          <a:xfrm>
            <a:off x="5298440" y="3051048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4"/>
          <p:cNvSpPr/>
          <p:nvPr/>
        </p:nvSpPr>
        <p:spPr>
          <a:xfrm>
            <a:off x="529844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5: 跟踪地址、协议、存储和 DDR 事务"/>
          <p:cNvSpPr txBox="1"/>
          <p:nvPr/>
        </p:nvSpPr>
        <p:spPr>
          <a:xfrm>
            <a:off x="5419344" y="3078927"/>
            <a:ext cx="31897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跟踪地址、协议、存储和 DDR 事务</a:t>
            </a:r>
          </a:p>
        </p:txBody>
      </p:sp>
      <p:sp>
        <p:nvSpPr>
          <p:cNvPr id="39" name="text-046: 进入各章后结合本地源码、使用条件与验证边界阅读"/>
          <p:cNvSpPr txBox="1"/>
          <p:nvPr/>
        </p:nvSpPr>
        <p:spPr>
          <a:xfrm>
            <a:off x="5419344" y="3365683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0" name="rect-047"/>
          <p:cNvSpPr/>
          <p:nvPr/>
        </p:nvSpPr>
        <p:spPr>
          <a:xfrm>
            <a:off x="391160" y="3883152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8"/>
          <p:cNvSpPr/>
          <p:nvPr/>
        </p:nvSpPr>
        <p:spPr>
          <a:xfrm>
            <a:off x="39116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9: 第四篇 · 13—17"/>
          <p:cNvSpPr txBox="1"/>
          <p:nvPr/>
        </p:nvSpPr>
        <p:spPr>
          <a:xfrm>
            <a:off x="512064" y="3911031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第四篇 · 13—17</a:t>
            </a:r>
          </a:p>
        </p:txBody>
      </p:sp>
      <p:sp>
        <p:nvSpPr>
          <p:cNvPr id="43" name="text-050: 裸机软件、启动与验证"/>
          <p:cNvSpPr txBox="1"/>
          <p:nvPr/>
        </p:nvSpPr>
        <p:spPr>
          <a:xfrm>
            <a:off x="512064" y="4190106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裸机软件、启动与验证</a:t>
            </a:r>
          </a:p>
        </p:txBody>
      </p:sp>
      <p:sp>
        <p:nvSpPr>
          <p:cNvPr id="44" name="rect-051"/>
          <p:cNvSpPr/>
          <p:nvPr/>
        </p:nvSpPr>
        <p:spPr>
          <a:xfrm>
            <a:off x="5298440" y="3883152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2"/>
          <p:cNvSpPr/>
          <p:nvPr/>
        </p:nvSpPr>
        <p:spPr>
          <a:xfrm>
            <a:off x="529844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3: 从源程序、ELF、启动到可观察执行"/>
          <p:cNvSpPr txBox="1"/>
          <p:nvPr/>
        </p:nvSpPr>
        <p:spPr>
          <a:xfrm>
            <a:off x="5419344" y="3911031"/>
            <a:ext cx="31342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从源程序、ELF、启动到可观察执行</a:t>
            </a:r>
          </a:p>
        </p:txBody>
      </p:sp>
      <p:sp>
        <p:nvSpPr>
          <p:cNvPr id="47" name="text-054: 进入各章后结合本地源码、使用条件与验证边界阅读"/>
          <p:cNvSpPr txBox="1"/>
          <p:nvPr/>
        </p:nvSpPr>
        <p:spPr>
          <a:xfrm>
            <a:off x="5419344" y="4197787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8" name="rect-055"/>
          <p:cNvSpPr/>
          <p:nvPr/>
        </p:nvSpPr>
        <p:spPr>
          <a:xfrm>
            <a:off x="391160" y="4715256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56"/>
          <p:cNvSpPr/>
          <p:nvPr/>
        </p:nvSpPr>
        <p:spPr>
          <a:xfrm>
            <a:off x="39116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7: 第五篇 · 18—23"/>
          <p:cNvSpPr txBox="1"/>
          <p:nvPr/>
        </p:nvSpPr>
        <p:spPr>
          <a:xfrm>
            <a:off x="512064" y="4743135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第五篇 · 18—23</a:t>
            </a:r>
          </a:p>
        </p:txBody>
      </p:sp>
      <p:sp>
        <p:nvSpPr>
          <p:cNvPr id="51" name="text-058: 外设、事件与数据搬运"/>
          <p:cNvSpPr txBox="1"/>
          <p:nvPr/>
        </p:nvSpPr>
        <p:spPr>
          <a:xfrm>
            <a:off x="512064" y="5022210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外设、事件与数据搬运</a:t>
            </a:r>
          </a:p>
        </p:txBody>
      </p:sp>
      <p:sp>
        <p:nvSpPr>
          <p:cNvPr id="52" name="rect-059"/>
          <p:cNvSpPr/>
          <p:nvPr/>
        </p:nvSpPr>
        <p:spPr>
          <a:xfrm>
            <a:off x="5298440" y="4715256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60"/>
          <p:cNvSpPr/>
          <p:nvPr/>
        </p:nvSpPr>
        <p:spPr>
          <a:xfrm>
            <a:off x="529844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61: 由 MMIO、驱动和外部事件解释设备"/>
          <p:cNvSpPr txBox="1"/>
          <p:nvPr/>
        </p:nvSpPr>
        <p:spPr>
          <a:xfrm>
            <a:off x="5419344" y="4743135"/>
            <a:ext cx="31897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由 MMIO、驱动和外部事件解释设备</a:t>
            </a:r>
          </a:p>
        </p:txBody>
      </p:sp>
      <p:sp>
        <p:nvSpPr>
          <p:cNvPr id="55" name="text-062: 进入各章后结合本地源码、使用条件与验证边界阅读"/>
          <p:cNvSpPr txBox="1"/>
          <p:nvPr/>
        </p:nvSpPr>
        <p:spPr>
          <a:xfrm>
            <a:off x="5419344" y="5029891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56" name="rect-063"/>
          <p:cNvSpPr/>
          <p:nvPr/>
        </p:nvSpPr>
        <p:spPr>
          <a:xfrm>
            <a:off x="391160" y="554736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64"/>
          <p:cNvSpPr/>
          <p:nvPr/>
        </p:nvSpPr>
        <p:spPr>
          <a:xfrm>
            <a:off x="39116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65: 第六篇 · 24—26"/>
          <p:cNvSpPr txBox="1"/>
          <p:nvPr/>
        </p:nvSpPr>
        <p:spPr>
          <a:xfrm>
            <a:off x="512064" y="5575239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第六篇 · 24—26</a:t>
            </a:r>
          </a:p>
        </p:txBody>
      </p:sp>
      <p:sp>
        <p:nvSpPr>
          <p:cNvPr id="59" name="text-066: Ara 向量执行与异构协作"/>
          <p:cNvSpPr txBox="1"/>
          <p:nvPr/>
        </p:nvSpPr>
        <p:spPr>
          <a:xfrm>
            <a:off x="512064" y="5854314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向量执行与异构协作</a:t>
            </a:r>
          </a:p>
        </p:txBody>
      </p:sp>
      <p:sp>
        <p:nvSpPr>
          <p:cNvPr id="60" name="rect-067"/>
          <p:cNvSpPr/>
          <p:nvPr/>
        </p:nvSpPr>
        <p:spPr>
          <a:xfrm>
            <a:off x="5298440" y="554736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8"/>
          <p:cNvSpPr/>
          <p:nvPr/>
        </p:nvSpPr>
        <p:spPr>
          <a:xfrm>
            <a:off x="529844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9: 追踪向量指令、共享数据与异构交接"/>
          <p:cNvSpPr txBox="1"/>
          <p:nvPr/>
        </p:nvSpPr>
        <p:spPr>
          <a:xfrm>
            <a:off x="5419344" y="5575239"/>
            <a:ext cx="3143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追踪向量指令、共享数据与异构交接</a:t>
            </a:r>
          </a:p>
        </p:txBody>
      </p:sp>
      <p:sp>
        <p:nvSpPr>
          <p:cNvPr id="63" name="text-070: 进入各章后结合本地源码、使用条件与验证边界阅读"/>
          <p:cNvSpPr txBox="1"/>
          <p:nvPr/>
        </p:nvSpPr>
        <p:spPr>
          <a:xfrm>
            <a:off x="5419344" y="586199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64" name="rect-071"/>
          <p:cNvSpPr/>
          <p:nvPr/>
        </p:nvSpPr>
        <p:spPr>
          <a:xfrm>
            <a:off x="391160" y="637946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72"/>
          <p:cNvSpPr/>
          <p:nvPr/>
        </p:nvSpPr>
        <p:spPr>
          <a:xfrm>
            <a:off x="39116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73: 第七篇 · 27—30"/>
          <p:cNvSpPr txBox="1"/>
          <p:nvPr/>
        </p:nvSpPr>
        <p:spPr>
          <a:xfrm>
            <a:off x="512064" y="6407343"/>
            <a:ext cx="17659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第七篇 · 27—30</a:t>
            </a:r>
          </a:p>
        </p:txBody>
      </p:sp>
      <p:sp>
        <p:nvSpPr>
          <p:cNvPr id="67" name="text-074: IP 集成与 ASIC 工程规划"/>
          <p:cNvSpPr txBox="1"/>
          <p:nvPr/>
        </p:nvSpPr>
        <p:spPr>
          <a:xfrm>
            <a:off x="512064" y="6686418"/>
            <a:ext cx="22655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IP 集成与 ASIC 工程规划</a:t>
            </a:r>
          </a:p>
        </p:txBody>
      </p:sp>
      <p:sp>
        <p:nvSpPr>
          <p:cNvPr id="68" name="rect-075"/>
          <p:cNvSpPr/>
          <p:nvPr/>
        </p:nvSpPr>
        <p:spPr>
          <a:xfrm>
            <a:off x="5298440" y="637946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76"/>
          <p:cNvSpPr/>
          <p:nvPr/>
        </p:nvSpPr>
        <p:spPr>
          <a:xfrm>
            <a:off x="529844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7: 定义新 IP 契约与工艺平台交付"/>
          <p:cNvSpPr txBox="1"/>
          <p:nvPr/>
        </p:nvSpPr>
        <p:spPr>
          <a:xfrm>
            <a:off x="5419344" y="6407343"/>
            <a:ext cx="2884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定义新 IP 契约与工艺平台交付</a:t>
            </a:r>
          </a:p>
        </p:txBody>
      </p:sp>
      <p:sp>
        <p:nvSpPr>
          <p:cNvPr id="71" name="text-078: 进入各章后结合本地源码、使用条件与验证边界阅读"/>
          <p:cNvSpPr txBox="1"/>
          <p:nvPr/>
        </p:nvSpPr>
        <p:spPr>
          <a:xfrm>
            <a:off x="5419344" y="669409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