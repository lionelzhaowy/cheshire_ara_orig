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83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839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-001: Cheshire + CVA6 + Ara：AXI Crossbar 的实际结构"/>
          <p:cNvSpPr txBox="1"/>
          <p:nvPr/>
        </p:nvSpPr>
        <p:spPr>
          <a:xfrm>
            <a:off x="228600" y="116434"/>
            <a:ext cx="6549628" cy="4145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4" name="text-002: 基线：tb_cheshire_pkg::gen_cheshire_ara_cfg"/>
          <p:cNvSpPr txBox="1"/>
          <p:nvPr/>
        </p:nvSpPr>
        <p:spPr>
          <a:xfrm>
            <a:off x="228600" y="529438"/>
            <a:ext cx="6469249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-003: Ara = 1  ·  2 lanes / VLEN 2048  ·  AXI "/>
          <p:cNvSpPr txBox="1"/>
          <p:nvPr/>
        </p:nvSpPr>
        <p:spPr>
          <a:xfrm>
            <a:off x="365760" y="932078"/>
            <a:ext cx="79430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7" name="rect-003"/>
          <p:cNvSpPr/>
          <p:nvPr/>
        </p:nvSpPr>
        <p:spPr>
          <a:xfrm>
            <a:off x="4000500" y="1371600"/>
            <a:ext cx="4191000" cy="569976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004: i_axi_xbar · 7 × 5 · 全连接"/>
          <p:cNvSpPr txBox="1"/>
          <p:nvPr/>
        </p:nvSpPr>
        <p:spPr>
          <a:xfrm>
            <a:off x="4183380" y="1432560"/>
            <a:ext cx="258170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9" name="text-005: 发起者 / AXI master"/>
          <p:cNvSpPr txBox="1"/>
          <p:nvPr/>
        </p:nvSpPr>
        <p:spPr>
          <a:xfrm>
            <a:off x="266700" y="1371600"/>
            <a:ext cx="202361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10" name="text-006: 入端局部适配"/>
          <p:cNvSpPr txBox="1"/>
          <p:nvPr/>
        </p:nvSpPr>
        <p:spPr>
          <a:xfrm>
            <a:off x="2095500" y="1420978"/>
            <a:ext cx="101346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1" name="text-007: 目标 / AXI slave 与下游"/>
          <p:cNvSpPr txBox="1"/>
          <p:nvPr/>
        </p:nvSpPr>
        <p:spPr>
          <a:xfrm>
            <a:off x="8610600" y="1371600"/>
            <a:ext cx="227977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2" name="path-001"/>
          <p:cNvSpPr/>
          <p:nvPr/>
        </p:nvSpPr>
        <p:spPr>
          <a:xfrm>
            <a:off x="5143500" y="2019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th-002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th-003"/>
          <p:cNvSpPr/>
          <p:nvPr/>
        </p:nvSpPr>
        <p:spPr>
          <a:xfrm>
            <a:off x="5143500" y="2019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th-004"/>
          <p:cNvSpPr/>
          <p:nvPr/>
        </p:nvSpPr>
        <p:spPr>
          <a:xfrm>
            <a:off x="5143500" y="2019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th-005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th-006"/>
          <p:cNvSpPr/>
          <p:nvPr/>
        </p:nvSpPr>
        <p:spPr>
          <a:xfrm>
            <a:off x="5143500" y="201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-007"/>
          <p:cNvSpPr/>
          <p:nvPr/>
        </p:nvSpPr>
        <p:spPr>
          <a:xfrm>
            <a:off x="5143500" y="2781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th-008"/>
          <p:cNvSpPr/>
          <p:nvPr/>
        </p:nvSpPr>
        <p:spPr>
          <a:xfrm>
            <a:off x="5143500" y="2781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th-009"/>
          <p:cNvSpPr/>
          <p:nvPr/>
        </p:nvSpPr>
        <p:spPr>
          <a:xfrm>
            <a:off x="5143500" y="2781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th-010"/>
          <p:cNvSpPr/>
          <p:nvPr/>
        </p:nvSpPr>
        <p:spPr>
          <a:xfrm>
            <a:off x="5143500" y="2781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-011"/>
          <p:cNvSpPr/>
          <p:nvPr/>
        </p:nvSpPr>
        <p:spPr>
          <a:xfrm>
            <a:off x="5143500" y="2019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th-012"/>
          <p:cNvSpPr/>
          <p:nvPr/>
        </p:nvSpPr>
        <p:spPr>
          <a:xfrm>
            <a:off x="5143500" y="3009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th-013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th-014"/>
          <p:cNvSpPr/>
          <p:nvPr/>
        </p:nvSpPr>
        <p:spPr>
          <a:xfrm>
            <a:off x="5143500" y="3543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th-015"/>
          <p:cNvSpPr/>
          <p:nvPr/>
        </p:nvSpPr>
        <p:spPr>
          <a:xfrm>
            <a:off x="5143500" y="3543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-016"/>
          <p:cNvSpPr/>
          <p:nvPr/>
        </p:nvSpPr>
        <p:spPr>
          <a:xfrm>
            <a:off x="5143500" y="2019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th-017"/>
          <p:cNvSpPr/>
          <p:nvPr/>
        </p:nvSpPr>
        <p:spPr>
          <a:xfrm>
            <a:off x="5143500" y="3009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th-018"/>
          <p:cNvSpPr/>
          <p:nvPr/>
        </p:nvSpPr>
        <p:spPr>
          <a:xfrm>
            <a:off x="5143500" y="4305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th-019"/>
          <p:cNvSpPr/>
          <p:nvPr/>
        </p:nvSpPr>
        <p:spPr>
          <a:xfrm>
            <a:off x="5143500" y="4305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th-020"/>
          <p:cNvSpPr/>
          <p:nvPr/>
        </p:nvSpPr>
        <p:spPr>
          <a:xfrm>
            <a:off x="5143500" y="4305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th-021"/>
          <p:cNvSpPr/>
          <p:nvPr/>
        </p:nvSpPr>
        <p:spPr>
          <a:xfrm>
            <a:off x="5143500" y="2019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th-022"/>
          <p:cNvSpPr/>
          <p:nvPr/>
        </p:nvSpPr>
        <p:spPr>
          <a:xfrm>
            <a:off x="5143500" y="3009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th-023"/>
          <p:cNvSpPr/>
          <p:nvPr/>
        </p:nvSpPr>
        <p:spPr>
          <a:xfrm>
            <a:off x="5143500" y="4381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th-024"/>
          <p:cNvSpPr/>
          <p:nvPr/>
        </p:nvSpPr>
        <p:spPr>
          <a:xfrm>
            <a:off x="5143500" y="5067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th-025"/>
          <p:cNvSpPr/>
          <p:nvPr/>
        </p:nvSpPr>
        <p:spPr>
          <a:xfrm>
            <a:off x="5143500" y="5067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ath-026"/>
          <p:cNvSpPr/>
          <p:nvPr/>
        </p:nvSpPr>
        <p:spPr>
          <a:xfrm>
            <a:off x="5143500" y="2019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th-027"/>
          <p:cNvSpPr/>
          <p:nvPr/>
        </p:nvSpPr>
        <p:spPr>
          <a:xfrm>
            <a:off x="5143500" y="3009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th-028"/>
          <p:cNvSpPr/>
          <p:nvPr/>
        </p:nvSpPr>
        <p:spPr>
          <a:xfrm>
            <a:off x="5143500" y="4381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th-029"/>
          <p:cNvSpPr/>
          <p:nvPr/>
        </p:nvSpPr>
        <p:spPr>
          <a:xfrm>
            <a:off x="5143500" y="5676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th-030"/>
          <p:cNvSpPr/>
          <p:nvPr/>
        </p:nvSpPr>
        <p:spPr>
          <a:xfrm>
            <a:off x="5143500" y="582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th-031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th-032"/>
          <p:cNvSpPr/>
          <p:nvPr/>
        </p:nvSpPr>
        <p:spPr>
          <a:xfrm>
            <a:off x="5143500" y="3009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th-033"/>
          <p:cNvSpPr/>
          <p:nvPr/>
        </p:nvSpPr>
        <p:spPr>
          <a:xfrm>
            <a:off x="5143500" y="4381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th-034"/>
          <p:cNvSpPr/>
          <p:nvPr/>
        </p:nvSpPr>
        <p:spPr>
          <a:xfrm>
            <a:off x="5143500" y="5676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th-035"/>
          <p:cNvSpPr/>
          <p:nvPr/>
        </p:nvSpPr>
        <p:spPr>
          <a:xfrm>
            <a:off x="5143500" y="6591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th-036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>
            <a:solidFill>
              <a:srgbClr val="C66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olygon-001"/>
          <p:cNvSpPr/>
          <p:nvPr/>
        </p:nvSpPr>
        <p:spPr>
          <a:xfrm>
            <a:off x="6972300" y="29718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 fill="norm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th-037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>
            <a:solidFill>
              <a:srgbClr val="27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lygon-002"/>
          <p:cNvSpPr/>
          <p:nvPr/>
        </p:nvSpPr>
        <p:spPr>
          <a:xfrm>
            <a:off x="6972300" y="43434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 fill="norm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277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-004"/>
          <p:cNvSpPr/>
          <p:nvPr/>
        </p:nvSpPr>
        <p:spPr>
          <a:xfrm>
            <a:off x="228600" y="1775460"/>
            <a:ext cx="1600200" cy="48768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-008: S0 · CVA6 core 0"/>
          <p:cNvSpPr txBox="1"/>
          <p:nvPr/>
        </p:nvSpPr>
        <p:spPr>
          <a:xfrm>
            <a:off x="350520" y="1899818"/>
            <a:ext cx="141146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3" name="rect-005"/>
          <p:cNvSpPr/>
          <p:nvPr/>
        </p:nvSpPr>
        <p:spPr>
          <a:xfrm>
            <a:off x="2042160" y="1783080"/>
            <a:ext cx="1790700" cy="47244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-009: cheshire_cva6_wrap"/>
          <p:cNvSpPr txBox="1"/>
          <p:nvPr/>
        </p:nvSpPr>
        <p:spPr>
          <a:xfrm>
            <a:off x="2133600" y="1899818"/>
            <a:ext cx="165938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5" name="line-001"/>
          <p:cNvCxnSpPr/>
          <p:nvPr/>
        </p:nvCxnSpPr>
        <p:spPr>
          <a:xfrm>
            <a:off x="1828800" y="2019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olygon-003"/>
          <p:cNvSpPr/>
          <p:nvPr/>
        </p:nvSpPr>
        <p:spPr>
          <a:xfrm>
            <a:off x="1981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line-002"/>
          <p:cNvCxnSpPr/>
          <p:nvPr/>
        </p:nvCxnSpPr>
        <p:spPr>
          <a:xfrm>
            <a:off x="3832860" y="2019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olygon-004"/>
          <p:cNvSpPr/>
          <p:nvPr/>
        </p:nvSpPr>
        <p:spPr>
          <a:xfrm>
            <a:off x="413004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-006"/>
          <p:cNvSpPr/>
          <p:nvPr/>
        </p:nvSpPr>
        <p:spPr>
          <a:xfrm>
            <a:off x="4191000" y="179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-010: AR/AW 译码"/>
          <p:cNvSpPr txBox="1"/>
          <p:nvPr/>
        </p:nvSpPr>
        <p:spPr>
          <a:xfrm>
            <a:off x="4267200" y="1848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1" name="text-011: DEMUX S0"/>
          <p:cNvSpPr txBox="1"/>
          <p:nvPr/>
        </p:nvSpPr>
        <p:spPr>
          <a:xfrm>
            <a:off x="4267200" y="2031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62" name="rect-007"/>
          <p:cNvSpPr/>
          <p:nvPr/>
        </p:nvSpPr>
        <p:spPr>
          <a:xfrm>
            <a:off x="228600" y="253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-012: S1 · Debug / SBA"/>
          <p:cNvSpPr txBox="1"/>
          <p:nvPr/>
        </p:nvSpPr>
        <p:spPr>
          <a:xfrm>
            <a:off x="350520" y="2661818"/>
            <a:ext cx="146373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64" name="line-003"/>
          <p:cNvCxnSpPr/>
          <p:nvPr/>
        </p:nvCxnSpPr>
        <p:spPr>
          <a:xfrm>
            <a:off x="1828800" y="278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olygon-005"/>
          <p:cNvSpPr/>
          <p:nvPr/>
        </p:nvSpPr>
        <p:spPr>
          <a:xfrm>
            <a:off x="4130040" y="275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-008"/>
          <p:cNvSpPr/>
          <p:nvPr/>
        </p:nvSpPr>
        <p:spPr>
          <a:xfrm>
            <a:off x="4191000" y="256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-013: AR/AW 译码"/>
          <p:cNvSpPr txBox="1"/>
          <p:nvPr/>
        </p:nvSpPr>
        <p:spPr>
          <a:xfrm>
            <a:off x="4267200" y="2610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8" name="text-014: DEMUX S1"/>
          <p:cNvSpPr txBox="1"/>
          <p:nvPr/>
        </p:nvSpPr>
        <p:spPr>
          <a:xfrm>
            <a:off x="4267200" y="2793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9" name="rect-009"/>
          <p:cNvSpPr/>
          <p:nvPr/>
        </p:nvSpPr>
        <p:spPr>
          <a:xfrm>
            <a:off x="228600" y="3299460"/>
            <a:ext cx="1600200" cy="48768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-015: S2 · Ara 访存"/>
          <p:cNvSpPr txBox="1"/>
          <p:nvPr/>
        </p:nvSpPr>
        <p:spPr>
          <a:xfrm>
            <a:off x="350520" y="3423818"/>
            <a:ext cx="110898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71" name="rect-010"/>
          <p:cNvSpPr/>
          <p:nvPr/>
        </p:nvSpPr>
        <p:spPr>
          <a:xfrm>
            <a:off x="2042160" y="3215640"/>
            <a:ext cx="1790700" cy="65532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-016: inval filter → 位宽适配"/>
          <p:cNvSpPr txBox="1"/>
          <p:nvPr/>
        </p:nvSpPr>
        <p:spPr>
          <a:xfrm>
            <a:off x="2148840" y="3280258"/>
            <a:ext cx="1634073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73" name="text-017: 本配置：64 → 64 bit"/>
          <p:cNvSpPr txBox="1"/>
          <p:nvPr/>
        </p:nvSpPr>
        <p:spPr>
          <a:xfrm>
            <a:off x="2148840" y="3478378"/>
            <a:ext cx="152173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74" name="text-018: 另接 CVA6 指令/MMU 接口"/>
          <p:cNvSpPr txBox="1"/>
          <p:nvPr/>
        </p:nvSpPr>
        <p:spPr>
          <a:xfrm>
            <a:off x="2148840" y="3662477"/>
            <a:ext cx="1760339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75" name="line-004"/>
          <p:cNvCxnSpPr/>
          <p:nvPr/>
        </p:nvCxnSpPr>
        <p:spPr>
          <a:xfrm>
            <a:off x="1828800" y="3543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polygon-006"/>
          <p:cNvSpPr/>
          <p:nvPr/>
        </p:nvSpPr>
        <p:spPr>
          <a:xfrm>
            <a:off x="198120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line-005"/>
          <p:cNvCxnSpPr/>
          <p:nvPr/>
        </p:nvCxnSpPr>
        <p:spPr>
          <a:xfrm>
            <a:off x="3832860" y="3543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polygon-007"/>
          <p:cNvSpPr/>
          <p:nvPr/>
        </p:nvSpPr>
        <p:spPr>
          <a:xfrm>
            <a:off x="413004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-011"/>
          <p:cNvSpPr/>
          <p:nvPr/>
        </p:nvSpPr>
        <p:spPr>
          <a:xfrm>
            <a:off x="4191000" y="3322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-019: AR/AW 译码"/>
          <p:cNvSpPr txBox="1"/>
          <p:nvPr/>
        </p:nvSpPr>
        <p:spPr>
          <a:xfrm>
            <a:off x="4267200" y="3372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1" name="text-020: DEMUX S2"/>
          <p:cNvSpPr txBox="1"/>
          <p:nvPr/>
        </p:nvSpPr>
        <p:spPr>
          <a:xfrm>
            <a:off x="4267200" y="3555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82" name="rect-012"/>
          <p:cNvSpPr/>
          <p:nvPr/>
        </p:nvSpPr>
        <p:spPr>
          <a:xfrm>
            <a:off x="228600" y="4061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-021: S3 · iDMA 数据"/>
          <p:cNvSpPr txBox="1"/>
          <p:nvPr/>
        </p:nvSpPr>
        <p:spPr>
          <a:xfrm>
            <a:off x="350520" y="4185818"/>
            <a:ext cx="1280267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84" name="line-006"/>
          <p:cNvCxnSpPr/>
          <p:nvPr/>
        </p:nvCxnSpPr>
        <p:spPr>
          <a:xfrm>
            <a:off x="1828800" y="4305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polygon-008"/>
          <p:cNvSpPr/>
          <p:nvPr/>
        </p:nvSpPr>
        <p:spPr>
          <a:xfrm>
            <a:off x="41300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-013"/>
          <p:cNvSpPr/>
          <p:nvPr/>
        </p:nvSpPr>
        <p:spPr>
          <a:xfrm>
            <a:off x="4191000" y="4084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-022: AR/AW 译码"/>
          <p:cNvSpPr txBox="1"/>
          <p:nvPr/>
        </p:nvSpPr>
        <p:spPr>
          <a:xfrm>
            <a:off x="4267200" y="4134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8" name="text-023: DEMUX S3"/>
          <p:cNvSpPr txBox="1"/>
          <p:nvPr/>
        </p:nvSpPr>
        <p:spPr>
          <a:xfrm>
            <a:off x="4267200" y="4317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9" name="rect-014"/>
          <p:cNvSpPr/>
          <p:nvPr/>
        </p:nvSpPr>
        <p:spPr>
          <a:xfrm>
            <a:off x="228600" y="4823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-024: S4 · Serial Link RX"/>
          <p:cNvSpPr txBox="1"/>
          <p:nvPr/>
        </p:nvSpPr>
        <p:spPr>
          <a:xfrm>
            <a:off x="350520" y="4947818"/>
            <a:ext cx="151014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91" name="line-007"/>
          <p:cNvCxnSpPr/>
          <p:nvPr/>
        </p:nvCxnSpPr>
        <p:spPr>
          <a:xfrm>
            <a:off x="1828800" y="5067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olygon-009"/>
          <p:cNvSpPr/>
          <p:nvPr/>
        </p:nvSpPr>
        <p:spPr>
          <a:xfrm>
            <a:off x="4130040" y="5036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-015"/>
          <p:cNvSpPr/>
          <p:nvPr/>
        </p:nvSpPr>
        <p:spPr>
          <a:xfrm>
            <a:off x="4191000" y="4846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-025: AR/AW 译码"/>
          <p:cNvSpPr txBox="1"/>
          <p:nvPr/>
        </p:nvSpPr>
        <p:spPr>
          <a:xfrm>
            <a:off x="4267200" y="4896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5" name="text-026: DEMUX S4"/>
          <p:cNvSpPr txBox="1"/>
          <p:nvPr/>
        </p:nvSpPr>
        <p:spPr>
          <a:xfrm>
            <a:off x="4267200" y="5079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96" name="rect-016"/>
          <p:cNvSpPr/>
          <p:nvPr/>
        </p:nvSpPr>
        <p:spPr>
          <a:xfrm>
            <a:off x="228600" y="5585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-027: S5 · VGA 取帧"/>
          <p:cNvSpPr txBox="1"/>
          <p:nvPr/>
        </p:nvSpPr>
        <p:spPr>
          <a:xfrm>
            <a:off x="350520" y="5709818"/>
            <a:ext cx="118305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98" name="line-008"/>
          <p:cNvCxnSpPr/>
          <p:nvPr/>
        </p:nvCxnSpPr>
        <p:spPr>
          <a:xfrm>
            <a:off x="1828800" y="5829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polygon-010"/>
          <p:cNvSpPr/>
          <p:nvPr/>
        </p:nvSpPr>
        <p:spPr>
          <a:xfrm>
            <a:off x="4130040" y="579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-017"/>
          <p:cNvSpPr/>
          <p:nvPr/>
        </p:nvSpPr>
        <p:spPr>
          <a:xfrm>
            <a:off x="4191000" y="560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-028: AR/AW 译码"/>
          <p:cNvSpPr txBox="1"/>
          <p:nvPr/>
        </p:nvSpPr>
        <p:spPr>
          <a:xfrm>
            <a:off x="4267200" y="5658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2" name="text-029: DEMUX S5"/>
          <p:cNvSpPr txBox="1"/>
          <p:nvPr/>
        </p:nvSpPr>
        <p:spPr>
          <a:xfrm>
            <a:off x="4267200" y="5841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103" name="rect-018"/>
          <p:cNvSpPr/>
          <p:nvPr/>
        </p:nvSpPr>
        <p:spPr>
          <a:xfrm>
            <a:off x="228600" y="634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-030: S6 · USB DMA"/>
          <p:cNvSpPr txBox="1"/>
          <p:nvPr/>
        </p:nvSpPr>
        <p:spPr>
          <a:xfrm>
            <a:off x="350520" y="6471818"/>
            <a:ext cx="12298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105" name="line-009"/>
          <p:cNvCxnSpPr/>
          <p:nvPr/>
        </p:nvCxnSpPr>
        <p:spPr>
          <a:xfrm>
            <a:off x="1828800" y="659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polygon-011"/>
          <p:cNvSpPr/>
          <p:nvPr/>
        </p:nvSpPr>
        <p:spPr>
          <a:xfrm>
            <a:off x="413004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-019"/>
          <p:cNvSpPr/>
          <p:nvPr/>
        </p:nvSpPr>
        <p:spPr>
          <a:xfrm>
            <a:off x="4191000" y="637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-031: AR/AW 译码"/>
          <p:cNvSpPr txBox="1"/>
          <p:nvPr/>
        </p:nvSpPr>
        <p:spPr>
          <a:xfrm>
            <a:off x="4267200" y="6420917"/>
            <a:ext cx="8758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9" name="text-032: DEMUX S6"/>
          <p:cNvSpPr txBox="1"/>
          <p:nvPr/>
        </p:nvSpPr>
        <p:spPr>
          <a:xfrm>
            <a:off x="4267200" y="6603797"/>
            <a:ext cx="795326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110" name="text-033: 图中省略部分局部缓冲/适配"/>
          <p:cNvSpPr txBox="1"/>
          <p:nvPr/>
        </p:nvSpPr>
        <p:spPr>
          <a:xfrm>
            <a:off x="2095500" y="2298497"/>
            <a:ext cx="173936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111" name="text-034: 灰线 = 可达路径；彩线 = 请求示例"/>
          <p:cNvSpPr txBox="1"/>
          <p:nvPr/>
        </p:nvSpPr>
        <p:spPr>
          <a:xfrm>
            <a:off x="5349240" y="6832397"/>
            <a:ext cx="2159032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12" name="rect-020"/>
          <p:cNvSpPr/>
          <p:nvPr/>
        </p:nvSpPr>
        <p:spPr>
          <a:xfrm>
            <a:off x="7048500" y="1775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-035: MUX M0"/>
          <p:cNvSpPr txBox="1"/>
          <p:nvPr/>
        </p:nvSpPr>
        <p:spPr>
          <a:xfrm>
            <a:off x="7193280" y="18095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14" name="text-036: 独立仲裁"/>
          <p:cNvSpPr txBox="1"/>
          <p:nvPr/>
        </p:nvSpPr>
        <p:spPr>
          <a:xfrm>
            <a:off x="7162800" y="20077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0"/>
          <p:cNvCxnSpPr/>
          <p:nvPr/>
        </p:nvCxnSpPr>
        <p:spPr>
          <a:xfrm>
            <a:off x="8001000" y="2019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polygon-012"/>
          <p:cNvSpPr/>
          <p:nvPr/>
        </p:nvSpPr>
        <p:spPr>
          <a:xfrm>
            <a:off x="8458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-021"/>
          <p:cNvSpPr/>
          <p:nvPr/>
        </p:nvSpPr>
        <p:spPr>
          <a:xfrm>
            <a:off x="7048500" y="2766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-037: MUX M1"/>
          <p:cNvSpPr txBox="1"/>
          <p:nvPr/>
        </p:nvSpPr>
        <p:spPr>
          <a:xfrm>
            <a:off x="7193280" y="28001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19" name="text-038: 独立仲裁"/>
          <p:cNvSpPr txBox="1"/>
          <p:nvPr/>
        </p:nvSpPr>
        <p:spPr>
          <a:xfrm>
            <a:off x="7162800" y="29983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0" name="line-011"/>
          <p:cNvCxnSpPr/>
          <p:nvPr/>
        </p:nvCxnSpPr>
        <p:spPr>
          <a:xfrm>
            <a:off x="8001000" y="3009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polygon-013"/>
          <p:cNvSpPr/>
          <p:nvPr/>
        </p:nvSpPr>
        <p:spPr>
          <a:xfrm>
            <a:off x="8458200" y="2979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-022"/>
          <p:cNvSpPr/>
          <p:nvPr/>
        </p:nvSpPr>
        <p:spPr>
          <a:xfrm>
            <a:off x="7048500" y="41376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-039: MUX M2"/>
          <p:cNvSpPr txBox="1"/>
          <p:nvPr/>
        </p:nvSpPr>
        <p:spPr>
          <a:xfrm>
            <a:off x="7193280" y="41717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24" name="text-040: 独立仲裁"/>
          <p:cNvSpPr txBox="1"/>
          <p:nvPr/>
        </p:nvSpPr>
        <p:spPr>
          <a:xfrm>
            <a:off x="7162800" y="43699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5" name="line-012"/>
          <p:cNvCxnSpPr/>
          <p:nvPr/>
        </p:nvCxnSpPr>
        <p:spPr>
          <a:xfrm>
            <a:off x="8001000" y="43815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polygon-014"/>
          <p:cNvSpPr/>
          <p:nvPr/>
        </p:nvSpPr>
        <p:spPr>
          <a:xfrm>
            <a:off x="8458200" y="43510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-023"/>
          <p:cNvSpPr/>
          <p:nvPr/>
        </p:nvSpPr>
        <p:spPr>
          <a:xfrm>
            <a:off x="7048500" y="5433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-041: MUX M3"/>
          <p:cNvSpPr txBox="1"/>
          <p:nvPr/>
        </p:nvSpPr>
        <p:spPr>
          <a:xfrm>
            <a:off x="7193280" y="54671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29" name="text-042: 独立仲裁"/>
          <p:cNvSpPr txBox="1"/>
          <p:nvPr/>
        </p:nvSpPr>
        <p:spPr>
          <a:xfrm>
            <a:off x="7162800" y="56653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0" name="line-013"/>
          <p:cNvCxnSpPr/>
          <p:nvPr/>
        </p:nvCxnSpPr>
        <p:spPr>
          <a:xfrm>
            <a:off x="8001000" y="5676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polygon-015"/>
          <p:cNvSpPr/>
          <p:nvPr/>
        </p:nvSpPr>
        <p:spPr>
          <a:xfrm>
            <a:off x="8458200" y="5646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-024"/>
          <p:cNvSpPr/>
          <p:nvPr/>
        </p:nvSpPr>
        <p:spPr>
          <a:xfrm>
            <a:off x="7048500" y="6347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-043: MUX M4"/>
          <p:cNvSpPr txBox="1"/>
          <p:nvPr/>
        </p:nvSpPr>
        <p:spPr>
          <a:xfrm>
            <a:off x="7193280" y="6381598"/>
            <a:ext cx="7569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34" name="text-044: 独立仲裁"/>
          <p:cNvSpPr txBox="1"/>
          <p:nvPr/>
        </p:nvSpPr>
        <p:spPr>
          <a:xfrm>
            <a:off x="7162800" y="6579718"/>
            <a:ext cx="72390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5" name="line-014"/>
          <p:cNvCxnSpPr/>
          <p:nvPr/>
        </p:nvCxnSpPr>
        <p:spPr>
          <a:xfrm>
            <a:off x="8001000" y="6591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polygon-016"/>
          <p:cNvSpPr/>
          <p:nvPr/>
        </p:nvSpPr>
        <p:spPr>
          <a:xfrm>
            <a:off x="845820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-025"/>
          <p:cNvSpPr/>
          <p:nvPr/>
        </p:nvSpPr>
        <p:spPr>
          <a:xfrm>
            <a:off x="8534400" y="17754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-045: M0 · Debug 目标接口"/>
          <p:cNvSpPr txBox="1"/>
          <p:nvPr/>
        </p:nvSpPr>
        <p:spPr>
          <a:xfrm>
            <a:off x="8671560" y="1775460"/>
            <a:ext cx="215838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39" name="text-046: 调试模块地址空间（与 SBA 发起端分开）"/>
          <p:cNvSpPr txBox="1"/>
          <p:nvPr/>
        </p:nvSpPr>
        <p:spPr>
          <a:xfrm>
            <a:off x="8671560" y="2016557"/>
            <a:ext cx="2526018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40" name="rect-026"/>
          <p:cNvSpPr/>
          <p:nvPr/>
        </p:nvSpPr>
        <p:spPr>
          <a:xfrm>
            <a:off x="8534400" y="2529840"/>
            <a:ext cx="4038600" cy="96012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-047: M1 · AXI → Regbus → Reg demux"/>
          <p:cNvSpPr txBox="1"/>
          <p:nvPr/>
        </p:nvSpPr>
        <p:spPr>
          <a:xfrm>
            <a:off x="8671560" y="2560320"/>
            <a:ext cx="3440668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42" name="text-048: Boot ROM / CLINT / PLIC / SoC regs"/>
          <p:cNvSpPr txBox="1"/>
          <p:nvPr/>
        </p:nvSpPr>
        <p:spPr>
          <a:xfrm>
            <a:off x="8671560" y="2821838"/>
            <a:ext cx="2916257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43" name="text-049: UART / I²C / SPI / GPIO / LLC 控制等"/>
          <p:cNvSpPr txBox="1"/>
          <p:nvPr/>
        </p:nvSpPr>
        <p:spPr>
          <a:xfrm>
            <a:off x="8671560" y="3050438"/>
            <a:ext cx="287562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44" name="rect-027"/>
          <p:cNvSpPr/>
          <p:nvPr/>
        </p:nvSpPr>
        <p:spPr>
          <a:xfrm>
            <a:off x="8534400" y="3710940"/>
            <a:ext cx="4038600" cy="150876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-050: M2 · LLC / SPM 共用一个目标端口"/>
          <p:cNvSpPr txBox="1"/>
          <p:nvPr/>
        </p:nvSpPr>
        <p:spPr>
          <a:xfrm>
            <a:off x="8671560" y="3764280"/>
            <a:ext cx="325238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46" name="text-051: AMO/LRSC 适配 → cut / 地址重映射 → LLC"/>
          <p:cNvSpPr txBox="1"/>
          <p:nvPr/>
        </p:nvSpPr>
        <p:spPr>
          <a:xfrm>
            <a:off x="8671560" y="4057498"/>
            <a:ext cx="303807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47" name="text-052: SPM：128 KiB，含 cached / uncached 别名"/>
          <p:cNvSpPr txBox="1"/>
          <p:nvPr/>
        </p:nvSpPr>
        <p:spPr>
          <a:xfrm>
            <a:off x="8671560" y="4286098"/>
            <a:ext cx="3090982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48" name="text-053: 外存窗口：0x8000_0000 ≤ addr &lt; 0x1_0000_0000"/>
          <p:cNvSpPr txBox="1"/>
          <p:nvPr/>
        </p:nvSpPr>
        <p:spPr>
          <a:xfrm>
            <a:off x="8671560" y="4531157"/>
            <a:ext cx="3158264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49" name="text-054: LLC 下游 AXI 端口 → 平台 DDR 控制器"/>
          <p:cNvSpPr txBox="1"/>
          <p:nvPr/>
        </p:nvSpPr>
        <p:spPr>
          <a:xfrm>
            <a:off x="8671560" y="4781398"/>
            <a:ext cx="2685752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50" name="text-055: SPM / cache 命中访问可在片内完成"/>
          <p:cNvSpPr txBox="1"/>
          <p:nvPr/>
        </p:nvSpPr>
        <p:spPr>
          <a:xfrm>
            <a:off x="8671560" y="4995977"/>
            <a:ext cx="2230624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51" name="rect-028"/>
          <p:cNvSpPr/>
          <p:nvPr/>
        </p:nvSpPr>
        <p:spPr>
          <a:xfrm>
            <a:off x="8534400" y="54330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-056: M3 · iDMA 控制接口"/>
          <p:cNvSpPr txBox="1"/>
          <p:nvPr/>
        </p:nvSpPr>
        <p:spPr>
          <a:xfrm>
            <a:off x="8671560" y="5440680"/>
            <a:ext cx="206610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53" name="text-057: 0x0100_0000 起；与 DMA 数据发起端分开"/>
          <p:cNvSpPr txBox="1"/>
          <p:nvPr/>
        </p:nvSpPr>
        <p:spPr>
          <a:xfrm>
            <a:off x="8671560" y="5689397"/>
            <a:ext cx="2663678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54" name="rect-029"/>
          <p:cNvSpPr/>
          <p:nvPr/>
        </p:nvSpPr>
        <p:spPr>
          <a:xfrm>
            <a:off x="8534400" y="6316980"/>
            <a:ext cx="40386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-058: M4 · Serial Link TX 目标窗口"/>
          <p:cNvSpPr txBox="1"/>
          <p:nvPr/>
        </p:nvSpPr>
        <p:spPr>
          <a:xfrm>
            <a:off x="8671560" y="6324600"/>
            <a:ext cx="281267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56" name="text-059: 0x1_0000_0000 ≤ addr &lt; 0x2_0000_0000"/>
          <p:cNvSpPr txBox="1"/>
          <p:nvPr/>
        </p:nvSpPr>
        <p:spPr>
          <a:xfrm>
            <a:off x="8671560" y="6588557"/>
            <a:ext cx="2644592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57" name="rect-030"/>
          <p:cNvSpPr/>
          <p:nvPr/>
        </p:nvSpPr>
        <p:spPr>
          <a:xfrm>
            <a:off x="228600" y="7246620"/>
            <a:ext cx="12344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-060: 如何读这张图"/>
          <p:cNvSpPr txBox="1"/>
          <p:nvPr/>
        </p:nvSpPr>
        <p:spPr>
          <a:xfrm>
            <a:off x="381000" y="7284720"/>
            <a:ext cx="1333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59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593178"/>
            <a:ext cx="6268379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60" name="text-062: ② 线代表 AXI 通道组：AR/AW/W 向目标，R/B 返回；未映射地址进入"/>
          <p:cNvSpPr txBox="1"/>
          <p:nvPr/>
        </p:nvSpPr>
        <p:spPr>
          <a:xfrm>
            <a:off x="381000" y="7814158"/>
            <a:ext cx="69118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61" name="text-063: ③ 从 Crossbar 看：S 是 slave port（接发起者），M 是 "/>
          <p:cNvSpPr txBox="1"/>
          <p:nvPr/>
        </p:nvSpPr>
        <p:spPr>
          <a:xfrm>
            <a:off x="381000" y="8035138"/>
            <a:ext cx="7112782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62" name="text-064: ④ VCU118 当前加源脚本：SerialLink=0、USB=0、Ara=1"/>
          <p:cNvSpPr txBox="1"/>
          <p:nvPr/>
        </p:nvSpPr>
        <p:spPr>
          <a:xfrm>
            <a:off x="381000" y="8256118"/>
            <a:ext cx="695879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Cheshire + Ara AXI Crossbar — editable shapes</dc:title>
  <dc:subject>Native shapes and text; no SVG conversion required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