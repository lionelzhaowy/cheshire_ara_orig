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552000" cy="3867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lc_cache_access-000"/>
          <p:cNvSpPr/>
          <p:nvPr/>
        </p:nvSpPr>
        <p:spPr>
          <a:xfrm>
            <a:off x="0" y="0"/>
            <a:ext cx="6552000" cy="386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llc_cache_access-001"/>
          <p:cNvSpPr/>
          <p:nvPr/>
        </p:nvSpPr>
        <p:spPr>
          <a:xfrm>
            <a:off x="182000" y="227500"/>
            <a:ext cx="25935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llc_cache_access-002: Tag [47:14]"/>
          <p:cNvSpPr txBox="1"/>
          <p:nvPr/>
        </p:nvSpPr>
        <p:spPr>
          <a:xfrm>
            <a:off x="1126907" y="304486"/>
            <a:ext cx="703686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Tag [47:14]</a:t>
            </a:r>
          </a:p>
        </p:txBody>
      </p:sp>
      <p:sp>
        <p:nvSpPr>
          <p:cNvPr id="5" name="llc_cache_access-003"/>
          <p:cNvSpPr/>
          <p:nvPr/>
        </p:nvSpPr>
        <p:spPr>
          <a:xfrm>
            <a:off x="2775500" y="227500"/>
            <a:ext cx="15834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lc_cache_access-004: Set [13:6]"/>
          <p:cNvSpPr txBox="1"/>
          <p:nvPr/>
        </p:nvSpPr>
        <p:spPr>
          <a:xfrm>
            <a:off x="3254835" y="304486"/>
            <a:ext cx="624729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Set [13:6]</a:t>
            </a:r>
          </a:p>
        </p:txBody>
      </p:sp>
      <p:sp>
        <p:nvSpPr>
          <p:cNvPr id="7" name="llc_cache_access-005"/>
          <p:cNvSpPr/>
          <p:nvPr/>
        </p:nvSpPr>
        <p:spPr>
          <a:xfrm>
            <a:off x="4358900" y="227500"/>
            <a:ext cx="10465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lc_cache_access-006: Block [5:3]"/>
          <p:cNvSpPr txBox="1"/>
          <p:nvPr/>
        </p:nvSpPr>
        <p:spPr>
          <a:xfrm>
            <a:off x="4546829" y="304486"/>
            <a:ext cx="67064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Block [5:3]</a:t>
            </a:r>
          </a:p>
        </p:txBody>
      </p:sp>
      <p:sp>
        <p:nvSpPr>
          <p:cNvPr id="9" name="llc_cache_access-007"/>
          <p:cNvSpPr/>
          <p:nvPr/>
        </p:nvSpPr>
        <p:spPr>
          <a:xfrm>
            <a:off x="5405400" y="227500"/>
            <a:ext cx="9646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llc_cache_access-008: Byte [2:0]"/>
          <p:cNvSpPr txBox="1"/>
          <p:nvPr/>
        </p:nvSpPr>
        <p:spPr>
          <a:xfrm>
            <a:off x="5578655" y="304486"/>
            <a:ext cx="618089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Byte [2:0]</a:t>
            </a:r>
          </a:p>
        </p:txBody>
      </p:sp>
      <p:sp>
        <p:nvSpPr>
          <p:cNvPr id="11" name="llc_cache_access-009: per way × 8"/>
          <p:cNvSpPr txBox="1"/>
          <p:nvPr/>
        </p:nvSpPr>
        <p:spPr>
          <a:xfrm>
            <a:off x="4592926" y="891436"/>
            <a:ext cx="733147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per way × 8</a:t>
            </a:r>
          </a:p>
        </p:txBody>
      </p:sp>
      <p:sp>
        <p:nvSpPr>
          <p:cNvPr id="12" name="llc_cache_access-010: Tag SRAM"/>
          <p:cNvSpPr txBox="1"/>
          <p:nvPr/>
        </p:nvSpPr>
        <p:spPr>
          <a:xfrm>
            <a:off x="2489262" y="1109108"/>
            <a:ext cx="736275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Tag SRAM</a:t>
            </a:r>
          </a:p>
        </p:txBody>
      </p:sp>
      <p:sp>
        <p:nvSpPr>
          <p:cNvPr id="13" name="llc_cache_access-011: Data SRAM"/>
          <p:cNvSpPr txBox="1"/>
          <p:nvPr/>
        </p:nvSpPr>
        <p:spPr>
          <a:xfrm>
            <a:off x="4787012" y="1109108"/>
            <a:ext cx="799975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Data SRAM</a:t>
            </a:r>
          </a:p>
        </p:txBody>
      </p:sp>
      <p:sp>
        <p:nvSpPr>
          <p:cNvPr id="14" name="llc_cache_access-012"/>
          <p:cNvSpPr/>
          <p:nvPr/>
        </p:nvSpPr>
        <p:spPr>
          <a:xfrm>
            <a:off x="2074800" y="1374100"/>
            <a:ext cx="1565200" cy="8190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llc_cache_access-013"/>
          <p:cNvSpPr/>
          <p:nvPr/>
        </p:nvSpPr>
        <p:spPr>
          <a:xfrm>
            <a:off x="4222400" y="1374100"/>
            <a:ext cx="1938300" cy="8190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llc_cache_access-014"/>
          <p:cNvSpPr/>
          <p:nvPr/>
        </p:nvSpPr>
        <p:spPr>
          <a:xfrm>
            <a:off x="2074800" y="1647100"/>
            <a:ext cx="1565200" cy="273000"/>
          </a:xfrm>
          <a:prstGeom prst="rect">
            <a:avLst/>
          </a:prstGeom>
          <a:solidFill>
            <a:srgbClr val="E5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lc_cache_access-015"/>
          <p:cNvSpPr/>
          <p:nvPr/>
        </p:nvSpPr>
        <p:spPr>
          <a:xfrm>
            <a:off x="4222400" y="1647100"/>
            <a:ext cx="1938300" cy="273000"/>
          </a:xfrm>
          <a:prstGeom prst="rect">
            <a:avLst/>
          </a:prstGeom>
          <a:solidFill>
            <a:srgbClr val="E5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llc_cache_access-016"/>
          <p:cNvSpPr/>
          <p:nvPr/>
        </p:nvSpPr>
        <p:spPr>
          <a:xfrm>
            <a:off x="2074800" y="1647100"/>
            <a:ext cx="1565200" cy="1"/>
          </a:xfrm>
          <a:custGeom>
            <a:avLst/>
            <a:gdLst/>
            <a:ahLst/>
            <a:cxnLst/>
            <a:rect l="0" t="0" r="r" b="b"/>
            <a:pathLst>
              <a:path w="1565200" h="1">
                <a:moveTo>
                  <a:pt x="0" y="0"/>
                </a:moveTo>
                <a:lnTo>
                  <a:pt x="1565200" y="0"/>
                </a:lnTo>
              </a:path>
            </a:pathLst>
          </a:cu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llc_cache_access-017"/>
          <p:cNvSpPr/>
          <p:nvPr/>
        </p:nvSpPr>
        <p:spPr>
          <a:xfrm>
            <a:off x="4222400" y="1647100"/>
            <a:ext cx="1938300" cy="1"/>
          </a:xfrm>
          <a:custGeom>
            <a:avLst/>
            <a:gdLst/>
            <a:ahLst/>
            <a:cxnLst/>
            <a:rect l="0" t="0" r="r" b="b"/>
            <a:pathLst>
              <a:path w="1938300" h="1">
                <a:moveTo>
                  <a:pt x="0" y="0"/>
                </a:moveTo>
                <a:lnTo>
                  <a:pt x="1938300" y="0"/>
                </a:lnTo>
              </a:path>
            </a:pathLst>
          </a:cu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llc_cache_access-018"/>
          <p:cNvSpPr/>
          <p:nvPr/>
        </p:nvSpPr>
        <p:spPr>
          <a:xfrm>
            <a:off x="2074800" y="1920100"/>
            <a:ext cx="1565200" cy="1"/>
          </a:xfrm>
          <a:custGeom>
            <a:avLst/>
            <a:gdLst/>
            <a:ahLst/>
            <a:cxnLst/>
            <a:rect l="0" t="0" r="r" b="b"/>
            <a:pathLst>
              <a:path w="1565200" h="1">
                <a:moveTo>
                  <a:pt x="0" y="0"/>
                </a:moveTo>
                <a:lnTo>
                  <a:pt x="1565200" y="0"/>
                </a:lnTo>
              </a:path>
            </a:pathLst>
          </a:cu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llc_cache_access-019"/>
          <p:cNvSpPr/>
          <p:nvPr/>
        </p:nvSpPr>
        <p:spPr>
          <a:xfrm>
            <a:off x="4222400" y="1920100"/>
            <a:ext cx="1938300" cy="1"/>
          </a:xfrm>
          <a:custGeom>
            <a:avLst/>
            <a:gdLst/>
            <a:ahLst/>
            <a:cxnLst/>
            <a:rect l="0" t="0" r="r" b="b"/>
            <a:pathLst>
              <a:path w="1938300" h="1">
                <a:moveTo>
                  <a:pt x="0" y="0"/>
                </a:moveTo>
                <a:lnTo>
                  <a:pt x="1938300" y="0"/>
                </a:lnTo>
              </a:path>
            </a:pathLst>
          </a:cu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llc_cache_access-020"/>
          <p:cNvSpPr/>
          <p:nvPr/>
        </p:nvSpPr>
        <p:spPr>
          <a:xfrm>
            <a:off x="3130400" y="1374100"/>
            <a:ext cx="1" cy="819000"/>
          </a:xfrm>
          <a:custGeom>
            <a:avLst/>
            <a:gdLst/>
            <a:ahLst/>
            <a:cxnLst/>
            <a:rect l="0" t="0" r="r" b="b"/>
            <a:pathLst>
              <a:path w="1" h="819000">
                <a:moveTo>
                  <a:pt x="0" y="0"/>
                </a:moveTo>
                <a:lnTo>
                  <a:pt x="0" y="819000"/>
                </a:lnTo>
              </a:path>
            </a:pathLst>
          </a:cu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llc_cache_access-021"/>
          <p:cNvSpPr/>
          <p:nvPr/>
        </p:nvSpPr>
        <p:spPr>
          <a:xfrm>
            <a:off x="3403400" y="1374100"/>
            <a:ext cx="1" cy="819000"/>
          </a:xfrm>
          <a:custGeom>
            <a:avLst/>
            <a:gdLst/>
            <a:ahLst/>
            <a:cxnLst/>
            <a:rect l="0" t="0" r="r" b="b"/>
            <a:pathLst>
              <a:path w="1" h="819000">
                <a:moveTo>
                  <a:pt x="0" y="0"/>
                </a:moveTo>
                <a:lnTo>
                  <a:pt x="0" y="819000"/>
                </a:lnTo>
              </a:path>
            </a:pathLst>
          </a:cu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llc_cache_access-022"/>
          <p:cNvSpPr/>
          <p:nvPr/>
        </p:nvSpPr>
        <p:spPr>
          <a:xfrm>
            <a:off x="4464688" y="1374100"/>
            <a:ext cx="1" cy="819000"/>
          </a:xfrm>
          <a:custGeom>
            <a:avLst/>
            <a:gdLst/>
            <a:ahLst/>
            <a:cxnLst/>
            <a:rect l="0" t="0" r="r" b="b"/>
            <a:pathLst>
              <a:path w="1" h="819000">
                <a:moveTo>
                  <a:pt x="0" y="0"/>
                </a:moveTo>
                <a:lnTo>
                  <a:pt x="0" y="819000"/>
                </a:lnTo>
              </a:path>
            </a:pathLst>
          </a:custGeom>
          <a:noFill/>
          <a:ln w="728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llc_cache_access-023"/>
          <p:cNvSpPr/>
          <p:nvPr/>
        </p:nvSpPr>
        <p:spPr>
          <a:xfrm>
            <a:off x="4706975" y="1374100"/>
            <a:ext cx="1" cy="819000"/>
          </a:xfrm>
          <a:custGeom>
            <a:avLst/>
            <a:gdLst/>
            <a:ahLst/>
            <a:cxnLst/>
            <a:rect l="0" t="0" r="r" b="b"/>
            <a:pathLst>
              <a:path w="1" h="819000">
                <a:moveTo>
                  <a:pt x="0" y="0"/>
                </a:moveTo>
                <a:lnTo>
                  <a:pt x="0" y="819000"/>
                </a:lnTo>
              </a:path>
            </a:pathLst>
          </a:custGeom>
          <a:noFill/>
          <a:ln w="728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llc_cache_access-024"/>
          <p:cNvSpPr/>
          <p:nvPr/>
        </p:nvSpPr>
        <p:spPr>
          <a:xfrm>
            <a:off x="4949262" y="1374100"/>
            <a:ext cx="1" cy="819000"/>
          </a:xfrm>
          <a:custGeom>
            <a:avLst/>
            <a:gdLst/>
            <a:ahLst/>
            <a:cxnLst/>
            <a:rect l="0" t="0" r="r" b="b"/>
            <a:pathLst>
              <a:path w="1" h="819000">
                <a:moveTo>
                  <a:pt x="0" y="0"/>
                </a:moveTo>
                <a:lnTo>
                  <a:pt x="0" y="819000"/>
                </a:lnTo>
              </a:path>
            </a:pathLst>
          </a:custGeom>
          <a:noFill/>
          <a:ln w="728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llc_cache_access-025"/>
          <p:cNvSpPr/>
          <p:nvPr/>
        </p:nvSpPr>
        <p:spPr>
          <a:xfrm>
            <a:off x="5191550" y="1374100"/>
            <a:ext cx="1" cy="819000"/>
          </a:xfrm>
          <a:custGeom>
            <a:avLst/>
            <a:gdLst/>
            <a:ahLst/>
            <a:cxnLst/>
            <a:rect l="0" t="0" r="r" b="b"/>
            <a:pathLst>
              <a:path w="1" h="819000">
                <a:moveTo>
                  <a:pt x="0" y="0"/>
                </a:moveTo>
                <a:lnTo>
                  <a:pt x="0" y="819000"/>
                </a:lnTo>
              </a:path>
            </a:pathLst>
          </a:custGeom>
          <a:noFill/>
          <a:ln w="728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llc_cache_access-026"/>
          <p:cNvSpPr/>
          <p:nvPr/>
        </p:nvSpPr>
        <p:spPr>
          <a:xfrm>
            <a:off x="5433838" y="1374100"/>
            <a:ext cx="1" cy="819000"/>
          </a:xfrm>
          <a:custGeom>
            <a:avLst/>
            <a:gdLst/>
            <a:ahLst/>
            <a:cxnLst/>
            <a:rect l="0" t="0" r="r" b="b"/>
            <a:pathLst>
              <a:path w="1" h="819000">
                <a:moveTo>
                  <a:pt x="0" y="0"/>
                </a:moveTo>
                <a:lnTo>
                  <a:pt x="0" y="819000"/>
                </a:lnTo>
              </a:path>
            </a:pathLst>
          </a:custGeom>
          <a:noFill/>
          <a:ln w="728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llc_cache_access-027"/>
          <p:cNvSpPr/>
          <p:nvPr/>
        </p:nvSpPr>
        <p:spPr>
          <a:xfrm>
            <a:off x="5676125" y="1374100"/>
            <a:ext cx="1" cy="819000"/>
          </a:xfrm>
          <a:custGeom>
            <a:avLst/>
            <a:gdLst/>
            <a:ahLst/>
            <a:cxnLst/>
            <a:rect l="0" t="0" r="r" b="b"/>
            <a:pathLst>
              <a:path w="1" h="819000">
                <a:moveTo>
                  <a:pt x="0" y="0"/>
                </a:moveTo>
                <a:lnTo>
                  <a:pt x="0" y="819000"/>
                </a:lnTo>
              </a:path>
            </a:pathLst>
          </a:custGeom>
          <a:noFill/>
          <a:ln w="728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llc_cache_access-028"/>
          <p:cNvSpPr/>
          <p:nvPr/>
        </p:nvSpPr>
        <p:spPr>
          <a:xfrm>
            <a:off x="5918412" y="1374100"/>
            <a:ext cx="1" cy="819000"/>
          </a:xfrm>
          <a:custGeom>
            <a:avLst/>
            <a:gdLst/>
            <a:ahLst/>
            <a:cxnLst/>
            <a:rect l="0" t="0" r="r" b="b"/>
            <a:pathLst>
              <a:path w="1" h="819000">
                <a:moveTo>
                  <a:pt x="0" y="0"/>
                </a:moveTo>
                <a:lnTo>
                  <a:pt x="0" y="819000"/>
                </a:lnTo>
              </a:path>
            </a:pathLst>
          </a:custGeom>
          <a:noFill/>
          <a:ln w="728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llc_cache_access-029: Tag"/>
          <p:cNvSpPr txBox="1"/>
          <p:nvPr/>
        </p:nvSpPr>
        <p:spPr>
          <a:xfrm>
            <a:off x="2448085" y="1428336"/>
            <a:ext cx="30903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Tag</a:t>
            </a:r>
          </a:p>
        </p:txBody>
      </p:sp>
      <p:sp>
        <p:nvSpPr>
          <p:cNvPr id="32" name="llc_cache_access-030: V"/>
          <p:cNvSpPr txBox="1"/>
          <p:nvPr/>
        </p:nvSpPr>
        <p:spPr>
          <a:xfrm>
            <a:off x="3168300" y="1428336"/>
            <a:ext cx="19720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V</a:t>
            </a:r>
          </a:p>
        </p:txBody>
      </p:sp>
      <p:sp>
        <p:nvSpPr>
          <p:cNvPr id="33" name="llc_cache_access-031: D"/>
          <p:cNvSpPr txBox="1"/>
          <p:nvPr/>
        </p:nvSpPr>
        <p:spPr>
          <a:xfrm>
            <a:off x="3419837" y="1428336"/>
            <a:ext cx="203726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</a:t>
            </a:r>
          </a:p>
        </p:txBody>
      </p:sp>
      <p:sp>
        <p:nvSpPr>
          <p:cNvPr id="34" name="llc_cache_access-032: Tag[42]"/>
          <p:cNvSpPr txBox="1"/>
          <p:nvPr/>
        </p:nvSpPr>
        <p:spPr>
          <a:xfrm>
            <a:off x="2349421" y="1701336"/>
            <a:ext cx="506358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Tag[42]</a:t>
            </a:r>
          </a:p>
        </p:txBody>
      </p:sp>
      <p:sp>
        <p:nvSpPr>
          <p:cNvPr id="35" name="llc_cache_access-033: v"/>
          <p:cNvSpPr txBox="1"/>
          <p:nvPr/>
        </p:nvSpPr>
        <p:spPr>
          <a:xfrm>
            <a:off x="3178175" y="1701336"/>
            <a:ext cx="17745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v</a:t>
            </a:r>
          </a:p>
        </p:txBody>
      </p:sp>
      <p:sp>
        <p:nvSpPr>
          <p:cNvPr id="36" name="llc_cache_access-034: d"/>
          <p:cNvSpPr txBox="1"/>
          <p:nvPr/>
        </p:nvSpPr>
        <p:spPr>
          <a:xfrm>
            <a:off x="3429655" y="1701336"/>
            <a:ext cx="1840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</a:t>
            </a:r>
          </a:p>
        </p:txBody>
      </p:sp>
      <p:sp>
        <p:nvSpPr>
          <p:cNvPr id="37" name="llc_cache_access-035: 256 rows"/>
          <p:cNvSpPr txBox="1"/>
          <p:nvPr/>
        </p:nvSpPr>
        <p:spPr>
          <a:xfrm>
            <a:off x="2558245" y="2220036"/>
            <a:ext cx="598311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256 rows</a:t>
            </a:r>
          </a:p>
        </p:txBody>
      </p:sp>
      <p:sp>
        <p:nvSpPr>
          <p:cNvPr id="38" name="llc_cache_access-036: 8 × 64 bit / row"/>
          <p:cNvSpPr txBox="1"/>
          <p:nvPr/>
        </p:nvSpPr>
        <p:spPr>
          <a:xfrm>
            <a:off x="4738221" y="2220036"/>
            <a:ext cx="897559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8 × 64 bit / row</a:t>
            </a:r>
          </a:p>
        </p:txBody>
      </p:sp>
      <p:sp>
        <p:nvSpPr>
          <p:cNvPr id="39" name="llc_cache_access-037"/>
          <p:cNvSpPr/>
          <p:nvPr/>
        </p:nvSpPr>
        <p:spPr>
          <a:xfrm>
            <a:off x="3567200" y="555100"/>
            <a:ext cx="382200" cy="1228500"/>
          </a:xfrm>
          <a:custGeom>
            <a:avLst/>
            <a:gdLst/>
            <a:ahLst/>
            <a:cxnLst/>
            <a:rect l="0" t="0" r="r" b="b"/>
            <a:pathLst>
              <a:path w="382200" h="1228500">
                <a:moveTo>
                  <a:pt x="0" y="0"/>
                </a:moveTo>
                <a:lnTo>
                  <a:pt x="0" y="254800"/>
                </a:lnTo>
                <a:lnTo>
                  <a:pt x="382200" y="254800"/>
                </a:lnTo>
                <a:lnTo>
                  <a:pt x="382200" y="1228500"/>
                </a:lnTo>
                <a:lnTo>
                  <a:pt x="72800" y="12285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llc_cache_access-038"/>
          <p:cNvSpPr/>
          <p:nvPr/>
        </p:nvSpPr>
        <p:spPr>
          <a:xfrm>
            <a:off x="3640000" y="17581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0" y="25480"/>
                </a:moveTo>
                <a:lnTo>
                  <a:pt x="54600" y="0"/>
                </a:lnTo>
                <a:lnTo>
                  <a:pt x="54600" y="5096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llc_cache_access-039"/>
          <p:cNvSpPr/>
          <p:nvPr/>
        </p:nvSpPr>
        <p:spPr>
          <a:xfrm>
            <a:off x="3949400" y="1783600"/>
            <a:ext cx="273000" cy="1"/>
          </a:xfrm>
          <a:custGeom>
            <a:avLst/>
            <a:gdLst/>
            <a:ahLst/>
            <a:cxnLst/>
            <a:rect l="0" t="0" r="r" b="b"/>
            <a:pathLst>
              <a:path w="273000" h="1">
                <a:moveTo>
                  <a:pt x="0" y="0"/>
                </a:moveTo>
                <a:lnTo>
                  <a:pt x="2730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llc_cache_access-040"/>
          <p:cNvSpPr/>
          <p:nvPr/>
        </p:nvSpPr>
        <p:spPr>
          <a:xfrm>
            <a:off x="4167800" y="17581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llc_cache_access-041"/>
          <p:cNvSpPr/>
          <p:nvPr/>
        </p:nvSpPr>
        <p:spPr>
          <a:xfrm>
            <a:off x="3928470" y="1762670"/>
            <a:ext cx="41860" cy="41860"/>
          </a:xfrm>
          <a:prstGeom prst="ellipse">
            <a:avLst/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llc_cache_access-042"/>
          <p:cNvSpPr/>
          <p:nvPr/>
        </p:nvSpPr>
        <p:spPr>
          <a:xfrm>
            <a:off x="2074800" y="2593500"/>
            <a:ext cx="15652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llc_cache_access-043: Tag + Valid compare"/>
          <p:cNvSpPr txBox="1"/>
          <p:nvPr/>
        </p:nvSpPr>
        <p:spPr>
          <a:xfrm>
            <a:off x="2215957" y="2660658"/>
            <a:ext cx="1282887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Tag + Valid compare</a:t>
            </a:r>
          </a:p>
        </p:txBody>
      </p:sp>
      <p:sp>
        <p:nvSpPr>
          <p:cNvPr id="46" name="llc_cache_access-044"/>
          <p:cNvSpPr/>
          <p:nvPr/>
        </p:nvSpPr>
        <p:spPr>
          <a:xfrm>
            <a:off x="2275000" y="2193100"/>
            <a:ext cx="1" cy="400400"/>
          </a:xfrm>
          <a:custGeom>
            <a:avLst/>
            <a:gdLst/>
            <a:ahLst/>
            <a:cxnLst/>
            <a:rect l="0" t="0" r="r" b="b"/>
            <a:pathLst>
              <a:path w="1" h="400400">
                <a:moveTo>
                  <a:pt x="0" y="0"/>
                </a:moveTo>
                <a:lnTo>
                  <a:pt x="0" y="4004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llc_cache_access-045"/>
          <p:cNvSpPr/>
          <p:nvPr/>
        </p:nvSpPr>
        <p:spPr>
          <a:xfrm>
            <a:off x="2249520" y="25389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llc_cache_access-046"/>
          <p:cNvSpPr/>
          <p:nvPr/>
        </p:nvSpPr>
        <p:spPr>
          <a:xfrm>
            <a:off x="1474200" y="555100"/>
            <a:ext cx="600600" cy="2202200"/>
          </a:xfrm>
          <a:custGeom>
            <a:avLst/>
            <a:gdLst/>
            <a:ahLst/>
            <a:cxnLst/>
            <a:rect l="0" t="0" r="r" b="b"/>
            <a:pathLst>
              <a:path w="600600" h="2202200">
                <a:moveTo>
                  <a:pt x="0" y="0"/>
                </a:moveTo>
                <a:lnTo>
                  <a:pt x="0" y="2202200"/>
                </a:lnTo>
                <a:lnTo>
                  <a:pt x="600600" y="22022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llc_cache_access-047"/>
          <p:cNvSpPr/>
          <p:nvPr/>
        </p:nvSpPr>
        <p:spPr>
          <a:xfrm>
            <a:off x="2020200" y="27318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llc_cache_access-048"/>
          <p:cNvSpPr/>
          <p:nvPr/>
        </p:nvSpPr>
        <p:spPr>
          <a:xfrm>
            <a:off x="4677400" y="2593500"/>
            <a:ext cx="1037400" cy="491400"/>
          </a:xfrm>
          <a:custGeom>
            <a:avLst/>
            <a:gdLst/>
            <a:ahLst/>
            <a:cxnLst/>
            <a:rect l="0" t="0" r="r" b="b"/>
            <a:pathLst>
              <a:path w="1037400" h="491400">
                <a:moveTo>
                  <a:pt x="0" y="0"/>
                </a:moveTo>
                <a:lnTo>
                  <a:pt x="1037400" y="0"/>
                </a:lnTo>
                <a:lnTo>
                  <a:pt x="964600" y="491400"/>
                </a:lnTo>
                <a:lnTo>
                  <a:pt x="72800" y="491400"/>
                </a:lnTo>
                <a:close/>
              </a:path>
            </a:pathLst>
          </a:custGeom>
          <a:solidFill>
            <a:srgbClr val="FFFFFF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llc_cache_access-049: Way select"/>
          <p:cNvSpPr txBox="1"/>
          <p:nvPr/>
        </p:nvSpPr>
        <p:spPr>
          <a:xfrm>
            <a:off x="4849895" y="2756936"/>
            <a:ext cx="69241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Way select</a:t>
            </a:r>
          </a:p>
        </p:txBody>
      </p:sp>
      <p:sp>
        <p:nvSpPr>
          <p:cNvPr id="52" name="llc_cache_access-050"/>
          <p:cNvSpPr/>
          <p:nvPr/>
        </p:nvSpPr>
        <p:spPr>
          <a:xfrm>
            <a:off x="5196100" y="2193100"/>
            <a:ext cx="627900" cy="400400"/>
          </a:xfrm>
          <a:custGeom>
            <a:avLst/>
            <a:gdLst/>
            <a:ahLst/>
            <a:cxnLst/>
            <a:rect l="0" t="0" r="r" b="b"/>
            <a:pathLst>
              <a:path w="627900" h="400400">
                <a:moveTo>
                  <a:pt x="627900" y="0"/>
                </a:moveTo>
                <a:lnTo>
                  <a:pt x="627900" y="291200"/>
                </a:lnTo>
                <a:lnTo>
                  <a:pt x="0" y="291200"/>
                </a:lnTo>
                <a:lnTo>
                  <a:pt x="0" y="4004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llc_cache_access-051"/>
          <p:cNvSpPr/>
          <p:nvPr/>
        </p:nvSpPr>
        <p:spPr>
          <a:xfrm>
            <a:off x="5170620" y="25389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llc_cache_access-052"/>
          <p:cNvSpPr/>
          <p:nvPr/>
        </p:nvSpPr>
        <p:spPr>
          <a:xfrm>
            <a:off x="3640000" y="2757300"/>
            <a:ext cx="1064700" cy="1"/>
          </a:xfrm>
          <a:custGeom>
            <a:avLst/>
            <a:gdLst/>
            <a:ahLst/>
            <a:cxnLst/>
            <a:rect l="0" t="0" r="r" b="b"/>
            <a:pathLst>
              <a:path w="1064700" h="1">
                <a:moveTo>
                  <a:pt x="0" y="0"/>
                </a:moveTo>
                <a:lnTo>
                  <a:pt x="1064700" y="0"/>
                </a:lnTo>
              </a:path>
            </a:pathLst>
          </a:custGeom>
          <a:noFill/>
          <a:ln w="11830" cap="flat">
            <a:solidFill>
              <a:srgbClr val="1765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llc_cache_access-053"/>
          <p:cNvSpPr/>
          <p:nvPr/>
        </p:nvSpPr>
        <p:spPr>
          <a:xfrm>
            <a:off x="4650100" y="27318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1765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llc_cache_access-054: hit way"/>
          <p:cNvSpPr txBox="1"/>
          <p:nvPr/>
        </p:nvSpPr>
        <p:spPr>
          <a:xfrm>
            <a:off x="3888160" y="2502136"/>
            <a:ext cx="48648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17658A"/>
                </a:solidFill>
                <a:latin typeface="Liberation Sans"/>
                <a:ea typeface="Liberation Sans"/>
                <a:cs typeface="Liberation Sans"/>
              </a:rPr>
              <a:t>hit way</a:t>
            </a:r>
          </a:p>
        </p:txBody>
      </p:sp>
      <p:sp>
        <p:nvSpPr>
          <p:cNvPr id="57" name="llc_cache_access-055"/>
          <p:cNvSpPr/>
          <p:nvPr/>
        </p:nvSpPr>
        <p:spPr>
          <a:xfrm>
            <a:off x="5196100" y="3084900"/>
            <a:ext cx="1" cy="273000"/>
          </a:xfrm>
          <a:custGeom>
            <a:avLst/>
            <a:gdLst/>
            <a:ahLst/>
            <a:cxnLst/>
            <a:rect l="0" t="0" r="r" b="b"/>
            <a:pathLst>
              <a:path w="1" h="273000">
                <a:moveTo>
                  <a:pt x="0" y="0"/>
                </a:moveTo>
                <a:lnTo>
                  <a:pt x="0" y="2730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llc_cache_access-056"/>
          <p:cNvSpPr/>
          <p:nvPr/>
        </p:nvSpPr>
        <p:spPr>
          <a:xfrm>
            <a:off x="5170620" y="33033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llc_cache_access-057"/>
          <p:cNvSpPr/>
          <p:nvPr/>
        </p:nvSpPr>
        <p:spPr>
          <a:xfrm>
            <a:off x="4249700" y="3357900"/>
            <a:ext cx="1920100" cy="3367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llc_cache_access-058: Block / byte select"/>
          <p:cNvSpPr txBox="1"/>
          <p:nvPr/>
        </p:nvSpPr>
        <p:spPr>
          <a:xfrm>
            <a:off x="4632703" y="3429608"/>
            <a:ext cx="1154093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Block / byte select</a:t>
            </a:r>
          </a:p>
        </p:txBody>
      </p:sp>
      <p:sp>
        <p:nvSpPr>
          <p:cNvPr id="61" name="llc_cache_access-059"/>
          <p:cNvSpPr/>
          <p:nvPr/>
        </p:nvSpPr>
        <p:spPr>
          <a:xfrm>
            <a:off x="4877600" y="555100"/>
            <a:ext cx="1374100" cy="2802800"/>
          </a:xfrm>
          <a:custGeom>
            <a:avLst/>
            <a:gdLst/>
            <a:ahLst/>
            <a:cxnLst/>
            <a:rect l="0" t="0" r="r" b="b"/>
            <a:pathLst>
              <a:path w="1374100" h="2802800">
                <a:moveTo>
                  <a:pt x="0" y="0"/>
                </a:moveTo>
                <a:lnTo>
                  <a:pt x="0" y="127400"/>
                </a:lnTo>
                <a:lnTo>
                  <a:pt x="1374100" y="127400"/>
                </a:lnTo>
                <a:lnTo>
                  <a:pt x="1374100" y="2666300"/>
                </a:lnTo>
                <a:lnTo>
                  <a:pt x="800800" y="2666300"/>
                </a:lnTo>
                <a:lnTo>
                  <a:pt x="800800" y="28028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llc_cache_access-060"/>
          <p:cNvSpPr/>
          <p:nvPr/>
        </p:nvSpPr>
        <p:spPr>
          <a:xfrm>
            <a:off x="5652920" y="33033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llc_cache_access-061"/>
          <p:cNvSpPr/>
          <p:nvPr/>
        </p:nvSpPr>
        <p:spPr>
          <a:xfrm>
            <a:off x="5878600" y="555100"/>
            <a:ext cx="509600" cy="2975700"/>
          </a:xfrm>
          <a:custGeom>
            <a:avLst/>
            <a:gdLst/>
            <a:ahLst/>
            <a:cxnLst/>
            <a:rect l="0" t="0" r="r" b="b"/>
            <a:pathLst>
              <a:path w="509600" h="2975700">
                <a:moveTo>
                  <a:pt x="0" y="0"/>
                </a:moveTo>
                <a:lnTo>
                  <a:pt x="509600" y="0"/>
                </a:lnTo>
                <a:lnTo>
                  <a:pt x="509600" y="2975700"/>
                </a:lnTo>
                <a:lnTo>
                  <a:pt x="291200" y="29757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_cache_access-062"/>
          <p:cNvSpPr/>
          <p:nvPr/>
        </p:nvSpPr>
        <p:spPr>
          <a:xfrm>
            <a:off x="6169800" y="35053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0" y="25480"/>
                </a:moveTo>
                <a:lnTo>
                  <a:pt x="54600" y="0"/>
                </a:lnTo>
                <a:lnTo>
                  <a:pt x="54600" y="5096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llc_cache_access-063: 8 ways × 256 sets × 64 B"/>
          <p:cNvSpPr txBox="1"/>
          <p:nvPr/>
        </p:nvSpPr>
        <p:spPr>
          <a:xfrm>
            <a:off x="441442" y="3184636"/>
            <a:ext cx="1446715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8 ways × 256 sets × 64 B</a:t>
            </a:r>
          </a:p>
        </p:txBody>
      </p:sp>
      <p:sp>
        <p:nvSpPr>
          <p:cNvPr id="66" name="llc_cache_access-064: 128 KiB data capacity"/>
          <p:cNvSpPr txBox="1"/>
          <p:nvPr/>
        </p:nvSpPr>
        <p:spPr>
          <a:xfrm>
            <a:off x="484959" y="3402308"/>
            <a:ext cx="135968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128 KiB data capacity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lc_spm_mapping-000"/>
          <p:cNvSpPr/>
          <p:nvPr/>
        </p:nvSpPr>
        <p:spPr>
          <a:xfrm>
            <a:off x="0" y="250250"/>
            <a:ext cx="6552000" cy="336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llc_spm_mapping-001: CFG_SPM"/>
          <p:cNvSpPr txBox="1"/>
          <p:nvPr/>
        </p:nvSpPr>
        <p:spPr>
          <a:xfrm>
            <a:off x="210779" y="376558"/>
            <a:ext cx="74324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CFG_SPM</a:t>
            </a:r>
          </a:p>
        </p:txBody>
      </p:sp>
      <p:sp>
        <p:nvSpPr>
          <p:cNvPr id="4" name="llc_spm_mapping-002: Way"/>
          <p:cNvSpPr txBox="1"/>
          <p:nvPr/>
        </p:nvSpPr>
        <p:spPr>
          <a:xfrm>
            <a:off x="1219400" y="386386"/>
            <a:ext cx="350506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Way</a:t>
            </a:r>
          </a:p>
        </p:txBody>
      </p:sp>
      <p:sp>
        <p:nvSpPr>
          <p:cNvPr id="5" name="llc_spm_mapping-003: 0"/>
          <p:cNvSpPr txBox="1"/>
          <p:nvPr/>
        </p:nvSpPr>
        <p:spPr>
          <a:xfrm>
            <a:off x="1709755" y="386386"/>
            <a:ext cx="1840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0</a:t>
            </a:r>
          </a:p>
        </p:txBody>
      </p:sp>
      <p:sp>
        <p:nvSpPr>
          <p:cNvPr id="6" name="llc_spm_mapping-004: 1"/>
          <p:cNvSpPr txBox="1"/>
          <p:nvPr/>
        </p:nvSpPr>
        <p:spPr>
          <a:xfrm>
            <a:off x="2292155" y="386386"/>
            <a:ext cx="1840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7" name="llc_spm_mapping-005: 2"/>
          <p:cNvSpPr txBox="1"/>
          <p:nvPr/>
        </p:nvSpPr>
        <p:spPr>
          <a:xfrm>
            <a:off x="2874555" y="386386"/>
            <a:ext cx="1840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8" name="llc_spm_mapping-006: 3"/>
          <p:cNvSpPr txBox="1"/>
          <p:nvPr/>
        </p:nvSpPr>
        <p:spPr>
          <a:xfrm>
            <a:off x="3456955" y="386386"/>
            <a:ext cx="1840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9" name="llc_spm_mapping-007: 4"/>
          <p:cNvSpPr txBox="1"/>
          <p:nvPr/>
        </p:nvSpPr>
        <p:spPr>
          <a:xfrm>
            <a:off x="4039355" y="386386"/>
            <a:ext cx="1840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4</a:t>
            </a:r>
          </a:p>
        </p:txBody>
      </p:sp>
      <p:sp>
        <p:nvSpPr>
          <p:cNvPr id="10" name="llc_spm_mapping-008: 5"/>
          <p:cNvSpPr txBox="1"/>
          <p:nvPr/>
        </p:nvSpPr>
        <p:spPr>
          <a:xfrm>
            <a:off x="4621755" y="386386"/>
            <a:ext cx="1840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5</a:t>
            </a:r>
          </a:p>
        </p:txBody>
      </p:sp>
      <p:sp>
        <p:nvSpPr>
          <p:cNvPr id="11" name="llc_spm_mapping-009: 6"/>
          <p:cNvSpPr txBox="1"/>
          <p:nvPr/>
        </p:nvSpPr>
        <p:spPr>
          <a:xfrm>
            <a:off x="5204155" y="386386"/>
            <a:ext cx="1840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6</a:t>
            </a:r>
          </a:p>
        </p:txBody>
      </p:sp>
      <p:sp>
        <p:nvSpPr>
          <p:cNvPr id="12" name="llc_spm_mapping-010: 7"/>
          <p:cNvSpPr txBox="1"/>
          <p:nvPr/>
        </p:nvSpPr>
        <p:spPr>
          <a:xfrm>
            <a:off x="5786555" y="386386"/>
            <a:ext cx="1840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7</a:t>
            </a:r>
          </a:p>
        </p:txBody>
      </p:sp>
      <p:sp>
        <p:nvSpPr>
          <p:cNvPr id="13" name="llc_spm_mapping-011: 0x00"/>
          <p:cNvSpPr txBox="1"/>
          <p:nvPr/>
        </p:nvSpPr>
        <p:spPr>
          <a:xfrm>
            <a:off x="389672" y="786058"/>
            <a:ext cx="403656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0x00</a:t>
            </a:r>
          </a:p>
        </p:txBody>
      </p:sp>
      <p:sp>
        <p:nvSpPr>
          <p:cNvPr id="14" name="llc_spm_mapping-012"/>
          <p:cNvSpPr/>
          <p:nvPr/>
        </p:nvSpPr>
        <p:spPr>
          <a:xfrm>
            <a:off x="1528800" y="705250"/>
            <a:ext cx="5369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llc_spm_mapping-013: C"/>
          <p:cNvSpPr txBox="1"/>
          <p:nvPr/>
        </p:nvSpPr>
        <p:spPr>
          <a:xfrm>
            <a:off x="1687545" y="772408"/>
            <a:ext cx="21941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</a:t>
            </a:r>
          </a:p>
        </p:txBody>
      </p:sp>
      <p:sp>
        <p:nvSpPr>
          <p:cNvPr id="16" name="llc_spm_mapping-014"/>
          <p:cNvSpPr/>
          <p:nvPr/>
        </p:nvSpPr>
        <p:spPr>
          <a:xfrm>
            <a:off x="2111200" y="705250"/>
            <a:ext cx="5369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lc_spm_mapping-015: C"/>
          <p:cNvSpPr txBox="1"/>
          <p:nvPr/>
        </p:nvSpPr>
        <p:spPr>
          <a:xfrm>
            <a:off x="2269945" y="772408"/>
            <a:ext cx="21941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</a:t>
            </a:r>
          </a:p>
        </p:txBody>
      </p:sp>
      <p:sp>
        <p:nvSpPr>
          <p:cNvPr id="18" name="llc_spm_mapping-016"/>
          <p:cNvSpPr/>
          <p:nvPr/>
        </p:nvSpPr>
        <p:spPr>
          <a:xfrm>
            <a:off x="2693600" y="705250"/>
            <a:ext cx="5369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llc_spm_mapping-017: C"/>
          <p:cNvSpPr txBox="1"/>
          <p:nvPr/>
        </p:nvSpPr>
        <p:spPr>
          <a:xfrm>
            <a:off x="2852345" y="772408"/>
            <a:ext cx="21941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</a:t>
            </a:r>
          </a:p>
        </p:txBody>
      </p:sp>
      <p:sp>
        <p:nvSpPr>
          <p:cNvPr id="20" name="llc_spm_mapping-018"/>
          <p:cNvSpPr/>
          <p:nvPr/>
        </p:nvSpPr>
        <p:spPr>
          <a:xfrm>
            <a:off x="3276000" y="705250"/>
            <a:ext cx="5369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llc_spm_mapping-019: C"/>
          <p:cNvSpPr txBox="1"/>
          <p:nvPr/>
        </p:nvSpPr>
        <p:spPr>
          <a:xfrm>
            <a:off x="3434745" y="772408"/>
            <a:ext cx="21941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</a:t>
            </a:r>
          </a:p>
        </p:txBody>
      </p:sp>
      <p:sp>
        <p:nvSpPr>
          <p:cNvPr id="22" name="llc_spm_mapping-020"/>
          <p:cNvSpPr/>
          <p:nvPr/>
        </p:nvSpPr>
        <p:spPr>
          <a:xfrm>
            <a:off x="3858400" y="705250"/>
            <a:ext cx="5369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llc_spm_mapping-021: C"/>
          <p:cNvSpPr txBox="1"/>
          <p:nvPr/>
        </p:nvSpPr>
        <p:spPr>
          <a:xfrm>
            <a:off x="4017145" y="772408"/>
            <a:ext cx="21941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</a:t>
            </a:r>
          </a:p>
        </p:txBody>
      </p:sp>
      <p:sp>
        <p:nvSpPr>
          <p:cNvPr id="24" name="llc_spm_mapping-022"/>
          <p:cNvSpPr/>
          <p:nvPr/>
        </p:nvSpPr>
        <p:spPr>
          <a:xfrm>
            <a:off x="4440800" y="705250"/>
            <a:ext cx="5369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llc_spm_mapping-023: C"/>
          <p:cNvSpPr txBox="1"/>
          <p:nvPr/>
        </p:nvSpPr>
        <p:spPr>
          <a:xfrm>
            <a:off x="4599545" y="772408"/>
            <a:ext cx="21941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</a:t>
            </a:r>
          </a:p>
        </p:txBody>
      </p:sp>
      <p:sp>
        <p:nvSpPr>
          <p:cNvPr id="26" name="llc_spm_mapping-024"/>
          <p:cNvSpPr/>
          <p:nvPr/>
        </p:nvSpPr>
        <p:spPr>
          <a:xfrm>
            <a:off x="5023200" y="705250"/>
            <a:ext cx="5369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llc_spm_mapping-025: C"/>
          <p:cNvSpPr txBox="1"/>
          <p:nvPr/>
        </p:nvSpPr>
        <p:spPr>
          <a:xfrm>
            <a:off x="5181945" y="772408"/>
            <a:ext cx="21941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</a:t>
            </a:r>
          </a:p>
        </p:txBody>
      </p:sp>
      <p:sp>
        <p:nvSpPr>
          <p:cNvPr id="28" name="llc_spm_mapping-026"/>
          <p:cNvSpPr/>
          <p:nvPr/>
        </p:nvSpPr>
        <p:spPr>
          <a:xfrm>
            <a:off x="5605600" y="705250"/>
            <a:ext cx="5369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llc_spm_mapping-027: C"/>
          <p:cNvSpPr txBox="1"/>
          <p:nvPr/>
        </p:nvSpPr>
        <p:spPr>
          <a:xfrm>
            <a:off x="5764345" y="772408"/>
            <a:ext cx="21941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</a:t>
            </a:r>
          </a:p>
        </p:txBody>
      </p:sp>
      <p:sp>
        <p:nvSpPr>
          <p:cNvPr id="30" name="llc_spm_mapping-028: 0x0F"/>
          <p:cNvSpPr txBox="1"/>
          <p:nvPr/>
        </p:nvSpPr>
        <p:spPr>
          <a:xfrm>
            <a:off x="386188" y="1259258"/>
            <a:ext cx="410623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0x0F</a:t>
            </a:r>
          </a:p>
        </p:txBody>
      </p:sp>
      <p:sp>
        <p:nvSpPr>
          <p:cNvPr id="31" name="llc_spm_mapping-029"/>
          <p:cNvSpPr/>
          <p:nvPr/>
        </p:nvSpPr>
        <p:spPr>
          <a:xfrm>
            <a:off x="1528800" y="1178450"/>
            <a:ext cx="536900" cy="3276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llc_spm_mapping-030: S"/>
          <p:cNvSpPr txBox="1"/>
          <p:nvPr/>
        </p:nvSpPr>
        <p:spPr>
          <a:xfrm>
            <a:off x="1691064" y="1245608"/>
            <a:ext cx="21237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</a:t>
            </a:r>
          </a:p>
        </p:txBody>
      </p:sp>
      <p:sp>
        <p:nvSpPr>
          <p:cNvPr id="33" name="llc_spm_mapping-031"/>
          <p:cNvSpPr/>
          <p:nvPr/>
        </p:nvSpPr>
        <p:spPr>
          <a:xfrm>
            <a:off x="2111200" y="1178450"/>
            <a:ext cx="536900" cy="3276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llc_spm_mapping-032: S"/>
          <p:cNvSpPr txBox="1"/>
          <p:nvPr/>
        </p:nvSpPr>
        <p:spPr>
          <a:xfrm>
            <a:off x="2273464" y="1245608"/>
            <a:ext cx="21237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</a:t>
            </a:r>
          </a:p>
        </p:txBody>
      </p:sp>
      <p:sp>
        <p:nvSpPr>
          <p:cNvPr id="35" name="llc_spm_mapping-033"/>
          <p:cNvSpPr/>
          <p:nvPr/>
        </p:nvSpPr>
        <p:spPr>
          <a:xfrm>
            <a:off x="2693600" y="1178450"/>
            <a:ext cx="536900" cy="3276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llc_spm_mapping-034: S"/>
          <p:cNvSpPr txBox="1"/>
          <p:nvPr/>
        </p:nvSpPr>
        <p:spPr>
          <a:xfrm>
            <a:off x="2855864" y="1245608"/>
            <a:ext cx="21237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</a:t>
            </a:r>
          </a:p>
        </p:txBody>
      </p:sp>
      <p:sp>
        <p:nvSpPr>
          <p:cNvPr id="37" name="llc_spm_mapping-035"/>
          <p:cNvSpPr/>
          <p:nvPr/>
        </p:nvSpPr>
        <p:spPr>
          <a:xfrm>
            <a:off x="3276000" y="1178450"/>
            <a:ext cx="536900" cy="3276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llc_spm_mapping-036: S"/>
          <p:cNvSpPr txBox="1"/>
          <p:nvPr/>
        </p:nvSpPr>
        <p:spPr>
          <a:xfrm>
            <a:off x="3438264" y="1245608"/>
            <a:ext cx="21237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</a:t>
            </a:r>
          </a:p>
        </p:txBody>
      </p:sp>
      <p:sp>
        <p:nvSpPr>
          <p:cNvPr id="39" name="llc_spm_mapping-037"/>
          <p:cNvSpPr/>
          <p:nvPr/>
        </p:nvSpPr>
        <p:spPr>
          <a:xfrm>
            <a:off x="3858400" y="1178450"/>
            <a:ext cx="5369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llc_spm_mapping-038: C"/>
          <p:cNvSpPr txBox="1"/>
          <p:nvPr/>
        </p:nvSpPr>
        <p:spPr>
          <a:xfrm>
            <a:off x="4017145" y="1245608"/>
            <a:ext cx="21941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</a:t>
            </a:r>
          </a:p>
        </p:txBody>
      </p:sp>
      <p:sp>
        <p:nvSpPr>
          <p:cNvPr id="41" name="llc_spm_mapping-039"/>
          <p:cNvSpPr/>
          <p:nvPr/>
        </p:nvSpPr>
        <p:spPr>
          <a:xfrm>
            <a:off x="4440800" y="1178450"/>
            <a:ext cx="5369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llc_spm_mapping-040: C"/>
          <p:cNvSpPr txBox="1"/>
          <p:nvPr/>
        </p:nvSpPr>
        <p:spPr>
          <a:xfrm>
            <a:off x="4599545" y="1245608"/>
            <a:ext cx="21941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</a:t>
            </a:r>
          </a:p>
        </p:txBody>
      </p:sp>
      <p:sp>
        <p:nvSpPr>
          <p:cNvPr id="43" name="llc_spm_mapping-041"/>
          <p:cNvSpPr/>
          <p:nvPr/>
        </p:nvSpPr>
        <p:spPr>
          <a:xfrm>
            <a:off x="5023200" y="1178450"/>
            <a:ext cx="5369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llc_spm_mapping-042: C"/>
          <p:cNvSpPr txBox="1"/>
          <p:nvPr/>
        </p:nvSpPr>
        <p:spPr>
          <a:xfrm>
            <a:off x="5181945" y="1245608"/>
            <a:ext cx="21941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</a:t>
            </a:r>
          </a:p>
        </p:txBody>
      </p:sp>
      <p:sp>
        <p:nvSpPr>
          <p:cNvPr id="45" name="llc_spm_mapping-043"/>
          <p:cNvSpPr/>
          <p:nvPr/>
        </p:nvSpPr>
        <p:spPr>
          <a:xfrm>
            <a:off x="5605600" y="1178450"/>
            <a:ext cx="5369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llc_spm_mapping-044: C"/>
          <p:cNvSpPr txBox="1"/>
          <p:nvPr/>
        </p:nvSpPr>
        <p:spPr>
          <a:xfrm>
            <a:off x="5764345" y="1245608"/>
            <a:ext cx="21941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</a:t>
            </a:r>
          </a:p>
        </p:txBody>
      </p:sp>
      <p:sp>
        <p:nvSpPr>
          <p:cNvPr id="47" name="llc_spm_mapping-045: 0xFF"/>
          <p:cNvSpPr txBox="1"/>
          <p:nvPr/>
        </p:nvSpPr>
        <p:spPr>
          <a:xfrm>
            <a:off x="382705" y="1732458"/>
            <a:ext cx="41759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0xFF</a:t>
            </a:r>
          </a:p>
        </p:txBody>
      </p:sp>
      <p:sp>
        <p:nvSpPr>
          <p:cNvPr id="48" name="llc_spm_mapping-046"/>
          <p:cNvSpPr/>
          <p:nvPr/>
        </p:nvSpPr>
        <p:spPr>
          <a:xfrm>
            <a:off x="1528800" y="1651650"/>
            <a:ext cx="536900" cy="3276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llc_spm_mapping-047: S"/>
          <p:cNvSpPr txBox="1"/>
          <p:nvPr/>
        </p:nvSpPr>
        <p:spPr>
          <a:xfrm>
            <a:off x="1691064" y="1718808"/>
            <a:ext cx="21237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</a:t>
            </a:r>
          </a:p>
        </p:txBody>
      </p:sp>
      <p:sp>
        <p:nvSpPr>
          <p:cNvPr id="50" name="llc_spm_mapping-048"/>
          <p:cNvSpPr/>
          <p:nvPr/>
        </p:nvSpPr>
        <p:spPr>
          <a:xfrm>
            <a:off x="2111200" y="1651650"/>
            <a:ext cx="536900" cy="3276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llc_spm_mapping-049: S"/>
          <p:cNvSpPr txBox="1"/>
          <p:nvPr/>
        </p:nvSpPr>
        <p:spPr>
          <a:xfrm>
            <a:off x="2273464" y="1718808"/>
            <a:ext cx="21237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</a:t>
            </a:r>
          </a:p>
        </p:txBody>
      </p:sp>
      <p:sp>
        <p:nvSpPr>
          <p:cNvPr id="52" name="llc_spm_mapping-050"/>
          <p:cNvSpPr/>
          <p:nvPr/>
        </p:nvSpPr>
        <p:spPr>
          <a:xfrm>
            <a:off x="2693600" y="1651650"/>
            <a:ext cx="536900" cy="3276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llc_spm_mapping-051: S"/>
          <p:cNvSpPr txBox="1"/>
          <p:nvPr/>
        </p:nvSpPr>
        <p:spPr>
          <a:xfrm>
            <a:off x="2855864" y="1718808"/>
            <a:ext cx="21237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</a:t>
            </a:r>
          </a:p>
        </p:txBody>
      </p:sp>
      <p:sp>
        <p:nvSpPr>
          <p:cNvPr id="54" name="llc_spm_mapping-052"/>
          <p:cNvSpPr/>
          <p:nvPr/>
        </p:nvSpPr>
        <p:spPr>
          <a:xfrm>
            <a:off x="3276000" y="1651650"/>
            <a:ext cx="536900" cy="3276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llc_spm_mapping-053: S"/>
          <p:cNvSpPr txBox="1"/>
          <p:nvPr/>
        </p:nvSpPr>
        <p:spPr>
          <a:xfrm>
            <a:off x="3438264" y="1718808"/>
            <a:ext cx="21237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</a:t>
            </a:r>
          </a:p>
        </p:txBody>
      </p:sp>
      <p:sp>
        <p:nvSpPr>
          <p:cNvPr id="56" name="llc_spm_mapping-054"/>
          <p:cNvSpPr/>
          <p:nvPr/>
        </p:nvSpPr>
        <p:spPr>
          <a:xfrm>
            <a:off x="3858400" y="1651650"/>
            <a:ext cx="536900" cy="3276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llc_spm_mapping-055: S"/>
          <p:cNvSpPr txBox="1"/>
          <p:nvPr/>
        </p:nvSpPr>
        <p:spPr>
          <a:xfrm>
            <a:off x="4020664" y="1718808"/>
            <a:ext cx="21237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</a:t>
            </a:r>
          </a:p>
        </p:txBody>
      </p:sp>
      <p:sp>
        <p:nvSpPr>
          <p:cNvPr id="58" name="llc_spm_mapping-056"/>
          <p:cNvSpPr/>
          <p:nvPr/>
        </p:nvSpPr>
        <p:spPr>
          <a:xfrm>
            <a:off x="4440800" y="1651650"/>
            <a:ext cx="536900" cy="3276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llc_spm_mapping-057: S"/>
          <p:cNvSpPr txBox="1"/>
          <p:nvPr/>
        </p:nvSpPr>
        <p:spPr>
          <a:xfrm>
            <a:off x="4603064" y="1718808"/>
            <a:ext cx="21237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</a:t>
            </a:r>
          </a:p>
        </p:txBody>
      </p:sp>
      <p:sp>
        <p:nvSpPr>
          <p:cNvPr id="60" name="llc_spm_mapping-058"/>
          <p:cNvSpPr/>
          <p:nvPr/>
        </p:nvSpPr>
        <p:spPr>
          <a:xfrm>
            <a:off x="5023200" y="1651650"/>
            <a:ext cx="536900" cy="3276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llc_spm_mapping-059: S"/>
          <p:cNvSpPr txBox="1"/>
          <p:nvPr/>
        </p:nvSpPr>
        <p:spPr>
          <a:xfrm>
            <a:off x="5185464" y="1718808"/>
            <a:ext cx="21237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</a:t>
            </a:r>
          </a:p>
        </p:txBody>
      </p:sp>
      <p:sp>
        <p:nvSpPr>
          <p:cNvPr id="62" name="llc_spm_mapping-060"/>
          <p:cNvSpPr/>
          <p:nvPr/>
        </p:nvSpPr>
        <p:spPr>
          <a:xfrm>
            <a:off x="5605600" y="1651650"/>
            <a:ext cx="536900" cy="3276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llc_spm_mapping-061: S"/>
          <p:cNvSpPr txBox="1"/>
          <p:nvPr/>
        </p:nvSpPr>
        <p:spPr>
          <a:xfrm>
            <a:off x="5767864" y="1718808"/>
            <a:ext cx="21237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</a:t>
            </a:r>
          </a:p>
        </p:txBody>
      </p:sp>
      <p:sp>
        <p:nvSpPr>
          <p:cNvPr id="64" name="llc_spm_mapping-062: C: Cache     S: SPM     16 KiB / way"/>
          <p:cNvSpPr txBox="1"/>
          <p:nvPr/>
        </p:nvSpPr>
        <p:spPr>
          <a:xfrm>
            <a:off x="2913664" y="2206386"/>
            <a:ext cx="1998673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C: Cache     S: SPM     16 KiB / way</a:t>
            </a:r>
          </a:p>
        </p:txBody>
      </p:sp>
      <p:sp>
        <p:nvSpPr>
          <p:cNvPr id="65" name="llc_spm_mapping-063"/>
          <p:cNvSpPr/>
          <p:nvPr/>
        </p:nvSpPr>
        <p:spPr>
          <a:xfrm>
            <a:off x="236600" y="2725450"/>
            <a:ext cx="1801800" cy="5005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llc_spm_mapping-064: 0x10008AAB"/>
          <p:cNvSpPr txBox="1"/>
          <p:nvPr/>
        </p:nvSpPr>
        <p:spPr>
          <a:xfrm>
            <a:off x="701937" y="2801708"/>
            <a:ext cx="871126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0x10008AAB</a:t>
            </a:r>
          </a:p>
        </p:txBody>
      </p:sp>
      <p:sp>
        <p:nvSpPr>
          <p:cNvPr id="67" name="llc_spm_mapping-065: SPM address"/>
          <p:cNvSpPr txBox="1"/>
          <p:nvPr/>
        </p:nvSpPr>
        <p:spPr>
          <a:xfrm>
            <a:off x="691451" y="2956408"/>
            <a:ext cx="892099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SPM address</a:t>
            </a:r>
          </a:p>
        </p:txBody>
      </p:sp>
      <p:sp>
        <p:nvSpPr>
          <p:cNvPr id="68" name="llc_spm_mapping-066"/>
          <p:cNvSpPr/>
          <p:nvPr/>
        </p:nvSpPr>
        <p:spPr>
          <a:xfrm>
            <a:off x="2038400" y="2971150"/>
            <a:ext cx="473200" cy="1"/>
          </a:xfrm>
          <a:custGeom>
            <a:avLst/>
            <a:gdLst/>
            <a:ahLst/>
            <a:cxnLst/>
            <a:rect l="0" t="0" r="r" b="b"/>
            <a:pathLst>
              <a:path w="473200" h="1">
                <a:moveTo>
                  <a:pt x="0" y="0"/>
                </a:moveTo>
                <a:lnTo>
                  <a:pt x="4732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llc_spm_mapping-067"/>
          <p:cNvSpPr/>
          <p:nvPr/>
        </p:nvSpPr>
        <p:spPr>
          <a:xfrm>
            <a:off x="2457000" y="294567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llc_spm_mapping-068"/>
          <p:cNvSpPr/>
          <p:nvPr/>
        </p:nvSpPr>
        <p:spPr>
          <a:xfrm>
            <a:off x="2511600" y="2816450"/>
            <a:ext cx="1037400" cy="3185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llc_spm_mapping-069: Way 2"/>
          <p:cNvSpPr txBox="1"/>
          <p:nvPr/>
        </p:nvSpPr>
        <p:spPr>
          <a:xfrm>
            <a:off x="2788439" y="2879058"/>
            <a:ext cx="48372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Way 2</a:t>
            </a:r>
          </a:p>
        </p:txBody>
      </p:sp>
      <p:sp>
        <p:nvSpPr>
          <p:cNvPr id="72" name="llc_spm_mapping-070"/>
          <p:cNvSpPr/>
          <p:nvPr/>
        </p:nvSpPr>
        <p:spPr>
          <a:xfrm>
            <a:off x="3549000" y="2816450"/>
            <a:ext cx="928200" cy="3185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llc_spm_mapping-071: Set 42"/>
          <p:cNvSpPr txBox="1"/>
          <p:nvPr/>
        </p:nvSpPr>
        <p:spPr>
          <a:xfrm>
            <a:off x="3765246" y="2879058"/>
            <a:ext cx="495708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Set 42</a:t>
            </a:r>
          </a:p>
        </p:txBody>
      </p:sp>
      <p:sp>
        <p:nvSpPr>
          <p:cNvPr id="74" name="llc_spm_mapping-072"/>
          <p:cNvSpPr/>
          <p:nvPr/>
        </p:nvSpPr>
        <p:spPr>
          <a:xfrm>
            <a:off x="4477200" y="2816450"/>
            <a:ext cx="928200" cy="3185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llc_spm_mapping-073: Block 5"/>
          <p:cNvSpPr txBox="1"/>
          <p:nvPr/>
        </p:nvSpPr>
        <p:spPr>
          <a:xfrm>
            <a:off x="4668712" y="2879058"/>
            <a:ext cx="545175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Block 5</a:t>
            </a:r>
          </a:p>
        </p:txBody>
      </p:sp>
      <p:sp>
        <p:nvSpPr>
          <p:cNvPr id="76" name="llc_spm_mapping-074"/>
          <p:cNvSpPr/>
          <p:nvPr/>
        </p:nvSpPr>
        <p:spPr>
          <a:xfrm>
            <a:off x="5405400" y="2816450"/>
            <a:ext cx="928200" cy="3185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llc_spm_mapping-075: Byte 3"/>
          <p:cNvSpPr txBox="1"/>
          <p:nvPr/>
        </p:nvSpPr>
        <p:spPr>
          <a:xfrm>
            <a:off x="5625222" y="2879058"/>
            <a:ext cx="488556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Byte 3</a:t>
            </a:r>
          </a:p>
        </p:txBody>
      </p:sp>
      <p:sp>
        <p:nvSpPr>
          <p:cNvPr id="78" name="llc_spm_mapping-076: Way 2: [0x10008000, 0x1000C000)"/>
          <p:cNvSpPr txBox="1"/>
          <p:nvPr/>
        </p:nvSpPr>
        <p:spPr>
          <a:xfrm>
            <a:off x="3389551" y="3298386"/>
            <a:ext cx="1975098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Way 2: [0x10008000, 0x1000C000)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lc_mode_transition-000"/>
          <p:cNvSpPr/>
          <p:nvPr/>
        </p:nvSpPr>
        <p:spPr>
          <a:xfrm>
            <a:off x="0" y="341250"/>
            <a:ext cx="6552000" cy="318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llc_mode_transition-001: Software"/>
          <p:cNvSpPr txBox="1"/>
          <p:nvPr/>
        </p:nvSpPr>
        <p:spPr>
          <a:xfrm>
            <a:off x="1159127" y="467558"/>
            <a:ext cx="630147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Software</a:t>
            </a:r>
          </a:p>
        </p:txBody>
      </p:sp>
      <p:sp>
        <p:nvSpPr>
          <p:cNvPr id="4" name="llc_mode_transition-002: LLC hardware"/>
          <p:cNvSpPr txBox="1"/>
          <p:nvPr/>
        </p:nvSpPr>
        <p:spPr>
          <a:xfrm>
            <a:off x="4504784" y="467558"/>
            <a:ext cx="92763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LLC hardware</a:t>
            </a:r>
          </a:p>
        </p:txBody>
      </p:sp>
      <p:sp>
        <p:nvSpPr>
          <p:cNvPr id="5" name="llc_mode_transition-003"/>
          <p:cNvSpPr/>
          <p:nvPr/>
        </p:nvSpPr>
        <p:spPr>
          <a:xfrm>
            <a:off x="273000" y="850850"/>
            <a:ext cx="2366000" cy="4914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lc_mode_transition-004: Quiesce / protect live data"/>
          <p:cNvSpPr txBox="1"/>
          <p:nvPr/>
        </p:nvSpPr>
        <p:spPr>
          <a:xfrm>
            <a:off x="712978" y="932386"/>
            <a:ext cx="1486044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Quiesce / protect live data</a:t>
            </a:r>
          </a:p>
        </p:txBody>
      </p:sp>
      <p:sp>
        <p:nvSpPr>
          <p:cNvPr id="7" name="llc_mode_transition-005: Handle caches and in-flight work"/>
          <p:cNvSpPr txBox="1"/>
          <p:nvPr/>
        </p:nvSpPr>
        <p:spPr>
          <a:xfrm>
            <a:off x="542019" y="1087086"/>
            <a:ext cx="182796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Handle caches and in-flight work</a:t>
            </a:r>
          </a:p>
        </p:txBody>
      </p:sp>
      <p:sp>
        <p:nvSpPr>
          <p:cNvPr id="8" name="llc_mode_transition-006"/>
          <p:cNvSpPr/>
          <p:nvPr/>
        </p:nvSpPr>
        <p:spPr>
          <a:xfrm>
            <a:off x="273000" y="1797250"/>
            <a:ext cx="2366000" cy="4914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llc_mode_transition-007: Write CFG_SPM"/>
          <p:cNvSpPr txBox="1"/>
          <p:nvPr/>
        </p:nvSpPr>
        <p:spPr>
          <a:xfrm>
            <a:off x="919221" y="1868958"/>
            <a:ext cx="1073558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Write CFG_SPM</a:t>
            </a:r>
          </a:p>
        </p:txBody>
      </p:sp>
      <p:sp>
        <p:nvSpPr>
          <p:cNvPr id="10" name="llc_mode_transition-008: Submit COMMIT"/>
          <p:cNvSpPr txBox="1"/>
          <p:nvPr/>
        </p:nvSpPr>
        <p:spPr>
          <a:xfrm>
            <a:off x="918069" y="2023658"/>
            <a:ext cx="107586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Submit COMMIT</a:t>
            </a:r>
          </a:p>
        </p:txBody>
      </p:sp>
      <p:sp>
        <p:nvSpPr>
          <p:cNvPr id="11" name="llc_mode_transition-009"/>
          <p:cNvSpPr/>
          <p:nvPr/>
        </p:nvSpPr>
        <p:spPr>
          <a:xfrm>
            <a:off x="1456000" y="1342250"/>
            <a:ext cx="1" cy="455000"/>
          </a:xfrm>
          <a:custGeom>
            <a:avLst/>
            <a:gdLst/>
            <a:ahLst/>
            <a:cxnLst/>
            <a:rect l="0" t="0" r="r" b="b"/>
            <a:pathLst>
              <a:path w="1" h="455000">
                <a:moveTo>
                  <a:pt x="0" y="0"/>
                </a:moveTo>
                <a:lnTo>
                  <a:pt x="0" y="4550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llc_mode_transition-010"/>
          <p:cNvSpPr/>
          <p:nvPr/>
        </p:nvSpPr>
        <p:spPr>
          <a:xfrm>
            <a:off x="1430520" y="174265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llc_mode_transition-011"/>
          <p:cNvSpPr/>
          <p:nvPr/>
        </p:nvSpPr>
        <p:spPr>
          <a:xfrm>
            <a:off x="3822000" y="1797250"/>
            <a:ext cx="2457000" cy="4914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llc_mode_transition-012: Accept request"/>
          <p:cNvSpPr txBox="1"/>
          <p:nvPr/>
        </p:nvSpPr>
        <p:spPr>
          <a:xfrm>
            <a:off x="4561908" y="1868958"/>
            <a:ext cx="977184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Accept request</a:t>
            </a:r>
          </a:p>
        </p:txBody>
      </p:sp>
      <p:sp>
        <p:nvSpPr>
          <p:cNvPr id="15" name="llc_mode_transition-013: Clear COMMIT request"/>
          <p:cNvSpPr txBox="1"/>
          <p:nvPr/>
        </p:nvSpPr>
        <p:spPr>
          <a:xfrm>
            <a:off x="4329588" y="2023658"/>
            <a:ext cx="1441824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Clear COMMIT request</a:t>
            </a:r>
          </a:p>
        </p:txBody>
      </p:sp>
      <p:sp>
        <p:nvSpPr>
          <p:cNvPr id="16" name="llc_mode_transition-014"/>
          <p:cNvSpPr/>
          <p:nvPr/>
        </p:nvSpPr>
        <p:spPr>
          <a:xfrm>
            <a:off x="2639000" y="2042950"/>
            <a:ext cx="1183000" cy="1"/>
          </a:xfrm>
          <a:custGeom>
            <a:avLst/>
            <a:gdLst/>
            <a:ahLst/>
            <a:cxnLst/>
            <a:rect l="0" t="0" r="r" b="b"/>
            <a:pathLst>
              <a:path w="1183000" h="1">
                <a:moveTo>
                  <a:pt x="0" y="0"/>
                </a:moveTo>
                <a:lnTo>
                  <a:pt x="11830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lc_mode_transition-015"/>
          <p:cNvSpPr/>
          <p:nvPr/>
        </p:nvSpPr>
        <p:spPr>
          <a:xfrm>
            <a:off x="3767400" y="201747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llc_mode_transition-016"/>
          <p:cNvSpPr/>
          <p:nvPr/>
        </p:nvSpPr>
        <p:spPr>
          <a:xfrm>
            <a:off x="3822000" y="2807350"/>
            <a:ext cx="2457000" cy="4914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llc_mode_transition-017: Isolate / wait / flush"/>
          <p:cNvSpPr txBox="1"/>
          <p:nvPr/>
        </p:nvSpPr>
        <p:spPr>
          <a:xfrm>
            <a:off x="4445122" y="2879058"/>
            <a:ext cx="1210755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Isolate / wait / flush</a:t>
            </a:r>
          </a:p>
        </p:txBody>
      </p:sp>
      <p:sp>
        <p:nvSpPr>
          <p:cNvPr id="20" name="llc_mode_transition-018: Reach completed state"/>
          <p:cNvSpPr txBox="1"/>
          <p:nvPr/>
        </p:nvSpPr>
        <p:spPr>
          <a:xfrm>
            <a:off x="4335290" y="3033758"/>
            <a:ext cx="143042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Reach completed state</a:t>
            </a:r>
          </a:p>
        </p:txBody>
      </p:sp>
      <p:sp>
        <p:nvSpPr>
          <p:cNvPr id="21" name="llc_mode_transition-019"/>
          <p:cNvSpPr/>
          <p:nvPr/>
        </p:nvSpPr>
        <p:spPr>
          <a:xfrm>
            <a:off x="5050500" y="2288650"/>
            <a:ext cx="1" cy="518700"/>
          </a:xfrm>
          <a:custGeom>
            <a:avLst/>
            <a:gdLst/>
            <a:ahLst/>
            <a:cxnLst/>
            <a:rect l="0" t="0" r="r" b="b"/>
            <a:pathLst>
              <a:path w="1" h="518700">
                <a:moveTo>
                  <a:pt x="0" y="0"/>
                </a:moveTo>
                <a:lnTo>
                  <a:pt x="0" y="5187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llc_mode_transition-020"/>
          <p:cNvSpPr/>
          <p:nvPr/>
        </p:nvSpPr>
        <p:spPr>
          <a:xfrm>
            <a:off x="5025020" y="275275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llc_mode_transition-021"/>
          <p:cNvSpPr/>
          <p:nvPr/>
        </p:nvSpPr>
        <p:spPr>
          <a:xfrm>
            <a:off x="273000" y="2807350"/>
            <a:ext cx="2366000" cy="4914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llc_mode_transition-022: Confirm completion"/>
          <p:cNvSpPr txBox="1"/>
          <p:nvPr/>
        </p:nvSpPr>
        <p:spPr>
          <a:xfrm>
            <a:off x="843570" y="2879058"/>
            <a:ext cx="122486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Confirm completion</a:t>
            </a:r>
          </a:p>
        </p:txBody>
      </p:sp>
      <p:sp>
        <p:nvSpPr>
          <p:cNvPr id="25" name="llc_mode_transition-023: Resume accesses"/>
          <p:cNvSpPr txBox="1"/>
          <p:nvPr/>
        </p:nvSpPr>
        <p:spPr>
          <a:xfrm>
            <a:off x="871880" y="3033758"/>
            <a:ext cx="116824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Resume accesses</a:t>
            </a:r>
          </a:p>
        </p:txBody>
      </p:sp>
      <p:sp>
        <p:nvSpPr>
          <p:cNvPr id="26" name="llc_mode_transition-024"/>
          <p:cNvSpPr/>
          <p:nvPr/>
        </p:nvSpPr>
        <p:spPr>
          <a:xfrm>
            <a:off x="2639000" y="3053050"/>
            <a:ext cx="1183000" cy="1"/>
          </a:xfrm>
          <a:custGeom>
            <a:avLst/>
            <a:gdLst/>
            <a:ahLst/>
            <a:cxnLst/>
            <a:rect l="0" t="0" r="r" b="b"/>
            <a:pathLst>
              <a:path w="1183000" h="1">
                <a:moveTo>
                  <a:pt x="1183000" y="0"/>
                </a:moveTo>
                <a:lnTo>
                  <a:pt x="0" y="0"/>
                </a:lnTo>
              </a:path>
            </a:pathLst>
          </a:custGeom>
          <a:noFill/>
          <a:ln w="11830" cap="flat">
            <a:solidFill>
              <a:srgbClr val="1765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llc_mode_transition-025"/>
          <p:cNvSpPr/>
          <p:nvPr/>
        </p:nvSpPr>
        <p:spPr>
          <a:xfrm>
            <a:off x="2639000" y="302757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0" y="25480"/>
                </a:moveTo>
                <a:lnTo>
                  <a:pt x="54600" y="0"/>
                </a:lnTo>
                <a:lnTo>
                  <a:pt x="54600" y="50960"/>
                </a:lnTo>
                <a:close/>
              </a:path>
            </a:pathLst>
          </a:custGeom>
          <a:solidFill>
            <a:srgbClr val="1765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