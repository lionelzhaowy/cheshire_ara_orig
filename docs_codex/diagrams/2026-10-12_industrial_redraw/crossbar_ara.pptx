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Cheshire + CVA6 + Ara · AXI Crossbar"/>
          <p:cNvSpPr txBox="1"/>
          <p:nvPr/>
        </p:nvSpPr>
        <p:spPr>
          <a:xfrm>
            <a:off x="470263" y="193957"/>
            <a:ext cx="7827444" cy="718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3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+ CVA6 + Ara · AXI Crossbar</a:t>
            </a:r>
          </a:p>
        </p:txBody>
      </p:sp>
      <p:sp>
        <p:nvSpPr>
          <p:cNvPr id="3" name="o3: Ara 仿真配置：2 lanes / VLEN 2048 · 64-bit AX"/>
          <p:cNvSpPr txBox="1"/>
          <p:nvPr/>
        </p:nvSpPr>
        <p:spPr>
          <a:xfrm>
            <a:off x="501614" y="899561"/>
            <a:ext cx="8270993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Ara 仿真配置：2 lanes / VLEN 2048 · 64-bit AXI · RT 关闭 · 7 × 5 全连接</a:t>
            </a:r>
          </a:p>
        </p:txBody>
      </p:sp>
      <p:sp>
        <p:nvSpPr>
          <p:cNvPr id="4" name="sources"/>
          <p:cNvSpPr/>
          <p:nvPr/>
        </p:nvSpPr>
        <p:spPr>
          <a:xfrm>
            <a:off x="522514" y="1933303"/>
            <a:ext cx="5434149" cy="13062857"/>
          </a:xfrm>
          <a:prstGeom prst="rect">
            <a:avLst/>
          </a:prstGeom>
          <a:solidFill>
            <a:srgbClr val="F1D7D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AXI master / 发起端"/>
          <p:cNvSpPr txBox="1"/>
          <p:nvPr/>
        </p:nvSpPr>
        <p:spPr>
          <a:xfrm>
            <a:off x="1698229" y="2044076"/>
            <a:ext cx="3082720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master / 发起端</a:t>
            </a:r>
          </a:p>
        </p:txBody>
      </p:sp>
      <p:sp>
        <p:nvSpPr>
          <p:cNvPr id="6" name="fabric"/>
          <p:cNvSpPr/>
          <p:nvPr/>
        </p:nvSpPr>
        <p:spPr>
          <a:xfrm>
            <a:off x="6426926" y="1933303"/>
            <a:ext cx="13794377" cy="13062857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每输入地址译码 → 每目标独立仲裁"/>
          <p:cNvSpPr txBox="1"/>
          <p:nvPr/>
        </p:nvSpPr>
        <p:spPr>
          <a:xfrm>
            <a:off x="10722058" y="2044076"/>
            <a:ext cx="5204112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每输入地址译码 → 每目标独立仲裁</a:t>
            </a:r>
          </a:p>
        </p:txBody>
      </p:sp>
      <p:sp>
        <p:nvSpPr>
          <p:cNvPr id="8" name="targets"/>
          <p:cNvSpPr/>
          <p:nvPr/>
        </p:nvSpPr>
        <p:spPr>
          <a:xfrm>
            <a:off x="20691566" y="1933303"/>
            <a:ext cx="8046720" cy="13062857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AXI slave / 目标与下游"/>
          <p:cNvSpPr txBox="1"/>
          <p:nvPr/>
        </p:nvSpPr>
        <p:spPr>
          <a:xfrm>
            <a:off x="22982203" y="2044076"/>
            <a:ext cx="3465445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slave / 目标与下游</a:t>
            </a:r>
          </a:p>
        </p:txBody>
      </p:sp>
      <p:sp>
        <p:nvSpPr>
          <p:cNvPr id="10" name="source0"/>
          <p:cNvSpPr/>
          <p:nvPr/>
        </p:nvSpPr>
        <p:spPr>
          <a:xfrm>
            <a:off x="836023" y="2926080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11: S0 · CVA6 core 0"/>
          <p:cNvSpPr txBox="1"/>
          <p:nvPr/>
        </p:nvSpPr>
        <p:spPr>
          <a:xfrm>
            <a:off x="1947860" y="3158912"/>
            <a:ext cx="247895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12" name="o12: cheshire_cva6_wrap"/>
          <p:cNvSpPr txBox="1"/>
          <p:nvPr/>
        </p:nvSpPr>
        <p:spPr>
          <a:xfrm>
            <a:off x="1954857" y="3559367"/>
            <a:ext cx="246496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sp>
        <p:nvSpPr>
          <p:cNvPr id="13" name="demux0"/>
          <p:cNvSpPr/>
          <p:nvPr/>
        </p:nvSpPr>
        <p:spPr>
          <a:xfrm>
            <a:off x="6844937" y="3103735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14: DEMUX S0"/>
          <p:cNvSpPr txBox="1"/>
          <p:nvPr/>
        </p:nvSpPr>
        <p:spPr>
          <a:xfrm>
            <a:off x="7315959" y="3166646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15" name="o15: AR / AW 译码"/>
          <p:cNvSpPr txBox="1"/>
          <p:nvPr/>
        </p:nvSpPr>
        <p:spPr>
          <a:xfrm>
            <a:off x="7286658" y="3567101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16" name="input0"/>
          <p:cNvCxnSpPr/>
          <p:nvPr/>
        </p:nvCxnSpPr>
        <p:spPr>
          <a:xfrm>
            <a:off x="5538651" y="3553097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7" name="source1"/>
          <p:cNvSpPr/>
          <p:nvPr/>
        </p:nvSpPr>
        <p:spPr>
          <a:xfrm>
            <a:off x="836023" y="4545874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S1 · Debug / SBA"/>
          <p:cNvSpPr txBox="1"/>
          <p:nvPr/>
        </p:nvSpPr>
        <p:spPr>
          <a:xfrm>
            <a:off x="1907006" y="4778707"/>
            <a:ext cx="256066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sp>
        <p:nvSpPr>
          <p:cNvPr id="19" name="o19: 调试总线发起端"/>
          <p:cNvSpPr txBox="1"/>
          <p:nvPr/>
        </p:nvSpPr>
        <p:spPr>
          <a:xfrm>
            <a:off x="2184110" y="5179162"/>
            <a:ext cx="200645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调试总线发起端</a:t>
            </a:r>
          </a:p>
        </p:txBody>
      </p:sp>
      <p:sp>
        <p:nvSpPr>
          <p:cNvPr id="20" name="demux1"/>
          <p:cNvSpPr/>
          <p:nvPr/>
        </p:nvSpPr>
        <p:spPr>
          <a:xfrm>
            <a:off x="6844937" y="4723529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21: DEMUX S1"/>
          <p:cNvSpPr txBox="1"/>
          <p:nvPr/>
        </p:nvSpPr>
        <p:spPr>
          <a:xfrm>
            <a:off x="7315959" y="4786440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22" name="o22: AR / AW 译码"/>
          <p:cNvSpPr txBox="1"/>
          <p:nvPr/>
        </p:nvSpPr>
        <p:spPr>
          <a:xfrm>
            <a:off x="7286658" y="5186895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23" name="input1"/>
          <p:cNvCxnSpPr/>
          <p:nvPr/>
        </p:nvCxnSpPr>
        <p:spPr>
          <a:xfrm>
            <a:off x="5538651" y="5172891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source2"/>
          <p:cNvSpPr/>
          <p:nvPr/>
        </p:nvSpPr>
        <p:spPr>
          <a:xfrm>
            <a:off x="836023" y="6165669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S2 · Ara 访存"/>
          <p:cNvSpPr txBox="1"/>
          <p:nvPr/>
        </p:nvSpPr>
        <p:spPr>
          <a:xfrm>
            <a:off x="2196046" y="6398501"/>
            <a:ext cx="198258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26" name="o26: filter → 64→64 位宽适配"/>
          <p:cNvSpPr txBox="1"/>
          <p:nvPr/>
        </p:nvSpPr>
        <p:spPr>
          <a:xfrm>
            <a:off x="1650655" y="6798956"/>
            <a:ext cx="307336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filter → 64→64 位宽适配</a:t>
            </a:r>
          </a:p>
        </p:txBody>
      </p:sp>
      <p:sp>
        <p:nvSpPr>
          <p:cNvPr id="27" name="demux2"/>
          <p:cNvSpPr/>
          <p:nvPr/>
        </p:nvSpPr>
        <p:spPr>
          <a:xfrm>
            <a:off x="6844937" y="6343323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28: DEMUX S2"/>
          <p:cNvSpPr txBox="1"/>
          <p:nvPr/>
        </p:nvSpPr>
        <p:spPr>
          <a:xfrm>
            <a:off x="7315959" y="6406234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29" name="o29: AR / AW 译码"/>
          <p:cNvSpPr txBox="1"/>
          <p:nvPr/>
        </p:nvSpPr>
        <p:spPr>
          <a:xfrm>
            <a:off x="7286658" y="6806689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30" name="input2"/>
          <p:cNvCxnSpPr/>
          <p:nvPr/>
        </p:nvCxnSpPr>
        <p:spPr>
          <a:xfrm>
            <a:off x="5538651" y="6792686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1" name="source3"/>
          <p:cNvSpPr/>
          <p:nvPr/>
        </p:nvSpPr>
        <p:spPr>
          <a:xfrm>
            <a:off x="836023" y="7785463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32: S3 · iDMA 数据"/>
          <p:cNvSpPr txBox="1"/>
          <p:nvPr/>
        </p:nvSpPr>
        <p:spPr>
          <a:xfrm>
            <a:off x="2070308" y="8018295"/>
            <a:ext cx="223405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sp>
        <p:nvSpPr>
          <p:cNvPr id="33" name="o33: 独立搬运主口"/>
          <p:cNvSpPr txBox="1"/>
          <p:nvPr/>
        </p:nvSpPr>
        <p:spPr>
          <a:xfrm>
            <a:off x="2309513" y="8418750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独立搬运主口</a:t>
            </a:r>
          </a:p>
        </p:txBody>
      </p:sp>
      <p:sp>
        <p:nvSpPr>
          <p:cNvPr id="34" name="demux3"/>
          <p:cNvSpPr/>
          <p:nvPr/>
        </p:nvSpPr>
        <p:spPr>
          <a:xfrm>
            <a:off x="6844937" y="7963118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35: DEMUX S3"/>
          <p:cNvSpPr txBox="1"/>
          <p:nvPr/>
        </p:nvSpPr>
        <p:spPr>
          <a:xfrm>
            <a:off x="7315959" y="8026028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36" name="o36: AR / AW 译码"/>
          <p:cNvSpPr txBox="1"/>
          <p:nvPr/>
        </p:nvSpPr>
        <p:spPr>
          <a:xfrm>
            <a:off x="7286658" y="8426483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37" name="input3"/>
          <p:cNvCxnSpPr/>
          <p:nvPr/>
        </p:nvCxnSpPr>
        <p:spPr>
          <a:xfrm>
            <a:off x="5538651" y="8412480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8" name="source4"/>
          <p:cNvSpPr/>
          <p:nvPr/>
        </p:nvSpPr>
        <p:spPr>
          <a:xfrm>
            <a:off x="836023" y="9405257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39: S4 · Serial Link RX"/>
          <p:cNvSpPr txBox="1"/>
          <p:nvPr/>
        </p:nvSpPr>
        <p:spPr>
          <a:xfrm>
            <a:off x="1857563" y="9638090"/>
            <a:ext cx="265954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sp>
        <p:nvSpPr>
          <p:cNvPr id="40" name="o40: 远端请求入口"/>
          <p:cNvSpPr txBox="1"/>
          <p:nvPr/>
        </p:nvSpPr>
        <p:spPr>
          <a:xfrm>
            <a:off x="2309513" y="10038544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41" name="demux4"/>
          <p:cNvSpPr/>
          <p:nvPr/>
        </p:nvSpPr>
        <p:spPr>
          <a:xfrm>
            <a:off x="6844937" y="9582912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42: DEMUX S4"/>
          <p:cNvSpPr txBox="1"/>
          <p:nvPr/>
        </p:nvSpPr>
        <p:spPr>
          <a:xfrm>
            <a:off x="7315959" y="9645823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43" name="o43: AR / AW 译码"/>
          <p:cNvSpPr txBox="1"/>
          <p:nvPr/>
        </p:nvSpPr>
        <p:spPr>
          <a:xfrm>
            <a:off x="7286658" y="10046278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44" name="input4"/>
          <p:cNvCxnSpPr/>
          <p:nvPr/>
        </p:nvCxnSpPr>
        <p:spPr>
          <a:xfrm>
            <a:off x="5538651" y="10032274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45" name="source5"/>
          <p:cNvSpPr/>
          <p:nvPr/>
        </p:nvSpPr>
        <p:spPr>
          <a:xfrm>
            <a:off x="836023" y="11025051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S5 · VGA 取帧"/>
          <p:cNvSpPr txBox="1"/>
          <p:nvPr/>
        </p:nvSpPr>
        <p:spPr>
          <a:xfrm>
            <a:off x="2143321" y="11257884"/>
            <a:ext cx="208803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sp>
        <p:nvSpPr>
          <p:cNvPr id="47" name="o47: 帧缓冲读取"/>
          <p:cNvSpPr txBox="1"/>
          <p:nvPr/>
        </p:nvSpPr>
        <p:spPr>
          <a:xfrm>
            <a:off x="2434917" y="11658339"/>
            <a:ext cx="150484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48" name="demux5"/>
          <p:cNvSpPr/>
          <p:nvPr/>
        </p:nvSpPr>
        <p:spPr>
          <a:xfrm>
            <a:off x="6844937" y="11202706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DEMUX S5"/>
          <p:cNvSpPr txBox="1"/>
          <p:nvPr/>
        </p:nvSpPr>
        <p:spPr>
          <a:xfrm>
            <a:off x="7315959" y="11265617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50" name="o50: AR / AW 译码"/>
          <p:cNvSpPr txBox="1"/>
          <p:nvPr/>
        </p:nvSpPr>
        <p:spPr>
          <a:xfrm>
            <a:off x="7286658" y="11666072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51" name="input5"/>
          <p:cNvCxnSpPr/>
          <p:nvPr/>
        </p:nvCxnSpPr>
        <p:spPr>
          <a:xfrm>
            <a:off x="5538651" y="11652069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52" name="source6"/>
          <p:cNvSpPr/>
          <p:nvPr/>
        </p:nvSpPr>
        <p:spPr>
          <a:xfrm>
            <a:off x="836023" y="12644846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S6 · USB DMA"/>
          <p:cNvSpPr txBox="1"/>
          <p:nvPr/>
        </p:nvSpPr>
        <p:spPr>
          <a:xfrm>
            <a:off x="2123171" y="12877678"/>
            <a:ext cx="212833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sp>
        <p:nvSpPr>
          <p:cNvPr id="54" name="o54: OHCI 数据访问"/>
          <p:cNvSpPr txBox="1"/>
          <p:nvPr/>
        </p:nvSpPr>
        <p:spPr>
          <a:xfrm>
            <a:off x="2247179" y="13278133"/>
            <a:ext cx="1880317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数据访问</a:t>
            </a:r>
          </a:p>
        </p:txBody>
      </p:sp>
      <p:sp>
        <p:nvSpPr>
          <p:cNvPr id="55" name="demux6"/>
          <p:cNvSpPr/>
          <p:nvPr/>
        </p:nvSpPr>
        <p:spPr>
          <a:xfrm>
            <a:off x="6844937" y="12822501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56: DEMUX S6"/>
          <p:cNvSpPr txBox="1"/>
          <p:nvPr/>
        </p:nvSpPr>
        <p:spPr>
          <a:xfrm>
            <a:off x="7315959" y="12885411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57" name="o57: AR / AW 译码"/>
          <p:cNvSpPr txBox="1"/>
          <p:nvPr/>
        </p:nvSpPr>
        <p:spPr>
          <a:xfrm>
            <a:off x="7286658" y="13285866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58" name="input6"/>
          <p:cNvCxnSpPr/>
          <p:nvPr/>
        </p:nvCxnSpPr>
        <p:spPr>
          <a:xfrm>
            <a:off x="5538651" y="13271863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9" name="reach-0-0"/>
          <p:cNvCxnSpPr/>
          <p:nvPr/>
        </p:nvCxnSpPr>
        <p:spPr>
          <a:xfrm>
            <a:off x="9405257" y="3553097"/>
            <a:ext cx="7471954" cy="156754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0" name="reach-0-1"/>
          <p:cNvCxnSpPr/>
          <p:nvPr/>
        </p:nvCxnSpPr>
        <p:spPr>
          <a:xfrm>
            <a:off x="9405257" y="3553097"/>
            <a:ext cx="7471954" cy="229906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1" name="reach-0-2"/>
          <p:cNvCxnSpPr/>
          <p:nvPr/>
        </p:nvCxnSpPr>
        <p:spPr>
          <a:xfrm>
            <a:off x="9405257" y="3553097"/>
            <a:ext cx="7471954" cy="480713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2" name="reach-0-3"/>
          <p:cNvCxnSpPr/>
          <p:nvPr/>
        </p:nvCxnSpPr>
        <p:spPr>
          <a:xfrm>
            <a:off x="9405257" y="3553097"/>
            <a:ext cx="7471954" cy="788996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3" name="reach-0-4"/>
          <p:cNvCxnSpPr/>
          <p:nvPr/>
        </p:nvCxnSpPr>
        <p:spPr>
          <a:xfrm>
            <a:off x="9405257" y="3553097"/>
            <a:ext cx="7471954" cy="982326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4" name="reach-1-0"/>
          <p:cNvCxnSpPr/>
          <p:nvPr/>
        </p:nvCxnSpPr>
        <p:spPr>
          <a:xfrm flipV="1">
            <a:off x="9405257" y="3709851"/>
            <a:ext cx="7471954" cy="146304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5" name="reach-1-1"/>
          <p:cNvCxnSpPr/>
          <p:nvPr/>
        </p:nvCxnSpPr>
        <p:spPr>
          <a:xfrm>
            <a:off x="9405257" y="5172891"/>
            <a:ext cx="7471954" cy="67926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6" name="reach-1-2"/>
          <p:cNvCxnSpPr/>
          <p:nvPr/>
        </p:nvCxnSpPr>
        <p:spPr>
          <a:xfrm>
            <a:off x="9405257" y="5172891"/>
            <a:ext cx="7471954" cy="3187338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7" name="reach-1-3"/>
          <p:cNvCxnSpPr/>
          <p:nvPr/>
        </p:nvCxnSpPr>
        <p:spPr>
          <a:xfrm>
            <a:off x="9405257" y="5172891"/>
            <a:ext cx="7471954" cy="627017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8" name="reach-1-4"/>
          <p:cNvCxnSpPr/>
          <p:nvPr/>
        </p:nvCxnSpPr>
        <p:spPr>
          <a:xfrm>
            <a:off x="9405257" y="5172891"/>
            <a:ext cx="7471954" cy="8203475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9" name="reach-2-0"/>
          <p:cNvCxnSpPr/>
          <p:nvPr/>
        </p:nvCxnSpPr>
        <p:spPr>
          <a:xfrm flipV="1">
            <a:off x="9405257" y="3709851"/>
            <a:ext cx="7471954" cy="3082835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0" name="reach-2-1"/>
          <p:cNvCxnSpPr/>
          <p:nvPr/>
        </p:nvCxnSpPr>
        <p:spPr>
          <a:xfrm flipV="1">
            <a:off x="9405257" y="5852160"/>
            <a:ext cx="7471954" cy="94052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1" name="reach-2-2"/>
          <p:cNvCxnSpPr/>
          <p:nvPr/>
        </p:nvCxnSpPr>
        <p:spPr>
          <a:xfrm>
            <a:off x="9405257" y="6792686"/>
            <a:ext cx="7471954" cy="156754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2" name="reach-2-3"/>
          <p:cNvCxnSpPr/>
          <p:nvPr/>
        </p:nvCxnSpPr>
        <p:spPr>
          <a:xfrm>
            <a:off x="9405257" y="6792686"/>
            <a:ext cx="7471954" cy="4650377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3" name="reach-2-4"/>
          <p:cNvCxnSpPr/>
          <p:nvPr/>
        </p:nvCxnSpPr>
        <p:spPr>
          <a:xfrm>
            <a:off x="9405257" y="6792686"/>
            <a:ext cx="7471954" cy="658368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4" name="reach-3-0"/>
          <p:cNvCxnSpPr/>
          <p:nvPr/>
        </p:nvCxnSpPr>
        <p:spPr>
          <a:xfrm flipV="1">
            <a:off x="9405257" y="3709851"/>
            <a:ext cx="7471954" cy="470262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5" name="reach-3-1"/>
          <p:cNvCxnSpPr/>
          <p:nvPr/>
        </p:nvCxnSpPr>
        <p:spPr>
          <a:xfrm flipV="1">
            <a:off x="9405257" y="5852160"/>
            <a:ext cx="7471954" cy="256032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6" name="reach-3-2"/>
          <p:cNvCxnSpPr/>
          <p:nvPr/>
        </p:nvCxnSpPr>
        <p:spPr>
          <a:xfrm flipV="1">
            <a:off x="9405257" y="8360229"/>
            <a:ext cx="7471954" cy="52251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7" name="reach-3-3"/>
          <p:cNvCxnSpPr/>
          <p:nvPr/>
        </p:nvCxnSpPr>
        <p:spPr>
          <a:xfrm>
            <a:off x="9405257" y="8412480"/>
            <a:ext cx="7471954" cy="303058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8" name="reach-3-4"/>
          <p:cNvCxnSpPr/>
          <p:nvPr/>
        </p:nvCxnSpPr>
        <p:spPr>
          <a:xfrm>
            <a:off x="9405257" y="8412480"/>
            <a:ext cx="7471954" cy="496388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9" name="reach-4-0"/>
          <p:cNvCxnSpPr/>
          <p:nvPr/>
        </p:nvCxnSpPr>
        <p:spPr>
          <a:xfrm flipV="1">
            <a:off x="9405257" y="3709851"/>
            <a:ext cx="7471954" cy="632242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0" name="reach-4-1"/>
          <p:cNvCxnSpPr/>
          <p:nvPr/>
        </p:nvCxnSpPr>
        <p:spPr>
          <a:xfrm flipV="1">
            <a:off x="9405257" y="5852160"/>
            <a:ext cx="7471954" cy="4180114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1" name="reach-4-2"/>
          <p:cNvCxnSpPr/>
          <p:nvPr/>
        </p:nvCxnSpPr>
        <p:spPr>
          <a:xfrm flipV="1">
            <a:off x="9405257" y="8360229"/>
            <a:ext cx="7471954" cy="1672045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2" name="reach-4-3"/>
          <p:cNvCxnSpPr/>
          <p:nvPr/>
        </p:nvCxnSpPr>
        <p:spPr>
          <a:xfrm>
            <a:off x="9405257" y="10032274"/>
            <a:ext cx="7471954" cy="141078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3" name="reach-4-4"/>
          <p:cNvCxnSpPr/>
          <p:nvPr/>
        </p:nvCxnSpPr>
        <p:spPr>
          <a:xfrm>
            <a:off x="9405257" y="10032274"/>
            <a:ext cx="7471954" cy="334409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4" name="reach-5-0"/>
          <p:cNvCxnSpPr/>
          <p:nvPr/>
        </p:nvCxnSpPr>
        <p:spPr>
          <a:xfrm flipV="1">
            <a:off x="9405257" y="3709851"/>
            <a:ext cx="7471954" cy="7942218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5" name="reach-5-1"/>
          <p:cNvCxnSpPr/>
          <p:nvPr/>
        </p:nvCxnSpPr>
        <p:spPr>
          <a:xfrm flipV="1">
            <a:off x="9405257" y="5852160"/>
            <a:ext cx="7471954" cy="579990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6" name="reach-5-2"/>
          <p:cNvCxnSpPr/>
          <p:nvPr/>
        </p:nvCxnSpPr>
        <p:spPr>
          <a:xfrm flipV="1">
            <a:off x="9405257" y="8360229"/>
            <a:ext cx="7471954" cy="329184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7" name="reach-5-3"/>
          <p:cNvCxnSpPr/>
          <p:nvPr/>
        </p:nvCxnSpPr>
        <p:spPr>
          <a:xfrm flipV="1">
            <a:off x="9405257" y="11443063"/>
            <a:ext cx="7471954" cy="20900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8" name="reach-5-4"/>
          <p:cNvCxnSpPr/>
          <p:nvPr/>
        </p:nvCxnSpPr>
        <p:spPr>
          <a:xfrm>
            <a:off x="9405257" y="11652069"/>
            <a:ext cx="7471954" cy="1724297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9" name="reach-6-0"/>
          <p:cNvCxnSpPr/>
          <p:nvPr/>
        </p:nvCxnSpPr>
        <p:spPr>
          <a:xfrm flipV="1">
            <a:off x="9405257" y="3709851"/>
            <a:ext cx="7471954" cy="956201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0" name="reach-6-1"/>
          <p:cNvCxnSpPr/>
          <p:nvPr/>
        </p:nvCxnSpPr>
        <p:spPr>
          <a:xfrm flipV="1">
            <a:off x="9405257" y="5852160"/>
            <a:ext cx="7471954" cy="741970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1" name="reach-6-2"/>
          <p:cNvCxnSpPr/>
          <p:nvPr/>
        </p:nvCxnSpPr>
        <p:spPr>
          <a:xfrm flipV="1">
            <a:off x="9405257" y="8360229"/>
            <a:ext cx="7471954" cy="4911634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2" name="reach-6-3"/>
          <p:cNvCxnSpPr/>
          <p:nvPr/>
        </p:nvCxnSpPr>
        <p:spPr>
          <a:xfrm flipV="1">
            <a:off x="9405257" y="11443063"/>
            <a:ext cx="7471954" cy="182880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3" name="reach-6-4"/>
          <p:cNvCxnSpPr/>
          <p:nvPr/>
        </p:nvCxnSpPr>
        <p:spPr>
          <a:xfrm>
            <a:off x="9405257" y="13271863"/>
            <a:ext cx="7471954" cy="10450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4" name="example-0-1"/>
          <p:cNvCxnSpPr/>
          <p:nvPr/>
        </p:nvCxnSpPr>
        <p:spPr>
          <a:xfrm>
            <a:off x="9405257" y="3553097"/>
            <a:ext cx="7471954" cy="2299063"/>
          </a:xfrm>
          <a:prstGeom prst="line">
            <a:avLst/>
          </a:prstGeom>
          <a:ln w="3448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95" name="example-2-2"/>
          <p:cNvCxnSpPr/>
          <p:nvPr/>
        </p:nvCxnSpPr>
        <p:spPr>
          <a:xfrm>
            <a:off x="9405257" y="6792686"/>
            <a:ext cx="7471954" cy="1567543"/>
          </a:xfrm>
          <a:prstGeom prst="line">
            <a:avLst/>
          </a:prstGeom>
          <a:ln w="3448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96" name="example-3-2"/>
          <p:cNvCxnSpPr/>
          <p:nvPr/>
        </p:nvCxnSpPr>
        <p:spPr>
          <a:xfrm flipV="1">
            <a:off x="9405257" y="8360229"/>
            <a:ext cx="7471954" cy="52251"/>
          </a:xfrm>
          <a:prstGeom prst="line">
            <a:avLst/>
          </a:prstGeom>
          <a:ln w="3448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97" name="mux0"/>
          <p:cNvSpPr/>
          <p:nvPr/>
        </p:nvSpPr>
        <p:spPr>
          <a:xfrm>
            <a:off x="16877211" y="3239589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98: MUX M0"/>
          <p:cNvSpPr txBox="1"/>
          <p:nvPr/>
        </p:nvSpPr>
        <p:spPr>
          <a:xfrm>
            <a:off x="17570310" y="3323400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99" name="o99: 独立仲裁"/>
          <p:cNvSpPr txBox="1"/>
          <p:nvPr/>
        </p:nvSpPr>
        <p:spPr>
          <a:xfrm>
            <a:off x="17608731" y="3712569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0" name="output0"/>
          <p:cNvCxnSpPr/>
          <p:nvPr/>
        </p:nvCxnSpPr>
        <p:spPr>
          <a:xfrm>
            <a:off x="19594286" y="3709851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1" name="mux1"/>
          <p:cNvSpPr/>
          <p:nvPr/>
        </p:nvSpPr>
        <p:spPr>
          <a:xfrm>
            <a:off x="16877211" y="5381897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102: MUX M1"/>
          <p:cNvSpPr txBox="1"/>
          <p:nvPr/>
        </p:nvSpPr>
        <p:spPr>
          <a:xfrm>
            <a:off x="17570310" y="5465708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03" name="o103: 独立仲裁"/>
          <p:cNvSpPr txBox="1"/>
          <p:nvPr/>
        </p:nvSpPr>
        <p:spPr>
          <a:xfrm>
            <a:off x="17608731" y="5854877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4" name="output1"/>
          <p:cNvCxnSpPr/>
          <p:nvPr/>
        </p:nvCxnSpPr>
        <p:spPr>
          <a:xfrm>
            <a:off x="19594286" y="5852160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5" name="mux2"/>
          <p:cNvSpPr/>
          <p:nvPr/>
        </p:nvSpPr>
        <p:spPr>
          <a:xfrm>
            <a:off x="16877211" y="7889966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106: MUX M2"/>
          <p:cNvSpPr txBox="1"/>
          <p:nvPr/>
        </p:nvSpPr>
        <p:spPr>
          <a:xfrm>
            <a:off x="17570310" y="7973777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07" name="o107: 独立仲裁"/>
          <p:cNvSpPr txBox="1"/>
          <p:nvPr/>
        </p:nvSpPr>
        <p:spPr>
          <a:xfrm>
            <a:off x="17608731" y="8362946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8" name="output2"/>
          <p:cNvCxnSpPr/>
          <p:nvPr/>
        </p:nvCxnSpPr>
        <p:spPr>
          <a:xfrm>
            <a:off x="19594286" y="8360229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9" name="mux3"/>
          <p:cNvSpPr/>
          <p:nvPr/>
        </p:nvSpPr>
        <p:spPr>
          <a:xfrm>
            <a:off x="16877211" y="10972800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110: MUX M3"/>
          <p:cNvSpPr txBox="1"/>
          <p:nvPr/>
        </p:nvSpPr>
        <p:spPr>
          <a:xfrm>
            <a:off x="17570310" y="11056611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11" name="o111: 独立仲裁"/>
          <p:cNvSpPr txBox="1"/>
          <p:nvPr/>
        </p:nvSpPr>
        <p:spPr>
          <a:xfrm>
            <a:off x="17608731" y="11445780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2" name="output3"/>
          <p:cNvCxnSpPr/>
          <p:nvPr/>
        </p:nvCxnSpPr>
        <p:spPr>
          <a:xfrm>
            <a:off x="19594286" y="11443063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3" name="mux4"/>
          <p:cNvSpPr/>
          <p:nvPr/>
        </p:nvSpPr>
        <p:spPr>
          <a:xfrm>
            <a:off x="16877211" y="12906103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114: MUX M4"/>
          <p:cNvSpPr txBox="1"/>
          <p:nvPr/>
        </p:nvSpPr>
        <p:spPr>
          <a:xfrm>
            <a:off x="17570310" y="12989914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15" name="o115: 独立仲裁"/>
          <p:cNvSpPr txBox="1"/>
          <p:nvPr/>
        </p:nvSpPr>
        <p:spPr>
          <a:xfrm>
            <a:off x="17608731" y="13379083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6" name="output4"/>
          <p:cNvCxnSpPr/>
          <p:nvPr/>
        </p:nvCxnSpPr>
        <p:spPr>
          <a:xfrm>
            <a:off x="19594286" y="13376366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7" name="target0"/>
          <p:cNvSpPr/>
          <p:nvPr/>
        </p:nvSpPr>
        <p:spPr>
          <a:xfrm>
            <a:off x="21109577" y="3030583"/>
            <a:ext cx="7210697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118: M0 · Debug 目标接口"/>
          <p:cNvSpPr txBox="1"/>
          <p:nvPr/>
        </p:nvSpPr>
        <p:spPr>
          <a:xfrm>
            <a:off x="23149032" y="3307933"/>
            <a:ext cx="3131787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19" name="o119: 调试地址窗口 · 与 SBA 分开"/>
          <p:cNvSpPr txBox="1"/>
          <p:nvPr/>
        </p:nvSpPr>
        <p:spPr>
          <a:xfrm>
            <a:off x="23055045" y="3719675"/>
            <a:ext cx="331976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调试地址窗口 · 与 SBA 分开</a:t>
            </a:r>
          </a:p>
        </p:txBody>
      </p:sp>
      <p:sp>
        <p:nvSpPr>
          <p:cNvPr id="120" name="target1"/>
          <p:cNvSpPr/>
          <p:nvPr/>
        </p:nvSpPr>
        <p:spPr>
          <a:xfrm>
            <a:off x="21109577" y="4859383"/>
            <a:ext cx="7210697" cy="198555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121: M1 · AXI → Regbus → demux"/>
          <p:cNvSpPr txBox="1"/>
          <p:nvPr/>
        </p:nvSpPr>
        <p:spPr>
          <a:xfrm>
            <a:off x="22601519" y="5272587"/>
            <a:ext cx="4226814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 · AXI → Regbus → demux</a:t>
            </a:r>
          </a:p>
        </p:txBody>
      </p:sp>
      <p:sp>
        <p:nvSpPr>
          <p:cNvPr id="122" name="o122: ROM / CLINT / PLIC / SoC regs"/>
          <p:cNvSpPr txBox="1"/>
          <p:nvPr/>
        </p:nvSpPr>
        <p:spPr>
          <a:xfrm>
            <a:off x="22848080" y="5684328"/>
            <a:ext cx="373369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ROM / CLINT / PLIC / SoC regs</a:t>
            </a:r>
          </a:p>
        </p:txBody>
      </p:sp>
      <p:sp>
        <p:nvSpPr>
          <p:cNvPr id="123" name="o123: UART / I²C / SPI / GPIO / LLC 等"/>
          <p:cNvSpPr txBox="1"/>
          <p:nvPr/>
        </p:nvSpPr>
        <p:spPr>
          <a:xfrm>
            <a:off x="22767621" y="6039638"/>
            <a:ext cx="389460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UART / I²C / SPI / GPIO / LLC 等</a:t>
            </a:r>
          </a:p>
        </p:txBody>
      </p:sp>
      <p:sp>
        <p:nvSpPr>
          <p:cNvPr id="124" name="target2"/>
          <p:cNvSpPr/>
          <p:nvPr/>
        </p:nvSpPr>
        <p:spPr>
          <a:xfrm>
            <a:off x="21109577" y="6975566"/>
            <a:ext cx="7210697" cy="27693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125: M2 · LLC / SPM 共用目标"/>
          <p:cNvSpPr txBox="1"/>
          <p:nvPr/>
        </p:nvSpPr>
        <p:spPr>
          <a:xfrm>
            <a:off x="22852040" y="7425346"/>
            <a:ext cx="3725772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 · LLC / SPM 共用目标</a:t>
            </a:r>
          </a:p>
        </p:txBody>
      </p:sp>
      <p:sp>
        <p:nvSpPr>
          <p:cNvPr id="126" name="o126: AMO/LRSC → cut / 地址重映射 → LLC"/>
          <p:cNvSpPr txBox="1"/>
          <p:nvPr/>
        </p:nvSpPr>
        <p:spPr>
          <a:xfrm>
            <a:off x="22433783" y="7837087"/>
            <a:ext cx="456228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AMO/LRSC → cut / 地址重映射 → LLC</a:t>
            </a:r>
          </a:p>
        </p:txBody>
      </p:sp>
      <p:sp>
        <p:nvSpPr>
          <p:cNvPr id="127" name="o127: SPM 128 KiB · cached / uncached 别名"/>
          <p:cNvSpPr txBox="1"/>
          <p:nvPr/>
        </p:nvSpPr>
        <p:spPr>
          <a:xfrm>
            <a:off x="22402433" y="8192397"/>
            <a:ext cx="4624986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128 KiB · cached / uncached 别名</a:t>
            </a:r>
          </a:p>
        </p:txBody>
      </p:sp>
      <p:sp>
        <p:nvSpPr>
          <p:cNvPr id="128" name="o128: 0x8000_0000 ≤ 外存 &lt; 0x1_0000_0000"/>
          <p:cNvSpPr txBox="1"/>
          <p:nvPr/>
        </p:nvSpPr>
        <p:spPr>
          <a:xfrm>
            <a:off x="22281805" y="8547707"/>
            <a:ext cx="486624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0x8000_0000 ≤ 外存 &lt; 0x1_0000_0000</a:t>
            </a:r>
          </a:p>
        </p:txBody>
      </p:sp>
      <p:sp>
        <p:nvSpPr>
          <p:cNvPr id="129" name="o129: LLC 下游 → 平台 DDR；命中可留片内"/>
          <p:cNvSpPr txBox="1"/>
          <p:nvPr/>
        </p:nvSpPr>
        <p:spPr>
          <a:xfrm>
            <a:off x="22488280" y="8903016"/>
            <a:ext cx="445329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下游 → 平台 DDR；命中可留片内</a:t>
            </a:r>
          </a:p>
        </p:txBody>
      </p:sp>
      <p:sp>
        <p:nvSpPr>
          <p:cNvPr id="130" name="target3"/>
          <p:cNvSpPr/>
          <p:nvPr/>
        </p:nvSpPr>
        <p:spPr>
          <a:xfrm>
            <a:off x="21109577" y="10763794"/>
            <a:ext cx="7210697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131: M3 · iDMA 控制接口"/>
          <p:cNvSpPr txBox="1"/>
          <p:nvPr/>
        </p:nvSpPr>
        <p:spPr>
          <a:xfrm>
            <a:off x="23224641" y="11041145"/>
            <a:ext cx="2980568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32" name="o132: 0x0100_0000 起 · 与数据主口分开"/>
          <p:cNvSpPr txBox="1"/>
          <p:nvPr/>
        </p:nvSpPr>
        <p:spPr>
          <a:xfrm>
            <a:off x="22648953" y="11452886"/>
            <a:ext cx="413194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0x0100_0000 起 · 与数据主口分开</a:t>
            </a:r>
          </a:p>
        </p:txBody>
      </p:sp>
      <p:sp>
        <p:nvSpPr>
          <p:cNvPr id="133" name="target4"/>
          <p:cNvSpPr/>
          <p:nvPr/>
        </p:nvSpPr>
        <p:spPr>
          <a:xfrm>
            <a:off x="21109577" y="12592594"/>
            <a:ext cx="7210697" cy="156754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134: M4 · Serial Link TX"/>
          <p:cNvSpPr txBox="1"/>
          <p:nvPr/>
        </p:nvSpPr>
        <p:spPr>
          <a:xfrm>
            <a:off x="23325413" y="12974448"/>
            <a:ext cx="2779025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 · Serial Link TX</a:t>
            </a:r>
          </a:p>
        </p:txBody>
      </p:sp>
      <p:sp>
        <p:nvSpPr>
          <p:cNvPr id="135" name="o135: 0x1_0000_0000 ≤ addr &lt; 0x2_0000_0000"/>
          <p:cNvSpPr txBox="1"/>
          <p:nvPr/>
        </p:nvSpPr>
        <p:spPr>
          <a:xfrm>
            <a:off x="22151871" y="13386189"/>
            <a:ext cx="512611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36" name="o136: 灰线：所有可达路径；彩线：同时请求示例"/>
          <p:cNvSpPr txBox="1"/>
          <p:nvPr/>
        </p:nvSpPr>
        <p:spPr>
          <a:xfrm>
            <a:off x="10554789" y="14327342"/>
            <a:ext cx="5225143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灰线：所有可达路径；彩线：同时请求示例</a:t>
            </a:r>
          </a:p>
        </p:txBody>
      </p:sp>
      <p:sp>
        <p:nvSpPr>
          <p:cNvPr id="137" name="o137: 不同目标可并行；竞争同一目标时由该目标仲裁。"/>
          <p:cNvSpPr txBox="1"/>
          <p:nvPr/>
        </p:nvSpPr>
        <p:spPr>
          <a:xfrm>
            <a:off x="679269" y="15443014"/>
            <a:ext cx="672998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不同目标可并行；竞争同一目标时由该目标仲裁。</a:t>
            </a:r>
          </a:p>
        </p:txBody>
      </p:sp>
      <p:sp>
        <p:nvSpPr>
          <p:cNvPr id="138" name="o138: S / M 为 Crossbar 端口视角"/>
          <p:cNvSpPr txBox="1"/>
          <p:nvPr/>
        </p:nvSpPr>
        <p:spPr>
          <a:xfrm>
            <a:off x="25000708" y="15465587"/>
            <a:ext cx="3633074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 / M 为 Crossbar 端口视角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