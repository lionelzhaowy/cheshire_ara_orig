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92811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2: DMA—LLC/SPM：死锁结构与解耦位置"/>
          <p:cNvSpPr txBox="1"/>
          <p:nvPr/>
        </p:nvSpPr>
        <p:spPr>
          <a:xfrm>
            <a:off x="400050" y="111694"/>
            <a:ext cx="5525841" cy="48646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94" b="1" i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rPr>
              <a:t>DMA—LLC/SPM：死锁结构与解耦位置</a:t>
            </a:r>
          </a:p>
        </p:txBody>
      </p:sp>
      <p:sp>
        <p:nvSpPr>
          <p:cNvPr id="3" name="text3: 同一 SPM 内搬运，源/目的不重叠；默认 DECOUPLE_AW = 0"/>
          <p:cNvSpPr txBox="1"/>
          <p:nvPr/>
        </p:nvSpPr>
        <p:spPr>
          <a:xfrm>
            <a:off x="400050" y="592714"/>
            <a:ext cx="5347981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rPr>
              <a:t>同一 SPM 内搬运，源/目的不重叠；默认 DECOUPLE_AW = 0</a:t>
            </a:r>
          </a:p>
        </p:txBody>
      </p:sp>
      <p:sp>
        <p:nvSpPr>
          <p:cNvPr id="4" name="arrow4"/>
          <p:cNvSpPr/>
          <p:nvPr/>
        </p:nvSpPr>
        <p:spPr>
          <a:xfrm>
            <a:off x="7280910" y="752094"/>
            <a:ext cx="320040" cy="1"/>
          </a:xfrm>
          <a:custGeom>
            <a:avLst/>
            <a:gdLst/>
            <a:ahLst/>
            <a:cxnLst/>
            <a:rect l="0" t="0" r="r" b="b"/>
            <a:pathLst>
              <a:path w="320040" h="1" fill="none">
                <a:moveTo>
                  <a:pt x="0" y="0"/>
                </a:moveTo>
                <a:lnTo>
                  <a:pt x="320040" y="0"/>
                </a:lnTo>
              </a:path>
            </a:pathLst>
          </a:custGeom>
          <a:noFill/>
          <a:ln w="24003" cap="flat">
            <a:solidFill>
              <a:srgbClr val="8060A4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5: 地址/描述符"/>
          <p:cNvSpPr txBox="1"/>
          <p:nvPr/>
        </p:nvSpPr>
        <p:spPr>
          <a:xfrm>
            <a:off x="7680960" y="634639"/>
            <a:ext cx="1095424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8060A4"/>
                </a:solidFill>
                <a:latin typeface="Microsoft YaHei"/>
                <a:ea typeface="Microsoft YaHei"/>
                <a:cs typeface="Microsoft YaHei"/>
              </a:rPr>
              <a:t>地址/描述符</a:t>
            </a:r>
          </a:p>
        </p:txBody>
      </p:sp>
      <p:sp>
        <p:nvSpPr>
          <p:cNvPr id="6" name="arrow6"/>
          <p:cNvSpPr/>
          <p:nvPr/>
        </p:nvSpPr>
        <p:spPr>
          <a:xfrm>
            <a:off x="9121140" y="752094"/>
            <a:ext cx="320040" cy="1"/>
          </a:xfrm>
          <a:custGeom>
            <a:avLst/>
            <a:gdLst/>
            <a:ahLst/>
            <a:cxnLst/>
            <a:rect l="0" t="0" r="r" b="b"/>
            <a:pathLst>
              <a:path w="320040" h="1" fill="none">
                <a:moveTo>
                  <a:pt x="0" y="0"/>
                </a:moveTo>
                <a:lnTo>
                  <a:pt x="320040" y="0"/>
                </a:lnTo>
              </a:path>
            </a:pathLst>
          </a:custGeom>
          <a:noFill/>
          <a:ln w="24003" cap="flat">
            <a:solidFill>
              <a:srgbClr val="2E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7: 数据方向"/>
          <p:cNvSpPr txBox="1"/>
          <p:nvPr/>
        </p:nvSpPr>
        <p:spPr>
          <a:xfrm>
            <a:off x="9521190" y="634639"/>
            <a:ext cx="840105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2E75A6"/>
                </a:solidFill>
                <a:latin typeface="Microsoft YaHei"/>
                <a:ea typeface="Microsoft YaHei"/>
                <a:cs typeface="Microsoft YaHei"/>
              </a:rPr>
              <a:t>数据方向</a:t>
            </a:r>
          </a:p>
        </p:txBody>
      </p:sp>
      <p:sp>
        <p:nvSpPr>
          <p:cNvPr id="8" name="arrow8"/>
          <p:cNvSpPr/>
          <p:nvPr/>
        </p:nvSpPr>
        <p:spPr>
          <a:xfrm>
            <a:off x="10801350" y="752094"/>
            <a:ext cx="320040" cy="1"/>
          </a:xfrm>
          <a:custGeom>
            <a:avLst/>
            <a:gdLst/>
            <a:ahLst/>
            <a:cxnLst/>
            <a:rect l="0" t="0" r="r" b="b"/>
            <a:pathLst>
              <a:path w="320040" h="1" fill="none">
                <a:moveTo>
                  <a:pt x="0" y="0"/>
                </a:moveTo>
                <a:lnTo>
                  <a:pt x="320040" y="0"/>
                </a:lnTo>
              </a:path>
            </a:pathLst>
          </a:custGeom>
          <a:noFill/>
          <a:ln w="24003" cap="flat">
            <a:solidFill>
              <a:srgbClr val="BA4548"/>
            </a:solidFill>
            <a:custDash>
              <a:ds d="30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9: 阻塞/因果"/>
          <p:cNvSpPr txBox="1"/>
          <p:nvPr/>
        </p:nvSpPr>
        <p:spPr>
          <a:xfrm>
            <a:off x="11201400" y="634639"/>
            <a:ext cx="927403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BA4548"/>
                </a:solidFill>
                <a:latin typeface="Microsoft YaHei"/>
                <a:ea typeface="Microsoft YaHei"/>
                <a:cs typeface="Microsoft YaHei"/>
              </a:rPr>
              <a:t>阻塞/因果</a:t>
            </a:r>
          </a:p>
        </p:txBody>
      </p:sp>
      <p:sp>
        <p:nvSpPr>
          <p:cNvPr id="10" name="box10"/>
          <p:cNvSpPr/>
          <p:nvPr/>
        </p:nvSpPr>
        <p:spPr>
          <a:xfrm>
            <a:off x="400050" y="1200150"/>
            <a:ext cx="3040380" cy="4160520"/>
          </a:xfrm>
          <a:prstGeom prst="roundRect">
            <a:avLst>
              <a:gd name="adj" fmla="val 2631"/>
            </a:avLst>
          </a:prstGeom>
          <a:solidFill>
            <a:srgbClr val="EDF4FC"/>
          </a:solidFill>
          <a:ln w="16002" cap="flat">
            <a:solidFill>
              <a:srgbClr val="56708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box11"/>
          <p:cNvSpPr/>
          <p:nvPr/>
        </p:nvSpPr>
        <p:spPr>
          <a:xfrm>
            <a:off x="5520690" y="1200150"/>
            <a:ext cx="6880860" cy="4160520"/>
          </a:xfrm>
          <a:prstGeom prst="roundRect">
            <a:avLst>
              <a:gd name="adj" fmla="val 1923"/>
            </a:avLst>
          </a:prstGeom>
          <a:solidFill>
            <a:srgbClr val="F3F7F4"/>
          </a:solidFill>
          <a:ln w="16002" cap="flat">
            <a:solidFill>
              <a:srgbClr val="56708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12: iDMA"/>
          <p:cNvSpPr txBox="1"/>
          <p:nvPr/>
        </p:nvSpPr>
        <p:spPr>
          <a:xfrm>
            <a:off x="600075" y="1238235"/>
            <a:ext cx="734242" cy="3584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4" b="1" i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rPr>
              <a:t>iDMA</a:t>
            </a:r>
          </a:p>
        </p:txBody>
      </p:sp>
      <p:sp>
        <p:nvSpPr>
          <p:cNvPr id="13" name="text13: 同一个 LLC / SPM"/>
          <p:cNvSpPr txBox="1"/>
          <p:nvPr/>
        </p:nvSpPr>
        <p:spPr>
          <a:xfrm>
            <a:off x="5720715" y="1238235"/>
            <a:ext cx="2024378" cy="3584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4" b="1" i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rPr>
              <a:t>同一个 LLC / SPM</a:t>
            </a:r>
          </a:p>
        </p:txBody>
      </p:sp>
      <p:sp>
        <p:nvSpPr>
          <p:cNvPr id="14" name="box14"/>
          <p:cNvSpPr/>
          <p:nvPr/>
        </p:nvSpPr>
        <p:spPr>
          <a:xfrm>
            <a:off x="720090" y="1680210"/>
            <a:ext cx="2400300" cy="680085"/>
          </a:xfrm>
          <a:prstGeom prst="roundRect">
            <a:avLst>
              <a:gd name="adj" fmla="val 11764"/>
            </a:avLst>
          </a:prstGeom>
          <a:solidFill>
            <a:srgbClr val="EEE6F6"/>
          </a:solidFill>
          <a:ln w="16002" cap="flat">
            <a:solidFill>
              <a:srgbClr val="8060A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15: AR 发出 / AW 耦合"/>
          <p:cNvSpPr txBox="1"/>
          <p:nvPr/>
        </p:nvSpPr>
        <p:spPr>
          <a:xfrm>
            <a:off x="1029597" y="1736857"/>
            <a:ext cx="1781285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rPr>
              <a:t>AR 发出 / AW 耦合</a:t>
            </a:r>
          </a:p>
        </p:txBody>
      </p:sp>
      <p:sp>
        <p:nvSpPr>
          <p:cNvPr id="16" name="text16: AW 等对应 R 首拍"/>
          <p:cNvSpPr txBox="1"/>
          <p:nvPr/>
        </p:nvSpPr>
        <p:spPr>
          <a:xfrm>
            <a:off x="1137167" y="2034174"/>
            <a:ext cx="156614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8060A4"/>
                </a:solidFill>
                <a:latin typeface="Microsoft YaHei"/>
                <a:ea typeface="Microsoft YaHei"/>
                <a:cs typeface="Microsoft YaHei"/>
              </a:rPr>
              <a:t>AW 等对应 R 首拍</a:t>
            </a:r>
          </a:p>
        </p:txBody>
      </p:sp>
      <p:sp>
        <p:nvSpPr>
          <p:cNvPr id="17" name="arrow17"/>
          <p:cNvSpPr/>
          <p:nvPr/>
        </p:nvSpPr>
        <p:spPr>
          <a:xfrm>
            <a:off x="3120390" y="1840230"/>
            <a:ext cx="2640330" cy="1"/>
          </a:xfrm>
          <a:custGeom>
            <a:avLst/>
            <a:gdLst/>
            <a:ahLst/>
            <a:cxnLst/>
            <a:rect l="0" t="0" r="r" b="b"/>
            <a:pathLst>
              <a:path w="2640330" h="1" fill="none">
                <a:moveTo>
                  <a:pt x="0" y="0"/>
                </a:moveTo>
                <a:lnTo>
                  <a:pt x="2640330" y="0"/>
                </a:lnTo>
              </a:path>
            </a:pathLst>
          </a:custGeom>
          <a:noFill/>
          <a:ln w="24003" cap="flat">
            <a:solidFill>
              <a:srgbClr val="8060A4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18: AR：源读地址"/>
          <p:cNvSpPr txBox="1"/>
          <p:nvPr/>
        </p:nvSpPr>
        <p:spPr>
          <a:xfrm>
            <a:off x="3677447" y="1554754"/>
            <a:ext cx="1206176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8060A4"/>
                </a:solidFill>
                <a:latin typeface="Microsoft YaHei"/>
                <a:ea typeface="Microsoft YaHei"/>
                <a:cs typeface="Microsoft YaHei"/>
              </a:rPr>
              <a:t>AR：源读地址</a:t>
            </a:r>
          </a:p>
        </p:txBody>
      </p:sp>
      <p:sp>
        <p:nvSpPr>
          <p:cNvPr id="19" name="arrow19"/>
          <p:cNvSpPr/>
          <p:nvPr/>
        </p:nvSpPr>
        <p:spPr>
          <a:xfrm>
            <a:off x="3120390" y="2200275"/>
            <a:ext cx="2640330" cy="16002"/>
          </a:xfrm>
          <a:custGeom>
            <a:avLst/>
            <a:gdLst/>
            <a:ahLst/>
            <a:cxnLst/>
            <a:rect l="0" t="0" r="r" b="b"/>
            <a:pathLst>
              <a:path w="2640330" h="16002" fill="none">
                <a:moveTo>
                  <a:pt x="0" y="0"/>
                </a:moveTo>
                <a:lnTo>
                  <a:pt x="2080260" y="0"/>
                </a:lnTo>
                <a:lnTo>
                  <a:pt x="2080260" y="16002"/>
                </a:lnTo>
                <a:lnTo>
                  <a:pt x="2640330" y="16002"/>
                </a:lnTo>
              </a:path>
            </a:pathLst>
          </a:custGeom>
          <a:noFill/>
          <a:ln w="24003" cap="flat">
            <a:solidFill>
              <a:srgbClr val="8060A4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20: AW：目的写地址"/>
          <p:cNvSpPr txBox="1"/>
          <p:nvPr/>
        </p:nvSpPr>
        <p:spPr>
          <a:xfrm>
            <a:off x="3576616" y="2290846"/>
            <a:ext cx="1407838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8060A4"/>
                </a:solidFill>
                <a:latin typeface="Microsoft YaHei"/>
                <a:ea typeface="Microsoft YaHei"/>
                <a:cs typeface="Microsoft YaHei"/>
              </a:rPr>
              <a:t>AW：目的写地址</a:t>
            </a:r>
          </a:p>
        </p:txBody>
      </p:sp>
      <p:sp>
        <p:nvSpPr>
          <p:cNvPr id="21" name="box21"/>
          <p:cNvSpPr/>
          <p:nvPr/>
        </p:nvSpPr>
        <p:spPr>
          <a:xfrm>
            <a:off x="5760720" y="1680210"/>
            <a:ext cx="6320790" cy="680085"/>
          </a:xfrm>
          <a:prstGeom prst="roundRect">
            <a:avLst>
              <a:gd name="adj" fmla="val 11764"/>
            </a:avLst>
          </a:prstGeom>
          <a:solidFill>
            <a:srgbClr val="F5EFF8"/>
          </a:solidFill>
          <a:ln w="16002" cap="flat">
            <a:solidFill>
              <a:srgbClr val="8060A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22: 共享描述符流水线"/>
          <p:cNvSpPr txBox="1"/>
          <p:nvPr/>
        </p:nvSpPr>
        <p:spPr>
          <a:xfrm>
            <a:off x="5920740" y="1714774"/>
            <a:ext cx="1512189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8060A4"/>
                </a:solidFill>
                <a:latin typeface="Microsoft YaHei"/>
                <a:ea typeface="Microsoft YaHei"/>
                <a:cs typeface="Microsoft YaHei"/>
              </a:rPr>
              <a:t>共享描述符流水线</a:t>
            </a:r>
          </a:p>
        </p:txBody>
      </p:sp>
      <p:sp>
        <p:nvSpPr>
          <p:cNvPr id="23" name="box23"/>
          <p:cNvSpPr/>
          <p:nvPr/>
        </p:nvSpPr>
        <p:spPr>
          <a:xfrm>
            <a:off x="6000750" y="2000250"/>
            <a:ext cx="2240280" cy="280035"/>
          </a:xfrm>
          <a:prstGeom prst="roundRect">
            <a:avLst>
              <a:gd name="adj" fmla="val 14285"/>
            </a:avLst>
          </a:prstGeom>
          <a:solidFill>
            <a:srgbClr val="FCE9E8"/>
          </a:solidFill>
          <a:ln w="16002" cap="flat">
            <a:solidFill>
              <a:srgbClr val="BA454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24: 后到：写（等前方释放）"/>
          <p:cNvSpPr txBox="1"/>
          <p:nvPr/>
        </p:nvSpPr>
        <p:spPr>
          <a:xfrm>
            <a:off x="6160770" y="2035454"/>
            <a:ext cx="19202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BA4548"/>
                </a:solidFill>
                <a:latin typeface="Microsoft YaHei"/>
                <a:ea typeface="Microsoft YaHei"/>
                <a:cs typeface="Microsoft YaHei"/>
              </a:rPr>
              <a:t>后到：写（等前方释放）</a:t>
            </a:r>
          </a:p>
        </p:txBody>
      </p:sp>
      <p:sp>
        <p:nvSpPr>
          <p:cNvPr id="25" name="box25"/>
          <p:cNvSpPr/>
          <p:nvPr/>
        </p:nvSpPr>
        <p:spPr>
          <a:xfrm>
            <a:off x="9361170" y="2000250"/>
            <a:ext cx="2480310" cy="280035"/>
          </a:xfrm>
          <a:prstGeom prst="roundRect">
            <a:avLst>
              <a:gd name="adj" fmla="val 14285"/>
            </a:avLst>
          </a:prstGeom>
          <a:solidFill>
            <a:srgbClr val="FCE9E8"/>
          </a:solidFill>
          <a:ln w="16002" cap="flat">
            <a:solidFill>
              <a:srgbClr val="BA454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26: 前方：读（未完成）"/>
          <p:cNvSpPr txBox="1"/>
          <p:nvPr/>
        </p:nvSpPr>
        <p:spPr>
          <a:xfrm>
            <a:off x="9801225" y="2035454"/>
            <a:ext cx="160020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BA4548"/>
                </a:solidFill>
                <a:latin typeface="Microsoft YaHei"/>
                <a:ea typeface="Microsoft YaHei"/>
                <a:cs typeface="Microsoft YaHei"/>
              </a:rPr>
              <a:t>前方：读（未完成）</a:t>
            </a:r>
          </a:p>
        </p:txBody>
      </p:sp>
      <p:sp>
        <p:nvSpPr>
          <p:cNvPr id="27" name="arrow27"/>
          <p:cNvSpPr/>
          <p:nvPr/>
        </p:nvSpPr>
        <p:spPr>
          <a:xfrm>
            <a:off x="8241030" y="2136267"/>
            <a:ext cx="1120140" cy="1"/>
          </a:xfrm>
          <a:custGeom>
            <a:avLst/>
            <a:gdLst/>
            <a:ahLst/>
            <a:cxnLst/>
            <a:rect l="0" t="0" r="r" b="b"/>
            <a:pathLst>
              <a:path w="1120140" h="1" fill="none">
                <a:moveTo>
                  <a:pt x="0" y="0"/>
                </a:moveTo>
                <a:lnTo>
                  <a:pt x="1120140" y="0"/>
                </a:lnTo>
              </a:path>
            </a:pathLst>
          </a:custGeom>
          <a:noFill/>
          <a:ln w="24003" cap="flat">
            <a:solidFill>
              <a:srgbClr val="8060A4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28: 前进方向"/>
          <p:cNvSpPr txBox="1"/>
          <p:nvPr/>
        </p:nvSpPr>
        <p:spPr>
          <a:xfrm>
            <a:off x="8441055" y="1820708"/>
            <a:ext cx="720090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8060A4"/>
                </a:solidFill>
                <a:latin typeface="Microsoft YaHei"/>
                <a:ea typeface="Microsoft YaHei"/>
                <a:cs typeface="Microsoft YaHei"/>
              </a:rPr>
              <a:t>前进方向</a:t>
            </a:r>
          </a:p>
        </p:txBody>
      </p:sp>
      <p:sp>
        <p:nvSpPr>
          <p:cNvPr id="29" name="arrow29"/>
          <p:cNvSpPr/>
          <p:nvPr/>
        </p:nvSpPr>
        <p:spPr>
          <a:xfrm>
            <a:off x="9081135" y="2040255"/>
            <a:ext cx="3160395" cy="800100"/>
          </a:xfrm>
          <a:custGeom>
            <a:avLst/>
            <a:gdLst/>
            <a:ahLst/>
            <a:cxnLst/>
            <a:rect l="0" t="0" r="r" b="b"/>
            <a:pathLst>
              <a:path w="3160395" h="800100" fill="none">
                <a:moveTo>
                  <a:pt x="3000375" y="0"/>
                </a:moveTo>
                <a:lnTo>
                  <a:pt x="3160395" y="0"/>
                </a:lnTo>
                <a:lnTo>
                  <a:pt x="3160395" y="560070"/>
                </a:lnTo>
                <a:lnTo>
                  <a:pt x="0" y="560070"/>
                </a:lnTo>
                <a:lnTo>
                  <a:pt x="0" y="800100"/>
                </a:lnTo>
              </a:path>
            </a:pathLst>
          </a:custGeom>
          <a:noFill/>
          <a:ln w="24003" cap="flat">
            <a:solidFill>
              <a:srgbClr val="8060A4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arrow30"/>
          <p:cNvSpPr/>
          <p:nvPr/>
        </p:nvSpPr>
        <p:spPr>
          <a:xfrm>
            <a:off x="9081135" y="2600325"/>
            <a:ext cx="3160395" cy="2520315"/>
          </a:xfrm>
          <a:custGeom>
            <a:avLst/>
            <a:gdLst/>
            <a:ahLst/>
            <a:cxnLst/>
            <a:rect l="0" t="0" r="r" b="b"/>
            <a:pathLst>
              <a:path w="3160395" h="2520315" fill="none">
                <a:moveTo>
                  <a:pt x="3160395" y="0"/>
                </a:moveTo>
                <a:lnTo>
                  <a:pt x="3160395" y="2520315"/>
                </a:lnTo>
                <a:lnTo>
                  <a:pt x="0" y="2520315"/>
                </a:lnTo>
                <a:lnTo>
                  <a:pt x="0" y="2280285"/>
                </a:lnTo>
              </a:path>
            </a:pathLst>
          </a:custGeom>
          <a:noFill/>
          <a:ln w="24003" cap="flat">
            <a:solidFill>
              <a:srgbClr val="BA4548"/>
            </a:solidFill>
            <a:custDash>
              <a:ds d="30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31: 写描述符未能送达"/>
          <p:cNvSpPr txBox="1"/>
          <p:nvPr/>
        </p:nvSpPr>
        <p:spPr>
          <a:xfrm>
            <a:off x="9725216" y="4891171"/>
            <a:ext cx="1512189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BA4548"/>
                </a:solidFill>
                <a:latin typeface="Microsoft YaHei"/>
                <a:ea typeface="Microsoft YaHei"/>
                <a:cs typeface="Microsoft YaHei"/>
              </a:rPr>
              <a:t>写描述符未能送达</a:t>
            </a:r>
          </a:p>
        </p:txBody>
      </p:sp>
      <p:sp>
        <p:nvSpPr>
          <p:cNvPr id="32" name="box32"/>
          <p:cNvSpPr/>
          <p:nvPr/>
        </p:nvSpPr>
        <p:spPr>
          <a:xfrm>
            <a:off x="8241030" y="2840355"/>
            <a:ext cx="1680210" cy="720090"/>
          </a:xfrm>
          <a:prstGeom prst="roundRect">
            <a:avLst>
              <a:gd name="adj" fmla="val 11111"/>
            </a:avLst>
          </a:prstGeom>
          <a:solidFill>
            <a:srgbClr val="E8F0FA"/>
          </a:solidFill>
          <a:ln w="16002" cap="flat">
            <a:solidFill>
              <a:srgbClr val="56708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33: 读单元"/>
          <p:cNvSpPr txBox="1"/>
          <p:nvPr/>
        </p:nvSpPr>
        <p:spPr>
          <a:xfrm>
            <a:off x="8681085" y="2896362"/>
            <a:ext cx="800100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rPr>
              <a:t>读单元</a:t>
            </a:r>
          </a:p>
        </p:txBody>
      </p:sp>
      <p:sp>
        <p:nvSpPr>
          <p:cNvPr id="34" name="text34: 当前读未完成"/>
          <p:cNvSpPr txBox="1"/>
          <p:nvPr/>
        </p:nvSpPr>
        <p:spPr>
          <a:xfrm>
            <a:off x="8493062" y="3218962"/>
            <a:ext cx="1176147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BA4548"/>
                </a:solidFill>
                <a:latin typeface="Microsoft YaHei"/>
                <a:ea typeface="Microsoft YaHei"/>
                <a:cs typeface="Microsoft YaHei"/>
              </a:rPr>
              <a:t>当前读未完成</a:t>
            </a:r>
          </a:p>
        </p:txBody>
      </p:sp>
      <p:sp>
        <p:nvSpPr>
          <p:cNvPr id="35" name="box35"/>
          <p:cNvSpPr/>
          <p:nvPr/>
        </p:nvSpPr>
        <p:spPr>
          <a:xfrm>
            <a:off x="5840730" y="2840355"/>
            <a:ext cx="1680210" cy="720090"/>
          </a:xfrm>
          <a:prstGeom prst="roundRect">
            <a:avLst>
              <a:gd name="adj" fmla="val 11111"/>
            </a:avLst>
          </a:prstGeom>
          <a:solidFill>
            <a:srgbClr val="FCE9E8"/>
          </a:solidFill>
          <a:ln w="16002" cap="flat">
            <a:solidFill>
              <a:srgbClr val="BA454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36: R 返回 FIFO"/>
          <p:cNvSpPr txBox="1"/>
          <p:nvPr/>
        </p:nvSpPr>
        <p:spPr>
          <a:xfrm>
            <a:off x="6095481" y="2913004"/>
            <a:ext cx="1170709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rPr>
              <a:t>R 返回 FIFO</a:t>
            </a:r>
          </a:p>
        </p:txBody>
      </p:sp>
      <p:sp>
        <p:nvSpPr>
          <p:cNvPr id="37" name="text37: 满，无法继续存入"/>
          <p:cNvSpPr txBox="1"/>
          <p:nvPr/>
        </p:nvSpPr>
        <p:spPr>
          <a:xfrm>
            <a:off x="5960745" y="3227603"/>
            <a:ext cx="144018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BA4548"/>
                </a:solidFill>
                <a:latin typeface="Microsoft YaHei"/>
                <a:ea typeface="Microsoft YaHei"/>
                <a:cs typeface="Microsoft YaHei"/>
              </a:rPr>
              <a:t>满，无法继续存入</a:t>
            </a:r>
          </a:p>
        </p:txBody>
      </p:sp>
      <p:sp>
        <p:nvSpPr>
          <p:cNvPr id="38" name="box38"/>
          <p:cNvSpPr/>
          <p:nvPr/>
        </p:nvSpPr>
        <p:spPr>
          <a:xfrm>
            <a:off x="10241280" y="2840355"/>
            <a:ext cx="1840230" cy="2040255"/>
          </a:xfrm>
          <a:prstGeom prst="roundRect">
            <a:avLst>
              <a:gd name="adj" fmla="val 4347"/>
            </a:avLst>
          </a:prstGeom>
          <a:solidFill>
            <a:srgbClr val="E6F0E3"/>
          </a:solidFill>
          <a:ln w="16002" cap="flat">
            <a:solidFill>
              <a:srgbClr val="56708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39: SPM 存储阵列"/>
          <p:cNvSpPr txBox="1"/>
          <p:nvPr/>
        </p:nvSpPr>
        <p:spPr>
          <a:xfrm>
            <a:off x="10460714" y="2905003"/>
            <a:ext cx="1401363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rPr>
              <a:t>SPM 存储阵列</a:t>
            </a:r>
          </a:p>
        </p:txBody>
      </p:sp>
      <p:sp>
        <p:nvSpPr>
          <p:cNvPr id="40" name="box40"/>
          <p:cNvSpPr/>
          <p:nvPr/>
        </p:nvSpPr>
        <p:spPr>
          <a:xfrm>
            <a:off x="10401300" y="3280410"/>
            <a:ext cx="1520190" cy="520065"/>
          </a:xfrm>
          <a:prstGeom prst="roundRect">
            <a:avLst>
              <a:gd name="adj" fmla="val 15384"/>
            </a:avLst>
          </a:prstGeom>
          <a:solidFill>
            <a:srgbClr val="F7FAF4"/>
          </a:solidFill>
          <a:ln w="16002" cap="flat">
            <a:solidFill>
              <a:srgbClr val="56708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41: 源区域"/>
          <p:cNvSpPr txBox="1"/>
          <p:nvPr/>
        </p:nvSpPr>
        <p:spPr>
          <a:xfrm>
            <a:off x="10777347" y="3393064"/>
            <a:ext cx="768096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rPr>
              <a:t>源区域</a:t>
            </a:r>
          </a:p>
        </p:txBody>
      </p:sp>
      <p:sp>
        <p:nvSpPr>
          <p:cNvPr id="42" name="box42"/>
          <p:cNvSpPr/>
          <p:nvPr/>
        </p:nvSpPr>
        <p:spPr>
          <a:xfrm>
            <a:off x="10401300" y="4160520"/>
            <a:ext cx="1520190" cy="520065"/>
          </a:xfrm>
          <a:prstGeom prst="roundRect">
            <a:avLst>
              <a:gd name="adj" fmla="val 15384"/>
            </a:avLst>
          </a:prstGeom>
          <a:solidFill>
            <a:srgbClr val="F7FAF4"/>
          </a:solidFill>
          <a:ln w="16002" cap="flat">
            <a:solidFill>
              <a:srgbClr val="56708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43: 目的区域"/>
          <p:cNvSpPr txBox="1"/>
          <p:nvPr/>
        </p:nvSpPr>
        <p:spPr>
          <a:xfrm>
            <a:off x="10681335" y="4273174"/>
            <a:ext cx="960120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rPr>
              <a:t>目的区域</a:t>
            </a:r>
          </a:p>
        </p:txBody>
      </p:sp>
      <p:sp>
        <p:nvSpPr>
          <p:cNvPr id="44" name="arrow44"/>
          <p:cNvSpPr/>
          <p:nvPr/>
        </p:nvSpPr>
        <p:spPr>
          <a:xfrm>
            <a:off x="9921240" y="3200400"/>
            <a:ext cx="480060" cy="320040"/>
          </a:xfrm>
          <a:custGeom>
            <a:avLst/>
            <a:gdLst/>
            <a:ahLst/>
            <a:cxnLst/>
            <a:rect l="0" t="0" r="r" b="b"/>
            <a:pathLst>
              <a:path w="480060" h="320040" fill="none">
                <a:moveTo>
                  <a:pt x="480060" y="320040"/>
                </a:moveTo>
                <a:lnTo>
                  <a:pt x="160020" y="320040"/>
                </a:lnTo>
                <a:lnTo>
                  <a:pt x="160020" y="0"/>
                </a:lnTo>
                <a:lnTo>
                  <a:pt x="0" y="0"/>
                </a:lnTo>
              </a:path>
            </a:pathLst>
          </a:custGeom>
          <a:noFill/>
          <a:ln w="24003" cap="flat">
            <a:solidFill>
              <a:srgbClr val="2E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arrow45"/>
          <p:cNvSpPr/>
          <p:nvPr/>
        </p:nvSpPr>
        <p:spPr>
          <a:xfrm>
            <a:off x="7520940" y="3200400"/>
            <a:ext cx="720090" cy="1"/>
          </a:xfrm>
          <a:custGeom>
            <a:avLst/>
            <a:gdLst/>
            <a:ahLst/>
            <a:cxnLst/>
            <a:rect l="0" t="0" r="r" b="b"/>
            <a:pathLst>
              <a:path w="720090" h="1" fill="none">
                <a:moveTo>
                  <a:pt x="720090" y="0"/>
                </a:moveTo>
                <a:lnTo>
                  <a:pt x="0" y="0"/>
                </a:lnTo>
              </a:path>
            </a:pathLst>
          </a:custGeom>
          <a:noFill/>
          <a:ln w="24003" cap="flat">
            <a:solidFill>
              <a:srgbClr val="2E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46: 读出"/>
          <p:cNvSpPr txBox="1"/>
          <p:nvPr/>
        </p:nvSpPr>
        <p:spPr>
          <a:xfrm>
            <a:off x="7652956" y="2884200"/>
            <a:ext cx="456057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2E75A6"/>
                </a:solidFill>
                <a:latin typeface="Microsoft YaHei"/>
                <a:ea typeface="Microsoft YaHei"/>
                <a:cs typeface="Microsoft YaHei"/>
              </a:rPr>
              <a:t>读出</a:t>
            </a:r>
          </a:p>
        </p:txBody>
      </p:sp>
      <p:sp>
        <p:nvSpPr>
          <p:cNvPr id="47" name="box47"/>
          <p:cNvSpPr/>
          <p:nvPr/>
        </p:nvSpPr>
        <p:spPr>
          <a:xfrm>
            <a:off x="720090" y="2920365"/>
            <a:ext cx="2400300" cy="800100"/>
          </a:xfrm>
          <a:prstGeom prst="roundRect">
            <a:avLst>
              <a:gd name="adj" fmla="val 10000"/>
            </a:avLst>
          </a:prstGeom>
          <a:solidFill>
            <a:srgbClr val="FCE9E8"/>
          </a:solidFill>
          <a:ln w="16002" cap="flat">
            <a:solidFill>
              <a:srgbClr val="BA454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48: 数据 FIFO 已满"/>
          <p:cNvSpPr txBox="1"/>
          <p:nvPr/>
        </p:nvSpPr>
        <p:spPr>
          <a:xfrm>
            <a:off x="1112552" y="2991094"/>
            <a:ext cx="1615377" cy="34564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1" b="1" i="0">
                <a:solidFill>
                  <a:srgbClr val="BA4548"/>
                </a:solidFill>
                <a:latin typeface="Microsoft YaHei"/>
                <a:ea typeface="Microsoft YaHei"/>
                <a:cs typeface="Microsoft YaHei"/>
              </a:rPr>
              <a:t>数据 FIFO 已满</a:t>
            </a:r>
          </a:p>
        </p:txBody>
      </p:sp>
      <p:sp>
        <p:nvSpPr>
          <p:cNvPr id="49" name="text49: RREADY = 0"/>
          <p:cNvSpPr txBox="1"/>
          <p:nvPr/>
        </p:nvSpPr>
        <p:spPr>
          <a:xfrm>
            <a:off x="1257145" y="3303773"/>
            <a:ext cx="1326191" cy="3328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8" b="0" i="0">
                <a:solidFill>
                  <a:srgbClr val="BA4548"/>
                </a:solidFill>
                <a:latin typeface="Microsoft YaHei"/>
                <a:ea typeface="Microsoft YaHei"/>
                <a:cs typeface="Microsoft YaHei"/>
              </a:rPr>
              <a:t>RREADY = 0</a:t>
            </a:r>
          </a:p>
        </p:txBody>
      </p:sp>
      <p:sp>
        <p:nvSpPr>
          <p:cNvPr id="50" name="arrow50"/>
          <p:cNvSpPr/>
          <p:nvPr/>
        </p:nvSpPr>
        <p:spPr>
          <a:xfrm>
            <a:off x="3120390" y="3200400"/>
            <a:ext cx="2720340" cy="1"/>
          </a:xfrm>
          <a:custGeom>
            <a:avLst/>
            <a:gdLst/>
            <a:ahLst/>
            <a:cxnLst/>
            <a:rect l="0" t="0" r="r" b="b"/>
            <a:pathLst>
              <a:path w="2720340" h="1" fill="none">
                <a:moveTo>
                  <a:pt x="2720340" y="0"/>
                </a:moveTo>
                <a:lnTo>
                  <a:pt x="0" y="0"/>
                </a:lnTo>
              </a:path>
            </a:pathLst>
          </a:custGeom>
          <a:noFill/>
          <a:ln w="24003" cap="flat">
            <a:solidFill>
              <a:srgbClr val="2E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51: R：LLC → DMA"/>
          <p:cNvSpPr txBox="1"/>
          <p:nvPr/>
        </p:nvSpPr>
        <p:spPr>
          <a:xfrm>
            <a:off x="3755876" y="2841635"/>
            <a:ext cx="1449369" cy="2944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9" b="0" i="0">
                <a:solidFill>
                  <a:srgbClr val="2E75A6"/>
                </a:solidFill>
                <a:latin typeface="Microsoft YaHei"/>
                <a:ea typeface="Microsoft YaHei"/>
                <a:cs typeface="Microsoft YaHei"/>
              </a:rPr>
              <a:t>R：LLC → DMA</a:t>
            </a:r>
          </a:p>
        </p:txBody>
      </p:sp>
      <p:sp>
        <p:nvSpPr>
          <p:cNvPr id="52" name="text52: 读返回暂停"/>
          <p:cNvSpPr txBox="1"/>
          <p:nvPr/>
        </p:nvSpPr>
        <p:spPr>
          <a:xfrm>
            <a:off x="3952494" y="3298332"/>
            <a:ext cx="105613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BA4548"/>
                </a:solidFill>
                <a:latin typeface="Microsoft YaHei"/>
                <a:ea typeface="Microsoft YaHei"/>
                <a:cs typeface="Microsoft YaHei"/>
              </a:rPr>
              <a:t>读返回暂停</a:t>
            </a:r>
          </a:p>
        </p:txBody>
      </p:sp>
      <p:sp>
        <p:nvSpPr>
          <p:cNvPr id="53" name="box53"/>
          <p:cNvSpPr/>
          <p:nvPr/>
        </p:nvSpPr>
        <p:spPr>
          <a:xfrm>
            <a:off x="720090" y="4280535"/>
            <a:ext cx="2400300" cy="600075"/>
          </a:xfrm>
          <a:prstGeom prst="roundRect">
            <a:avLst>
              <a:gd name="adj" fmla="val 13333"/>
            </a:avLst>
          </a:prstGeom>
          <a:solidFill>
            <a:srgbClr val="E8F0FA"/>
          </a:solidFill>
          <a:ln w="16002" cap="flat">
            <a:solidFill>
              <a:srgbClr val="56708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54: DMA 写数据通路"/>
          <p:cNvSpPr txBox="1"/>
          <p:nvPr/>
        </p:nvSpPr>
        <p:spPr>
          <a:xfrm>
            <a:off x="1119702" y="4329181"/>
            <a:ext cx="1601075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rPr>
              <a:t>DMA 写数据通路</a:t>
            </a:r>
          </a:p>
        </p:txBody>
      </p:sp>
      <p:sp>
        <p:nvSpPr>
          <p:cNvPr id="55" name="text55: 等待 W 握手"/>
          <p:cNvSpPr txBox="1"/>
          <p:nvPr/>
        </p:nvSpPr>
        <p:spPr>
          <a:xfrm>
            <a:off x="1380985" y="4603135"/>
            <a:ext cx="1078510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BA4548"/>
                </a:solidFill>
                <a:latin typeface="Microsoft YaHei"/>
                <a:ea typeface="Microsoft YaHei"/>
                <a:cs typeface="Microsoft YaHei"/>
              </a:rPr>
              <a:t>等待 W 握手</a:t>
            </a:r>
          </a:p>
        </p:txBody>
      </p:sp>
      <p:sp>
        <p:nvSpPr>
          <p:cNvPr id="56" name="arrow56"/>
          <p:cNvSpPr/>
          <p:nvPr/>
        </p:nvSpPr>
        <p:spPr>
          <a:xfrm>
            <a:off x="1920240" y="3720465"/>
            <a:ext cx="1" cy="560070"/>
          </a:xfrm>
          <a:custGeom>
            <a:avLst/>
            <a:gdLst/>
            <a:ahLst/>
            <a:cxnLst/>
            <a:rect l="0" t="0" r="r" b="b"/>
            <a:pathLst>
              <a:path w="1" h="560070" fill="none">
                <a:moveTo>
                  <a:pt x="0" y="0"/>
                </a:moveTo>
                <a:lnTo>
                  <a:pt x="0" y="560070"/>
                </a:lnTo>
              </a:path>
            </a:pathLst>
          </a:custGeom>
          <a:noFill/>
          <a:ln w="24003" cap="flat">
            <a:solidFill>
              <a:srgbClr val="2E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57: 不能出队"/>
          <p:cNvSpPr txBox="1"/>
          <p:nvPr/>
        </p:nvSpPr>
        <p:spPr>
          <a:xfrm>
            <a:off x="2080260" y="3859042"/>
            <a:ext cx="840105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BA4548"/>
                </a:solidFill>
                <a:latin typeface="Microsoft YaHei"/>
                <a:ea typeface="Microsoft YaHei"/>
                <a:cs typeface="Microsoft YaHei"/>
              </a:rPr>
              <a:t>不能出队</a:t>
            </a:r>
          </a:p>
        </p:txBody>
      </p:sp>
      <p:sp>
        <p:nvSpPr>
          <p:cNvPr id="58" name="box58"/>
          <p:cNvSpPr/>
          <p:nvPr/>
        </p:nvSpPr>
        <p:spPr>
          <a:xfrm>
            <a:off x="5840730" y="4160520"/>
            <a:ext cx="1680210" cy="720090"/>
          </a:xfrm>
          <a:prstGeom prst="roundRect">
            <a:avLst>
              <a:gd name="adj" fmla="val 11111"/>
            </a:avLst>
          </a:prstGeom>
          <a:solidFill>
            <a:srgbClr val="FCE9E8"/>
          </a:solidFill>
          <a:ln w="16002" cap="flat">
            <a:solidFill>
              <a:srgbClr val="BA454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59: W 数据 FIFO"/>
          <p:cNvSpPr txBox="1"/>
          <p:nvPr/>
        </p:nvSpPr>
        <p:spPr>
          <a:xfrm>
            <a:off x="6076259" y="4233169"/>
            <a:ext cx="1209151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rPr>
              <a:t>W 数据 FIFO</a:t>
            </a:r>
          </a:p>
        </p:txBody>
      </p:sp>
      <p:sp>
        <p:nvSpPr>
          <p:cNvPr id="60" name="text60: 数据排不出去"/>
          <p:cNvSpPr txBox="1"/>
          <p:nvPr/>
        </p:nvSpPr>
        <p:spPr>
          <a:xfrm>
            <a:off x="6092762" y="4547128"/>
            <a:ext cx="1176147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BA4548"/>
                </a:solidFill>
                <a:latin typeface="Microsoft YaHei"/>
                <a:ea typeface="Microsoft YaHei"/>
                <a:cs typeface="Microsoft YaHei"/>
              </a:rPr>
              <a:t>数据排不出去</a:t>
            </a:r>
          </a:p>
        </p:txBody>
      </p:sp>
      <p:sp>
        <p:nvSpPr>
          <p:cNvPr id="61" name="box61"/>
          <p:cNvSpPr/>
          <p:nvPr/>
        </p:nvSpPr>
        <p:spPr>
          <a:xfrm>
            <a:off x="8241030" y="4160520"/>
            <a:ext cx="1680210" cy="720090"/>
          </a:xfrm>
          <a:prstGeom prst="roundRect">
            <a:avLst>
              <a:gd name="adj" fmla="val 11111"/>
            </a:avLst>
          </a:prstGeom>
          <a:solidFill>
            <a:srgbClr val="FFF1E1"/>
          </a:solidFill>
          <a:ln w="16002" cap="flat">
            <a:solidFill>
              <a:srgbClr val="56708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62: 写单元"/>
          <p:cNvSpPr txBox="1"/>
          <p:nvPr/>
        </p:nvSpPr>
        <p:spPr>
          <a:xfrm>
            <a:off x="8681085" y="4224528"/>
            <a:ext cx="800100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rPr>
              <a:t>写单元</a:t>
            </a:r>
          </a:p>
        </p:txBody>
      </p:sp>
      <p:sp>
        <p:nvSpPr>
          <p:cNvPr id="63" name="text63: 空闲，等描述符"/>
          <p:cNvSpPr txBox="1"/>
          <p:nvPr/>
        </p:nvSpPr>
        <p:spPr>
          <a:xfrm>
            <a:off x="8441055" y="4555769"/>
            <a:ext cx="128016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BA4548"/>
                </a:solidFill>
                <a:latin typeface="Microsoft YaHei"/>
                <a:ea typeface="Microsoft YaHei"/>
                <a:cs typeface="Microsoft YaHei"/>
              </a:rPr>
              <a:t>空闲，等描述符</a:t>
            </a:r>
          </a:p>
        </p:txBody>
      </p:sp>
      <p:sp>
        <p:nvSpPr>
          <p:cNvPr id="64" name="arrow64"/>
          <p:cNvSpPr/>
          <p:nvPr/>
        </p:nvSpPr>
        <p:spPr>
          <a:xfrm>
            <a:off x="3120390" y="4560570"/>
            <a:ext cx="2720340" cy="1"/>
          </a:xfrm>
          <a:custGeom>
            <a:avLst/>
            <a:gdLst/>
            <a:ahLst/>
            <a:cxnLst/>
            <a:rect l="0" t="0" r="r" b="b"/>
            <a:pathLst>
              <a:path w="2720340" h="1" fill="none">
                <a:moveTo>
                  <a:pt x="0" y="0"/>
                </a:moveTo>
                <a:lnTo>
                  <a:pt x="2720340" y="0"/>
                </a:lnTo>
              </a:path>
            </a:pathLst>
          </a:custGeom>
          <a:noFill/>
          <a:ln w="24003" cap="flat">
            <a:solidFill>
              <a:srgbClr val="2E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65: W：DMA → LLC"/>
          <p:cNvSpPr txBox="1"/>
          <p:nvPr/>
        </p:nvSpPr>
        <p:spPr>
          <a:xfrm>
            <a:off x="3737455" y="4193804"/>
            <a:ext cx="1486211" cy="2944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9" b="0" i="0">
                <a:solidFill>
                  <a:srgbClr val="2E75A6"/>
                </a:solidFill>
                <a:latin typeface="Microsoft YaHei"/>
                <a:ea typeface="Microsoft YaHei"/>
                <a:cs typeface="Microsoft YaHei"/>
              </a:rPr>
              <a:t>W：DMA → LLC</a:t>
            </a:r>
          </a:p>
        </p:txBody>
      </p:sp>
      <p:sp>
        <p:nvSpPr>
          <p:cNvPr id="66" name="text66: WREADY = 0"/>
          <p:cNvSpPr txBox="1"/>
          <p:nvPr/>
        </p:nvSpPr>
        <p:spPr>
          <a:xfrm>
            <a:off x="3901863" y="4618497"/>
            <a:ext cx="115739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BA4548"/>
                </a:solidFill>
                <a:latin typeface="Microsoft YaHei"/>
                <a:ea typeface="Microsoft YaHei"/>
                <a:cs typeface="Microsoft YaHei"/>
              </a:rPr>
              <a:t>WREADY = 0</a:t>
            </a:r>
          </a:p>
        </p:txBody>
      </p:sp>
      <p:sp>
        <p:nvSpPr>
          <p:cNvPr id="67" name="arrow67"/>
          <p:cNvSpPr/>
          <p:nvPr/>
        </p:nvSpPr>
        <p:spPr>
          <a:xfrm>
            <a:off x="7520940" y="4520565"/>
            <a:ext cx="720090" cy="1"/>
          </a:xfrm>
          <a:custGeom>
            <a:avLst/>
            <a:gdLst/>
            <a:ahLst/>
            <a:cxnLst/>
            <a:rect l="0" t="0" r="r" b="b"/>
            <a:pathLst>
              <a:path w="720090" h="1" fill="none">
                <a:moveTo>
                  <a:pt x="0" y="0"/>
                </a:moveTo>
                <a:lnTo>
                  <a:pt x="720090" y="0"/>
                </a:lnTo>
              </a:path>
            </a:pathLst>
          </a:custGeom>
          <a:noFill/>
          <a:ln w="24003" cap="flat">
            <a:solidFill>
              <a:srgbClr val="2E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arrow68"/>
          <p:cNvSpPr/>
          <p:nvPr/>
        </p:nvSpPr>
        <p:spPr>
          <a:xfrm>
            <a:off x="9921240" y="4440555"/>
            <a:ext cx="480060" cy="1"/>
          </a:xfrm>
          <a:custGeom>
            <a:avLst/>
            <a:gdLst/>
            <a:ahLst/>
            <a:cxnLst/>
            <a:rect l="0" t="0" r="r" b="b"/>
            <a:pathLst>
              <a:path w="480060" h="1" fill="none">
                <a:moveTo>
                  <a:pt x="0" y="0"/>
                </a:moveTo>
                <a:lnTo>
                  <a:pt x="480060" y="0"/>
                </a:lnTo>
              </a:path>
            </a:pathLst>
          </a:custGeom>
          <a:noFill/>
          <a:ln w="24003" cap="flat">
            <a:solidFill>
              <a:srgbClr val="2E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69: 中间互连及缓冲合并表示"/>
          <p:cNvSpPr txBox="1"/>
          <p:nvPr/>
        </p:nvSpPr>
        <p:spPr>
          <a:xfrm>
            <a:off x="3616452" y="5077115"/>
            <a:ext cx="172821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567082"/>
                </a:solidFill>
                <a:latin typeface="Microsoft YaHei"/>
                <a:ea typeface="Microsoft YaHei"/>
                <a:cs typeface="Microsoft YaHei"/>
              </a:rPr>
              <a:t>中间互连及缓冲合并表示</a:t>
            </a:r>
          </a:p>
        </p:txBody>
      </p:sp>
      <p:sp>
        <p:nvSpPr>
          <p:cNvPr id="70" name="text70: 形成过程：读请求先行 → 写被挡住 → 反压形成循环"/>
          <p:cNvSpPr txBox="1"/>
          <p:nvPr/>
        </p:nvSpPr>
        <p:spPr>
          <a:xfrm>
            <a:off x="400050" y="5550134"/>
            <a:ext cx="5614902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rPr>
              <a:t>形成过程：读请求先行 → 写被挡住 → 反压形成循环</a:t>
            </a:r>
          </a:p>
        </p:txBody>
      </p:sp>
      <p:sp>
        <p:nvSpPr>
          <p:cNvPr id="71" name="box71"/>
          <p:cNvSpPr/>
          <p:nvPr/>
        </p:nvSpPr>
        <p:spPr>
          <a:xfrm>
            <a:off x="400050" y="6240780"/>
            <a:ext cx="2080260" cy="800100"/>
          </a:xfrm>
          <a:prstGeom prst="roundRect">
            <a:avLst>
              <a:gd name="adj" fmla="val 10000"/>
            </a:avLst>
          </a:prstGeom>
          <a:solidFill>
            <a:srgbClr val="FCEEEE"/>
          </a:solidFill>
          <a:ln w="16002" cap="flat">
            <a:solidFill>
              <a:srgbClr val="BA454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72: ① 写描述符被阻挡"/>
          <p:cNvSpPr txBox="1"/>
          <p:nvPr/>
        </p:nvSpPr>
        <p:spPr>
          <a:xfrm>
            <a:off x="584492" y="6362075"/>
            <a:ext cx="1711376" cy="2944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9" b="1" i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rPr>
              <a:t>① 写描述符被阻挡</a:t>
            </a:r>
          </a:p>
        </p:txBody>
      </p:sp>
      <p:sp>
        <p:nvSpPr>
          <p:cNvPr id="73" name="text73: LLC 无法消耗 W 数据"/>
          <p:cNvSpPr txBox="1"/>
          <p:nvPr/>
        </p:nvSpPr>
        <p:spPr>
          <a:xfrm>
            <a:off x="613033" y="6676034"/>
            <a:ext cx="1654294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BA4548"/>
                </a:solidFill>
                <a:latin typeface="Microsoft YaHei"/>
                <a:ea typeface="Microsoft YaHei"/>
                <a:cs typeface="Microsoft YaHei"/>
              </a:rPr>
              <a:t>LLC 无法消耗 W 数据</a:t>
            </a:r>
          </a:p>
        </p:txBody>
      </p:sp>
      <p:sp>
        <p:nvSpPr>
          <p:cNvPr id="74" name="arrow74"/>
          <p:cNvSpPr/>
          <p:nvPr/>
        </p:nvSpPr>
        <p:spPr>
          <a:xfrm>
            <a:off x="2480310" y="6640830"/>
            <a:ext cx="400050" cy="1"/>
          </a:xfrm>
          <a:custGeom>
            <a:avLst/>
            <a:gdLst/>
            <a:ahLst/>
            <a:cxnLst/>
            <a:rect l="0" t="0" r="r" b="b"/>
            <a:pathLst>
              <a:path w="400050" h="1" fill="none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24003" cap="flat">
            <a:solidFill>
              <a:srgbClr val="BA454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box75"/>
          <p:cNvSpPr/>
          <p:nvPr/>
        </p:nvSpPr>
        <p:spPr>
          <a:xfrm>
            <a:off x="2880360" y="6240780"/>
            <a:ext cx="2080260" cy="800100"/>
          </a:xfrm>
          <a:prstGeom prst="roundRect">
            <a:avLst>
              <a:gd name="adj" fmla="val 10000"/>
            </a:avLst>
          </a:prstGeom>
          <a:solidFill>
            <a:srgbClr val="FCEEEE"/>
          </a:solidFill>
          <a:ln w="16002" cap="flat">
            <a:solidFill>
              <a:srgbClr val="BA454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76: ② DMA FIFO 填满"/>
          <p:cNvSpPr txBox="1"/>
          <p:nvPr/>
        </p:nvSpPr>
        <p:spPr>
          <a:xfrm>
            <a:off x="3109370" y="6362075"/>
            <a:ext cx="1622240" cy="2944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9" b="1" i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rPr>
              <a:t>② DMA FIFO 填满</a:t>
            </a:r>
          </a:p>
        </p:txBody>
      </p:sp>
      <p:sp>
        <p:nvSpPr>
          <p:cNvPr id="77" name="text77: 写不出，读入占满空间"/>
          <p:cNvSpPr txBox="1"/>
          <p:nvPr/>
        </p:nvSpPr>
        <p:spPr>
          <a:xfrm>
            <a:off x="3040380" y="6676034"/>
            <a:ext cx="176022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BA4548"/>
                </a:solidFill>
                <a:latin typeface="Microsoft YaHei"/>
                <a:ea typeface="Microsoft YaHei"/>
                <a:cs typeface="Microsoft YaHei"/>
              </a:rPr>
              <a:t>写不出，读入占满空间</a:t>
            </a:r>
          </a:p>
        </p:txBody>
      </p:sp>
      <p:sp>
        <p:nvSpPr>
          <p:cNvPr id="78" name="arrow78"/>
          <p:cNvSpPr/>
          <p:nvPr/>
        </p:nvSpPr>
        <p:spPr>
          <a:xfrm>
            <a:off x="4960620" y="6640830"/>
            <a:ext cx="400050" cy="1"/>
          </a:xfrm>
          <a:custGeom>
            <a:avLst/>
            <a:gdLst/>
            <a:ahLst/>
            <a:cxnLst/>
            <a:rect l="0" t="0" r="r" b="b"/>
            <a:pathLst>
              <a:path w="400050" h="1" fill="none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24003" cap="flat">
            <a:solidFill>
              <a:srgbClr val="BA454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box79"/>
          <p:cNvSpPr/>
          <p:nvPr/>
        </p:nvSpPr>
        <p:spPr>
          <a:xfrm>
            <a:off x="5360670" y="6240780"/>
            <a:ext cx="2080260" cy="800100"/>
          </a:xfrm>
          <a:prstGeom prst="roundRect">
            <a:avLst>
              <a:gd name="adj" fmla="val 10000"/>
            </a:avLst>
          </a:prstGeom>
          <a:solidFill>
            <a:srgbClr val="FCEEEE"/>
          </a:solidFill>
          <a:ln w="16002" cap="flat">
            <a:solidFill>
              <a:srgbClr val="BA454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80: ③ DMA 停止接收 R"/>
          <p:cNvSpPr txBox="1"/>
          <p:nvPr/>
        </p:nvSpPr>
        <p:spPr>
          <a:xfrm>
            <a:off x="5521478" y="6362075"/>
            <a:ext cx="1758645" cy="2944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9" b="1" i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rPr>
              <a:t>③ DMA 停止接收 R</a:t>
            </a:r>
          </a:p>
        </p:txBody>
      </p:sp>
      <p:sp>
        <p:nvSpPr>
          <p:cNvPr id="81" name="text81: RREADY 拉低为 0"/>
          <p:cNvSpPr txBox="1"/>
          <p:nvPr/>
        </p:nvSpPr>
        <p:spPr>
          <a:xfrm>
            <a:off x="5698662" y="6676034"/>
            <a:ext cx="1404276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BA4548"/>
                </a:solidFill>
                <a:latin typeface="Microsoft YaHei"/>
                <a:ea typeface="Microsoft YaHei"/>
                <a:cs typeface="Microsoft YaHei"/>
              </a:rPr>
              <a:t>RREADY 拉低为 0</a:t>
            </a:r>
          </a:p>
        </p:txBody>
      </p:sp>
      <p:sp>
        <p:nvSpPr>
          <p:cNvPr id="82" name="arrow82"/>
          <p:cNvSpPr/>
          <p:nvPr/>
        </p:nvSpPr>
        <p:spPr>
          <a:xfrm>
            <a:off x="7440930" y="6640830"/>
            <a:ext cx="400050" cy="1"/>
          </a:xfrm>
          <a:custGeom>
            <a:avLst/>
            <a:gdLst/>
            <a:ahLst/>
            <a:cxnLst/>
            <a:rect l="0" t="0" r="r" b="b"/>
            <a:pathLst>
              <a:path w="400050" h="1" fill="none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24003" cap="flat">
            <a:solidFill>
              <a:srgbClr val="BA454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box83"/>
          <p:cNvSpPr/>
          <p:nvPr/>
        </p:nvSpPr>
        <p:spPr>
          <a:xfrm>
            <a:off x="7840980" y="6240780"/>
            <a:ext cx="2080260" cy="800100"/>
          </a:xfrm>
          <a:prstGeom prst="roundRect">
            <a:avLst>
              <a:gd name="adj" fmla="val 10000"/>
            </a:avLst>
          </a:prstGeom>
          <a:solidFill>
            <a:srgbClr val="FCEEEE"/>
          </a:solidFill>
          <a:ln w="16002" cap="flat">
            <a:solidFill>
              <a:srgbClr val="BA454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84: ④ LLC 返回 FIFO 满"/>
          <p:cNvSpPr txBox="1"/>
          <p:nvPr/>
        </p:nvSpPr>
        <p:spPr>
          <a:xfrm>
            <a:off x="7988942" y="6362075"/>
            <a:ext cx="1784336" cy="2944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9" b="1" i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rPr>
              <a:t>④ LLC 返回 FIFO 满</a:t>
            </a:r>
          </a:p>
        </p:txBody>
      </p:sp>
      <p:sp>
        <p:nvSpPr>
          <p:cNvPr id="85" name="text85: 前面的读请求停住"/>
          <p:cNvSpPr txBox="1"/>
          <p:nvPr/>
        </p:nvSpPr>
        <p:spPr>
          <a:xfrm>
            <a:off x="8161020" y="6676034"/>
            <a:ext cx="144018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BA4548"/>
                </a:solidFill>
                <a:latin typeface="Microsoft YaHei"/>
                <a:ea typeface="Microsoft YaHei"/>
                <a:cs typeface="Microsoft YaHei"/>
              </a:rPr>
              <a:t>前面的读请求停住</a:t>
            </a:r>
          </a:p>
        </p:txBody>
      </p:sp>
      <p:sp>
        <p:nvSpPr>
          <p:cNvPr id="86" name="arrow86"/>
          <p:cNvSpPr/>
          <p:nvPr/>
        </p:nvSpPr>
        <p:spPr>
          <a:xfrm>
            <a:off x="9921240" y="6640830"/>
            <a:ext cx="400050" cy="1"/>
          </a:xfrm>
          <a:custGeom>
            <a:avLst/>
            <a:gdLst/>
            <a:ahLst/>
            <a:cxnLst/>
            <a:rect l="0" t="0" r="r" b="b"/>
            <a:pathLst>
              <a:path w="400050" h="1" fill="none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24003" cap="flat">
            <a:solidFill>
              <a:srgbClr val="BA454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box87"/>
          <p:cNvSpPr/>
          <p:nvPr/>
        </p:nvSpPr>
        <p:spPr>
          <a:xfrm>
            <a:off x="10321290" y="6240780"/>
            <a:ext cx="2080260" cy="800100"/>
          </a:xfrm>
          <a:prstGeom prst="roundRect">
            <a:avLst>
              <a:gd name="adj" fmla="val 10000"/>
            </a:avLst>
          </a:prstGeom>
          <a:solidFill>
            <a:srgbClr val="FCEEEE"/>
          </a:solidFill>
          <a:ln w="16002" cap="flat">
            <a:solidFill>
              <a:srgbClr val="BA454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88: ⑤ 共享流水线停住"/>
          <p:cNvSpPr txBox="1"/>
          <p:nvPr/>
        </p:nvSpPr>
        <p:spPr>
          <a:xfrm>
            <a:off x="10505732" y="6362075"/>
            <a:ext cx="1711376" cy="2944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9" b="1" i="0">
                <a:solidFill>
                  <a:srgbClr val="243746"/>
                </a:solidFill>
                <a:latin typeface="Microsoft YaHei"/>
                <a:ea typeface="Microsoft YaHei"/>
                <a:cs typeface="Microsoft YaHei"/>
              </a:rPr>
              <a:t>⑤ 共享流水线停住</a:t>
            </a:r>
          </a:p>
        </p:txBody>
      </p:sp>
      <p:sp>
        <p:nvSpPr>
          <p:cNvPr id="89" name="text89: 后面的写仍无法前进"/>
          <p:cNvSpPr txBox="1"/>
          <p:nvPr/>
        </p:nvSpPr>
        <p:spPr>
          <a:xfrm>
            <a:off x="10561320" y="6676034"/>
            <a:ext cx="160020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BA4548"/>
                </a:solidFill>
                <a:latin typeface="Microsoft YaHei"/>
                <a:ea typeface="Microsoft YaHei"/>
                <a:cs typeface="Microsoft YaHei"/>
              </a:rPr>
              <a:t>后面的写仍无法前进</a:t>
            </a:r>
          </a:p>
        </p:txBody>
      </p:sp>
      <p:sp>
        <p:nvSpPr>
          <p:cNvPr id="90" name="arrow90"/>
          <p:cNvSpPr/>
          <p:nvPr/>
        </p:nvSpPr>
        <p:spPr>
          <a:xfrm>
            <a:off x="1440180" y="7040880"/>
            <a:ext cx="9921240" cy="440055"/>
          </a:xfrm>
          <a:custGeom>
            <a:avLst/>
            <a:gdLst/>
            <a:ahLst/>
            <a:cxnLst/>
            <a:rect l="0" t="0" r="r" b="b"/>
            <a:pathLst>
              <a:path w="9921240" h="440055" fill="none">
                <a:moveTo>
                  <a:pt x="9921240" y="0"/>
                </a:moveTo>
                <a:lnTo>
                  <a:pt x="9921240" y="440055"/>
                </a:lnTo>
                <a:lnTo>
                  <a:pt x="0" y="440055"/>
                </a:lnTo>
                <a:lnTo>
                  <a:pt x="0" y="0"/>
                </a:lnTo>
              </a:path>
            </a:pathLst>
          </a:custGeom>
          <a:noFill/>
          <a:ln w="24003" cap="flat">
            <a:solidFill>
              <a:srgbClr val="BA4548"/>
            </a:solidFill>
            <a:custDash>
              <a:ds d="30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91: 循环中的反压本身合理，但没有任何一方能再释放空间"/>
          <p:cNvSpPr txBox="1"/>
          <p:nvPr/>
        </p:nvSpPr>
        <p:spPr>
          <a:xfrm>
            <a:off x="4000500" y="7553584"/>
            <a:ext cx="4800600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BA4548"/>
                </a:solidFill>
                <a:latin typeface="Microsoft YaHei"/>
                <a:ea typeface="Microsoft YaHei"/>
                <a:cs typeface="Microsoft YaHei"/>
              </a:rPr>
              <a:t>循环中的反压本身合理，但没有任何一方能再释放空间</a:t>
            </a:r>
          </a:p>
        </p:txBody>
      </p:sp>
      <p:sp>
        <p:nvSpPr>
          <p:cNvPr id="92" name="box92"/>
          <p:cNvSpPr/>
          <p:nvPr/>
        </p:nvSpPr>
        <p:spPr>
          <a:xfrm>
            <a:off x="400050" y="8081010"/>
            <a:ext cx="12001500" cy="840105"/>
          </a:xfrm>
          <a:prstGeom prst="roundRect">
            <a:avLst>
              <a:gd name="adj" fmla="val 9523"/>
            </a:avLst>
          </a:prstGeom>
          <a:solidFill>
            <a:srgbClr val="E5F3EC"/>
          </a:solidFill>
          <a:ln w="16002" cap="flat">
            <a:solidFill>
              <a:srgbClr val="2F806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93: 原对齐用例：DECOUPLE_AW = 1 可避开上述循环"/>
          <p:cNvSpPr txBox="1"/>
          <p:nvPr/>
        </p:nvSpPr>
        <p:spPr>
          <a:xfrm>
            <a:off x="600075" y="8159740"/>
            <a:ext cx="4911026" cy="34564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1" b="1" i="0">
                <a:solidFill>
                  <a:srgbClr val="2F8068"/>
                </a:solidFill>
                <a:latin typeface="Microsoft YaHei"/>
                <a:ea typeface="Microsoft YaHei"/>
                <a:cs typeface="Microsoft YaHei"/>
              </a:rPr>
              <a:t>原对齐用例：DECOUPLE_AW = 1 可避开上述循环</a:t>
            </a:r>
          </a:p>
        </p:txBody>
      </p:sp>
      <p:sp>
        <p:nvSpPr>
          <p:cNvPr id="94" name="text94: 提前发 AW"/>
          <p:cNvSpPr txBox="1"/>
          <p:nvPr/>
        </p:nvSpPr>
        <p:spPr>
          <a:xfrm>
            <a:off x="600075" y="8497062"/>
            <a:ext cx="1135879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F8068"/>
                </a:solidFill>
                <a:latin typeface="Microsoft YaHei"/>
                <a:ea typeface="Microsoft YaHei"/>
                <a:cs typeface="Microsoft YaHei"/>
              </a:rPr>
              <a:t>提前发 AW</a:t>
            </a:r>
          </a:p>
        </p:txBody>
      </p:sp>
      <p:sp>
        <p:nvSpPr>
          <p:cNvPr id="95" name="arrow95"/>
          <p:cNvSpPr/>
          <p:nvPr/>
        </p:nvSpPr>
        <p:spPr>
          <a:xfrm>
            <a:off x="2080260" y="8641080"/>
            <a:ext cx="600075" cy="1"/>
          </a:xfrm>
          <a:custGeom>
            <a:avLst/>
            <a:gdLst/>
            <a:ahLst/>
            <a:cxnLst/>
            <a:rect l="0" t="0" r="r" b="b"/>
            <a:pathLst>
              <a:path w="600075" h="1" fill="none">
                <a:moveTo>
                  <a:pt x="0" y="0"/>
                </a:moveTo>
                <a:lnTo>
                  <a:pt x="600075" y="0"/>
                </a:lnTo>
              </a:path>
            </a:pathLst>
          </a:custGeom>
          <a:noFill/>
          <a:ln w="24003" cap="flat">
            <a:solidFill>
              <a:srgbClr val="2F806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text96: 写请求更早进入"/>
          <p:cNvSpPr txBox="1"/>
          <p:nvPr/>
        </p:nvSpPr>
        <p:spPr>
          <a:xfrm>
            <a:off x="2840355" y="8497062"/>
            <a:ext cx="1600200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F8068"/>
                </a:solidFill>
                <a:latin typeface="Microsoft YaHei"/>
                <a:ea typeface="Microsoft YaHei"/>
                <a:cs typeface="Microsoft YaHei"/>
              </a:rPr>
              <a:t>写请求更早进入</a:t>
            </a:r>
          </a:p>
        </p:txBody>
      </p:sp>
      <p:sp>
        <p:nvSpPr>
          <p:cNvPr id="97" name="arrow97"/>
          <p:cNvSpPr/>
          <p:nvPr/>
        </p:nvSpPr>
        <p:spPr>
          <a:xfrm>
            <a:off x="4640580" y="8641080"/>
            <a:ext cx="600075" cy="1"/>
          </a:xfrm>
          <a:custGeom>
            <a:avLst/>
            <a:gdLst/>
            <a:ahLst/>
            <a:cxnLst/>
            <a:rect l="0" t="0" r="r" b="b"/>
            <a:pathLst>
              <a:path w="600075" h="1" fill="none">
                <a:moveTo>
                  <a:pt x="0" y="0"/>
                </a:moveTo>
                <a:lnTo>
                  <a:pt x="600075" y="0"/>
                </a:lnTo>
              </a:path>
            </a:pathLst>
          </a:custGeom>
          <a:noFill/>
          <a:ln w="24003" cap="flat">
            <a:solidFill>
              <a:srgbClr val="2F806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text98: W 数据排出 / FIFO 腾空"/>
          <p:cNvSpPr txBox="1"/>
          <p:nvPr/>
        </p:nvSpPr>
        <p:spPr>
          <a:xfrm>
            <a:off x="5400675" y="8497062"/>
            <a:ext cx="2283498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F8068"/>
                </a:solidFill>
                <a:latin typeface="Microsoft YaHei"/>
                <a:ea typeface="Microsoft YaHei"/>
                <a:cs typeface="Microsoft YaHei"/>
              </a:rPr>
              <a:t>W 数据排出 / FIFO 腾空</a:t>
            </a:r>
          </a:p>
        </p:txBody>
      </p:sp>
      <p:sp>
        <p:nvSpPr>
          <p:cNvPr id="99" name="arrow99"/>
          <p:cNvSpPr/>
          <p:nvPr/>
        </p:nvSpPr>
        <p:spPr>
          <a:xfrm>
            <a:off x="8001000" y="8641080"/>
            <a:ext cx="600075" cy="1"/>
          </a:xfrm>
          <a:custGeom>
            <a:avLst/>
            <a:gdLst/>
            <a:ahLst/>
            <a:cxnLst/>
            <a:rect l="0" t="0" r="r" b="b"/>
            <a:pathLst>
              <a:path w="600075" h="1" fill="none">
                <a:moveTo>
                  <a:pt x="0" y="0"/>
                </a:moveTo>
                <a:lnTo>
                  <a:pt x="600075" y="0"/>
                </a:lnTo>
              </a:path>
            </a:pathLst>
          </a:custGeom>
          <a:noFill/>
          <a:ln w="24003" cap="flat">
            <a:solidFill>
              <a:srgbClr val="2F806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text100: DMA 继续接收 R"/>
          <p:cNvSpPr txBox="1"/>
          <p:nvPr/>
        </p:nvSpPr>
        <p:spPr>
          <a:xfrm>
            <a:off x="8761095" y="8497062"/>
            <a:ext cx="1651569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F8068"/>
                </a:solidFill>
                <a:latin typeface="Microsoft YaHei"/>
                <a:ea typeface="Microsoft YaHei"/>
                <a:cs typeface="Microsoft YaHei"/>
              </a:rPr>
              <a:t>DMA 继续接收 R</a:t>
            </a:r>
          </a:p>
        </p:txBody>
      </p:sp>
      <p:sp>
        <p:nvSpPr>
          <p:cNvPr id="101" name="read-first-event"/>
          <p:cNvSpPr/>
          <p:nvPr/>
        </p:nvSpPr>
        <p:spPr>
          <a:xfrm>
            <a:off x="1000125" y="2360295"/>
            <a:ext cx="1" cy="560070"/>
          </a:xfrm>
          <a:custGeom>
            <a:avLst/>
            <a:gdLst/>
            <a:ahLst/>
            <a:cxnLst/>
            <a:rect l="0" t="0" r="r" b="b"/>
            <a:pathLst>
              <a:path w="1" h="560070" fill="none">
                <a:moveTo>
                  <a:pt x="0" y="560070"/>
                </a:moveTo>
                <a:lnTo>
                  <a:pt x="0" y="0"/>
                </a:lnTo>
              </a:path>
            </a:pathLst>
          </a:custGeom>
          <a:noFill/>
          <a:ln w="24003" cap="flat">
            <a:solidFill>
              <a:srgbClr val="8060A4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read-first-label: R 首拍握手事件"/>
          <p:cNvSpPr txBox="1"/>
          <p:nvPr/>
        </p:nvSpPr>
        <p:spPr>
          <a:xfrm>
            <a:off x="1200150" y="2523515"/>
            <a:ext cx="1267196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8060A4"/>
                </a:solidFill>
                <a:latin typeface="Microsoft YaHei"/>
                <a:ea typeface="Microsoft YaHei"/>
                <a:cs typeface="Microsoft YaHei"/>
              </a:rPr>
              <a:t>R 首拍握手事件</a:t>
            </a:r>
          </a:p>
        </p:txBody>
      </p:sp>
      <p:sp>
        <p:nvSpPr>
          <p:cNvPr id="103" name="aw-already-sent: 首条已发，但入队偏晚"/>
          <p:cNvSpPr txBox="1"/>
          <p:nvPr/>
        </p:nvSpPr>
        <p:spPr>
          <a:xfrm>
            <a:off x="3600450" y="2531516"/>
            <a:ext cx="176022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BA4548"/>
                </a:solidFill>
                <a:latin typeface="Microsoft YaHei"/>
                <a:ea typeface="Microsoft YaHei"/>
                <a:cs typeface="Microsoft YaHei"/>
              </a:rPr>
              <a:t>首条已发，但入队偏晚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