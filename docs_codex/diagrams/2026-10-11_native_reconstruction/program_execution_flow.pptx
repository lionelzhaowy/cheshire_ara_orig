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从复位到应用返回的程序执行流程"/>
          <p:cNvSpPr txBox="1"/>
          <p:nvPr/>
        </p:nvSpPr>
        <p:spPr>
          <a:xfrm>
            <a:off x="320040" y="149139"/>
            <a:ext cx="5376672" cy="5376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4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从复位到应用返回的程序执行流程</a:t>
            </a:r>
          </a:p>
        </p:txBody>
      </p:sp>
      <p:sp>
        <p:nvSpPr>
          <p:cNvPr id="3" name="text-003: 示例：SPI NOR 自主启动（boot_mode=2），PlatformRom"/>
          <p:cNvSpPr txBox="1"/>
          <p:nvPr/>
        </p:nvSpPr>
        <p:spPr>
          <a:xfrm>
            <a:off x="320040" y="650001"/>
            <a:ext cx="7416539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示例：SPI NOR 自主启动（boot_mode=2），PlatformRom=0；程序使用根 SDK 的 CRT0</a:t>
            </a:r>
          </a:p>
        </p:txBody>
      </p:sp>
      <p:sp>
        <p:nvSpPr>
          <p:cNvPr id="4" name="rect-004"/>
          <p:cNvSpPr/>
          <p:nvPr/>
        </p:nvSpPr>
        <p:spPr>
          <a:xfrm>
            <a:off x="320040" y="112014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-005"/>
          <p:cNvSpPr/>
          <p:nvPr/>
        </p:nvSpPr>
        <p:spPr>
          <a:xfrm>
            <a:off x="4880610" y="1120140"/>
            <a:ext cx="4160520" cy="5520690"/>
          </a:xfrm>
          <a:prstGeom prst="roundRect">
            <a:avLst>
              <a:gd name="adj" fmla="val 2692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6"/>
          <p:cNvSpPr/>
          <p:nvPr/>
        </p:nvSpPr>
        <p:spPr>
          <a:xfrm>
            <a:off x="9441180" y="1120140"/>
            <a:ext cx="3040380" cy="5520690"/>
          </a:xfrm>
          <a:prstGeom prst="roundRect">
            <a:avLst>
              <a:gd name="adj" fmla="val 3684"/>
            </a:avLst>
          </a:prstGeom>
          <a:solidFill>
            <a:srgbClr val="F5F7FA"/>
          </a:solidFill>
          <a:ln w="16002" cap="flat">
            <a:solidFill>
              <a:srgbClr val="B8C6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片上 Boot ROM 镜像"/>
          <p:cNvSpPr txBox="1"/>
          <p:nvPr/>
        </p:nvSpPr>
        <p:spPr>
          <a:xfrm>
            <a:off x="560070" y="1213592"/>
            <a:ext cx="2515052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片上 Boot ROM 镜像</a:t>
            </a:r>
          </a:p>
        </p:txBody>
      </p:sp>
      <p:sp>
        <p:nvSpPr>
          <p:cNvPr id="8" name="text-008: SPM 中的应用 / ZSL 镜像"/>
          <p:cNvSpPr txBox="1"/>
          <p:nvPr/>
        </p:nvSpPr>
        <p:spPr>
          <a:xfrm>
            <a:off x="5120640" y="1213592"/>
            <a:ext cx="2958370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SPM 中的应用 / ZSL 镜像</a:t>
            </a:r>
          </a:p>
        </p:txBody>
      </p:sp>
      <p:sp>
        <p:nvSpPr>
          <p:cNvPr id="9" name="text-009: 完成后的状态与观察"/>
          <p:cNvSpPr txBox="1"/>
          <p:nvPr/>
        </p:nvSpPr>
        <p:spPr>
          <a:xfrm>
            <a:off x="9681210" y="1222233"/>
            <a:ext cx="2240280" cy="35844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64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完成后的状态与观察</a:t>
            </a:r>
          </a:p>
        </p:txBody>
      </p:sp>
      <p:sp>
        <p:nvSpPr>
          <p:cNvPr id="10" name="rect-010"/>
          <p:cNvSpPr/>
          <p:nvPr/>
        </p:nvSpPr>
        <p:spPr>
          <a:xfrm>
            <a:off x="600075" y="168021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复位释放 → ROM 的 _start"/>
          <p:cNvSpPr txBox="1"/>
          <p:nvPr/>
        </p:nvSpPr>
        <p:spPr>
          <a:xfrm>
            <a:off x="760095" y="1712214"/>
            <a:ext cx="270581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复位释放 → ROM 的 _start</a:t>
            </a:r>
          </a:p>
        </p:txBody>
      </p:sp>
      <p:sp>
        <p:nvSpPr>
          <p:cNvPr id="12" name="text-012: cheshire_bootrom.S @ Boot ROM"/>
          <p:cNvSpPr txBox="1"/>
          <p:nvPr/>
        </p:nvSpPr>
        <p:spPr>
          <a:xfrm>
            <a:off x="760095" y="1970806"/>
            <a:ext cx="286948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cheshire_bootrom.S @ Boot ROM</a:t>
            </a:r>
          </a:p>
        </p:txBody>
      </p:sp>
      <p:cxnSp>
        <p:nvCxnSpPr>
          <p:cNvPr id="13" name="line-013"/>
          <p:cNvCxnSpPr/>
          <p:nvPr/>
        </p:nvCxnSpPr>
        <p:spPr>
          <a:xfrm>
            <a:off x="2400300" y="2240280"/>
            <a:ext cx="0" cy="32004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14" name="rect-015"/>
          <p:cNvSpPr/>
          <p:nvPr/>
        </p:nvSpPr>
        <p:spPr>
          <a:xfrm>
            <a:off x="600075" y="2560320"/>
            <a:ext cx="3600450" cy="880110"/>
          </a:xfrm>
          <a:prstGeom prst="roundRect">
            <a:avLst>
              <a:gd name="adj" fmla="val 909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6: 早期运行环境与 LLC 初始化"/>
          <p:cNvSpPr txBox="1"/>
          <p:nvPr/>
        </p:nvSpPr>
        <p:spPr>
          <a:xfrm>
            <a:off x="760095" y="2600325"/>
            <a:ext cx="2667333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早期运行环境与 LLC 初始化</a:t>
            </a:r>
          </a:p>
        </p:txBody>
      </p:sp>
      <p:sp>
        <p:nvSpPr>
          <p:cNvPr id="16" name="text-017: 等待硬件 BIST；配置 SPM / 栈"/>
          <p:cNvSpPr txBox="1"/>
          <p:nvPr/>
        </p:nvSpPr>
        <p:spPr>
          <a:xfrm>
            <a:off x="760095" y="2858917"/>
            <a:ext cx="2494899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等待硬件 BIST；配置 SPM / 栈</a:t>
            </a:r>
          </a:p>
        </p:txBody>
      </p:sp>
      <p:sp>
        <p:nvSpPr>
          <p:cNvPr id="17" name="text-018: PlatformRom=0：跳过平台钩子"/>
          <p:cNvSpPr txBox="1"/>
          <p:nvPr/>
        </p:nvSpPr>
        <p:spPr>
          <a:xfrm>
            <a:off x="760095" y="3082945"/>
            <a:ext cx="262531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PlatformRom=0：跳过平台钩子</a:t>
            </a:r>
          </a:p>
        </p:txBody>
      </p:sp>
      <p:cxnSp>
        <p:nvCxnSpPr>
          <p:cNvPr id="18" name="line-019"/>
          <p:cNvCxnSpPr/>
          <p:nvPr/>
        </p:nvCxnSpPr>
        <p:spPr>
          <a:xfrm>
            <a:off x="2400300" y="3440430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19" name="text-021: call main"/>
          <p:cNvSpPr txBox="1"/>
          <p:nvPr/>
        </p:nvSpPr>
        <p:spPr>
          <a:xfrm>
            <a:off x="2560320" y="3515639"/>
            <a:ext cx="84081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4478AA"/>
                </a:solidFill>
                <a:latin typeface="Microsoft YaHei"/>
                <a:ea typeface="Microsoft YaHei"/>
                <a:cs typeface="Microsoft YaHei"/>
              </a:rPr>
              <a:t>call main</a:t>
            </a:r>
          </a:p>
        </p:txBody>
      </p:sp>
      <p:sp>
        <p:nvSpPr>
          <p:cNvPr id="20" name="rect-022"/>
          <p:cNvSpPr/>
          <p:nvPr/>
        </p:nvSpPr>
        <p:spPr>
          <a:xfrm>
            <a:off x="600075" y="3880485"/>
            <a:ext cx="3600450" cy="800100"/>
          </a:xfrm>
          <a:prstGeom prst="roundRect">
            <a:avLst>
              <a:gd name="adj" fmla="val 100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3: cheshire_bootrom.c 的 main"/>
          <p:cNvSpPr txBox="1"/>
          <p:nvPr/>
        </p:nvSpPr>
        <p:spPr>
          <a:xfrm>
            <a:off x="760095" y="3920490"/>
            <a:ext cx="29968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cheshire_bootrom.c 的 main</a:t>
            </a:r>
          </a:p>
        </p:txBody>
      </p:sp>
      <p:sp>
        <p:nvSpPr>
          <p:cNvPr id="22" name="text-024: 读取 boot_mode / RTC，测频"/>
          <p:cNvSpPr txBox="1"/>
          <p:nvPr/>
        </p:nvSpPr>
        <p:spPr>
          <a:xfrm>
            <a:off x="760095" y="4179082"/>
            <a:ext cx="24605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boot_mode / RTC，测频</a:t>
            </a:r>
          </a:p>
        </p:txBody>
      </p:sp>
      <p:sp>
        <p:nvSpPr>
          <p:cNvPr id="23" name="text-025: boot_spi_s25fs512s：初始化 SPI"/>
          <p:cNvSpPr txBox="1"/>
          <p:nvPr/>
        </p:nvSpPr>
        <p:spPr>
          <a:xfrm>
            <a:off x="760095" y="4403110"/>
            <a:ext cx="26871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boot_spi_s25fs512s：初始化 SPI</a:t>
            </a:r>
          </a:p>
        </p:txBody>
      </p:sp>
      <p:cxnSp>
        <p:nvCxnSpPr>
          <p:cNvPr id="24" name="line-026"/>
          <p:cNvCxnSpPr/>
          <p:nvPr/>
        </p:nvCxnSpPr>
        <p:spPr>
          <a:xfrm>
            <a:off x="2400300" y="4680585"/>
            <a:ext cx="0" cy="440055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25" name="rect-028"/>
          <p:cNvSpPr/>
          <p:nvPr/>
        </p:nvSpPr>
        <p:spPr>
          <a:xfrm>
            <a:off x="600075" y="5120640"/>
            <a:ext cx="3600450" cy="640080"/>
          </a:xfrm>
          <a:prstGeom prst="roundRect">
            <a:avLst>
              <a:gd name="adj" fmla="val 12500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9: gpt_boot_part_else_raw"/>
          <p:cNvSpPr txBox="1"/>
          <p:nvPr/>
        </p:nvSpPr>
        <p:spPr>
          <a:xfrm>
            <a:off x="760095" y="5152644"/>
            <a:ext cx="2568196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gpt_boot_part_else_raw</a:t>
            </a:r>
          </a:p>
        </p:txBody>
      </p:sp>
      <p:sp>
        <p:nvSpPr>
          <p:cNvPr id="27" name="text-030: 镜像字节 → SPM 起点 code_buf"/>
          <p:cNvSpPr txBox="1"/>
          <p:nvPr/>
        </p:nvSpPr>
        <p:spPr>
          <a:xfrm>
            <a:off x="760095" y="5451241"/>
            <a:ext cx="2645281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镜像字节 → SPM 起点 code_buf</a:t>
            </a:r>
          </a:p>
        </p:txBody>
      </p:sp>
      <p:cxnSp>
        <p:nvCxnSpPr>
          <p:cNvPr id="28" name="line-031"/>
          <p:cNvCxnSpPr/>
          <p:nvPr/>
        </p:nvCxnSpPr>
        <p:spPr>
          <a:xfrm>
            <a:off x="2400300" y="5760720"/>
            <a:ext cx="0" cy="32004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29" name="rect-033"/>
          <p:cNvSpPr/>
          <p:nvPr/>
        </p:nvSpPr>
        <p:spPr>
          <a:xfrm>
            <a:off x="600075" y="6080760"/>
            <a:ext cx="3600450" cy="440055"/>
          </a:xfrm>
          <a:prstGeom prst="roundRect">
            <a:avLst>
              <a:gd name="adj" fmla="val 18181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4: boot_next_stage → jalr ra, 0(t0)"/>
          <p:cNvSpPr txBox="1"/>
          <p:nvPr/>
        </p:nvSpPr>
        <p:spPr>
          <a:xfrm>
            <a:off x="760095" y="6153409"/>
            <a:ext cx="3217677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 → jalr ra, 0(t0)</a:t>
            </a:r>
          </a:p>
        </p:txBody>
      </p:sp>
      <p:sp>
        <p:nvSpPr>
          <p:cNvPr id="31" name="path-035"/>
          <p:cNvSpPr/>
          <p:nvPr/>
        </p:nvSpPr>
        <p:spPr>
          <a:xfrm>
            <a:off x="4200525" y="1960245"/>
            <a:ext cx="960120" cy="4336542"/>
          </a:xfrm>
          <a:custGeom>
            <a:avLst/>
            <a:gdLst/>
            <a:ahLst/>
            <a:cxnLst/>
            <a:rect l="0" t="0" r="r" b="b"/>
            <a:pathLst>
              <a:path w="960120" h="4336542" fill="none">
                <a:moveTo>
                  <a:pt x="0" y="4336542"/>
                </a:moveTo>
                <a:lnTo>
                  <a:pt x="424053" y="4336542"/>
                </a:lnTo>
                <a:lnTo>
                  <a:pt x="424053" y="0"/>
                </a:lnTo>
                <a:lnTo>
                  <a:pt x="960120" y="0"/>
                </a:lnTo>
              </a:path>
            </a:pathLst>
          </a:custGeom>
          <a:noFill/>
          <a:ln w="24003" cap="flat">
            <a:solidFill>
              <a:srgbClr val="34816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7: jalr"/>
          <p:cNvSpPr txBox="1"/>
          <p:nvPr/>
        </p:nvSpPr>
        <p:spPr>
          <a:xfrm>
            <a:off x="4688586" y="3883685"/>
            <a:ext cx="394899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jalr</a:t>
            </a:r>
          </a:p>
        </p:txBody>
      </p:sp>
      <p:sp>
        <p:nvSpPr>
          <p:cNvPr id="33" name="text-038: 入口"/>
          <p:cNvSpPr txBox="1"/>
          <p:nvPr/>
        </p:nvSpPr>
        <p:spPr>
          <a:xfrm>
            <a:off x="4688586" y="4124996"/>
            <a:ext cx="43205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入口</a:t>
            </a:r>
          </a:p>
        </p:txBody>
      </p:sp>
      <p:sp>
        <p:nvSpPr>
          <p:cNvPr id="34" name="rect-039"/>
          <p:cNvSpPr/>
          <p:nvPr/>
        </p:nvSpPr>
        <p:spPr>
          <a:xfrm>
            <a:off x="5160645" y="1680210"/>
            <a:ext cx="3600450" cy="560070"/>
          </a:xfrm>
          <a:prstGeom prst="roundRect">
            <a:avLst>
              <a:gd name="adj" fmla="val 1428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40: 载荷 _start @ 镜像起点"/>
          <p:cNvSpPr txBox="1"/>
          <p:nvPr/>
        </p:nvSpPr>
        <p:spPr>
          <a:xfrm>
            <a:off x="5320665" y="1712214"/>
            <a:ext cx="234541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 _start @ 镜像起点</a:t>
            </a:r>
          </a:p>
        </p:txBody>
      </p:sp>
      <p:sp>
        <p:nvSpPr>
          <p:cNvPr id="36" name="text-041: 由 sw/lib/crt0.S 提供"/>
          <p:cNvSpPr txBox="1"/>
          <p:nvPr/>
        </p:nvSpPr>
        <p:spPr>
          <a:xfrm>
            <a:off x="5320665" y="1970806"/>
            <a:ext cx="177449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由 sw/lib/crt0.S 提供</a:t>
            </a:r>
          </a:p>
        </p:txBody>
      </p:sp>
      <p:cxnSp>
        <p:nvCxnSpPr>
          <p:cNvPr id="37" name="line-042"/>
          <p:cNvCxnSpPr/>
          <p:nvPr/>
        </p:nvCxnSpPr>
        <p:spPr>
          <a:xfrm>
            <a:off x="6960870" y="2240280"/>
            <a:ext cx="0" cy="44005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38" name="rect-044"/>
          <p:cNvSpPr/>
          <p:nvPr/>
        </p:nvSpPr>
        <p:spPr>
          <a:xfrm>
            <a:off x="5160645" y="2680335"/>
            <a:ext cx="3600450" cy="920115"/>
          </a:xfrm>
          <a:prstGeom prst="roundRect">
            <a:avLst>
              <a:gd name="adj" fmla="val 8695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45: CRT0：应用的运行环境"/>
          <p:cNvSpPr txBox="1"/>
          <p:nvPr/>
        </p:nvSpPr>
        <p:spPr>
          <a:xfrm>
            <a:off x="5320665" y="2728341"/>
            <a:ext cx="23186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CRT0：应用的运行环境</a:t>
            </a:r>
          </a:p>
        </p:txBody>
      </p:sp>
      <p:sp>
        <p:nvSpPr>
          <p:cNvPr id="40" name="text-046: sp / gp、mtvec、清 BSS、FP"/>
          <p:cNvSpPr txBox="1"/>
          <p:nvPr/>
        </p:nvSpPr>
        <p:spPr>
          <a:xfrm>
            <a:off x="5320665" y="3002935"/>
            <a:ext cx="243911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sp / gp、mtvec、清 BSS、FP</a:t>
            </a:r>
          </a:p>
        </p:txBody>
      </p:sp>
      <p:sp>
        <p:nvSpPr>
          <p:cNvPr id="41" name="text-047: 保存进入应用的 ra；call main"/>
          <p:cNvSpPr txBox="1"/>
          <p:nvPr/>
        </p:nvSpPr>
        <p:spPr>
          <a:xfrm>
            <a:off x="5320665" y="3242965"/>
            <a:ext cx="2433792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保存进入应用的 ra；call main</a:t>
            </a:r>
          </a:p>
        </p:txBody>
      </p:sp>
      <p:cxnSp>
        <p:nvCxnSpPr>
          <p:cNvPr id="42" name="line-048"/>
          <p:cNvCxnSpPr/>
          <p:nvPr/>
        </p:nvCxnSpPr>
        <p:spPr>
          <a:xfrm>
            <a:off x="6960870" y="3600450"/>
            <a:ext cx="0" cy="44005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3" name="text-050: call"/>
          <p:cNvSpPr txBox="1"/>
          <p:nvPr/>
        </p:nvSpPr>
        <p:spPr>
          <a:xfrm>
            <a:off x="7120890" y="3683660"/>
            <a:ext cx="41387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call</a:t>
            </a:r>
          </a:p>
        </p:txBody>
      </p:sp>
      <p:sp>
        <p:nvSpPr>
          <p:cNvPr id="44" name="rect-051"/>
          <p:cNvSpPr/>
          <p:nvPr/>
        </p:nvSpPr>
        <p:spPr>
          <a:xfrm>
            <a:off x="5160645" y="4040505"/>
            <a:ext cx="3600450" cy="720090"/>
          </a:xfrm>
          <a:prstGeom prst="roundRect">
            <a:avLst>
              <a:gd name="adj" fmla="val 11111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52: 载荷自己的 main()"/>
          <p:cNvSpPr txBox="1"/>
          <p:nvPr/>
        </p:nvSpPr>
        <p:spPr>
          <a:xfrm>
            <a:off x="5320665" y="4080510"/>
            <a:ext cx="191634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载荷自己的 main()</a:t>
            </a:r>
          </a:p>
        </p:txBody>
      </p:sp>
      <p:sp>
        <p:nvSpPr>
          <p:cNvPr id="46" name="text-053: 执行任务；不返回则继续按程序运行"/>
          <p:cNvSpPr txBox="1"/>
          <p:nvPr/>
        </p:nvSpPr>
        <p:spPr>
          <a:xfrm>
            <a:off x="5320665" y="4355104"/>
            <a:ext cx="285635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执行任务；不返回则继续按程序运行</a:t>
            </a:r>
          </a:p>
        </p:txBody>
      </p:sp>
      <p:cxnSp>
        <p:nvCxnSpPr>
          <p:cNvPr id="47" name="line-054"/>
          <p:cNvCxnSpPr/>
          <p:nvPr/>
        </p:nvCxnSpPr>
        <p:spPr>
          <a:xfrm>
            <a:off x="6960870" y="4760595"/>
            <a:ext cx="0" cy="680085"/>
          </a:xfrm>
          <a:prstGeom prst="line">
            <a:avLst/>
          </a:prstGeom>
          <a:ln w="24003" cap="flat">
            <a:solidFill>
              <a:srgbClr val="34816B"/>
            </a:solidFill>
            <a:tailEnd type="triangle" w="med" len="med"/>
          </a:ln>
          <a:effectLst/>
        </p:spPr>
      </p:cxnSp>
      <p:sp>
        <p:nvSpPr>
          <p:cNvPr id="48" name="text-056: main 正常返回"/>
          <p:cNvSpPr txBox="1"/>
          <p:nvPr/>
        </p:nvSpPr>
        <p:spPr>
          <a:xfrm>
            <a:off x="7120890" y="4915814"/>
            <a:ext cx="1227041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main 正常返回</a:t>
            </a:r>
          </a:p>
        </p:txBody>
      </p:sp>
      <p:sp>
        <p:nvSpPr>
          <p:cNvPr id="49" name="text-057: 回到 call 后的指令"/>
          <p:cNvSpPr txBox="1"/>
          <p:nvPr/>
        </p:nvSpPr>
        <p:spPr>
          <a:xfrm>
            <a:off x="7120890" y="5132481"/>
            <a:ext cx="1395262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34816B"/>
                </a:solidFill>
                <a:latin typeface="Microsoft YaHei"/>
                <a:ea typeface="Microsoft YaHei"/>
                <a:cs typeface="Microsoft YaHei"/>
              </a:rPr>
              <a:t>回到 call 后的指令</a:t>
            </a:r>
          </a:p>
        </p:txBody>
      </p:sp>
      <p:sp>
        <p:nvSpPr>
          <p:cNvPr id="50" name="rect-058"/>
          <p:cNvSpPr/>
          <p:nvPr/>
        </p:nvSpPr>
        <p:spPr>
          <a:xfrm>
            <a:off x="5160645" y="5440680"/>
            <a:ext cx="3600450" cy="1000125"/>
          </a:xfrm>
          <a:prstGeom prst="roundRect">
            <a:avLst>
              <a:gd name="adj" fmla="val 8000"/>
            </a:avLst>
          </a:prstGeom>
          <a:solidFill>
            <a:srgbClr val="E6F4EE"/>
          </a:solidFill>
          <a:ln w="16002" cap="flat">
            <a:solidFill>
              <a:srgbClr val="34816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9: 应用 CRT0 的 _exit"/>
          <p:cNvSpPr txBox="1"/>
          <p:nvPr/>
        </p:nvSpPr>
        <p:spPr>
          <a:xfrm>
            <a:off x="5320665" y="5480685"/>
            <a:ext cx="196235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应用 CRT0 的 _exit</a:t>
            </a:r>
          </a:p>
        </p:txBody>
      </p:sp>
      <p:sp>
        <p:nvSpPr>
          <p:cNvPr id="52" name="text-060: scratch2 = (返回值 &lt;&lt; 1) | 1"/>
          <p:cNvSpPr txBox="1"/>
          <p:nvPr/>
        </p:nvSpPr>
        <p:spPr>
          <a:xfrm>
            <a:off x="5320665" y="5755279"/>
            <a:ext cx="2364296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scratch2 = (返回值 &lt;&lt; 1) | 1</a:t>
            </a:r>
          </a:p>
        </p:txBody>
      </p:sp>
      <p:sp>
        <p:nvSpPr>
          <p:cNvPr id="53" name="text-061: 恢复栈上 sp / gp / ra，然后 ret"/>
          <p:cNvSpPr txBox="1"/>
          <p:nvPr/>
        </p:nvSpPr>
        <p:spPr>
          <a:xfrm>
            <a:off x="5320665" y="5995309"/>
            <a:ext cx="2562670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恢复栈上 sp / gp / ra，然后 ret</a:t>
            </a:r>
          </a:p>
        </p:txBody>
      </p:sp>
      <p:sp>
        <p:nvSpPr>
          <p:cNvPr id="54" name="rect-062"/>
          <p:cNvSpPr/>
          <p:nvPr/>
        </p:nvSpPr>
        <p:spPr>
          <a:xfrm>
            <a:off x="9681210" y="1680210"/>
            <a:ext cx="2560320" cy="880110"/>
          </a:xfrm>
          <a:prstGeom prst="roundRect">
            <a:avLst>
              <a:gd name="adj" fmla="val 9090"/>
            </a:avLst>
          </a:prstGeom>
          <a:solidFill>
            <a:srgbClr val="E6EDF4"/>
          </a:solidFill>
          <a:ln w="16002" cap="flat">
            <a:solidFill>
              <a:srgbClr val="9BAEB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63: return 不会自动停机"/>
          <p:cNvSpPr txBox="1"/>
          <p:nvPr/>
        </p:nvSpPr>
        <p:spPr>
          <a:xfrm>
            <a:off x="9841230" y="1729496"/>
            <a:ext cx="1920303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return 不会自动停机</a:t>
            </a:r>
          </a:p>
        </p:txBody>
      </p:sp>
      <p:sp>
        <p:nvSpPr>
          <p:cNvPr id="56" name="text-064: 不自动复位 / 断电 / 换权限"/>
          <p:cNvSpPr txBox="1"/>
          <p:nvPr/>
        </p:nvSpPr>
        <p:spPr>
          <a:xfrm>
            <a:off x="9841230" y="1986808"/>
            <a:ext cx="2190674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不自动复位 / 断电 / 换权限</a:t>
            </a:r>
          </a:p>
        </p:txBody>
      </p:sp>
      <p:sp>
        <p:nvSpPr>
          <p:cNvPr id="57" name="text-065: CPU 仍由时钟驱动并继续取指"/>
          <p:cNvSpPr txBox="1"/>
          <p:nvPr/>
        </p:nvSpPr>
        <p:spPr>
          <a:xfrm>
            <a:off x="9841230" y="2226838"/>
            <a:ext cx="240661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CPU 仍由时钟驱动并继续取指</a:t>
            </a:r>
          </a:p>
        </p:txBody>
      </p:sp>
      <p:sp>
        <p:nvSpPr>
          <p:cNvPr id="58" name="rect-066"/>
          <p:cNvSpPr/>
          <p:nvPr/>
        </p:nvSpPr>
        <p:spPr>
          <a:xfrm>
            <a:off x="9681210" y="3240405"/>
            <a:ext cx="2560320" cy="1240155"/>
          </a:xfrm>
          <a:prstGeom prst="roundRect">
            <a:avLst>
              <a:gd name="adj" fmla="val 6451"/>
            </a:avLst>
          </a:prstGeom>
          <a:solidFill>
            <a:srgbClr val="FCECEC"/>
          </a:solidFill>
          <a:ln w="16002" cap="flat">
            <a:solidFill>
              <a:srgbClr val="B85E5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67: 当前 ROM 的调用后返回点"/>
          <p:cNvSpPr txBox="1"/>
          <p:nvPr/>
        </p:nvSpPr>
        <p:spPr>
          <a:xfrm>
            <a:off x="9841230" y="3297692"/>
            <a:ext cx="2416102" cy="29443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9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当前 ROM 的调用后返回点</a:t>
            </a:r>
          </a:p>
        </p:txBody>
      </p:sp>
      <p:sp>
        <p:nvSpPr>
          <p:cNvPr id="60" name="text-068: boot_next_stage：jalr 后是 ret"/>
          <p:cNvSpPr txBox="1"/>
          <p:nvPr/>
        </p:nvSpPr>
        <p:spPr>
          <a:xfrm>
            <a:off x="9841230" y="3563005"/>
            <a:ext cx="2554707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boot_next_stage：jalr 后是 ret</a:t>
            </a:r>
          </a:p>
        </p:txBody>
      </p:sp>
      <p:sp>
        <p:nvSpPr>
          <p:cNvPr id="61" name="text-069: 未保存上一层 ra"/>
          <p:cNvSpPr txBox="1"/>
          <p:nvPr/>
        </p:nvSpPr>
        <p:spPr>
          <a:xfrm>
            <a:off x="9841230" y="3803035"/>
            <a:ext cx="138289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未保存上一层 ra</a:t>
            </a:r>
          </a:p>
        </p:txBody>
      </p:sp>
      <p:sp>
        <p:nvSpPr>
          <p:cNvPr id="62" name="text-070: 可形成 ret 自循环（源码推导）"/>
          <p:cNvSpPr txBox="1"/>
          <p:nvPr/>
        </p:nvSpPr>
        <p:spPr>
          <a:xfrm>
            <a:off x="9841230" y="4043065"/>
            <a:ext cx="250342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可形成 ret 自循环（源码推导）</a:t>
            </a:r>
          </a:p>
        </p:txBody>
      </p:sp>
      <p:sp>
        <p:nvSpPr>
          <p:cNvPr id="63" name="text-071: 不是按设计进入 ROM 的 _exit"/>
          <p:cNvSpPr txBox="1"/>
          <p:nvPr/>
        </p:nvSpPr>
        <p:spPr>
          <a:xfrm>
            <a:off x="9841230" y="4245651"/>
            <a:ext cx="1969896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不是按设计进入 ROM 的 _exit</a:t>
            </a:r>
          </a:p>
        </p:txBody>
      </p:sp>
      <p:sp>
        <p:nvSpPr>
          <p:cNvPr id="64" name="path-072"/>
          <p:cNvSpPr/>
          <p:nvPr/>
        </p:nvSpPr>
        <p:spPr>
          <a:xfrm>
            <a:off x="8761095" y="3848481"/>
            <a:ext cx="920115" cy="1744218"/>
          </a:xfrm>
          <a:custGeom>
            <a:avLst/>
            <a:gdLst/>
            <a:ahLst/>
            <a:cxnLst/>
            <a:rect l="0" t="0" r="r" b="b"/>
            <a:pathLst>
              <a:path w="920115" h="1744218" fill="none">
                <a:moveTo>
                  <a:pt x="0" y="1744218"/>
                </a:moveTo>
                <a:lnTo>
                  <a:pt x="440055" y="1744218"/>
                </a:lnTo>
                <a:lnTo>
                  <a:pt x="440055" y="0"/>
                </a:lnTo>
                <a:lnTo>
                  <a:pt x="920115" y="0"/>
                </a:lnTo>
              </a:path>
            </a:pathLst>
          </a:custGeom>
          <a:noFill/>
          <a:ln w="24003" cap="flat">
            <a:solidFill>
              <a:srgbClr val="B85E5E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74: ret"/>
          <p:cNvSpPr txBox="1"/>
          <p:nvPr/>
        </p:nvSpPr>
        <p:spPr>
          <a:xfrm>
            <a:off x="9265158" y="4764435"/>
            <a:ext cx="350794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9B4141"/>
                </a:solidFill>
                <a:latin typeface="Microsoft YaHei"/>
                <a:ea typeface="Microsoft YaHei"/>
                <a:cs typeface="Microsoft YaHei"/>
              </a:rPr>
              <a:t>ret</a:t>
            </a:r>
          </a:p>
        </p:txBody>
      </p:sp>
      <p:sp>
        <p:nvSpPr>
          <p:cNvPr id="66" name="rect-075"/>
          <p:cNvSpPr/>
          <p:nvPr/>
        </p:nvSpPr>
        <p:spPr>
          <a:xfrm>
            <a:off x="9681210" y="5280660"/>
            <a:ext cx="2560320" cy="1160145"/>
          </a:xfrm>
          <a:prstGeom prst="roundRect">
            <a:avLst>
              <a:gd name="adj" fmla="val 6896"/>
            </a:avLst>
          </a:prstGeom>
          <a:solidFill>
            <a:srgbClr val="E8F0FA"/>
          </a:solidFill>
          <a:ln w="16002" cap="flat">
            <a:solidFill>
              <a:srgbClr val="447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76: 外部观察者：仿真 / 调试器"/>
          <p:cNvSpPr txBox="1"/>
          <p:nvPr/>
        </p:nvSpPr>
        <p:spPr>
          <a:xfrm>
            <a:off x="9841230" y="5346588"/>
            <a:ext cx="2300325" cy="2816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6" b="1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外部观察者：仿真 / 调试器</a:t>
            </a:r>
          </a:p>
        </p:txBody>
      </p:sp>
      <p:sp>
        <p:nvSpPr>
          <p:cNvPr id="68" name="text-077: 读取 scratch2 完成标志"/>
          <p:cNvSpPr txBox="1"/>
          <p:nvPr/>
        </p:nvSpPr>
        <p:spPr>
          <a:xfrm>
            <a:off x="9841230" y="5603260"/>
            <a:ext cx="1941118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读取 scratch2 完成标志</a:t>
            </a:r>
          </a:p>
        </p:txBody>
      </p:sp>
      <p:sp>
        <p:nvSpPr>
          <p:cNvPr id="69" name="text-078: 仿真 TB 可结束仿真进程"/>
          <p:cNvSpPr txBox="1"/>
          <p:nvPr/>
        </p:nvSpPr>
        <p:spPr>
          <a:xfrm>
            <a:off x="9841230" y="5843290"/>
            <a:ext cx="1981385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仿真 TB 可结束仿真进程</a:t>
            </a:r>
          </a:p>
        </p:txBody>
      </p:sp>
      <p:sp>
        <p:nvSpPr>
          <p:cNvPr id="70" name="text-079: 完成通知 ≠ CPU 自动停机"/>
          <p:cNvSpPr txBox="1"/>
          <p:nvPr/>
        </p:nvSpPr>
        <p:spPr>
          <a:xfrm>
            <a:off x="9841230" y="6083320"/>
            <a:ext cx="2126603" cy="268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>
                <a:solidFill>
                  <a:srgbClr val="172B4D"/>
                </a:solidFill>
                <a:latin typeface="Microsoft YaHei"/>
                <a:ea typeface="Microsoft YaHei"/>
                <a:cs typeface="Microsoft YaHei"/>
              </a:rPr>
              <a:t>完成通知 ≠ CPU 自动停机</a:t>
            </a:r>
          </a:p>
        </p:txBody>
      </p:sp>
      <p:cxnSp>
        <p:nvCxnSpPr>
          <p:cNvPr id="71" name="line-080"/>
          <p:cNvCxnSpPr/>
          <p:nvPr/>
        </p:nvCxnSpPr>
        <p:spPr>
          <a:xfrm>
            <a:off x="8761095" y="5976747"/>
            <a:ext cx="920115" cy="0"/>
          </a:xfrm>
          <a:prstGeom prst="line">
            <a:avLst/>
          </a:prstGeom>
          <a:ln w="24003" cap="flat">
            <a:solidFill>
              <a:srgbClr val="4478AA"/>
            </a:solidFill>
            <a:tailEnd type="triangle" w="med" len="med"/>
          </a:ln>
          <a:effectLst/>
        </p:spPr>
      </p:cxnSp>
      <p:sp>
        <p:nvSpPr>
          <p:cNvPr id="72" name="text-082: 路径边界：JTAG 直接设置 PC、UART invoke、OS 程序退出各有不"/>
          <p:cNvSpPr txBox="1"/>
          <p:nvPr/>
        </p:nvSpPr>
        <p:spPr>
          <a:xfrm>
            <a:off x="320040" y="6700677"/>
            <a:ext cx="7286523" cy="2432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路径边界：JTAG 直接设置 PC、UART invoke、OS 程序退出各有不同契约；本图不把它们等同此调用链。</a:t>
            </a:r>
          </a:p>
        </p:txBody>
      </p:sp>
      <p:sp>
        <p:nvSpPr>
          <p:cNvPr id="73" name="text-083: 依据：cheshire_bootrom.S / .c；gpt.c；crt0.S；"/>
          <p:cNvSpPr txBox="1"/>
          <p:nvPr/>
        </p:nvSpPr>
        <p:spPr>
          <a:xfrm>
            <a:off x="320040" y="6949989"/>
            <a:ext cx="6774584" cy="2176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1" b="0" i="0">
                <a:solidFill>
                  <a:srgbClr val="526477"/>
                </a:solidFill>
                <a:latin typeface="Microsoft YaHei"/>
                <a:ea typeface="Microsoft YaHei"/>
                <a:cs typeface="Microsoft YaHei"/>
              </a:rPr>
              <a:t>依据：cheshire_bootrom.S / .c；gpt.c；crt0.S；rom.ld · HEAD 278434024 · 2026-10-08 · 未新增目标运行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