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801600" cy="7200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7200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-002: 启动初始化的软硬件对应关系"/>
          <p:cNvSpPr txBox="1"/>
          <p:nvPr/>
        </p:nvSpPr>
        <p:spPr>
          <a:xfrm>
            <a:off x="320040" y="149139"/>
            <a:ext cx="4704588" cy="5376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6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启动初始化的软硬件对应关系</a:t>
            </a:r>
          </a:p>
        </p:txBody>
      </p:sp>
      <p:sp>
        <p:nvSpPr>
          <p:cNvPr id="4" name="text-003: 当前源码：Bootrom=1、PlatformRom=0、内部 LLC 启用；载"/>
          <p:cNvSpPr txBox="1"/>
          <p:nvPr/>
        </p:nvSpPr>
        <p:spPr>
          <a:xfrm>
            <a:off x="320040" y="650001"/>
            <a:ext cx="703786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当前源码：Bootrom=1、PlatformRom=0、内部 LLC 启用；载荷沿用根 SDK 启动入口</a:t>
            </a:r>
          </a:p>
        </p:txBody>
      </p:sp>
      <p:sp>
        <p:nvSpPr>
          <p:cNvPr id="5" name="rect-004"/>
          <p:cNvSpPr/>
          <p:nvPr/>
        </p:nvSpPr>
        <p:spPr>
          <a:xfrm>
            <a:off x="320040" y="1120140"/>
            <a:ext cx="5200650" cy="5200650"/>
          </a:xfrm>
          <a:prstGeom prst="roundRect">
            <a:avLst>
              <a:gd name="adj" fmla="val 2153"/>
            </a:avLst>
          </a:prstGeom>
          <a:solidFill>
            <a:srgbClr val="F5F7FA"/>
          </a:solidFill>
          <a:ln w="16002" cap="flat">
            <a:solidFill>
              <a:srgbClr val="B8C6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-005"/>
          <p:cNvSpPr/>
          <p:nvPr/>
        </p:nvSpPr>
        <p:spPr>
          <a:xfrm>
            <a:off x="7520940" y="1120140"/>
            <a:ext cx="4960620" cy="5200650"/>
          </a:xfrm>
          <a:prstGeom prst="roundRect">
            <a:avLst>
              <a:gd name="adj" fmla="val 2258"/>
            </a:avLst>
          </a:prstGeom>
          <a:solidFill>
            <a:srgbClr val="F5F7FA"/>
          </a:solidFill>
          <a:ln w="16002" cap="flat">
            <a:solidFill>
              <a:srgbClr val="B8C6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6: 硬件：存储、总线与自主状态机"/>
          <p:cNvSpPr txBox="1"/>
          <p:nvPr/>
        </p:nvSpPr>
        <p:spPr>
          <a:xfrm>
            <a:off x="560070" y="1221593"/>
            <a:ext cx="3480435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硬件：存储、总线与自主状态机</a:t>
            </a:r>
          </a:p>
        </p:txBody>
      </p:sp>
      <p:sp>
        <p:nvSpPr>
          <p:cNvPr id="8" name="text-007: 软件：由同一个 CVA6 执行"/>
          <p:cNvSpPr txBox="1"/>
          <p:nvPr/>
        </p:nvSpPr>
        <p:spPr>
          <a:xfrm>
            <a:off x="7760970" y="1221593"/>
            <a:ext cx="3085036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软件：由同一个 CVA6 执行</a:t>
            </a:r>
          </a:p>
        </p:txBody>
      </p:sp>
      <p:sp>
        <p:nvSpPr>
          <p:cNvPr id="9" name="rect-008"/>
          <p:cNvSpPr/>
          <p:nvPr/>
        </p:nvSpPr>
        <p:spPr>
          <a:xfrm>
            <a:off x="560070" y="1640205"/>
            <a:ext cx="4640580" cy="384048"/>
          </a:xfrm>
          <a:prstGeom prst="roundRect">
            <a:avLst>
              <a:gd name="adj" fmla="val 16666"/>
            </a:avLst>
          </a:prstGeom>
          <a:solidFill>
            <a:srgbClr val="E6EDF4"/>
          </a:solidFill>
          <a:ln w="16002" cap="flat">
            <a:solidFill>
              <a:srgbClr val="9BAEB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09: 有效 clk_i / rst_ni：由外围平台提供"/>
          <p:cNvSpPr txBox="1"/>
          <p:nvPr/>
        </p:nvSpPr>
        <p:spPr>
          <a:xfrm>
            <a:off x="1393280" y="1706133"/>
            <a:ext cx="297415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有效 clk_i / rst_ni：由外围平台提供</a:t>
            </a:r>
          </a:p>
        </p:txBody>
      </p:sp>
      <p:sp>
        <p:nvSpPr>
          <p:cNvPr id="11" name="path-010"/>
          <p:cNvSpPr/>
          <p:nvPr/>
        </p:nvSpPr>
        <p:spPr>
          <a:xfrm>
            <a:off x="1440180" y="2024253"/>
            <a:ext cx="1" cy="216027"/>
          </a:xfrm>
          <a:custGeom>
            <a:avLst/>
            <a:gdLst/>
            <a:ahLst/>
            <a:cxnLst/>
            <a:rect l="0" t="0" r="r" b="b"/>
            <a:pathLst>
              <a:path w="1" h="216027">
                <a:moveTo>
                  <a:pt x="0" y="0"/>
                </a:moveTo>
                <a:lnTo>
                  <a:pt x="0" y="216027"/>
                </a:lnTo>
              </a:path>
            </a:pathLst>
          </a:custGeom>
          <a:noFill/>
          <a:ln w="24003" cap="flat">
            <a:solidFill>
              <a:srgbClr val="5264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1384173" y="2216277"/>
            <a:ext cx="112014" cy="104013"/>
          </a:xfrm>
          <a:custGeom>
            <a:avLst/>
            <a:gdLst/>
            <a:ahLst/>
            <a:cxnLst/>
            <a:rect l="0" t="0" r="r" b="b"/>
            <a:pathLst>
              <a:path w="112014" h="104013">
                <a:moveTo>
                  <a:pt x="56007" y="104013"/>
                </a:moveTo>
                <a:lnTo>
                  <a:pt x="0" y="0"/>
                </a:lnTo>
                <a:lnTo>
                  <a:pt x="112014" y="0"/>
                </a:lnTo>
                <a:close/>
              </a:path>
            </a:pathLst>
          </a:custGeom>
          <a:solidFill>
            <a:srgbClr val="52647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ath-012"/>
          <p:cNvSpPr/>
          <p:nvPr/>
        </p:nvSpPr>
        <p:spPr>
          <a:xfrm>
            <a:off x="4120515" y="2024253"/>
            <a:ext cx="1" cy="216027"/>
          </a:xfrm>
          <a:custGeom>
            <a:avLst/>
            <a:gdLst/>
            <a:ahLst/>
            <a:cxnLst/>
            <a:rect l="0" t="0" r="r" b="b"/>
            <a:pathLst>
              <a:path w="1" h="216027">
                <a:moveTo>
                  <a:pt x="0" y="0"/>
                </a:moveTo>
                <a:lnTo>
                  <a:pt x="0" y="216027"/>
                </a:lnTo>
              </a:path>
            </a:pathLst>
          </a:custGeom>
          <a:noFill/>
          <a:ln w="24003" cap="flat">
            <a:solidFill>
              <a:srgbClr val="5264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4064508" y="2216277"/>
            <a:ext cx="112014" cy="104013"/>
          </a:xfrm>
          <a:custGeom>
            <a:avLst/>
            <a:gdLst/>
            <a:ahLst/>
            <a:cxnLst/>
            <a:rect l="0" t="0" r="r" b="b"/>
            <a:pathLst>
              <a:path w="112014" h="104013">
                <a:moveTo>
                  <a:pt x="56007" y="104013"/>
                </a:moveTo>
                <a:lnTo>
                  <a:pt x="0" y="0"/>
                </a:lnTo>
                <a:lnTo>
                  <a:pt x="112014" y="0"/>
                </a:lnTo>
                <a:close/>
              </a:path>
            </a:pathLst>
          </a:custGeom>
          <a:solidFill>
            <a:srgbClr val="52647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-014"/>
          <p:cNvSpPr/>
          <p:nvPr/>
        </p:nvSpPr>
        <p:spPr>
          <a:xfrm>
            <a:off x="560070" y="2320290"/>
            <a:ext cx="1880235" cy="656082"/>
          </a:xfrm>
          <a:prstGeom prst="roundRect">
            <a:avLst>
              <a:gd name="adj" fmla="val 12195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5: CVA6"/>
          <p:cNvSpPr txBox="1"/>
          <p:nvPr/>
        </p:nvSpPr>
        <p:spPr>
          <a:xfrm>
            <a:off x="1096512" y="2367016"/>
            <a:ext cx="799350" cy="34564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1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CVA6</a:t>
            </a:r>
          </a:p>
        </p:txBody>
      </p:sp>
      <p:sp>
        <p:nvSpPr>
          <p:cNvPr id="17" name="text-016: 取指并执行机器指令"/>
          <p:cNvSpPr txBox="1"/>
          <p:nvPr/>
        </p:nvSpPr>
        <p:spPr>
          <a:xfrm>
            <a:off x="656082" y="2658892"/>
            <a:ext cx="1680210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取指并执行机器指令</a:t>
            </a:r>
          </a:p>
        </p:txBody>
      </p:sp>
      <p:sp>
        <p:nvSpPr>
          <p:cNvPr id="18" name="rect-017"/>
          <p:cNvSpPr/>
          <p:nvPr/>
        </p:nvSpPr>
        <p:spPr>
          <a:xfrm>
            <a:off x="3040380" y="2320290"/>
            <a:ext cx="2160270" cy="656082"/>
          </a:xfrm>
          <a:prstGeom prst="roundRect">
            <a:avLst>
              <a:gd name="adj" fmla="val 12195"/>
            </a:avLst>
          </a:prstGeom>
          <a:solidFill>
            <a:srgbClr val="FFF3D9"/>
          </a:solidFill>
          <a:ln w="16002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8: LLC tag BIST"/>
          <p:cNvSpPr txBox="1"/>
          <p:nvPr/>
        </p:nvSpPr>
        <p:spPr>
          <a:xfrm>
            <a:off x="3396687" y="2384298"/>
            <a:ext cx="1447656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LLC tag BIST</a:t>
            </a:r>
          </a:p>
        </p:txBody>
      </p:sp>
      <p:sp>
        <p:nvSpPr>
          <p:cNvPr id="20" name="text-019: 复位后自动发起读写测试"/>
          <p:cNvSpPr txBox="1"/>
          <p:nvPr/>
        </p:nvSpPr>
        <p:spPr>
          <a:xfrm>
            <a:off x="3112389" y="2658892"/>
            <a:ext cx="2016252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复位后自动发起读写测试</a:t>
            </a:r>
          </a:p>
        </p:txBody>
      </p:sp>
      <p:cxnSp>
        <p:nvCxnSpPr>
          <p:cNvPr id="21" name="line-020"/>
          <p:cNvCxnSpPr/>
          <p:nvPr/>
        </p:nvCxnSpPr>
        <p:spPr>
          <a:xfrm>
            <a:off x="1496187" y="2976372"/>
            <a:ext cx="0" cy="264033"/>
          </a:xfrm>
          <a:prstGeom prst="line">
            <a:avLst/>
          </a:prstGeom>
          <a:ln w="24003" cap="flat">
            <a:solidFill>
              <a:srgbClr val="4478AA"/>
            </a:solidFill>
          </a:ln>
          <a:effectLst/>
        </p:spPr>
      </p:cxnSp>
      <p:sp>
        <p:nvSpPr>
          <p:cNvPr id="22" name="polygon-021"/>
          <p:cNvSpPr/>
          <p:nvPr/>
        </p:nvSpPr>
        <p:spPr>
          <a:xfrm>
            <a:off x="1440180" y="3216402"/>
            <a:ext cx="112014" cy="104013"/>
          </a:xfrm>
          <a:custGeom>
            <a:avLst/>
            <a:gdLst/>
            <a:ahLst/>
            <a:cxnLst/>
            <a:rect l="0" t="0" r="r" b="b"/>
            <a:pathLst>
              <a:path w="112014" h="104013">
                <a:moveTo>
                  <a:pt x="56007" y="104013"/>
                </a:moveTo>
                <a:lnTo>
                  <a:pt x="0" y="0"/>
                </a:lnTo>
                <a:lnTo>
                  <a:pt x="112014" y="0"/>
                </a:lnTo>
                <a:close/>
              </a:path>
            </a:pathLst>
          </a:custGeom>
          <a:solidFill>
            <a:srgbClr val="4478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" name="line-022"/>
          <p:cNvCxnSpPr/>
          <p:nvPr/>
        </p:nvCxnSpPr>
        <p:spPr>
          <a:xfrm>
            <a:off x="4120515" y="2976372"/>
            <a:ext cx="0" cy="264033"/>
          </a:xfrm>
          <a:prstGeom prst="line">
            <a:avLst/>
          </a:prstGeom>
          <a:ln w="24003" cap="flat">
            <a:solidFill>
              <a:srgbClr val="B68A2F"/>
            </a:solidFill>
          </a:ln>
          <a:effectLst/>
        </p:spPr>
      </p:cxnSp>
      <p:sp>
        <p:nvSpPr>
          <p:cNvPr id="24" name="polygon-023"/>
          <p:cNvSpPr/>
          <p:nvPr/>
        </p:nvSpPr>
        <p:spPr>
          <a:xfrm>
            <a:off x="4064508" y="3216402"/>
            <a:ext cx="112014" cy="104013"/>
          </a:xfrm>
          <a:custGeom>
            <a:avLst/>
            <a:gdLst/>
            <a:ahLst/>
            <a:cxnLst/>
            <a:rect l="0" t="0" r="r" b="b"/>
            <a:pathLst>
              <a:path w="112014" h="104013">
                <a:moveTo>
                  <a:pt x="56007" y="104013"/>
                </a:moveTo>
                <a:lnTo>
                  <a:pt x="0" y="0"/>
                </a:lnTo>
                <a:lnTo>
                  <a:pt x="112014" y="0"/>
                </a:lnTo>
                <a:close/>
              </a:path>
            </a:pathLst>
          </a:custGeom>
          <a:solidFill>
            <a:srgbClr val="B68A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560070" y="3320415"/>
            <a:ext cx="1880235" cy="1000125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Boot ROM（①＋②）"/>
          <p:cNvSpPr txBox="1"/>
          <p:nvPr/>
        </p:nvSpPr>
        <p:spPr>
          <a:xfrm>
            <a:off x="720090" y="3377062"/>
            <a:ext cx="2159057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Boot ROM（①＋②）</a:t>
            </a:r>
          </a:p>
        </p:txBody>
      </p:sp>
      <p:sp>
        <p:nvSpPr>
          <p:cNvPr id="27" name="text-026: 地址：0x02000000"/>
          <p:cNvSpPr txBox="1"/>
          <p:nvPr/>
        </p:nvSpPr>
        <p:spPr>
          <a:xfrm>
            <a:off x="720090" y="3643655"/>
            <a:ext cx="1565721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地址：0x02000000</a:t>
            </a:r>
          </a:p>
        </p:txBody>
      </p:sp>
      <p:sp>
        <p:nvSpPr>
          <p:cNvPr id="28" name="text-027: cheshire_bootrom.sv"/>
          <p:cNvSpPr txBox="1"/>
          <p:nvPr/>
        </p:nvSpPr>
        <p:spPr>
          <a:xfrm>
            <a:off x="720090" y="3875684"/>
            <a:ext cx="1738555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cheshire_bootrom.sv</a:t>
            </a:r>
          </a:p>
        </p:txBody>
      </p:sp>
      <p:sp>
        <p:nvSpPr>
          <p:cNvPr id="29" name="text-028: S / C 预先编译为 ROM 内容"/>
          <p:cNvSpPr txBox="1"/>
          <p:nvPr/>
        </p:nvSpPr>
        <p:spPr>
          <a:xfrm>
            <a:off x="720090" y="4076990"/>
            <a:ext cx="195678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S / C 预先编译为 ROM 内容</a:t>
            </a:r>
          </a:p>
        </p:txBody>
      </p:sp>
      <p:sp>
        <p:nvSpPr>
          <p:cNvPr id="30" name="rect-029"/>
          <p:cNvSpPr/>
          <p:nvPr/>
        </p:nvSpPr>
        <p:spPr>
          <a:xfrm>
            <a:off x="3040380" y="3320415"/>
            <a:ext cx="2160270" cy="1000125"/>
          </a:xfrm>
          <a:prstGeom prst="roundRect">
            <a:avLst>
              <a:gd name="adj" fmla="val 8000"/>
            </a:avLst>
          </a:prstGeom>
          <a:solidFill>
            <a:srgbClr val="FFF3D9"/>
          </a:solidFill>
          <a:ln w="16002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0: LLC 配置寄存器"/>
          <p:cNvSpPr txBox="1"/>
          <p:nvPr/>
        </p:nvSpPr>
        <p:spPr>
          <a:xfrm>
            <a:off x="3200400" y="3368421"/>
            <a:ext cx="1607626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LLC 配置寄存器</a:t>
            </a:r>
          </a:p>
        </p:txBody>
      </p:sp>
      <p:sp>
        <p:nvSpPr>
          <p:cNvPr id="32" name="text-031: DONE：自测完成"/>
          <p:cNvSpPr txBox="1"/>
          <p:nvPr/>
        </p:nvSpPr>
        <p:spPr>
          <a:xfrm>
            <a:off x="3200400" y="3643015"/>
            <a:ext cx="1502025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DONE：自测完成</a:t>
            </a:r>
          </a:p>
        </p:txBody>
      </p:sp>
      <p:sp>
        <p:nvSpPr>
          <p:cNvPr id="33" name="text-032: BIST_OUT：错误位"/>
          <p:cNvSpPr txBox="1"/>
          <p:nvPr/>
        </p:nvSpPr>
        <p:spPr>
          <a:xfrm>
            <a:off x="3200400" y="3875044"/>
            <a:ext cx="1622203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BIST_OUT：错误位</a:t>
            </a:r>
          </a:p>
        </p:txBody>
      </p:sp>
      <p:sp>
        <p:nvSpPr>
          <p:cNvPr id="34" name="text-033: CFG_SPM / COMMIT"/>
          <p:cNvSpPr txBox="1"/>
          <p:nvPr/>
        </p:nvSpPr>
        <p:spPr>
          <a:xfrm>
            <a:off x="3200400" y="4076349"/>
            <a:ext cx="1652169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CFG_SPM / COMMIT</a:t>
            </a:r>
          </a:p>
        </p:txBody>
      </p:sp>
      <p:cxnSp>
        <p:nvCxnSpPr>
          <p:cNvPr id="35" name="line-034"/>
          <p:cNvCxnSpPr/>
          <p:nvPr/>
        </p:nvCxnSpPr>
        <p:spPr>
          <a:xfrm>
            <a:off x="1496187" y="4320540"/>
            <a:ext cx="0" cy="480060"/>
          </a:xfrm>
          <a:prstGeom prst="line">
            <a:avLst/>
          </a:prstGeom>
          <a:ln w="24003" cap="flat">
            <a:solidFill>
              <a:srgbClr val="4478AA"/>
            </a:solidFill>
          </a:ln>
          <a:effectLst/>
        </p:spPr>
      </p:cxnSp>
      <p:sp>
        <p:nvSpPr>
          <p:cNvPr id="36" name="polygon-035"/>
          <p:cNvSpPr/>
          <p:nvPr/>
        </p:nvSpPr>
        <p:spPr>
          <a:xfrm>
            <a:off x="1440180" y="4776597"/>
            <a:ext cx="112014" cy="104013"/>
          </a:xfrm>
          <a:custGeom>
            <a:avLst/>
            <a:gdLst/>
            <a:ahLst/>
            <a:cxnLst/>
            <a:rect l="0" t="0" r="r" b="b"/>
            <a:pathLst>
              <a:path w="112014" h="104013">
                <a:moveTo>
                  <a:pt x="56007" y="104013"/>
                </a:moveTo>
                <a:lnTo>
                  <a:pt x="0" y="0"/>
                </a:lnTo>
                <a:lnTo>
                  <a:pt x="112014" y="0"/>
                </a:lnTo>
                <a:close/>
              </a:path>
            </a:pathLst>
          </a:custGeom>
          <a:solidFill>
            <a:srgbClr val="4478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6: ROM 中的设备驱动"/>
          <p:cNvSpPr txBox="1"/>
          <p:nvPr/>
        </p:nvSpPr>
        <p:spPr>
          <a:xfrm>
            <a:off x="756620" y="4428393"/>
            <a:ext cx="1479135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4478AA"/>
                </a:solidFill>
                <a:latin typeface="Microsoft YaHei"/>
                <a:ea typeface="Microsoft YaHei"/>
                <a:cs typeface="Microsoft YaHei"/>
              </a:rPr>
              <a:t>ROM 中的设备驱动</a:t>
            </a:r>
          </a:p>
        </p:txBody>
      </p:sp>
      <p:cxnSp>
        <p:nvCxnSpPr>
          <p:cNvPr id="38" name="line-037"/>
          <p:cNvCxnSpPr/>
          <p:nvPr/>
        </p:nvCxnSpPr>
        <p:spPr>
          <a:xfrm>
            <a:off x="4120515" y="4320540"/>
            <a:ext cx="0" cy="480060"/>
          </a:xfrm>
          <a:prstGeom prst="line">
            <a:avLst/>
          </a:prstGeom>
          <a:ln w="24003" cap="flat">
            <a:solidFill>
              <a:srgbClr val="B68A2F"/>
            </a:solidFill>
          </a:ln>
          <a:effectLst/>
        </p:spPr>
      </p:cxnSp>
      <p:sp>
        <p:nvSpPr>
          <p:cNvPr id="39" name="polygon-038"/>
          <p:cNvSpPr/>
          <p:nvPr/>
        </p:nvSpPr>
        <p:spPr>
          <a:xfrm>
            <a:off x="4064508" y="4776597"/>
            <a:ext cx="112014" cy="104013"/>
          </a:xfrm>
          <a:custGeom>
            <a:avLst/>
            <a:gdLst/>
            <a:ahLst/>
            <a:cxnLst/>
            <a:rect l="0" t="0" r="r" b="b"/>
            <a:pathLst>
              <a:path w="112014" h="104013">
                <a:moveTo>
                  <a:pt x="56007" y="104013"/>
                </a:moveTo>
                <a:lnTo>
                  <a:pt x="0" y="0"/>
                </a:lnTo>
                <a:lnTo>
                  <a:pt x="112014" y="0"/>
                </a:lnTo>
                <a:close/>
              </a:path>
            </a:pathLst>
          </a:custGeom>
          <a:solidFill>
            <a:srgbClr val="B68A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39: CPU 提交 SPM 配置"/>
          <p:cNvSpPr txBox="1"/>
          <p:nvPr/>
        </p:nvSpPr>
        <p:spPr>
          <a:xfrm>
            <a:off x="3354263" y="4428393"/>
            <a:ext cx="1532504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2601B"/>
                </a:solidFill>
                <a:latin typeface="Microsoft YaHei"/>
                <a:ea typeface="Microsoft YaHei"/>
                <a:cs typeface="Microsoft YaHei"/>
              </a:rPr>
              <a:t>CPU 提交 SPM 配置</a:t>
            </a:r>
          </a:p>
        </p:txBody>
      </p:sp>
      <p:sp>
        <p:nvSpPr>
          <p:cNvPr id="41" name="rect-040"/>
          <p:cNvSpPr/>
          <p:nvPr/>
        </p:nvSpPr>
        <p:spPr>
          <a:xfrm>
            <a:off x="560070" y="4880610"/>
            <a:ext cx="1880235" cy="1000125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1: 装载设备与通路"/>
          <p:cNvSpPr txBox="1"/>
          <p:nvPr/>
        </p:nvSpPr>
        <p:spPr>
          <a:xfrm>
            <a:off x="720090" y="4945258"/>
            <a:ext cx="1536192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装载设备与通路</a:t>
            </a:r>
          </a:p>
        </p:txBody>
      </p:sp>
      <p:sp>
        <p:nvSpPr>
          <p:cNvPr id="43" name="text-042: SPI NOR / SD / EEPROM"/>
          <p:cNvSpPr txBox="1"/>
          <p:nvPr/>
        </p:nvSpPr>
        <p:spPr>
          <a:xfrm>
            <a:off x="720090" y="5219852"/>
            <a:ext cx="2013427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SPI NOR / SD / EEPROM</a:t>
            </a:r>
          </a:p>
        </p:txBody>
      </p:sp>
      <p:sp>
        <p:nvSpPr>
          <p:cNvPr id="44" name="text-043: 或 UART / JTAG / Link"/>
          <p:cNvSpPr txBox="1"/>
          <p:nvPr/>
        </p:nvSpPr>
        <p:spPr>
          <a:xfrm>
            <a:off x="720090" y="5459882"/>
            <a:ext cx="1795837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或 UART / JTAG / Link</a:t>
            </a:r>
          </a:p>
        </p:txBody>
      </p:sp>
      <p:sp>
        <p:nvSpPr>
          <p:cNvPr id="45" name="text-044: 不同装载路径分别验收"/>
          <p:cNvSpPr txBox="1"/>
          <p:nvPr/>
        </p:nvSpPr>
        <p:spPr>
          <a:xfrm>
            <a:off x="720090" y="5653187"/>
            <a:ext cx="158419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不同装载路径分别验收</a:t>
            </a:r>
          </a:p>
        </p:txBody>
      </p:sp>
      <p:sp>
        <p:nvSpPr>
          <p:cNvPr id="46" name="rect-045"/>
          <p:cNvSpPr/>
          <p:nvPr/>
        </p:nvSpPr>
        <p:spPr>
          <a:xfrm>
            <a:off x="3040380" y="4880610"/>
            <a:ext cx="2160270" cy="1000125"/>
          </a:xfrm>
          <a:prstGeom prst="roundRect">
            <a:avLst>
              <a:gd name="adj" fmla="val 8000"/>
            </a:avLst>
          </a:prstGeom>
          <a:solidFill>
            <a:srgbClr val="E6F4EE"/>
          </a:solidFill>
          <a:ln w="16002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6: LLC data SRAM / SPM"/>
          <p:cNvSpPr txBox="1"/>
          <p:nvPr/>
        </p:nvSpPr>
        <p:spPr>
          <a:xfrm>
            <a:off x="3200400" y="4936617"/>
            <a:ext cx="2401200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LLC data SRAM / SPM</a:t>
            </a:r>
          </a:p>
        </p:txBody>
      </p:sp>
      <p:sp>
        <p:nvSpPr>
          <p:cNvPr id="48" name="text-047: 保存载荷代码、数据和栈"/>
          <p:cNvSpPr txBox="1"/>
          <p:nvPr/>
        </p:nvSpPr>
        <p:spPr>
          <a:xfrm>
            <a:off x="3200400" y="5211211"/>
            <a:ext cx="2016252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保存载荷代码、数据和栈</a:t>
            </a:r>
          </a:p>
        </p:txBody>
      </p:sp>
      <p:sp>
        <p:nvSpPr>
          <p:cNvPr id="49" name="text-048: tag BIST 不测试数据阵列"/>
          <p:cNvSpPr txBox="1"/>
          <p:nvPr/>
        </p:nvSpPr>
        <p:spPr>
          <a:xfrm>
            <a:off x="3200400" y="5451241"/>
            <a:ext cx="2054657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tag BIST 不测试数据阵列</a:t>
            </a:r>
          </a:p>
        </p:txBody>
      </p:sp>
      <p:sp>
        <p:nvSpPr>
          <p:cNvPr id="50" name="text-049: 应用 .bss 由 CRT0 清零"/>
          <p:cNvSpPr txBox="1"/>
          <p:nvPr/>
        </p:nvSpPr>
        <p:spPr>
          <a:xfrm>
            <a:off x="3200400" y="5653187"/>
            <a:ext cx="1647943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应用 .bss 由 CRT0 清零</a:t>
            </a:r>
          </a:p>
        </p:txBody>
      </p:sp>
      <p:cxnSp>
        <p:nvCxnSpPr>
          <p:cNvPr id="51" name="line-050"/>
          <p:cNvCxnSpPr/>
          <p:nvPr/>
        </p:nvCxnSpPr>
        <p:spPr>
          <a:xfrm>
            <a:off x="2440305" y="5440680"/>
            <a:ext cx="496062" cy="0"/>
          </a:xfrm>
          <a:prstGeom prst="line">
            <a:avLst/>
          </a:prstGeom>
          <a:ln w="24003" cap="flat">
            <a:solidFill>
              <a:srgbClr val="34816B"/>
            </a:solidFill>
          </a:ln>
          <a:effectLst/>
        </p:spPr>
      </p:cxnSp>
      <p:sp>
        <p:nvSpPr>
          <p:cNvPr id="52" name="polygon-051"/>
          <p:cNvSpPr/>
          <p:nvPr/>
        </p:nvSpPr>
        <p:spPr>
          <a:xfrm>
            <a:off x="2936367" y="5384673"/>
            <a:ext cx="104013" cy="112014"/>
          </a:xfrm>
          <a:custGeom>
            <a:avLst/>
            <a:gdLst/>
            <a:ahLst/>
            <a:cxnLst/>
            <a:rect l="0" t="0" r="r" b="b"/>
            <a:pathLst>
              <a:path w="104013" h="112014">
                <a:moveTo>
                  <a:pt x="104013" y="56007"/>
                </a:moveTo>
                <a:lnTo>
                  <a:pt x="0" y="0"/>
                </a:lnTo>
                <a:lnTo>
                  <a:pt x="0" y="112014"/>
                </a:lnTo>
                <a:close/>
              </a:path>
            </a:pathLst>
          </a:custGeom>
          <a:solidFill>
            <a:srgbClr val="3481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2: 搬运"/>
          <p:cNvSpPr txBox="1"/>
          <p:nvPr/>
        </p:nvSpPr>
        <p:spPr>
          <a:xfrm>
            <a:off x="2532316" y="5021748"/>
            <a:ext cx="408051" cy="2176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54" name="text-053: 字节"/>
          <p:cNvSpPr txBox="1"/>
          <p:nvPr/>
        </p:nvSpPr>
        <p:spPr>
          <a:xfrm>
            <a:off x="2532316" y="5173767"/>
            <a:ext cx="408051" cy="2176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字节</a:t>
            </a:r>
          </a:p>
        </p:txBody>
      </p:sp>
      <p:sp>
        <p:nvSpPr>
          <p:cNvPr id="55" name="rect-054"/>
          <p:cNvSpPr/>
          <p:nvPr/>
        </p:nvSpPr>
        <p:spPr>
          <a:xfrm>
            <a:off x="7840980" y="1720215"/>
            <a:ext cx="4320540" cy="1120140"/>
          </a:xfrm>
          <a:prstGeom prst="roundRect">
            <a:avLst>
              <a:gd name="adj" fmla="val 7142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5: ① Boot ROM 汇编"/>
          <p:cNvSpPr txBox="1"/>
          <p:nvPr/>
        </p:nvSpPr>
        <p:spPr>
          <a:xfrm>
            <a:off x="8001000" y="1766941"/>
            <a:ext cx="2125578" cy="34564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1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① Boot ROM 汇编</a:t>
            </a:r>
          </a:p>
        </p:txBody>
      </p:sp>
      <p:sp>
        <p:nvSpPr>
          <p:cNvPr id="57" name="text-056: cheshire_bootrom.S"/>
          <p:cNvSpPr txBox="1"/>
          <p:nvPr/>
        </p:nvSpPr>
        <p:spPr>
          <a:xfrm>
            <a:off x="8001000" y="2050176"/>
            <a:ext cx="184006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cheshire_bootrom.S</a:t>
            </a:r>
          </a:p>
        </p:txBody>
      </p:sp>
      <p:sp>
        <p:nvSpPr>
          <p:cNvPr id="58" name="text-057: 整数环境、sp / gp；等待 LLC DONE"/>
          <p:cNvSpPr txBox="1"/>
          <p:nvPr/>
        </p:nvSpPr>
        <p:spPr>
          <a:xfrm>
            <a:off x="8001000" y="2290206"/>
            <a:ext cx="309638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整数环境、sp / gp；等待 LLC DONE</a:t>
            </a:r>
          </a:p>
        </p:txBody>
      </p:sp>
      <p:sp>
        <p:nvSpPr>
          <p:cNvPr id="59" name="text-058: 全 way 配置 SPM；建立早期栈"/>
          <p:cNvSpPr txBox="1"/>
          <p:nvPr/>
        </p:nvSpPr>
        <p:spPr>
          <a:xfrm>
            <a:off x="8001000" y="2522235"/>
            <a:ext cx="262717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全 way 配置 SPM；建立早期栈</a:t>
            </a:r>
          </a:p>
        </p:txBody>
      </p:sp>
      <p:cxnSp>
        <p:nvCxnSpPr>
          <p:cNvPr id="60" name="line-059"/>
          <p:cNvCxnSpPr/>
          <p:nvPr/>
        </p:nvCxnSpPr>
        <p:spPr>
          <a:xfrm>
            <a:off x="10001250" y="2840355"/>
            <a:ext cx="0" cy="336042"/>
          </a:xfrm>
          <a:prstGeom prst="line">
            <a:avLst/>
          </a:prstGeom>
          <a:ln w="24003" cap="flat">
            <a:solidFill>
              <a:srgbClr val="4478AA"/>
            </a:solidFill>
          </a:ln>
          <a:effectLst/>
        </p:spPr>
      </p:cxnSp>
      <p:sp>
        <p:nvSpPr>
          <p:cNvPr id="61" name="polygon-060"/>
          <p:cNvSpPr/>
          <p:nvPr/>
        </p:nvSpPr>
        <p:spPr>
          <a:xfrm>
            <a:off x="9945243" y="3176397"/>
            <a:ext cx="112014" cy="104013"/>
          </a:xfrm>
          <a:custGeom>
            <a:avLst/>
            <a:gdLst/>
            <a:ahLst/>
            <a:cxnLst/>
            <a:rect l="0" t="0" r="r" b="b"/>
            <a:pathLst>
              <a:path w="112014" h="104013">
                <a:moveTo>
                  <a:pt x="56007" y="104013"/>
                </a:moveTo>
                <a:lnTo>
                  <a:pt x="0" y="0"/>
                </a:lnTo>
                <a:lnTo>
                  <a:pt x="112014" y="0"/>
                </a:lnTo>
                <a:close/>
              </a:path>
            </a:pathLst>
          </a:custGeom>
          <a:solidFill>
            <a:srgbClr val="4478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1: call ROM main"/>
          <p:cNvSpPr txBox="1"/>
          <p:nvPr/>
        </p:nvSpPr>
        <p:spPr>
          <a:xfrm>
            <a:off x="10161270" y="2923565"/>
            <a:ext cx="1277672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4478AA"/>
                </a:solidFill>
                <a:latin typeface="Microsoft YaHei"/>
                <a:ea typeface="Microsoft YaHei"/>
                <a:cs typeface="Microsoft YaHei"/>
              </a:rPr>
              <a:t>call ROM main</a:t>
            </a:r>
          </a:p>
        </p:txBody>
      </p:sp>
      <p:sp>
        <p:nvSpPr>
          <p:cNvPr id="63" name="rect-062"/>
          <p:cNvSpPr/>
          <p:nvPr/>
        </p:nvSpPr>
        <p:spPr>
          <a:xfrm>
            <a:off x="7840980" y="3280410"/>
            <a:ext cx="4320540" cy="1120140"/>
          </a:xfrm>
          <a:prstGeom prst="roundRect">
            <a:avLst>
              <a:gd name="adj" fmla="val 7142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3: ② Boot ROM 的 C 代码"/>
          <p:cNvSpPr txBox="1"/>
          <p:nvPr/>
        </p:nvSpPr>
        <p:spPr>
          <a:xfrm>
            <a:off x="8001000" y="3327136"/>
            <a:ext cx="2615752" cy="34564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1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② Boot ROM 的 C 代码</a:t>
            </a:r>
          </a:p>
        </p:txBody>
      </p:sp>
      <p:sp>
        <p:nvSpPr>
          <p:cNvPr id="65" name="text-064: cheshire_bootrom.c"/>
          <p:cNvSpPr txBox="1"/>
          <p:nvPr/>
        </p:nvSpPr>
        <p:spPr>
          <a:xfrm>
            <a:off x="8001000" y="3610371"/>
            <a:ext cx="182675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cheshire_bootrom.c</a:t>
            </a:r>
          </a:p>
        </p:txBody>
      </p:sp>
      <p:sp>
        <p:nvSpPr>
          <p:cNvPr id="66" name="text-065: 测频、选择 boot_mode、调用装载驱动"/>
          <p:cNvSpPr txBox="1"/>
          <p:nvPr/>
        </p:nvSpPr>
        <p:spPr>
          <a:xfrm>
            <a:off x="8001000" y="3850401"/>
            <a:ext cx="33103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测频、选择 boot_mode、调用装载驱动</a:t>
            </a:r>
          </a:p>
        </p:txBody>
      </p:sp>
      <p:sp>
        <p:nvSpPr>
          <p:cNvPr id="67" name="text-066: 把载荷装入内存，再交接执行入口"/>
          <p:cNvSpPr txBox="1"/>
          <p:nvPr/>
        </p:nvSpPr>
        <p:spPr>
          <a:xfrm>
            <a:off x="8001000" y="4082430"/>
            <a:ext cx="281635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把载荷装入内存，再交接执行入口</a:t>
            </a:r>
          </a:p>
        </p:txBody>
      </p:sp>
      <p:cxnSp>
        <p:nvCxnSpPr>
          <p:cNvPr id="68" name="line-067"/>
          <p:cNvCxnSpPr/>
          <p:nvPr/>
        </p:nvCxnSpPr>
        <p:spPr>
          <a:xfrm>
            <a:off x="10001250" y="4400550"/>
            <a:ext cx="0" cy="376047"/>
          </a:xfrm>
          <a:prstGeom prst="line">
            <a:avLst/>
          </a:prstGeom>
          <a:ln w="24003" cap="flat">
            <a:solidFill>
              <a:srgbClr val="34816B"/>
            </a:solidFill>
          </a:ln>
          <a:effectLst/>
        </p:spPr>
      </p:cxnSp>
      <p:sp>
        <p:nvSpPr>
          <p:cNvPr id="69" name="polygon-068"/>
          <p:cNvSpPr/>
          <p:nvPr/>
        </p:nvSpPr>
        <p:spPr>
          <a:xfrm>
            <a:off x="9945243" y="4776597"/>
            <a:ext cx="112014" cy="104013"/>
          </a:xfrm>
          <a:custGeom>
            <a:avLst/>
            <a:gdLst/>
            <a:ahLst/>
            <a:cxnLst/>
            <a:rect l="0" t="0" r="r" b="b"/>
            <a:pathLst>
              <a:path w="112014" h="104013">
                <a:moveTo>
                  <a:pt x="56007" y="104013"/>
                </a:moveTo>
                <a:lnTo>
                  <a:pt x="0" y="0"/>
                </a:lnTo>
                <a:lnTo>
                  <a:pt x="112014" y="0"/>
                </a:lnTo>
                <a:close/>
              </a:path>
            </a:pathLst>
          </a:custGeom>
          <a:solidFill>
            <a:srgbClr val="3481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69: 调用载荷入口"/>
          <p:cNvSpPr txBox="1"/>
          <p:nvPr/>
        </p:nvSpPr>
        <p:spPr>
          <a:xfrm>
            <a:off x="10161270" y="4491761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调用载荷入口</a:t>
            </a:r>
          </a:p>
        </p:txBody>
      </p:sp>
      <p:sp>
        <p:nvSpPr>
          <p:cNvPr id="71" name="rect-070"/>
          <p:cNvSpPr/>
          <p:nvPr/>
        </p:nvSpPr>
        <p:spPr>
          <a:xfrm>
            <a:off x="7840980" y="4880610"/>
            <a:ext cx="4320540" cy="1200150"/>
          </a:xfrm>
          <a:prstGeom prst="roundRect">
            <a:avLst>
              <a:gd name="adj" fmla="val 6666"/>
            </a:avLst>
          </a:prstGeom>
          <a:solidFill>
            <a:srgbClr val="E6F4EE"/>
          </a:solidFill>
          <a:ln w="16002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1: ③ 应用 / ZSL 的启动代码"/>
          <p:cNvSpPr txBox="1"/>
          <p:nvPr/>
        </p:nvSpPr>
        <p:spPr>
          <a:xfrm>
            <a:off x="8001000" y="4927336"/>
            <a:ext cx="2692336" cy="34564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1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③ 应用 / ZSL 的启动代码</a:t>
            </a:r>
          </a:p>
        </p:txBody>
      </p:sp>
      <p:sp>
        <p:nvSpPr>
          <p:cNvPr id="73" name="text-072: sw/lib/crt0.S → 该载荷自己的 main"/>
          <p:cNvSpPr txBox="1"/>
          <p:nvPr/>
        </p:nvSpPr>
        <p:spPr>
          <a:xfrm>
            <a:off x="8001000" y="5210571"/>
            <a:ext cx="303270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sw/lib/crt0.S → 该载荷自己的 main</a:t>
            </a:r>
          </a:p>
        </p:txBody>
      </p:sp>
      <p:sp>
        <p:nvSpPr>
          <p:cNvPr id="74" name="text-073: sp / gp、mtvec、.bss、FP 初始化"/>
          <p:cNvSpPr txBox="1"/>
          <p:nvPr/>
        </p:nvSpPr>
        <p:spPr>
          <a:xfrm>
            <a:off x="8001000" y="5450601"/>
            <a:ext cx="291145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sp / gp、mtvec、.bss、FP 初始化</a:t>
            </a:r>
          </a:p>
        </p:txBody>
      </p:sp>
      <p:sp>
        <p:nvSpPr>
          <p:cNvPr id="75" name="text-074: main 返回：发布 scratch2，然后 ret"/>
          <p:cNvSpPr txBox="1"/>
          <p:nvPr/>
        </p:nvSpPr>
        <p:spPr>
          <a:xfrm>
            <a:off x="8001000" y="5690631"/>
            <a:ext cx="308539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main 返回：发布 scratch2，然后 ret</a:t>
            </a:r>
          </a:p>
        </p:txBody>
      </p:sp>
      <p:sp>
        <p:nvSpPr>
          <p:cNvPr id="76" name="path-075"/>
          <p:cNvSpPr/>
          <p:nvPr/>
        </p:nvSpPr>
        <p:spPr>
          <a:xfrm>
            <a:off x="5304663" y="2360295"/>
            <a:ext cx="2536317" cy="1336167"/>
          </a:xfrm>
          <a:custGeom>
            <a:avLst/>
            <a:gdLst/>
            <a:ahLst/>
            <a:cxnLst/>
            <a:rect l="0" t="0" r="r" b="b"/>
            <a:pathLst>
              <a:path w="2536317" h="1336167">
                <a:moveTo>
                  <a:pt x="2536317" y="0"/>
                </a:moveTo>
                <a:lnTo>
                  <a:pt x="1696212" y="0"/>
                </a:lnTo>
                <a:lnTo>
                  <a:pt x="1696212" y="1336167"/>
                </a:lnTo>
                <a:lnTo>
                  <a:pt x="0" y="1336167"/>
                </a:lnTo>
              </a:path>
            </a:pathLst>
          </a:custGeom>
          <a:noFill/>
          <a:ln w="24003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polygon-076"/>
          <p:cNvSpPr/>
          <p:nvPr/>
        </p:nvSpPr>
        <p:spPr>
          <a:xfrm>
            <a:off x="5200650" y="3640455"/>
            <a:ext cx="104013" cy="112014"/>
          </a:xfrm>
          <a:custGeom>
            <a:avLst/>
            <a:gdLst/>
            <a:ahLst/>
            <a:cxnLst/>
            <a:rect l="0" t="0" r="r" b="b"/>
            <a:pathLst>
              <a:path w="104013" h="112014">
                <a:moveTo>
                  <a:pt x="0" y="56007"/>
                </a:moveTo>
                <a:lnTo>
                  <a:pt x="104013" y="0"/>
                </a:lnTo>
                <a:lnTo>
                  <a:pt x="104013" y="112014"/>
                </a:lnTo>
                <a:close/>
              </a:path>
            </a:pathLst>
          </a:custGeom>
          <a:solidFill>
            <a:srgbClr val="B68A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77: ① 轮询 DONE"/>
          <p:cNvSpPr txBox="1"/>
          <p:nvPr/>
        </p:nvSpPr>
        <p:spPr>
          <a:xfrm>
            <a:off x="5704713" y="3051581"/>
            <a:ext cx="120516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82601B"/>
                </a:solidFill>
                <a:latin typeface="Microsoft YaHei"/>
                <a:ea typeface="Microsoft YaHei"/>
                <a:cs typeface="Microsoft YaHei"/>
              </a:rPr>
              <a:t>① 轮询 DONE</a:t>
            </a:r>
          </a:p>
        </p:txBody>
      </p:sp>
      <p:sp>
        <p:nvSpPr>
          <p:cNvPr id="79" name="text-078: 写 SPM 配置与提交"/>
          <p:cNvSpPr txBox="1"/>
          <p:nvPr/>
        </p:nvSpPr>
        <p:spPr>
          <a:xfrm>
            <a:off x="5704713" y="3275609"/>
            <a:ext cx="156145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82601B"/>
                </a:solidFill>
                <a:latin typeface="Microsoft YaHei"/>
                <a:ea typeface="Microsoft YaHei"/>
                <a:cs typeface="Microsoft YaHei"/>
              </a:rPr>
              <a:t>写 SPM 配置与提交</a:t>
            </a:r>
          </a:p>
        </p:txBody>
      </p:sp>
      <p:cxnSp>
        <p:nvCxnSpPr>
          <p:cNvPr id="80" name="line-079"/>
          <p:cNvCxnSpPr/>
          <p:nvPr/>
        </p:nvCxnSpPr>
        <p:spPr>
          <a:xfrm>
            <a:off x="5200650" y="5520690"/>
            <a:ext cx="2536317" cy="0"/>
          </a:xfrm>
          <a:prstGeom prst="line">
            <a:avLst/>
          </a:prstGeom>
          <a:ln w="24003" cap="flat">
            <a:solidFill>
              <a:srgbClr val="34816B"/>
            </a:solidFill>
          </a:ln>
          <a:effectLst/>
        </p:spPr>
      </p:cxnSp>
      <p:sp>
        <p:nvSpPr>
          <p:cNvPr id="81" name="polygon-080"/>
          <p:cNvSpPr/>
          <p:nvPr/>
        </p:nvSpPr>
        <p:spPr>
          <a:xfrm>
            <a:off x="7736967" y="5464683"/>
            <a:ext cx="104013" cy="112014"/>
          </a:xfrm>
          <a:custGeom>
            <a:avLst/>
            <a:gdLst/>
            <a:ahLst/>
            <a:cxnLst/>
            <a:rect l="0" t="0" r="r" b="b"/>
            <a:pathLst>
              <a:path w="104013" h="112014">
                <a:moveTo>
                  <a:pt x="104013" y="56007"/>
                </a:moveTo>
                <a:lnTo>
                  <a:pt x="0" y="0"/>
                </a:lnTo>
                <a:lnTo>
                  <a:pt x="0" y="112014"/>
                </a:lnTo>
                <a:close/>
              </a:path>
            </a:pathLst>
          </a:custGeom>
          <a:solidFill>
            <a:srgbClr val="3481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-081: 镜像入口 _start"/>
          <p:cNvSpPr txBox="1"/>
          <p:nvPr/>
        </p:nvSpPr>
        <p:spPr>
          <a:xfrm>
            <a:off x="5632704" y="4995824"/>
            <a:ext cx="126705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镜像入口 _start</a:t>
            </a:r>
          </a:p>
        </p:txBody>
      </p:sp>
      <p:sp>
        <p:nvSpPr>
          <p:cNvPr id="83" name="text-082: 对应 CRT0 机器指令"/>
          <p:cNvSpPr txBox="1"/>
          <p:nvPr/>
        </p:nvSpPr>
        <p:spPr>
          <a:xfrm>
            <a:off x="5632704" y="5219852"/>
            <a:ext cx="160748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对应 CRT0 机器指令</a:t>
            </a:r>
          </a:p>
        </p:txBody>
      </p:sp>
      <p:sp>
        <p:nvSpPr>
          <p:cNvPr id="84" name="text-083: 边界：DONE ≠ 自测无错误；数据 SRAM 制造测试另行设计。Platfor"/>
          <p:cNvSpPr txBox="1"/>
          <p:nvPr/>
        </p:nvSpPr>
        <p:spPr>
          <a:xfrm>
            <a:off x="320040" y="6436004"/>
            <a:ext cx="8077635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边界：DONE ≠ 自测无错误；数据 SRAM 制造测试另行设计。Platform ROM 非零返回路径待 S01-B01 修复。</a:t>
            </a:r>
          </a:p>
        </p:txBody>
      </p:sp>
      <p:sp>
        <p:nvSpPr>
          <p:cNvPr id="85" name="text-084: 依据：hw/cheshire_soc.sv；hw/bootrom/；sw/lib"/>
          <p:cNvSpPr txBox="1"/>
          <p:nvPr/>
        </p:nvSpPr>
        <p:spPr>
          <a:xfrm>
            <a:off x="320040" y="6717320"/>
            <a:ext cx="717588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依据：hw/cheshire_soc.sv；hw/bootrom/；sw/lib/crt0.S；axi_llc_hit_miss / tag_store / tag_pattern_gen</a:t>
            </a:r>
          </a:p>
        </p:txBody>
      </p:sp>
      <p:sp>
        <p:nvSpPr>
          <p:cNvPr id="86" name="text-085: 输入 HEAD 278434024 · 2026-10-08 · 源码对应图，未"/>
          <p:cNvSpPr txBox="1"/>
          <p:nvPr/>
        </p:nvSpPr>
        <p:spPr>
          <a:xfrm>
            <a:off x="320040" y="6933987"/>
            <a:ext cx="5019502" cy="2176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输入 HEAD 278434024 · 2026-10-08 · 源码对应图，未新增目标仿真 / 板测证据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7200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-002: 从复位到应用返回的程序执行流程"/>
          <p:cNvSpPr txBox="1"/>
          <p:nvPr/>
        </p:nvSpPr>
        <p:spPr>
          <a:xfrm>
            <a:off x="320040" y="149139"/>
            <a:ext cx="5376672" cy="5376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6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从复位到应用返回的程序执行流程</a:t>
            </a:r>
          </a:p>
        </p:txBody>
      </p:sp>
      <p:sp>
        <p:nvSpPr>
          <p:cNvPr id="4" name="text-003: 示例：SPI NOR 自主启动（boot_mode=2），PlatformRom"/>
          <p:cNvSpPr txBox="1"/>
          <p:nvPr/>
        </p:nvSpPr>
        <p:spPr>
          <a:xfrm>
            <a:off x="320040" y="650001"/>
            <a:ext cx="741653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示例：SPI NOR 自主启动（boot_mode=2），PlatformRom=0；程序使用根 SDK 的 CRT0</a:t>
            </a:r>
          </a:p>
        </p:txBody>
      </p:sp>
      <p:sp>
        <p:nvSpPr>
          <p:cNvPr id="5" name="rect-004"/>
          <p:cNvSpPr/>
          <p:nvPr/>
        </p:nvSpPr>
        <p:spPr>
          <a:xfrm>
            <a:off x="320040" y="1120140"/>
            <a:ext cx="4160520" cy="5520690"/>
          </a:xfrm>
          <a:prstGeom prst="roundRect">
            <a:avLst>
              <a:gd name="adj" fmla="val 2692"/>
            </a:avLst>
          </a:prstGeom>
          <a:solidFill>
            <a:srgbClr val="F5F7FA"/>
          </a:solidFill>
          <a:ln w="16002" cap="flat">
            <a:solidFill>
              <a:srgbClr val="B8C6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-005"/>
          <p:cNvSpPr/>
          <p:nvPr/>
        </p:nvSpPr>
        <p:spPr>
          <a:xfrm>
            <a:off x="4880610" y="1120140"/>
            <a:ext cx="4160520" cy="5520690"/>
          </a:xfrm>
          <a:prstGeom prst="roundRect">
            <a:avLst>
              <a:gd name="adj" fmla="val 2692"/>
            </a:avLst>
          </a:prstGeom>
          <a:solidFill>
            <a:srgbClr val="F5F7FA"/>
          </a:solidFill>
          <a:ln w="16002" cap="flat">
            <a:solidFill>
              <a:srgbClr val="B8C6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6"/>
          <p:cNvSpPr/>
          <p:nvPr/>
        </p:nvSpPr>
        <p:spPr>
          <a:xfrm>
            <a:off x="9441180" y="1120140"/>
            <a:ext cx="3040380" cy="5520690"/>
          </a:xfrm>
          <a:prstGeom prst="roundRect">
            <a:avLst>
              <a:gd name="adj" fmla="val 3684"/>
            </a:avLst>
          </a:prstGeom>
          <a:solidFill>
            <a:srgbClr val="F5F7FA"/>
          </a:solidFill>
          <a:ln w="16002" cap="flat">
            <a:solidFill>
              <a:srgbClr val="B8C6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7: 片上 Boot ROM 镜像"/>
          <p:cNvSpPr txBox="1"/>
          <p:nvPr/>
        </p:nvSpPr>
        <p:spPr>
          <a:xfrm>
            <a:off x="560070" y="1213592"/>
            <a:ext cx="2515052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片上 Boot ROM 镜像</a:t>
            </a:r>
          </a:p>
        </p:txBody>
      </p:sp>
      <p:sp>
        <p:nvSpPr>
          <p:cNvPr id="9" name="text-008: SPM 中的应用 / ZSL 镜像"/>
          <p:cNvSpPr txBox="1"/>
          <p:nvPr/>
        </p:nvSpPr>
        <p:spPr>
          <a:xfrm>
            <a:off x="5120640" y="1213592"/>
            <a:ext cx="2958370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SPM 中的应用 / ZSL 镜像</a:t>
            </a:r>
          </a:p>
        </p:txBody>
      </p:sp>
      <p:sp>
        <p:nvSpPr>
          <p:cNvPr id="10" name="text-009: 完成后的状态与观察"/>
          <p:cNvSpPr txBox="1"/>
          <p:nvPr/>
        </p:nvSpPr>
        <p:spPr>
          <a:xfrm>
            <a:off x="9681210" y="1222233"/>
            <a:ext cx="2240280" cy="3584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4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完成后的状态与观察</a:t>
            </a:r>
          </a:p>
        </p:txBody>
      </p:sp>
      <p:sp>
        <p:nvSpPr>
          <p:cNvPr id="11" name="rect-010"/>
          <p:cNvSpPr/>
          <p:nvPr/>
        </p:nvSpPr>
        <p:spPr>
          <a:xfrm>
            <a:off x="600075" y="1680210"/>
            <a:ext cx="3600450" cy="56007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1: 复位释放 → ROM 的 _start"/>
          <p:cNvSpPr txBox="1"/>
          <p:nvPr/>
        </p:nvSpPr>
        <p:spPr>
          <a:xfrm>
            <a:off x="760095" y="1712214"/>
            <a:ext cx="2705813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复位释放 → ROM 的 _start</a:t>
            </a:r>
          </a:p>
        </p:txBody>
      </p:sp>
      <p:sp>
        <p:nvSpPr>
          <p:cNvPr id="13" name="text-012: cheshire_bootrom.S @ Boot ROM"/>
          <p:cNvSpPr txBox="1"/>
          <p:nvPr/>
        </p:nvSpPr>
        <p:spPr>
          <a:xfrm>
            <a:off x="760095" y="1970806"/>
            <a:ext cx="2869484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cheshire_bootrom.S @ Boot ROM</a:t>
            </a:r>
          </a:p>
        </p:txBody>
      </p:sp>
      <p:cxnSp>
        <p:nvCxnSpPr>
          <p:cNvPr id="14" name="line-013"/>
          <p:cNvCxnSpPr/>
          <p:nvPr/>
        </p:nvCxnSpPr>
        <p:spPr>
          <a:xfrm>
            <a:off x="2400300" y="2240280"/>
            <a:ext cx="0" cy="216027"/>
          </a:xfrm>
          <a:prstGeom prst="line">
            <a:avLst/>
          </a:prstGeom>
          <a:ln w="24003" cap="flat">
            <a:solidFill>
              <a:srgbClr val="4478AA"/>
            </a:solidFill>
          </a:ln>
          <a:effectLst/>
        </p:spPr>
      </p:cxnSp>
      <p:sp>
        <p:nvSpPr>
          <p:cNvPr id="15" name="polygon-014"/>
          <p:cNvSpPr/>
          <p:nvPr/>
        </p:nvSpPr>
        <p:spPr>
          <a:xfrm>
            <a:off x="2344293" y="2456307"/>
            <a:ext cx="112014" cy="104013"/>
          </a:xfrm>
          <a:custGeom>
            <a:avLst/>
            <a:gdLst/>
            <a:ahLst/>
            <a:cxnLst/>
            <a:rect l="0" t="0" r="r" b="b"/>
            <a:pathLst>
              <a:path w="112014" h="104013">
                <a:moveTo>
                  <a:pt x="56007" y="104013"/>
                </a:moveTo>
                <a:lnTo>
                  <a:pt x="0" y="0"/>
                </a:lnTo>
                <a:lnTo>
                  <a:pt x="112014" y="0"/>
                </a:lnTo>
                <a:close/>
              </a:path>
            </a:pathLst>
          </a:custGeom>
          <a:solidFill>
            <a:srgbClr val="4478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-015"/>
          <p:cNvSpPr/>
          <p:nvPr/>
        </p:nvSpPr>
        <p:spPr>
          <a:xfrm>
            <a:off x="600075" y="2560320"/>
            <a:ext cx="3600450" cy="880110"/>
          </a:xfrm>
          <a:prstGeom prst="roundRect">
            <a:avLst>
              <a:gd name="adj" fmla="val 9090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6: 早期运行环境与 LLC 初始化"/>
          <p:cNvSpPr txBox="1"/>
          <p:nvPr/>
        </p:nvSpPr>
        <p:spPr>
          <a:xfrm>
            <a:off x="760095" y="2600325"/>
            <a:ext cx="2667333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早期运行环境与 LLC 初始化</a:t>
            </a:r>
          </a:p>
        </p:txBody>
      </p:sp>
      <p:sp>
        <p:nvSpPr>
          <p:cNvPr id="18" name="text-017: 等待硬件 BIST；配置 SPM / 栈"/>
          <p:cNvSpPr txBox="1"/>
          <p:nvPr/>
        </p:nvSpPr>
        <p:spPr>
          <a:xfrm>
            <a:off x="760095" y="2858917"/>
            <a:ext cx="2494899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等待硬件 BIST；配置 SPM / 栈</a:t>
            </a:r>
          </a:p>
        </p:txBody>
      </p:sp>
      <p:sp>
        <p:nvSpPr>
          <p:cNvPr id="19" name="text-018: PlatformRom=0：跳过平台钩子"/>
          <p:cNvSpPr txBox="1"/>
          <p:nvPr/>
        </p:nvSpPr>
        <p:spPr>
          <a:xfrm>
            <a:off x="760095" y="3082945"/>
            <a:ext cx="2625316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PlatformRom=0：跳过平台钩子</a:t>
            </a:r>
          </a:p>
        </p:txBody>
      </p:sp>
      <p:cxnSp>
        <p:nvCxnSpPr>
          <p:cNvPr id="20" name="line-019"/>
          <p:cNvCxnSpPr/>
          <p:nvPr/>
        </p:nvCxnSpPr>
        <p:spPr>
          <a:xfrm>
            <a:off x="2400300" y="3440430"/>
            <a:ext cx="0" cy="336042"/>
          </a:xfrm>
          <a:prstGeom prst="line">
            <a:avLst/>
          </a:prstGeom>
          <a:ln w="24003" cap="flat">
            <a:solidFill>
              <a:srgbClr val="4478AA"/>
            </a:solidFill>
          </a:ln>
          <a:effectLst/>
        </p:spPr>
      </p:cxnSp>
      <p:sp>
        <p:nvSpPr>
          <p:cNvPr id="21" name="polygon-020"/>
          <p:cNvSpPr/>
          <p:nvPr/>
        </p:nvSpPr>
        <p:spPr>
          <a:xfrm>
            <a:off x="2344293" y="3776472"/>
            <a:ext cx="112014" cy="104013"/>
          </a:xfrm>
          <a:custGeom>
            <a:avLst/>
            <a:gdLst/>
            <a:ahLst/>
            <a:cxnLst/>
            <a:rect l="0" t="0" r="r" b="b"/>
            <a:pathLst>
              <a:path w="112014" h="104013">
                <a:moveTo>
                  <a:pt x="56007" y="104013"/>
                </a:moveTo>
                <a:lnTo>
                  <a:pt x="0" y="0"/>
                </a:lnTo>
                <a:lnTo>
                  <a:pt x="112014" y="0"/>
                </a:lnTo>
                <a:close/>
              </a:path>
            </a:pathLst>
          </a:custGeom>
          <a:solidFill>
            <a:srgbClr val="4478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1: call main"/>
          <p:cNvSpPr txBox="1"/>
          <p:nvPr/>
        </p:nvSpPr>
        <p:spPr>
          <a:xfrm>
            <a:off x="2560320" y="3515639"/>
            <a:ext cx="84081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4478AA"/>
                </a:solidFill>
                <a:latin typeface="Microsoft YaHei"/>
                <a:ea typeface="Microsoft YaHei"/>
                <a:cs typeface="Microsoft YaHei"/>
              </a:rPr>
              <a:t>call main</a:t>
            </a:r>
          </a:p>
        </p:txBody>
      </p:sp>
      <p:sp>
        <p:nvSpPr>
          <p:cNvPr id="23" name="rect-022"/>
          <p:cNvSpPr/>
          <p:nvPr/>
        </p:nvSpPr>
        <p:spPr>
          <a:xfrm>
            <a:off x="600075" y="3880485"/>
            <a:ext cx="3600450" cy="800100"/>
          </a:xfrm>
          <a:prstGeom prst="roundRect">
            <a:avLst>
              <a:gd name="adj" fmla="val 10000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3: cheshire_bootrom.c 的 main"/>
          <p:cNvSpPr txBox="1"/>
          <p:nvPr/>
        </p:nvSpPr>
        <p:spPr>
          <a:xfrm>
            <a:off x="760095" y="3920490"/>
            <a:ext cx="2996875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cheshire_bootrom.c 的 main</a:t>
            </a:r>
          </a:p>
        </p:txBody>
      </p:sp>
      <p:sp>
        <p:nvSpPr>
          <p:cNvPr id="25" name="text-024: 读取 boot_mode / RTC，测频"/>
          <p:cNvSpPr txBox="1"/>
          <p:nvPr/>
        </p:nvSpPr>
        <p:spPr>
          <a:xfrm>
            <a:off x="760095" y="4179082"/>
            <a:ext cx="2460570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读取 boot_mode / RTC，测频</a:t>
            </a:r>
          </a:p>
        </p:txBody>
      </p:sp>
      <p:sp>
        <p:nvSpPr>
          <p:cNvPr id="26" name="text-025: boot_spi_s25fs512s：初始化 SPI"/>
          <p:cNvSpPr txBox="1"/>
          <p:nvPr/>
        </p:nvSpPr>
        <p:spPr>
          <a:xfrm>
            <a:off x="760095" y="4403110"/>
            <a:ext cx="2687198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boot_spi_s25fs512s：初始化 SPI</a:t>
            </a:r>
          </a:p>
        </p:txBody>
      </p:sp>
      <p:cxnSp>
        <p:nvCxnSpPr>
          <p:cNvPr id="27" name="line-026"/>
          <p:cNvCxnSpPr/>
          <p:nvPr/>
        </p:nvCxnSpPr>
        <p:spPr>
          <a:xfrm>
            <a:off x="2400300" y="4680585"/>
            <a:ext cx="0" cy="336042"/>
          </a:xfrm>
          <a:prstGeom prst="line">
            <a:avLst/>
          </a:prstGeom>
          <a:ln w="24003" cap="flat">
            <a:solidFill>
              <a:srgbClr val="4478AA"/>
            </a:solidFill>
          </a:ln>
          <a:effectLst/>
        </p:spPr>
      </p:cxnSp>
      <p:sp>
        <p:nvSpPr>
          <p:cNvPr id="28" name="polygon-027"/>
          <p:cNvSpPr/>
          <p:nvPr/>
        </p:nvSpPr>
        <p:spPr>
          <a:xfrm>
            <a:off x="2344293" y="5016627"/>
            <a:ext cx="112014" cy="104013"/>
          </a:xfrm>
          <a:custGeom>
            <a:avLst/>
            <a:gdLst/>
            <a:ahLst/>
            <a:cxnLst/>
            <a:rect l="0" t="0" r="r" b="b"/>
            <a:pathLst>
              <a:path w="112014" h="104013">
                <a:moveTo>
                  <a:pt x="56007" y="104013"/>
                </a:moveTo>
                <a:lnTo>
                  <a:pt x="0" y="0"/>
                </a:lnTo>
                <a:lnTo>
                  <a:pt x="112014" y="0"/>
                </a:lnTo>
                <a:close/>
              </a:path>
            </a:pathLst>
          </a:custGeom>
          <a:solidFill>
            <a:srgbClr val="4478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8"/>
          <p:cNvSpPr/>
          <p:nvPr/>
        </p:nvSpPr>
        <p:spPr>
          <a:xfrm>
            <a:off x="600075" y="5120640"/>
            <a:ext cx="3600450" cy="640080"/>
          </a:xfrm>
          <a:prstGeom prst="roundRect">
            <a:avLst>
              <a:gd name="adj" fmla="val 12500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29: gpt_boot_part_else_raw"/>
          <p:cNvSpPr txBox="1"/>
          <p:nvPr/>
        </p:nvSpPr>
        <p:spPr>
          <a:xfrm>
            <a:off x="760095" y="5152644"/>
            <a:ext cx="2568196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gpt_boot_part_else_raw</a:t>
            </a:r>
          </a:p>
        </p:txBody>
      </p:sp>
      <p:sp>
        <p:nvSpPr>
          <p:cNvPr id="31" name="text-030: 镜像字节 → SPM 起点 code_buf"/>
          <p:cNvSpPr txBox="1"/>
          <p:nvPr/>
        </p:nvSpPr>
        <p:spPr>
          <a:xfrm>
            <a:off x="760095" y="5451241"/>
            <a:ext cx="2645281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镜像字节 → SPM 起点 code_buf</a:t>
            </a:r>
          </a:p>
        </p:txBody>
      </p:sp>
      <p:cxnSp>
        <p:nvCxnSpPr>
          <p:cNvPr id="32" name="line-031"/>
          <p:cNvCxnSpPr/>
          <p:nvPr/>
        </p:nvCxnSpPr>
        <p:spPr>
          <a:xfrm>
            <a:off x="2400300" y="5760720"/>
            <a:ext cx="0" cy="216027"/>
          </a:xfrm>
          <a:prstGeom prst="line">
            <a:avLst/>
          </a:prstGeom>
          <a:ln w="24003" cap="flat">
            <a:solidFill>
              <a:srgbClr val="4478AA"/>
            </a:solidFill>
          </a:ln>
          <a:effectLst/>
        </p:spPr>
      </p:cxnSp>
      <p:sp>
        <p:nvSpPr>
          <p:cNvPr id="33" name="polygon-032"/>
          <p:cNvSpPr/>
          <p:nvPr/>
        </p:nvSpPr>
        <p:spPr>
          <a:xfrm>
            <a:off x="2344293" y="5976747"/>
            <a:ext cx="112014" cy="104013"/>
          </a:xfrm>
          <a:custGeom>
            <a:avLst/>
            <a:gdLst/>
            <a:ahLst/>
            <a:cxnLst/>
            <a:rect l="0" t="0" r="r" b="b"/>
            <a:pathLst>
              <a:path w="112014" h="104013">
                <a:moveTo>
                  <a:pt x="56007" y="104013"/>
                </a:moveTo>
                <a:lnTo>
                  <a:pt x="0" y="0"/>
                </a:lnTo>
                <a:lnTo>
                  <a:pt x="112014" y="0"/>
                </a:lnTo>
                <a:close/>
              </a:path>
            </a:pathLst>
          </a:custGeom>
          <a:solidFill>
            <a:srgbClr val="4478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-033"/>
          <p:cNvSpPr/>
          <p:nvPr/>
        </p:nvSpPr>
        <p:spPr>
          <a:xfrm>
            <a:off x="600075" y="6080760"/>
            <a:ext cx="3600450" cy="440055"/>
          </a:xfrm>
          <a:prstGeom prst="roundRect">
            <a:avLst>
              <a:gd name="adj" fmla="val 18181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4: boot_next_stage → jalr ra, 0(t0)"/>
          <p:cNvSpPr txBox="1"/>
          <p:nvPr/>
        </p:nvSpPr>
        <p:spPr>
          <a:xfrm>
            <a:off x="760095" y="6153409"/>
            <a:ext cx="3217677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boot_next_stage → jalr ra, 0(t0)</a:t>
            </a:r>
          </a:p>
        </p:txBody>
      </p:sp>
      <p:sp>
        <p:nvSpPr>
          <p:cNvPr id="36" name="path-035"/>
          <p:cNvSpPr/>
          <p:nvPr/>
        </p:nvSpPr>
        <p:spPr>
          <a:xfrm>
            <a:off x="4200525" y="1960245"/>
            <a:ext cx="856107" cy="4336542"/>
          </a:xfrm>
          <a:custGeom>
            <a:avLst/>
            <a:gdLst/>
            <a:ahLst/>
            <a:cxnLst/>
            <a:rect l="0" t="0" r="r" b="b"/>
            <a:pathLst>
              <a:path w="856107" h="4336542">
                <a:moveTo>
                  <a:pt x="0" y="4336542"/>
                </a:moveTo>
                <a:lnTo>
                  <a:pt x="424053" y="4336542"/>
                </a:lnTo>
                <a:lnTo>
                  <a:pt x="424053" y="0"/>
                </a:lnTo>
                <a:lnTo>
                  <a:pt x="856107" y="0"/>
                </a:lnTo>
              </a:path>
            </a:pathLst>
          </a:custGeom>
          <a:noFill/>
          <a:ln w="24003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polygon-036"/>
          <p:cNvSpPr/>
          <p:nvPr/>
        </p:nvSpPr>
        <p:spPr>
          <a:xfrm>
            <a:off x="5056632" y="1904238"/>
            <a:ext cx="104013" cy="112014"/>
          </a:xfrm>
          <a:custGeom>
            <a:avLst/>
            <a:gdLst/>
            <a:ahLst/>
            <a:cxnLst/>
            <a:rect l="0" t="0" r="r" b="b"/>
            <a:pathLst>
              <a:path w="104013" h="112014">
                <a:moveTo>
                  <a:pt x="104013" y="56007"/>
                </a:moveTo>
                <a:lnTo>
                  <a:pt x="0" y="0"/>
                </a:lnTo>
                <a:lnTo>
                  <a:pt x="0" y="112014"/>
                </a:lnTo>
                <a:close/>
              </a:path>
            </a:pathLst>
          </a:custGeom>
          <a:solidFill>
            <a:srgbClr val="3481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7: jalr"/>
          <p:cNvSpPr txBox="1"/>
          <p:nvPr/>
        </p:nvSpPr>
        <p:spPr>
          <a:xfrm>
            <a:off x="4688586" y="3883685"/>
            <a:ext cx="394899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jalr</a:t>
            </a:r>
          </a:p>
        </p:txBody>
      </p:sp>
      <p:sp>
        <p:nvSpPr>
          <p:cNvPr id="39" name="text-038: 入口"/>
          <p:cNvSpPr txBox="1"/>
          <p:nvPr/>
        </p:nvSpPr>
        <p:spPr>
          <a:xfrm>
            <a:off x="4688586" y="4124996"/>
            <a:ext cx="43205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入口</a:t>
            </a:r>
          </a:p>
        </p:txBody>
      </p:sp>
      <p:sp>
        <p:nvSpPr>
          <p:cNvPr id="40" name="rect-039"/>
          <p:cNvSpPr/>
          <p:nvPr/>
        </p:nvSpPr>
        <p:spPr>
          <a:xfrm>
            <a:off x="5160645" y="1680210"/>
            <a:ext cx="3600450" cy="560070"/>
          </a:xfrm>
          <a:prstGeom prst="roundRect">
            <a:avLst>
              <a:gd name="adj" fmla="val 14285"/>
            </a:avLst>
          </a:prstGeom>
          <a:solidFill>
            <a:srgbClr val="E6F4EE"/>
          </a:solidFill>
          <a:ln w="16002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0: 载荷 _start @ 镜像起点"/>
          <p:cNvSpPr txBox="1"/>
          <p:nvPr/>
        </p:nvSpPr>
        <p:spPr>
          <a:xfrm>
            <a:off x="5320665" y="1712214"/>
            <a:ext cx="2345418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载荷 _start @ 镜像起点</a:t>
            </a:r>
          </a:p>
        </p:txBody>
      </p:sp>
      <p:sp>
        <p:nvSpPr>
          <p:cNvPr id="42" name="text-041: 由 sw/lib/crt0.S 提供"/>
          <p:cNvSpPr txBox="1"/>
          <p:nvPr/>
        </p:nvSpPr>
        <p:spPr>
          <a:xfrm>
            <a:off x="5320665" y="1970806"/>
            <a:ext cx="1774497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由 sw/lib/crt0.S 提供</a:t>
            </a:r>
          </a:p>
        </p:txBody>
      </p:sp>
      <p:cxnSp>
        <p:nvCxnSpPr>
          <p:cNvPr id="43" name="line-042"/>
          <p:cNvCxnSpPr/>
          <p:nvPr/>
        </p:nvCxnSpPr>
        <p:spPr>
          <a:xfrm>
            <a:off x="6960870" y="2240280"/>
            <a:ext cx="0" cy="336042"/>
          </a:xfrm>
          <a:prstGeom prst="line">
            <a:avLst/>
          </a:prstGeom>
          <a:ln w="24003" cap="flat">
            <a:solidFill>
              <a:srgbClr val="34816B"/>
            </a:solidFill>
          </a:ln>
          <a:effectLst/>
        </p:spPr>
      </p:cxnSp>
      <p:sp>
        <p:nvSpPr>
          <p:cNvPr id="44" name="polygon-043"/>
          <p:cNvSpPr/>
          <p:nvPr/>
        </p:nvSpPr>
        <p:spPr>
          <a:xfrm>
            <a:off x="6904863" y="2576322"/>
            <a:ext cx="112014" cy="104013"/>
          </a:xfrm>
          <a:custGeom>
            <a:avLst/>
            <a:gdLst/>
            <a:ahLst/>
            <a:cxnLst/>
            <a:rect l="0" t="0" r="r" b="b"/>
            <a:pathLst>
              <a:path w="112014" h="104013">
                <a:moveTo>
                  <a:pt x="56007" y="104013"/>
                </a:moveTo>
                <a:lnTo>
                  <a:pt x="0" y="0"/>
                </a:lnTo>
                <a:lnTo>
                  <a:pt x="112014" y="0"/>
                </a:lnTo>
                <a:close/>
              </a:path>
            </a:pathLst>
          </a:custGeom>
          <a:solidFill>
            <a:srgbClr val="3481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4"/>
          <p:cNvSpPr/>
          <p:nvPr/>
        </p:nvSpPr>
        <p:spPr>
          <a:xfrm>
            <a:off x="5160645" y="2680335"/>
            <a:ext cx="3600450" cy="920115"/>
          </a:xfrm>
          <a:prstGeom prst="roundRect">
            <a:avLst>
              <a:gd name="adj" fmla="val 8695"/>
            </a:avLst>
          </a:prstGeom>
          <a:solidFill>
            <a:srgbClr val="E6F4EE"/>
          </a:solidFill>
          <a:ln w="16002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5: CRT0：应用的运行环境"/>
          <p:cNvSpPr txBox="1"/>
          <p:nvPr/>
        </p:nvSpPr>
        <p:spPr>
          <a:xfrm>
            <a:off x="5320665" y="2728341"/>
            <a:ext cx="2318640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CRT0：应用的运行环境</a:t>
            </a:r>
          </a:p>
        </p:txBody>
      </p:sp>
      <p:sp>
        <p:nvSpPr>
          <p:cNvPr id="47" name="text-046: sp / gp、mtvec、清 BSS、FP"/>
          <p:cNvSpPr txBox="1"/>
          <p:nvPr/>
        </p:nvSpPr>
        <p:spPr>
          <a:xfrm>
            <a:off x="5320665" y="3002935"/>
            <a:ext cx="2439117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sp / gp、mtvec、清 BSS、FP</a:t>
            </a:r>
          </a:p>
        </p:txBody>
      </p:sp>
      <p:sp>
        <p:nvSpPr>
          <p:cNvPr id="48" name="text-047: 保存进入应用的 ra；call main"/>
          <p:cNvSpPr txBox="1"/>
          <p:nvPr/>
        </p:nvSpPr>
        <p:spPr>
          <a:xfrm>
            <a:off x="5320665" y="3242965"/>
            <a:ext cx="2433792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保存进入应用的 ra；call main</a:t>
            </a:r>
          </a:p>
        </p:txBody>
      </p:sp>
      <p:cxnSp>
        <p:nvCxnSpPr>
          <p:cNvPr id="49" name="line-048"/>
          <p:cNvCxnSpPr/>
          <p:nvPr/>
        </p:nvCxnSpPr>
        <p:spPr>
          <a:xfrm>
            <a:off x="6960870" y="3600450"/>
            <a:ext cx="0" cy="336042"/>
          </a:xfrm>
          <a:prstGeom prst="line">
            <a:avLst/>
          </a:prstGeom>
          <a:ln w="24003" cap="flat">
            <a:solidFill>
              <a:srgbClr val="34816B"/>
            </a:solidFill>
          </a:ln>
          <a:effectLst/>
        </p:spPr>
      </p:cxnSp>
      <p:sp>
        <p:nvSpPr>
          <p:cNvPr id="50" name="polygon-049"/>
          <p:cNvSpPr/>
          <p:nvPr/>
        </p:nvSpPr>
        <p:spPr>
          <a:xfrm>
            <a:off x="6904863" y="3936492"/>
            <a:ext cx="112014" cy="104013"/>
          </a:xfrm>
          <a:custGeom>
            <a:avLst/>
            <a:gdLst/>
            <a:ahLst/>
            <a:cxnLst/>
            <a:rect l="0" t="0" r="r" b="b"/>
            <a:pathLst>
              <a:path w="112014" h="104013">
                <a:moveTo>
                  <a:pt x="56007" y="104013"/>
                </a:moveTo>
                <a:lnTo>
                  <a:pt x="0" y="0"/>
                </a:lnTo>
                <a:lnTo>
                  <a:pt x="112014" y="0"/>
                </a:lnTo>
                <a:close/>
              </a:path>
            </a:pathLst>
          </a:custGeom>
          <a:solidFill>
            <a:srgbClr val="3481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0: call"/>
          <p:cNvSpPr txBox="1"/>
          <p:nvPr/>
        </p:nvSpPr>
        <p:spPr>
          <a:xfrm>
            <a:off x="7120890" y="3683660"/>
            <a:ext cx="413877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call</a:t>
            </a:r>
          </a:p>
        </p:txBody>
      </p:sp>
      <p:sp>
        <p:nvSpPr>
          <p:cNvPr id="52" name="rect-051"/>
          <p:cNvSpPr/>
          <p:nvPr/>
        </p:nvSpPr>
        <p:spPr>
          <a:xfrm>
            <a:off x="5160645" y="4040505"/>
            <a:ext cx="3600450" cy="720090"/>
          </a:xfrm>
          <a:prstGeom prst="roundRect">
            <a:avLst>
              <a:gd name="adj" fmla="val 11111"/>
            </a:avLst>
          </a:prstGeom>
          <a:solidFill>
            <a:srgbClr val="E6F4EE"/>
          </a:solidFill>
          <a:ln w="16002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2: 载荷自己的 main()"/>
          <p:cNvSpPr txBox="1"/>
          <p:nvPr/>
        </p:nvSpPr>
        <p:spPr>
          <a:xfrm>
            <a:off x="5320665" y="4080510"/>
            <a:ext cx="1916340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载荷自己的 main()</a:t>
            </a:r>
          </a:p>
        </p:txBody>
      </p:sp>
      <p:sp>
        <p:nvSpPr>
          <p:cNvPr id="54" name="text-053: 执行任务；不返回则继续按程序运行"/>
          <p:cNvSpPr txBox="1"/>
          <p:nvPr/>
        </p:nvSpPr>
        <p:spPr>
          <a:xfrm>
            <a:off x="5320665" y="4355104"/>
            <a:ext cx="2856357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执行任务；不返回则继续按程序运行</a:t>
            </a:r>
          </a:p>
        </p:txBody>
      </p:sp>
      <p:cxnSp>
        <p:nvCxnSpPr>
          <p:cNvPr id="55" name="line-054"/>
          <p:cNvCxnSpPr/>
          <p:nvPr/>
        </p:nvCxnSpPr>
        <p:spPr>
          <a:xfrm>
            <a:off x="6960870" y="4760595"/>
            <a:ext cx="0" cy="576072"/>
          </a:xfrm>
          <a:prstGeom prst="line">
            <a:avLst/>
          </a:prstGeom>
          <a:ln w="24003" cap="flat">
            <a:solidFill>
              <a:srgbClr val="34816B"/>
            </a:solidFill>
          </a:ln>
          <a:effectLst/>
        </p:spPr>
      </p:cxnSp>
      <p:sp>
        <p:nvSpPr>
          <p:cNvPr id="56" name="polygon-055"/>
          <p:cNvSpPr/>
          <p:nvPr/>
        </p:nvSpPr>
        <p:spPr>
          <a:xfrm>
            <a:off x="6904863" y="5336667"/>
            <a:ext cx="112014" cy="104013"/>
          </a:xfrm>
          <a:custGeom>
            <a:avLst/>
            <a:gdLst/>
            <a:ahLst/>
            <a:cxnLst/>
            <a:rect l="0" t="0" r="r" b="b"/>
            <a:pathLst>
              <a:path w="112014" h="104013">
                <a:moveTo>
                  <a:pt x="56007" y="104013"/>
                </a:moveTo>
                <a:lnTo>
                  <a:pt x="0" y="0"/>
                </a:lnTo>
                <a:lnTo>
                  <a:pt x="112014" y="0"/>
                </a:lnTo>
                <a:close/>
              </a:path>
            </a:pathLst>
          </a:custGeom>
          <a:solidFill>
            <a:srgbClr val="3481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6: main 正常返回"/>
          <p:cNvSpPr txBox="1"/>
          <p:nvPr/>
        </p:nvSpPr>
        <p:spPr>
          <a:xfrm>
            <a:off x="7120890" y="4915814"/>
            <a:ext cx="1227041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main 正常返回</a:t>
            </a:r>
          </a:p>
        </p:txBody>
      </p:sp>
      <p:sp>
        <p:nvSpPr>
          <p:cNvPr id="58" name="text-057: 回到 call 后的指令"/>
          <p:cNvSpPr txBox="1"/>
          <p:nvPr/>
        </p:nvSpPr>
        <p:spPr>
          <a:xfrm>
            <a:off x="7120890" y="5132481"/>
            <a:ext cx="1395262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回到 call 后的指令</a:t>
            </a:r>
          </a:p>
        </p:txBody>
      </p:sp>
      <p:sp>
        <p:nvSpPr>
          <p:cNvPr id="59" name="rect-058"/>
          <p:cNvSpPr/>
          <p:nvPr/>
        </p:nvSpPr>
        <p:spPr>
          <a:xfrm>
            <a:off x="5160645" y="5440680"/>
            <a:ext cx="3600450" cy="1000125"/>
          </a:xfrm>
          <a:prstGeom prst="roundRect">
            <a:avLst>
              <a:gd name="adj" fmla="val 8000"/>
            </a:avLst>
          </a:prstGeom>
          <a:solidFill>
            <a:srgbClr val="E6F4EE"/>
          </a:solidFill>
          <a:ln w="16002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59: 应用 CRT0 的 _exit"/>
          <p:cNvSpPr txBox="1"/>
          <p:nvPr/>
        </p:nvSpPr>
        <p:spPr>
          <a:xfrm>
            <a:off x="5320665" y="5480685"/>
            <a:ext cx="1962358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应用 CRT0 的 _exit</a:t>
            </a:r>
          </a:p>
        </p:txBody>
      </p:sp>
      <p:sp>
        <p:nvSpPr>
          <p:cNvPr id="61" name="text-060: scratch2 = (返回值 &lt;&lt; 1) | 1"/>
          <p:cNvSpPr txBox="1"/>
          <p:nvPr/>
        </p:nvSpPr>
        <p:spPr>
          <a:xfrm>
            <a:off x="5320665" y="5755279"/>
            <a:ext cx="2364296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scratch2 = (返回值 &lt;&lt; 1) | 1</a:t>
            </a:r>
          </a:p>
        </p:txBody>
      </p:sp>
      <p:sp>
        <p:nvSpPr>
          <p:cNvPr id="62" name="text-061: 恢复入口 sp / gp / ra，然后 ret"/>
          <p:cNvSpPr txBox="1"/>
          <p:nvPr/>
        </p:nvSpPr>
        <p:spPr>
          <a:xfrm>
            <a:off x="5320665" y="5995309"/>
            <a:ext cx="2562670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恢复入口 sp / gp / ra，然后 ret</a:t>
            </a:r>
          </a:p>
        </p:txBody>
      </p:sp>
      <p:sp>
        <p:nvSpPr>
          <p:cNvPr id="63" name="rect-062"/>
          <p:cNvSpPr/>
          <p:nvPr/>
        </p:nvSpPr>
        <p:spPr>
          <a:xfrm>
            <a:off x="9681210" y="1680210"/>
            <a:ext cx="2560320" cy="880110"/>
          </a:xfrm>
          <a:prstGeom prst="roundRect">
            <a:avLst>
              <a:gd name="adj" fmla="val 9090"/>
            </a:avLst>
          </a:prstGeom>
          <a:solidFill>
            <a:srgbClr val="E6EDF4"/>
          </a:solidFill>
          <a:ln w="16002" cap="flat">
            <a:solidFill>
              <a:srgbClr val="9BAEB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3: return 不会自动停机"/>
          <p:cNvSpPr txBox="1"/>
          <p:nvPr/>
        </p:nvSpPr>
        <p:spPr>
          <a:xfrm>
            <a:off x="9841230" y="1729496"/>
            <a:ext cx="1920303" cy="2944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9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return 不会自动停机</a:t>
            </a:r>
          </a:p>
        </p:txBody>
      </p:sp>
      <p:sp>
        <p:nvSpPr>
          <p:cNvPr id="65" name="text-064: 不自动复位 / 断电 / 换权限"/>
          <p:cNvSpPr txBox="1"/>
          <p:nvPr/>
        </p:nvSpPr>
        <p:spPr>
          <a:xfrm>
            <a:off x="9841230" y="1986808"/>
            <a:ext cx="2190674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不自动复位 / 断电 / 换权限</a:t>
            </a:r>
          </a:p>
        </p:txBody>
      </p:sp>
      <p:sp>
        <p:nvSpPr>
          <p:cNvPr id="66" name="text-065: CPU 仍由时钟驱动并继续取指"/>
          <p:cNvSpPr txBox="1"/>
          <p:nvPr/>
        </p:nvSpPr>
        <p:spPr>
          <a:xfrm>
            <a:off x="9841230" y="2226838"/>
            <a:ext cx="2406613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CPU 仍由时钟驱动并继续取指</a:t>
            </a:r>
          </a:p>
        </p:txBody>
      </p:sp>
      <p:sp>
        <p:nvSpPr>
          <p:cNvPr id="67" name="rect-066"/>
          <p:cNvSpPr/>
          <p:nvPr/>
        </p:nvSpPr>
        <p:spPr>
          <a:xfrm>
            <a:off x="9681210" y="3240405"/>
            <a:ext cx="2560320" cy="1240155"/>
          </a:xfrm>
          <a:prstGeom prst="roundRect">
            <a:avLst>
              <a:gd name="adj" fmla="val 6451"/>
            </a:avLst>
          </a:prstGeom>
          <a:solidFill>
            <a:srgbClr val="FCECEC"/>
          </a:solidFill>
          <a:ln w="16002" cap="flat">
            <a:solidFill>
              <a:srgbClr val="B85E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7: 当前 ROM 的调用后返回点"/>
          <p:cNvSpPr txBox="1"/>
          <p:nvPr/>
        </p:nvSpPr>
        <p:spPr>
          <a:xfrm>
            <a:off x="9841230" y="3297692"/>
            <a:ext cx="2416102" cy="2944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9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当前 ROM 的调用后返回点</a:t>
            </a:r>
          </a:p>
        </p:txBody>
      </p:sp>
      <p:sp>
        <p:nvSpPr>
          <p:cNvPr id="69" name="text-068: boot_next_stage：jalr 后是 ret"/>
          <p:cNvSpPr txBox="1"/>
          <p:nvPr/>
        </p:nvSpPr>
        <p:spPr>
          <a:xfrm>
            <a:off x="9841230" y="3563005"/>
            <a:ext cx="2554707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boot_next_stage：jalr 后是 ret</a:t>
            </a:r>
          </a:p>
        </p:txBody>
      </p:sp>
      <p:sp>
        <p:nvSpPr>
          <p:cNvPr id="70" name="text-069: 未保存上一层 ra"/>
          <p:cNvSpPr txBox="1"/>
          <p:nvPr/>
        </p:nvSpPr>
        <p:spPr>
          <a:xfrm>
            <a:off x="9841230" y="3803035"/>
            <a:ext cx="1382898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未保存上一层 ra</a:t>
            </a:r>
          </a:p>
        </p:txBody>
      </p:sp>
      <p:sp>
        <p:nvSpPr>
          <p:cNvPr id="71" name="text-070: 可形成 ret 自循环（源码推导）"/>
          <p:cNvSpPr txBox="1"/>
          <p:nvPr/>
        </p:nvSpPr>
        <p:spPr>
          <a:xfrm>
            <a:off x="9841230" y="4043065"/>
            <a:ext cx="2503425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可形成 ret 自循环（源码推导）</a:t>
            </a:r>
          </a:p>
        </p:txBody>
      </p:sp>
      <p:sp>
        <p:nvSpPr>
          <p:cNvPr id="72" name="text-071: 不是按设计进入 ROM 的 _exit"/>
          <p:cNvSpPr txBox="1"/>
          <p:nvPr/>
        </p:nvSpPr>
        <p:spPr>
          <a:xfrm>
            <a:off x="9841230" y="4245651"/>
            <a:ext cx="1969896" cy="2176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9B4141"/>
                </a:solidFill>
                <a:latin typeface="Microsoft YaHei"/>
                <a:ea typeface="Microsoft YaHei"/>
                <a:cs typeface="Microsoft YaHei"/>
              </a:rPr>
              <a:t>不是按设计进入 ROM 的 _exit</a:t>
            </a:r>
          </a:p>
        </p:txBody>
      </p:sp>
      <p:sp>
        <p:nvSpPr>
          <p:cNvPr id="73" name="path-072"/>
          <p:cNvSpPr/>
          <p:nvPr/>
        </p:nvSpPr>
        <p:spPr>
          <a:xfrm>
            <a:off x="8761095" y="3848481"/>
            <a:ext cx="816102" cy="1744218"/>
          </a:xfrm>
          <a:custGeom>
            <a:avLst/>
            <a:gdLst/>
            <a:ahLst/>
            <a:cxnLst/>
            <a:rect l="0" t="0" r="r" b="b"/>
            <a:pathLst>
              <a:path w="816102" h="1744218">
                <a:moveTo>
                  <a:pt x="0" y="1744218"/>
                </a:moveTo>
                <a:lnTo>
                  <a:pt x="440055" y="1744218"/>
                </a:lnTo>
                <a:lnTo>
                  <a:pt x="440055" y="0"/>
                </a:lnTo>
                <a:lnTo>
                  <a:pt x="816102" y="0"/>
                </a:lnTo>
              </a:path>
            </a:pathLst>
          </a:custGeom>
          <a:noFill/>
          <a:ln w="24003" cap="flat">
            <a:solidFill>
              <a:srgbClr val="B85E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polygon-073"/>
          <p:cNvSpPr/>
          <p:nvPr/>
        </p:nvSpPr>
        <p:spPr>
          <a:xfrm>
            <a:off x="9577197" y="3792474"/>
            <a:ext cx="104013" cy="112014"/>
          </a:xfrm>
          <a:custGeom>
            <a:avLst/>
            <a:gdLst/>
            <a:ahLst/>
            <a:cxnLst/>
            <a:rect l="0" t="0" r="r" b="b"/>
            <a:pathLst>
              <a:path w="104013" h="112014">
                <a:moveTo>
                  <a:pt x="104013" y="56007"/>
                </a:moveTo>
                <a:lnTo>
                  <a:pt x="0" y="0"/>
                </a:lnTo>
                <a:lnTo>
                  <a:pt x="0" y="112014"/>
                </a:lnTo>
                <a:close/>
              </a:path>
            </a:pathLst>
          </a:custGeom>
          <a:solidFill>
            <a:srgbClr val="B85E5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4: ret"/>
          <p:cNvSpPr txBox="1"/>
          <p:nvPr/>
        </p:nvSpPr>
        <p:spPr>
          <a:xfrm>
            <a:off x="9265158" y="4764435"/>
            <a:ext cx="350794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9B4141"/>
                </a:solidFill>
                <a:latin typeface="Microsoft YaHei"/>
                <a:ea typeface="Microsoft YaHei"/>
                <a:cs typeface="Microsoft YaHei"/>
              </a:rPr>
              <a:t>ret</a:t>
            </a:r>
          </a:p>
        </p:txBody>
      </p:sp>
      <p:sp>
        <p:nvSpPr>
          <p:cNvPr id="76" name="rect-075"/>
          <p:cNvSpPr/>
          <p:nvPr/>
        </p:nvSpPr>
        <p:spPr>
          <a:xfrm>
            <a:off x="9681210" y="5280660"/>
            <a:ext cx="2560320" cy="1160145"/>
          </a:xfrm>
          <a:prstGeom prst="roundRect">
            <a:avLst>
              <a:gd name="adj" fmla="val 6896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-076: 外部观察者：仿真 / 调试器"/>
          <p:cNvSpPr txBox="1"/>
          <p:nvPr/>
        </p:nvSpPr>
        <p:spPr>
          <a:xfrm>
            <a:off x="9841230" y="5337947"/>
            <a:ext cx="2404876" cy="2944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9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外部观察者：仿真 / 调试器</a:t>
            </a:r>
          </a:p>
        </p:txBody>
      </p:sp>
      <p:sp>
        <p:nvSpPr>
          <p:cNvPr id="78" name="text-077: 读取 scratch2 完成标志"/>
          <p:cNvSpPr txBox="1"/>
          <p:nvPr/>
        </p:nvSpPr>
        <p:spPr>
          <a:xfrm>
            <a:off x="9841230" y="5603260"/>
            <a:ext cx="1941118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读取 scratch2 完成标志</a:t>
            </a:r>
          </a:p>
        </p:txBody>
      </p:sp>
      <p:sp>
        <p:nvSpPr>
          <p:cNvPr id="79" name="text-078: 仿真 TB 可结束仿真进程"/>
          <p:cNvSpPr txBox="1"/>
          <p:nvPr/>
        </p:nvSpPr>
        <p:spPr>
          <a:xfrm>
            <a:off x="9841230" y="5843290"/>
            <a:ext cx="1981385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仿真 TB 可结束仿真进程</a:t>
            </a:r>
          </a:p>
        </p:txBody>
      </p:sp>
      <p:sp>
        <p:nvSpPr>
          <p:cNvPr id="80" name="text-079: 完成通知 ≠ CPU 自动停机"/>
          <p:cNvSpPr txBox="1"/>
          <p:nvPr/>
        </p:nvSpPr>
        <p:spPr>
          <a:xfrm>
            <a:off x="9841230" y="6083320"/>
            <a:ext cx="2126603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完成通知 ≠ CPU 自动停机</a:t>
            </a:r>
          </a:p>
        </p:txBody>
      </p:sp>
      <p:cxnSp>
        <p:nvCxnSpPr>
          <p:cNvPr id="81" name="line-080"/>
          <p:cNvCxnSpPr/>
          <p:nvPr/>
        </p:nvCxnSpPr>
        <p:spPr>
          <a:xfrm>
            <a:off x="8761095" y="5976747"/>
            <a:ext cx="816102" cy="0"/>
          </a:xfrm>
          <a:prstGeom prst="line">
            <a:avLst/>
          </a:prstGeom>
          <a:ln w="24003" cap="flat">
            <a:solidFill>
              <a:srgbClr val="4478AA"/>
            </a:solidFill>
          </a:ln>
          <a:effectLst/>
        </p:spPr>
      </p:cxnSp>
      <p:sp>
        <p:nvSpPr>
          <p:cNvPr id="82" name="polygon-081"/>
          <p:cNvSpPr/>
          <p:nvPr/>
        </p:nvSpPr>
        <p:spPr>
          <a:xfrm>
            <a:off x="9577197" y="5920740"/>
            <a:ext cx="104013" cy="112014"/>
          </a:xfrm>
          <a:custGeom>
            <a:avLst/>
            <a:gdLst/>
            <a:ahLst/>
            <a:cxnLst/>
            <a:rect l="0" t="0" r="r" b="b"/>
            <a:pathLst>
              <a:path w="104013" h="112014">
                <a:moveTo>
                  <a:pt x="104013" y="56007"/>
                </a:moveTo>
                <a:lnTo>
                  <a:pt x="0" y="0"/>
                </a:lnTo>
                <a:lnTo>
                  <a:pt x="0" y="112014"/>
                </a:lnTo>
                <a:close/>
              </a:path>
            </a:pathLst>
          </a:custGeom>
          <a:solidFill>
            <a:srgbClr val="4478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-082: 路径边界：JTAG 直接设置 PC、UART invoke、OS 程序退出各有不"/>
          <p:cNvSpPr txBox="1"/>
          <p:nvPr/>
        </p:nvSpPr>
        <p:spPr>
          <a:xfrm>
            <a:off x="320040" y="6700677"/>
            <a:ext cx="7286523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路径边界：JTAG 直接设置 PC、UART invoke、OS 程序退出各有不同契约；本图不把它们等同此调用链。</a:t>
            </a:r>
          </a:p>
        </p:txBody>
      </p:sp>
      <p:sp>
        <p:nvSpPr>
          <p:cNvPr id="84" name="text-083: 依据：cheshire_bootrom.S / .c；gpt.c；crt0.S；"/>
          <p:cNvSpPr txBox="1"/>
          <p:nvPr/>
        </p:nvSpPr>
        <p:spPr>
          <a:xfrm>
            <a:off x="320040" y="6949989"/>
            <a:ext cx="6774584" cy="2176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依据：cheshire_bootrom.S / .c；gpt.c；crt0.S；rom.ld · HEAD 278434024 · 2026-10-08 · 未新增目标运行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