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801600" cy="9885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① Regbus 全路径：现有互连 + 自有 IP 接入边界"/>
          <p:cNvSpPr txBox="1"/>
          <p:nvPr/>
        </p:nvSpPr>
        <p:spPr>
          <a:xfrm>
            <a:off x="248920" y="1334211"/>
            <a:ext cx="5494020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① Regbus 全路径：现有互连 + 自有 IP 接入边界</a:t>
            </a:r>
          </a:p>
        </p:txBody>
      </p:sp>
      <p:sp>
        <p:nvSpPr>
          <p:cNvPr id="3" name="text-003: 蓝色双向线 = 请求向右 / 响应返回；棕色虚线 = 地址与选择；虚线边框 = "/>
          <p:cNvSpPr txBox="1"/>
          <p:nvPr/>
        </p:nvSpPr>
        <p:spPr>
          <a:xfrm>
            <a:off x="248920" y="1700337"/>
            <a:ext cx="6964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蓝色双向线 = 请求向右 / 响应返回；棕色虚线 = 地址与选择；虚线边框 = 拟新增。</a:t>
            </a:r>
          </a:p>
        </p:txBody>
      </p:sp>
      <p:sp>
        <p:nvSpPr>
          <p:cNvPr id="4" name="rect-004"/>
          <p:cNvSpPr/>
          <p:nvPr/>
        </p:nvSpPr>
        <p:spPr>
          <a:xfrm>
            <a:off x="1564640" y="2311400"/>
            <a:ext cx="10988040" cy="4160520"/>
          </a:xfrm>
          <a:prstGeom prst="roundRect">
            <a:avLst>
              <a:gd name="adj" fmla="val 2051"/>
            </a:avLst>
          </a:prstGeom>
          <a:solidFill>
            <a:srgbClr val="F8FAFD"/>
          </a:solidFill>
          <a:ln w="12090" cap="flat">
            <a:solidFill>
              <a:srgbClr val="A6B5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heshire 内部互连与寄存器目标：clk_i / rst_ni"/>
          <p:cNvSpPr txBox="1"/>
          <p:nvPr/>
        </p:nvSpPr>
        <p:spPr>
          <a:xfrm>
            <a:off x="1742440" y="2389632"/>
            <a:ext cx="47917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Cheshire 内部互连与寄存器目标：clk_i / rst_ni</a:t>
            </a:r>
          </a:p>
        </p:txBody>
      </p:sp>
      <p:sp>
        <p:nvSpPr>
          <p:cNvPr id="6" name="rect-006"/>
          <p:cNvSpPr/>
          <p:nvPr/>
        </p:nvSpPr>
        <p:spPr>
          <a:xfrm>
            <a:off x="177800" y="3591560"/>
            <a:ext cx="1102360" cy="746760"/>
          </a:xfrm>
          <a:prstGeom prst="roundRect">
            <a:avLst>
              <a:gd name="adj" fmla="val 7619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199136" y="3612896"/>
            <a:ext cx="1059688" cy="366268"/>
          </a:xfrm>
          <a:prstGeom prst="roundRect">
            <a:avLst>
              <a:gd name="adj" fmla="val 9708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 等"/>
          <p:cNvSpPr txBox="1"/>
          <p:nvPr/>
        </p:nvSpPr>
        <p:spPr>
          <a:xfrm>
            <a:off x="336398" y="3723701"/>
            <a:ext cx="7851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CPU 等</a:t>
            </a:r>
          </a:p>
        </p:txBody>
      </p:sp>
      <p:sp>
        <p:nvSpPr>
          <p:cNvPr id="9" name="text-009: AXI 发起端"/>
          <p:cNvSpPr txBox="1"/>
          <p:nvPr/>
        </p:nvSpPr>
        <p:spPr>
          <a:xfrm>
            <a:off x="212649" y="3966647"/>
            <a:ext cx="10326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发起端</a:t>
            </a:r>
          </a:p>
        </p:txBody>
      </p:sp>
      <p:sp>
        <p:nvSpPr>
          <p:cNvPr id="10" name="rect-010"/>
          <p:cNvSpPr/>
          <p:nvPr/>
        </p:nvSpPr>
        <p:spPr>
          <a:xfrm>
            <a:off x="1778000" y="3484880"/>
            <a:ext cx="1280160" cy="995680"/>
          </a:xfrm>
          <a:prstGeom prst="roundRect">
            <a:avLst>
              <a:gd name="adj" fmla="val 5714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-011"/>
          <p:cNvSpPr/>
          <p:nvPr/>
        </p:nvSpPr>
        <p:spPr>
          <a:xfrm>
            <a:off x="1799336" y="3506216"/>
            <a:ext cx="1237488" cy="376936"/>
          </a:xfrm>
          <a:prstGeom prst="roundRect">
            <a:avLst>
              <a:gd name="adj" fmla="val 9433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主 AXI"/>
          <p:cNvSpPr txBox="1"/>
          <p:nvPr/>
        </p:nvSpPr>
        <p:spPr>
          <a:xfrm>
            <a:off x="2025498" y="3627689"/>
            <a:ext cx="7851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主 AXI</a:t>
            </a:r>
          </a:p>
        </p:txBody>
      </p:sp>
      <p:sp>
        <p:nvSpPr>
          <p:cNvPr id="13" name="text-013: Crossbar"/>
          <p:cNvSpPr txBox="1"/>
          <p:nvPr/>
        </p:nvSpPr>
        <p:spPr>
          <a:xfrm>
            <a:off x="1933042" y="3870635"/>
            <a:ext cx="97007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Crossbar</a:t>
            </a:r>
          </a:p>
        </p:txBody>
      </p:sp>
      <p:sp>
        <p:nvSpPr>
          <p:cNvPr id="14" name="text-014: 第一级选路"/>
          <p:cNvSpPr txBox="1"/>
          <p:nvPr/>
        </p:nvSpPr>
        <p:spPr>
          <a:xfrm>
            <a:off x="1948688" y="4098219"/>
            <a:ext cx="9387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第一级选路</a:t>
            </a:r>
          </a:p>
        </p:txBody>
      </p:sp>
      <p:sp>
        <p:nvSpPr>
          <p:cNvPr id="15" name="E01"/>
          <p:cNvSpPr/>
          <p:nvPr/>
        </p:nvSpPr>
        <p:spPr>
          <a:xfrm>
            <a:off x="1280160" y="398272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6"/>
          <p:cNvSpPr/>
          <p:nvPr/>
        </p:nvSpPr>
        <p:spPr>
          <a:xfrm>
            <a:off x="3556000" y="3271520"/>
            <a:ext cx="2489200" cy="1386840"/>
          </a:xfrm>
          <a:prstGeom prst="roundRect">
            <a:avLst>
              <a:gd name="adj" fmla="val 4102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3577336" y="3292856"/>
            <a:ext cx="2446528" cy="344932"/>
          </a:xfrm>
          <a:prstGeom prst="roundRect">
            <a:avLst>
              <a:gd name="adj" fmla="val 10309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现有 AXI → Regbus 通路"/>
          <p:cNvSpPr txBox="1"/>
          <p:nvPr/>
        </p:nvSpPr>
        <p:spPr>
          <a:xfrm>
            <a:off x="3567379" y="3382325"/>
            <a:ext cx="24664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现有 AXI → Regbus 通路</a:t>
            </a:r>
          </a:p>
        </p:txBody>
      </p:sp>
      <p:sp>
        <p:nvSpPr>
          <p:cNvPr id="19" name="text-019: i_reg_atomics"/>
          <p:cNvSpPr txBox="1"/>
          <p:nvPr/>
        </p:nvSpPr>
        <p:spPr>
          <a:xfrm>
            <a:off x="4061308" y="3625271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i_reg_atomics</a:t>
            </a:r>
          </a:p>
        </p:txBody>
      </p:sp>
      <p:sp>
        <p:nvSpPr>
          <p:cNvPr id="20" name="text-020: → i_reg_atomics_cut"/>
          <p:cNvSpPr txBox="1"/>
          <p:nvPr/>
        </p:nvSpPr>
        <p:spPr>
          <a:xfrm>
            <a:off x="3728822" y="3852855"/>
            <a:ext cx="214355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i_reg_atomics_cut</a:t>
            </a:r>
          </a:p>
        </p:txBody>
      </p:sp>
      <p:sp>
        <p:nvSpPr>
          <p:cNvPr id="21" name="text-021: → i_axi_to_reg_v2"/>
          <p:cNvSpPr txBox="1"/>
          <p:nvPr/>
        </p:nvSpPr>
        <p:spPr>
          <a:xfrm>
            <a:off x="3830523" y="4080439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i_axi_to_reg_v2</a:t>
            </a:r>
          </a:p>
        </p:txBody>
      </p:sp>
      <p:sp>
        <p:nvSpPr>
          <p:cNvPr id="22" name="text-022: 64-bit AXI → 32-bit Reg"/>
          <p:cNvSpPr txBox="1"/>
          <p:nvPr/>
        </p:nvSpPr>
        <p:spPr>
          <a:xfrm>
            <a:off x="3525418" y="4308023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64-bit AXI → 32-bit Reg</a:t>
            </a:r>
          </a:p>
        </p:txBody>
      </p:sp>
      <p:sp>
        <p:nvSpPr>
          <p:cNvPr id="23" name="E02"/>
          <p:cNvSpPr/>
          <p:nvPr/>
        </p:nvSpPr>
        <p:spPr>
          <a:xfrm>
            <a:off x="3058160" y="398272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AxiOut.reg_demux"/>
          <p:cNvSpPr txBox="1"/>
          <p:nvPr/>
        </p:nvSpPr>
        <p:spPr>
          <a:xfrm>
            <a:off x="3200400" y="2995290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AxiOut.reg_demux</a:t>
            </a:r>
          </a:p>
        </p:txBody>
      </p:sp>
      <p:sp>
        <p:nvSpPr>
          <p:cNvPr id="25" name="rect-025"/>
          <p:cNvSpPr/>
          <p:nvPr/>
        </p:nvSpPr>
        <p:spPr>
          <a:xfrm>
            <a:off x="7112000" y="3484880"/>
            <a:ext cx="1706880" cy="1066800"/>
          </a:xfrm>
          <a:prstGeom prst="roundRect">
            <a:avLst>
              <a:gd name="adj" fmla="val 5333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6"/>
          <p:cNvSpPr/>
          <p:nvPr/>
        </p:nvSpPr>
        <p:spPr>
          <a:xfrm>
            <a:off x="7133336" y="3506216"/>
            <a:ext cx="1664208" cy="412496"/>
          </a:xfrm>
          <a:prstGeom prst="roundRect">
            <a:avLst>
              <a:gd name="adj" fmla="val 8620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i_reg_demux"/>
          <p:cNvSpPr txBox="1"/>
          <p:nvPr/>
        </p:nvSpPr>
        <p:spPr>
          <a:xfrm>
            <a:off x="7269886" y="3663249"/>
            <a:ext cx="139110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i_reg_demux</a:t>
            </a:r>
          </a:p>
        </p:txBody>
      </p:sp>
      <p:sp>
        <p:nvSpPr>
          <p:cNvPr id="28" name="text-028: 请求分发"/>
          <p:cNvSpPr txBox="1"/>
          <p:nvPr/>
        </p:nvSpPr>
        <p:spPr>
          <a:xfrm>
            <a:off x="7574280" y="3906195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请求分发</a:t>
            </a:r>
          </a:p>
        </p:txBody>
      </p:sp>
      <p:sp>
        <p:nvSpPr>
          <p:cNvPr id="29" name="text-029: 响应选择"/>
          <p:cNvSpPr txBox="1"/>
          <p:nvPr/>
        </p:nvSpPr>
        <p:spPr>
          <a:xfrm>
            <a:off x="7574280" y="4133779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响应选择</a:t>
            </a:r>
          </a:p>
        </p:txBody>
      </p:sp>
      <p:sp>
        <p:nvSpPr>
          <p:cNvPr id="30" name="E03"/>
          <p:cNvSpPr/>
          <p:nvPr/>
        </p:nvSpPr>
        <p:spPr>
          <a:xfrm>
            <a:off x="6045200" y="398272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Regbus"/>
          <p:cNvSpPr txBox="1"/>
          <p:nvPr/>
        </p:nvSpPr>
        <p:spPr>
          <a:xfrm>
            <a:off x="6436360" y="4082857"/>
            <a:ext cx="83637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</a:t>
            </a:r>
          </a:p>
        </p:txBody>
      </p:sp>
      <p:sp>
        <p:nvSpPr>
          <p:cNvPr id="32" name="rect-032"/>
          <p:cNvSpPr/>
          <p:nvPr/>
        </p:nvSpPr>
        <p:spPr>
          <a:xfrm>
            <a:off x="7112000" y="2667000"/>
            <a:ext cx="1706880" cy="533400"/>
          </a:xfrm>
          <a:prstGeom prst="roundRect">
            <a:avLst>
              <a:gd name="adj" fmla="val 10666"/>
            </a:avLst>
          </a:prstGeom>
          <a:solidFill>
            <a:srgbClr val="F1F5FA"/>
          </a:solidFill>
          <a:ln w="12802" cap="flat">
            <a:solidFill>
              <a:srgbClr val="526A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地址解码 RegMap"/>
          <p:cNvSpPr txBox="1"/>
          <p:nvPr/>
        </p:nvSpPr>
        <p:spPr>
          <a:xfrm>
            <a:off x="7150405" y="2806253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26A87"/>
                </a:solidFill>
                <a:latin typeface="WenQuanYi Zen Hei"/>
                <a:ea typeface="WenQuanYi Zen Hei"/>
                <a:cs typeface="WenQuanYi Zen Hei"/>
              </a:rPr>
              <a:t>地址解码 RegMap</a:t>
            </a:r>
          </a:p>
        </p:txBody>
      </p:sp>
      <p:sp>
        <p:nvSpPr>
          <p:cNvPr id="34" name="E04"/>
          <p:cNvSpPr/>
          <p:nvPr/>
        </p:nvSpPr>
        <p:spPr>
          <a:xfrm>
            <a:off x="6294120" y="2915920"/>
            <a:ext cx="817880" cy="1066800"/>
          </a:xfrm>
          <a:custGeom>
            <a:avLst/>
            <a:gdLst/>
            <a:ahLst/>
            <a:cxnLst/>
            <a:rect l="0" t="0" r="r" b="b"/>
            <a:pathLst>
              <a:path w="817880" h="1066800" fill="none">
                <a:moveTo>
                  <a:pt x="0" y="1066800"/>
                </a:moveTo>
                <a:lnTo>
                  <a:pt x="0" y="0"/>
                </a:lnTo>
                <a:lnTo>
                  <a:pt x="817880" y="0"/>
                </a:lnTo>
              </a:path>
            </a:pathLst>
          </a:custGeom>
          <a:noFill/>
          <a:ln w="19914" cap="flat">
            <a:solidFill>
              <a:srgbClr val="925021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ircle-035"/>
          <p:cNvSpPr/>
          <p:nvPr/>
        </p:nvSpPr>
        <p:spPr>
          <a:xfrm>
            <a:off x="6265672" y="3954272"/>
            <a:ext cx="56896" cy="56896"/>
          </a:xfrm>
          <a:prstGeom prst="ellipse">
            <a:avLst/>
          </a:pr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addr"/>
          <p:cNvSpPr txBox="1"/>
          <p:nvPr/>
        </p:nvSpPr>
        <p:spPr>
          <a:xfrm>
            <a:off x="6223000" y="2604130"/>
            <a:ext cx="58887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addr</a:t>
            </a:r>
          </a:p>
        </p:txBody>
      </p:sp>
      <p:sp>
        <p:nvSpPr>
          <p:cNvPr id="37" name="E05"/>
          <p:cNvSpPr/>
          <p:nvPr/>
        </p:nvSpPr>
        <p:spPr>
          <a:xfrm>
            <a:off x="7965440" y="3200400"/>
            <a:ext cx="1" cy="284480"/>
          </a:xfrm>
          <a:custGeom>
            <a:avLst/>
            <a:gdLst/>
            <a:ahLst/>
            <a:cxnLst/>
            <a:rect l="0" t="0" r="r" b="b"/>
            <a:pathLst>
              <a:path w="1" h="284480" fill="none">
                <a:moveTo>
                  <a:pt x="0" y="0"/>
                </a:moveTo>
                <a:lnTo>
                  <a:pt x="0" y="284480"/>
                </a:lnTo>
              </a:path>
            </a:pathLst>
          </a:custGeom>
          <a:noFill/>
          <a:ln w="19914" cap="flat">
            <a:solidFill>
              <a:srgbClr val="925021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reg_select"/>
          <p:cNvSpPr txBox="1"/>
          <p:nvPr/>
        </p:nvSpPr>
        <p:spPr>
          <a:xfrm>
            <a:off x="8178800" y="3209219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reg_select</a:t>
            </a:r>
          </a:p>
        </p:txBody>
      </p:sp>
      <p:sp>
        <p:nvSpPr>
          <p:cNvPr id="39" name="rect-039"/>
          <p:cNvSpPr/>
          <p:nvPr/>
        </p:nvSpPr>
        <p:spPr>
          <a:xfrm>
            <a:off x="9956800" y="2773680"/>
            <a:ext cx="2275840" cy="640080"/>
          </a:xfrm>
          <a:prstGeom prst="roundRect">
            <a:avLst>
              <a:gd name="adj" fmla="val 8888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40"/>
          <p:cNvSpPr/>
          <p:nvPr/>
        </p:nvSpPr>
        <p:spPr>
          <a:xfrm>
            <a:off x="9978136" y="2795016"/>
            <a:ext cx="2233168" cy="312928"/>
          </a:xfrm>
          <a:prstGeom prst="roundRect">
            <a:avLst>
              <a:gd name="adj" fmla="val 11363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片内寄存器目标"/>
          <p:cNvSpPr txBox="1"/>
          <p:nvPr/>
        </p:nvSpPr>
        <p:spPr>
          <a:xfrm>
            <a:off x="10411968" y="2852481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片内寄存器目标</a:t>
            </a:r>
          </a:p>
        </p:txBody>
      </p:sp>
      <p:sp>
        <p:nvSpPr>
          <p:cNvPr id="42" name="text-042: SoC / UART / GPIO / …"/>
          <p:cNvSpPr txBox="1"/>
          <p:nvPr/>
        </p:nvSpPr>
        <p:spPr>
          <a:xfrm>
            <a:off x="9921240" y="3095427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/ UART / GPIO / …</a:t>
            </a:r>
          </a:p>
        </p:txBody>
      </p:sp>
      <p:sp>
        <p:nvSpPr>
          <p:cNvPr id="43" name="rect-043"/>
          <p:cNvSpPr/>
          <p:nvPr/>
        </p:nvSpPr>
        <p:spPr>
          <a:xfrm>
            <a:off x="9956800" y="3911600"/>
            <a:ext cx="2275840" cy="640080"/>
          </a:xfrm>
          <a:prstGeom prst="roundRect">
            <a:avLst>
              <a:gd name="adj" fmla="val 8888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4"/>
          <p:cNvSpPr/>
          <p:nvPr/>
        </p:nvSpPr>
        <p:spPr>
          <a:xfrm>
            <a:off x="9978136" y="3932936"/>
            <a:ext cx="2233168" cy="312928"/>
          </a:xfrm>
          <a:prstGeom prst="roundRect">
            <a:avLst>
              <a:gd name="adj" fmla="val 11363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i_reg_err_slv"/>
          <p:cNvSpPr txBox="1"/>
          <p:nvPr/>
        </p:nvSpPr>
        <p:spPr>
          <a:xfrm>
            <a:off x="10288219" y="399040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i_reg_err_slv</a:t>
            </a:r>
          </a:p>
        </p:txBody>
      </p:sp>
      <p:sp>
        <p:nvSpPr>
          <p:cNvPr id="46" name="text-046: 未命中：ready=1, error=1"/>
          <p:cNvSpPr txBox="1"/>
          <p:nvPr/>
        </p:nvSpPr>
        <p:spPr>
          <a:xfrm>
            <a:off x="9889947" y="4233347"/>
            <a:ext cx="24095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未命中：ready=1, error=1</a:t>
            </a:r>
          </a:p>
        </p:txBody>
      </p:sp>
      <p:sp>
        <p:nvSpPr>
          <p:cNvPr id="47" name="rect-047"/>
          <p:cNvSpPr/>
          <p:nvPr/>
        </p:nvSpPr>
        <p:spPr>
          <a:xfrm>
            <a:off x="9956800" y="5085080"/>
            <a:ext cx="2275840" cy="1031240"/>
          </a:xfrm>
          <a:prstGeom prst="roundRect">
            <a:avLst>
              <a:gd name="adj" fmla="val 5517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8"/>
          <p:cNvSpPr/>
          <p:nvPr/>
        </p:nvSpPr>
        <p:spPr>
          <a:xfrm>
            <a:off x="9978136" y="5106416"/>
            <a:ext cx="2233168" cy="280924"/>
          </a:xfrm>
          <a:prstGeom prst="roundRect">
            <a:avLst>
              <a:gd name="adj" fmla="val 12658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外部 Regbus 端口 [k]"/>
          <p:cNvSpPr txBox="1"/>
          <p:nvPr/>
        </p:nvSpPr>
        <p:spPr>
          <a:xfrm>
            <a:off x="10002317" y="5131877"/>
            <a:ext cx="21848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外部 Regbus 端口 [k]</a:t>
            </a:r>
          </a:p>
        </p:txBody>
      </p:sp>
      <p:sp>
        <p:nvSpPr>
          <p:cNvPr id="50" name="text-050: reg_ext_slv_req_o[k]"/>
          <p:cNvSpPr txBox="1"/>
          <p:nvPr/>
        </p:nvSpPr>
        <p:spPr>
          <a:xfrm>
            <a:off x="9999472" y="5374823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51" name="text-051: reg_ext_slv_rsp_i[k]"/>
          <p:cNvSpPr txBox="1"/>
          <p:nvPr/>
        </p:nvSpPr>
        <p:spPr>
          <a:xfrm>
            <a:off x="9999472" y="5602407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52" name="text-052: 默认端口数为 0"/>
          <p:cNvSpPr txBox="1"/>
          <p:nvPr/>
        </p:nvSpPr>
        <p:spPr>
          <a:xfrm>
            <a:off x="10445394" y="5829991"/>
            <a:ext cx="12986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默认端口数为 0</a:t>
            </a:r>
          </a:p>
        </p:txBody>
      </p:sp>
      <p:sp>
        <p:nvSpPr>
          <p:cNvPr id="53" name="E06"/>
          <p:cNvSpPr/>
          <p:nvPr/>
        </p:nvSpPr>
        <p:spPr>
          <a:xfrm>
            <a:off x="8818880" y="3093720"/>
            <a:ext cx="1137920" cy="568960"/>
          </a:xfrm>
          <a:custGeom>
            <a:avLst/>
            <a:gdLst/>
            <a:ahLst/>
            <a:cxnLst/>
            <a:rect l="0" t="0" r="r" b="b"/>
            <a:pathLst>
              <a:path w="1137920" h="568960" fill="none">
                <a:moveTo>
                  <a:pt x="0" y="568960"/>
                </a:moveTo>
                <a:lnTo>
                  <a:pt x="284480" y="568960"/>
                </a:lnTo>
                <a:lnTo>
                  <a:pt x="284480" y="0"/>
                </a:lnTo>
                <a:lnTo>
                  <a:pt x="113792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E07"/>
          <p:cNvSpPr/>
          <p:nvPr/>
        </p:nvSpPr>
        <p:spPr>
          <a:xfrm>
            <a:off x="8818880" y="4018280"/>
            <a:ext cx="1137920" cy="213360"/>
          </a:xfrm>
          <a:custGeom>
            <a:avLst/>
            <a:gdLst/>
            <a:ahLst/>
            <a:cxnLst/>
            <a:rect l="0" t="0" r="r" b="b"/>
            <a:pathLst>
              <a:path w="1137920" h="213360" fill="none">
                <a:moveTo>
                  <a:pt x="0" y="0"/>
                </a:moveTo>
                <a:lnTo>
                  <a:pt x="568960" y="0"/>
                </a:lnTo>
                <a:lnTo>
                  <a:pt x="568960" y="213360"/>
                </a:lnTo>
                <a:lnTo>
                  <a:pt x="1137920" y="21336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E08"/>
          <p:cNvSpPr/>
          <p:nvPr/>
        </p:nvSpPr>
        <p:spPr>
          <a:xfrm>
            <a:off x="8818880" y="4373880"/>
            <a:ext cx="1137920" cy="1102360"/>
          </a:xfrm>
          <a:custGeom>
            <a:avLst/>
            <a:gdLst/>
            <a:ahLst/>
            <a:cxnLst/>
            <a:rect l="0" t="0" r="r" b="b"/>
            <a:pathLst>
              <a:path w="1137920" h="1102360" fill="none">
                <a:moveTo>
                  <a:pt x="0" y="0"/>
                </a:moveTo>
                <a:lnTo>
                  <a:pt x="817880" y="0"/>
                </a:lnTo>
                <a:lnTo>
                  <a:pt x="817880" y="1102360"/>
                </a:lnTo>
                <a:lnTo>
                  <a:pt x="1137920" y="110236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需要配置：RegExtNumSlv / RegExtNumRules"/>
          <p:cNvSpPr txBox="1"/>
          <p:nvPr/>
        </p:nvSpPr>
        <p:spPr>
          <a:xfrm>
            <a:off x="3342640" y="4957633"/>
            <a:ext cx="42415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需要配置：RegExtNumSlv / RegExtNumRules</a:t>
            </a:r>
          </a:p>
        </p:txBody>
      </p:sp>
      <p:sp>
        <p:nvSpPr>
          <p:cNvPr id="57" name="text-057: RegExtRegionStart / End / Idx"/>
          <p:cNvSpPr txBox="1"/>
          <p:nvPr/>
        </p:nvSpPr>
        <p:spPr>
          <a:xfrm>
            <a:off x="3342640" y="5235001"/>
            <a:ext cx="338815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RegExtRegionStart / End / Idx</a:t>
            </a:r>
          </a:p>
        </p:txBody>
      </p:sp>
      <p:sp>
        <p:nvSpPr>
          <p:cNvPr id="58" name="text-058: gen_axi_out + gen_reg_out 自动生成两级地址规则"/>
          <p:cNvSpPr txBox="1"/>
          <p:nvPr/>
        </p:nvSpPr>
        <p:spPr>
          <a:xfrm>
            <a:off x="3342640" y="5519481"/>
            <a:ext cx="47621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gen_axi_out + gen_reg_out 自动生成两级地址规则</a:t>
            </a:r>
          </a:p>
        </p:txBody>
      </p:sp>
      <p:sp>
        <p:nvSpPr>
          <p:cNvPr id="59" name="text-059: 默认外部端口数为 0；打开端口后，还要在外层顶层接线。"/>
          <p:cNvSpPr txBox="1"/>
          <p:nvPr/>
        </p:nvSpPr>
        <p:spPr>
          <a:xfrm>
            <a:off x="3342640" y="5924865"/>
            <a:ext cx="46597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默认外部端口数为 0；打开端口后，还要在外层顶层接线。</a:t>
            </a:r>
          </a:p>
        </p:txBody>
      </p:sp>
      <p:sp>
        <p:nvSpPr>
          <p:cNvPr id="60" name="rect-060"/>
          <p:cNvSpPr/>
          <p:nvPr/>
        </p:nvSpPr>
        <p:spPr>
          <a:xfrm>
            <a:off x="9814560" y="6969760"/>
            <a:ext cx="2489200" cy="853440"/>
          </a:xfrm>
          <a:prstGeom prst="roundRect">
            <a:avLst>
              <a:gd name="adj" fmla="val 6666"/>
            </a:avLst>
          </a:prstGeom>
          <a:solidFill>
            <a:srgbClr val="EFF8F3"/>
          </a:solidFill>
          <a:ln w="12802" cap="flat">
            <a:solidFill>
              <a:srgbClr val="317E69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1"/>
          <p:cNvSpPr/>
          <p:nvPr/>
        </p:nvSpPr>
        <p:spPr>
          <a:xfrm>
            <a:off x="9835896" y="6991096"/>
            <a:ext cx="2446528" cy="305816"/>
          </a:xfrm>
          <a:prstGeom prst="roundRect">
            <a:avLst>
              <a:gd name="adj" fmla="val 11627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自有 IP 寄存器接口"/>
          <p:cNvSpPr txBox="1"/>
          <p:nvPr/>
        </p:nvSpPr>
        <p:spPr>
          <a:xfrm>
            <a:off x="10079126" y="7026087"/>
            <a:ext cx="196006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自有 IP 寄存器接口</a:t>
            </a:r>
          </a:p>
        </p:txBody>
      </p:sp>
      <p:sp>
        <p:nvSpPr>
          <p:cNvPr id="63" name="text-063: NPU / ISP / DMA / …"/>
          <p:cNvSpPr txBox="1"/>
          <p:nvPr/>
        </p:nvSpPr>
        <p:spPr>
          <a:xfrm>
            <a:off x="9889947" y="7297481"/>
            <a:ext cx="23384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ISP / DMA / …</a:t>
            </a:r>
          </a:p>
        </p:txBody>
      </p:sp>
      <p:sp>
        <p:nvSpPr>
          <p:cNvPr id="64" name="text-064: 内部职责见图②"/>
          <p:cNvSpPr txBox="1"/>
          <p:nvPr/>
        </p:nvSpPr>
        <p:spPr>
          <a:xfrm>
            <a:off x="10404856" y="752563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内部职责见图②</a:t>
            </a:r>
          </a:p>
        </p:txBody>
      </p:sp>
      <p:sp>
        <p:nvSpPr>
          <p:cNvPr id="65" name="E09"/>
          <p:cNvSpPr/>
          <p:nvPr/>
        </p:nvSpPr>
        <p:spPr>
          <a:xfrm>
            <a:off x="11094720" y="611632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同域直连；异域增加 reg_cdc"/>
          <p:cNvSpPr txBox="1"/>
          <p:nvPr/>
        </p:nvSpPr>
        <p:spPr>
          <a:xfrm>
            <a:off x="8178800" y="6536497"/>
            <a:ext cx="25944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同域直连；异域增加 reg_cdc</a:t>
            </a:r>
          </a:p>
        </p:txBody>
      </p:sp>
      <p:sp>
        <p:nvSpPr>
          <p:cNvPr id="67" name="text-067: IP 收到：addr[47:0] / write / wdata[31:0] /"/>
          <p:cNvSpPr txBox="1"/>
          <p:nvPr/>
        </p:nvSpPr>
        <p:spPr>
          <a:xfrm>
            <a:off x="284480" y="6820977"/>
            <a:ext cx="68957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收到：addr[47:0] / write / wdata[31:0] / wstrb[3:0] / valid</a:t>
            </a:r>
          </a:p>
        </p:txBody>
      </p:sp>
      <p:sp>
        <p:nvSpPr>
          <p:cNvPr id="68" name="text-068: IP 返回：rdata[31:0] / error / ready"/>
          <p:cNvSpPr txBox="1"/>
          <p:nvPr/>
        </p:nvSpPr>
        <p:spPr>
          <a:xfrm>
            <a:off x="284480" y="7112569"/>
            <a:ext cx="40111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返回：rdata[31:0] / error / ready</a:t>
            </a:r>
          </a:p>
        </p:txBody>
      </p:sp>
      <p:sp>
        <p:nvSpPr>
          <p:cNvPr id="69" name="text-069: 配置走 Regbus；图像、权重、帧数据等批量搬运走独立的数据接口。"/>
          <p:cNvSpPr txBox="1"/>
          <p:nvPr/>
        </p:nvSpPr>
        <p:spPr>
          <a:xfrm>
            <a:off x="284480" y="7489505"/>
            <a:ext cx="55558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配置走 Regbus；图像、权重、帧数据等批量搬运走独立的数据接口。</a:t>
            </a:r>
          </a:p>
        </p:txBody>
      </p:sp>
      <p:sp>
        <p:nvSpPr>
          <p:cNvPr id="70" name="rect-070"/>
          <p:cNvSpPr/>
          <p:nvPr/>
        </p:nvSpPr>
        <p:spPr>
          <a:xfrm>
            <a:off x="1351280" y="3762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1"/>
          <p:cNvSpPr txBox="1"/>
          <p:nvPr/>
        </p:nvSpPr>
        <p:spPr>
          <a:xfrm>
            <a:off x="1294740" y="3742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72" name="rect-072"/>
          <p:cNvSpPr/>
          <p:nvPr/>
        </p:nvSpPr>
        <p:spPr>
          <a:xfrm>
            <a:off x="3129280" y="3762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2"/>
          <p:cNvSpPr txBox="1"/>
          <p:nvPr/>
        </p:nvSpPr>
        <p:spPr>
          <a:xfrm>
            <a:off x="3072740" y="3742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74" name="rect-074"/>
          <p:cNvSpPr/>
          <p:nvPr/>
        </p:nvSpPr>
        <p:spPr>
          <a:xfrm>
            <a:off x="6400800" y="3762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E03"/>
          <p:cNvSpPr txBox="1"/>
          <p:nvPr/>
        </p:nvSpPr>
        <p:spPr>
          <a:xfrm>
            <a:off x="6344260" y="3742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76" name="rect-076"/>
          <p:cNvSpPr/>
          <p:nvPr/>
        </p:nvSpPr>
        <p:spPr>
          <a:xfrm>
            <a:off x="6358128" y="33497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E04"/>
          <p:cNvSpPr txBox="1"/>
          <p:nvPr/>
        </p:nvSpPr>
        <p:spPr>
          <a:xfrm>
            <a:off x="6301588" y="33301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78" name="rect-078"/>
          <p:cNvSpPr/>
          <p:nvPr/>
        </p:nvSpPr>
        <p:spPr>
          <a:xfrm>
            <a:off x="7552944" y="32430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5"/>
          <p:cNvSpPr txBox="1"/>
          <p:nvPr/>
        </p:nvSpPr>
        <p:spPr>
          <a:xfrm>
            <a:off x="7496404" y="32234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80" name="rect-080"/>
          <p:cNvSpPr/>
          <p:nvPr/>
        </p:nvSpPr>
        <p:spPr>
          <a:xfrm>
            <a:off x="935228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6"/>
          <p:cNvSpPr txBox="1"/>
          <p:nvPr/>
        </p:nvSpPr>
        <p:spPr>
          <a:xfrm>
            <a:off x="929574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82" name="rect-082"/>
          <p:cNvSpPr/>
          <p:nvPr/>
        </p:nvSpPr>
        <p:spPr>
          <a:xfrm>
            <a:off x="8925560" y="3797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7"/>
          <p:cNvSpPr txBox="1"/>
          <p:nvPr/>
        </p:nvSpPr>
        <p:spPr>
          <a:xfrm>
            <a:off x="8869020" y="3778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84" name="rect-084"/>
          <p:cNvSpPr/>
          <p:nvPr/>
        </p:nvSpPr>
        <p:spPr>
          <a:xfrm>
            <a:off x="9700768" y="48254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E08"/>
          <p:cNvSpPr txBox="1"/>
          <p:nvPr/>
        </p:nvSpPr>
        <p:spPr>
          <a:xfrm>
            <a:off x="9644228" y="48058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86" name="rect-086"/>
          <p:cNvSpPr/>
          <p:nvPr/>
        </p:nvSpPr>
        <p:spPr>
          <a:xfrm>
            <a:off x="11158728" y="6443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09"/>
          <p:cNvSpPr txBox="1"/>
          <p:nvPr/>
        </p:nvSpPr>
        <p:spPr>
          <a:xfrm>
            <a:off x="11102188" y="6423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88" name="text-088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89" name="text-089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② 自有 IP：需要实现的寄存器接口（建议结构，尚未接入）"/>
          <p:cNvSpPr txBox="1"/>
          <p:nvPr/>
        </p:nvSpPr>
        <p:spPr>
          <a:xfrm>
            <a:off x="248920" y="1369771"/>
            <a:ext cx="6102096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② 自有 IP：需要实现的寄存器接口（建议结构，尚未接入）</a:t>
            </a:r>
          </a:p>
        </p:txBody>
      </p:sp>
      <p:sp>
        <p:nvSpPr>
          <p:cNvPr id="3" name="text-003: 本图采用同 clk_i 域示例；配置访问完成与 IP 运算完成是两个事件。"/>
          <p:cNvSpPr txBox="1"/>
          <p:nvPr/>
        </p:nvSpPr>
        <p:spPr>
          <a:xfrm>
            <a:off x="248920" y="1735897"/>
            <a:ext cx="58289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本图采用同 clk_i 域示例；配置访问完成与 IP 运算完成是两个事件。</a:t>
            </a:r>
          </a:p>
        </p:txBody>
      </p:sp>
      <p:sp>
        <p:nvSpPr>
          <p:cNvPr id="4" name="rect-004"/>
          <p:cNvSpPr/>
          <p:nvPr/>
        </p:nvSpPr>
        <p:spPr>
          <a:xfrm>
            <a:off x="2418080" y="2489200"/>
            <a:ext cx="7396480" cy="4516120"/>
          </a:xfrm>
          <a:prstGeom prst="roundRect">
            <a:avLst>
              <a:gd name="adj" fmla="val 1889"/>
            </a:avLst>
          </a:prstGeom>
          <a:solidFill>
            <a:srgbClr val="F8FAFD"/>
          </a:solidFill>
          <a:ln w="12090" cap="flat">
            <a:solidFill>
              <a:srgbClr val="A6B5C8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IP 寄存器封装：可手写，或使用现有 reggen 生成"/>
          <p:cNvSpPr txBox="1"/>
          <p:nvPr/>
        </p:nvSpPr>
        <p:spPr>
          <a:xfrm>
            <a:off x="2595880" y="2574544"/>
            <a:ext cx="447167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寄存器封装：可手写，或使用现有 reggen 生成</a:t>
            </a:r>
          </a:p>
        </p:txBody>
      </p:sp>
      <p:sp>
        <p:nvSpPr>
          <p:cNvPr id="6" name="text-006: reg_ext_slv_req_o[k]"/>
          <p:cNvSpPr txBox="1"/>
          <p:nvPr/>
        </p:nvSpPr>
        <p:spPr>
          <a:xfrm>
            <a:off x="248920" y="3186745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7" name="text-007: addr / write / wdata"/>
          <p:cNvSpPr txBox="1"/>
          <p:nvPr/>
        </p:nvSpPr>
        <p:spPr>
          <a:xfrm>
            <a:off x="248920" y="3435665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addr / write / wdata</a:t>
            </a:r>
          </a:p>
        </p:txBody>
      </p:sp>
      <p:sp>
        <p:nvSpPr>
          <p:cNvPr id="8" name="text-008: wstrb / valid"/>
          <p:cNvSpPr txBox="1"/>
          <p:nvPr/>
        </p:nvSpPr>
        <p:spPr>
          <a:xfrm>
            <a:off x="248920" y="3684585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wstrb / valid</a:t>
            </a:r>
          </a:p>
        </p:txBody>
      </p:sp>
      <p:sp>
        <p:nvSpPr>
          <p:cNvPr id="9" name="E01"/>
          <p:cNvSpPr/>
          <p:nvPr/>
        </p:nvSpPr>
        <p:spPr>
          <a:xfrm>
            <a:off x="320040" y="4053840"/>
            <a:ext cx="2595880" cy="1"/>
          </a:xfrm>
          <a:custGeom>
            <a:avLst/>
            <a:gdLst/>
            <a:ahLst/>
            <a:cxnLst/>
            <a:rect l="0" t="0" r="r" b="b"/>
            <a:pathLst>
              <a:path w="2595880" h="1" fill="none">
                <a:moveTo>
                  <a:pt x="0" y="0"/>
                </a:moveTo>
                <a:lnTo>
                  <a:pt x="259588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-010"/>
          <p:cNvSpPr/>
          <p:nvPr/>
        </p:nvSpPr>
        <p:spPr>
          <a:xfrm>
            <a:off x="2915920" y="3129280"/>
            <a:ext cx="2204720" cy="1315720"/>
          </a:xfrm>
          <a:prstGeom prst="roundRect">
            <a:avLst>
              <a:gd name="adj" fmla="val 4324"/>
            </a:avLst>
          </a:prstGeom>
          <a:solidFill>
            <a:srgbClr val="F1F5FA"/>
          </a:solidFill>
          <a:ln w="12802" cap="flat">
            <a:solidFill>
              <a:srgbClr val="526A87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-011"/>
          <p:cNvSpPr/>
          <p:nvPr/>
        </p:nvSpPr>
        <p:spPr>
          <a:xfrm>
            <a:off x="2937256" y="3150616"/>
            <a:ext cx="2162048" cy="309372"/>
          </a:xfrm>
          <a:prstGeom prst="roundRect">
            <a:avLst>
              <a:gd name="adj" fmla="val 11494"/>
            </a:avLst>
          </a:prstGeom>
          <a:solidFill>
            <a:srgbClr val="526A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地址译码与访问控制"/>
          <p:cNvSpPr txBox="1"/>
          <p:nvPr/>
        </p:nvSpPr>
        <p:spPr>
          <a:xfrm>
            <a:off x="3164840" y="3204525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地址译码与访问控制</a:t>
            </a:r>
          </a:p>
        </p:txBody>
      </p:sp>
      <p:sp>
        <p:nvSpPr>
          <p:cNvPr id="13" name="text-013: offset = addr - BASE"/>
          <p:cNvSpPr txBox="1"/>
          <p:nvPr/>
        </p:nvSpPr>
        <p:spPr>
          <a:xfrm>
            <a:off x="2923032" y="3447471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offset = addr - BASE</a:t>
            </a:r>
          </a:p>
        </p:txBody>
      </p:sp>
      <p:sp>
        <p:nvSpPr>
          <p:cNvPr id="14" name="text-014: fire = valid &amp; ready"/>
          <p:cNvSpPr txBox="1"/>
          <p:nvPr/>
        </p:nvSpPr>
        <p:spPr>
          <a:xfrm>
            <a:off x="2923032" y="367505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fire = valid &amp; ready</a:t>
            </a:r>
          </a:p>
        </p:txBody>
      </p:sp>
      <p:sp>
        <p:nvSpPr>
          <p:cNvPr id="15" name="text-015: wr_en = fire &amp; write"/>
          <p:cNvSpPr txBox="1"/>
          <p:nvPr/>
        </p:nvSpPr>
        <p:spPr>
          <a:xfrm>
            <a:off x="2923032" y="3902639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wr_en = fire &amp; write</a:t>
            </a:r>
          </a:p>
        </p:txBody>
      </p:sp>
      <p:sp>
        <p:nvSpPr>
          <p:cNvPr id="16" name="text-016: 按译码 / wstrb 写入"/>
          <p:cNvSpPr txBox="1"/>
          <p:nvPr/>
        </p:nvSpPr>
        <p:spPr>
          <a:xfrm>
            <a:off x="3091231" y="4130223"/>
            <a:ext cx="18540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按译码 / wstrb 写入</a:t>
            </a:r>
          </a:p>
        </p:txBody>
      </p:sp>
      <p:sp>
        <p:nvSpPr>
          <p:cNvPr id="17" name="rect-017"/>
          <p:cNvSpPr/>
          <p:nvPr/>
        </p:nvSpPr>
        <p:spPr>
          <a:xfrm>
            <a:off x="6827520" y="3200400"/>
            <a:ext cx="2560320" cy="924560"/>
          </a:xfrm>
          <a:prstGeom prst="roundRect">
            <a:avLst>
              <a:gd name="adj" fmla="val 6153"/>
            </a:avLst>
          </a:prstGeom>
          <a:solidFill>
            <a:srgbClr val="EFF8F3"/>
          </a:solidFill>
          <a:ln w="12802" cap="flat">
            <a:solidFill>
              <a:srgbClr val="317E69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8"/>
          <p:cNvSpPr/>
          <p:nvPr/>
        </p:nvSpPr>
        <p:spPr>
          <a:xfrm>
            <a:off x="6848856" y="3221736"/>
            <a:ext cx="2517648" cy="341376"/>
          </a:xfrm>
          <a:prstGeom prst="roundRect">
            <a:avLst>
              <a:gd name="adj" fmla="val 10416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配置 / 命令寄存器"/>
          <p:cNvSpPr txBox="1"/>
          <p:nvPr/>
        </p:nvSpPr>
        <p:spPr>
          <a:xfrm>
            <a:off x="7258507" y="3307649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配置 / 命令寄存器</a:t>
            </a:r>
          </a:p>
        </p:txBody>
      </p:sp>
      <p:sp>
        <p:nvSpPr>
          <p:cNvPr id="20" name="text-020: 参数、地址低位 / 高位"/>
          <p:cNvSpPr txBox="1"/>
          <p:nvPr/>
        </p:nvSpPr>
        <p:spPr>
          <a:xfrm>
            <a:off x="7172808" y="3550595"/>
            <a:ext cx="18697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参数、地址低位 / 高位</a:t>
            </a:r>
          </a:p>
        </p:txBody>
      </p:sp>
      <p:sp>
        <p:nvSpPr>
          <p:cNvPr id="21" name="text-021: 写 START 时提交命令"/>
          <p:cNvSpPr txBox="1"/>
          <p:nvPr/>
        </p:nvSpPr>
        <p:spPr>
          <a:xfrm>
            <a:off x="7204100" y="3778179"/>
            <a:ext cx="18071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 START 时提交命令</a:t>
            </a:r>
          </a:p>
        </p:txBody>
      </p:sp>
      <p:sp>
        <p:nvSpPr>
          <p:cNvPr id="22" name="E02"/>
          <p:cNvSpPr/>
          <p:nvPr/>
        </p:nvSpPr>
        <p:spPr>
          <a:xfrm>
            <a:off x="5120640" y="3698240"/>
            <a:ext cx="1706880" cy="1"/>
          </a:xfrm>
          <a:custGeom>
            <a:avLst/>
            <a:gdLst/>
            <a:ahLst/>
            <a:cxnLst/>
            <a:rect l="0" t="0" r="r" b="b"/>
            <a:pathLst>
              <a:path w="1706880" h="1" fill="none">
                <a:moveTo>
                  <a:pt x="0" y="0"/>
                </a:moveTo>
                <a:lnTo>
                  <a:pt x="170688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写使能 / 写数据"/>
          <p:cNvSpPr txBox="1"/>
          <p:nvPr/>
        </p:nvSpPr>
        <p:spPr>
          <a:xfrm>
            <a:off x="5298440" y="3350890"/>
            <a:ext cx="1464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写使能 / 写数据</a:t>
            </a:r>
          </a:p>
        </p:txBody>
      </p:sp>
      <p:sp>
        <p:nvSpPr>
          <p:cNvPr id="24" name="rect-024"/>
          <p:cNvSpPr/>
          <p:nvPr/>
        </p:nvSpPr>
        <p:spPr>
          <a:xfrm>
            <a:off x="10454640" y="3271520"/>
            <a:ext cx="2062480" cy="2951480"/>
          </a:xfrm>
          <a:prstGeom prst="roundRect">
            <a:avLst>
              <a:gd name="adj" fmla="val 2758"/>
            </a:avLst>
          </a:prstGeom>
          <a:solidFill>
            <a:srgbClr val="F1F5FA"/>
          </a:solidFill>
          <a:ln w="12802" cap="flat">
            <a:solidFill>
              <a:srgbClr val="526A87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5"/>
          <p:cNvSpPr/>
          <p:nvPr/>
        </p:nvSpPr>
        <p:spPr>
          <a:xfrm>
            <a:off x="10475976" y="3292856"/>
            <a:ext cx="2019808" cy="334264"/>
          </a:xfrm>
          <a:prstGeom prst="roundRect">
            <a:avLst>
              <a:gd name="adj" fmla="val 10638"/>
            </a:avLst>
          </a:prstGeom>
          <a:solidFill>
            <a:srgbClr val="526A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IP 工作逻辑"/>
          <p:cNvSpPr txBox="1"/>
          <p:nvPr/>
        </p:nvSpPr>
        <p:spPr>
          <a:xfrm>
            <a:off x="10892739" y="3371657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27" name="text-027: 接受命令"/>
          <p:cNvSpPr txBox="1"/>
          <p:nvPr/>
        </p:nvSpPr>
        <p:spPr>
          <a:xfrm>
            <a:off x="11059160" y="3940617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接受命令</a:t>
            </a:r>
          </a:p>
        </p:txBody>
      </p:sp>
      <p:sp>
        <p:nvSpPr>
          <p:cNvPr id="28" name="text-028: 计算 / 搬运 / 接收"/>
          <p:cNvSpPr txBox="1"/>
          <p:nvPr/>
        </p:nvSpPr>
        <p:spPr>
          <a:xfrm>
            <a:off x="10555630" y="4296217"/>
            <a:ext cx="186049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计算 / 搬运 / 接收</a:t>
            </a:r>
          </a:p>
        </p:txBody>
      </p:sp>
      <p:sp>
        <p:nvSpPr>
          <p:cNvPr id="29" name="text-029: 维护 busy / done / error"/>
          <p:cNvSpPr txBox="1"/>
          <p:nvPr/>
        </p:nvSpPr>
        <p:spPr>
          <a:xfrm>
            <a:off x="10120376" y="4900737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维护 busy / done / error</a:t>
            </a:r>
          </a:p>
        </p:txBody>
      </p:sp>
      <p:sp>
        <p:nvSpPr>
          <p:cNvPr id="30" name="text-030: 数据口另接 AXI / 流接口"/>
          <p:cNvSpPr txBox="1"/>
          <p:nvPr/>
        </p:nvSpPr>
        <p:spPr>
          <a:xfrm>
            <a:off x="10329469" y="5505257"/>
            <a:ext cx="23128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数据口另接 AXI / 流接口</a:t>
            </a:r>
          </a:p>
        </p:txBody>
      </p:sp>
      <p:sp>
        <p:nvSpPr>
          <p:cNvPr id="31" name="E03"/>
          <p:cNvSpPr/>
          <p:nvPr/>
        </p:nvSpPr>
        <p:spPr>
          <a:xfrm>
            <a:off x="9387840" y="369824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配置 / 启动"/>
          <p:cNvSpPr txBox="1"/>
          <p:nvPr/>
        </p:nvSpPr>
        <p:spPr>
          <a:xfrm>
            <a:off x="9530080" y="3379338"/>
            <a:ext cx="113685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启动</a:t>
            </a:r>
          </a:p>
        </p:txBody>
      </p:sp>
      <p:sp>
        <p:nvSpPr>
          <p:cNvPr id="33" name="rect-033"/>
          <p:cNvSpPr/>
          <p:nvPr/>
        </p:nvSpPr>
        <p:spPr>
          <a:xfrm>
            <a:off x="7680960" y="5725160"/>
            <a:ext cx="1920240" cy="782320"/>
          </a:xfrm>
          <a:prstGeom prst="roundRect">
            <a:avLst>
              <a:gd name="adj" fmla="val 7272"/>
            </a:avLst>
          </a:prstGeom>
          <a:solidFill>
            <a:srgbClr val="EFF8F3"/>
          </a:solidFill>
          <a:ln w="12802" cap="flat">
            <a:solidFill>
              <a:srgbClr val="317E69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4"/>
          <p:cNvSpPr/>
          <p:nvPr/>
        </p:nvSpPr>
        <p:spPr>
          <a:xfrm>
            <a:off x="7702296" y="5746496"/>
            <a:ext cx="1877568" cy="270256"/>
          </a:xfrm>
          <a:prstGeom prst="roundRect">
            <a:avLst>
              <a:gd name="adj" fmla="val 13157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状态 / 中断状态"/>
          <p:cNvSpPr txBox="1"/>
          <p:nvPr/>
        </p:nvSpPr>
        <p:spPr>
          <a:xfrm>
            <a:off x="7877251" y="5761289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状态 / 中断状态</a:t>
            </a:r>
          </a:p>
        </p:txBody>
      </p:sp>
      <p:sp>
        <p:nvSpPr>
          <p:cNvPr id="36" name="text-036: busy / done / error"/>
          <p:cNvSpPr txBox="1"/>
          <p:nvPr/>
        </p:nvSpPr>
        <p:spPr>
          <a:xfrm>
            <a:off x="7596683" y="6004235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busy / done / error</a:t>
            </a:r>
          </a:p>
        </p:txBody>
      </p:sp>
      <p:sp>
        <p:nvSpPr>
          <p:cNvPr id="37" name="text-037: 建议写 1 清除事件位"/>
          <p:cNvSpPr txBox="1"/>
          <p:nvPr/>
        </p:nvSpPr>
        <p:spPr>
          <a:xfrm>
            <a:off x="7784440" y="6231819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建议写 1 清除事件位</a:t>
            </a:r>
          </a:p>
        </p:txBody>
      </p:sp>
      <p:sp>
        <p:nvSpPr>
          <p:cNvPr id="38" name="E04"/>
          <p:cNvSpPr/>
          <p:nvPr/>
        </p:nvSpPr>
        <p:spPr>
          <a:xfrm>
            <a:off x="9601200" y="608076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状态"/>
          <p:cNvSpPr txBox="1"/>
          <p:nvPr/>
        </p:nvSpPr>
        <p:spPr>
          <a:xfrm>
            <a:off x="9885680" y="5719186"/>
            <a:ext cx="4907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</a:t>
            </a:r>
          </a:p>
        </p:txBody>
      </p:sp>
      <p:sp>
        <p:nvSpPr>
          <p:cNvPr id="40" name="rect-040"/>
          <p:cNvSpPr/>
          <p:nvPr/>
        </p:nvSpPr>
        <p:spPr>
          <a:xfrm>
            <a:off x="3484880" y="5369560"/>
            <a:ext cx="248920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3506216" y="5390896"/>
            <a:ext cx="2446528" cy="369824"/>
          </a:xfrm>
          <a:prstGeom prst="roundRect">
            <a:avLst>
              <a:gd name="adj" fmla="val 9615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读数据选择与访问响应"/>
          <p:cNvSpPr txBox="1"/>
          <p:nvPr/>
        </p:nvSpPr>
        <p:spPr>
          <a:xfrm>
            <a:off x="3790696" y="5505257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读数据选择与访问响应</a:t>
            </a:r>
          </a:p>
        </p:txBody>
      </p:sp>
      <p:sp>
        <p:nvSpPr>
          <p:cNvPr id="43" name="text-043: rdata = 选中寄存器值"/>
          <p:cNvSpPr txBox="1"/>
          <p:nvPr/>
        </p:nvSpPr>
        <p:spPr>
          <a:xfrm>
            <a:off x="3775050" y="5748203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选中寄存器值</a:t>
            </a:r>
          </a:p>
        </p:txBody>
      </p:sp>
      <p:sp>
        <p:nvSpPr>
          <p:cNvPr id="44" name="text-044: ready = 本次访问可完成"/>
          <p:cNvSpPr txBox="1"/>
          <p:nvPr/>
        </p:nvSpPr>
        <p:spPr>
          <a:xfrm>
            <a:off x="3696818" y="5975787"/>
            <a:ext cx="20653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ready = 本次访问可完成</a:t>
            </a:r>
          </a:p>
        </p:txBody>
      </p:sp>
      <p:sp>
        <p:nvSpPr>
          <p:cNvPr id="45" name="text-045: error = 地址 / 权限等错误"/>
          <p:cNvSpPr txBox="1"/>
          <p:nvPr/>
        </p:nvSpPr>
        <p:spPr>
          <a:xfrm>
            <a:off x="3544265" y="6203371"/>
            <a:ext cx="23704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error = 地址 / 权限等错误</a:t>
            </a:r>
          </a:p>
        </p:txBody>
      </p:sp>
      <p:sp>
        <p:nvSpPr>
          <p:cNvPr id="46" name="E05"/>
          <p:cNvSpPr/>
          <p:nvPr/>
        </p:nvSpPr>
        <p:spPr>
          <a:xfrm>
            <a:off x="4053840" y="444500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19914" cap="flat">
            <a:solidFill>
              <a:srgbClr val="925021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offset / 访问属性"/>
          <p:cNvSpPr txBox="1"/>
          <p:nvPr/>
        </p:nvSpPr>
        <p:spPr>
          <a:xfrm>
            <a:off x="5049520" y="4652386"/>
            <a:ext cx="17748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offset / 访问属性</a:t>
            </a:r>
          </a:p>
        </p:txBody>
      </p:sp>
      <p:sp>
        <p:nvSpPr>
          <p:cNvPr id="48" name="E06"/>
          <p:cNvSpPr/>
          <p:nvPr/>
        </p:nvSpPr>
        <p:spPr>
          <a:xfrm>
            <a:off x="5974080" y="4124960"/>
            <a:ext cx="1991360" cy="1564640"/>
          </a:xfrm>
          <a:custGeom>
            <a:avLst/>
            <a:gdLst/>
            <a:ahLst/>
            <a:cxnLst/>
            <a:rect l="0" t="0" r="r" b="b"/>
            <a:pathLst>
              <a:path w="1991360" h="1564640" fill="none">
                <a:moveTo>
                  <a:pt x="1991360" y="0"/>
                </a:moveTo>
                <a:lnTo>
                  <a:pt x="1991360" y="568960"/>
                </a:lnTo>
                <a:lnTo>
                  <a:pt x="426720" y="568960"/>
                </a:lnTo>
                <a:lnTo>
                  <a:pt x="426720" y="1564640"/>
                </a:lnTo>
                <a:lnTo>
                  <a:pt x="0" y="156464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配置回读"/>
          <p:cNvSpPr txBox="1"/>
          <p:nvPr/>
        </p:nvSpPr>
        <p:spPr>
          <a:xfrm>
            <a:off x="6756400" y="4389242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配置回读</a:t>
            </a:r>
          </a:p>
        </p:txBody>
      </p:sp>
      <p:sp>
        <p:nvSpPr>
          <p:cNvPr id="50" name="E07"/>
          <p:cNvSpPr/>
          <p:nvPr/>
        </p:nvSpPr>
        <p:spPr>
          <a:xfrm>
            <a:off x="5974080" y="6151880"/>
            <a:ext cx="1706880" cy="1"/>
          </a:xfrm>
          <a:custGeom>
            <a:avLst/>
            <a:gdLst/>
            <a:ahLst/>
            <a:cxnLst/>
            <a:rect l="0" t="0" r="r" b="b"/>
            <a:pathLst>
              <a:path w="1706880" h="1" fill="none">
                <a:moveTo>
                  <a:pt x="170688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状态回读"/>
          <p:cNvSpPr txBox="1"/>
          <p:nvPr/>
        </p:nvSpPr>
        <p:spPr>
          <a:xfrm>
            <a:off x="6407912" y="5840090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状态回读</a:t>
            </a:r>
          </a:p>
        </p:txBody>
      </p:sp>
      <p:sp>
        <p:nvSpPr>
          <p:cNvPr id="52" name="E08"/>
          <p:cNvSpPr/>
          <p:nvPr/>
        </p:nvSpPr>
        <p:spPr>
          <a:xfrm>
            <a:off x="4836160" y="4445000"/>
            <a:ext cx="3804920" cy="1280160"/>
          </a:xfrm>
          <a:custGeom>
            <a:avLst/>
            <a:gdLst/>
            <a:ahLst/>
            <a:cxnLst/>
            <a:rect l="0" t="0" r="r" b="b"/>
            <a:pathLst>
              <a:path w="3804920" h="1280160" fill="none">
                <a:moveTo>
                  <a:pt x="0" y="0"/>
                </a:moveTo>
                <a:lnTo>
                  <a:pt x="0" y="533400"/>
                </a:lnTo>
                <a:lnTo>
                  <a:pt x="3804920" y="533400"/>
                </a:lnTo>
                <a:lnTo>
                  <a:pt x="3804920" y="1280160"/>
                </a:lnTo>
              </a:path>
            </a:pathLst>
          </a:custGeom>
          <a:noFill/>
          <a:ln w="19914" cap="flat">
            <a:solidFill>
              <a:srgbClr val="925021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合法 W1C 写从访问译码生成清除使能"/>
          <p:cNvSpPr txBox="1"/>
          <p:nvPr/>
        </p:nvSpPr>
        <p:spPr>
          <a:xfrm>
            <a:off x="7609840" y="6771762"/>
            <a:ext cx="298526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合法 W1C 写从访问译码生成清除使能</a:t>
            </a:r>
          </a:p>
        </p:txBody>
      </p:sp>
      <p:sp>
        <p:nvSpPr>
          <p:cNvPr id="54" name="E09"/>
          <p:cNvSpPr/>
          <p:nvPr/>
        </p:nvSpPr>
        <p:spPr>
          <a:xfrm>
            <a:off x="320040" y="5938520"/>
            <a:ext cx="3164840" cy="1"/>
          </a:xfrm>
          <a:custGeom>
            <a:avLst/>
            <a:gdLst/>
            <a:ahLst/>
            <a:cxnLst/>
            <a:rect l="0" t="0" r="r" b="b"/>
            <a:pathLst>
              <a:path w="3164840" h="1" fill="none">
                <a:moveTo>
                  <a:pt x="316484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reg_ext_slv_rsp_i[k]"/>
          <p:cNvSpPr txBox="1"/>
          <p:nvPr/>
        </p:nvSpPr>
        <p:spPr>
          <a:xfrm>
            <a:off x="248920" y="5355905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56" name="text-056: rdata / error / ready"/>
          <p:cNvSpPr txBox="1"/>
          <p:nvPr/>
        </p:nvSpPr>
        <p:spPr>
          <a:xfrm>
            <a:off x="248920" y="5604825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57" name="text-057: 短寄存器访问及时应答；长任务用 busy / done 或中断报告，不让 rea"/>
          <p:cNvSpPr txBox="1"/>
          <p:nvPr/>
        </p:nvSpPr>
        <p:spPr>
          <a:xfrm>
            <a:off x="284480" y="7226361"/>
            <a:ext cx="78516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短寄存器访问及时应答；长任务用 busy / done 或中断报告，不让 ready 一直等到任务完成。</a:t>
            </a:r>
          </a:p>
        </p:txBody>
      </p:sp>
      <p:sp>
        <p:nvSpPr>
          <p:cNvPr id="58" name="text-058: 中断另接 SoC 中断输入；跨时钟时，事务或配置/状态传递必须有明确的 CDC "/>
          <p:cNvSpPr txBox="1"/>
          <p:nvPr/>
        </p:nvSpPr>
        <p:spPr>
          <a:xfrm>
            <a:off x="284480" y="7560625"/>
            <a:ext cx="73651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中断另接 SoC 中断输入；跨时钟时，事务或配置/状态传递必须有明确的 CDC 与复位方案。</a:t>
            </a:r>
          </a:p>
        </p:txBody>
      </p:sp>
      <p:sp>
        <p:nvSpPr>
          <p:cNvPr id="59" name="rect-059"/>
          <p:cNvSpPr/>
          <p:nvPr/>
        </p:nvSpPr>
        <p:spPr>
          <a:xfrm>
            <a:off x="1440180" y="3833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1"/>
          <p:cNvSpPr txBox="1"/>
          <p:nvPr/>
        </p:nvSpPr>
        <p:spPr>
          <a:xfrm>
            <a:off x="1383640" y="3813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61" name="rect-061"/>
          <p:cNvSpPr/>
          <p:nvPr/>
        </p:nvSpPr>
        <p:spPr>
          <a:xfrm>
            <a:off x="5796280" y="3748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2"/>
          <p:cNvSpPr txBox="1"/>
          <p:nvPr/>
        </p:nvSpPr>
        <p:spPr>
          <a:xfrm>
            <a:off x="5739740" y="3728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3" name="rect-063"/>
          <p:cNvSpPr/>
          <p:nvPr/>
        </p:nvSpPr>
        <p:spPr>
          <a:xfrm>
            <a:off x="9743440" y="3748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3"/>
          <p:cNvSpPr txBox="1"/>
          <p:nvPr/>
        </p:nvSpPr>
        <p:spPr>
          <a:xfrm>
            <a:off x="9686900" y="3728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5" name="rect-065"/>
          <p:cNvSpPr/>
          <p:nvPr/>
        </p:nvSpPr>
        <p:spPr>
          <a:xfrm>
            <a:off x="9850120" y="61305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4"/>
          <p:cNvSpPr txBox="1"/>
          <p:nvPr/>
        </p:nvSpPr>
        <p:spPr>
          <a:xfrm>
            <a:off x="9793580" y="61109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7" name="rect-067"/>
          <p:cNvSpPr/>
          <p:nvPr/>
        </p:nvSpPr>
        <p:spPr>
          <a:xfrm>
            <a:off x="4117848" y="48077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5"/>
          <p:cNvSpPr txBox="1"/>
          <p:nvPr/>
        </p:nvSpPr>
        <p:spPr>
          <a:xfrm>
            <a:off x="4061308" y="47880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9" name="rect-069"/>
          <p:cNvSpPr/>
          <p:nvPr/>
        </p:nvSpPr>
        <p:spPr>
          <a:xfrm>
            <a:off x="7005320" y="47437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6"/>
          <p:cNvSpPr txBox="1"/>
          <p:nvPr/>
        </p:nvSpPr>
        <p:spPr>
          <a:xfrm>
            <a:off x="6948780" y="47240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71" name="rect-071"/>
          <p:cNvSpPr/>
          <p:nvPr/>
        </p:nvSpPr>
        <p:spPr>
          <a:xfrm>
            <a:off x="6649720" y="62016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7"/>
          <p:cNvSpPr txBox="1"/>
          <p:nvPr/>
        </p:nvSpPr>
        <p:spPr>
          <a:xfrm>
            <a:off x="6593180" y="61820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3" name="rect-073"/>
          <p:cNvSpPr/>
          <p:nvPr/>
        </p:nvSpPr>
        <p:spPr>
          <a:xfrm>
            <a:off x="6560820" y="4757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8"/>
          <p:cNvSpPr txBox="1"/>
          <p:nvPr/>
        </p:nvSpPr>
        <p:spPr>
          <a:xfrm>
            <a:off x="6504280" y="4738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5" name="rect-075"/>
          <p:cNvSpPr/>
          <p:nvPr/>
        </p:nvSpPr>
        <p:spPr>
          <a:xfrm>
            <a:off x="1724660" y="59883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9"/>
          <p:cNvSpPr txBox="1"/>
          <p:nvPr/>
        </p:nvSpPr>
        <p:spPr>
          <a:xfrm>
            <a:off x="1668120" y="59686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7" name="text-077: E 编号对应图下连接表；总线双箭头合并请求/响应；单箭头含义以表为准。"/>
          <p:cNvSpPr txBox="1"/>
          <p:nvPr/>
        </p:nvSpPr>
        <p:spPr>
          <a:xfrm>
            <a:off x="284480" y="815205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8" name="text-078: 虚线连线表示控制/事件；虚线模块表示规划。交叉无圆点不连接。C：连续走线。"/>
          <p:cNvSpPr txBox="1"/>
          <p:nvPr/>
        </p:nvSpPr>
        <p:spPr>
          <a:xfrm>
            <a:off x="284480" y="835119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1  UART：寄存器访问与独立收发通路"/>
          <p:cNvSpPr txBox="1"/>
          <p:nvPr/>
        </p:nvSpPr>
        <p:spPr>
          <a:xfrm>
            <a:off x="284480" y="1347297"/>
            <a:ext cx="4369613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01  UART：寄存器访问与独立收发通路</a:t>
            </a:r>
          </a:p>
        </p:txBody>
      </p:sp>
      <p:sp>
        <p:nvSpPr>
          <p:cNvPr id="3" name="text-003: apb_uart 内部展开：CLK = clk_i；收发节拍由波特率计数器产生"/>
          <p:cNvSpPr txBox="1"/>
          <p:nvPr/>
        </p:nvSpPr>
        <p:spPr>
          <a:xfrm>
            <a:off x="2951480" y="2063618"/>
            <a:ext cx="53980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apb_uart 内部展开：CLK = clk_i；收发节拍由波特率计数器产生</a:t>
            </a:r>
          </a:p>
        </p:txBody>
      </p:sp>
      <p:sp>
        <p:nvSpPr>
          <p:cNvPr id="4" name="rect-004"/>
          <p:cNvSpPr/>
          <p:nvPr/>
        </p:nvSpPr>
        <p:spPr>
          <a:xfrm>
            <a:off x="284480" y="3804920"/>
            <a:ext cx="2026920" cy="960120"/>
          </a:xfrm>
          <a:prstGeom prst="roundRect">
            <a:avLst>
              <a:gd name="adj" fmla="val 592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305816" y="3826256"/>
            <a:ext cx="1984248" cy="359156"/>
          </a:xfrm>
          <a:prstGeom prst="roundRect">
            <a:avLst>
              <a:gd name="adj" fmla="val 9900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1  reg_uart_wrap"/>
          <p:cNvSpPr txBox="1"/>
          <p:nvPr/>
        </p:nvSpPr>
        <p:spPr>
          <a:xfrm>
            <a:off x="325018" y="3929949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reg_uart_wrap</a:t>
            </a:r>
          </a:p>
        </p:txBody>
      </p:sp>
      <p:sp>
        <p:nvSpPr>
          <p:cNvPr id="7" name="text-007: reg_to_apb"/>
          <p:cNvSpPr txBox="1"/>
          <p:nvPr/>
        </p:nvSpPr>
        <p:spPr>
          <a:xfrm>
            <a:off x="711200" y="4172895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reg_to_apb</a:t>
            </a:r>
          </a:p>
        </p:txBody>
      </p:sp>
      <p:sp>
        <p:nvSpPr>
          <p:cNvPr id="8" name="text-008: Regbus 32 → APB 32"/>
          <p:cNvSpPr txBox="1"/>
          <p:nvPr/>
        </p:nvSpPr>
        <p:spPr>
          <a:xfrm>
            <a:off x="277012" y="4400479"/>
            <a:ext cx="20418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 → APB 32</a:t>
            </a:r>
          </a:p>
        </p:txBody>
      </p:sp>
      <p:sp>
        <p:nvSpPr>
          <p:cNvPr id="9" name="text-009: Regbus 请求 / 响应"/>
          <p:cNvSpPr txBox="1"/>
          <p:nvPr/>
        </p:nvSpPr>
        <p:spPr>
          <a:xfrm>
            <a:off x="320040" y="3336097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10" name="rect-010"/>
          <p:cNvSpPr/>
          <p:nvPr/>
        </p:nvSpPr>
        <p:spPr>
          <a:xfrm>
            <a:off x="3022600" y="3804920"/>
            <a:ext cx="2062480" cy="1102360"/>
          </a:xfrm>
          <a:prstGeom prst="roundRect">
            <a:avLst>
              <a:gd name="adj" fmla="val 5161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-011"/>
          <p:cNvSpPr/>
          <p:nvPr/>
        </p:nvSpPr>
        <p:spPr>
          <a:xfrm>
            <a:off x="3043936" y="3826256"/>
            <a:ext cx="2019808" cy="316484"/>
          </a:xfrm>
          <a:prstGeom prst="roundRect">
            <a:avLst>
              <a:gd name="adj" fmla="val 11235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2  APB 地址译码"/>
          <p:cNvSpPr txBox="1"/>
          <p:nvPr/>
        </p:nvSpPr>
        <p:spPr>
          <a:xfrm>
            <a:off x="3238805" y="3887277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APB 地址译码</a:t>
            </a:r>
          </a:p>
        </p:txBody>
      </p:sp>
      <p:sp>
        <p:nvSpPr>
          <p:cNvPr id="13" name="text-013: PADDR = addr[4:2]"/>
          <p:cNvSpPr txBox="1"/>
          <p:nvPr/>
        </p:nvSpPr>
        <p:spPr>
          <a:xfrm>
            <a:off x="3111144" y="4130223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PADDR = addr[4:2]</a:t>
            </a:r>
          </a:p>
        </p:txBody>
      </p:sp>
      <p:sp>
        <p:nvSpPr>
          <p:cNvPr id="14" name="text-014: DLAB / THR / RBR"/>
          <p:cNvSpPr txBox="1"/>
          <p:nvPr/>
        </p:nvSpPr>
        <p:spPr>
          <a:xfrm>
            <a:off x="3161995" y="4357807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DLAB / THR / RBR</a:t>
            </a:r>
          </a:p>
        </p:txBody>
      </p:sp>
      <p:sp>
        <p:nvSpPr>
          <p:cNvPr id="15" name="text-015: IER / IIR / LSR …"/>
          <p:cNvSpPr txBox="1"/>
          <p:nvPr/>
        </p:nvSpPr>
        <p:spPr>
          <a:xfrm>
            <a:off x="3083763" y="4585391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IER / IIR / LSR …</a:t>
            </a:r>
          </a:p>
        </p:txBody>
      </p:sp>
      <p:sp>
        <p:nvSpPr>
          <p:cNvPr id="16" name="E01"/>
          <p:cNvSpPr/>
          <p:nvPr/>
        </p:nvSpPr>
        <p:spPr>
          <a:xfrm>
            <a:off x="2311400" y="42672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5618480" y="2560320"/>
            <a:ext cx="2204720" cy="853440"/>
          </a:xfrm>
          <a:prstGeom prst="roundRect">
            <a:avLst>
              <a:gd name="adj" fmla="val 6666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8"/>
          <p:cNvSpPr/>
          <p:nvPr/>
        </p:nvSpPr>
        <p:spPr>
          <a:xfrm>
            <a:off x="5639816" y="2581656"/>
            <a:ext cx="2162048" cy="419608"/>
          </a:xfrm>
          <a:prstGeom prst="roundRect">
            <a:avLst>
              <a:gd name="adj" fmla="val 8474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3  baudgen + 节拍逻辑"/>
          <p:cNvSpPr txBox="1"/>
          <p:nvPr/>
        </p:nvSpPr>
        <p:spPr>
          <a:xfrm>
            <a:off x="5572963" y="2745801"/>
            <a:ext cx="22957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baudgen + 节拍逻辑</a:t>
            </a:r>
          </a:p>
        </p:txBody>
      </p:sp>
      <p:sp>
        <p:nvSpPr>
          <p:cNvPr id="20" name="text-020: DLL / DLM → baud ticks"/>
          <p:cNvSpPr txBox="1"/>
          <p:nvPr/>
        </p:nvSpPr>
        <p:spPr>
          <a:xfrm>
            <a:off x="5496509" y="2988747"/>
            <a:ext cx="24486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DLL / DLM → baud ticks</a:t>
            </a:r>
          </a:p>
        </p:txBody>
      </p:sp>
      <p:sp>
        <p:nvSpPr>
          <p:cNvPr id="21" name="E02"/>
          <p:cNvSpPr/>
          <p:nvPr/>
        </p:nvSpPr>
        <p:spPr>
          <a:xfrm>
            <a:off x="4053840" y="2987040"/>
            <a:ext cx="1564640" cy="817880"/>
          </a:xfrm>
          <a:custGeom>
            <a:avLst/>
            <a:gdLst/>
            <a:ahLst/>
            <a:cxnLst/>
            <a:rect l="0" t="0" r="r" b="b"/>
            <a:pathLst>
              <a:path w="1564640" h="817880" fill="none">
                <a:moveTo>
                  <a:pt x="0" y="817880"/>
                </a:moveTo>
                <a:lnTo>
                  <a:pt x="0" y="0"/>
                </a:lnTo>
                <a:lnTo>
                  <a:pt x="156464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2"/>
          <p:cNvSpPr/>
          <p:nvPr/>
        </p:nvSpPr>
        <p:spPr>
          <a:xfrm>
            <a:off x="5618480" y="4018280"/>
            <a:ext cx="1920240" cy="853440"/>
          </a:xfrm>
          <a:prstGeom prst="roundRect">
            <a:avLst>
              <a:gd name="adj" fmla="val 6666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3"/>
          <p:cNvSpPr/>
          <p:nvPr/>
        </p:nvSpPr>
        <p:spPr>
          <a:xfrm>
            <a:off x="5639816" y="4039616"/>
            <a:ext cx="1877568" cy="419608"/>
          </a:xfrm>
          <a:prstGeom prst="roundRect">
            <a:avLst>
              <a:gd name="adj" fmla="val 8474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4"/>
          <p:cNvSpPr/>
          <p:nvPr/>
        </p:nvSpPr>
        <p:spPr>
          <a:xfrm>
            <a:off x="5703824" y="40182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4  TX FIFO"/>
          <p:cNvSpPr txBox="1"/>
          <p:nvPr/>
        </p:nvSpPr>
        <p:spPr>
          <a:xfrm>
            <a:off x="5938520" y="4203761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TX FIFO</a:t>
            </a:r>
          </a:p>
        </p:txBody>
      </p:sp>
      <p:sp>
        <p:nvSpPr>
          <p:cNvPr id="26" name="text-026: slib_fifo：字节队列"/>
          <p:cNvSpPr txBox="1"/>
          <p:nvPr/>
        </p:nvSpPr>
        <p:spPr>
          <a:xfrm>
            <a:off x="5651551" y="4446707"/>
            <a:ext cx="18540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slib_fifo：字节队列</a:t>
            </a:r>
          </a:p>
        </p:txBody>
      </p:sp>
      <p:sp>
        <p:nvSpPr>
          <p:cNvPr id="27" name="rect-027"/>
          <p:cNvSpPr/>
          <p:nvPr/>
        </p:nvSpPr>
        <p:spPr>
          <a:xfrm>
            <a:off x="8392160" y="4018280"/>
            <a:ext cx="2346960" cy="853440"/>
          </a:xfrm>
          <a:prstGeom prst="roundRect">
            <a:avLst>
              <a:gd name="adj" fmla="val 6666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8"/>
          <p:cNvSpPr/>
          <p:nvPr/>
        </p:nvSpPr>
        <p:spPr>
          <a:xfrm>
            <a:off x="8413496" y="4039616"/>
            <a:ext cx="2304288" cy="305816"/>
          </a:xfrm>
          <a:prstGeom prst="roundRect">
            <a:avLst>
              <a:gd name="adj" fmla="val 11627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5  TX 保持 / 发送逻辑"/>
          <p:cNvSpPr txBox="1"/>
          <p:nvPr/>
        </p:nvSpPr>
        <p:spPr>
          <a:xfrm>
            <a:off x="8468970" y="4089969"/>
            <a:ext cx="21933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TX 保持 / 发送逻辑</a:t>
            </a:r>
          </a:p>
        </p:txBody>
      </p:sp>
      <p:sp>
        <p:nvSpPr>
          <p:cNvPr id="30" name="text-030: iTSR + uart_transmitter"/>
          <p:cNvSpPr txBox="1"/>
          <p:nvPr/>
        </p:nvSpPr>
        <p:spPr>
          <a:xfrm>
            <a:off x="8317840" y="4332915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iTSR + uart_transmitter</a:t>
            </a:r>
          </a:p>
        </p:txBody>
      </p:sp>
      <p:sp>
        <p:nvSpPr>
          <p:cNvPr id="31" name="text-031: 起始 / 数据 / 校验 / 停止"/>
          <p:cNvSpPr txBox="1"/>
          <p:nvPr/>
        </p:nvSpPr>
        <p:spPr>
          <a:xfrm>
            <a:off x="8403895" y="4560499"/>
            <a:ext cx="23234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起始 / 数据 / 校验 / 停止</a:t>
            </a:r>
          </a:p>
        </p:txBody>
      </p:sp>
      <p:sp>
        <p:nvSpPr>
          <p:cNvPr id="32" name="E03"/>
          <p:cNvSpPr/>
          <p:nvPr/>
        </p:nvSpPr>
        <p:spPr>
          <a:xfrm>
            <a:off x="5085080" y="4445000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04"/>
          <p:cNvSpPr/>
          <p:nvPr/>
        </p:nvSpPr>
        <p:spPr>
          <a:xfrm>
            <a:off x="7538720" y="44450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5"/>
          <p:cNvSpPr/>
          <p:nvPr/>
        </p:nvSpPr>
        <p:spPr>
          <a:xfrm>
            <a:off x="10739120" y="444500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0" y="0"/>
                </a:moveTo>
                <a:lnTo>
                  <a:pt x="156464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TX → 引脚"/>
          <p:cNvSpPr txBox="1"/>
          <p:nvPr/>
        </p:nvSpPr>
        <p:spPr>
          <a:xfrm>
            <a:off x="11165840" y="4083426"/>
            <a:ext cx="10796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→ 引脚</a:t>
            </a:r>
          </a:p>
        </p:txBody>
      </p:sp>
      <p:sp>
        <p:nvSpPr>
          <p:cNvPr id="36" name="rect-036"/>
          <p:cNvSpPr/>
          <p:nvPr/>
        </p:nvSpPr>
        <p:spPr>
          <a:xfrm>
            <a:off x="5618480" y="5867400"/>
            <a:ext cx="1920240" cy="853440"/>
          </a:xfrm>
          <a:prstGeom prst="roundRect">
            <a:avLst>
              <a:gd name="adj" fmla="val 6666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7"/>
          <p:cNvSpPr/>
          <p:nvPr/>
        </p:nvSpPr>
        <p:spPr>
          <a:xfrm>
            <a:off x="5639816" y="5888736"/>
            <a:ext cx="1877568" cy="419608"/>
          </a:xfrm>
          <a:prstGeom prst="roundRect">
            <a:avLst>
              <a:gd name="adj" fmla="val 8474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line-038"/>
          <p:cNvSpPr/>
          <p:nvPr/>
        </p:nvSpPr>
        <p:spPr>
          <a:xfrm>
            <a:off x="5703824" y="586740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7  RX FIFO"/>
          <p:cNvSpPr txBox="1"/>
          <p:nvPr/>
        </p:nvSpPr>
        <p:spPr>
          <a:xfrm>
            <a:off x="5938520" y="6052881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7  RX FIFO</a:t>
            </a:r>
          </a:p>
        </p:txBody>
      </p:sp>
      <p:sp>
        <p:nvSpPr>
          <p:cNvPr id="40" name="text-040: 字节 + 接收错误位"/>
          <p:cNvSpPr txBox="1"/>
          <p:nvPr/>
        </p:nvSpPr>
        <p:spPr>
          <a:xfrm>
            <a:off x="5800192" y="6295827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 + 接收错误位</a:t>
            </a:r>
          </a:p>
        </p:txBody>
      </p:sp>
      <p:sp>
        <p:nvSpPr>
          <p:cNvPr id="41" name="rect-041"/>
          <p:cNvSpPr/>
          <p:nvPr/>
        </p:nvSpPr>
        <p:spPr>
          <a:xfrm>
            <a:off x="8392160" y="5867400"/>
            <a:ext cx="2346960" cy="853440"/>
          </a:xfrm>
          <a:prstGeom prst="roundRect">
            <a:avLst>
              <a:gd name="adj" fmla="val 6666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2"/>
          <p:cNvSpPr/>
          <p:nvPr/>
        </p:nvSpPr>
        <p:spPr>
          <a:xfrm>
            <a:off x="8413496" y="5888736"/>
            <a:ext cx="2304288" cy="419608"/>
          </a:xfrm>
          <a:prstGeom prst="roundRect">
            <a:avLst>
              <a:gd name="adj" fmla="val 8474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6  uart_receiver"/>
          <p:cNvSpPr txBox="1"/>
          <p:nvPr/>
        </p:nvSpPr>
        <p:spPr>
          <a:xfrm>
            <a:off x="8592718" y="6052881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6  uart_receiver</a:t>
            </a:r>
          </a:p>
        </p:txBody>
      </p:sp>
      <p:sp>
        <p:nvSpPr>
          <p:cNvPr id="44" name="text-044: 采样 / 组字节 / 校验"/>
          <p:cNvSpPr txBox="1"/>
          <p:nvPr/>
        </p:nvSpPr>
        <p:spPr>
          <a:xfrm>
            <a:off x="8634679" y="6295827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 / 组字节 / 校验</a:t>
            </a:r>
          </a:p>
        </p:txBody>
      </p:sp>
      <p:sp>
        <p:nvSpPr>
          <p:cNvPr id="45" name="E06"/>
          <p:cNvSpPr/>
          <p:nvPr/>
        </p:nvSpPr>
        <p:spPr>
          <a:xfrm>
            <a:off x="10739120" y="629412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156464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RX ← 引脚"/>
          <p:cNvSpPr txBox="1"/>
          <p:nvPr/>
        </p:nvSpPr>
        <p:spPr>
          <a:xfrm>
            <a:off x="11165840" y="5932546"/>
            <a:ext cx="10796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RX ← 引脚</a:t>
            </a:r>
          </a:p>
        </p:txBody>
      </p:sp>
      <p:sp>
        <p:nvSpPr>
          <p:cNvPr id="47" name="E07"/>
          <p:cNvSpPr/>
          <p:nvPr/>
        </p:nvSpPr>
        <p:spPr>
          <a:xfrm>
            <a:off x="7538720" y="629412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8"/>
          <p:cNvSpPr/>
          <p:nvPr/>
        </p:nvSpPr>
        <p:spPr>
          <a:xfrm>
            <a:off x="4089400" y="4907280"/>
            <a:ext cx="1529080" cy="1386840"/>
          </a:xfrm>
          <a:custGeom>
            <a:avLst/>
            <a:gdLst/>
            <a:ahLst/>
            <a:cxnLst/>
            <a:rect l="0" t="0" r="r" b="b"/>
            <a:pathLst>
              <a:path w="1529080" h="1386840" fill="none">
                <a:moveTo>
                  <a:pt x="1529080" y="1386840"/>
                </a:moveTo>
                <a:lnTo>
                  <a:pt x="0" y="138684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RBR 读出队头"/>
          <p:cNvSpPr txBox="1"/>
          <p:nvPr/>
        </p:nvSpPr>
        <p:spPr>
          <a:xfrm>
            <a:off x="4238752" y="5541955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RBR 读出队头</a:t>
            </a:r>
          </a:p>
        </p:txBody>
      </p:sp>
      <p:sp>
        <p:nvSpPr>
          <p:cNvPr id="50" name="E09"/>
          <p:cNvSpPr/>
          <p:nvPr/>
        </p:nvSpPr>
        <p:spPr>
          <a:xfrm>
            <a:off x="7823200" y="2987040"/>
            <a:ext cx="1778000" cy="1031240"/>
          </a:xfrm>
          <a:custGeom>
            <a:avLst/>
            <a:gdLst/>
            <a:ahLst/>
            <a:cxnLst/>
            <a:rect l="0" t="0" r="r" b="b"/>
            <a:pathLst>
              <a:path w="1778000" h="1031240" fill="none">
                <a:moveTo>
                  <a:pt x="0" y="0"/>
                </a:moveTo>
                <a:lnTo>
                  <a:pt x="1778000" y="0"/>
                </a:lnTo>
                <a:lnTo>
                  <a:pt x="1778000" y="103124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E10"/>
          <p:cNvSpPr/>
          <p:nvPr/>
        </p:nvSpPr>
        <p:spPr>
          <a:xfrm>
            <a:off x="9601200" y="2987040"/>
            <a:ext cx="2844800" cy="2880360"/>
          </a:xfrm>
          <a:custGeom>
            <a:avLst/>
            <a:gdLst/>
            <a:ahLst/>
            <a:cxnLst/>
            <a:rect l="0" t="0" r="r" b="b"/>
            <a:pathLst>
              <a:path w="2844800" h="2880360" fill="none">
                <a:moveTo>
                  <a:pt x="0" y="0"/>
                </a:moveTo>
                <a:lnTo>
                  <a:pt x="2844800" y="0"/>
                </a:lnTo>
                <a:lnTo>
                  <a:pt x="2844800" y="2489200"/>
                </a:lnTo>
                <a:lnTo>
                  <a:pt x="0" y="2489200"/>
                </a:lnTo>
                <a:lnTo>
                  <a:pt x="0" y="288036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circle-052"/>
          <p:cNvSpPr/>
          <p:nvPr/>
        </p:nvSpPr>
        <p:spPr>
          <a:xfrm>
            <a:off x="9572752" y="2958592"/>
            <a:ext cx="56896" cy="56896"/>
          </a:xfrm>
          <a:prstGeom prst="ellipse">
            <a:avLst/>
          </a:pr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3"/>
          <p:cNvSpPr/>
          <p:nvPr/>
        </p:nvSpPr>
        <p:spPr>
          <a:xfrm>
            <a:off x="284480" y="6116320"/>
            <a:ext cx="2026920" cy="817880"/>
          </a:xfrm>
          <a:prstGeom prst="roundRect">
            <a:avLst>
              <a:gd name="adj" fmla="val 6956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54"/>
          <p:cNvSpPr/>
          <p:nvPr/>
        </p:nvSpPr>
        <p:spPr>
          <a:xfrm>
            <a:off x="305816" y="6137656"/>
            <a:ext cx="1984248" cy="401828"/>
          </a:xfrm>
          <a:prstGeom prst="roundRect">
            <a:avLst>
              <a:gd name="adj" fmla="val 8849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8  uart_interrupt"/>
          <p:cNvSpPr txBox="1"/>
          <p:nvPr/>
        </p:nvSpPr>
        <p:spPr>
          <a:xfrm>
            <a:off x="269545" y="6284021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8  uart_interrupt</a:t>
            </a:r>
          </a:p>
        </p:txBody>
      </p:sp>
      <p:sp>
        <p:nvSpPr>
          <p:cNvPr id="56" name="text-056: 状态 / IER → INT"/>
          <p:cNvSpPr txBox="1"/>
          <p:nvPr/>
        </p:nvSpPr>
        <p:spPr>
          <a:xfrm>
            <a:off x="425653" y="6526967"/>
            <a:ext cx="17445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 / IER → INT</a:t>
            </a:r>
          </a:p>
        </p:txBody>
      </p:sp>
      <p:sp>
        <p:nvSpPr>
          <p:cNvPr id="57" name="E11"/>
          <p:cNvSpPr/>
          <p:nvPr/>
        </p:nvSpPr>
        <p:spPr>
          <a:xfrm>
            <a:off x="1294384" y="6720840"/>
            <a:ext cx="4324096" cy="462280"/>
          </a:xfrm>
          <a:custGeom>
            <a:avLst/>
            <a:gdLst/>
            <a:ahLst/>
            <a:cxnLst/>
            <a:rect l="0" t="0" r="r" b="b"/>
            <a:pathLst>
              <a:path w="4324096" h="462280" fill="none">
                <a:moveTo>
                  <a:pt x="4324096" y="0"/>
                </a:moveTo>
                <a:lnTo>
                  <a:pt x="4324096" y="462280"/>
                </a:lnTo>
                <a:lnTo>
                  <a:pt x="0" y="462280"/>
                </a:lnTo>
                <a:lnTo>
                  <a:pt x="0" y="21336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RX / 线路事件；TX 另有输入"/>
          <p:cNvSpPr txBox="1"/>
          <p:nvPr/>
        </p:nvSpPr>
        <p:spPr>
          <a:xfrm>
            <a:off x="2595880" y="6900347"/>
            <a:ext cx="23782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RX / 线路事件；TX 另有输入</a:t>
            </a:r>
          </a:p>
        </p:txBody>
      </p:sp>
      <p:sp>
        <p:nvSpPr>
          <p:cNvPr id="59" name="E12"/>
          <p:cNvSpPr/>
          <p:nvPr/>
        </p:nvSpPr>
        <p:spPr>
          <a:xfrm>
            <a:off x="2311400" y="4729480"/>
            <a:ext cx="711200" cy="1778000"/>
          </a:xfrm>
          <a:custGeom>
            <a:avLst/>
            <a:gdLst/>
            <a:ahLst/>
            <a:cxnLst/>
            <a:rect l="0" t="0" r="r" b="b"/>
            <a:pathLst>
              <a:path w="711200" h="1778000" fill="none">
                <a:moveTo>
                  <a:pt x="711200" y="0"/>
                </a:moveTo>
                <a:lnTo>
                  <a:pt x="320040" y="0"/>
                </a:lnTo>
                <a:lnTo>
                  <a:pt x="320040" y="1778000"/>
                </a:lnTo>
                <a:lnTo>
                  <a:pt x="0" y="177800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E13"/>
          <p:cNvSpPr/>
          <p:nvPr/>
        </p:nvSpPr>
        <p:spPr>
          <a:xfrm>
            <a:off x="1294384" y="536956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IRQ → SoC 中断源"/>
          <p:cNvSpPr txBox="1"/>
          <p:nvPr/>
        </p:nvSpPr>
        <p:spPr>
          <a:xfrm>
            <a:off x="320040" y="5029891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IRQ → SoC 中断源</a:t>
            </a:r>
          </a:p>
        </p:txBody>
      </p:sp>
      <p:sp>
        <p:nvSpPr>
          <p:cNvPr id="62" name="E14"/>
          <p:cNvSpPr/>
          <p:nvPr/>
        </p:nvSpPr>
        <p:spPr>
          <a:xfrm>
            <a:off x="1294384" y="4871720"/>
            <a:ext cx="5284216" cy="2524760"/>
          </a:xfrm>
          <a:custGeom>
            <a:avLst/>
            <a:gdLst/>
            <a:ahLst/>
            <a:cxnLst/>
            <a:rect l="0" t="0" r="r" b="b"/>
            <a:pathLst>
              <a:path w="5284216" h="2524760" fill="none">
                <a:moveTo>
                  <a:pt x="5284216" y="0"/>
                </a:moveTo>
                <a:lnTo>
                  <a:pt x="5284216" y="284480"/>
                </a:lnTo>
                <a:lnTo>
                  <a:pt x="1159256" y="284480"/>
                </a:lnTo>
                <a:lnTo>
                  <a:pt x="1159256" y="2524760"/>
                </a:lnTo>
                <a:lnTo>
                  <a:pt x="0" y="2524760"/>
                </a:lnTo>
                <a:lnTo>
                  <a:pt x="0" y="206248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3"/>
          <p:cNvSpPr/>
          <p:nvPr/>
        </p:nvSpPr>
        <p:spPr>
          <a:xfrm>
            <a:off x="2489200" y="4046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1"/>
          <p:cNvSpPr txBox="1"/>
          <p:nvPr/>
        </p:nvSpPr>
        <p:spPr>
          <a:xfrm>
            <a:off x="2432660" y="4027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65" name="rect-065"/>
          <p:cNvSpPr/>
          <p:nvPr/>
        </p:nvSpPr>
        <p:spPr>
          <a:xfrm>
            <a:off x="465836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2"/>
          <p:cNvSpPr txBox="1"/>
          <p:nvPr/>
        </p:nvSpPr>
        <p:spPr>
          <a:xfrm>
            <a:off x="460182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7" name="rect-067"/>
          <p:cNvSpPr/>
          <p:nvPr/>
        </p:nvSpPr>
        <p:spPr>
          <a:xfrm>
            <a:off x="5173980" y="42245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3"/>
          <p:cNvSpPr txBox="1"/>
          <p:nvPr/>
        </p:nvSpPr>
        <p:spPr>
          <a:xfrm>
            <a:off x="5117440" y="42048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9" name="rect-069"/>
          <p:cNvSpPr/>
          <p:nvPr/>
        </p:nvSpPr>
        <p:spPr>
          <a:xfrm>
            <a:off x="7787640" y="42245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4"/>
          <p:cNvSpPr txBox="1"/>
          <p:nvPr/>
        </p:nvSpPr>
        <p:spPr>
          <a:xfrm>
            <a:off x="7731100" y="42048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71" name="rect-071"/>
          <p:cNvSpPr/>
          <p:nvPr/>
        </p:nvSpPr>
        <p:spPr>
          <a:xfrm>
            <a:off x="11343640" y="44947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5"/>
          <p:cNvSpPr txBox="1"/>
          <p:nvPr/>
        </p:nvSpPr>
        <p:spPr>
          <a:xfrm>
            <a:off x="11287100" y="44751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73" name="rect-073"/>
          <p:cNvSpPr/>
          <p:nvPr/>
        </p:nvSpPr>
        <p:spPr>
          <a:xfrm>
            <a:off x="11343640" y="63439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6"/>
          <p:cNvSpPr txBox="1"/>
          <p:nvPr/>
        </p:nvSpPr>
        <p:spPr>
          <a:xfrm>
            <a:off x="11287100" y="63242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75" name="rect-075"/>
          <p:cNvSpPr/>
          <p:nvPr/>
        </p:nvSpPr>
        <p:spPr>
          <a:xfrm>
            <a:off x="778764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7"/>
          <p:cNvSpPr txBox="1"/>
          <p:nvPr/>
        </p:nvSpPr>
        <p:spPr>
          <a:xfrm>
            <a:off x="773110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7" name="rect-077"/>
          <p:cNvSpPr/>
          <p:nvPr/>
        </p:nvSpPr>
        <p:spPr>
          <a:xfrm>
            <a:off x="467614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08"/>
          <p:cNvSpPr txBox="1"/>
          <p:nvPr/>
        </p:nvSpPr>
        <p:spPr>
          <a:xfrm>
            <a:off x="461960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9" name="rect-079"/>
          <p:cNvSpPr/>
          <p:nvPr/>
        </p:nvSpPr>
        <p:spPr>
          <a:xfrm>
            <a:off x="85344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9"/>
          <p:cNvSpPr txBox="1"/>
          <p:nvPr/>
        </p:nvSpPr>
        <p:spPr>
          <a:xfrm>
            <a:off x="84778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81" name="rect-081"/>
          <p:cNvSpPr/>
          <p:nvPr/>
        </p:nvSpPr>
        <p:spPr>
          <a:xfrm>
            <a:off x="108458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10"/>
          <p:cNvSpPr txBox="1"/>
          <p:nvPr/>
        </p:nvSpPr>
        <p:spPr>
          <a:xfrm>
            <a:off x="107892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83" name="rect-083"/>
          <p:cNvSpPr/>
          <p:nvPr/>
        </p:nvSpPr>
        <p:spPr>
          <a:xfrm>
            <a:off x="3278632" y="72329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E11"/>
          <p:cNvSpPr txBox="1"/>
          <p:nvPr/>
        </p:nvSpPr>
        <p:spPr>
          <a:xfrm>
            <a:off x="3222092" y="72132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85" name="rect-085"/>
          <p:cNvSpPr/>
          <p:nvPr/>
        </p:nvSpPr>
        <p:spPr>
          <a:xfrm>
            <a:off x="2695448" y="55189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E12"/>
          <p:cNvSpPr txBox="1"/>
          <p:nvPr/>
        </p:nvSpPr>
        <p:spPr>
          <a:xfrm>
            <a:off x="2638908" y="54992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87" name="rect-087"/>
          <p:cNvSpPr/>
          <p:nvPr/>
        </p:nvSpPr>
        <p:spPr>
          <a:xfrm>
            <a:off x="1358392" y="56433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E13"/>
          <p:cNvSpPr txBox="1"/>
          <p:nvPr/>
        </p:nvSpPr>
        <p:spPr>
          <a:xfrm>
            <a:off x="1301852" y="56237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E13</a:t>
            </a:r>
          </a:p>
        </p:txBody>
      </p:sp>
      <p:sp>
        <p:nvSpPr>
          <p:cNvPr id="89" name="rect-089"/>
          <p:cNvSpPr/>
          <p:nvPr/>
        </p:nvSpPr>
        <p:spPr>
          <a:xfrm>
            <a:off x="4338320" y="4935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E14"/>
          <p:cNvSpPr txBox="1"/>
          <p:nvPr/>
        </p:nvSpPr>
        <p:spPr>
          <a:xfrm>
            <a:off x="4281780" y="4916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E14</a:t>
            </a:r>
          </a:p>
        </p:txBody>
      </p:sp>
      <p:sp>
        <p:nvSpPr>
          <p:cNvPr id="91" name="text-091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92" name="text-092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2  I²C：命令 FIFO 驱动总线时序，接收 FIFO 返回字节"/>
          <p:cNvSpPr txBox="1"/>
          <p:nvPr/>
        </p:nvSpPr>
        <p:spPr>
          <a:xfrm>
            <a:off x="284480" y="1347297"/>
            <a:ext cx="667959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02  I²C：命令 FIFO 驱动总线时序，接收 FIFO 返回字节</a:t>
            </a:r>
          </a:p>
        </p:txBody>
      </p:sp>
      <p:sp>
        <p:nvSpPr>
          <p:cNvPr id="3" name="rect-003"/>
          <p:cNvSpPr/>
          <p:nvPr/>
        </p:nvSpPr>
        <p:spPr>
          <a:xfrm>
            <a:off x="2631440" y="2169160"/>
            <a:ext cx="9885680" cy="5298440"/>
          </a:xfrm>
          <a:prstGeom prst="roundRect">
            <a:avLst>
              <a:gd name="adj" fmla="val 1610"/>
            </a:avLst>
          </a:prstGeom>
          <a:solidFill>
            <a:srgbClr val="F8FAFD"/>
          </a:solidFill>
          <a:ln w="12090" cap="flat">
            <a:solidFill>
              <a:srgbClr val="A6B5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i2c_core：Host 与 Target 使用不同队列；当前整合使用 clk"/>
          <p:cNvSpPr txBox="1"/>
          <p:nvPr/>
        </p:nvSpPr>
        <p:spPr>
          <a:xfrm>
            <a:off x="2738120" y="2205858"/>
            <a:ext cx="548797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i2c_core：Host 与 Target 使用不同队列；当前整合使用 clk_i</a:t>
            </a:r>
          </a:p>
        </p:txBody>
      </p:sp>
      <p:sp>
        <p:nvSpPr>
          <p:cNvPr id="5" name="rect-005"/>
          <p:cNvSpPr/>
          <p:nvPr/>
        </p:nvSpPr>
        <p:spPr>
          <a:xfrm>
            <a:off x="284480" y="2524760"/>
            <a:ext cx="1955800" cy="1066800"/>
          </a:xfrm>
          <a:prstGeom prst="roundRect">
            <a:avLst>
              <a:gd name="adj" fmla="val 5333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305816" y="2546096"/>
            <a:ext cx="1913128" cy="298704"/>
          </a:xfrm>
          <a:prstGeom prst="roundRect">
            <a:avLst>
              <a:gd name="adj" fmla="val 11904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1  i2c_reg_top"/>
          <p:cNvSpPr txBox="1"/>
          <p:nvPr/>
        </p:nvSpPr>
        <p:spPr>
          <a:xfrm>
            <a:off x="400406" y="2589337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i2c_reg_top</a:t>
            </a:r>
          </a:p>
        </p:txBody>
      </p:sp>
      <p:sp>
        <p:nvSpPr>
          <p:cNvPr id="8" name="text-008: CONTROL / TIMING"/>
          <p:cNvSpPr txBox="1"/>
          <p:nvPr/>
        </p:nvSpPr>
        <p:spPr>
          <a:xfrm>
            <a:off x="370535" y="283228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TIMING</a:t>
            </a:r>
          </a:p>
        </p:txBody>
      </p:sp>
      <p:sp>
        <p:nvSpPr>
          <p:cNvPr id="9" name="text-009: FDATA / RDATA"/>
          <p:cNvSpPr txBox="1"/>
          <p:nvPr/>
        </p:nvSpPr>
        <p:spPr>
          <a:xfrm>
            <a:off x="523088" y="305986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FDATA / RDATA</a:t>
            </a:r>
          </a:p>
        </p:txBody>
      </p:sp>
      <p:sp>
        <p:nvSpPr>
          <p:cNvPr id="10" name="text-010: INTR_STATE / ENABLE"/>
          <p:cNvSpPr txBox="1"/>
          <p:nvPr/>
        </p:nvSpPr>
        <p:spPr>
          <a:xfrm>
            <a:off x="217983" y="3287451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INTR_STATE / ENABLE</a:t>
            </a:r>
          </a:p>
        </p:txBody>
      </p:sp>
      <p:sp>
        <p:nvSpPr>
          <p:cNvPr id="11" name="text-011: Regbus 32"/>
          <p:cNvSpPr txBox="1"/>
          <p:nvPr/>
        </p:nvSpPr>
        <p:spPr>
          <a:xfrm>
            <a:off x="284480" y="205593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2" name="rect-012"/>
          <p:cNvSpPr/>
          <p:nvPr/>
        </p:nvSpPr>
        <p:spPr>
          <a:xfrm>
            <a:off x="2915920" y="2809240"/>
            <a:ext cx="2346960" cy="889000"/>
          </a:xfrm>
          <a:prstGeom prst="roundRect">
            <a:avLst>
              <a:gd name="adj" fmla="val 6400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2937256" y="2830576"/>
            <a:ext cx="2304288" cy="323596"/>
          </a:xfrm>
          <a:prstGeom prst="roundRect">
            <a:avLst>
              <a:gd name="adj" fmla="val 10989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4"/>
          <p:cNvSpPr/>
          <p:nvPr/>
        </p:nvSpPr>
        <p:spPr>
          <a:xfrm>
            <a:off x="3001264" y="2809240"/>
            <a:ext cx="1" cy="889000"/>
          </a:xfrm>
          <a:custGeom>
            <a:avLst/>
            <a:gdLst/>
            <a:ahLst/>
            <a:cxnLst/>
            <a:rect l="0" t="0" r="r" b="b"/>
            <a:pathLst>
              <a:path w="1" h="889000" fill="none">
                <a:moveTo>
                  <a:pt x="0" y="0"/>
                </a:moveTo>
                <a:lnTo>
                  <a:pt x="0" y="88900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2  Host FMT FIFO"/>
          <p:cNvSpPr txBox="1"/>
          <p:nvPr/>
        </p:nvSpPr>
        <p:spPr>
          <a:xfrm>
            <a:off x="3116478" y="2898709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Host FMT FIFO</a:t>
            </a:r>
          </a:p>
        </p:txBody>
      </p:sp>
      <p:sp>
        <p:nvSpPr>
          <p:cNvPr id="16" name="text-016: 8-bit 字节 + 5-bit 标志"/>
          <p:cNvSpPr txBox="1"/>
          <p:nvPr/>
        </p:nvSpPr>
        <p:spPr>
          <a:xfrm>
            <a:off x="2935478" y="3141655"/>
            <a:ext cx="230784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8-bit 字节 + 5-bit 标志</a:t>
            </a:r>
          </a:p>
        </p:txBody>
      </p:sp>
      <p:sp>
        <p:nvSpPr>
          <p:cNvPr id="17" name="text-017: START / STOP / READ …"/>
          <p:cNvSpPr txBox="1"/>
          <p:nvPr/>
        </p:nvSpPr>
        <p:spPr>
          <a:xfrm>
            <a:off x="2915920" y="3369239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 / STOP / READ …</a:t>
            </a:r>
          </a:p>
        </p:txBody>
      </p:sp>
      <p:sp>
        <p:nvSpPr>
          <p:cNvPr id="18" name="E01"/>
          <p:cNvSpPr/>
          <p:nvPr/>
        </p:nvSpPr>
        <p:spPr>
          <a:xfrm>
            <a:off x="2240280" y="2987040"/>
            <a:ext cx="675640" cy="1"/>
          </a:xfrm>
          <a:custGeom>
            <a:avLst/>
            <a:gdLst/>
            <a:ahLst/>
            <a:cxnLst/>
            <a:rect l="0" t="0" r="r" b="b"/>
            <a:pathLst>
              <a:path w="675640" h="1" fill="none">
                <a:moveTo>
                  <a:pt x="0" y="0"/>
                </a:moveTo>
                <a:lnTo>
                  <a:pt x="67564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9"/>
          <p:cNvSpPr/>
          <p:nvPr/>
        </p:nvSpPr>
        <p:spPr>
          <a:xfrm>
            <a:off x="2915920" y="4267200"/>
            <a:ext cx="2346960" cy="782320"/>
          </a:xfrm>
          <a:prstGeom prst="roundRect">
            <a:avLst>
              <a:gd name="adj" fmla="val 7272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0"/>
          <p:cNvSpPr/>
          <p:nvPr/>
        </p:nvSpPr>
        <p:spPr>
          <a:xfrm>
            <a:off x="2937256" y="4288536"/>
            <a:ext cx="2304288" cy="384048"/>
          </a:xfrm>
          <a:prstGeom prst="roundRect">
            <a:avLst>
              <a:gd name="adj" fmla="val 9259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line-021"/>
          <p:cNvSpPr/>
          <p:nvPr/>
        </p:nvSpPr>
        <p:spPr>
          <a:xfrm>
            <a:off x="3001264" y="4267200"/>
            <a:ext cx="1" cy="782320"/>
          </a:xfrm>
          <a:custGeom>
            <a:avLst/>
            <a:gdLst/>
            <a:ahLst/>
            <a:cxnLst/>
            <a:rect l="0" t="0" r="r" b="b"/>
            <a:pathLst>
              <a:path w="1" h="782320" fill="none">
                <a:moveTo>
                  <a:pt x="0" y="0"/>
                </a:moveTo>
                <a:lnTo>
                  <a:pt x="0" y="78232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4  Host RX FIFO"/>
          <p:cNvSpPr txBox="1"/>
          <p:nvPr/>
        </p:nvSpPr>
        <p:spPr>
          <a:xfrm>
            <a:off x="3171952" y="4417121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Host RX FIFO</a:t>
            </a:r>
          </a:p>
        </p:txBody>
      </p:sp>
      <p:sp>
        <p:nvSpPr>
          <p:cNvPr id="23" name="text-023: 接收字节 → RDATA"/>
          <p:cNvSpPr txBox="1"/>
          <p:nvPr/>
        </p:nvSpPr>
        <p:spPr>
          <a:xfrm>
            <a:off x="3264052" y="4660067"/>
            <a:ext cx="165069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RDATA</a:t>
            </a:r>
          </a:p>
        </p:txBody>
      </p:sp>
      <p:sp>
        <p:nvSpPr>
          <p:cNvPr id="24" name="rect-024"/>
          <p:cNvSpPr/>
          <p:nvPr/>
        </p:nvSpPr>
        <p:spPr>
          <a:xfrm>
            <a:off x="6258560" y="3164840"/>
            <a:ext cx="2489200" cy="1813560"/>
          </a:xfrm>
          <a:prstGeom prst="roundRect">
            <a:avLst>
              <a:gd name="adj" fmla="val 3137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5"/>
          <p:cNvSpPr/>
          <p:nvPr/>
        </p:nvSpPr>
        <p:spPr>
          <a:xfrm>
            <a:off x="6279896" y="3186176"/>
            <a:ext cx="2446528" cy="558292"/>
          </a:xfrm>
          <a:prstGeom prst="roundRect">
            <a:avLst>
              <a:gd name="adj" fmla="val 6369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3  i2c_fsm"/>
          <p:cNvSpPr txBox="1"/>
          <p:nvPr/>
        </p:nvSpPr>
        <p:spPr>
          <a:xfrm>
            <a:off x="6863080" y="3489005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i2c_fsm</a:t>
            </a:r>
          </a:p>
        </p:txBody>
      </p:sp>
      <p:sp>
        <p:nvSpPr>
          <p:cNvPr id="27" name="text-027: SCL / SDA 时序状态机"/>
          <p:cNvSpPr txBox="1"/>
          <p:nvPr/>
        </p:nvSpPr>
        <p:spPr>
          <a:xfrm>
            <a:off x="6525260" y="3731951"/>
            <a:ext cx="19558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SCL / SDA 时序状态机</a:t>
            </a:r>
          </a:p>
        </p:txBody>
      </p:sp>
      <p:sp>
        <p:nvSpPr>
          <p:cNvPr id="28" name="text-028: Host / Target 控制"/>
          <p:cNvSpPr txBox="1"/>
          <p:nvPr/>
        </p:nvSpPr>
        <p:spPr>
          <a:xfrm>
            <a:off x="6556553" y="3959535"/>
            <a:ext cx="189321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Host / Target 控制</a:t>
            </a:r>
          </a:p>
        </p:txBody>
      </p:sp>
      <p:sp>
        <p:nvSpPr>
          <p:cNvPr id="29" name="text-029: ACK / NAK / stretching"/>
          <p:cNvSpPr txBox="1"/>
          <p:nvPr/>
        </p:nvSpPr>
        <p:spPr>
          <a:xfrm>
            <a:off x="6306210" y="4187119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ACK / NAK / stretching</a:t>
            </a:r>
          </a:p>
        </p:txBody>
      </p:sp>
      <p:sp>
        <p:nvSpPr>
          <p:cNvPr id="30" name="text-030: 按 TIMING 寄存器计数"/>
          <p:cNvSpPr txBox="1"/>
          <p:nvPr/>
        </p:nvSpPr>
        <p:spPr>
          <a:xfrm>
            <a:off x="6548730" y="4414703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 TIMING 寄存器计数</a:t>
            </a:r>
          </a:p>
        </p:txBody>
      </p:sp>
      <p:sp>
        <p:nvSpPr>
          <p:cNvPr id="31" name="E02"/>
          <p:cNvSpPr/>
          <p:nvPr/>
        </p:nvSpPr>
        <p:spPr>
          <a:xfrm>
            <a:off x="5262880" y="3250184"/>
            <a:ext cx="995680" cy="341376"/>
          </a:xfrm>
          <a:custGeom>
            <a:avLst/>
            <a:gdLst/>
            <a:ahLst/>
            <a:cxnLst/>
            <a:rect l="0" t="0" r="r" b="b"/>
            <a:pathLst>
              <a:path w="995680" h="341376" fill="none">
                <a:moveTo>
                  <a:pt x="0" y="0"/>
                </a:moveTo>
                <a:lnTo>
                  <a:pt x="426720" y="0"/>
                </a:lnTo>
                <a:lnTo>
                  <a:pt x="426720" y="341376"/>
                </a:lnTo>
                <a:lnTo>
                  <a:pt x="995680" y="341376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03"/>
          <p:cNvSpPr/>
          <p:nvPr/>
        </p:nvSpPr>
        <p:spPr>
          <a:xfrm>
            <a:off x="5262880" y="4658360"/>
            <a:ext cx="995680" cy="1"/>
          </a:xfrm>
          <a:custGeom>
            <a:avLst/>
            <a:gdLst/>
            <a:ahLst/>
            <a:cxnLst/>
            <a:rect l="0" t="0" r="r" b="b"/>
            <a:pathLst>
              <a:path w="995680" h="1" fill="none">
                <a:moveTo>
                  <a:pt x="99568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04"/>
          <p:cNvSpPr/>
          <p:nvPr/>
        </p:nvSpPr>
        <p:spPr>
          <a:xfrm>
            <a:off x="1244600" y="3591560"/>
            <a:ext cx="1671320" cy="1066800"/>
          </a:xfrm>
          <a:custGeom>
            <a:avLst/>
            <a:gdLst/>
            <a:ahLst/>
            <a:cxnLst/>
            <a:rect l="0" t="0" r="r" b="b"/>
            <a:pathLst>
              <a:path w="1671320" h="1066800" fill="none">
                <a:moveTo>
                  <a:pt x="1671320" y="1066800"/>
                </a:moveTo>
                <a:lnTo>
                  <a:pt x="0" y="106680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4"/>
          <p:cNvSpPr/>
          <p:nvPr/>
        </p:nvSpPr>
        <p:spPr>
          <a:xfrm>
            <a:off x="9885680" y="3413760"/>
            <a:ext cx="2204720" cy="1244600"/>
          </a:xfrm>
          <a:prstGeom prst="roundRect">
            <a:avLst>
              <a:gd name="adj" fmla="val 4571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5"/>
          <p:cNvSpPr/>
          <p:nvPr/>
        </p:nvSpPr>
        <p:spPr>
          <a:xfrm>
            <a:off x="9907016" y="3435096"/>
            <a:ext cx="2162048" cy="387604"/>
          </a:xfrm>
          <a:prstGeom prst="roundRect">
            <a:avLst>
              <a:gd name="adj" fmla="val 9174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5  SCL / SDA 接口"/>
          <p:cNvSpPr txBox="1"/>
          <p:nvPr/>
        </p:nvSpPr>
        <p:spPr>
          <a:xfrm>
            <a:off x="10010851" y="3567237"/>
            <a:ext cx="195437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SCL / SDA 接口</a:t>
            </a:r>
          </a:p>
        </p:txBody>
      </p:sp>
      <p:sp>
        <p:nvSpPr>
          <p:cNvPr id="37" name="text-037: 采样输入"/>
          <p:cNvSpPr txBox="1"/>
          <p:nvPr/>
        </p:nvSpPr>
        <p:spPr>
          <a:xfrm>
            <a:off x="10596880" y="3810183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采样输入</a:t>
            </a:r>
          </a:p>
        </p:txBody>
      </p:sp>
      <p:sp>
        <p:nvSpPr>
          <p:cNvPr id="38" name="text-038: 输出值 + 输出使能"/>
          <p:cNvSpPr txBox="1"/>
          <p:nvPr/>
        </p:nvSpPr>
        <p:spPr>
          <a:xfrm>
            <a:off x="10209632" y="4037767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输出值 + 输出使能</a:t>
            </a:r>
          </a:p>
        </p:txBody>
      </p:sp>
      <p:sp>
        <p:nvSpPr>
          <p:cNvPr id="39" name="text-039: 外层 PAD / 上拉另接"/>
          <p:cNvSpPr txBox="1"/>
          <p:nvPr/>
        </p:nvSpPr>
        <p:spPr>
          <a:xfrm>
            <a:off x="10084460" y="4265351"/>
            <a:ext cx="18071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外层 PAD / 上拉另接</a:t>
            </a:r>
          </a:p>
        </p:txBody>
      </p:sp>
      <p:sp>
        <p:nvSpPr>
          <p:cNvPr id="40" name="E05"/>
          <p:cNvSpPr/>
          <p:nvPr/>
        </p:nvSpPr>
        <p:spPr>
          <a:xfrm>
            <a:off x="8747760" y="401828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2915920" y="5974080"/>
            <a:ext cx="2346960" cy="853440"/>
          </a:xfrm>
          <a:prstGeom prst="roundRect">
            <a:avLst>
              <a:gd name="adj" fmla="val 6666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2"/>
          <p:cNvSpPr/>
          <p:nvPr/>
        </p:nvSpPr>
        <p:spPr>
          <a:xfrm>
            <a:off x="2937256" y="5995416"/>
            <a:ext cx="2304288" cy="419608"/>
          </a:xfrm>
          <a:prstGeom prst="roundRect">
            <a:avLst>
              <a:gd name="adj" fmla="val 8474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line-043"/>
          <p:cNvSpPr/>
          <p:nvPr/>
        </p:nvSpPr>
        <p:spPr>
          <a:xfrm>
            <a:off x="3001264" y="59740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6  Target TX FIFO"/>
          <p:cNvSpPr txBox="1"/>
          <p:nvPr/>
        </p:nvSpPr>
        <p:spPr>
          <a:xfrm>
            <a:off x="3061005" y="6159561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6  Target TX FIFO</a:t>
            </a:r>
          </a:p>
        </p:txBody>
      </p:sp>
      <p:sp>
        <p:nvSpPr>
          <p:cNvPr id="45" name="text-045: 软件送字节 → 总线"/>
          <p:cNvSpPr txBox="1"/>
          <p:nvPr/>
        </p:nvSpPr>
        <p:spPr>
          <a:xfrm>
            <a:off x="3283610" y="6402507"/>
            <a:ext cx="161157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软件送字节 → 总线</a:t>
            </a:r>
          </a:p>
        </p:txBody>
      </p:sp>
      <p:sp>
        <p:nvSpPr>
          <p:cNvPr id="46" name="rect-046"/>
          <p:cNvSpPr/>
          <p:nvPr/>
        </p:nvSpPr>
        <p:spPr>
          <a:xfrm>
            <a:off x="6258560" y="5974080"/>
            <a:ext cx="2489200" cy="853440"/>
          </a:xfrm>
          <a:prstGeom prst="roundRect">
            <a:avLst>
              <a:gd name="adj" fmla="val 6666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7"/>
          <p:cNvSpPr/>
          <p:nvPr/>
        </p:nvSpPr>
        <p:spPr>
          <a:xfrm>
            <a:off x="6279896" y="5995416"/>
            <a:ext cx="2446528" cy="419608"/>
          </a:xfrm>
          <a:prstGeom prst="roundRect">
            <a:avLst>
              <a:gd name="adj" fmla="val 8474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line-048"/>
          <p:cNvSpPr/>
          <p:nvPr/>
        </p:nvSpPr>
        <p:spPr>
          <a:xfrm>
            <a:off x="6343904" y="59740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7  Target ACQ FIFO"/>
          <p:cNvSpPr txBox="1"/>
          <p:nvPr/>
        </p:nvSpPr>
        <p:spPr>
          <a:xfrm>
            <a:off x="6419291" y="6159561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7  Target ACQ FIFO</a:t>
            </a:r>
          </a:p>
        </p:txBody>
      </p:sp>
      <p:sp>
        <p:nvSpPr>
          <p:cNvPr id="50" name="text-050: 接收字节 + 事务标志"/>
          <p:cNvSpPr txBox="1"/>
          <p:nvPr/>
        </p:nvSpPr>
        <p:spPr>
          <a:xfrm>
            <a:off x="6646520" y="640250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+ 事务标志</a:t>
            </a:r>
          </a:p>
        </p:txBody>
      </p:sp>
      <p:sp>
        <p:nvSpPr>
          <p:cNvPr id="51" name="E06"/>
          <p:cNvSpPr/>
          <p:nvPr/>
        </p:nvSpPr>
        <p:spPr>
          <a:xfrm>
            <a:off x="5262880" y="4978400"/>
            <a:ext cx="1493520" cy="1422400"/>
          </a:xfrm>
          <a:custGeom>
            <a:avLst/>
            <a:gdLst/>
            <a:ahLst/>
            <a:cxnLst/>
            <a:rect l="0" t="0" r="r" b="b"/>
            <a:pathLst>
              <a:path w="1493520" h="1422400" fill="none">
                <a:moveTo>
                  <a:pt x="0" y="1422400"/>
                </a:moveTo>
                <a:lnTo>
                  <a:pt x="391160" y="1422400"/>
                </a:lnTo>
                <a:lnTo>
                  <a:pt x="391160" y="320040"/>
                </a:lnTo>
                <a:lnTo>
                  <a:pt x="1493520" y="320040"/>
                </a:lnTo>
                <a:lnTo>
                  <a:pt x="149352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07"/>
          <p:cNvSpPr/>
          <p:nvPr/>
        </p:nvSpPr>
        <p:spPr>
          <a:xfrm>
            <a:off x="7752080" y="497840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 fill="none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08"/>
          <p:cNvSpPr/>
          <p:nvPr/>
        </p:nvSpPr>
        <p:spPr>
          <a:xfrm>
            <a:off x="1244600" y="1955800"/>
            <a:ext cx="6258560" cy="1209040"/>
          </a:xfrm>
          <a:custGeom>
            <a:avLst/>
            <a:gdLst/>
            <a:ahLst/>
            <a:cxnLst/>
            <a:rect l="0" t="0" r="r" b="b"/>
            <a:pathLst>
              <a:path w="6258560" h="1209040" fill="none">
                <a:moveTo>
                  <a:pt x="0" y="568960"/>
                </a:moveTo>
                <a:lnTo>
                  <a:pt x="0" y="0"/>
                </a:lnTo>
                <a:lnTo>
                  <a:pt x="6258560" y="0"/>
                </a:lnTo>
                <a:lnTo>
                  <a:pt x="6258560" y="120904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CONTROL / TIMING → FSM"/>
          <p:cNvSpPr txBox="1"/>
          <p:nvPr/>
        </p:nvSpPr>
        <p:spPr>
          <a:xfrm>
            <a:off x="4160520" y="1722242"/>
            <a:ext cx="25599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CONTROL / TIMING → FSM</a:t>
            </a:r>
          </a:p>
        </p:txBody>
      </p:sp>
      <p:sp>
        <p:nvSpPr>
          <p:cNvPr id="55" name="rect-055"/>
          <p:cNvSpPr/>
          <p:nvPr/>
        </p:nvSpPr>
        <p:spPr>
          <a:xfrm>
            <a:off x="9885680" y="5974080"/>
            <a:ext cx="2204720" cy="853440"/>
          </a:xfrm>
          <a:prstGeom prst="roundRect">
            <a:avLst>
              <a:gd name="adj" fmla="val 6666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6"/>
          <p:cNvSpPr/>
          <p:nvPr/>
        </p:nvSpPr>
        <p:spPr>
          <a:xfrm>
            <a:off x="9907016" y="5995416"/>
            <a:ext cx="2162048" cy="305816"/>
          </a:xfrm>
          <a:prstGeom prst="roundRect">
            <a:avLst>
              <a:gd name="adj" fmla="val 11627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8  事件整合 / prim_intr_hw"/>
          <p:cNvSpPr txBox="1"/>
          <p:nvPr/>
        </p:nvSpPr>
        <p:spPr>
          <a:xfrm>
            <a:off x="9562795" y="6045769"/>
            <a:ext cx="28504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8  事件整合 / prim_intr_hw</a:t>
            </a:r>
          </a:p>
        </p:txBody>
      </p:sp>
      <p:sp>
        <p:nvSpPr>
          <p:cNvPr id="58" name="text-058: FSM / FIFO 状态锁存"/>
          <p:cNvSpPr txBox="1"/>
          <p:nvPr/>
        </p:nvSpPr>
        <p:spPr>
          <a:xfrm>
            <a:off x="10037521" y="6288715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FSM / FIFO 状态锁存</a:t>
            </a:r>
          </a:p>
        </p:txBody>
      </p:sp>
      <p:sp>
        <p:nvSpPr>
          <p:cNvPr id="59" name="text-059: 15 路 IRQ → SoC"/>
          <p:cNvSpPr txBox="1"/>
          <p:nvPr/>
        </p:nvSpPr>
        <p:spPr>
          <a:xfrm>
            <a:off x="10143134" y="6516299"/>
            <a:ext cx="168981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15 路 IRQ → SoC</a:t>
            </a:r>
          </a:p>
        </p:txBody>
      </p:sp>
      <p:sp>
        <p:nvSpPr>
          <p:cNvPr id="60" name="E09"/>
          <p:cNvSpPr/>
          <p:nvPr/>
        </p:nvSpPr>
        <p:spPr>
          <a:xfrm>
            <a:off x="8747760" y="4445000"/>
            <a:ext cx="1137920" cy="1955800"/>
          </a:xfrm>
          <a:custGeom>
            <a:avLst/>
            <a:gdLst/>
            <a:ahLst/>
            <a:cxnLst/>
            <a:rect l="0" t="0" r="r" b="b"/>
            <a:pathLst>
              <a:path w="1137920" h="1955800" fill="none">
                <a:moveTo>
                  <a:pt x="0" y="0"/>
                </a:moveTo>
                <a:lnTo>
                  <a:pt x="640080" y="0"/>
                </a:lnTo>
                <a:lnTo>
                  <a:pt x="640080" y="1955800"/>
                </a:lnTo>
                <a:lnTo>
                  <a:pt x="1137920" y="195580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10"/>
          <p:cNvSpPr/>
          <p:nvPr/>
        </p:nvSpPr>
        <p:spPr>
          <a:xfrm>
            <a:off x="2240280" y="3271520"/>
            <a:ext cx="8747760" cy="3876040"/>
          </a:xfrm>
          <a:custGeom>
            <a:avLst/>
            <a:gdLst/>
            <a:ahLst/>
            <a:cxnLst/>
            <a:rect l="0" t="0" r="r" b="b"/>
            <a:pathLst>
              <a:path w="8747760" h="3876040" fill="none">
                <a:moveTo>
                  <a:pt x="0" y="0"/>
                </a:moveTo>
                <a:lnTo>
                  <a:pt x="248920" y="0"/>
                </a:lnTo>
                <a:lnTo>
                  <a:pt x="248920" y="3876040"/>
                </a:lnTo>
                <a:lnTo>
                  <a:pt x="8747760" y="3876040"/>
                </a:lnTo>
                <a:lnTo>
                  <a:pt x="8747760" y="355600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FIFO reset 由 reg_top 直接作用队列；N08 汇总 FSM/F"/>
          <p:cNvSpPr txBox="1"/>
          <p:nvPr/>
        </p:nvSpPr>
        <p:spPr>
          <a:xfrm>
            <a:off x="2951480" y="7511979"/>
            <a:ext cx="56483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FIFO reset 由 reg_top 直接作用队列；N08 汇总 FSM/FIFO 事件。</a:t>
            </a:r>
          </a:p>
        </p:txBody>
      </p:sp>
      <p:sp>
        <p:nvSpPr>
          <p:cNvPr id="63" name="E11"/>
          <p:cNvSpPr/>
          <p:nvPr/>
        </p:nvSpPr>
        <p:spPr>
          <a:xfrm>
            <a:off x="2026920" y="3591560"/>
            <a:ext cx="889000" cy="2809240"/>
          </a:xfrm>
          <a:custGeom>
            <a:avLst/>
            <a:gdLst/>
            <a:ahLst/>
            <a:cxnLst/>
            <a:rect l="0" t="0" r="r" b="b"/>
            <a:pathLst>
              <a:path w="889000" h="2809240" fill="none">
                <a:moveTo>
                  <a:pt x="0" y="0"/>
                </a:moveTo>
                <a:lnTo>
                  <a:pt x="0" y="2809240"/>
                </a:lnTo>
                <a:lnTo>
                  <a:pt x="889000" y="280924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E12"/>
          <p:cNvSpPr/>
          <p:nvPr/>
        </p:nvSpPr>
        <p:spPr>
          <a:xfrm>
            <a:off x="711200" y="3591560"/>
            <a:ext cx="6685280" cy="3769360"/>
          </a:xfrm>
          <a:custGeom>
            <a:avLst/>
            <a:gdLst/>
            <a:ahLst/>
            <a:cxnLst/>
            <a:rect l="0" t="0" r="r" b="b"/>
            <a:pathLst>
              <a:path w="6685280" h="3769360" fill="none">
                <a:moveTo>
                  <a:pt x="6685280" y="3235960"/>
                </a:moveTo>
                <a:lnTo>
                  <a:pt x="6685280" y="3769360"/>
                </a:lnTo>
                <a:lnTo>
                  <a:pt x="0" y="376936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5"/>
          <p:cNvSpPr/>
          <p:nvPr/>
        </p:nvSpPr>
        <p:spPr>
          <a:xfrm>
            <a:off x="24003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1"/>
          <p:cNvSpPr txBox="1"/>
          <p:nvPr/>
        </p:nvSpPr>
        <p:spPr>
          <a:xfrm>
            <a:off x="23437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67" name="rect-067"/>
          <p:cNvSpPr/>
          <p:nvPr/>
        </p:nvSpPr>
        <p:spPr>
          <a:xfrm>
            <a:off x="5796280" y="3371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2"/>
          <p:cNvSpPr txBox="1"/>
          <p:nvPr/>
        </p:nvSpPr>
        <p:spPr>
          <a:xfrm>
            <a:off x="5739740" y="3351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9" name="rect-069"/>
          <p:cNvSpPr/>
          <p:nvPr/>
        </p:nvSpPr>
        <p:spPr>
          <a:xfrm>
            <a:off x="5582920" y="44378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3"/>
          <p:cNvSpPr txBox="1"/>
          <p:nvPr/>
        </p:nvSpPr>
        <p:spPr>
          <a:xfrm>
            <a:off x="5526380" y="44182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71" name="rect-071"/>
          <p:cNvSpPr/>
          <p:nvPr/>
        </p:nvSpPr>
        <p:spPr>
          <a:xfrm>
            <a:off x="1902460" y="44378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4"/>
          <p:cNvSpPr txBox="1"/>
          <p:nvPr/>
        </p:nvSpPr>
        <p:spPr>
          <a:xfrm>
            <a:off x="1845920" y="44182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73" name="rect-073"/>
          <p:cNvSpPr/>
          <p:nvPr/>
        </p:nvSpPr>
        <p:spPr>
          <a:xfrm>
            <a:off x="9138920" y="3797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5"/>
          <p:cNvSpPr txBox="1"/>
          <p:nvPr/>
        </p:nvSpPr>
        <p:spPr>
          <a:xfrm>
            <a:off x="9082380" y="3778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75" name="rect-075"/>
          <p:cNvSpPr/>
          <p:nvPr/>
        </p:nvSpPr>
        <p:spPr>
          <a:xfrm>
            <a:off x="5718048" y="57500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6"/>
          <p:cNvSpPr txBox="1"/>
          <p:nvPr/>
        </p:nvSpPr>
        <p:spPr>
          <a:xfrm>
            <a:off x="5661508" y="57304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77" name="rect-077"/>
          <p:cNvSpPr/>
          <p:nvPr/>
        </p:nvSpPr>
        <p:spPr>
          <a:xfrm>
            <a:off x="7816088" y="53766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07"/>
          <p:cNvSpPr txBox="1"/>
          <p:nvPr/>
        </p:nvSpPr>
        <p:spPr>
          <a:xfrm>
            <a:off x="7759548" y="53570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9" name="rect-079"/>
          <p:cNvSpPr/>
          <p:nvPr/>
        </p:nvSpPr>
        <p:spPr>
          <a:xfrm>
            <a:off x="4196080" y="20055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08"/>
          <p:cNvSpPr txBox="1"/>
          <p:nvPr/>
        </p:nvSpPr>
        <p:spPr>
          <a:xfrm>
            <a:off x="4139540" y="19859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81" name="rect-081"/>
          <p:cNvSpPr/>
          <p:nvPr/>
        </p:nvSpPr>
        <p:spPr>
          <a:xfrm>
            <a:off x="9451848" y="53233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09"/>
          <p:cNvSpPr txBox="1"/>
          <p:nvPr/>
        </p:nvSpPr>
        <p:spPr>
          <a:xfrm>
            <a:off x="9395308" y="53037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83" name="rect-083"/>
          <p:cNvSpPr/>
          <p:nvPr/>
        </p:nvSpPr>
        <p:spPr>
          <a:xfrm>
            <a:off x="6560820" y="6927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E10"/>
          <p:cNvSpPr txBox="1"/>
          <p:nvPr/>
        </p:nvSpPr>
        <p:spPr>
          <a:xfrm>
            <a:off x="6504280" y="6907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85" name="rect-085"/>
          <p:cNvSpPr/>
          <p:nvPr/>
        </p:nvSpPr>
        <p:spPr>
          <a:xfrm>
            <a:off x="2090928" y="48966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E11"/>
          <p:cNvSpPr txBox="1"/>
          <p:nvPr/>
        </p:nvSpPr>
        <p:spPr>
          <a:xfrm>
            <a:off x="2034388" y="48769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87" name="rect-087"/>
          <p:cNvSpPr/>
          <p:nvPr/>
        </p:nvSpPr>
        <p:spPr>
          <a:xfrm>
            <a:off x="3876040" y="7140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E12"/>
          <p:cNvSpPr txBox="1"/>
          <p:nvPr/>
        </p:nvSpPr>
        <p:spPr>
          <a:xfrm>
            <a:off x="3819500" y="7120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89" name="text-089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90" name="text-090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3  SPI Host：命令队列控制移位，数据窗口连接收发 FIFO"/>
          <p:cNvSpPr txBox="1"/>
          <p:nvPr/>
        </p:nvSpPr>
        <p:spPr>
          <a:xfrm>
            <a:off x="284480" y="1347297"/>
            <a:ext cx="6838899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03  SPI Host：命令队列控制移位，数据窗口连接收发 FIFO</a:t>
            </a:r>
          </a:p>
        </p:txBody>
      </p:sp>
      <p:sp>
        <p:nvSpPr>
          <p:cNvPr id="3" name="rect-003"/>
          <p:cNvSpPr/>
          <p:nvPr/>
        </p:nvSpPr>
        <p:spPr>
          <a:xfrm>
            <a:off x="5369560" y="2311400"/>
            <a:ext cx="7147560" cy="4551680"/>
          </a:xfrm>
          <a:prstGeom prst="roundRect">
            <a:avLst>
              <a:gd name="adj" fmla="val 1875"/>
            </a:avLst>
          </a:prstGeom>
          <a:solidFill>
            <a:srgbClr val="F8FAFD"/>
          </a:solidFill>
          <a:ln w="12090" cap="flat">
            <a:solidFill>
              <a:srgbClr val="A6B5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spi_host_core：一个命令可以包含多个串行数据拍"/>
          <p:cNvSpPr txBox="1"/>
          <p:nvPr/>
        </p:nvSpPr>
        <p:spPr>
          <a:xfrm>
            <a:off x="5476240" y="2348098"/>
            <a:ext cx="416300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spi_host_core：一个命令可以包含多个串行数据拍</a:t>
            </a:r>
          </a:p>
        </p:txBody>
      </p:sp>
      <p:sp>
        <p:nvSpPr>
          <p:cNvPr id="5" name="rect-005"/>
          <p:cNvSpPr/>
          <p:nvPr/>
        </p:nvSpPr>
        <p:spPr>
          <a:xfrm>
            <a:off x="284480" y="2489200"/>
            <a:ext cx="2133600" cy="1031240"/>
          </a:xfrm>
          <a:prstGeom prst="roundRect">
            <a:avLst>
              <a:gd name="adj" fmla="val 5517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305816" y="2510536"/>
            <a:ext cx="2090928" cy="280924"/>
          </a:xfrm>
          <a:prstGeom prst="roundRect">
            <a:avLst>
              <a:gd name="adj" fmla="val 12658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1  spi_host_reg_top"/>
          <p:cNvSpPr txBox="1"/>
          <p:nvPr/>
        </p:nvSpPr>
        <p:spPr>
          <a:xfrm>
            <a:off x="211938" y="2535997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spi_host_reg_top</a:t>
            </a:r>
          </a:p>
        </p:txBody>
      </p:sp>
      <p:sp>
        <p:nvSpPr>
          <p:cNvPr id="8" name="text-008: CONTROL / CONFIGOPTS"/>
          <p:cNvSpPr txBox="1"/>
          <p:nvPr/>
        </p:nvSpPr>
        <p:spPr>
          <a:xfrm>
            <a:off x="256032" y="2778943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CONFIGOPTS</a:t>
            </a:r>
          </a:p>
        </p:txBody>
      </p:sp>
      <p:sp>
        <p:nvSpPr>
          <p:cNvPr id="9" name="text-009: CSID / COMMAND"/>
          <p:cNvSpPr txBox="1"/>
          <p:nvPr/>
        </p:nvSpPr>
        <p:spPr>
          <a:xfrm>
            <a:off x="561137" y="3006527"/>
            <a:ext cx="15802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CSID / COMMAND</a:t>
            </a:r>
          </a:p>
        </p:txBody>
      </p:sp>
      <p:sp>
        <p:nvSpPr>
          <p:cNvPr id="10" name="text-010: STATUS / INTR_*"/>
          <p:cNvSpPr txBox="1"/>
          <p:nvPr/>
        </p:nvSpPr>
        <p:spPr>
          <a:xfrm>
            <a:off x="510286" y="3234111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STATUS / INTR_*</a:t>
            </a:r>
          </a:p>
        </p:txBody>
      </p:sp>
      <p:sp>
        <p:nvSpPr>
          <p:cNvPr id="11" name="text-011: Regbus 32"/>
          <p:cNvSpPr txBox="1"/>
          <p:nvPr/>
        </p:nvSpPr>
        <p:spPr>
          <a:xfrm>
            <a:off x="284480" y="198481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2" name="rect-012"/>
          <p:cNvSpPr/>
          <p:nvPr/>
        </p:nvSpPr>
        <p:spPr>
          <a:xfrm>
            <a:off x="2951480" y="2524760"/>
            <a:ext cx="1955800" cy="924560"/>
          </a:xfrm>
          <a:prstGeom prst="roundRect">
            <a:avLst>
              <a:gd name="adj" fmla="val 6153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2972816" y="2546096"/>
            <a:ext cx="1913128" cy="341376"/>
          </a:xfrm>
          <a:prstGeom prst="roundRect">
            <a:avLst>
              <a:gd name="adj" fmla="val 10416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4"/>
          <p:cNvSpPr/>
          <p:nvPr/>
        </p:nvSpPr>
        <p:spPr>
          <a:xfrm>
            <a:off x="3036824" y="25247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2  command_queue"/>
          <p:cNvSpPr txBox="1"/>
          <p:nvPr/>
        </p:nvSpPr>
        <p:spPr>
          <a:xfrm>
            <a:off x="2956458" y="2632009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command_queue</a:t>
            </a:r>
          </a:p>
        </p:txBody>
      </p:sp>
      <p:sp>
        <p:nvSpPr>
          <p:cNvPr id="16" name="text-016: 方向 / 长度 / 速度"/>
          <p:cNvSpPr txBox="1"/>
          <p:nvPr/>
        </p:nvSpPr>
        <p:spPr>
          <a:xfrm>
            <a:off x="3076651" y="2874955"/>
            <a:ext cx="1705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方向 / 长度 / 速度</a:t>
            </a:r>
          </a:p>
        </p:txBody>
      </p:sp>
      <p:sp>
        <p:nvSpPr>
          <p:cNvPr id="17" name="text-017: 片选与时序配置"/>
          <p:cNvSpPr txBox="1"/>
          <p:nvPr/>
        </p:nvSpPr>
        <p:spPr>
          <a:xfrm>
            <a:off x="3303524" y="3102539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片选与时序配置</a:t>
            </a:r>
          </a:p>
        </p:txBody>
      </p:sp>
      <p:sp>
        <p:nvSpPr>
          <p:cNvPr id="18" name="E01"/>
          <p:cNvSpPr/>
          <p:nvPr/>
        </p:nvSpPr>
        <p:spPr>
          <a:xfrm>
            <a:off x="2418080" y="2915920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9"/>
          <p:cNvSpPr/>
          <p:nvPr/>
        </p:nvSpPr>
        <p:spPr>
          <a:xfrm>
            <a:off x="5725160" y="2631440"/>
            <a:ext cx="2489200" cy="924560"/>
          </a:xfrm>
          <a:prstGeom prst="roundRect">
            <a:avLst>
              <a:gd name="adj" fmla="val 6153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0"/>
          <p:cNvSpPr/>
          <p:nvPr/>
        </p:nvSpPr>
        <p:spPr>
          <a:xfrm>
            <a:off x="5746496" y="2652776"/>
            <a:ext cx="2446528" cy="341376"/>
          </a:xfrm>
          <a:prstGeom prst="roundRect">
            <a:avLst>
              <a:gd name="adj" fmla="val 10416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3  spi_host_fsm"/>
          <p:cNvSpPr txBox="1"/>
          <p:nvPr/>
        </p:nvSpPr>
        <p:spPr>
          <a:xfrm>
            <a:off x="6052312" y="2738689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spi_host_fsm</a:t>
            </a:r>
          </a:p>
        </p:txBody>
      </p:sp>
      <p:sp>
        <p:nvSpPr>
          <p:cNvPr id="22" name="text-022: SCK / CS / sample / shift"/>
          <p:cNvSpPr txBox="1"/>
          <p:nvPr/>
        </p:nvSpPr>
        <p:spPr>
          <a:xfrm>
            <a:off x="5620258" y="2981635"/>
            <a:ext cx="26990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SCK / CS / sample / shift</a:t>
            </a:r>
          </a:p>
        </p:txBody>
      </p:sp>
      <p:sp>
        <p:nvSpPr>
          <p:cNvPr id="23" name="text-023: CPOL / CPHA / 分频"/>
          <p:cNvSpPr txBox="1"/>
          <p:nvPr/>
        </p:nvSpPr>
        <p:spPr>
          <a:xfrm>
            <a:off x="6023153" y="3209219"/>
            <a:ext cx="189321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CPOL / CPHA / 分频</a:t>
            </a:r>
          </a:p>
        </p:txBody>
      </p:sp>
      <p:sp>
        <p:nvSpPr>
          <p:cNvPr id="24" name="E02"/>
          <p:cNvSpPr/>
          <p:nvPr/>
        </p:nvSpPr>
        <p:spPr>
          <a:xfrm>
            <a:off x="4907280" y="298704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 fill="none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5"/>
          <p:cNvSpPr/>
          <p:nvPr/>
        </p:nvSpPr>
        <p:spPr>
          <a:xfrm>
            <a:off x="284480" y="4480560"/>
            <a:ext cx="2133600" cy="1102360"/>
          </a:xfrm>
          <a:prstGeom prst="roundRect">
            <a:avLst>
              <a:gd name="adj" fmla="val 5161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6"/>
          <p:cNvSpPr/>
          <p:nvPr/>
        </p:nvSpPr>
        <p:spPr>
          <a:xfrm>
            <a:off x="305816" y="4501896"/>
            <a:ext cx="2090928" cy="316484"/>
          </a:xfrm>
          <a:prstGeom prst="roundRect">
            <a:avLst>
              <a:gd name="adj" fmla="val 11235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4  spi_host_window"/>
          <p:cNvSpPr txBox="1"/>
          <p:nvPr/>
        </p:nvSpPr>
        <p:spPr>
          <a:xfrm>
            <a:off x="267411" y="456291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spi_host_window</a:t>
            </a:r>
          </a:p>
        </p:txBody>
      </p:sp>
      <p:sp>
        <p:nvSpPr>
          <p:cNvPr id="28" name="text-028: TX 写窗口 / RX 读窗口"/>
          <p:cNvSpPr txBox="1"/>
          <p:nvPr/>
        </p:nvSpPr>
        <p:spPr>
          <a:xfrm>
            <a:off x="345999" y="4805863"/>
            <a:ext cx="20105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写窗口 / RX 读窗口</a:t>
            </a:r>
          </a:p>
        </p:txBody>
      </p:sp>
      <p:sp>
        <p:nvSpPr>
          <p:cNvPr id="29" name="text-029: 32-bit + byte enables"/>
          <p:cNvSpPr txBox="1"/>
          <p:nvPr/>
        </p:nvSpPr>
        <p:spPr>
          <a:xfrm>
            <a:off x="205181" y="5033447"/>
            <a:ext cx="22921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+ byte enables</a:t>
            </a:r>
          </a:p>
        </p:txBody>
      </p:sp>
      <p:sp>
        <p:nvSpPr>
          <p:cNvPr id="30" name="text-030: FIFO 满空由软件检查"/>
          <p:cNvSpPr txBox="1"/>
          <p:nvPr/>
        </p:nvSpPr>
        <p:spPr>
          <a:xfrm>
            <a:off x="471170" y="5261031"/>
            <a:ext cx="17602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FIFO 满空由软件检查</a:t>
            </a:r>
          </a:p>
        </p:txBody>
      </p:sp>
      <p:sp>
        <p:nvSpPr>
          <p:cNvPr id="31" name="E03"/>
          <p:cNvSpPr/>
          <p:nvPr/>
        </p:nvSpPr>
        <p:spPr>
          <a:xfrm>
            <a:off x="1351280" y="3520440"/>
            <a:ext cx="1" cy="960120"/>
          </a:xfrm>
          <a:custGeom>
            <a:avLst/>
            <a:gdLst/>
            <a:ahLst/>
            <a:cxnLst/>
            <a:rect l="0" t="0" r="r" b="b"/>
            <a:pathLst>
              <a:path w="1" h="960120" fill="none">
                <a:moveTo>
                  <a:pt x="0" y="0"/>
                </a:moveTo>
                <a:lnTo>
                  <a:pt x="0" y="96012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2"/>
          <p:cNvSpPr/>
          <p:nvPr/>
        </p:nvSpPr>
        <p:spPr>
          <a:xfrm>
            <a:off x="2915920" y="4338320"/>
            <a:ext cx="2062480" cy="817880"/>
          </a:xfrm>
          <a:prstGeom prst="roundRect">
            <a:avLst>
              <a:gd name="adj" fmla="val 6956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3"/>
          <p:cNvSpPr/>
          <p:nvPr/>
        </p:nvSpPr>
        <p:spPr>
          <a:xfrm>
            <a:off x="2937256" y="4359656"/>
            <a:ext cx="2019808" cy="401828"/>
          </a:xfrm>
          <a:prstGeom prst="roundRect">
            <a:avLst>
              <a:gd name="adj" fmla="val 8849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line-034"/>
          <p:cNvSpPr/>
          <p:nvPr/>
        </p:nvSpPr>
        <p:spPr>
          <a:xfrm>
            <a:off x="3001264" y="4338320"/>
            <a:ext cx="1" cy="817880"/>
          </a:xfrm>
          <a:custGeom>
            <a:avLst/>
            <a:gdLst/>
            <a:ahLst/>
            <a:cxnLst/>
            <a:rect l="0" t="0" r="r" b="b"/>
            <a:pathLst>
              <a:path w="1" h="817880" fill="none">
                <a:moveTo>
                  <a:pt x="0" y="0"/>
                </a:moveTo>
                <a:lnTo>
                  <a:pt x="0" y="8178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5  data_fifos：TX"/>
          <p:cNvSpPr txBox="1"/>
          <p:nvPr/>
        </p:nvSpPr>
        <p:spPr>
          <a:xfrm>
            <a:off x="2944368" y="4506021"/>
            <a:ext cx="20055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data_fifos：TX</a:t>
            </a:r>
          </a:p>
        </p:txBody>
      </p:sp>
      <p:sp>
        <p:nvSpPr>
          <p:cNvPr id="36" name="text-036: 32-bit 数据队列"/>
          <p:cNvSpPr txBox="1"/>
          <p:nvPr/>
        </p:nvSpPr>
        <p:spPr>
          <a:xfrm>
            <a:off x="3200044" y="4748967"/>
            <a:ext cx="14942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数据队列</a:t>
            </a:r>
          </a:p>
        </p:txBody>
      </p:sp>
      <p:sp>
        <p:nvSpPr>
          <p:cNvPr id="37" name="rect-037"/>
          <p:cNvSpPr/>
          <p:nvPr/>
        </p:nvSpPr>
        <p:spPr>
          <a:xfrm>
            <a:off x="2915920" y="6009640"/>
            <a:ext cx="2062480" cy="817880"/>
          </a:xfrm>
          <a:prstGeom prst="roundRect">
            <a:avLst>
              <a:gd name="adj" fmla="val 6956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8"/>
          <p:cNvSpPr/>
          <p:nvPr/>
        </p:nvSpPr>
        <p:spPr>
          <a:xfrm>
            <a:off x="2937256" y="6030976"/>
            <a:ext cx="2019808" cy="401828"/>
          </a:xfrm>
          <a:prstGeom prst="roundRect">
            <a:avLst>
              <a:gd name="adj" fmla="val 8849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olyline-039"/>
          <p:cNvSpPr/>
          <p:nvPr/>
        </p:nvSpPr>
        <p:spPr>
          <a:xfrm>
            <a:off x="3001264" y="6009640"/>
            <a:ext cx="1" cy="817880"/>
          </a:xfrm>
          <a:custGeom>
            <a:avLst/>
            <a:gdLst/>
            <a:ahLst/>
            <a:cxnLst/>
            <a:rect l="0" t="0" r="r" b="b"/>
            <a:pathLst>
              <a:path w="1" h="817880" fill="none">
                <a:moveTo>
                  <a:pt x="0" y="0"/>
                </a:moveTo>
                <a:lnTo>
                  <a:pt x="0" y="8178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9  data_fifos：RX"/>
          <p:cNvSpPr txBox="1"/>
          <p:nvPr/>
        </p:nvSpPr>
        <p:spPr>
          <a:xfrm>
            <a:off x="2944368" y="6177341"/>
            <a:ext cx="20055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9  data_fifos：RX</a:t>
            </a:r>
          </a:p>
        </p:txBody>
      </p:sp>
      <p:sp>
        <p:nvSpPr>
          <p:cNvPr id="41" name="text-041: 32-bit 接收字队列"/>
          <p:cNvSpPr txBox="1"/>
          <p:nvPr/>
        </p:nvSpPr>
        <p:spPr>
          <a:xfrm>
            <a:off x="3121812" y="6420287"/>
            <a:ext cx="165069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接收字队列</a:t>
            </a:r>
          </a:p>
        </p:txBody>
      </p:sp>
      <p:sp>
        <p:nvSpPr>
          <p:cNvPr id="42" name="E04"/>
          <p:cNvSpPr/>
          <p:nvPr/>
        </p:nvSpPr>
        <p:spPr>
          <a:xfrm>
            <a:off x="2418080" y="472948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05"/>
          <p:cNvSpPr/>
          <p:nvPr/>
        </p:nvSpPr>
        <p:spPr>
          <a:xfrm>
            <a:off x="1351280" y="5582920"/>
            <a:ext cx="1564640" cy="817880"/>
          </a:xfrm>
          <a:custGeom>
            <a:avLst/>
            <a:gdLst/>
            <a:ahLst/>
            <a:cxnLst/>
            <a:rect l="0" t="0" r="r" b="b"/>
            <a:pathLst>
              <a:path w="1564640" h="817880" fill="none">
                <a:moveTo>
                  <a:pt x="1564640" y="817880"/>
                </a:moveTo>
                <a:lnTo>
                  <a:pt x="0" y="81788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4"/>
          <p:cNvSpPr/>
          <p:nvPr/>
        </p:nvSpPr>
        <p:spPr>
          <a:xfrm>
            <a:off x="5725160" y="4338320"/>
            <a:ext cx="2489200" cy="817880"/>
          </a:xfrm>
          <a:prstGeom prst="roundRect">
            <a:avLst>
              <a:gd name="adj" fmla="val 6956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5"/>
          <p:cNvSpPr/>
          <p:nvPr/>
        </p:nvSpPr>
        <p:spPr>
          <a:xfrm>
            <a:off x="5746496" y="4359656"/>
            <a:ext cx="2446528" cy="401828"/>
          </a:xfrm>
          <a:prstGeom prst="roundRect">
            <a:avLst>
              <a:gd name="adj" fmla="val 8849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6  byte_select"/>
          <p:cNvSpPr txBox="1"/>
          <p:nvPr/>
        </p:nvSpPr>
        <p:spPr>
          <a:xfrm>
            <a:off x="6107786" y="4506021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6  byte_select</a:t>
            </a:r>
          </a:p>
        </p:txBody>
      </p:sp>
      <p:sp>
        <p:nvSpPr>
          <p:cNvPr id="47" name="text-047: 32-bit → 有效发送字节"/>
          <p:cNvSpPr txBox="1"/>
          <p:nvPr/>
        </p:nvSpPr>
        <p:spPr>
          <a:xfrm>
            <a:off x="5937098" y="4748967"/>
            <a:ext cx="20653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→ 有效发送字节</a:t>
            </a:r>
          </a:p>
        </p:txBody>
      </p:sp>
      <p:sp>
        <p:nvSpPr>
          <p:cNvPr id="48" name="rect-048"/>
          <p:cNvSpPr/>
          <p:nvPr/>
        </p:nvSpPr>
        <p:spPr>
          <a:xfrm>
            <a:off x="5725160" y="6009640"/>
            <a:ext cx="2489200" cy="817880"/>
          </a:xfrm>
          <a:prstGeom prst="roundRect">
            <a:avLst>
              <a:gd name="adj" fmla="val 6956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9"/>
          <p:cNvSpPr/>
          <p:nvPr/>
        </p:nvSpPr>
        <p:spPr>
          <a:xfrm>
            <a:off x="5746496" y="6030976"/>
            <a:ext cx="2446528" cy="401828"/>
          </a:xfrm>
          <a:prstGeom prst="roundRect">
            <a:avLst>
              <a:gd name="adj" fmla="val 8849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8  byte_merge"/>
          <p:cNvSpPr txBox="1"/>
          <p:nvPr/>
        </p:nvSpPr>
        <p:spPr>
          <a:xfrm>
            <a:off x="6163259" y="617734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8  byte_merge</a:t>
            </a:r>
          </a:p>
        </p:txBody>
      </p:sp>
      <p:sp>
        <p:nvSpPr>
          <p:cNvPr id="51" name="text-051: 接收字节 → 32-bit"/>
          <p:cNvSpPr txBox="1"/>
          <p:nvPr/>
        </p:nvSpPr>
        <p:spPr>
          <a:xfrm>
            <a:off x="6093562" y="642028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32-bit</a:t>
            </a:r>
          </a:p>
        </p:txBody>
      </p:sp>
      <p:sp>
        <p:nvSpPr>
          <p:cNvPr id="52" name="E06"/>
          <p:cNvSpPr/>
          <p:nvPr/>
        </p:nvSpPr>
        <p:spPr>
          <a:xfrm>
            <a:off x="4978400" y="472948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07"/>
          <p:cNvSpPr/>
          <p:nvPr/>
        </p:nvSpPr>
        <p:spPr>
          <a:xfrm>
            <a:off x="4978400" y="640080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74676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54"/>
          <p:cNvSpPr/>
          <p:nvPr/>
        </p:nvSpPr>
        <p:spPr>
          <a:xfrm>
            <a:off x="9458960" y="4267200"/>
            <a:ext cx="2560320" cy="1173480"/>
          </a:xfrm>
          <a:prstGeom prst="roundRect">
            <a:avLst>
              <a:gd name="adj" fmla="val 4848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5"/>
          <p:cNvSpPr/>
          <p:nvPr/>
        </p:nvSpPr>
        <p:spPr>
          <a:xfrm>
            <a:off x="9480296" y="4288536"/>
            <a:ext cx="2517648" cy="352044"/>
          </a:xfrm>
          <a:prstGeom prst="roundRect">
            <a:avLst>
              <a:gd name="adj" fmla="val 10101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7  shift_register"/>
          <p:cNvSpPr txBox="1"/>
          <p:nvPr/>
        </p:nvSpPr>
        <p:spPr>
          <a:xfrm>
            <a:off x="9710725" y="4385117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7  shift_register</a:t>
            </a:r>
          </a:p>
        </p:txBody>
      </p:sp>
      <p:sp>
        <p:nvSpPr>
          <p:cNvPr id="57" name="text-057: 串 / 并转换"/>
          <p:cNvSpPr txBox="1"/>
          <p:nvPr/>
        </p:nvSpPr>
        <p:spPr>
          <a:xfrm>
            <a:off x="10195408" y="4628063"/>
            <a:ext cx="10874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串 / 并转换</a:t>
            </a:r>
          </a:p>
        </p:txBody>
      </p:sp>
      <p:sp>
        <p:nvSpPr>
          <p:cNvPr id="58" name="text-058: 标准 / 双线 / 四线"/>
          <p:cNvSpPr txBox="1"/>
          <p:nvPr/>
        </p:nvSpPr>
        <p:spPr>
          <a:xfrm>
            <a:off x="9886391" y="4855647"/>
            <a:ext cx="1705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标准 / 双线 / 四线</a:t>
            </a:r>
          </a:p>
        </p:txBody>
      </p:sp>
      <p:sp>
        <p:nvSpPr>
          <p:cNvPr id="59" name="text-059: SD[3:0] 输入 / 输出"/>
          <p:cNvSpPr txBox="1"/>
          <p:nvPr/>
        </p:nvSpPr>
        <p:spPr>
          <a:xfrm>
            <a:off x="9788601" y="5083231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SD[3:0] 输入 / 输出</a:t>
            </a:r>
          </a:p>
        </p:txBody>
      </p:sp>
      <p:sp>
        <p:nvSpPr>
          <p:cNvPr id="60" name="E08"/>
          <p:cNvSpPr/>
          <p:nvPr/>
        </p:nvSpPr>
        <p:spPr>
          <a:xfrm>
            <a:off x="8214360" y="472948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09"/>
          <p:cNvSpPr/>
          <p:nvPr/>
        </p:nvSpPr>
        <p:spPr>
          <a:xfrm>
            <a:off x="8214360" y="5440680"/>
            <a:ext cx="2524760" cy="960120"/>
          </a:xfrm>
          <a:custGeom>
            <a:avLst/>
            <a:gdLst/>
            <a:ahLst/>
            <a:cxnLst/>
            <a:rect l="0" t="0" r="r" b="b"/>
            <a:pathLst>
              <a:path w="2524760" h="960120" fill="none">
                <a:moveTo>
                  <a:pt x="2524760" y="0"/>
                </a:moveTo>
                <a:lnTo>
                  <a:pt x="2524760" y="960120"/>
                </a:lnTo>
                <a:lnTo>
                  <a:pt x="0" y="96012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E10"/>
          <p:cNvSpPr/>
          <p:nvPr/>
        </p:nvSpPr>
        <p:spPr>
          <a:xfrm>
            <a:off x="8214360" y="3093720"/>
            <a:ext cx="2524760" cy="1173480"/>
          </a:xfrm>
          <a:custGeom>
            <a:avLst/>
            <a:gdLst/>
            <a:ahLst/>
            <a:cxnLst/>
            <a:rect l="0" t="0" r="r" b="b"/>
            <a:pathLst>
              <a:path w="2524760" h="1173480" fill="none">
                <a:moveTo>
                  <a:pt x="0" y="0"/>
                </a:moveTo>
                <a:lnTo>
                  <a:pt x="2524760" y="0"/>
                </a:lnTo>
                <a:lnTo>
                  <a:pt x="2524760" y="117348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移位 / 采样及 ready 反馈"/>
          <p:cNvSpPr txBox="1"/>
          <p:nvPr/>
        </p:nvSpPr>
        <p:spPr>
          <a:xfrm>
            <a:off x="8890000" y="2796723"/>
            <a:ext cx="22687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移位 / 采样及 ready 反馈</a:t>
            </a:r>
          </a:p>
        </p:txBody>
      </p:sp>
      <p:sp>
        <p:nvSpPr>
          <p:cNvPr id="64" name="text-064: IRQ：ERROR / SPI_EVENT；片选数量、FIFO 深度和字节顺序以"/>
          <p:cNvSpPr txBox="1"/>
          <p:nvPr/>
        </p:nvSpPr>
        <p:spPr>
          <a:xfrm>
            <a:off x="640080" y="7190801"/>
            <a:ext cx="6699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IRQ：ERROR / SPI_EVENT；片选数量、FIFO 深度和字节顺序以当前参数为准。</a:t>
            </a:r>
          </a:p>
        </p:txBody>
      </p:sp>
      <p:sp>
        <p:nvSpPr>
          <p:cNvPr id="65" name="E11"/>
          <p:cNvSpPr/>
          <p:nvPr/>
        </p:nvSpPr>
        <p:spPr>
          <a:xfrm>
            <a:off x="5262880" y="2026920"/>
            <a:ext cx="6827520" cy="746760"/>
          </a:xfrm>
          <a:custGeom>
            <a:avLst/>
            <a:gdLst/>
            <a:ahLst/>
            <a:cxnLst/>
            <a:rect l="0" t="0" r="r" b="b"/>
            <a:pathLst>
              <a:path w="6827520" h="746760" fill="none">
                <a:moveTo>
                  <a:pt x="462280" y="746760"/>
                </a:moveTo>
                <a:lnTo>
                  <a:pt x="0" y="746760"/>
                </a:lnTo>
                <a:lnTo>
                  <a:pt x="0" y="0"/>
                </a:lnTo>
                <a:lnTo>
                  <a:pt x="682752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SCK / CS / SD OE → 引脚"/>
          <p:cNvSpPr txBox="1"/>
          <p:nvPr/>
        </p:nvSpPr>
        <p:spPr>
          <a:xfrm>
            <a:off x="8961120" y="1729923"/>
            <a:ext cx="24564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SCK / CS / SD OE → 引脚</a:t>
            </a:r>
          </a:p>
        </p:txBody>
      </p:sp>
      <p:sp>
        <p:nvSpPr>
          <p:cNvPr id="67" name="E12"/>
          <p:cNvSpPr/>
          <p:nvPr/>
        </p:nvSpPr>
        <p:spPr>
          <a:xfrm>
            <a:off x="12019280" y="483616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-068"/>
          <p:cNvSpPr/>
          <p:nvPr/>
        </p:nvSpPr>
        <p:spPr>
          <a:xfrm>
            <a:off x="2506980" y="2695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1"/>
          <p:cNvSpPr txBox="1"/>
          <p:nvPr/>
        </p:nvSpPr>
        <p:spPr>
          <a:xfrm>
            <a:off x="2450440" y="2675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70" name="rect-070"/>
          <p:cNvSpPr/>
          <p:nvPr/>
        </p:nvSpPr>
        <p:spPr>
          <a:xfrm>
            <a:off x="513842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2"/>
          <p:cNvSpPr txBox="1"/>
          <p:nvPr/>
        </p:nvSpPr>
        <p:spPr>
          <a:xfrm>
            <a:off x="508188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72" name="rect-072"/>
          <p:cNvSpPr/>
          <p:nvPr/>
        </p:nvSpPr>
        <p:spPr>
          <a:xfrm>
            <a:off x="1415288" y="39009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3"/>
          <p:cNvSpPr txBox="1"/>
          <p:nvPr/>
        </p:nvSpPr>
        <p:spPr>
          <a:xfrm>
            <a:off x="1358748" y="38813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74" name="rect-074"/>
          <p:cNvSpPr/>
          <p:nvPr/>
        </p:nvSpPr>
        <p:spPr>
          <a:xfrm>
            <a:off x="248920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E04"/>
          <p:cNvSpPr txBox="1"/>
          <p:nvPr/>
        </p:nvSpPr>
        <p:spPr>
          <a:xfrm>
            <a:off x="243266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76" name="rect-076"/>
          <p:cNvSpPr/>
          <p:nvPr/>
        </p:nvSpPr>
        <p:spPr>
          <a:xfrm>
            <a:off x="195580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E05"/>
          <p:cNvSpPr txBox="1"/>
          <p:nvPr/>
        </p:nvSpPr>
        <p:spPr>
          <a:xfrm>
            <a:off x="189926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78" name="rect-078"/>
          <p:cNvSpPr/>
          <p:nvPr/>
        </p:nvSpPr>
        <p:spPr>
          <a:xfrm>
            <a:off x="517398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6"/>
          <p:cNvSpPr txBox="1"/>
          <p:nvPr/>
        </p:nvSpPr>
        <p:spPr>
          <a:xfrm>
            <a:off x="511744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80" name="rect-080"/>
          <p:cNvSpPr/>
          <p:nvPr/>
        </p:nvSpPr>
        <p:spPr>
          <a:xfrm>
            <a:off x="517398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E07"/>
          <p:cNvSpPr txBox="1"/>
          <p:nvPr/>
        </p:nvSpPr>
        <p:spPr>
          <a:xfrm>
            <a:off x="511744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82" name="rect-082"/>
          <p:cNvSpPr/>
          <p:nvPr/>
        </p:nvSpPr>
        <p:spPr>
          <a:xfrm>
            <a:off x="865886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3: E08"/>
          <p:cNvSpPr txBox="1"/>
          <p:nvPr/>
        </p:nvSpPr>
        <p:spPr>
          <a:xfrm>
            <a:off x="860232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84" name="rect-084"/>
          <p:cNvSpPr/>
          <p:nvPr/>
        </p:nvSpPr>
        <p:spPr>
          <a:xfrm>
            <a:off x="929894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E09"/>
          <p:cNvSpPr txBox="1"/>
          <p:nvPr/>
        </p:nvSpPr>
        <p:spPr>
          <a:xfrm>
            <a:off x="924240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86" name="rect-086"/>
          <p:cNvSpPr/>
          <p:nvPr/>
        </p:nvSpPr>
        <p:spPr>
          <a:xfrm>
            <a:off x="9298940" y="31435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E10"/>
          <p:cNvSpPr txBox="1"/>
          <p:nvPr/>
        </p:nvSpPr>
        <p:spPr>
          <a:xfrm>
            <a:off x="9242400" y="31238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88" name="rect-088"/>
          <p:cNvSpPr/>
          <p:nvPr/>
        </p:nvSpPr>
        <p:spPr>
          <a:xfrm>
            <a:off x="8498840" y="1806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9: E11"/>
          <p:cNvSpPr txBox="1"/>
          <p:nvPr/>
        </p:nvSpPr>
        <p:spPr>
          <a:xfrm>
            <a:off x="8442300" y="1786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90" name="rect-090"/>
          <p:cNvSpPr/>
          <p:nvPr/>
        </p:nvSpPr>
        <p:spPr>
          <a:xfrm>
            <a:off x="12072620" y="46156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-091: E12"/>
          <p:cNvSpPr txBox="1"/>
          <p:nvPr/>
        </p:nvSpPr>
        <p:spPr>
          <a:xfrm>
            <a:off x="12016080" y="45960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92" name="text-092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93" name="text-093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4  GPIO：输入滤波、边沿检测与独立的输出值 / 输出使能"/>
          <p:cNvSpPr txBox="1"/>
          <p:nvPr/>
        </p:nvSpPr>
        <p:spPr>
          <a:xfrm>
            <a:off x="284480" y="1347297"/>
            <a:ext cx="663407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04  GPIO：输入滤波、边沿检测与独立的输出值 / 输出使能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667000"/>
            <a:ext cx="2062480" cy="889000"/>
          </a:xfrm>
          <a:prstGeom prst="roundRect">
            <a:avLst>
              <a:gd name="adj" fmla="val 6400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305816" y="2688336"/>
            <a:ext cx="2019808" cy="437388"/>
          </a:xfrm>
          <a:prstGeom prst="roundRect">
            <a:avLst>
              <a:gd name="adj" fmla="val 8130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GPIO 输入 32 路"/>
          <p:cNvSpPr txBox="1"/>
          <p:nvPr/>
        </p:nvSpPr>
        <p:spPr>
          <a:xfrm>
            <a:off x="475082" y="2870261"/>
            <a:ext cx="16812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GPIO 输入 32 路</a:t>
            </a:r>
          </a:p>
        </p:txBody>
      </p:sp>
      <p:sp>
        <p:nvSpPr>
          <p:cNvPr id="6" name="text-006: gpio_i[31:0]"/>
          <p:cNvSpPr txBox="1"/>
          <p:nvPr/>
        </p:nvSpPr>
        <p:spPr>
          <a:xfrm>
            <a:off x="627278" y="3113207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gpio_i[31:0]</a:t>
            </a:r>
          </a:p>
        </p:txBody>
      </p:sp>
      <p:sp>
        <p:nvSpPr>
          <p:cNvPr id="7" name="rect-007"/>
          <p:cNvSpPr/>
          <p:nvPr/>
        </p:nvSpPr>
        <p:spPr>
          <a:xfrm>
            <a:off x="3093720" y="2489200"/>
            <a:ext cx="2418080" cy="1102360"/>
          </a:xfrm>
          <a:prstGeom prst="roundRect">
            <a:avLst>
              <a:gd name="adj" fmla="val 5161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8"/>
          <p:cNvSpPr/>
          <p:nvPr/>
        </p:nvSpPr>
        <p:spPr>
          <a:xfrm>
            <a:off x="3115056" y="2510536"/>
            <a:ext cx="2375408" cy="316484"/>
          </a:xfrm>
          <a:prstGeom prst="roundRect">
            <a:avLst>
              <a:gd name="adj" fmla="val 11235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1  prim_filter_ctr × 32"/>
          <p:cNvSpPr txBox="1"/>
          <p:nvPr/>
        </p:nvSpPr>
        <p:spPr>
          <a:xfrm>
            <a:off x="2941523" y="2571557"/>
            <a:ext cx="27224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prim_filter_ctr × 32</a:t>
            </a:r>
          </a:p>
        </p:txBody>
      </p:sp>
      <p:sp>
        <p:nvSpPr>
          <p:cNvPr id="10" name="text-010: 可选输入同步"/>
          <p:cNvSpPr txBox="1"/>
          <p:nvPr/>
        </p:nvSpPr>
        <p:spPr>
          <a:xfrm>
            <a:off x="3755136" y="2814503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可选输入同步</a:t>
            </a:r>
          </a:p>
        </p:txBody>
      </p:sp>
      <p:sp>
        <p:nvSpPr>
          <p:cNvPr id="11" name="text-011: 可选计数滤波"/>
          <p:cNvSpPr txBox="1"/>
          <p:nvPr/>
        </p:nvSpPr>
        <p:spPr>
          <a:xfrm>
            <a:off x="3755136" y="304208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可选计数滤波</a:t>
            </a:r>
          </a:p>
        </p:txBody>
      </p:sp>
      <p:sp>
        <p:nvSpPr>
          <p:cNvPr id="12" name="text-012: DATA_IN → 软件"/>
          <p:cNvSpPr txBox="1"/>
          <p:nvPr/>
        </p:nvSpPr>
        <p:spPr>
          <a:xfrm>
            <a:off x="3532175" y="3269671"/>
            <a:ext cx="15411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DATA_IN → 软件</a:t>
            </a:r>
          </a:p>
        </p:txBody>
      </p:sp>
      <p:sp>
        <p:nvSpPr>
          <p:cNvPr id="13" name="E01"/>
          <p:cNvSpPr/>
          <p:nvPr/>
        </p:nvSpPr>
        <p:spPr>
          <a:xfrm>
            <a:off x="2346960" y="309372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4"/>
          <p:cNvSpPr/>
          <p:nvPr/>
        </p:nvSpPr>
        <p:spPr>
          <a:xfrm>
            <a:off x="6365240" y="2524760"/>
            <a:ext cx="2418080" cy="1031240"/>
          </a:xfrm>
          <a:prstGeom prst="roundRect">
            <a:avLst>
              <a:gd name="adj" fmla="val 5517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6386576" y="2546096"/>
            <a:ext cx="2375408" cy="394716"/>
          </a:xfrm>
          <a:prstGeom prst="roundRect">
            <a:avLst>
              <a:gd name="adj" fmla="val 9009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2  data_in_q + 比较"/>
          <p:cNvSpPr txBox="1"/>
          <p:nvPr/>
        </p:nvSpPr>
        <p:spPr>
          <a:xfrm>
            <a:off x="6486144" y="2685349"/>
            <a:ext cx="217627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data_in_q + 比较</a:t>
            </a:r>
          </a:p>
        </p:txBody>
      </p:sp>
      <p:sp>
        <p:nvSpPr>
          <p:cNvPr id="17" name="text-017: 上升沿 / 下降沿"/>
          <p:cNvSpPr txBox="1"/>
          <p:nvPr/>
        </p:nvSpPr>
        <p:spPr>
          <a:xfrm>
            <a:off x="6874104" y="2928295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上升沿 / 下降沿</a:t>
            </a:r>
          </a:p>
        </p:txBody>
      </p:sp>
      <p:sp>
        <p:nvSpPr>
          <p:cNvPr id="18" name="text-018: 高电平 / 低电平"/>
          <p:cNvSpPr txBox="1"/>
          <p:nvPr/>
        </p:nvSpPr>
        <p:spPr>
          <a:xfrm>
            <a:off x="6874104" y="3155879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高电平 / 低电平</a:t>
            </a:r>
          </a:p>
        </p:txBody>
      </p:sp>
      <p:sp>
        <p:nvSpPr>
          <p:cNvPr id="19" name="E02"/>
          <p:cNvSpPr/>
          <p:nvPr/>
        </p:nvSpPr>
        <p:spPr>
          <a:xfrm>
            <a:off x="5511800" y="309372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0"/>
          <p:cNvSpPr/>
          <p:nvPr/>
        </p:nvSpPr>
        <p:spPr>
          <a:xfrm>
            <a:off x="9743440" y="2524760"/>
            <a:ext cx="2524760" cy="1031240"/>
          </a:xfrm>
          <a:prstGeom prst="roundRect">
            <a:avLst>
              <a:gd name="adj" fmla="val 5517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1"/>
          <p:cNvSpPr/>
          <p:nvPr/>
        </p:nvSpPr>
        <p:spPr>
          <a:xfrm>
            <a:off x="9764776" y="2546096"/>
            <a:ext cx="2482088" cy="394716"/>
          </a:xfrm>
          <a:prstGeom prst="roundRect">
            <a:avLst>
              <a:gd name="adj" fmla="val 9009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3  prim_intr_hw"/>
          <p:cNvSpPr txBox="1"/>
          <p:nvPr/>
        </p:nvSpPr>
        <p:spPr>
          <a:xfrm>
            <a:off x="10088372" y="2685349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prim_intr_hw</a:t>
            </a:r>
          </a:p>
        </p:txBody>
      </p:sp>
      <p:sp>
        <p:nvSpPr>
          <p:cNvPr id="23" name="text-023: 事件状态 + enable/test"/>
          <p:cNvSpPr txBox="1"/>
          <p:nvPr/>
        </p:nvSpPr>
        <p:spPr>
          <a:xfrm>
            <a:off x="9902749" y="2928295"/>
            <a:ext cx="2206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事件状态 + enable/test</a:t>
            </a:r>
          </a:p>
        </p:txBody>
      </p:sp>
      <p:sp>
        <p:nvSpPr>
          <p:cNvPr id="24" name="text-024: 32 路 intr_gpio_o"/>
          <p:cNvSpPr txBox="1"/>
          <p:nvPr/>
        </p:nvSpPr>
        <p:spPr>
          <a:xfrm>
            <a:off x="10086594" y="3155879"/>
            <a:ext cx="18384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 路 intr_gpio_o</a:t>
            </a:r>
          </a:p>
        </p:txBody>
      </p:sp>
      <p:sp>
        <p:nvSpPr>
          <p:cNvPr id="25" name="E03"/>
          <p:cNvSpPr/>
          <p:nvPr/>
        </p:nvSpPr>
        <p:spPr>
          <a:xfrm>
            <a:off x="8783320" y="309372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6"/>
          <p:cNvSpPr/>
          <p:nvPr/>
        </p:nvSpPr>
        <p:spPr>
          <a:xfrm>
            <a:off x="3129280" y="5262880"/>
            <a:ext cx="2631440" cy="1529080"/>
          </a:xfrm>
          <a:prstGeom prst="roundRect">
            <a:avLst>
              <a:gd name="adj" fmla="val 3720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7"/>
          <p:cNvSpPr/>
          <p:nvPr/>
        </p:nvSpPr>
        <p:spPr>
          <a:xfrm>
            <a:off x="3150616" y="5284216"/>
            <a:ext cx="2588768" cy="416052"/>
          </a:xfrm>
          <a:prstGeom prst="roundRect">
            <a:avLst>
              <a:gd name="adj" fmla="val 8547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4  gpio_reg_top"/>
          <p:cNvSpPr txBox="1"/>
          <p:nvPr/>
        </p:nvSpPr>
        <p:spPr>
          <a:xfrm>
            <a:off x="3527552" y="5444805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gpio_reg_top</a:t>
            </a:r>
          </a:p>
        </p:txBody>
      </p:sp>
      <p:sp>
        <p:nvSpPr>
          <p:cNvPr id="29" name="text-029: DIRECT_OUT / DIRECT_OE"/>
          <p:cNvSpPr txBox="1"/>
          <p:nvPr/>
        </p:nvSpPr>
        <p:spPr>
          <a:xfrm>
            <a:off x="3248050" y="5687751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DIRECT_OUT / DIRECT_OE</a:t>
            </a:r>
          </a:p>
        </p:txBody>
      </p:sp>
      <p:sp>
        <p:nvSpPr>
          <p:cNvPr id="30" name="text-030: MASKED_OUT / MASKED_OE"/>
          <p:cNvSpPr txBox="1"/>
          <p:nvPr/>
        </p:nvSpPr>
        <p:spPr>
          <a:xfrm>
            <a:off x="3248050" y="5915335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MASKED_OUT / MASKED_OE</a:t>
            </a:r>
          </a:p>
        </p:txBody>
      </p:sp>
      <p:sp>
        <p:nvSpPr>
          <p:cNvPr id="31" name="text-031: INTR_CTRL / STATE"/>
          <p:cNvSpPr txBox="1"/>
          <p:nvPr/>
        </p:nvSpPr>
        <p:spPr>
          <a:xfrm>
            <a:off x="3502304" y="6142919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INTR_CTRL / STATE</a:t>
            </a:r>
          </a:p>
        </p:txBody>
      </p:sp>
      <p:sp>
        <p:nvSpPr>
          <p:cNvPr id="32" name="text-032: INPUT_FILTER / DATA_IN"/>
          <p:cNvSpPr txBox="1"/>
          <p:nvPr/>
        </p:nvSpPr>
        <p:spPr>
          <a:xfrm>
            <a:off x="3248050" y="6370503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INPUT_FILTER / DATA_IN</a:t>
            </a:r>
          </a:p>
        </p:txBody>
      </p:sp>
      <p:sp>
        <p:nvSpPr>
          <p:cNvPr id="33" name="text-033: Regbus 请求 / 响应"/>
          <p:cNvSpPr txBox="1"/>
          <p:nvPr/>
        </p:nvSpPr>
        <p:spPr>
          <a:xfrm>
            <a:off x="355600" y="5419913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34" name="rect-034"/>
          <p:cNvSpPr/>
          <p:nvPr/>
        </p:nvSpPr>
        <p:spPr>
          <a:xfrm>
            <a:off x="7325360" y="5298440"/>
            <a:ext cx="2453640" cy="640080"/>
          </a:xfrm>
          <a:prstGeom prst="roundRect">
            <a:avLst>
              <a:gd name="adj" fmla="val 8888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line-035"/>
          <p:cNvSpPr/>
          <p:nvPr/>
        </p:nvSpPr>
        <p:spPr>
          <a:xfrm>
            <a:off x="7410704" y="5298440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5  cio_gpio_q[31:0]"/>
          <p:cNvSpPr txBox="1"/>
          <p:nvPr/>
        </p:nvSpPr>
        <p:spPr>
          <a:xfrm>
            <a:off x="7412838" y="5491033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7552A1"/>
                </a:solidFill>
                <a:latin typeface="WenQuanYi Zen Hei"/>
                <a:ea typeface="WenQuanYi Zen Hei"/>
                <a:cs typeface="WenQuanYi Zen Hei"/>
              </a:rPr>
              <a:t>5  cio_gpio_q[31:0]</a:t>
            </a:r>
          </a:p>
        </p:txBody>
      </p:sp>
      <p:sp>
        <p:nvSpPr>
          <p:cNvPr id="37" name="rect-037"/>
          <p:cNvSpPr/>
          <p:nvPr/>
        </p:nvSpPr>
        <p:spPr>
          <a:xfrm>
            <a:off x="7325360" y="6329680"/>
            <a:ext cx="2453640" cy="640080"/>
          </a:xfrm>
          <a:prstGeom prst="roundRect">
            <a:avLst>
              <a:gd name="adj" fmla="val 8888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line-038"/>
          <p:cNvSpPr/>
          <p:nvPr/>
        </p:nvSpPr>
        <p:spPr>
          <a:xfrm>
            <a:off x="7410704" y="6329680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6  cio_gpio_en_q[31:0]"/>
          <p:cNvSpPr txBox="1"/>
          <p:nvPr/>
        </p:nvSpPr>
        <p:spPr>
          <a:xfrm>
            <a:off x="7246417" y="6522273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7552A1"/>
                </a:solidFill>
                <a:latin typeface="WenQuanYi Zen Hei"/>
                <a:ea typeface="WenQuanYi Zen Hei"/>
                <a:cs typeface="WenQuanYi Zen Hei"/>
              </a:rPr>
              <a:t>6  cio_gpio_en_q[31:0]</a:t>
            </a:r>
          </a:p>
        </p:txBody>
      </p:sp>
      <p:sp>
        <p:nvSpPr>
          <p:cNvPr id="40" name="E04"/>
          <p:cNvSpPr/>
          <p:nvPr/>
        </p:nvSpPr>
        <p:spPr>
          <a:xfrm>
            <a:off x="5760720" y="565404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0" y="0"/>
                </a:moveTo>
                <a:lnTo>
                  <a:pt x="156464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5"/>
          <p:cNvSpPr/>
          <p:nvPr/>
        </p:nvSpPr>
        <p:spPr>
          <a:xfrm>
            <a:off x="5760720" y="654304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0" y="0"/>
                </a:moveTo>
                <a:lnTo>
                  <a:pt x="156464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6"/>
          <p:cNvSpPr/>
          <p:nvPr/>
        </p:nvSpPr>
        <p:spPr>
          <a:xfrm>
            <a:off x="9779000" y="5654040"/>
            <a:ext cx="2453640" cy="1"/>
          </a:xfrm>
          <a:custGeom>
            <a:avLst/>
            <a:gdLst/>
            <a:ahLst/>
            <a:cxnLst/>
            <a:rect l="0" t="0" r="r" b="b"/>
            <a:pathLst>
              <a:path w="2453640" h="1" fill="none">
                <a:moveTo>
                  <a:pt x="0" y="0"/>
                </a:moveTo>
                <a:lnTo>
                  <a:pt x="245364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输出值 → PAD"/>
          <p:cNvSpPr txBox="1"/>
          <p:nvPr/>
        </p:nvSpPr>
        <p:spPr>
          <a:xfrm>
            <a:off x="10241280" y="5320914"/>
            <a:ext cx="13495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输出值 → PAD</a:t>
            </a:r>
          </a:p>
        </p:txBody>
      </p:sp>
      <p:sp>
        <p:nvSpPr>
          <p:cNvPr id="44" name="E07"/>
          <p:cNvSpPr/>
          <p:nvPr/>
        </p:nvSpPr>
        <p:spPr>
          <a:xfrm>
            <a:off x="9779000" y="6649720"/>
            <a:ext cx="2453640" cy="1"/>
          </a:xfrm>
          <a:custGeom>
            <a:avLst/>
            <a:gdLst/>
            <a:ahLst/>
            <a:cxnLst/>
            <a:rect l="0" t="0" r="r" b="b"/>
            <a:pathLst>
              <a:path w="2453640" h="1" fill="none">
                <a:moveTo>
                  <a:pt x="0" y="0"/>
                </a:moveTo>
                <a:lnTo>
                  <a:pt x="245364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输出使能 → PAD"/>
          <p:cNvSpPr txBox="1"/>
          <p:nvPr/>
        </p:nvSpPr>
        <p:spPr>
          <a:xfrm>
            <a:off x="10099040" y="6295258"/>
            <a:ext cx="15130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输出使能 → PAD</a:t>
            </a:r>
          </a:p>
        </p:txBody>
      </p:sp>
      <p:sp>
        <p:nvSpPr>
          <p:cNvPr id="46" name="E08"/>
          <p:cNvSpPr/>
          <p:nvPr/>
        </p:nvSpPr>
        <p:spPr>
          <a:xfrm>
            <a:off x="4302760" y="359156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167132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9"/>
          <p:cNvSpPr/>
          <p:nvPr/>
        </p:nvSpPr>
        <p:spPr>
          <a:xfrm>
            <a:off x="5227320" y="3556000"/>
            <a:ext cx="2346960" cy="1706880"/>
          </a:xfrm>
          <a:custGeom>
            <a:avLst/>
            <a:gdLst/>
            <a:ahLst/>
            <a:cxnLst/>
            <a:rect l="0" t="0" r="r" b="b"/>
            <a:pathLst>
              <a:path w="2346960" h="1706880" fill="none">
                <a:moveTo>
                  <a:pt x="0" y="1706880"/>
                </a:moveTo>
                <a:lnTo>
                  <a:pt x="0" y="746760"/>
                </a:lnTo>
                <a:lnTo>
                  <a:pt x="2346960" y="746760"/>
                </a:lnTo>
                <a:lnTo>
                  <a:pt x="234696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10"/>
          <p:cNvSpPr/>
          <p:nvPr/>
        </p:nvSpPr>
        <p:spPr>
          <a:xfrm>
            <a:off x="5760720" y="3556000"/>
            <a:ext cx="5227320" cy="2524760"/>
          </a:xfrm>
          <a:custGeom>
            <a:avLst/>
            <a:gdLst/>
            <a:ahLst/>
            <a:cxnLst/>
            <a:rect l="0" t="0" r="r" b="b"/>
            <a:pathLst>
              <a:path w="5227320" h="2524760" fill="none">
                <a:moveTo>
                  <a:pt x="0" y="2524760"/>
                </a:moveTo>
                <a:lnTo>
                  <a:pt x="355600" y="2524760"/>
                </a:lnTo>
                <a:lnTo>
                  <a:pt x="355600" y="1102360"/>
                </a:lnTo>
                <a:lnTo>
                  <a:pt x="5227320" y="1102360"/>
                </a:lnTo>
                <a:lnTo>
                  <a:pt x="5227320" y="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中断使能 / 清除 / 测试"/>
          <p:cNvSpPr txBox="1"/>
          <p:nvPr/>
        </p:nvSpPr>
        <p:spPr>
          <a:xfrm>
            <a:off x="7112000" y="4382699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中断使能 / 清除 / 测试</a:t>
            </a:r>
          </a:p>
        </p:txBody>
      </p:sp>
      <p:sp>
        <p:nvSpPr>
          <p:cNvPr id="50" name="text-050: MASKED 写：掩码选中哪些位，只更新这些位；输入、输出值和输出使能是三条不同"/>
          <p:cNvSpPr txBox="1"/>
          <p:nvPr/>
        </p:nvSpPr>
        <p:spPr>
          <a:xfrm>
            <a:off x="320040" y="7247697"/>
            <a:ext cx="7092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MASKED 写：掩码选中哪些位，只更新这些位；输入、输出值和输出使能是三条不同路径。</a:t>
            </a:r>
          </a:p>
        </p:txBody>
      </p:sp>
      <p:sp>
        <p:nvSpPr>
          <p:cNvPr id="51" name="E11"/>
          <p:cNvSpPr/>
          <p:nvPr/>
        </p:nvSpPr>
        <p:spPr>
          <a:xfrm>
            <a:off x="3378200" y="359156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0"/>
                </a:moveTo>
                <a:lnTo>
                  <a:pt x="0" y="167132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12"/>
          <p:cNvSpPr/>
          <p:nvPr/>
        </p:nvSpPr>
        <p:spPr>
          <a:xfrm>
            <a:off x="10988040" y="2026920"/>
            <a:ext cx="1315720" cy="497840"/>
          </a:xfrm>
          <a:custGeom>
            <a:avLst/>
            <a:gdLst/>
            <a:ahLst/>
            <a:cxnLst/>
            <a:rect l="0" t="0" r="r" b="b"/>
            <a:pathLst>
              <a:path w="1315720" h="497840" fill="none">
                <a:moveTo>
                  <a:pt x="0" y="497840"/>
                </a:moveTo>
                <a:lnTo>
                  <a:pt x="0" y="0"/>
                </a:lnTo>
                <a:lnTo>
                  <a:pt x="1315720" y="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intr_gpio_o → SoC"/>
          <p:cNvSpPr txBox="1"/>
          <p:nvPr/>
        </p:nvSpPr>
        <p:spPr>
          <a:xfrm>
            <a:off x="9707880" y="1729923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intr_gpio_o → SoC</a:t>
            </a:r>
          </a:p>
        </p:txBody>
      </p:sp>
      <p:sp>
        <p:nvSpPr>
          <p:cNvPr id="54" name="rect-054"/>
          <p:cNvSpPr/>
          <p:nvPr/>
        </p:nvSpPr>
        <p:spPr>
          <a:xfrm>
            <a:off x="254254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1"/>
          <p:cNvSpPr txBox="1"/>
          <p:nvPr/>
        </p:nvSpPr>
        <p:spPr>
          <a:xfrm>
            <a:off x="248600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6" name="rect-056"/>
          <p:cNvSpPr/>
          <p:nvPr/>
        </p:nvSpPr>
        <p:spPr>
          <a:xfrm>
            <a:off x="576072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2"/>
          <p:cNvSpPr txBox="1"/>
          <p:nvPr/>
        </p:nvSpPr>
        <p:spPr>
          <a:xfrm>
            <a:off x="570418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8" name="rect-058"/>
          <p:cNvSpPr/>
          <p:nvPr/>
        </p:nvSpPr>
        <p:spPr>
          <a:xfrm>
            <a:off x="908558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3"/>
          <p:cNvSpPr txBox="1"/>
          <p:nvPr/>
        </p:nvSpPr>
        <p:spPr>
          <a:xfrm>
            <a:off x="902904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0" name="rect-060"/>
          <p:cNvSpPr/>
          <p:nvPr/>
        </p:nvSpPr>
        <p:spPr>
          <a:xfrm>
            <a:off x="6365240" y="5433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4"/>
          <p:cNvSpPr txBox="1"/>
          <p:nvPr/>
        </p:nvSpPr>
        <p:spPr>
          <a:xfrm>
            <a:off x="6308700" y="5413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2" name="rect-062"/>
          <p:cNvSpPr/>
          <p:nvPr/>
        </p:nvSpPr>
        <p:spPr>
          <a:xfrm>
            <a:off x="6365240" y="6322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5"/>
          <p:cNvSpPr txBox="1"/>
          <p:nvPr/>
        </p:nvSpPr>
        <p:spPr>
          <a:xfrm>
            <a:off x="6308700" y="6302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4" name="rect-064"/>
          <p:cNvSpPr/>
          <p:nvPr/>
        </p:nvSpPr>
        <p:spPr>
          <a:xfrm>
            <a:off x="10828020" y="57038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6"/>
          <p:cNvSpPr txBox="1"/>
          <p:nvPr/>
        </p:nvSpPr>
        <p:spPr>
          <a:xfrm>
            <a:off x="10771480" y="56841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6" name="rect-066"/>
          <p:cNvSpPr/>
          <p:nvPr/>
        </p:nvSpPr>
        <p:spPr>
          <a:xfrm>
            <a:off x="10828020" y="66995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7"/>
          <p:cNvSpPr txBox="1"/>
          <p:nvPr/>
        </p:nvSpPr>
        <p:spPr>
          <a:xfrm>
            <a:off x="10771480" y="66798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8" name="rect-068"/>
          <p:cNvSpPr/>
          <p:nvPr/>
        </p:nvSpPr>
        <p:spPr>
          <a:xfrm>
            <a:off x="4366768" y="43276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8"/>
          <p:cNvSpPr txBox="1"/>
          <p:nvPr/>
        </p:nvSpPr>
        <p:spPr>
          <a:xfrm>
            <a:off x="4310228" y="43080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0" name="rect-070"/>
          <p:cNvSpPr/>
          <p:nvPr/>
        </p:nvSpPr>
        <p:spPr>
          <a:xfrm>
            <a:off x="6223000" y="40822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9"/>
          <p:cNvSpPr txBox="1"/>
          <p:nvPr/>
        </p:nvSpPr>
        <p:spPr>
          <a:xfrm>
            <a:off x="6166460" y="40626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2" name="rect-072"/>
          <p:cNvSpPr/>
          <p:nvPr/>
        </p:nvSpPr>
        <p:spPr>
          <a:xfrm>
            <a:off x="8374380" y="47081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10"/>
          <p:cNvSpPr txBox="1"/>
          <p:nvPr/>
        </p:nvSpPr>
        <p:spPr>
          <a:xfrm>
            <a:off x="8317840" y="46885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4" name="rect-074"/>
          <p:cNvSpPr/>
          <p:nvPr/>
        </p:nvSpPr>
        <p:spPr>
          <a:xfrm>
            <a:off x="3442208" y="43276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E11"/>
          <p:cNvSpPr txBox="1"/>
          <p:nvPr/>
        </p:nvSpPr>
        <p:spPr>
          <a:xfrm>
            <a:off x="3385668" y="43080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76" name="rect-076"/>
          <p:cNvSpPr/>
          <p:nvPr/>
        </p:nvSpPr>
        <p:spPr>
          <a:xfrm>
            <a:off x="11468100" y="1806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E12"/>
          <p:cNvSpPr txBox="1"/>
          <p:nvPr/>
        </p:nvSpPr>
        <p:spPr>
          <a:xfrm>
            <a:off x="11411560" y="1786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78" name="text-078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9" name="text-079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5  PLIC：源侧 pending / active 与目标侧优先级选择"/>
          <p:cNvSpPr txBox="1"/>
          <p:nvPr/>
        </p:nvSpPr>
        <p:spPr>
          <a:xfrm>
            <a:off x="284480" y="1347297"/>
            <a:ext cx="680476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05  PLIC：源侧 pending / active 与目标侧优先级选择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702560"/>
            <a:ext cx="1991360" cy="995680"/>
          </a:xfrm>
          <a:prstGeom prst="roundRect">
            <a:avLst>
              <a:gd name="adj" fmla="val 5714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305816" y="2723896"/>
            <a:ext cx="1948688" cy="376936"/>
          </a:xfrm>
          <a:prstGeom prst="roundRect">
            <a:avLst>
              <a:gd name="adj" fmla="val 9433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外设 IRQ 电平"/>
          <p:cNvSpPr txBox="1"/>
          <p:nvPr/>
        </p:nvSpPr>
        <p:spPr>
          <a:xfrm>
            <a:off x="576072" y="2845369"/>
            <a:ext cx="1408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外设 IRQ 电平</a:t>
            </a:r>
          </a:p>
        </p:txBody>
      </p:sp>
      <p:sp>
        <p:nvSpPr>
          <p:cNvPr id="6" name="text-006: IRQ Router 或旁路"/>
          <p:cNvSpPr txBox="1"/>
          <p:nvPr/>
        </p:nvSpPr>
        <p:spPr>
          <a:xfrm>
            <a:off x="407873" y="3088315"/>
            <a:ext cx="17445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 Router 或旁路</a:t>
            </a:r>
          </a:p>
        </p:txBody>
      </p:sp>
      <p:sp>
        <p:nvSpPr>
          <p:cNvPr id="7" name="text-007: PLIC 目标分支"/>
          <p:cNvSpPr txBox="1"/>
          <p:nvPr/>
        </p:nvSpPr>
        <p:spPr>
          <a:xfrm>
            <a:off x="634746" y="3315899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 目标分支</a:t>
            </a:r>
          </a:p>
        </p:txBody>
      </p:sp>
      <p:sp>
        <p:nvSpPr>
          <p:cNvPr id="8" name="rect-008"/>
          <p:cNvSpPr/>
          <p:nvPr/>
        </p:nvSpPr>
        <p:spPr>
          <a:xfrm>
            <a:off x="2987040" y="2702560"/>
            <a:ext cx="2133600" cy="995680"/>
          </a:xfrm>
          <a:prstGeom prst="roundRect">
            <a:avLst>
              <a:gd name="adj" fmla="val 5714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-009"/>
          <p:cNvSpPr/>
          <p:nvPr/>
        </p:nvSpPr>
        <p:spPr>
          <a:xfrm>
            <a:off x="3008376" y="2723896"/>
            <a:ext cx="2090928" cy="376936"/>
          </a:xfrm>
          <a:prstGeom prst="roundRect">
            <a:avLst>
              <a:gd name="adj" fmla="val 9433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1  prim_flop_2sync"/>
          <p:cNvSpPr txBox="1"/>
          <p:nvPr/>
        </p:nvSpPr>
        <p:spPr>
          <a:xfrm>
            <a:off x="2969971" y="2845369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prim_flop_2sync</a:t>
            </a:r>
          </a:p>
        </p:txBody>
      </p:sp>
      <p:sp>
        <p:nvSpPr>
          <p:cNvPr id="11" name="text-011: 同步输入"/>
          <p:cNvSpPr txBox="1"/>
          <p:nvPr/>
        </p:nvSpPr>
        <p:spPr>
          <a:xfrm>
            <a:off x="3662680" y="3088315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同步输入</a:t>
            </a:r>
          </a:p>
        </p:txBody>
      </p:sp>
      <p:sp>
        <p:nvSpPr>
          <p:cNvPr id="12" name="text-012: 本集成按电平触发"/>
          <p:cNvSpPr txBox="1"/>
          <p:nvPr/>
        </p:nvSpPr>
        <p:spPr>
          <a:xfrm>
            <a:off x="3349752" y="3315899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本集成按电平触发</a:t>
            </a:r>
          </a:p>
        </p:txBody>
      </p:sp>
      <p:sp>
        <p:nvSpPr>
          <p:cNvPr id="13" name="E01"/>
          <p:cNvSpPr/>
          <p:nvPr/>
        </p:nvSpPr>
        <p:spPr>
          <a:xfrm>
            <a:off x="2275840" y="32004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4"/>
          <p:cNvSpPr/>
          <p:nvPr/>
        </p:nvSpPr>
        <p:spPr>
          <a:xfrm>
            <a:off x="5938520" y="2524760"/>
            <a:ext cx="2489200" cy="1351280"/>
          </a:xfrm>
          <a:prstGeom prst="roundRect">
            <a:avLst>
              <a:gd name="adj" fmla="val 4210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5959856" y="2546096"/>
            <a:ext cx="2446528" cy="327152"/>
          </a:xfrm>
          <a:prstGeom prst="roundRect">
            <a:avLst>
              <a:gd name="adj" fmla="val 10869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2  rv_plic_gateway"/>
          <p:cNvSpPr txBox="1"/>
          <p:nvPr/>
        </p:nvSpPr>
        <p:spPr>
          <a:xfrm>
            <a:off x="6099251" y="2617785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rv_plic_gateway</a:t>
            </a:r>
          </a:p>
        </p:txBody>
      </p:sp>
      <p:sp>
        <p:nvSpPr>
          <p:cNvPr id="17" name="text-017: 每源 pending：ip"/>
          <p:cNvSpPr txBox="1"/>
          <p:nvPr/>
        </p:nvSpPr>
        <p:spPr>
          <a:xfrm>
            <a:off x="6361684" y="2860731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pending：ip</a:t>
            </a:r>
          </a:p>
        </p:txBody>
      </p:sp>
      <p:sp>
        <p:nvSpPr>
          <p:cNvPr id="18" name="text-018: 每源 active：ia"/>
          <p:cNvSpPr txBox="1"/>
          <p:nvPr/>
        </p:nvSpPr>
        <p:spPr>
          <a:xfrm>
            <a:off x="6412535" y="3088315"/>
            <a:ext cx="15411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active：ia</a:t>
            </a:r>
          </a:p>
        </p:txBody>
      </p:sp>
      <p:sp>
        <p:nvSpPr>
          <p:cNvPr id="19" name="text-019: claim 清 pending"/>
          <p:cNvSpPr txBox="1"/>
          <p:nvPr/>
        </p:nvSpPr>
        <p:spPr>
          <a:xfrm>
            <a:off x="6314745" y="3315899"/>
            <a:ext cx="17367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claim 清 pending</a:t>
            </a:r>
          </a:p>
        </p:txBody>
      </p:sp>
      <p:sp>
        <p:nvSpPr>
          <p:cNvPr id="20" name="text-020: complete 允许再触发"/>
          <p:cNvSpPr txBox="1"/>
          <p:nvPr/>
        </p:nvSpPr>
        <p:spPr>
          <a:xfrm>
            <a:off x="6256071" y="3543483"/>
            <a:ext cx="18540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complete 允许再触发</a:t>
            </a:r>
          </a:p>
        </p:txBody>
      </p:sp>
      <p:sp>
        <p:nvSpPr>
          <p:cNvPr id="21" name="E02"/>
          <p:cNvSpPr/>
          <p:nvPr/>
        </p:nvSpPr>
        <p:spPr>
          <a:xfrm>
            <a:off x="5120640" y="320040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 fill="none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2"/>
          <p:cNvSpPr/>
          <p:nvPr/>
        </p:nvSpPr>
        <p:spPr>
          <a:xfrm>
            <a:off x="9565640" y="2524760"/>
            <a:ext cx="2738120" cy="1351280"/>
          </a:xfrm>
          <a:prstGeom prst="roundRect">
            <a:avLst>
              <a:gd name="adj" fmla="val 4210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3"/>
          <p:cNvSpPr/>
          <p:nvPr/>
        </p:nvSpPr>
        <p:spPr>
          <a:xfrm>
            <a:off x="9586976" y="2546096"/>
            <a:ext cx="2695448" cy="440944"/>
          </a:xfrm>
          <a:prstGeom prst="roundRect">
            <a:avLst>
              <a:gd name="adj" fmla="val 8064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3  rv_plic_target × 目标"/>
          <p:cNvSpPr txBox="1"/>
          <p:nvPr/>
        </p:nvSpPr>
        <p:spPr>
          <a:xfrm>
            <a:off x="9569196" y="2731577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rv_plic_target × 目标</a:t>
            </a:r>
          </a:p>
        </p:txBody>
      </p:sp>
      <p:sp>
        <p:nvSpPr>
          <p:cNvPr id="25" name="text-025: pending &amp; enable"/>
          <p:cNvSpPr txBox="1"/>
          <p:nvPr/>
        </p:nvSpPr>
        <p:spPr>
          <a:xfrm>
            <a:off x="10042855" y="297452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&amp; enable</a:t>
            </a:r>
          </a:p>
        </p:txBody>
      </p:sp>
      <p:sp>
        <p:nvSpPr>
          <p:cNvPr id="26" name="text-026: priority &gt; threshold"/>
          <p:cNvSpPr txBox="1"/>
          <p:nvPr/>
        </p:nvSpPr>
        <p:spPr>
          <a:xfrm>
            <a:off x="9839452" y="3202107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priority &gt; threshold</a:t>
            </a:r>
          </a:p>
        </p:txBody>
      </p:sp>
      <p:sp>
        <p:nvSpPr>
          <p:cNvPr id="27" name="text-027: 选择获胜源 / 产生 IRQ"/>
          <p:cNvSpPr txBox="1"/>
          <p:nvPr/>
        </p:nvSpPr>
        <p:spPr>
          <a:xfrm>
            <a:off x="9952888" y="3429691"/>
            <a:ext cx="19636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选择获胜源 / 产生 IRQ</a:t>
            </a:r>
          </a:p>
        </p:txBody>
      </p:sp>
      <p:sp>
        <p:nvSpPr>
          <p:cNvPr id="28" name="E03"/>
          <p:cNvSpPr/>
          <p:nvPr/>
        </p:nvSpPr>
        <p:spPr>
          <a:xfrm>
            <a:off x="8427720" y="320040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04"/>
          <p:cNvSpPr/>
          <p:nvPr/>
        </p:nvSpPr>
        <p:spPr>
          <a:xfrm>
            <a:off x="10916920" y="3876040"/>
            <a:ext cx="1" cy="711200"/>
          </a:xfrm>
          <a:custGeom>
            <a:avLst/>
            <a:gdLst/>
            <a:ahLst/>
            <a:cxnLst/>
            <a:rect l="0" t="0" r="r" b="b"/>
            <a:pathLst>
              <a:path w="1" h="711200" fill="none">
                <a:moveTo>
                  <a:pt x="0" y="0"/>
                </a:moveTo>
                <a:lnTo>
                  <a:pt x="0" y="71120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xeip → hart"/>
          <p:cNvSpPr txBox="1"/>
          <p:nvPr/>
        </p:nvSpPr>
        <p:spPr>
          <a:xfrm>
            <a:off x="10596880" y="4616257"/>
            <a:ext cx="1450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xeip → hart</a:t>
            </a:r>
          </a:p>
        </p:txBody>
      </p:sp>
      <p:sp>
        <p:nvSpPr>
          <p:cNvPr id="31" name="text-031: M / S 外部中断"/>
          <p:cNvSpPr txBox="1"/>
          <p:nvPr/>
        </p:nvSpPr>
        <p:spPr>
          <a:xfrm>
            <a:off x="10596880" y="4887651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 / S 外部中断</a:t>
            </a:r>
          </a:p>
        </p:txBody>
      </p:sp>
      <p:sp>
        <p:nvSpPr>
          <p:cNvPr id="32" name="rect-032"/>
          <p:cNvSpPr/>
          <p:nvPr/>
        </p:nvSpPr>
        <p:spPr>
          <a:xfrm>
            <a:off x="2915920" y="5902960"/>
            <a:ext cx="5511800" cy="1280160"/>
          </a:xfrm>
          <a:prstGeom prst="roundRect">
            <a:avLst>
              <a:gd name="adj" fmla="val 4444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3"/>
          <p:cNvSpPr/>
          <p:nvPr/>
        </p:nvSpPr>
        <p:spPr>
          <a:xfrm>
            <a:off x="2937256" y="5924296"/>
            <a:ext cx="5469128" cy="405384"/>
          </a:xfrm>
          <a:prstGeom prst="roundRect">
            <a:avLst>
              <a:gd name="adj" fmla="val 8771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4  rv_plic_reg_top"/>
          <p:cNvSpPr txBox="1"/>
          <p:nvPr/>
        </p:nvSpPr>
        <p:spPr>
          <a:xfrm>
            <a:off x="4587951" y="607421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rv_plic_reg_top</a:t>
            </a:r>
          </a:p>
        </p:txBody>
      </p:sp>
      <p:sp>
        <p:nvSpPr>
          <p:cNvPr id="35" name="text-035: 源 priority；每目标 enable / threshold"/>
          <p:cNvSpPr txBox="1"/>
          <p:nvPr/>
        </p:nvSpPr>
        <p:spPr>
          <a:xfrm>
            <a:off x="3778606" y="6317163"/>
            <a:ext cx="378642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priority；每目标 enable / threshold</a:t>
            </a:r>
          </a:p>
        </p:txBody>
      </p:sp>
      <p:sp>
        <p:nvSpPr>
          <p:cNvPr id="36" name="text-036: 读 claim → 源 ID；写 complete ← 已处理 ID"/>
          <p:cNvSpPr txBox="1"/>
          <p:nvPr/>
        </p:nvSpPr>
        <p:spPr>
          <a:xfrm>
            <a:off x="3618230" y="6544747"/>
            <a:ext cx="41071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 claim → 源 ID；写 complete ← 已处理 ID</a:t>
            </a:r>
          </a:p>
        </p:txBody>
      </p:sp>
      <p:sp>
        <p:nvSpPr>
          <p:cNvPr id="37" name="text-037: 源 ID = 0 保留；设备自身状态需驱动清除"/>
          <p:cNvSpPr txBox="1"/>
          <p:nvPr/>
        </p:nvSpPr>
        <p:spPr>
          <a:xfrm>
            <a:off x="4013302" y="6772331"/>
            <a:ext cx="331703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ID = 0 保留；设备自身状态需驱动清除</a:t>
            </a:r>
          </a:p>
        </p:txBody>
      </p:sp>
      <p:sp>
        <p:nvSpPr>
          <p:cNvPr id="38" name="text-038: Regbus 请求 / 响应"/>
          <p:cNvSpPr txBox="1"/>
          <p:nvPr/>
        </p:nvSpPr>
        <p:spPr>
          <a:xfrm>
            <a:off x="5262880" y="5434137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39" name="E05"/>
          <p:cNvSpPr/>
          <p:nvPr/>
        </p:nvSpPr>
        <p:spPr>
          <a:xfrm>
            <a:off x="7183120" y="3876040"/>
            <a:ext cx="426720" cy="2026920"/>
          </a:xfrm>
          <a:custGeom>
            <a:avLst/>
            <a:gdLst/>
            <a:ahLst/>
            <a:cxnLst/>
            <a:rect l="0" t="0" r="r" b="b"/>
            <a:pathLst>
              <a:path w="426720" h="2026920" fill="none">
                <a:moveTo>
                  <a:pt x="426720" y="2026920"/>
                </a:moveTo>
                <a:lnTo>
                  <a:pt x="426720" y="1173480"/>
                </a:lnTo>
                <a:lnTo>
                  <a:pt x="0" y="117348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claim / complete"/>
          <p:cNvSpPr txBox="1"/>
          <p:nvPr/>
        </p:nvSpPr>
        <p:spPr>
          <a:xfrm>
            <a:off x="7325360" y="4695058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41" name="E06"/>
          <p:cNvSpPr/>
          <p:nvPr/>
        </p:nvSpPr>
        <p:spPr>
          <a:xfrm>
            <a:off x="8107680" y="3876040"/>
            <a:ext cx="1920240" cy="2026920"/>
          </a:xfrm>
          <a:custGeom>
            <a:avLst/>
            <a:gdLst/>
            <a:ahLst/>
            <a:cxnLst/>
            <a:rect l="0" t="0" r="r" b="b"/>
            <a:pathLst>
              <a:path w="1920240" h="2026920" fill="none">
                <a:moveTo>
                  <a:pt x="1920240" y="0"/>
                </a:moveTo>
                <a:lnTo>
                  <a:pt x="1920240" y="1422400"/>
                </a:lnTo>
                <a:lnTo>
                  <a:pt x="0" y="1422400"/>
                </a:lnTo>
                <a:lnTo>
                  <a:pt x="0" y="202692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获胜源 ID"/>
          <p:cNvSpPr txBox="1"/>
          <p:nvPr/>
        </p:nvSpPr>
        <p:spPr>
          <a:xfrm>
            <a:off x="8605520" y="5300147"/>
            <a:ext cx="9309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获胜源 ID</a:t>
            </a:r>
          </a:p>
        </p:txBody>
      </p:sp>
      <p:sp>
        <p:nvSpPr>
          <p:cNvPr id="43" name="E07"/>
          <p:cNvSpPr/>
          <p:nvPr/>
        </p:nvSpPr>
        <p:spPr>
          <a:xfrm>
            <a:off x="8427720" y="3876040"/>
            <a:ext cx="3627120" cy="2773680"/>
          </a:xfrm>
          <a:custGeom>
            <a:avLst/>
            <a:gdLst/>
            <a:ahLst/>
            <a:cxnLst/>
            <a:rect l="0" t="0" r="r" b="b"/>
            <a:pathLst>
              <a:path w="3627120" h="2773680" fill="none">
                <a:moveTo>
                  <a:pt x="0" y="2773680"/>
                </a:moveTo>
                <a:lnTo>
                  <a:pt x="3627120" y="2773680"/>
                </a:lnTo>
                <a:lnTo>
                  <a:pt x="362712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priority / enable / threshold"/>
          <p:cNvSpPr txBox="1"/>
          <p:nvPr/>
        </p:nvSpPr>
        <p:spPr>
          <a:xfrm>
            <a:off x="9387840" y="6764650"/>
            <a:ext cx="32469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priority / enable / threshold</a:t>
            </a:r>
          </a:p>
        </p:txBody>
      </p:sp>
      <p:sp>
        <p:nvSpPr>
          <p:cNvPr id="45" name="E08"/>
          <p:cNvSpPr/>
          <p:nvPr/>
        </p:nvSpPr>
        <p:spPr>
          <a:xfrm>
            <a:off x="3698240" y="3876040"/>
            <a:ext cx="2667000" cy="2026920"/>
          </a:xfrm>
          <a:custGeom>
            <a:avLst/>
            <a:gdLst/>
            <a:ahLst/>
            <a:cxnLst/>
            <a:rect l="0" t="0" r="r" b="b"/>
            <a:pathLst>
              <a:path w="2667000" h="2026920" fill="none">
                <a:moveTo>
                  <a:pt x="2667000" y="0"/>
                </a:moveTo>
                <a:lnTo>
                  <a:pt x="2667000" y="1493520"/>
                </a:lnTo>
                <a:lnTo>
                  <a:pt x="0" y="1493520"/>
                </a:lnTo>
                <a:lnTo>
                  <a:pt x="0" y="202692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6"/>
          <p:cNvSpPr/>
          <p:nvPr/>
        </p:nvSpPr>
        <p:spPr>
          <a:xfrm>
            <a:off x="245364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1"/>
          <p:cNvSpPr txBox="1"/>
          <p:nvPr/>
        </p:nvSpPr>
        <p:spPr>
          <a:xfrm>
            <a:off x="239710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8" name="rect-048"/>
          <p:cNvSpPr/>
          <p:nvPr/>
        </p:nvSpPr>
        <p:spPr>
          <a:xfrm>
            <a:off x="535178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2"/>
          <p:cNvSpPr txBox="1"/>
          <p:nvPr/>
        </p:nvSpPr>
        <p:spPr>
          <a:xfrm>
            <a:off x="529524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0" name="rect-050"/>
          <p:cNvSpPr/>
          <p:nvPr/>
        </p:nvSpPr>
        <p:spPr>
          <a:xfrm>
            <a:off x="881888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3"/>
          <p:cNvSpPr txBox="1"/>
          <p:nvPr/>
        </p:nvSpPr>
        <p:spPr>
          <a:xfrm>
            <a:off x="876234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2" name="rect-052"/>
          <p:cNvSpPr/>
          <p:nvPr/>
        </p:nvSpPr>
        <p:spPr>
          <a:xfrm>
            <a:off x="10980928" y="41320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4"/>
          <p:cNvSpPr txBox="1"/>
          <p:nvPr/>
        </p:nvSpPr>
        <p:spPr>
          <a:xfrm>
            <a:off x="10924388" y="41124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4" name="rect-054"/>
          <p:cNvSpPr/>
          <p:nvPr/>
        </p:nvSpPr>
        <p:spPr>
          <a:xfrm>
            <a:off x="7247128" y="43632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5"/>
          <p:cNvSpPr txBox="1"/>
          <p:nvPr/>
        </p:nvSpPr>
        <p:spPr>
          <a:xfrm>
            <a:off x="7190588" y="43435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6" name="rect-056"/>
          <p:cNvSpPr/>
          <p:nvPr/>
        </p:nvSpPr>
        <p:spPr>
          <a:xfrm>
            <a:off x="8890000" y="50779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6"/>
          <p:cNvSpPr txBox="1"/>
          <p:nvPr/>
        </p:nvSpPr>
        <p:spPr>
          <a:xfrm>
            <a:off x="8833460" y="50583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8" name="rect-058"/>
          <p:cNvSpPr/>
          <p:nvPr/>
        </p:nvSpPr>
        <p:spPr>
          <a:xfrm>
            <a:off x="10063480" y="6429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7"/>
          <p:cNvSpPr txBox="1"/>
          <p:nvPr/>
        </p:nvSpPr>
        <p:spPr>
          <a:xfrm>
            <a:off x="10006940" y="6409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0" name="rect-060"/>
          <p:cNvSpPr/>
          <p:nvPr/>
        </p:nvSpPr>
        <p:spPr>
          <a:xfrm>
            <a:off x="4853940" y="5149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8"/>
          <p:cNvSpPr txBox="1"/>
          <p:nvPr/>
        </p:nvSpPr>
        <p:spPr>
          <a:xfrm>
            <a:off x="4797400" y="5129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2" name="text-062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3" name="text-063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6A  CLINT：RTC 边沿变为计数使能；比较器产生定时中断"/>
          <p:cNvSpPr txBox="1"/>
          <p:nvPr/>
        </p:nvSpPr>
        <p:spPr>
          <a:xfrm>
            <a:off x="284480" y="1347297"/>
            <a:ext cx="662269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06A  CLINT：RTC 边沿变为计数使能；比较器产生定时中断</a:t>
            </a:r>
          </a:p>
        </p:txBody>
      </p:sp>
      <p:sp>
        <p:nvSpPr>
          <p:cNvPr id="3" name="rect-003"/>
          <p:cNvSpPr/>
          <p:nvPr/>
        </p:nvSpPr>
        <p:spPr>
          <a:xfrm>
            <a:off x="2631440" y="2275840"/>
            <a:ext cx="9779000" cy="4907280"/>
          </a:xfrm>
          <a:prstGeom prst="roundRect">
            <a:avLst>
              <a:gd name="adj" fmla="val 1739"/>
            </a:avLst>
          </a:prstGeom>
          <a:solidFill>
            <a:srgbClr val="F8FAFD"/>
          </a:solidFill>
          <a:ln w="12090" cap="flat">
            <a:solidFill>
              <a:srgbClr val="A6B5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lint：寄存器、计数器和比较器均在 clk_i / rst_ni 域"/>
          <p:cNvSpPr txBox="1"/>
          <p:nvPr/>
        </p:nvSpPr>
        <p:spPr>
          <a:xfrm>
            <a:off x="2738120" y="2312538"/>
            <a:ext cx="48500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clint：寄存器、计数器和比较器均在 clk_i / rst_ni 域</a:t>
            </a:r>
          </a:p>
        </p:txBody>
      </p:sp>
      <p:sp>
        <p:nvSpPr>
          <p:cNvPr id="5" name="text-005: rtc_i"/>
          <p:cNvSpPr txBox="1"/>
          <p:nvPr/>
        </p:nvSpPr>
        <p:spPr>
          <a:xfrm>
            <a:off x="497840" y="2949773"/>
            <a:ext cx="846328" cy="3186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6" name="E01"/>
          <p:cNvSpPr/>
          <p:nvPr/>
        </p:nvSpPr>
        <p:spPr>
          <a:xfrm>
            <a:off x="462280" y="3378200"/>
            <a:ext cx="2489200" cy="1"/>
          </a:xfrm>
          <a:custGeom>
            <a:avLst/>
            <a:gdLst/>
            <a:ahLst/>
            <a:cxnLst/>
            <a:rect l="0" t="0" r="r" b="b"/>
            <a:pathLst>
              <a:path w="2489200" h="1" fill="none">
                <a:moveTo>
                  <a:pt x="0" y="0"/>
                </a:moveTo>
                <a:lnTo>
                  <a:pt x="2489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2951480" y="2915920"/>
            <a:ext cx="2418080" cy="995680"/>
          </a:xfrm>
          <a:prstGeom prst="roundRect">
            <a:avLst>
              <a:gd name="adj" fmla="val 5714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8"/>
          <p:cNvSpPr/>
          <p:nvPr/>
        </p:nvSpPr>
        <p:spPr>
          <a:xfrm>
            <a:off x="2972816" y="2937256"/>
            <a:ext cx="2375408" cy="376936"/>
          </a:xfrm>
          <a:prstGeom prst="roundRect">
            <a:avLst>
              <a:gd name="adj" fmla="val 9433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1  clint_sync_wedge"/>
          <p:cNvSpPr txBox="1"/>
          <p:nvPr/>
        </p:nvSpPr>
        <p:spPr>
          <a:xfrm>
            <a:off x="3021178" y="3058729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clint_sync_wedge</a:t>
            </a:r>
          </a:p>
        </p:txBody>
      </p:sp>
      <p:sp>
        <p:nvSpPr>
          <p:cNvPr id="10" name="text-010: 同步 + 上升沿检测"/>
          <p:cNvSpPr txBox="1"/>
          <p:nvPr/>
        </p:nvSpPr>
        <p:spPr>
          <a:xfrm>
            <a:off x="3382112" y="3301675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 + 上升沿检测</a:t>
            </a:r>
          </a:p>
        </p:txBody>
      </p:sp>
      <p:sp>
        <p:nvSpPr>
          <p:cNvPr id="11" name="text-011: increase_timer：一拍使能"/>
          <p:cNvSpPr txBox="1"/>
          <p:nvPr/>
        </p:nvSpPr>
        <p:spPr>
          <a:xfrm>
            <a:off x="2979217" y="3529259"/>
            <a:ext cx="236260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increase_timer：一拍使能</a:t>
            </a:r>
          </a:p>
        </p:txBody>
      </p:sp>
      <p:sp>
        <p:nvSpPr>
          <p:cNvPr id="12" name="rect-012"/>
          <p:cNvSpPr/>
          <p:nvPr/>
        </p:nvSpPr>
        <p:spPr>
          <a:xfrm>
            <a:off x="6400800" y="2915920"/>
            <a:ext cx="2489200" cy="995680"/>
          </a:xfrm>
          <a:prstGeom prst="roundRect">
            <a:avLst>
              <a:gd name="adj" fmla="val 5714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6422136" y="2937256"/>
            <a:ext cx="2446528" cy="376936"/>
          </a:xfrm>
          <a:prstGeom prst="roundRect">
            <a:avLst>
              <a:gd name="adj" fmla="val 9433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4"/>
          <p:cNvSpPr/>
          <p:nvPr/>
        </p:nvSpPr>
        <p:spPr>
          <a:xfrm>
            <a:off x="6486144" y="291592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 fill="none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2  MTIME[63:0] 字段"/>
          <p:cNvSpPr txBox="1"/>
          <p:nvPr/>
        </p:nvSpPr>
        <p:spPr>
          <a:xfrm>
            <a:off x="6557264" y="3058729"/>
            <a:ext cx="217627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MTIME[63:0] 字段</a:t>
            </a:r>
          </a:p>
        </p:txBody>
      </p:sp>
      <p:sp>
        <p:nvSpPr>
          <p:cNvPr id="16" name="text-016: reg_top 存储；可由软件写"/>
          <p:cNvSpPr txBox="1"/>
          <p:nvPr/>
        </p:nvSpPr>
        <p:spPr>
          <a:xfrm>
            <a:off x="6534506" y="3301675"/>
            <a:ext cx="222178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存储；可由软件写</a:t>
            </a:r>
          </a:p>
        </p:txBody>
      </p:sp>
      <p:sp>
        <p:nvSpPr>
          <p:cNvPr id="17" name="text-017: RTC 沿使能自动加 1"/>
          <p:cNvSpPr txBox="1"/>
          <p:nvPr/>
        </p:nvSpPr>
        <p:spPr>
          <a:xfrm>
            <a:off x="6792671" y="3529259"/>
            <a:ext cx="1705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RTC 沿使能自动加 1</a:t>
            </a:r>
          </a:p>
        </p:txBody>
      </p:sp>
      <p:sp>
        <p:nvSpPr>
          <p:cNvPr id="18" name="E02"/>
          <p:cNvSpPr/>
          <p:nvPr/>
        </p:nvSpPr>
        <p:spPr>
          <a:xfrm>
            <a:off x="5369560" y="33782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9"/>
          <p:cNvSpPr/>
          <p:nvPr/>
        </p:nvSpPr>
        <p:spPr>
          <a:xfrm>
            <a:off x="9814560" y="3022600"/>
            <a:ext cx="1564640" cy="853440"/>
          </a:xfrm>
          <a:prstGeom prst="roundRect">
            <a:avLst>
              <a:gd name="adj" fmla="val 6666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0"/>
          <p:cNvSpPr/>
          <p:nvPr/>
        </p:nvSpPr>
        <p:spPr>
          <a:xfrm>
            <a:off x="9835896" y="3043936"/>
            <a:ext cx="1521968" cy="419608"/>
          </a:xfrm>
          <a:prstGeom prst="roundRect">
            <a:avLst>
              <a:gd name="adj" fmla="val 8474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3  ≥ 比较"/>
          <p:cNvSpPr txBox="1"/>
          <p:nvPr/>
        </p:nvSpPr>
        <p:spPr>
          <a:xfrm>
            <a:off x="10033610" y="3208081"/>
            <a:ext cx="11265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≥ 比较</a:t>
            </a:r>
          </a:p>
        </p:txBody>
      </p:sp>
      <p:sp>
        <p:nvSpPr>
          <p:cNvPr id="22" name="text-022: 无条件保持比较"/>
          <p:cNvSpPr txBox="1"/>
          <p:nvPr/>
        </p:nvSpPr>
        <p:spPr>
          <a:xfrm>
            <a:off x="9971024" y="345102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无条件保持比较</a:t>
            </a:r>
          </a:p>
        </p:txBody>
      </p:sp>
      <p:sp>
        <p:nvSpPr>
          <p:cNvPr id="23" name="E03"/>
          <p:cNvSpPr/>
          <p:nvPr/>
        </p:nvSpPr>
        <p:spPr>
          <a:xfrm>
            <a:off x="8890000" y="33782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04"/>
          <p:cNvSpPr/>
          <p:nvPr/>
        </p:nvSpPr>
        <p:spPr>
          <a:xfrm>
            <a:off x="11379200" y="3378200"/>
            <a:ext cx="853440" cy="853440"/>
          </a:xfrm>
          <a:custGeom>
            <a:avLst/>
            <a:gdLst/>
            <a:ahLst/>
            <a:cxnLst/>
            <a:rect l="0" t="0" r="r" b="b"/>
            <a:pathLst>
              <a:path w="853440" h="853440" fill="none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MTIP → hart"/>
          <p:cNvSpPr txBox="1"/>
          <p:nvPr/>
        </p:nvSpPr>
        <p:spPr>
          <a:xfrm>
            <a:off x="11165840" y="4353113"/>
            <a:ext cx="1450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MTIP → hart</a:t>
            </a:r>
          </a:p>
        </p:txBody>
      </p:sp>
      <p:sp>
        <p:nvSpPr>
          <p:cNvPr id="26" name="rect-026"/>
          <p:cNvSpPr/>
          <p:nvPr/>
        </p:nvSpPr>
        <p:spPr>
          <a:xfrm>
            <a:off x="6400800" y="4978400"/>
            <a:ext cx="2489200" cy="853440"/>
          </a:xfrm>
          <a:prstGeom prst="roundRect">
            <a:avLst>
              <a:gd name="adj" fmla="val 6666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7"/>
          <p:cNvSpPr/>
          <p:nvPr/>
        </p:nvSpPr>
        <p:spPr>
          <a:xfrm>
            <a:off x="6422136" y="4999736"/>
            <a:ext cx="2446528" cy="419608"/>
          </a:xfrm>
          <a:prstGeom prst="roundRect">
            <a:avLst>
              <a:gd name="adj" fmla="val 8474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olyline-028"/>
          <p:cNvSpPr/>
          <p:nvPr/>
        </p:nvSpPr>
        <p:spPr>
          <a:xfrm>
            <a:off x="6486144" y="497840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4  MTIMECMP[63:0] 字段"/>
          <p:cNvSpPr txBox="1"/>
          <p:nvPr/>
        </p:nvSpPr>
        <p:spPr>
          <a:xfrm>
            <a:off x="6390843" y="5163881"/>
            <a:ext cx="250911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MTIMECMP[63:0] 字段</a:t>
            </a:r>
          </a:p>
        </p:txBody>
      </p:sp>
      <p:sp>
        <p:nvSpPr>
          <p:cNvPr id="30" name="text-030: reg_top 内的比较值"/>
          <p:cNvSpPr txBox="1"/>
          <p:nvPr/>
        </p:nvSpPr>
        <p:spPr>
          <a:xfrm>
            <a:off x="6769202" y="540682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内的比较值</a:t>
            </a:r>
          </a:p>
        </p:txBody>
      </p:sp>
      <p:sp>
        <p:nvSpPr>
          <p:cNvPr id="31" name="E05"/>
          <p:cNvSpPr/>
          <p:nvPr/>
        </p:nvSpPr>
        <p:spPr>
          <a:xfrm>
            <a:off x="8890000" y="3876040"/>
            <a:ext cx="1706880" cy="1529080"/>
          </a:xfrm>
          <a:custGeom>
            <a:avLst/>
            <a:gdLst/>
            <a:ahLst/>
            <a:cxnLst/>
            <a:rect l="0" t="0" r="r" b="b"/>
            <a:pathLst>
              <a:path w="1706880" h="1529080" fill="none">
                <a:moveTo>
                  <a:pt x="0" y="1529080"/>
                </a:moveTo>
                <a:lnTo>
                  <a:pt x="1706880" y="1529080"/>
                </a:lnTo>
                <a:lnTo>
                  <a:pt x="170688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2"/>
          <p:cNvSpPr/>
          <p:nvPr/>
        </p:nvSpPr>
        <p:spPr>
          <a:xfrm>
            <a:off x="2951480" y="5191760"/>
            <a:ext cx="2418080" cy="1173480"/>
          </a:xfrm>
          <a:prstGeom prst="roundRect">
            <a:avLst>
              <a:gd name="adj" fmla="val 4848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3"/>
          <p:cNvSpPr/>
          <p:nvPr/>
        </p:nvSpPr>
        <p:spPr>
          <a:xfrm>
            <a:off x="2972816" y="5213096"/>
            <a:ext cx="2375408" cy="352044"/>
          </a:xfrm>
          <a:prstGeom prst="roundRect">
            <a:avLst>
              <a:gd name="adj" fmla="val 10101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5  clint_reg_top 访问控制"/>
          <p:cNvSpPr txBox="1"/>
          <p:nvPr/>
        </p:nvSpPr>
        <p:spPr>
          <a:xfrm>
            <a:off x="2790749" y="5309677"/>
            <a:ext cx="27395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clint_reg_top 访问控制</a:t>
            </a:r>
          </a:p>
        </p:txBody>
      </p:sp>
      <p:sp>
        <p:nvSpPr>
          <p:cNvPr id="35" name="text-035: MTIME_LO / HI"/>
          <p:cNvSpPr txBox="1"/>
          <p:nvPr/>
        </p:nvSpPr>
        <p:spPr>
          <a:xfrm>
            <a:off x="3421228" y="5552623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MTIME_LO / HI</a:t>
            </a:r>
          </a:p>
        </p:txBody>
      </p:sp>
      <p:sp>
        <p:nvSpPr>
          <p:cNvPr id="36" name="text-036: MTIMECMP_LO / HI"/>
          <p:cNvSpPr txBox="1"/>
          <p:nvPr/>
        </p:nvSpPr>
        <p:spPr>
          <a:xfrm>
            <a:off x="3268675" y="5780207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MTIMECMP_LO / HI</a:t>
            </a:r>
          </a:p>
        </p:txBody>
      </p:sp>
      <p:sp>
        <p:nvSpPr>
          <p:cNvPr id="37" name="text-037: MSIP"/>
          <p:cNvSpPr txBox="1"/>
          <p:nvPr/>
        </p:nvSpPr>
        <p:spPr>
          <a:xfrm>
            <a:off x="3878885" y="6007791"/>
            <a:ext cx="5632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MSIP</a:t>
            </a:r>
          </a:p>
        </p:txBody>
      </p:sp>
      <p:sp>
        <p:nvSpPr>
          <p:cNvPr id="38" name="text-038: Regbus 32"/>
          <p:cNvSpPr txBox="1"/>
          <p:nvPr/>
        </p:nvSpPr>
        <p:spPr>
          <a:xfrm>
            <a:off x="497840" y="5533136"/>
            <a:ext cx="12179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39" name="E06"/>
          <p:cNvSpPr/>
          <p:nvPr/>
        </p:nvSpPr>
        <p:spPr>
          <a:xfrm>
            <a:off x="462280" y="5974080"/>
            <a:ext cx="2489200" cy="1"/>
          </a:xfrm>
          <a:custGeom>
            <a:avLst/>
            <a:gdLst/>
            <a:ahLst/>
            <a:cxnLst/>
            <a:rect l="0" t="0" r="r" b="b"/>
            <a:pathLst>
              <a:path w="2489200" h="1" fill="none">
                <a:moveTo>
                  <a:pt x="0" y="0"/>
                </a:moveTo>
                <a:lnTo>
                  <a:pt x="2489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7"/>
          <p:cNvSpPr/>
          <p:nvPr/>
        </p:nvSpPr>
        <p:spPr>
          <a:xfrm>
            <a:off x="5369560" y="55118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8"/>
          <p:cNvSpPr/>
          <p:nvPr/>
        </p:nvSpPr>
        <p:spPr>
          <a:xfrm>
            <a:off x="5013960" y="3911600"/>
            <a:ext cx="2026920" cy="1280160"/>
          </a:xfrm>
          <a:custGeom>
            <a:avLst/>
            <a:gdLst/>
            <a:ahLst/>
            <a:cxnLst/>
            <a:rect l="0" t="0" r="r" b="b"/>
            <a:pathLst>
              <a:path w="2026920" h="1280160" fill="none">
                <a:moveTo>
                  <a:pt x="0" y="1280160"/>
                </a:moveTo>
                <a:lnTo>
                  <a:pt x="0" y="462280"/>
                </a:lnTo>
                <a:lnTo>
                  <a:pt x="2026920" y="462280"/>
                </a:lnTo>
                <a:lnTo>
                  <a:pt x="202692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2"/>
          <p:cNvSpPr/>
          <p:nvPr/>
        </p:nvSpPr>
        <p:spPr>
          <a:xfrm>
            <a:off x="9814560" y="6045200"/>
            <a:ext cx="1778000" cy="711200"/>
          </a:xfrm>
          <a:prstGeom prst="roundRect">
            <a:avLst>
              <a:gd name="adj" fmla="val 8000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3"/>
          <p:cNvSpPr/>
          <p:nvPr/>
        </p:nvSpPr>
        <p:spPr>
          <a:xfrm>
            <a:off x="9835896" y="6066536"/>
            <a:ext cx="1735328" cy="348488"/>
          </a:xfrm>
          <a:prstGeom prst="roundRect">
            <a:avLst>
              <a:gd name="adj" fmla="val 10204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line-044"/>
          <p:cNvSpPr/>
          <p:nvPr/>
        </p:nvSpPr>
        <p:spPr>
          <a:xfrm>
            <a:off x="9899904" y="6045200"/>
            <a:ext cx="1" cy="711200"/>
          </a:xfrm>
          <a:custGeom>
            <a:avLst/>
            <a:gdLst/>
            <a:ahLst/>
            <a:cxnLst/>
            <a:rect l="0" t="0" r="r" b="b"/>
            <a:pathLst>
              <a:path w="1" h="711200" fill="none">
                <a:moveTo>
                  <a:pt x="0" y="0"/>
                </a:moveTo>
                <a:lnTo>
                  <a:pt x="0" y="71120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6  MSIP 字段"/>
          <p:cNvSpPr txBox="1"/>
          <p:nvPr/>
        </p:nvSpPr>
        <p:spPr>
          <a:xfrm>
            <a:off x="10003739" y="6159561"/>
            <a:ext cx="13996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6  MSIP 字段</a:t>
            </a:r>
          </a:p>
        </p:txBody>
      </p:sp>
      <p:sp>
        <p:nvSpPr>
          <p:cNvPr id="46" name="text-046: reg_top 内；软件写"/>
          <p:cNvSpPr txBox="1"/>
          <p:nvPr/>
        </p:nvSpPr>
        <p:spPr>
          <a:xfrm>
            <a:off x="9827362" y="640250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内；软件写</a:t>
            </a:r>
          </a:p>
        </p:txBody>
      </p:sp>
      <p:sp>
        <p:nvSpPr>
          <p:cNvPr id="47" name="E09"/>
          <p:cNvSpPr/>
          <p:nvPr/>
        </p:nvSpPr>
        <p:spPr>
          <a:xfrm>
            <a:off x="5369560" y="6151880"/>
            <a:ext cx="4445000" cy="497840"/>
          </a:xfrm>
          <a:custGeom>
            <a:avLst/>
            <a:gdLst/>
            <a:ahLst/>
            <a:cxnLst/>
            <a:rect l="0" t="0" r="r" b="b"/>
            <a:pathLst>
              <a:path w="4445000" h="497840" fill="none">
                <a:moveTo>
                  <a:pt x="0" y="0"/>
                </a:moveTo>
                <a:lnTo>
                  <a:pt x="568960" y="0"/>
                </a:lnTo>
                <a:lnTo>
                  <a:pt x="568960" y="497840"/>
                </a:lnTo>
                <a:lnTo>
                  <a:pt x="4445000" y="497840"/>
                </a:lnTo>
                <a:lnTo>
                  <a:pt x="4445000" y="24892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10"/>
          <p:cNvSpPr/>
          <p:nvPr/>
        </p:nvSpPr>
        <p:spPr>
          <a:xfrm>
            <a:off x="11592560" y="64008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MSIP → hart"/>
          <p:cNvSpPr txBox="1"/>
          <p:nvPr/>
        </p:nvSpPr>
        <p:spPr>
          <a:xfrm>
            <a:off x="9956800" y="6820977"/>
            <a:ext cx="1450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MSIP → hart</a:t>
            </a:r>
          </a:p>
        </p:txBody>
      </p:sp>
      <p:sp>
        <p:nvSpPr>
          <p:cNvPr id="50" name="text-050: MTIP 的清除方法是让 MTIMECMP 大于 MTIME；这里没有 PLIC"/>
          <p:cNvSpPr txBox="1"/>
          <p:nvPr/>
        </p:nvSpPr>
        <p:spPr>
          <a:xfrm>
            <a:off x="320040" y="7389937"/>
            <a:ext cx="7501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的清除方法是让 MTIMECMP 大于 MTIME；这里没有 PLIC claim / complete。</a:t>
            </a:r>
          </a:p>
        </p:txBody>
      </p:sp>
      <p:sp>
        <p:nvSpPr>
          <p:cNvPr id="51" name="rect-051"/>
          <p:cNvSpPr/>
          <p:nvPr/>
        </p:nvSpPr>
        <p:spPr>
          <a:xfrm>
            <a:off x="152908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1"/>
          <p:cNvSpPr txBox="1"/>
          <p:nvPr/>
        </p:nvSpPr>
        <p:spPr>
          <a:xfrm>
            <a:off x="147254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3" name="rect-053"/>
          <p:cNvSpPr/>
          <p:nvPr/>
        </p:nvSpPr>
        <p:spPr>
          <a:xfrm>
            <a:off x="570738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2"/>
          <p:cNvSpPr txBox="1"/>
          <p:nvPr/>
        </p:nvSpPr>
        <p:spPr>
          <a:xfrm>
            <a:off x="565084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5" name="rect-055"/>
          <p:cNvSpPr/>
          <p:nvPr/>
        </p:nvSpPr>
        <p:spPr>
          <a:xfrm>
            <a:off x="917448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3"/>
          <p:cNvSpPr txBox="1"/>
          <p:nvPr/>
        </p:nvSpPr>
        <p:spPr>
          <a:xfrm>
            <a:off x="911794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7" name="rect-057"/>
          <p:cNvSpPr/>
          <p:nvPr/>
        </p:nvSpPr>
        <p:spPr>
          <a:xfrm>
            <a:off x="1162812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4"/>
          <p:cNvSpPr txBox="1"/>
          <p:nvPr/>
        </p:nvSpPr>
        <p:spPr>
          <a:xfrm>
            <a:off x="1157158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9" name="rect-059"/>
          <p:cNvSpPr/>
          <p:nvPr/>
        </p:nvSpPr>
        <p:spPr>
          <a:xfrm>
            <a:off x="9565640" y="5184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5"/>
          <p:cNvSpPr txBox="1"/>
          <p:nvPr/>
        </p:nvSpPr>
        <p:spPr>
          <a:xfrm>
            <a:off x="9509100" y="5165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1" name="rect-061"/>
          <p:cNvSpPr/>
          <p:nvPr/>
        </p:nvSpPr>
        <p:spPr>
          <a:xfrm>
            <a:off x="152908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6"/>
          <p:cNvSpPr txBox="1"/>
          <p:nvPr/>
        </p:nvSpPr>
        <p:spPr>
          <a:xfrm>
            <a:off x="147254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3" name="rect-063"/>
          <p:cNvSpPr/>
          <p:nvPr/>
        </p:nvSpPr>
        <p:spPr>
          <a:xfrm>
            <a:off x="5707380" y="5291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7"/>
          <p:cNvSpPr txBox="1"/>
          <p:nvPr/>
        </p:nvSpPr>
        <p:spPr>
          <a:xfrm>
            <a:off x="5650840" y="5271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5" name="rect-065"/>
          <p:cNvSpPr/>
          <p:nvPr/>
        </p:nvSpPr>
        <p:spPr>
          <a:xfrm>
            <a:off x="5849620" y="4153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8"/>
          <p:cNvSpPr txBox="1"/>
          <p:nvPr/>
        </p:nvSpPr>
        <p:spPr>
          <a:xfrm>
            <a:off x="5793080" y="4133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7" name="rect-067"/>
          <p:cNvSpPr/>
          <p:nvPr/>
        </p:nvSpPr>
        <p:spPr>
          <a:xfrm>
            <a:off x="7698740" y="6429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9"/>
          <p:cNvSpPr txBox="1"/>
          <p:nvPr/>
        </p:nvSpPr>
        <p:spPr>
          <a:xfrm>
            <a:off x="7642200" y="6409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9" name="rect-069"/>
          <p:cNvSpPr/>
          <p:nvPr/>
        </p:nvSpPr>
        <p:spPr>
          <a:xfrm>
            <a:off x="1173480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10"/>
          <p:cNvSpPr txBox="1"/>
          <p:nvPr/>
        </p:nvSpPr>
        <p:spPr>
          <a:xfrm>
            <a:off x="1167826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1" name="text-071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2" name="text-072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6B  CLIC：每个 hart 的中断选择器与 CPU 握手接口"/>
          <p:cNvSpPr txBox="1"/>
          <p:nvPr/>
        </p:nvSpPr>
        <p:spPr>
          <a:xfrm>
            <a:off x="284480" y="1347297"/>
            <a:ext cx="637235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06B  CLIC：每个 hart 的中断选择器与 CPU 握手接口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95880"/>
            <a:ext cx="2595880" cy="1529080"/>
          </a:xfrm>
          <a:prstGeom prst="roundRect">
            <a:avLst>
              <a:gd name="adj" fmla="val 3720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305816" y="2617216"/>
            <a:ext cx="2553208" cy="416052"/>
          </a:xfrm>
          <a:prstGeom prst="roundRect">
            <a:avLst>
              <a:gd name="adj" fmla="val 8547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1  clic_intr 输入拼装"/>
          <p:cNvSpPr txBox="1"/>
          <p:nvPr/>
        </p:nvSpPr>
        <p:spPr>
          <a:xfrm>
            <a:off x="434543" y="2777805"/>
            <a:ext cx="22957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clic_intr 输入拼装</a:t>
            </a:r>
          </a:p>
        </p:txBody>
      </p:sp>
      <p:sp>
        <p:nvSpPr>
          <p:cNvPr id="6" name="text-006: IRQ Router 的本 hart 分支"/>
          <p:cNvSpPr txBox="1"/>
          <p:nvPr/>
        </p:nvSpPr>
        <p:spPr>
          <a:xfrm>
            <a:off x="326796" y="3020751"/>
            <a:ext cx="25112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 Router 的本 hart 分支</a:t>
            </a:r>
          </a:p>
        </p:txBody>
      </p:sp>
      <p:sp>
        <p:nvSpPr>
          <p:cNvPr id="7" name="text-007: MEIP / SEIP（来自 PLIC）"/>
          <p:cNvSpPr txBox="1"/>
          <p:nvPr/>
        </p:nvSpPr>
        <p:spPr>
          <a:xfrm>
            <a:off x="377647" y="3248335"/>
            <a:ext cx="24095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MEIP / SEIP（来自 PLIC）</a:t>
            </a:r>
          </a:p>
        </p:txBody>
      </p:sp>
      <p:sp>
        <p:nvSpPr>
          <p:cNvPr id="8" name="text-008: MTIP / MSIP（来自 CLINT）"/>
          <p:cNvSpPr txBox="1"/>
          <p:nvPr/>
        </p:nvSpPr>
        <p:spPr>
          <a:xfrm>
            <a:off x="326796" y="3475919"/>
            <a:ext cx="25112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/ MSIP（来自 CLINT）</a:t>
            </a:r>
          </a:p>
        </p:txBody>
      </p:sp>
      <p:sp>
        <p:nvSpPr>
          <p:cNvPr id="9" name="text-009: 保留源按 SoC 定义连接"/>
          <p:cNvSpPr txBox="1"/>
          <p:nvPr/>
        </p:nvSpPr>
        <p:spPr>
          <a:xfrm>
            <a:off x="624078" y="3703503"/>
            <a:ext cx="19166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保留源按 SoC 定义连接</a:t>
            </a:r>
          </a:p>
        </p:txBody>
      </p:sp>
      <p:sp>
        <p:nvSpPr>
          <p:cNvPr id="10" name="rect-010"/>
          <p:cNvSpPr/>
          <p:nvPr/>
        </p:nvSpPr>
        <p:spPr>
          <a:xfrm>
            <a:off x="4053840" y="2702560"/>
            <a:ext cx="2346960" cy="1351280"/>
          </a:xfrm>
          <a:prstGeom prst="roundRect">
            <a:avLst>
              <a:gd name="adj" fmla="val 4210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-011"/>
          <p:cNvSpPr/>
          <p:nvPr/>
        </p:nvSpPr>
        <p:spPr>
          <a:xfrm>
            <a:off x="4075176" y="2723896"/>
            <a:ext cx="2304288" cy="440944"/>
          </a:xfrm>
          <a:prstGeom prst="roundRect">
            <a:avLst>
              <a:gd name="adj" fmla="val 8064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2  clic_gateway"/>
          <p:cNvSpPr txBox="1"/>
          <p:nvPr/>
        </p:nvSpPr>
        <p:spPr>
          <a:xfrm>
            <a:off x="4309872" y="290937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clic_gateway</a:t>
            </a:r>
          </a:p>
        </p:txBody>
      </p:sp>
      <p:sp>
        <p:nvSpPr>
          <p:cNvPr id="13" name="text-013: 电平 / 边沿 pending"/>
          <p:cNvSpPr txBox="1"/>
          <p:nvPr/>
        </p:nvSpPr>
        <p:spPr>
          <a:xfrm>
            <a:off x="4276801" y="3152323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电平 / 边沿 pending</a:t>
            </a:r>
          </a:p>
        </p:txBody>
      </p:sp>
      <p:sp>
        <p:nvSpPr>
          <p:cNvPr id="14" name="text-014: 软件置 pending"/>
          <p:cNvSpPr txBox="1"/>
          <p:nvPr/>
        </p:nvSpPr>
        <p:spPr>
          <a:xfrm>
            <a:off x="4507586" y="3379907"/>
            <a:ext cx="14394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软件置 pending</a:t>
            </a:r>
          </a:p>
        </p:txBody>
      </p:sp>
      <p:sp>
        <p:nvSpPr>
          <p:cNvPr id="15" name="text-015: 来自 target 的 claim"/>
          <p:cNvSpPr txBox="1"/>
          <p:nvPr/>
        </p:nvSpPr>
        <p:spPr>
          <a:xfrm>
            <a:off x="4202481" y="3607491"/>
            <a:ext cx="20496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target 的 claim</a:t>
            </a:r>
          </a:p>
        </p:txBody>
      </p:sp>
      <p:sp>
        <p:nvSpPr>
          <p:cNvPr id="16" name="E01"/>
          <p:cNvSpPr/>
          <p:nvPr/>
        </p:nvSpPr>
        <p:spPr>
          <a:xfrm>
            <a:off x="2880360" y="337820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7609840" y="2702560"/>
            <a:ext cx="2382520" cy="1351280"/>
          </a:xfrm>
          <a:prstGeom prst="roundRect">
            <a:avLst>
              <a:gd name="adj" fmla="val 4210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8"/>
          <p:cNvSpPr/>
          <p:nvPr/>
        </p:nvSpPr>
        <p:spPr>
          <a:xfrm>
            <a:off x="7631176" y="2723896"/>
            <a:ext cx="2339848" cy="440944"/>
          </a:xfrm>
          <a:prstGeom prst="roundRect">
            <a:avLst>
              <a:gd name="adj" fmla="val 8064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3  clic_target + 顶层整理"/>
          <p:cNvSpPr txBox="1"/>
          <p:nvPr/>
        </p:nvSpPr>
        <p:spPr>
          <a:xfrm>
            <a:off x="7431329" y="2909377"/>
            <a:ext cx="27395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clic_target + 顶层整理</a:t>
            </a:r>
          </a:p>
        </p:txBody>
      </p:sp>
      <p:sp>
        <p:nvSpPr>
          <p:cNvPr id="20" name="text-020: pending / enable"/>
          <p:cNvSpPr txBox="1"/>
          <p:nvPr/>
        </p:nvSpPr>
        <p:spPr>
          <a:xfrm>
            <a:off x="7909255" y="315232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</a:t>
            </a:r>
          </a:p>
        </p:txBody>
      </p:sp>
      <p:sp>
        <p:nvSpPr>
          <p:cNvPr id="21" name="text-021: level / priority / mode"/>
          <p:cNvSpPr txBox="1"/>
          <p:nvPr/>
        </p:nvSpPr>
        <p:spPr>
          <a:xfrm>
            <a:off x="7553300" y="3379907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level / priority / mode</a:t>
            </a:r>
          </a:p>
        </p:txBody>
      </p:sp>
      <p:sp>
        <p:nvSpPr>
          <p:cNvPr id="22" name="text-022: 获胜源与 SHV / level 格式化"/>
          <p:cNvSpPr txBox="1"/>
          <p:nvPr/>
        </p:nvSpPr>
        <p:spPr>
          <a:xfrm>
            <a:off x="7514184" y="3607491"/>
            <a:ext cx="25738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获胜源与 SHV / level 格式化</a:t>
            </a:r>
          </a:p>
        </p:txBody>
      </p:sp>
      <p:sp>
        <p:nvSpPr>
          <p:cNvPr id="23" name="E02"/>
          <p:cNvSpPr/>
          <p:nvPr/>
        </p:nvSpPr>
        <p:spPr>
          <a:xfrm>
            <a:off x="6400800" y="3378200"/>
            <a:ext cx="1209040" cy="1"/>
          </a:xfrm>
          <a:custGeom>
            <a:avLst/>
            <a:gdLst/>
            <a:ahLst/>
            <a:cxnLst/>
            <a:rect l="0" t="0" r="r" b="b"/>
            <a:pathLst>
              <a:path w="1209040" h="1" fill="none">
                <a:moveTo>
                  <a:pt x="0" y="0"/>
                </a:moveTo>
                <a:lnTo>
                  <a:pt x="120904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03"/>
          <p:cNvSpPr/>
          <p:nvPr/>
        </p:nvSpPr>
        <p:spPr>
          <a:xfrm>
            <a:off x="5227320" y="4053840"/>
            <a:ext cx="3022600" cy="533400"/>
          </a:xfrm>
          <a:custGeom>
            <a:avLst/>
            <a:gdLst/>
            <a:ahLst/>
            <a:cxnLst/>
            <a:rect l="0" t="0" r="r" b="b"/>
            <a:pathLst>
              <a:path w="3022600" h="533400" fill="none">
                <a:moveTo>
                  <a:pt x="3022600" y="0"/>
                </a:moveTo>
                <a:lnTo>
                  <a:pt x="3022600" y="533400"/>
                </a:lnTo>
                <a:lnTo>
                  <a:pt x="0" y="53340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9C5B2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claim"/>
          <p:cNvSpPr txBox="1"/>
          <p:nvPr/>
        </p:nvSpPr>
        <p:spPr>
          <a:xfrm>
            <a:off x="6365240" y="4311010"/>
            <a:ext cx="6951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claim</a:t>
            </a:r>
          </a:p>
        </p:txBody>
      </p:sp>
      <p:sp>
        <p:nvSpPr>
          <p:cNvPr id="26" name="rect-026"/>
          <p:cNvSpPr/>
          <p:nvPr/>
        </p:nvSpPr>
        <p:spPr>
          <a:xfrm>
            <a:off x="10703560" y="2489200"/>
            <a:ext cx="1813560" cy="1742440"/>
          </a:xfrm>
          <a:prstGeom prst="roundRect">
            <a:avLst>
              <a:gd name="adj" fmla="val 3265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7"/>
          <p:cNvSpPr/>
          <p:nvPr/>
        </p:nvSpPr>
        <p:spPr>
          <a:xfrm>
            <a:off x="10724896" y="2510536"/>
            <a:ext cx="1770888" cy="522732"/>
          </a:xfrm>
          <a:prstGeom prst="roundRect">
            <a:avLst>
              <a:gd name="adj" fmla="val 6802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4  CVA6 CLIC 接口"/>
          <p:cNvSpPr txBox="1"/>
          <p:nvPr/>
        </p:nvSpPr>
        <p:spPr>
          <a:xfrm>
            <a:off x="10633151" y="2777805"/>
            <a:ext cx="195437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CVA6 CLIC 接口</a:t>
            </a:r>
          </a:p>
        </p:txBody>
      </p:sp>
      <p:sp>
        <p:nvSpPr>
          <p:cNvPr id="29" name="text-029: valid / ready"/>
          <p:cNvSpPr txBox="1"/>
          <p:nvPr/>
        </p:nvSpPr>
        <p:spPr>
          <a:xfrm>
            <a:off x="10871048" y="3020751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valid / ready</a:t>
            </a:r>
          </a:p>
        </p:txBody>
      </p:sp>
      <p:sp>
        <p:nvSpPr>
          <p:cNvPr id="30" name="text-030: id / level"/>
          <p:cNvSpPr txBox="1"/>
          <p:nvPr/>
        </p:nvSpPr>
        <p:spPr>
          <a:xfrm>
            <a:off x="11023600" y="3248335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id / level</a:t>
            </a:r>
          </a:p>
        </p:txBody>
      </p:sp>
      <p:sp>
        <p:nvSpPr>
          <p:cNvPr id="31" name="text-031: shv / priv"/>
          <p:cNvSpPr txBox="1"/>
          <p:nvPr/>
        </p:nvSpPr>
        <p:spPr>
          <a:xfrm>
            <a:off x="11023600" y="3475919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shv / priv</a:t>
            </a:r>
          </a:p>
        </p:txBody>
      </p:sp>
      <p:sp>
        <p:nvSpPr>
          <p:cNvPr id="32" name="text-032: kill_req / kill_ack"/>
          <p:cNvSpPr txBox="1"/>
          <p:nvPr/>
        </p:nvSpPr>
        <p:spPr>
          <a:xfrm>
            <a:off x="10565943" y="3703503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kill_req / kill_ack</a:t>
            </a:r>
          </a:p>
        </p:txBody>
      </p:sp>
      <p:sp>
        <p:nvSpPr>
          <p:cNvPr id="33" name="E04"/>
          <p:cNvSpPr/>
          <p:nvPr/>
        </p:nvSpPr>
        <p:spPr>
          <a:xfrm>
            <a:off x="9992360" y="323596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4"/>
          <p:cNvSpPr/>
          <p:nvPr/>
        </p:nvSpPr>
        <p:spPr>
          <a:xfrm>
            <a:off x="3947160" y="5796280"/>
            <a:ext cx="6151880" cy="1280160"/>
          </a:xfrm>
          <a:prstGeom prst="roundRect">
            <a:avLst>
              <a:gd name="adj" fmla="val 4444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5"/>
          <p:cNvSpPr/>
          <p:nvPr/>
        </p:nvSpPr>
        <p:spPr>
          <a:xfrm>
            <a:off x="3968496" y="5817616"/>
            <a:ext cx="6109208" cy="405384"/>
          </a:xfrm>
          <a:prstGeom prst="roundRect">
            <a:avLst>
              <a:gd name="adj" fmla="val 8771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5  mclic_reg_top + clicint_reg_top × 源"/>
          <p:cNvSpPr txBox="1"/>
          <p:nvPr/>
        </p:nvSpPr>
        <p:spPr>
          <a:xfrm>
            <a:off x="4799889" y="5967537"/>
            <a:ext cx="44464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mclic_reg_top + clicint_reg_top × 源</a:t>
            </a:r>
          </a:p>
        </p:txBody>
      </p:sp>
      <p:sp>
        <p:nvSpPr>
          <p:cNvPr id="37" name="text-037: Regbus 地址译码 → 对应寄存器"/>
          <p:cNvSpPr txBox="1"/>
          <p:nvPr/>
        </p:nvSpPr>
        <p:spPr>
          <a:xfrm>
            <a:off x="5704891" y="6210483"/>
            <a:ext cx="26364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地址译码 → 对应寄存器</a:t>
            </a:r>
          </a:p>
        </p:txBody>
      </p:sp>
      <p:sp>
        <p:nvSpPr>
          <p:cNvPr id="38" name="text-038: reg_adapter：整理 reg2hw / hw2reg 字段"/>
          <p:cNvSpPr txBox="1"/>
          <p:nvPr/>
        </p:nvSpPr>
        <p:spPr>
          <a:xfrm>
            <a:off x="5129886" y="6438067"/>
            <a:ext cx="378642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reg_adapter：整理 reg2hw / hw2reg 字段</a:t>
            </a:r>
          </a:p>
        </p:txBody>
      </p:sp>
      <p:sp>
        <p:nvSpPr>
          <p:cNvPr id="39" name="text-039: 全局 level 划分；每源 pending / enable / attr /"/>
          <p:cNvSpPr txBox="1"/>
          <p:nvPr/>
        </p:nvSpPr>
        <p:spPr>
          <a:xfrm>
            <a:off x="4515764" y="6665651"/>
            <a:ext cx="501467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全局 level 划分；每源 pending / enable / attr / ctl</a:t>
            </a:r>
          </a:p>
        </p:txBody>
      </p:sp>
      <p:sp>
        <p:nvSpPr>
          <p:cNvPr id="40" name="text-040: 当前默认 / FPGA：Cfg.Clic = 0"/>
          <p:cNvSpPr txBox="1"/>
          <p:nvPr/>
        </p:nvSpPr>
        <p:spPr>
          <a:xfrm>
            <a:off x="320040" y="5086218"/>
            <a:ext cx="300162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当前默认 / FPGA：Cfg.Clic = 0</a:t>
            </a:r>
          </a:p>
        </p:txBody>
      </p:sp>
      <p:sp>
        <p:nvSpPr>
          <p:cNvPr id="41" name="E05"/>
          <p:cNvSpPr/>
          <p:nvPr/>
        </p:nvSpPr>
        <p:spPr>
          <a:xfrm>
            <a:off x="4445000" y="4053840"/>
            <a:ext cx="711200" cy="1742440"/>
          </a:xfrm>
          <a:custGeom>
            <a:avLst/>
            <a:gdLst/>
            <a:ahLst/>
            <a:cxnLst/>
            <a:rect l="0" t="0" r="r" b="b"/>
            <a:pathLst>
              <a:path w="711200" h="1742440" fill="none">
                <a:moveTo>
                  <a:pt x="711200" y="1742440"/>
                </a:moveTo>
                <a:lnTo>
                  <a:pt x="711200" y="889000"/>
                </a:lnTo>
                <a:lnTo>
                  <a:pt x="0" y="88900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6"/>
          <p:cNvSpPr/>
          <p:nvPr/>
        </p:nvSpPr>
        <p:spPr>
          <a:xfrm>
            <a:off x="8641080" y="4053840"/>
            <a:ext cx="1" cy="1742440"/>
          </a:xfrm>
          <a:custGeom>
            <a:avLst/>
            <a:gdLst/>
            <a:ahLst/>
            <a:cxnLst/>
            <a:rect l="0" t="0" r="r" b="b"/>
            <a:pathLst>
              <a:path w="1" h="1742440" fill="none">
                <a:moveTo>
                  <a:pt x="0" y="174244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CLIC 不产生 RTC 计数；CPU 接受中断的握手也不等于清除了外设事件。"/>
          <p:cNvSpPr txBox="1"/>
          <p:nvPr/>
        </p:nvSpPr>
        <p:spPr>
          <a:xfrm>
            <a:off x="320040" y="7212137"/>
            <a:ext cx="59911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CLIC 不产生 RTC 计数；CPU 接受中断的握手也不等于清除了外设事件。</a:t>
            </a:r>
          </a:p>
        </p:txBody>
      </p:sp>
      <p:sp>
        <p:nvSpPr>
          <p:cNvPr id="44" name="rect-044"/>
          <p:cNvSpPr/>
          <p:nvPr/>
        </p:nvSpPr>
        <p:spPr>
          <a:xfrm>
            <a:off x="328930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1"/>
          <p:cNvSpPr txBox="1"/>
          <p:nvPr/>
        </p:nvSpPr>
        <p:spPr>
          <a:xfrm>
            <a:off x="323276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6" name="rect-046"/>
          <p:cNvSpPr/>
          <p:nvPr/>
        </p:nvSpPr>
        <p:spPr>
          <a:xfrm>
            <a:off x="682752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2"/>
          <p:cNvSpPr txBox="1"/>
          <p:nvPr/>
        </p:nvSpPr>
        <p:spPr>
          <a:xfrm>
            <a:off x="677098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8" name="rect-048"/>
          <p:cNvSpPr/>
          <p:nvPr/>
        </p:nvSpPr>
        <p:spPr>
          <a:xfrm>
            <a:off x="6560820" y="4637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3"/>
          <p:cNvSpPr txBox="1"/>
          <p:nvPr/>
        </p:nvSpPr>
        <p:spPr>
          <a:xfrm>
            <a:off x="6504280" y="4617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0" name="rect-050"/>
          <p:cNvSpPr/>
          <p:nvPr/>
        </p:nvSpPr>
        <p:spPr>
          <a:xfrm>
            <a:off x="1017016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4"/>
          <p:cNvSpPr txBox="1"/>
          <p:nvPr/>
        </p:nvSpPr>
        <p:spPr>
          <a:xfrm>
            <a:off x="1011362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2" name="rect-052"/>
          <p:cNvSpPr/>
          <p:nvPr/>
        </p:nvSpPr>
        <p:spPr>
          <a:xfrm>
            <a:off x="4509008" y="43987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5"/>
          <p:cNvSpPr txBox="1"/>
          <p:nvPr/>
        </p:nvSpPr>
        <p:spPr>
          <a:xfrm>
            <a:off x="4452468" y="43791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4" name="rect-054"/>
          <p:cNvSpPr/>
          <p:nvPr/>
        </p:nvSpPr>
        <p:spPr>
          <a:xfrm>
            <a:off x="8705088" y="48254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6"/>
          <p:cNvSpPr txBox="1"/>
          <p:nvPr/>
        </p:nvSpPr>
        <p:spPr>
          <a:xfrm>
            <a:off x="8648548" y="48058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6" name="text-056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57" name="text-057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7  IRQ Router：每条源中断对应一个目标位掩码"/>
          <p:cNvSpPr txBox="1"/>
          <p:nvPr/>
        </p:nvSpPr>
        <p:spPr>
          <a:xfrm>
            <a:off x="284480" y="1347297"/>
            <a:ext cx="571235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07  IRQ Router：每条源中断对应一个目标位掩码</a:t>
            </a:r>
          </a:p>
        </p:txBody>
      </p:sp>
      <p:sp>
        <p:nvSpPr>
          <p:cNvPr id="3" name="rect-003"/>
          <p:cNvSpPr/>
          <p:nvPr/>
        </p:nvSpPr>
        <p:spPr>
          <a:xfrm>
            <a:off x="320040" y="2524760"/>
            <a:ext cx="2240280" cy="1280160"/>
          </a:xfrm>
          <a:prstGeom prst="roundRect">
            <a:avLst>
              <a:gd name="adj" fmla="val 4444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341376" y="2546096"/>
            <a:ext cx="2197608" cy="405384"/>
          </a:xfrm>
          <a:prstGeom prst="roundRect">
            <a:avLst>
              <a:gd name="adj" fmla="val 8771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1  intr 源向量"/>
          <p:cNvSpPr txBox="1"/>
          <p:nvPr/>
        </p:nvSpPr>
        <p:spPr>
          <a:xfrm>
            <a:off x="655015" y="2696017"/>
            <a:ext cx="15703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intr 源向量</a:t>
            </a:r>
          </a:p>
        </p:txBody>
      </p:sp>
      <p:sp>
        <p:nvSpPr>
          <p:cNvPr id="6" name="text-006: 片内外设 IRQ"/>
          <p:cNvSpPr txBox="1"/>
          <p:nvPr/>
        </p:nvSpPr>
        <p:spPr>
          <a:xfrm>
            <a:off x="845617" y="2938963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片内外设 IRQ</a:t>
            </a:r>
          </a:p>
        </p:txBody>
      </p:sp>
      <p:sp>
        <p:nvSpPr>
          <p:cNvPr id="7" name="text-007: 外部 IRQ 经 sync"/>
          <p:cNvSpPr txBox="1"/>
          <p:nvPr/>
        </p:nvSpPr>
        <p:spPr>
          <a:xfrm>
            <a:off x="618744" y="3166547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IRQ 经 sync</a:t>
            </a:r>
          </a:p>
        </p:txBody>
      </p:sp>
      <p:sp>
        <p:nvSpPr>
          <p:cNvPr id="8" name="text-008: 源 0 固定为 0"/>
          <p:cNvSpPr txBox="1"/>
          <p:nvPr/>
        </p:nvSpPr>
        <p:spPr>
          <a:xfrm>
            <a:off x="794766" y="3394131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0 固定为 0</a:t>
            </a:r>
          </a:p>
        </p:txBody>
      </p:sp>
      <p:sp>
        <p:nvSpPr>
          <p:cNvPr id="9" name="rect-009"/>
          <p:cNvSpPr/>
          <p:nvPr/>
        </p:nvSpPr>
        <p:spPr>
          <a:xfrm>
            <a:off x="3449320" y="2631440"/>
            <a:ext cx="2346960" cy="1031240"/>
          </a:xfrm>
          <a:prstGeom prst="roundRect">
            <a:avLst>
              <a:gd name="adj" fmla="val 5517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-010"/>
          <p:cNvSpPr/>
          <p:nvPr/>
        </p:nvSpPr>
        <p:spPr>
          <a:xfrm>
            <a:off x="3470656" y="2652776"/>
            <a:ext cx="2304288" cy="394716"/>
          </a:xfrm>
          <a:prstGeom prst="roundRect">
            <a:avLst>
              <a:gd name="adj" fmla="val 9009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2  irqs_cloned"/>
          <p:cNvSpPr txBox="1"/>
          <p:nvPr/>
        </p:nvSpPr>
        <p:spPr>
          <a:xfrm>
            <a:off x="3760826" y="2792029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irqs_cloned</a:t>
            </a:r>
          </a:p>
        </p:txBody>
      </p:sp>
      <p:sp>
        <p:nvSpPr>
          <p:cNvPr id="12" name="text-012: 每个目标一份源向量"/>
          <p:cNvSpPr txBox="1"/>
          <p:nvPr/>
        </p:nvSpPr>
        <p:spPr>
          <a:xfrm>
            <a:off x="3840480" y="303497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每个目标一份源向量</a:t>
            </a:r>
          </a:p>
        </p:txBody>
      </p:sp>
      <p:sp>
        <p:nvSpPr>
          <p:cNvPr id="13" name="text-013: 组合逻辑复制"/>
          <p:cNvSpPr txBox="1"/>
          <p:nvPr/>
        </p:nvSpPr>
        <p:spPr>
          <a:xfrm>
            <a:off x="4075176" y="3262559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组合逻辑复制</a:t>
            </a:r>
          </a:p>
        </p:txBody>
      </p:sp>
      <p:sp>
        <p:nvSpPr>
          <p:cNvPr id="14" name="E01"/>
          <p:cNvSpPr/>
          <p:nvPr/>
        </p:nvSpPr>
        <p:spPr>
          <a:xfrm>
            <a:off x="2560320" y="3164840"/>
            <a:ext cx="889000" cy="1"/>
          </a:xfrm>
          <a:custGeom>
            <a:avLst/>
            <a:gdLst/>
            <a:ahLst/>
            <a:cxnLst/>
            <a:rect l="0" t="0" r="r" b="b"/>
            <a:pathLst>
              <a:path w="889000" h="1" fill="none">
                <a:moveTo>
                  <a:pt x="0" y="0"/>
                </a:moveTo>
                <a:lnTo>
                  <a:pt x="8890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7112000" y="2524760"/>
            <a:ext cx="2026920" cy="1280160"/>
          </a:xfrm>
          <a:prstGeom prst="roundRect">
            <a:avLst>
              <a:gd name="adj" fmla="val 4444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6"/>
          <p:cNvSpPr/>
          <p:nvPr/>
        </p:nvSpPr>
        <p:spPr>
          <a:xfrm>
            <a:off x="7133336" y="2546096"/>
            <a:ext cx="1984248" cy="405384"/>
          </a:xfrm>
          <a:prstGeom prst="roundRect">
            <a:avLst>
              <a:gd name="adj" fmla="val 8771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3  按位 AND"/>
          <p:cNvSpPr txBox="1"/>
          <p:nvPr/>
        </p:nvSpPr>
        <p:spPr>
          <a:xfrm>
            <a:off x="7481113" y="2696017"/>
            <a:ext cx="12886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按位 AND</a:t>
            </a:r>
          </a:p>
        </p:txBody>
      </p:sp>
      <p:sp>
        <p:nvSpPr>
          <p:cNvPr id="18" name="text-018: out[target][source]"/>
          <p:cNvSpPr txBox="1"/>
          <p:nvPr/>
        </p:nvSpPr>
        <p:spPr>
          <a:xfrm>
            <a:off x="7081063" y="2938963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out[target][source]</a:t>
            </a:r>
          </a:p>
        </p:txBody>
      </p:sp>
      <p:sp>
        <p:nvSpPr>
          <p:cNvPr id="19" name="text-019: = src[source]"/>
          <p:cNvSpPr txBox="1"/>
          <p:nvPr/>
        </p:nvSpPr>
        <p:spPr>
          <a:xfrm>
            <a:off x="7386168" y="316654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= src[source]</a:t>
            </a:r>
          </a:p>
        </p:txBody>
      </p:sp>
      <p:sp>
        <p:nvSpPr>
          <p:cNvPr id="20" name="text-020: &amp; mask[source][target]"/>
          <p:cNvSpPr txBox="1"/>
          <p:nvPr/>
        </p:nvSpPr>
        <p:spPr>
          <a:xfrm>
            <a:off x="6928510" y="3394131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&amp; mask[source][target]</a:t>
            </a:r>
          </a:p>
        </p:txBody>
      </p:sp>
      <p:sp>
        <p:nvSpPr>
          <p:cNvPr id="21" name="E02"/>
          <p:cNvSpPr/>
          <p:nvPr/>
        </p:nvSpPr>
        <p:spPr>
          <a:xfrm>
            <a:off x="5796280" y="3164840"/>
            <a:ext cx="1315720" cy="1"/>
          </a:xfrm>
          <a:custGeom>
            <a:avLst/>
            <a:gdLst/>
            <a:ahLst/>
            <a:cxnLst/>
            <a:rect l="0" t="0" r="r" b="b"/>
            <a:pathLst>
              <a:path w="1315720" h="1" fill="none">
                <a:moveTo>
                  <a:pt x="0" y="0"/>
                </a:moveTo>
                <a:lnTo>
                  <a:pt x="131572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E03"/>
          <p:cNvSpPr/>
          <p:nvPr/>
        </p:nvSpPr>
        <p:spPr>
          <a:xfrm>
            <a:off x="9138920" y="28448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04"/>
          <p:cNvSpPr/>
          <p:nvPr/>
        </p:nvSpPr>
        <p:spPr>
          <a:xfrm>
            <a:off x="9138920" y="32004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05"/>
          <p:cNvSpPr/>
          <p:nvPr/>
        </p:nvSpPr>
        <p:spPr>
          <a:xfrm>
            <a:off x="9138920" y="35560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target 0 → PLIC"/>
          <p:cNvSpPr txBox="1"/>
          <p:nvPr/>
        </p:nvSpPr>
        <p:spPr>
          <a:xfrm>
            <a:off x="10205720" y="2703129"/>
            <a:ext cx="189463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0 → PLIC</a:t>
            </a:r>
          </a:p>
        </p:txBody>
      </p:sp>
      <p:sp>
        <p:nvSpPr>
          <p:cNvPr id="26" name="text-026: target 1… → 各 hart CLIC"/>
          <p:cNvSpPr txBox="1"/>
          <p:nvPr/>
        </p:nvSpPr>
        <p:spPr>
          <a:xfrm>
            <a:off x="10205720" y="3058729"/>
            <a:ext cx="29016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1… → 各 hart CLIC</a:t>
            </a:r>
          </a:p>
        </p:txBody>
      </p:sp>
      <p:sp>
        <p:nvSpPr>
          <p:cNvPr id="27" name="text-027: 后续 target → 外部输出"/>
          <p:cNvSpPr txBox="1"/>
          <p:nvPr/>
        </p:nvSpPr>
        <p:spPr>
          <a:xfrm>
            <a:off x="10205720" y="3414329"/>
            <a:ext cx="23640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后续 target → 外部输出</a:t>
            </a:r>
          </a:p>
        </p:txBody>
      </p:sp>
      <p:sp>
        <p:nvSpPr>
          <p:cNvPr id="28" name="rect-028"/>
          <p:cNvSpPr/>
          <p:nvPr/>
        </p:nvSpPr>
        <p:spPr>
          <a:xfrm>
            <a:off x="3200400" y="5476240"/>
            <a:ext cx="3342640" cy="1386840"/>
          </a:xfrm>
          <a:prstGeom prst="roundRect">
            <a:avLst>
              <a:gd name="adj" fmla="val 4102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9"/>
          <p:cNvSpPr/>
          <p:nvPr/>
        </p:nvSpPr>
        <p:spPr>
          <a:xfrm>
            <a:off x="3221736" y="5497576"/>
            <a:ext cx="3299968" cy="458724"/>
          </a:xfrm>
          <a:prstGeom prst="roundRect">
            <a:avLst>
              <a:gd name="adj" fmla="val 7751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4  irq_router_reg_top × 源"/>
          <p:cNvSpPr txBox="1"/>
          <p:nvPr/>
        </p:nvSpPr>
        <p:spPr>
          <a:xfrm>
            <a:off x="3369666" y="5700837"/>
            <a:ext cx="300410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irq_router_reg_top × 源</a:t>
            </a:r>
          </a:p>
        </p:txBody>
      </p:sp>
      <p:sp>
        <p:nvSpPr>
          <p:cNvPr id="31" name="text-031: 每源一个 IRQ_TARGET_MASK"/>
          <p:cNvSpPr txBox="1"/>
          <p:nvPr/>
        </p:nvSpPr>
        <p:spPr>
          <a:xfrm>
            <a:off x="3666947" y="5943783"/>
            <a:ext cx="24095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每源一个 IRQ_TARGET_MASK</a:t>
            </a:r>
          </a:p>
        </p:txBody>
      </p:sp>
      <p:sp>
        <p:nvSpPr>
          <p:cNvPr id="32" name="text-032: 地址低位 addr[15:2] 选择源"/>
          <p:cNvSpPr txBox="1"/>
          <p:nvPr/>
        </p:nvSpPr>
        <p:spPr>
          <a:xfrm>
            <a:off x="3635654" y="6171367"/>
            <a:ext cx="24721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地址低位 addr[15:2] 选择源</a:t>
            </a:r>
          </a:p>
        </p:txBody>
      </p:sp>
      <p:sp>
        <p:nvSpPr>
          <p:cNvPr id="33" name="text-033: 复位 mask = 1：仅 target 0"/>
          <p:cNvSpPr txBox="1"/>
          <p:nvPr/>
        </p:nvSpPr>
        <p:spPr>
          <a:xfrm>
            <a:off x="3565246" y="6398951"/>
            <a:ext cx="26129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复位 mask = 1：仅 target 0</a:t>
            </a:r>
          </a:p>
        </p:txBody>
      </p:sp>
      <p:sp>
        <p:nvSpPr>
          <p:cNvPr id="34" name="text-034: Regbus 请求 / 响应"/>
          <p:cNvSpPr txBox="1"/>
          <p:nvPr/>
        </p:nvSpPr>
        <p:spPr>
          <a:xfrm>
            <a:off x="3235960" y="4957633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35" name="E06"/>
          <p:cNvSpPr/>
          <p:nvPr/>
        </p:nvSpPr>
        <p:spPr>
          <a:xfrm>
            <a:off x="6543040" y="3804920"/>
            <a:ext cx="1564640" cy="2346960"/>
          </a:xfrm>
          <a:custGeom>
            <a:avLst/>
            <a:gdLst/>
            <a:ahLst/>
            <a:cxnLst/>
            <a:rect l="0" t="0" r="r" b="b"/>
            <a:pathLst>
              <a:path w="1564640" h="2346960" fill="none">
                <a:moveTo>
                  <a:pt x="0" y="2346960"/>
                </a:moveTo>
                <a:lnTo>
                  <a:pt x="1564640" y="2346960"/>
                </a:lnTo>
                <a:lnTo>
                  <a:pt x="156464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掩码重排为目标 × 源"/>
          <p:cNvSpPr txBox="1"/>
          <p:nvPr/>
        </p:nvSpPr>
        <p:spPr>
          <a:xfrm>
            <a:off x="8321040" y="4879970"/>
            <a:ext cx="179115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掩码重排为目标 × 源</a:t>
            </a:r>
          </a:p>
        </p:txBody>
      </p:sp>
      <p:sp>
        <p:nvSpPr>
          <p:cNvPr id="37" name="text-037: 当前默认 / FPGA 为 0；Cfg.IrqRouter = 0 时：绕过掩码"/>
          <p:cNvSpPr txBox="1"/>
          <p:nvPr/>
        </p:nvSpPr>
        <p:spPr>
          <a:xfrm>
            <a:off x="391160" y="7247697"/>
            <a:ext cx="104205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当前默认 / FPGA 为 0；Cfg.IrqRouter = 0 时：绕过掩码，原始源向量复制给各目标；模块没有 pending 或优先级队列。</a:t>
            </a:r>
          </a:p>
        </p:txBody>
      </p:sp>
      <p:sp>
        <p:nvSpPr>
          <p:cNvPr id="38" name="rect-038"/>
          <p:cNvSpPr/>
          <p:nvPr/>
        </p:nvSpPr>
        <p:spPr>
          <a:xfrm>
            <a:off x="282702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1"/>
          <p:cNvSpPr txBox="1"/>
          <p:nvPr/>
        </p:nvSpPr>
        <p:spPr>
          <a:xfrm>
            <a:off x="277048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0" name="rect-040"/>
          <p:cNvSpPr/>
          <p:nvPr/>
        </p:nvSpPr>
        <p:spPr>
          <a:xfrm>
            <a:off x="627634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2"/>
          <p:cNvSpPr txBox="1"/>
          <p:nvPr/>
        </p:nvSpPr>
        <p:spPr>
          <a:xfrm>
            <a:off x="621980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2" name="rect-042"/>
          <p:cNvSpPr/>
          <p:nvPr/>
        </p:nvSpPr>
        <p:spPr>
          <a:xfrm>
            <a:off x="9423400" y="2624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3"/>
          <p:cNvSpPr txBox="1"/>
          <p:nvPr/>
        </p:nvSpPr>
        <p:spPr>
          <a:xfrm>
            <a:off x="9366860" y="2604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4" name="rect-044"/>
          <p:cNvSpPr/>
          <p:nvPr/>
        </p:nvSpPr>
        <p:spPr>
          <a:xfrm>
            <a:off x="942340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4"/>
          <p:cNvSpPr txBox="1"/>
          <p:nvPr/>
        </p:nvSpPr>
        <p:spPr>
          <a:xfrm>
            <a:off x="936686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6" name="rect-046"/>
          <p:cNvSpPr/>
          <p:nvPr/>
        </p:nvSpPr>
        <p:spPr>
          <a:xfrm>
            <a:off x="9423400" y="33355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5"/>
          <p:cNvSpPr txBox="1"/>
          <p:nvPr/>
        </p:nvSpPr>
        <p:spPr>
          <a:xfrm>
            <a:off x="9366860" y="33158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48" name="rect-048"/>
          <p:cNvSpPr/>
          <p:nvPr/>
        </p:nvSpPr>
        <p:spPr>
          <a:xfrm>
            <a:off x="7695184" y="48788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6"/>
          <p:cNvSpPr txBox="1"/>
          <p:nvPr/>
        </p:nvSpPr>
        <p:spPr>
          <a:xfrm>
            <a:off x="7638644" y="48592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0" name="text-050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51" name="text-051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8  BootROM：组合 ROM 内容与 Regbus 应答延迟"/>
          <p:cNvSpPr txBox="1"/>
          <p:nvPr/>
        </p:nvSpPr>
        <p:spPr>
          <a:xfrm>
            <a:off x="284480" y="1347297"/>
            <a:ext cx="605373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08  BootROM：组合 ROM 内容与 Regbus 应答延迟</a:t>
            </a:r>
          </a:p>
        </p:txBody>
      </p:sp>
      <p:sp>
        <p:nvSpPr>
          <p:cNvPr id="3" name="rect-003"/>
          <p:cNvSpPr/>
          <p:nvPr/>
        </p:nvSpPr>
        <p:spPr>
          <a:xfrm>
            <a:off x="2595880" y="2346960"/>
            <a:ext cx="9779000" cy="4018280"/>
          </a:xfrm>
          <a:prstGeom prst="roundRect">
            <a:avLst>
              <a:gd name="adj" fmla="val 2123"/>
            </a:avLst>
          </a:prstGeom>
          <a:solidFill>
            <a:srgbClr val="F8FAFD"/>
          </a:solidFill>
          <a:ln w="12090" cap="flat">
            <a:solidFill>
              <a:srgbClr val="A6B5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fg.Bootrom 生成分支；clk_i / rst_ni"/>
          <p:cNvSpPr txBox="1"/>
          <p:nvPr/>
        </p:nvSpPr>
        <p:spPr>
          <a:xfrm>
            <a:off x="2702560" y="2383658"/>
            <a:ext cx="37458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Cfg.Bootrom 生成分支；clk_i / rst_ni</a:t>
            </a:r>
          </a:p>
        </p:txBody>
      </p:sp>
      <p:sp>
        <p:nvSpPr>
          <p:cNvPr id="5" name="text-005: Regbus 32"/>
          <p:cNvSpPr txBox="1"/>
          <p:nvPr/>
        </p:nvSpPr>
        <p:spPr>
          <a:xfrm>
            <a:off x="320040" y="3043936"/>
            <a:ext cx="12179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6" name="rect-006"/>
          <p:cNvSpPr/>
          <p:nvPr/>
        </p:nvSpPr>
        <p:spPr>
          <a:xfrm>
            <a:off x="2880360" y="2880360"/>
            <a:ext cx="2453640" cy="1386840"/>
          </a:xfrm>
          <a:prstGeom prst="roundRect">
            <a:avLst>
              <a:gd name="adj" fmla="val 4102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2901696" y="2901696"/>
            <a:ext cx="2410968" cy="344932"/>
          </a:xfrm>
          <a:prstGeom prst="roundRect">
            <a:avLst>
              <a:gd name="adj" fmla="val 10309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1  reg_to_mem"/>
          <p:cNvSpPr txBox="1"/>
          <p:nvPr/>
        </p:nvSpPr>
        <p:spPr>
          <a:xfrm>
            <a:off x="3300679" y="2991165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reg_to_mem</a:t>
            </a:r>
          </a:p>
        </p:txBody>
      </p:sp>
      <p:sp>
        <p:nvSpPr>
          <p:cNvPr id="9" name="text-009: 地址截为 16-bit"/>
          <p:cNvSpPr txBox="1"/>
          <p:nvPr/>
        </p:nvSpPr>
        <p:spPr>
          <a:xfrm>
            <a:off x="3360064" y="3234111"/>
            <a:ext cx="14942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地址截为 16-bit</a:t>
            </a:r>
          </a:p>
        </p:txBody>
      </p:sp>
      <p:sp>
        <p:nvSpPr>
          <p:cNvPr id="10" name="text-010: req / we / addr"/>
          <p:cNvSpPr txBox="1"/>
          <p:nvPr/>
        </p:nvSpPr>
        <p:spPr>
          <a:xfrm>
            <a:off x="3266186" y="3461695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 / we / addr</a:t>
            </a:r>
          </a:p>
        </p:txBody>
      </p:sp>
      <p:sp>
        <p:nvSpPr>
          <p:cNvPr id="11" name="text-011: gnt = req"/>
          <p:cNvSpPr txBox="1"/>
          <p:nvPr/>
        </p:nvSpPr>
        <p:spPr>
          <a:xfrm>
            <a:off x="3571291" y="3689279"/>
            <a:ext cx="10717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gnt = req</a:t>
            </a:r>
          </a:p>
        </p:txBody>
      </p:sp>
      <p:sp>
        <p:nvSpPr>
          <p:cNvPr id="12" name="text-012: rvalid / rerror 返回"/>
          <p:cNvSpPr txBox="1"/>
          <p:nvPr/>
        </p:nvSpPr>
        <p:spPr>
          <a:xfrm>
            <a:off x="3058871" y="3916863"/>
            <a:ext cx="20966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rvalid / rerror 返回</a:t>
            </a:r>
          </a:p>
        </p:txBody>
      </p:sp>
      <p:sp>
        <p:nvSpPr>
          <p:cNvPr id="13" name="E01"/>
          <p:cNvSpPr/>
          <p:nvPr/>
        </p:nvSpPr>
        <p:spPr>
          <a:xfrm>
            <a:off x="355600" y="3591560"/>
            <a:ext cx="2524760" cy="1"/>
          </a:xfrm>
          <a:custGeom>
            <a:avLst/>
            <a:gdLst/>
            <a:ahLst/>
            <a:cxnLst/>
            <a:rect l="0" t="0" r="r" b="b"/>
            <a:pathLst>
              <a:path w="2524760" h="1" fill="none">
                <a:moveTo>
                  <a:pt x="0" y="0"/>
                </a:moveTo>
                <a:lnTo>
                  <a:pt x="252476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4"/>
          <p:cNvSpPr/>
          <p:nvPr/>
        </p:nvSpPr>
        <p:spPr>
          <a:xfrm>
            <a:off x="6400800" y="2809240"/>
            <a:ext cx="2844800" cy="1386840"/>
          </a:xfrm>
          <a:prstGeom prst="roundRect">
            <a:avLst>
              <a:gd name="adj" fmla="val 4102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6422136" y="2830576"/>
            <a:ext cx="2802128" cy="344932"/>
          </a:xfrm>
          <a:prstGeom prst="roundRect">
            <a:avLst>
              <a:gd name="adj" fmla="val 10309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6"/>
          <p:cNvSpPr/>
          <p:nvPr/>
        </p:nvSpPr>
        <p:spPr>
          <a:xfrm>
            <a:off x="6486144" y="2809240"/>
            <a:ext cx="1" cy="1386840"/>
          </a:xfrm>
          <a:custGeom>
            <a:avLst/>
            <a:gdLst/>
            <a:ahLst/>
            <a:cxnLst/>
            <a:rect l="0" t="0" r="r" b="b"/>
            <a:pathLst>
              <a:path w="1" h="1386840" fill="none">
                <a:moveTo>
                  <a:pt x="0" y="0"/>
                </a:moveTo>
                <a:lnTo>
                  <a:pt x="0" y="13868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2  cheshire_bootrom"/>
          <p:cNvSpPr txBox="1"/>
          <p:nvPr/>
        </p:nvSpPr>
        <p:spPr>
          <a:xfrm>
            <a:off x="6683858" y="2920045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cheshire_bootrom</a:t>
            </a:r>
          </a:p>
        </p:txBody>
      </p:sp>
      <p:sp>
        <p:nvSpPr>
          <p:cNvPr id="18" name="text-018: word = addr / 4"/>
          <p:cNvSpPr txBox="1"/>
          <p:nvPr/>
        </p:nvSpPr>
        <p:spPr>
          <a:xfrm>
            <a:off x="6982206" y="3162991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word = addr / 4</a:t>
            </a:r>
          </a:p>
        </p:txBody>
      </p:sp>
      <p:sp>
        <p:nvSpPr>
          <p:cNvPr id="19" name="text-019: case(word) → data[31:0]"/>
          <p:cNvSpPr txBox="1"/>
          <p:nvPr/>
        </p:nvSpPr>
        <p:spPr>
          <a:xfrm>
            <a:off x="6548018" y="3390575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case(word) → data[31:0]</a:t>
            </a:r>
          </a:p>
        </p:txBody>
      </p:sp>
      <p:sp>
        <p:nvSpPr>
          <p:cNvPr id="20" name="text-020: 当前生成内容：2048 words"/>
          <p:cNvSpPr txBox="1"/>
          <p:nvPr/>
        </p:nvSpPr>
        <p:spPr>
          <a:xfrm>
            <a:off x="6688836" y="3618159"/>
            <a:ext cx="22687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当前生成内容：2048 words</a:t>
            </a:r>
          </a:p>
        </p:txBody>
      </p:sp>
      <p:sp>
        <p:nvSpPr>
          <p:cNvPr id="21" name="text-021: 组合查表；clk / rst 未用"/>
          <p:cNvSpPr txBox="1"/>
          <p:nvPr/>
        </p:nvSpPr>
        <p:spPr>
          <a:xfrm>
            <a:off x="6688836" y="3845743"/>
            <a:ext cx="22687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组合查表；clk / rst 未用</a:t>
            </a:r>
          </a:p>
        </p:txBody>
      </p:sp>
      <p:sp>
        <p:nvSpPr>
          <p:cNvPr id="22" name="E02"/>
          <p:cNvSpPr/>
          <p:nvPr/>
        </p:nvSpPr>
        <p:spPr>
          <a:xfrm>
            <a:off x="5334000" y="323596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3"/>
          <p:cNvSpPr/>
          <p:nvPr/>
        </p:nvSpPr>
        <p:spPr>
          <a:xfrm>
            <a:off x="10241280" y="2809240"/>
            <a:ext cx="1742440" cy="1386840"/>
          </a:xfrm>
          <a:prstGeom prst="roundRect">
            <a:avLst>
              <a:gd name="adj" fmla="val 4102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4"/>
          <p:cNvSpPr/>
          <p:nvPr/>
        </p:nvSpPr>
        <p:spPr>
          <a:xfrm>
            <a:off x="10262616" y="2830576"/>
            <a:ext cx="1699768" cy="458724"/>
          </a:xfrm>
          <a:prstGeom prst="roundRect">
            <a:avLst>
              <a:gd name="adj" fmla="val 7751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line-025"/>
          <p:cNvSpPr/>
          <p:nvPr/>
        </p:nvSpPr>
        <p:spPr>
          <a:xfrm>
            <a:off x="10326624" y="2809240"/>
            <a:ext cx="1" cy="1386840"/>
          </a:xfrm>
          <a:custGeom>
            <a:avLst/>
            <a:gdLst/>
            <a:ahLst/>
            <a:cxnLst/>
            <a:rect l="0" t="0" r="r" b="b"/>
            <a:pathLst>
              <a:path w="1" h="1386840" fill="none">
                <a:moveTo>
                  <a:pt x="0" y="0"/>
                </a:moveTo>
                <a:lnTo>
                  <a:pt x="0" y="13868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3  FF 延迟对齐"/>
          <p:cNvSpPr txBox="1"/>
          <p:nvPr/>
        </p:nvSpPr>
        <p:spPr>
          <a:xfrm>
            <a:off x="10352938" y="3033837"/>
            <a:ext cx="15191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FF 延迟对齐</a:t>
            </a:r>
          </a:p>
        </p:txBody>
      </p:sp>
      <p:sp>
        <p:nvSpPr>
          <p:cNvPr id="27" name="text-027: data_q ← data"/>
          <p:cNvSpPr txBox="1"/>
          <p:nvPr/>
        </p:nvSpPr>
        <p:spPr>
          <a:xfrm>
            <a:off x="10345826" y="3276783"/>
            <a:ext cx="15333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data_q ← data</a:t>
            </a:r>
          </a:p>
        </p:txBody>
      </p:sp>
      <p:sp>
        <p:nvSpPr>
          <p:cNvPr id="28" name="text-028: req_q ← req"/>
          <p:cNvSpPr txBox="1"/>
          <p:nvPr/>
        </p:nvSpPr>
        <p:spPr>
          <a:xfrm>
            <a:off x="10447528" y="3504367"/>
            <a:ext cx="132994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req_q ← req</a:t>
            </a:r>
          </a:p>
        </p:txBody>
      </p:sp>
      <p:sp>
        <p:nvSpPr>
          <p:cNvPr id="29" name="text-029: we_q ← we"/>
          <p:cNvSpPr txBox="1"/>
          <p:nvPr/>
        </p:nvSpPr>
        <p:spPr>
          <a:xfrm>
            <a:off x="10549230" y="3731951"/>
            <a:ext cx="112654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we_q ← we</a:t>
            </a:r>
          </a:p>
        </p:txBody>
      </p:sp>
      <p:sp>
        <p:nvSpPr>
          <p:cNvPr id="30" name="E03"/>
          <p:cNvSpPr/>
          <p:nvPr/>
        </p:nvSpPr>
        <p:spPr>
          <a:xfrm>
            <a:off x="9245600" y="3235960"/>
            <a:ext cx="995680" cy="1"/>
          </a:xfrm>
          <a:custGeom>
            <a:avLst/>
            <a:gdLst/>
            <a:ahLst/>
            <a:cxnLst/>
            <a:rect l="0" t="0" r="r" b="b"/>
            <a:pathLst>
              <a:path w="995680" h="1" fill="none">
                <a:moveTo>
                  <a:pt x="0" y="0"/>
                </a:moveTo>
                <a:lnTo>
                  <a:pt x="99568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04"/>
          <p:cNvSpPr/>
          <p:nvPr/>
        </p:nvSpPr>
        <p:spPr>
          <a:xfrm>
            <a:off x="5334000" y="3947160"/>
            <a:ext cx="5760720" cy="711200"/>
          </a:xfrm>
          <a:custGeom>
            <a:avLst/>
            <a:gdLst/>
            <a:ahLst/>
            <a:cxnLst/>
            <a:rect l="0" t="0" r="r" b="b"/>
            <a:pathLst>
              <a:path w="5760720" h="711200" fill="none">
                <a:moveTo>
                  <a:pt x="0" y="0"/>
                </a:moveTo>
                <a:lnTo>
                  <a:pt x="462280" y="0"/>
                </a:lnTo>
                <a:lnTo>
                  <a:pt x="462280" y="711200"/>
                </a:lnTo>
                <a:lnTo>
                  <a:pt x="5760720" y="711200"/>
                </a:lnTo>
                <a:lnTo>
                  <a:pt x="5760720" y="24892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req / we 同步延迟"/>
          <p:cNvSpPr txBox="1"/>
          <p:nvPr/>
        </p:nvSpPr>
        <p:spPr>
          <a:xfrm>
            <a:off x="7254240" y="4404035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req / we 同步延迟</a:t>
            </a:r>
          </a:p>
        </p:txBody>
      </p:sp>
      <p:sp>
        <p:nvSpPr>
          <p:cNvPr id="33" name="E05"/>
          <p:cNvSpPr/>
          <p:nvPr/>
        </p:nvSpPr>
        <p:spPr>
          <a:xfrm>
            <a:off x="4160520" y="3733800"/>
            <a:ext cx="6080760" cy="1742440"/>
          </a:xfrm>
          <a:custGeom>
            <a:avLst/>
            <a:gdLst/>
            <a:ahLst/>
            <a:cxnLst/>
            <a:rect l="0" t="0" r="r" b="b"/>
            <a:pathLst>
              <a:path w="6080760" h="1742440" fill="none">
                <a:moveTo>
                  <a:pt x="6080760" y="0"/>
                </a:moveTo>
                <a:lnTo>
                  <a:pt x="5582920" y="0"/>
                </a:lnTo>
                <a:lnTo>
                  <a:pt x="5582920" y="1742440"/>
                </a:lnTo>
                <a:lnTo>
                  <a:pt x="0" y="1742440"/>
                </a:lnTo>
                <a:lnTo>
                  <a:pt x="0" y="53340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rdata = data_q；rvalid = req_q；rerror = w"/>
          <p:cNvSpPr txBox="1"/>
          <p:nvPr/>
        </p:nvSpPr>
        <p:spPr>
          <a:xfrm>
            <a:off x="5938520" y="5157338"/>
            <a:ext cx="48500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data_q；rvalid = req_q；rerror = we_q</a:t>
            </a:r>
          </a:p>
        </p:txBody>
      </p:sp>
      <p:sp>
        <p:nvSpPr>
          <p:cNvPr id="35" name="text-035: 软件源 .S / .c → 链接与 ROM 生成脚本 → cheshire_bo"/>
          <p:cNvSpPr txBox="1"/>
          <p:nvPr/>
        </p:nvSpPr>
        <p:spPr>
          <a:xfrm>
            <a:off x="426720" y="6698935"/>
            <a:ext cx="75906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软件源 .S / .c → 链接与 ROM 生成脚本 → cheshire_bootrom.sv 常量内容</a:t>
            </a:r>
          </a:p>
        </p:txBody>
      </p:sp>
      <p:sp>
        <p:nvSpPr>
          <p:cNvPr id="36" name="text-036: 写访问返回错误；16-bit 接口窗口不等于 64 KiB 唯一 ROM 内容。"/>
          <p:cNvSpPr txBox="1"/>
          <p:nvPr/>
        </p:nvSpPr>
        <p:spPr>
          <a:xfrm>
            <a:off x="426720" y="7112569"/>
            <a:ext cx="58033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写访问返回错误；16-bit 接口窗口不等于 64 KiB 唯一 ROM 内容。</a:t>
            </a:r>
          </a:p>
        </p:txBody>
      </p:sp>
      <p:sp>
        <p:nvSpPr>
          <p:cNvPr id="37" name="rect-037"/>
          <p:cNvSpPr/>
          <p:nvPr/>
        </p:nvSpPr>
        <p:spPr>
          <a:xfrm>
            <a:off x="1440180" y="3371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01"/>
          <p:cNvSpPr txBox="1"/>
          <p:nvPr/>
        </p:nvSpPr>
        <p:spPr>
          <a:xfrm>
            <a:off x="1383640" y="3351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39" name="rect-039"/>
          <p:cNvSpPr/>
          <p:nvPr/>
        </p:nvSpPr>
        <p:spPr>
          <a:xfrm>
            <a:off x="568960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E02"/>
          <p:cNvSpPr txBox="1"/>
          <p:nvPr/>
        </p:nvSpPr>
        <p:spPr>
          <a:xfrm>
            <a:off x="563306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1" name="rect-041"/>
          <p:cNvSpPr/>
          <p:nvPr/>
        </p:nvSpPr>
        <p:spPr>
          <a:xfrm>
            <a:off x="956564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3"/>
          <p:cNvSpPr txBox="1"/>
          <p:nvPr/>
        </p:nvSpPr>
        <p:spPr>
          <a:xfrm>
            <a:off x="950910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3" name="rect-043"/>
          <p:cNvSpPr/>
          <p:nvPr/>
        </p:nvSpPr>
        <p:spPr>
          <a:xfrm>
            <a:off x="8267700" y="47081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4"/>
          <p:cNvSpPr txBox="1"/>
          <p:nvPr/>
        </p:nvSpPr>
        <p:spPr>
          <a:xfrm>
            <a:off x="8211160" y="46885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5" name="rect-045"/>
          <p:cNvSpPr/>
          <p:nvPr/>
        </p:nvSpPr>
        <p:spPr>
          <a:xfrm>
            <a:off x="6774180" y="5526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5"/>
          <p:cNvSpPr txBox="1"/>
          <p:nvPr/>
        </p:nvSpPr>
        <p:spPr>
          <a:xfrm>
            <a:off x="6717640" y="5506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47" name="text-047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48" name="text-048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9  SoC Regs：软件 scratch 与只读硬件能力信息"/>
          <p:cNvSpPr txBox="1"/>
          <p:nvPr/>
        </p:nvSpPr>
        <p:spPr>
          <a:xfrm>
            <a:off x="284480" y="1347297"/>
            <a:ext cx="606511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09  SoC Regs：软件 scratch 与只读硬件能力信息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3662680"/>
            <a:ext cx="2204720" cy="1137920"/>
          </a:xfrm>
          <a:prstGeom prst="roundRect">
            <a:avLst>
              <a:gd name="adj" fmla="val 5000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305816" y="3684016"/>
            <a:ext cx="2162048" cy="448056"/>
          </a:xfrm>
          <a:prstGeom prst="roundRect">
            <a:avLst>
              <a:gd name="adj" fmla="val 7936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Regbus 32 请求"/>
          <p:cNvSpPr txBox="1"/>
          <p:nvPr/>
        </p:nvSpPr>
        <p:spPr>
          <a:xfrm>
            <a:off x="576072" y="3876609"/>
            <a:ext cx="16215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Regbus 32 请求</a:t>
            </a:r>
          </a:p>
        </p:txBody>
      </p:sp>
      <p:sp>
        <p:nvSpPr>
          <p:cNvPr id="6" name="text-006: addr / write / wstrb"/>
          <p:cNvSpPr txBox="1"/>
          <p:nvPr/>
        </p:nvSpPr>
        <p:spPr>
          <a:xfrm>
            <a:off x="291592" y="411955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addr / write / wstrb</a:t>
            </a:r>
          </a:p>
        </p:txBody>
      </p:sp>
      <p:sp>
        <p:nvSpPr>
          <p:cNvPr id="7" name="text-007: wdata / valid"/>
          <p:cNvSpPr txBox="1"/>
          <p:nvPr/>
        </p:nvSpPr>
        <p:spPr>
          <a:xfrm>
            <a:off x="647548" y="4347139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wdata / valid</a:t>
            </a:r>
          </a:p>
        </p:txBody>
      </p:sp>
      <p:sp>
        <p:nvSpPr>
          <p:cNvPr id="8" name="rect-008"/>
          <p:cNvSpPr/>
          <p:nvPr/>
        </p:nvSpPr>
        <p:spPr>
          <a:xfrm>
            <a:off x="3413760" y="2631440"/>
            <a:ext cx="3058160" cy="1315720"/>
          </a:xfrm>
          <a:prstGeom prst="roundRect">
            <a:avLst>
              <a:gd name="adj" fmla="val 4324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-009"/>
          <p:cNvSpPr/>
          <p:nvPr/>
        </p:nvSpPr>
        <p:spPr>
          <a:xfrm>
            <a:off x="3435096" y="2652776"/>
            <a:ext cx="3015488" cy="423164"/>
          </a:xfrm>
          <a:prstGeom prst="roundRect">
            <a:avLst>
              <a:gd name="adj" fmla="val 8403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1  地址与访问译码"/>
          <p:cNvSpPr txBox="1"/>
          <p:nvPr/>
        </p:nvSpPr>
        <p:spPr>
          <a:xfrm>
            <a:off x="4093667" y="2820477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地址与访问译码</a:t>
            </a:r>
          </a:p>
        </p:txBody>
      </p:sp>
      <p:sp>
        <p:nvSpPr>
          <p:cNvPr id="11" name="text-011: cheshire_reg_top"/>
          <p:cNvSpPr txBox="1"/>
          <p:nvPr/>
        </p:nvSpPr>
        <p:spPr>
          <a:xfrm>
            <a:off x="4050995" y="306342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cheshire_reg_top</a:t>
            </a:r>
          </a:p>
        </p:txBody>
      </p:sp>
      <p:sp>
        <p:nvSpPr>
          <p:cNvPr id="12" name="text-012: reg_we / reg_re"/>
          <p:cNvSpPr txBox="1"/>
          <p:nvPr/>
        </p:nvSpPr>
        <p:spPr>
          <a:xfrm>
            <a:off x="4101846" y="3291007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reg_we / reg_re</a:t>
            </a:r>
          </a:p>
        </p:txBody>
      </p:sp>
      <p:sp>
        <p:nvSpPr>
          <p:cNvPr id="13" name="text-013: 字节写使能 / 未命中错误"/>
          <p:cNvSpPr txBox="1"/>
          <p:nvPr/>
        </p:nvSpPr>
        <p:spPr>
          <a:xfrm>
            <a:off x="3929736" y="3518591"/>
            <a:ext cx="20262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字节写使能 / 未命中错误</a:t>
            </a:r>
          </a:p>
        </p:txBody>
      </p:sp>
      <p:sp>
        <p:nvSpPr>
          <p:cNvPr id="14" name="E01"/>
          <p:cNvSpPr/>
          <p:nvPr/>
        </p:nvSpPr>
        <p:spPr>
          <a:xfrm>
            <a:off x="2489200" y="3271520"/>
            <a:ext cx="924560" cy="817880"/>
          </a:xfrm>
          <a:custGeom>
            <a:avLst/>
            <a:gdLst/>
            <a:ahLst/>
            <a:cxnLst/>
            <a:rect l="0" t="0" r="r" b="b"/>
            <a:pathLst>
              <a:path w="924560" h="817880" fill="none">
                <a:moveTo>
                  <a:pt x="0" y="817880"/>
                </a:moveTo>
                <a:lnTo>
                  <a:pt x="426720" y="817880"/>
                </a:lnTo>
                <a:lnTo>
                  <a:pt x="426720" y="0"/>
                </a:lnTo>
                <a:lnTo>
                  <a:pt x="92456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7823200" y="2346960"/>
            <a:ext cx="4373880" cy="1173480"/>
          </a:xfrm>
          <a:prstGeom prst="roundRect">
            <a:avLst>
              <a:gd name="adj" fmla="val 4848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6"/>
          <p:cNvSpPr/>
          <p:nvPr/>
        </p:nvSpPr>
        <p:spPr>
          <a:xfrm>
            <a:off x="7844536" y="2368296"/>
            <a:ext cx="4331208" cy="465836"/>
          </a:xfrm>
          <a:prstGeom prst="roundRect">
            <a:avLst>
              <a:gd name="adj" fmla="val 7633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7"/>
          <p:cNvSpPr/>
          <p:nvPr/>
        </p:nvSpPr>
        <p:spPr>
          <a:xfrm>
            <a:off x="7908544" y="2346960"/>
            <a:ext cx="1" cy="1173480"/>
          </a:xfrm>
          <a:custGeom>
            <a:avLst/>
            <a:gdLst/>
            <a:ahLst/>
            <a:cxnLst/>
            <a:rect l="0" t="0" r="r" b="b"/>
            <a:pathLst>
              <a:path w="1" h="1173480" fill="none">
                <a:moveTo>
                  <a:pt x="0" y="0"/>
                </a:moveTo>
                <a:lnTo>
                  <a:pt x="0" y="11734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2  scratch[0…15]"/>
          <p:cNvSpPr txBox="1"/>
          <p:nvPr/>
        </p:nvSpPr>
        <p:spPr>
          <a:xfrm>
            <a:off x="9007348" y="2578669"/>
            <a:ext cx="20055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scratch[0…15]</a:t>
            </a:r>
          </a:p>
        </p:txBody>
      </p:sp>
      <p:sp>
        <p:nvSpPr>
          <p:cNvPr id="19" name="text-019: prim_subreg：16 × 32-bit RW"/>
          <p:cNvSpPr txBox="1"/>
          <p:nvPr/>
        </p:nvSpPr>
        <p:spPr>
          <a:xfrm>
            <a:off x="8582406" y="2821615"/>
            <a:ext cx="285546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prim_subreg：16 × 32-bit RW</a:t>
            </a:r>
          </a:p>
        </p:txBody>
      </p:sp>
      <p:sp>
        <p:nvSpPr>
          <p:cNvPr id="20" name="text-020: 保存软件数据；复位为 0；不是 SRAM"/>
          <p:cNvSpPr txBox="1"/>
          <p:nvPr/>
        </p:nvSpPr>
        <p:spPr>
          <a:xfrm>
            <a:off x="8558936" y="3049199"/>
            <a:ext cx="29024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保存软件数据；复位为 0；不是 SRAM</a:t>
            </a:r>
          </a:p>
        </p:txBody>
      </p:sp>
      <p:sp>
        <p:nvSpPr>
          <p:cNvPr id="21" name="E02"/>
          <p:cNvSpPr/>
          <p:nvPr/>
        </p:nvSpPr>
        <p:spPr>
          <a:xfrm>
            <a:off x="6471920" y="3022600"/>
            <a:ext cx="1351280" cy="1"/>
          </a:xfrm>
          <a:custGeom>
            <a:avLst/>
            <a:gdLst/>
            <a:ahLst/>
            <a:cxnLst/>
            <a:rect l="0" t="0" r="r" b="b"/>
            <a:pathLst>
              <a:path w="1351280" h="1" fill="none">
                <a:moveTo>
                  <a:pt x="0" y="0"/>
                </a:moveTo>
                <a:lnTo>
                  <a:pt x="135128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2"/>
          <p:cNvSpPr/>
          <p:nvPr/>
        </p:nvSpPr>
        <p:spPr>
          <a:xfrm>
            <a:off x="7823200" y="4516120"/>
            <a:ext cx="4373880" cy="1386840"/>
          </a:xfrm>
          <a:prstGeom prst="roundRect">
            <a:avLst>
              <a:gd name="adj" fmla="val 4102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3"/>
          <p:cNvSpPr/>
          <p:nvPr/>
        </p:nvSpPr>
        <p:spPr>
          <a:xfrm>
            <a:off x="7844536" y="4537456"/>
            <a:ext cx="4331208" cy="344932"/>
          </a:xfrm>
          <a:prstGeom prst="roundRect">
            <a:avLst>
              <a:gd name="adj" fmla="val 10309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3  硬件只读字段"/>
          <p:cNvSpPr txBox="1"/>
          <p:nvPr/>
        </p:nvSpPr>
        <p:spPr>
          <a:xfrm>
            <a:off x="9246311" y="4626925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硬件只读字段</a:t>
            </a:r>
          </a:p>
        </p:txBody>
      </p:sp>
      <p:sp>
        <p:nvSpPr>
          <p:cNvPr id="25" name="text-025: boot_mode_i；RtcFreq；PlatformRom"/>
          <p:cNvSpPr txBox="1"/>
          <p:nvPr/>
        </p:nvSpPr>
        <p:spPr>
          <a:xfrm>
            <a:off x="8300771" y="4869871"/>
            <a:ext cx="34187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boot_mode_i；RtcFreq；PlatformRom</a:t>
            </a:r>
          </a:p>
        </p:txBody>
      </p:sp>
      <p:sp>
        <p:nvSpPr>
          <p:cNvPr id="26" name="text-026: NumIntHarts；HW_FEATURES；LLC_SIZE"/>
          <p:cNvSpPr txBox="1"/>
          <p:nvPr/>
        </p:nvSpPr>
        <p:spPr>
          <a:xfrm>
            <a:off x="8249920" y="5097455"/>
            <a:ext cx="35204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NumIntHarts；HW_FEATURES；LLC_SIZE</a:t>
            </a:r>
          </a:p>
        </p:txBody>
      </p:sp>
      <p:sp>
        <p:nvSpPr>
          <p:cNvPr id="27" name="text-027: VGA RGB 位宽"/>
          <p:cNvSpPr txBox="1"/>
          <p:nvPr/>
        </p:nvSpPr>
        <p:spPr>
          <a:xfrm>
            <a:off x="9368638" y="5325039"/>
            <a:ext cx="12830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VGA RGB 位宽</a:t>
            </a:r>
          </a:p>
        </p:txBody>
      </p:sp>
      <p:sp>
        <p:nvSpPr>
          <p:cNvPr id="28" name="text-028: 来自 SoC 的 hw2reg 连线"/>
          <p:cNvSpPr txBox="1"/>
          <p:nvPr/>
        </p:nvSpPr>
        <p:spPr>
          <a:xfrm>
            <a:off x="8879688" y="5552623"/>
            <a:ext cx="22609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SoC 的 hw2reg 连线</a:t>
            </a:r>
          </a:p>
        </p:txBody>
      </p:sp>
      <p:sp>
        <p:nvSpPr>
          <p:cNvPr id="29" name="rect-029"/>
          <p:cNvSpPr/>
          <p:nvPr/>
        </p:nvSpPr>
        <p:spPr>
          <a:xfrm>
            <a:off x="3413760" y="5725160"/>
            <a:ext cx="3058160" cy="1102360"/>
          </a:xfrm>
          <a:prstGeom prst="roundRect">
            <a:avLst>
              <a:gd name="adj" fmla="val 5161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0"/>
          <p:cNvSpPr/>
          <p:nvPr/>
        </p:nvSpPr>
        <p:spPr>
          <a:xfrm>
            <a:off x="3435096" y="5746496"/>
            <a:ext cx="3015488" cy="430276"/>
          </a:xfrm>
          <a:prstGeom prst="roundRect">
            <a:avLst>
              <a:gd name="adj" fmla="val 8264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4  读回选择 / 响应"/>
          <p:cNvSpPr txBox="1"/>
          <p:nvPr/>
        </p:nvSpPr>
        <p:spPr>
          <a:xfrm>
            <a:off x="4012590" y="5921309"/>
            <a:ext cx="186049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读回选择 / 响应</a:t>
            </a:r>
          </a:p>
        </p:txBody>
      </p:sp>
      <p:sp>
        <p:nvSpPr>
          <p:cNvPr id="32" name="text-032: rdata = 地址选中值"/>
          <p:cNvSpPr txBox="1"/>
          <p:nvPr/>
        </p:nvSpPr>
        <p:spPr>
          <a:xfrm>
            <a:off x="4066642" y="6164255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地址选中值</a:t>
            </a:r>
          </a:p>
        </p:txBody>
      </p:sp>
      <p:sp>
        <p:nvSpPr>
          <p:cNvPr id="33" name="text-033: ready = 1；error = 非法访问"/>
          <p:cNvSpPr txBox="1"/>
          <p:nvPr/>
        </p:nvSpPr>
        <p:spPr>
          <a:xfrm>
            <a:off x="3608984" y="6391839"/>
            <a:ext cx="266771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ready = 1；error = 非法访问</a:t>
            </a:r>
          </a:p>
        </p:txBody>
      </p:sp>
      <p:sp>
        <p:nvSpPr>
          <p:cNvPr id="34" name="E03"/>
          <p:cNvSpPr/>
          <p:nvPr/>
        </p:nvSpPr>
        <p:spPr>
          <a:xfrm>
            <a:off x="6471920" y="3520440"/>
            <a:ext cx="2062480" cy="2560320"/>
          </a:xfrm>
          <a:custGeom>
            <a:avLst/>
            <a:gdLst/>
            <a:ahLst/>
            <a:cxnLst/>
            <a:rect l="0" t="0" r="r" b="b"/>
            <a:pathLst>
              <a:path w="2062480" h="2560320" fill="none">
                <a:moveTo>
                  <a:pt x="2062480" y="0"/>
                </a:moveTo>
                <a:lnTo>
                  <a:pt x="2062480" y="533400"/>
                </a:lnTo>
                <a:lnTo>
                  <a:pt x="426720" y="533400"/>
                </a:lnTo>
                <a:lnTo>
                  <a:pt x="426720" y="2560320"/>
                </a:lnTo>
                <a:lnTo>
                  <a:pt x="0" y="256032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4"/>
          <p:cNvSpPr/>
          <p:nvPr/>
        </p:nvSpPr>
        <p:spPr>
          <a:xfrm>
            <a:off x="6471920" y="5298440"/>
            <a:ext cx="1351280" cy="1173480"/>
          </a:xfrm>
          <a:custGeom>
            <a:avLst/>
            <a:gdLst/>
            <a:ahLst/>
            <a:cxnLst/>
            <a:rect l="0" t="0" r="r" b="b"/>
            <a:pathLst>
              <a:path w="1351280" h="1173480" fill="none">
                <a:moveTo>
                  <a:pt x="1351280" y="0"/>
                </a:moveTo>
                <a:lnTo>
                  <a:pt x="782320" y="0"/>
                </a:lnTo>
                <a:lnTo>
                  <a:pt x="782320" y="1173480"/>
                </a:lnTo>
                <a:lnTo>
                  <a:pt x="0" y="117348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5"/>
          <p:cNvSpPr/>
          <p:nvPr/>
        </p:nvSpPr>
        <p:spPr>
          <a:xfrm>
            <a:off x="4907280" y="3947160"/>
            <a:ext cx="1" cy="1778000"/>
          </a:xfrm>
          <a:custGeom>
            <a:avLst/>
            <a:gdLst/>
            <a:ahLst/>
            <a:cxnLst/>
            <a:rect l="0" t="0" r="r" b="b"/>
            <a:pathLst>
              <a:path w="1" h="1778000" fill="none">
                <a:moveTo>
                  <a:pt x="0" y="0"/>
                </a:moveTo>
                <a:lnTo>
                  <a:pt x="0" y="177800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6"/>
          <p:cNvSpPr/>
          <p:nvPr/>
        </p:nvSpPr>
        <p:spPr>
          <a:xfrm>
            <a:off x="1386840" y="4800600"/>
            <a:ext cx="2026920" cy="1493520"/>
          </a:xfrm>
          <a:custGeom>
            <a:avLst/>
            <a:gdLst/>
            <a:ahLst/>
            <a:cxnLst/>
            <a:rect l="0" t="0" r="r" b="b"/>
            <a:pathLst>
              <a:path w="2026920" h="1493520" fill="none">
                <a:moveTo>
                  <a:pt x="2026920" y="1493520"/>
                </a:moveTo>
                <a:lnTo>
                  <a:pt x="0" y="149352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rdata / error / ready"/>
          <p:cNvSpPr txBox="1"/>
          <p:nvPr/>
        </p:nvSpPr>
        <p:spPr>
          <a:xfrm>
            <a:off x="320040" y="6700073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39" name="text-039: 功能位描述当前综合配置，不是动态电源开关，也不是 PLL 或 DDR 初始化控制"/>
          <p:cNvSpPr txBox="1"/>
          <p:nvPr/>
        </p:nvSpPr>
        <p:spPr>
          <a:xfrm>
            <a:off x="426720" y="7212137"/>
            <a:ext cx="6742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功能位描述当前综合配置，不是动态电源开关，也不是 PLL 或 DDR 初始化控制器。</a:t>
            </a:r>
          </a:p>
        </p:txBody>
      </p:sp>
      <p:sp>
        <p:nvSpPr>
          <p:cNvPr id="40" name="rect-040"/>
          <p:cNvSpPr/>
          <p:nvPr/>
        </p:nvSpPr>
        <p:spPr>
          <a:xfrm>
            <a:off x="2979928" y="35808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1"/>
          <p:cNvSpPr txBox="1"/>
          <p:nvPr/>
        </p:nvSpPr>
        <p:spPr>
          <a:xfrm>
            <a:off x="2923388" y="35612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2" name="rect-042"/>
          <p:cNvSpPr/>
          <p:nvPr/>
        </p:nvSpPr>
        <p:spPr>
          <a:xfrm>
            <a:off x="6969760" y="2802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2"/>
          <p:cNvSpPr txBox="1"/>
          <p:nvPr/>
        </p:nvSpPr>
        <p:spPr>
          <a:xfrm>
            <a:off x="6913220" y="2782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4" name="rect-044"/>
          <p:cNvSpPr/>
          <p:nvPr/>
        </p:nvSpPr>
        <p:spPr>
          <a:xfrm>
            <a:off x="6962648" y="49677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3"/>
          <p:cNvSpPr txBox="1"/>
          <p:nvPr/>
        </p:nvSpPr>
        <p:spPr>
          <a:xfrm>
            <a:off x="6906108" y="49481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6" name="rect-046"/>
          <p:cNvSpPr/>
          <p:nvPr/>
        </p:nvSpPr>
        <p:spPr>
          <a:xfrm>
            <a:off x="7318248" y="57856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4"/>
          <p:cNvSpPr txBox="1"/>
          <p:nvPr/>
        </p:nvSpPr>
        <p:spPr>
          <a:xfrm>
            <a:off x="7261708" y="57659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8" name="rect-048"/>
          <p:cNvSpPr/>
          <p:nvPr/>
        </p:nvSpPr>
        <p:spPr>
          <a:xfrm>
            <a:off x="4971288" y="47365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5"/>
          <p:cNvSpPr txBox="1"/>
          <p:nvPr/>
        </p:nvSpPr>
        <p:spPr>
          <a:xfrm>
            <a:off x="4914748" y="47169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0" name="rect-050"/>
          <p:cNvSpPr/>
          <p:nvPr/>
        </p:nvSpPr>
        <p:spPr>
          <a:xfrm>
            <a:off x="222250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6"/>
          <p:cNvSpPr txBox="1"/>
          <p:nvPr/>
        </p:nvSpPr>
        <p:spPr>
          <a:xfrm>
            <a:off x="216596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2" name="text-052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53" name="text-053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0  JTAG Debug：DMI 控制、hart 调试与系统总线访问"/>
          <p:cNvSpPr txBox="1"/>
          <p:nvPr/>
        </p:nvSpPr>
        <p:spPr>
          <a:xfrm>
            <a:off x="284480" y="1347297"/>
            <a:ext cx="6588557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10  JTAG Debug：DMI 控制、hart 调试与系统总线访问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60320"/>
            <a:ext cx="1920240" cy="1102360"/>
          </a:xfrm>
          <a:prstGeom prst="roundRect">
            <a:avLst>
              <a:gd name="adj" fmla="val 5161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305816" y="2581656"/>
            <a:ext cx="1877568" cy="430276"/>
          </a:xfrm>
          <a:prstGeom prst="roundRect">
            <a:avLst>
              <a:gd name="adj" fmla="val 8264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JTAG 引脚"/>
          <p:cNvSpPr txBox="1"/>
          <p:nvPr/>
        </p:nvSpPr>
        <p:spPr>
          <a:xfrm>
            <a:off x="711200" y="2756469"/>
            <a:ext cx="10668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JTAG 引脚</a:t>
            </a:r>
          </a:p>
        </p:txBody>
      </p:sp>
      <p:sp>
        <p:nvSpPr>
          <p:cNvPr id="6" name="text-006: TCK / TMS / TDI"/>
          <p:cNvSpPr txBox="1"/>
          <p:nvPr/>
        </p:nvSpPr>
        <p:spPr>
          <a:xfrm>
            <a:off x="403606" y="2999415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/ TMS / TDI</a:t>
            </a:r>
          </a:p>
        </p:txBody>
      </p:sp>
      <p:sp>
        <p:nvSpPr>
          <p:cNvPr id="7" name="text-007: TDO / TRSTn"/>
          <p:cNvSpPr txBox="1"/>
          <p:nvPr/>
        </p:nvSpPr>
        <p:spPr>
          <a:xfrm>
            <a:off x="607009" y="3226999"/>
            <a:ext cx="12751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TDO / TRSTn</a:t>
            </a:r>
          </a:p>
        </p:txBody>
      </p:sp>
      <p:sp>
        <p:nvSpPr>
          <p:cNvPr id="8" name="rect-008"/>
          <p:cNvSpPr/>
          <p:nvPr/>
        </p:nvSpPr>
        <p:spPr>
          <a:xfrm>
            <a:off x="3058160" y="2489200"/>
            <a:ext cx="2773680" cy="1244600"/>
          </a:xfrm>
          <a:prstGeom prst="roundRect">
            <a:avLst>
              <a:gd name="adj" fmla="val 4571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-009"/>
          <p:cNvSpPr/>
          <p:nvPr/>
        </p:nvSpPr>
        <p:spPr>
          <a:xfrm>
            <a:off x="3079496" y="2510536"/>
            <a:ext cx="2731008" cy="387604"/>
          </a:xfrm>
          <a:prstGeom prst="roundRect">
            <a:avLst>
              <a:gd name="adj" fmla="val 9174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1  dmi_jtag"/>
          <p:cNvSpPr txBox="1"/>
          <p:nvPr/>
        </p:nvSpPr>
        <p:spPr>
          <a:xfrm>
            <a:off x="3749446" y="2642677"/>
            <a:ext cx="139110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dmi_jtag</a:t>
            </a:r>
          </a:p>
        </p:txBody>
      </p:sp>
      <p:sp>
        <p:nvSpPr>
          <p:cNvPr id="11" name="text-011: JTAG TAP / DTM"/>
          <p:cNvSpPr txBox="1"/>
          <p:nvPr/>
        </p:nvSpPr>
        <p:spPr>
          <a:xfrm>
            <a:off x="3654857" y="2885623"/>
            <a:ext cx="15802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JTAG TAP / DTM</a:t>
            </a:r>
          </a:p>
        </p:txBody>
      </p:sp>
      <p:sp>
        <p:nvSpPr>
          <p:cNvPr id="12" name="text-012: DMI 请求 / 响应跨域"/>
          <p:cNvSpPr txBox="1"/>
          <p:nvPr/>
        </p:nvSpPr>
        <p:spPr>
          <a:xfrm>
            <a:off x="3541420" y="3113207"/>
            <a:ext cx="18071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DMI 请求 / 响应跨域</a:t>
            </a:r>
          </a:p>
        </p:txBody>
      </p:sp>
      <p:sp>
        <p:nvSpPr>
          <p:cNvPr id="13" name="text-013: TCK 域 ↔ clk_i 域"/>
          <p:cNvSpPr txBox="1"/>
          <p:nvPr/>
        </p:nvSpPr>
        <p:spPr>
          <a:xfrm>
            <a:off x="3521862" y="3340791"/>
            <a:ext cx="18462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域 ↔ clk_i 域</a:t>
            </a:r>
          </a:p>
        </p:txBody>
      </p:sp>
      <p:sp>
        <p:nvSpPr>
          <p:cNvPr id="14" name="E01"/>
          <p:cNvSpPr/>
          <p:nvPr/>
        </p:nvSpPr>
        <p:spPr>
          <a:xfrm>
            <a:off x="2204720" y="312928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6934200" y="2382520"/>
            <a:ext cx="2667000" cy="1457960"/>
          </a:xfrm>
          <a:prstGeom prst="roundRect">
            <a:avLst>
              <a:gd name="adj" fmla="val 3902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6"/>
          <p:cNvSpPr/>
          <p:nvPr/>
        </p:nvSpPr>
        <p:spPr>
          <a:xfrm>
            <a:off x="6955536" y="2403856"/>
            <a:ext cx="2624328" cy="380492"/>
          </a:xfrm>
          <a:prstGeom prst="roundRect">
            <a:avLst>
              <a:gd name="adj" fmla="val 9345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2  dm_top"/>
          <p:cNvSpPr txBox="1"/>
          <p:nvPr/>
        </p:nvSpPr>
        <p:spPr>
          <a:xfrm>
            <a:off x="7683094" y="2528885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dm_top</a:t>
            </a:r>
          </a:p>
        </p:txBody>
      </p:sp>
      <p:sp>
        <p:nvSpPr>
          <p:cNvPr id="18" name="text-018: dm_csrs：DMI 配置"/>
          <p:cNvSpPr txBox="1"/>
          <p:nvPr/>
        </p:nvSpPr>
        <p:spPr>
          <a:xfrm>
            <a:off x="7395413" y="2771831"/>
            <a:ext cx="17445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dm_csrs：DMI 配置</a:t>
            </a:r>
          </a:p>
        </p:txBody>
      </p:sp>
      <p:sp>
        <p:nvSpPr>
          <p:cNvPr id="19" name="text-019: dm_mem：调试执行存储窗"/>
          <p:cNvSpPr txBox="1"/>
          <p:nvPr/>
        </p:nvSpPr>
        <p:spPr>
          <a:xfrm>
            <a:off x="7258507" y="2999415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dm_mem：调试执行存储窗</a:t>
            </a:r>
          </a:p>
        </p:txBody>
      </p:sp>
      <p:sp>
        <p:nvSpPr>
          <p:cNvPr id="20" name="text-020: dm_sba：系统总线访问"/>
          <p:cNvSpPr txBox="1"/>
          <p:nvPr/>
        </p:nvSpPr>
        <p:spPr>
          <a:xfrm>
            <a:off x="7336739" y="3226999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dm_sba：系统总线访问</a:t>
            </a:r>
          </a:p>
        </p:txBody>
      </p:sp>
      <p:sp>
        <p:nvSpPr>
          <p:cNvPr id="21" name="text-021: dmactive → dbg_active_o"/>
          <p:cNvSpPr txBox="1"/>
          <p:nvPr/>
        </p:nvSpPr>
        <p:spPr>
          <a:xfrm>
            <a:off x="6992518" y="3454583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dmactive → dbg_active_o</a:t>
            </a:r>
          </a:p>
        </p:txBody>
      </p:sp>
      <p:sp>
        <p:nvSpPr>
          <p:cNvPr id="22" name="E02"/>
          <p:cNvSpPr/>
          <p:nvPr/>
        </p:nvSpPr>
        <p:spPr>
          <a:xfrm>
            <a:off x="5831840" y="3129280"/>
            <a:ext cx="1102360" cy="1"/>
          </a:xfrm>
          <a:custGeom>
            <a:avLst/>
            <a:gdLst/>
            <a:ahLst/>
            <a:cxnLst/>
            <a:rect l="0" t="0" r="r" b="b"/>
            <a:pathLst>
              <a:path w="1102360" h="1" fill="none">
                <a:moveTo>
                  <a:pt x="0" y="0"/>
                </a:moveTo>
                <a:lnTo>
                  <a:pt x="110236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DMI"/>
          <p:cNvSpPr txBox="1"/>
          <p:nvPr/>
        </p:nvSpPr>
        <p:spPr>
          <a:xfrm>
            <a:off x="6080760" y="2796154"/>
            <a:ext cx="4825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DMI</a:t>
            </a:r>
          </a:p>
        </p:txBody>
      </p:sp>
      <p:sp>
        <p:nvSpPr>
          <p:cNvPr id="24" name="rect-024"/>
          <p:cNvSpPr/>
          <p:nvPr/>
        </p:nvSpPr>
        <p:spPr>
          <a:xfrm>
            <a:off x="10561320" y="2489200"/>
            <a:ext cx="1884680" cy="1244600"/>
          </a:xfrm>
          <a:prstGeom prst="roundRect">
            <a:avLst>
              <a:gd name="adj" fmla="val 4571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5"/>
          <p:cNvSpPr/>
          <p:nvPr/>
        </p:nvSpPr>
        <p:spPr>
          <a:xfrm>
            <a:off x="10582656" y="2510536"/>
            <a:ext cx="1842008" cy="387604"/>
          </a:xfrm>
          <a:prstGeom prst="roundRect">
            <a:avLst>
              <a:gd name="adj" fmla="val 9174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3  hart 调试入口"/>
          <p:cNvSpPr txBox="1"/>
          <p:nvPr/>
        </p:nvSpPr>
        <p:spPr>
          <a:xfrm>
            <a:off x="10633151" y="2642677"/>
            <a:ext cx="174101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hart 调试入口</a:t>
            </a:r>
          </a:p>
        </p:txBody>
      </p:sp>
      <p:sp>
        <p:nvSpPr>
          <p:cNvPr id="27" name="text-027: debug_req"/>
          <p:cNvSpPr txBox="1"/>
          <p:nvPr/>
        </p:nvSpPr>
        <p:spPr>
          <a:xfrm>
            <a:off x="10967771" y="2885623"/>
            <a:ext cx="10717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debug_req</a:t>
            </a:r>
          </a:p>
        </p:txBody>
      </p:sp>
      <p:sp>
        <p:nvSpPr>
          <p:cNvPr id="28" name="text-028: 执行 debug ROM"/>
          <p:cNvSpPr txBox="1"/>
          <p:nvPr/>
        </p:nvSpPr>
        <p:spPr>
          <a:xfrm>
            <a:off x="10760456" y="3113207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执行 debug ROM</a:t>
            </a:r>
          </a:p>
        </p:txBody>
      </p:sp>
      <p:sp>
        <p:nvSpPr>
          <p:cNvPr id="29" name="text-029: 访问程序缓冲区"/>
          <p:cNvSpPr txBox="1"/>
          <p:nvPr/>
        </p:nvSpPr>
        <p:spPr>
          <a:xfrm>
            <a:off x="10877804" y="3340791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访问程序缓冲区</a:t>
            </a:r>
          </a:p>
        </p:txBody>
      </p:sp>
      <p:sp>
        <p:nvSpPr>
          <p:cNvPr id="30" name="E03"/>
          <p:cNvSpPr/>
          <p:nvPr/>
        </p:nvSpPr>
        <p:spPr>
          <a:xfrm>
            <a:off x="9601200" y="302260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1"/>
          <p:cNvSpPr/>
          <p:nvPr/>
        </p:nvSpPr>
        <p:spPr>
          <a:xfrm>
            <a:off x="7183120" y="5582920"/>
            <a:ext cx="266700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2"/>
          <p:cNvSpPr/>
          <p:nvPr/>
        </p:nvSpPr>
        <p:spPr>
          <a:xfrm>
            <a:off x="7204456" y="5604256"/>
            <a:ext cx="2624328" cy="369824"/>
          </a:xfrm>
          <a:prstGeom prst="roundRect">
            <a:avLst>
              <a:gd name="adj" fmla="val 9615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4  axi_from_mem"/>
          <p:cNvSpPr txBox="1"/>
          <p:nvPr/>
        </p:nvSpPr>
        <p:spPr>
          <a:xfrm>
            <a:off x="7599172" y="571861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axi_from_mem</a:t>
            </a:r>
          </a:p>
        </p:txBody>
      </p:sp>
      <p:sp>
        <p:nvSpPr>
          <p:cNvPr id="34" name="text-034: SBA req / gnt / rvalid"/>
          <p:cNvSpPr txBox="1"/>
          <p:nvPr/>
        </p:nvSpPr>
        <p:spPr>
          <a:xfrm>
            <a:off x="7319670" y="5961563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SBA req / gnt / rvalid</a:t>
            </a:r>
          </a:p>
        </p:txBody>
      </p:sp>
      <p:sp>
        <p:nvSpPr>
          <p:cNvPr id="35" name="text-035: → AXI master"/>
          <p:cNvSpPr txBox="1"/>
          <p:nvPr/>
        </p:nvSpPr>
        <p:spPr>
          <a:xfrm>
            <a:off x="7800797" y="6189147"/>
            <a:ext cx="14316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AXI master</a:t>
            </a:r>
          </a:p>
        </p:txBody>
      </p:sp>
      <p:sp>
        <p:nvSpPr>
          <p:cNvPr id="36" name="text-036: AxiIn.dbg"/>
          <p:cNvSpPr txBox="1"/>
          <p:nvPr/>
        </p:nvSpPr>
        <p:spPr>
          <a:xfrm>
            <a:off x="7980731" y="6416731"/>
            <a:ext cx="10717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AxiIn.dbg</a:t>
            </a:r>
          </a:p>
        </p:txBody>
      </p:sp>
      <p:sp>
        <p:nvSpPr>
          <p:cNvPr id="37" name="E04"/>
          <p:cNvSpPr/>
          <p:nvPr/>
        </p:nvSpPr>
        <p:spPr>
          <a:xfrm>
            <a:off x="8356600" y="3840480"/>
            <a:ext cx="1" cy="1742440"/>
          </a:xfrm>
          <a:custGeom>
            <a:avLst/>
            <a:gdLst/>
            <a:ahLst/>
            <a:cxnLst/>
            <a:rect l="0" t="0" r="r" b="b"/>
            <a:pathLst>
              <a:path w="1" h="1742440" fill="none">
                <a:moveTo>
                  <a:pt x="0" y="0"/>
                </a:moveTo>
                <a:lnTo>
                  <a:pt x="0" y="174244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5"/>
          <p:cNvSpPr/>
          <p:nvPr/>
        </p:nvSpPr>
        <p:spPr>
          <a:xfrm>
            <a:off x="8498840" y="6791960"/>
            <a:ext cx="3733800" cy="568960"/>
          </a:xfrm>
          <a:custGeom>
            <a:avLst/>
            <a:gdLst/>
            <a:ahLst/>
            <a:cxnLst/>
            <a:rect l="0" t="0" r="r" b="b"/>
            <a:pathLst>
              <a:path w="3733800" h="568960" fill="none">
                <a:moveTo>
                  <a:pt x="0" y="0"/>
                </a:moveTo>
                <a:lnTo>
                  <a:pt x="0" y="568960"/>
                </a:lnTo>
                <a:lnTo>
                  <a:pt x="3733800" y="56896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访问系统地址空间"/>
          <p:cNvSpPr txBox="1"/>
          <p:nvPr/>
        </p:nvSpPr>
        <p:spPr>
          <a:xfrm>
            <a:off x="10027920" y="7049130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访问系统地址空间</a:t>
            </a:r>
          </a:p>
        </p:txBody>
      </p:sp>
      <p:sp>
        <p:nvSpPr>
          <p:cNvPr id="40" name="rect-040"/>
          <p:cNvSpPr/>
          <p:nvPr/>
        </p:nvSpPr>
        <p:spPr>
          <a:xfrm>
            <a:off x="3058160" y="5547360"/>
            <a:ext cx="2773680" cy="1315720"/>
          </a:xfrm>
          <a:prstGeom prst="roundRect">
            <a:avLst>
              <a:gd name="adj" fmla="val 4324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3079496" y="5568696"/>
            <a:ext cx="2731008" cy="309372"/>
          </a:xfrm>
          <a:prstGeom prst="roundRect">
            <a:avLst>
              <a:gd name="adj" fmla="val 11494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5  调试存储窗适配"/>
          <p:cNvSpPr txBox="1"/>
          <p:nvPr/>
        </p:nvSpPr>
        <p:spPr>
          <a:xfrm>
            <a:off x="3595827" y="5622605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调试存储窗适配</a:t>
            </a:r>
          </a:p>
        </p:txBody>
      </p:sp>
      <p:sp>
        <p:nvSpPr>
          <p:cNvPr id="43" name="text-043: AXI atomics / cut"/>
          <p:cNvSpPr txBox="1"/>
          <p:nvPr/>
        </p:nvSpPr>
        <p:spPr>
          <a:xfrm>
            <a:off x="3502304" y="5865551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atomics / cut</a:t>
            </a:r>
          </a:p>
        </p:txBody>
      </p:sp>
      <p:sp>
        <p:nvSpPr>
          <p:cNvPr id="44" name="text-044: axi_to_mem_interleaved"/>
          <p:cNvSpPr txBox="1"/>
          <p:nvPr/>
        </p:nvSpPr>
        <p:spPr>
          <a:xfrm>
            <a:off x="3248050" y="6093135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axi_to_mem_interleaved</a:t>
            </a:r>
          </a:p>
        </p:txBody>
      </p:sp>
      <p:sp>
        <p:nvSpPr>
          <p:cNvPr id="45" name="text-045: → dm_top.slave_*"/>
          <p:cNvSpPr txBox="1"/>
          <p:nvPr/>
        </p:nvSpPr>
        <p:spPr>
          <a:xfrm>
            <a:off x="3525774" y="6320719"/>
            <a:ext cx="18384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dm_top.slave_*</a:t>
            </a:r>
          </a:p>
        </p:txBody>
      </p:sp>
      <p:sp>
        <p:nvSpPr>
          <p:cNvPr id="46" name="text-046: 供 hart 执行调试代码"/>
          <p:cNvSpPr txBox="1"/>
          <p:nvPr/>
        </p:nvSpPr>
        <p:spPr>
          <a:xfrm>
            <a:off x="3514039" y="654830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供 hart 执行调试代码</a:t>
            </a:r>
          </a:p>
        </p:txBody>
      </p:sp>
      <p:sp>
        <p:nvSpPr>
          <p:cNvPr id="47" name="E06"/>
          <p:cNvSpPr/>
          <p:nvPr/>
        </p:nvSpPr>
        <p:spPr>
          <a:xfrm>
            <a:off x="284480" y="6151880"/>
            <a:ext cx="2773680" cy="1"/>
          </a:xfrm>
          <a:custGeom>
            <a:avLst/>
            <a:gdLst/>
            <a:ahLst/>
            <a:cxnLst/>
            <a:rect l="0" t="0" r="r" b="b"/>
            <a:pathLst>
              <a:path w="2773680" h="1" fill="none">
                <a:moveTo>
                  <a:pt x="0" y="0"/>
                </a:moveTo>
                <a:lnTo>
                  <a:pt x="277368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AxiOut.dbg"/>
          <p:cNvSpPr txBox="1"/>
          <p:nvPr/>
        </p:nvSpPr>
        <p:spPr>
          <a:xfrm>
            <a:off x="320040" y="5683057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AxiOut.dbg</a:t>
            </a:r>
          </a:p>
        </p:txBody>
      </p:sp>
      <p:sp>
        <p:nvSpPr>
          <p:cNvPr id="49" name="E07"/>
          <p:cNvSpPr/>
          <p:nvPr/>
        </p:nvSpPr>
        <p:spPr>
          <a:xfrm>
            <a:off x="4445000" y="3840480"/>
            <a:ext cx="2880360" cy="1706880"/>
          </a:xfrm>
          <a:custGeom>
            <a:avLst/>
            <a:gdLst/>
            <a:ahLst/>
            <a:cxnLst/>
            <a:rect l="0" t="0" r="r" b="b"/>
            <a:pathLst>
              <a:path w="2880360" h="1706880" fill="none">
                <a:moveTo>
                  <a:pt x="0" y="1706880"/>
                </a:moveTo>
                <a:lnTo>
                  <a:pt x="0" y="711200"/>
                </a:lnTo>
                <a:lnTo>
                  <a:pt x="2880360" y="711200"/>
                </a:lnTo>
                <a:lnTo>
                  <a:pt x="288036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当前 ndmreset_o 未接出；不能由 DMI 寄存器存在就推断 SoC 复"/>
          <p:cNvSpPr txBox="1"/>
          <p:nvPr/>
        </p:nvSpPr>
        <p:spPr>
          <a:xfrm>
            <a:off x="320040" y="7205025"/>
            <a:ext cx="653735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ndmreset_o 未接出；不能由 DMI 寄存器存在就推断 SoC 复位已实现。</a:t>
            </a:r>
          </a:p>
        </p:txBody>
      </p:sp>
      <p:sp>
        <p:nvSpPr>
          <p:cNvPr id="51" name="rect-051"/>
          <p:cNvSpPr/>
          <p:nvPr/>
        </p:nvSpPr>
        <p:spPr>
          <a:xfrm>
            <a:off x="2453640" y="2908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1"/>
          <p:cNvSpPr txBox="1"/>
          <p:nvPr/>
        </p:nvSpPr>
        <p:spPr>
          <a:xfrm>
            <a:off x="2397100" y="2889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3" name="rect-053"/>
          <p:cNvSpPr/>
          <p:nvPr/>
        </p:nvSpPr>
        <p:spPr>
          <a:xfrm>
            <a:off x="6205220" y="31790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2"/>
          <p:cNvSpPr txBox="1"/>
          <p:nvPr/>
        </p:nvSpPr>
        <p:spPr>
          <a:xfrm>
            <a:off x="6148680" y="31594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5" name="rect-055"/>
          <p:cNvSpPr/>
          <p:nvPr/>
        </p:nvSpPr>
        <p:spPr>
          <a:xfrm>
            <a:off x="9903460" y="2802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3"/>
          <p:cNvSpPr txBox="1"/>
          <p:nvPr/>
        </p:nvSpPr>
        <p:spPr>
          <a:xfrm>
            <a:off x="9846920" y="2782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7" name="rect-057"/>
          <p:cNvSpPr/>
          <p:nvPr/>
        </p:nvSpPr>
        <p:spPr>
          <a:xfrm>
            <a:off x="8420608" y="46121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4"/>
          <p:cNvSpPr txBox="1"/>
          <p:nvPr/>
        </p:nvSpPr>
        <p:spPr>
          <a:xfrm>
            <a:off x="8364068" y="45925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9" name="rect-059"/>
          <p:cNvSpPr/>
          <p:nvPr/>
        </p:nvSpPr>
        <p:spPr>
          <a:xfrm>
            <a:off x="10187940" y="74107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5"/>
          <p:cNvSpPr txBox="1"/>
          <p:nvPr/>
        </p:nvSpPr>
        <p:spPr>
          <a:xfrm>
            <a:off x="10131400" y="73910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1" name="rect-061"/>
          <p:cNvSpPr/>
          <p:nvPr/>
        </p:nvSpPr>
        <p:spPr>
          <a:xfrm>
            <a:off x="1493520" y="5931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6"/>
          <p:cNvSpPr txBox="1"/>
          <p:nvPr/>
        </p:nvSpPr>
        <p:spPr>
          <a:xfrm>
            <a:off x="1436980" y="5911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3" name="rect-063"/>
          <p:cNvSpPr/>
          <p:nvPr/>
        </p:nvSpPr>
        <p:spPr>
          <a:xfrm>
            <a:off x="5707380" y="43312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7"/>
          <p:cNvSpPr txBox="1"/>
          <p:nvPr/>
        </p:nvSpPr>
        <p:spPr>
          <a:xfrm>
            <a:off x="5650840" y="43115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5" name="text-065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6" name="text-066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1  Serial Link：AXI 通道编码、流控与源同步物理传输"/>
          <p:cNvSpPr txBox="1"/>
          <p:nvPr/>
        </p:nvSpPr>
        <p:spPr>
          <a:xfrm>
            <a:off x="284480" y="1347297"/>
            <a:ext cx="667959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11  Serial Link：AXI 通道编码、流控与源同步物理传输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60320"/>
            <a:ext cx="2382520" cy="1351280"/>
          </a:xfrm>
          <a:prstGeom prst="roundRect">
            <a:avLst>
              <a:gd name="adj" fmla="val 4210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305816" y="2581656"/>
            <a:ext cx="2339848" cy="327152"/>
          </a:xfrm>
          <a:prstGeom prst="roundRect">
            <a:avLst>
              <a:gd name="adj" fmla="val 10869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1  SoC 外层适配"/>
          <p:cNvSpPr txBox="1"/>
          <p:nvPr/>
        </p:nvSpPr>
        <p:spPr>
          <a:xfrm>
            <a:off x="660705" y="2653345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SoC 外层适配</a:t>
            </a:r>
          </a:p>
        </p:txBody>
      </p:sp>
      <p:sp>
        <p:nvSpPr>
          <p:cNvPr id="6" name="text-006: 出站地址 domain / mask"/>
          <p:cNvSpPr txBox="1"/>
          <p:nvPr/>
        </p:nvSpPr>
        <p:spPr>
          <a:xfrm>
            <a:off x="372669" y="2896291"/>
            <a:ext cx="2206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出站地址 domain / mask</a:t>
            </a:r>
          </a:p>
        </p:txBody>
      </p:sp>
      <p:sp>
        <p:nvSpPr>
          <p:cNvPr id="7" name="text-007: axi_id_remap"/>
          <p:cNvSpPr txBox="1"/>
          <p:nvPr/>
        </p:nvSpPr>
        <p:spPr>
          <a:xfrm>
            <a:off x="787298" y="3123875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axi_id_remap</a:t>
            </a:r>
          </a:p>
        </p:txBody>
      </p:sp>
      <p:sp>
        <p:nvSpPr>
          <p:cNvPr id="8" name="text-008: AMO 标记适配"/>
          <p:cNvSpPr txBox="1"/>
          <p:nvPr/>
        </p:nvSpPr>
        <p:spPr>
          <a:xfrm>
            <a:off x="881177" y="3351459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AMO 标记适配</a:t>
            </a:r>
          </a:p>
        </p:txBody>
      </p:sp>
      <p:sp>
        <p:nvSpPr>
          <p:cNvPr id="9" name="text-009: 对端入站 → 本地 AXI"/>
          <p:cNvSpPr txBox="1"/>
          <p:nvPr/>
        </p:nvSpPr>
        <p:spPr>
          <a:xfrm>
            <a:off x="544779" y="357904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对端入站 → 本地 AXI</a:t>
            </a:r>
          </a:p>
        </p:txBody>
      </p:sp>
      <p:sp>
        <p:nvSpPr>
          <p:cNvPr id="10" name="rect-010"/>
          <p:cNvSpPr/>
          <p:nvPr/>
        </p:nvSpPr>
        <p:spPr>
          <a:xfrm>
            <a:off x="3556000" y="2560320"/>
            <a:ext cx="2595880" cy="1351280"/>
          </a:xfrm>
          <a:prstGeom prst="roundRect">
            <a:avLst>
              <a:gd name="adj" fmla="val 4210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-011"/>
          <p:cNvSpPr/>
          <p:nvPr/>
        </p:nvSpPr>
        <p:spPr>
          <a:xfrm>
            <a:off x="3577336" y="2581656"/>
            <a:ext cx="2553208" cy="440944"/>
          </a:xfrm>
          <a:prstGeom prst="roundRect">
            <a:avLst>
              <a:gd name="adj" fmla="val 8064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2  serial_link_network"/>
          <p:cNvSpPr txBox="1"/>
          <p:nvPr/>
        </p:nvSpPr>
        <p:spPr>
          <a:xfrm>
            <a:off x="3548177" y="2767137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serial_link_network</a:t>
            </a:r>
          </a:p>
        </p:txBody>
      </p:sp>
      <p:sp>
        <p:nvSpPr>
          <p:cNvPr id="13" name="text-013: AXI AW / W / B / AR / R"/>
          <p:cNvSpPr txBox="1"/>
          <p:nvPr/>
        </p:nvSpPr>
        <p:spPr>
          <a:xfrm>
            <a:off x="3606140" y="3010083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AW / W / B / AR / R</a:t>
            </a:r>
          </a:p>
        </p:txBody>
      </p:sp>
      <p:sp>
        <p:nvSpPr>
          <p:cNvPr id="14" name="text-014: 通道仲裁 / 封装 / 还原"/>
          <p:cNvSpPr txBox="1"/>
          <p:nvPr/>
        </p:nvSpPr>
        <p:spPr>
          <a:xfrm>
            <a:off x="3844747" y="3237667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通道仲裁 / 封装 / 还原</a:t>
            </a:r>
          </a:p>
        </p:txBody>
      </p:sp>
      <p:sp>
        <p:nvSpPr>
          <p:cNvPr id="15" name="text-015: AXI ↔ payload stream"/>
          <p:cNvSpPr txBox="1"/>
          <p:nvPr/>
        </p:nvSpPr>
        <p:spPr>
          <a:xfrm>
            <a:off x="3731311" y="3465251"/>
            <a:ext cx="22452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↔ payload stream</a:t>
            </a:r>
          </a:p>
        </p:txBody>
      </p:sp>
      <p:sp>
        <p:nvSpPr>
          <p:cNvPr id="16" name="E01"/>
          <p:cNvSpPr/>
          <p:nvPr/>
        </p:nvSpPr>
        <p:spPr>
          <a:xfrm>
            <a:off x="2667000" y="3235960"/>
            <a:ext cx="889000" cy="1"/>
          </a:xfrm>
          <a:custGeom>
            <a:avLst/>
            <a:gdLst/>
            <a:ahLst/>
            <a:cxnLst/>
            <a:rect l="0" t="0" r="r" b="b"/>
            <a:pathLst>
              <a:path w="889000" h="1" fill="none">
                <a:moveTo>
                  <a:pt x="0" y="0"/>
                </a:moveTo>
                <a:lnTo>
                  <a:pt x="8890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7112000" y="2560320"/>
            <a:ext cx="2453640" cy="1351280"/>
          </a:xfrm>
          <a:prstGeom prst="roundRect">
            <a:avLst>
              <a:gd name="adj" fmla="val 4210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8"/>
          <p:cNvSpPr/>
          <p:nvPr/>
        </p:nvSpPr>
        <p:spPr>
          <a:xfrm>
            <a:off x="7133336" y="2581656"/>
            <a:ext cx="2410968" cy="440944"/>
          </a:xfrm>
          <a:prstGeom prst="roundRect">
            <a:avLst>
              <a:gd name="adj" fmla="val 8064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3  serial_link_data_link"/>
          <p:cNvSpPr txBox="1"/>
          <p:nvPr/>
        </p:nvSpPr>
        <p:spPr>
          <a:xfrm>
            <a:off x="6922110" y="2767137"/>
            <a:ext cx="28334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serial_link_data_link</a:t>
            </a:r>
          </a:p>
        </p:txBody>
      </p:sp>
      <p:sp>
        <p:nvSpPr>
          <p:cNvPr id="20" name="text-020: 接收缓冲 / 流控"/>
          <p:cNvSpPr txBox="1"/>
          <p:nvPr/>
        </p:nvSpPr>
        <p:spPr>
          <a:xfrm>
            <a:off x="7638644" y="3010083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接收缓冲 / 流控</a:t>
            </a:r>
          </a:p>
        </p:txBody>
      </p:sp>
      <p:sp>
        <p:nvSpPr>
          <p:cNvPr id="21" name="text-021: payload 拆分 / 重组"/>
          <p:cNvSpPr txBox="1"/>
          <p:nvPr/>
        </p:nvSpPr>
        <p:spPr>
          <a:xfrm>
            <a:off x="7388301" y="3237667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payload 拆分 / 重组</a:t>
            </a:r>
          </a:p>
        </p:txBody>
      </p:sp>
      <p:sp>
        <p:nvSpPr>
          <p:cNvPr id="22" name="text-022: raw mode 支路"/>
          <p:cNvSpPr txBox="1"/>
          <p:nvPr/>
        </p:nvSpPr>
        <p:spPr>
          <a:xfrm>
            <a:off x="7646467" y="3465251"/>
            <a:ext cx="138470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raw mode 支路</a:t>
            </a:r>
          </a:p>
        </p:txBody>
      </p:sp>
      <p:sp>
        <p:nvSpPr>
          <p:cNvPr id="23" name="E02"/>
          <p:cNvSpPr/>
          <p:nvPr/>
        </p:nvSpPr>
        <p:spPr>
          <a:xfrm>
            <a:off x="6151880" y="323596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4"/>
          <p:cNvSpPr/>
          <p:nvPr/>
        </p:nvSpPr>
        <p:spPr>
          <a:xfrm>
            <a:off x="10241280" y="2631440"/>
            <a:ext cx="227584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5"/>
          <p:cNvSpPr/>
          <p:nvPr/>
        </p:nvSpPr>
        <p:spPr>
          <a:xfrm>
            <a:off x="10262616" y="2652776"/>
            <a:ext cx="2233168" cy="369824"/>
          </a:xfrm>
          <a:prstGeom prst="roundRect">
            <a:avLst>
              <a:gd name="adj" fmla="val 9615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4  channel_allocator"/>
          <p:cNvSpPr txBox="1"/>
          <p:nvPr/>
        </p:nvSpPr>
        <p:spPr>
          <a:xfrm>
            <a:off x="10184384" y="2767137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channel_allocator</a:t>
            </a:r>
          </a:p>
        </p:txBody>
      </p:sp>
      <p:sp>
        <p:nvSpPr>
          <p:cNvPr id="27" name="text-027: NumChannels &gt; 1 时"/>
          <p:cNvSpPr txBox="1"/>
          <p:nvPr/>
        </p:nvSpPr>
        <p:spPr>
          <a:xfrm>
            <a:off x="10409123" y="3010083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NumChannels &gt; 1 时</a:t>
            </a:r>
          </a:p>
        </p:txBody>
      </p:sp>
      <p:sp>
        <p:nvSpPr>
          <p:cNvPr id="28" name="text-028: 分配与还原通道"/>
          <p:cNvSpPr txBox="1"/>
          <p:nvPr/>
        </p:nvSpPr>
        <p:spPr>
          <a:xfrm>
            <a:off x="10753344" y="323766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分配与还原通道</a:t>
            </a:r>
          </a:p>
        </p:txBody>
      </p:sp>
      <p:sp>
        <p:nvSpPr>
          <p:cNvPr id="29" name="text-029: 单通道直接连接"/>
          <p:cNvSpPr txBox="1"/>
          <p:nvPr/>
        </p:nvSpPr>
        <p:spPr>
          <a:xfrm>
            <a:off x="10753344" y="3465251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单通道直接连接</a:t>
            </a:r>
          </a:p>
        </p:txBody>
      </p:sp>
      <p:sp>
        <p:nvSpPr>
          <p:cNvPr id="30" name="E03"/>
          <p:cNvSpPr/>
          <p:nvPr/>
        </p:nvSpPr>
        <p:spPr>
          <a:xfrm>
            <a:off x="9565640" y="3235960"/>
            <a:ext cx="675640" cy="1"/>
          </a:xfrm>
          <a:custGeom>
            <a:avLst/>
            <a:gdLst/>
            <a:ahLst/>
            <a:cxnLst/>
            <a:rect l="0" t="0" r="r" b="b"/>
            <a:pathLst>
              <a:path w="675640" h="1" fill="none">
                <a:moveTo>
                  <a:pt x="0" y="0"/>
                </a:moveTo>
                <a:lnTo>
                  <a:pt x="67564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1"/>
          <p:cNvSpPr/>
          <p:nvPr/>
        </p:nvSpPr>
        <p:spPr>
          <a:xfrm>
            <a:off x="8961120" y="5511800"/>
            <a:ext cx="3378200" cy="1280160"/>
          </a:xfrm>
          <a:prstGeom prst="roundRect">
            <a:avLst>
              <a:gd name="adj" fmla="val 4444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2"/>
          <p:cNvSpPr/>
          <p:nvPr/>
        </p:nvSpPr>
        <p:spPr>
          <a:xfrm>
            <a:off x="8982456" y="5533136"/>
            <a:ext cx="3335528" cy="405384"/>
          </a:xfrm>
          <a:prstGeom prst="roundRect">
            <a:avLst>
              <a:gd name="adj" fmla="val 8771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5  serial_link_physical × 通道"/>
          <p:cNvSpPr txBox="1"/>
          <p:nvPr/>
        </p:nvSpPr>
        <p:spPr>
          <a:xfrm>
            <a:off x="8951874" y="5683057"/>
            <a:ext cx="339669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serial_link_physical × 通道</a:t>
            </a:r>
          </a:p>
        </p:txBody>
      </p:sp>
      <p:sp>
        <p:nvSpPr>
          <p:cNvPr id="34" name="text-034: 发送时钟分频 / 相位控制"/>
          <p:cNvSpPr txBox="1"/>
          <p:nvPr/>
        </p:nvSpPr>
        <p:spPr>
          <a:xfrm>
            <a:off x="9637116" y="5926003"/>
            <a:ext cx="20262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发送时钟分频 / 相位控制</a:t>
            </a:r>
          </a:p>
        </p:txBody>
      </p:sp>
      <p:sp>
        <p:nvSpPr>
          <p:cNvPr id="35" name="text-035: DDR 引脚收发 / 接收跨域"/>
          <p:cNvSpPr txBox="1"/>
          <p:nvPr/>
        </p:nvSpPr>
        <p:spPr>
          <a:xfrm>
            <a:off x="9590176" y="6153587"/>
            <a:ext cx="212008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引脚收发 / 接收跨域</a:t>
            </a:r>
          </a:p>
        </p:txBody>
      </p:sp>
      <p:sp>
        <p:nvSpPr>
          <p:cNvPr id="36" name="text-036: ddr_rcv_clk + ddr 数据 lanes"/>
          <p:cNvSpPr txBox="1"/>
          <p:nvPr/>
        </p:nvSpPr>
        <p:spPr>
          <a:xfrm>
            <a:off x="9195105" y="6381171"/>
            <a:ext cx="29102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ddr_rcv_clk + ddr 数据 lanes</a:t>
            </a:r>
          </a:p>
        </p:txBody>
      </p:sp>
      <p:sp>
        <p:nvSpPr>
          <p:cNvPr id="37" name="E04"/>
          <p:cNvSpPr/>
          <p:nvPr/>
        </p:nvSpPr>
        <p:spPr>
          <a:xfrm>
            <a:off x="11379200" y="384048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0"/>
                </a:moveTo>
                <a:lnTo>
                  <a:pt x="0" y="167132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5"/>
          <p:cNvSpPr/>
          <p:nvPr/>
        </p:nvSpPr>
        <p:spPr>
          <a:xfrm>
            <a:off x="10561320" y="6791960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外部串行链路；此处 DDR 指双边沿传输"/>
          <p:cNvSpPr txBox="1"/>
          <p:nvPr/>
        </p:nvSpPr>
        <p:spPr>
          <a:xfrm>
            <a:off x="8143240" y="7504298"/>
            <a:ext cx="314883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外部串行链路；此处 DDR 指双边沿传输</a:t>
            </a:r>
          </a:p>
        </p:txBody>
      </p:sp>
      <p:sp>
        <p:nvSpPr>
          <p:cNvPr id="40" name="rect-040"/>
          <p:cNvSpPr/>
          <p:nvPr/>
        </p:nvSpPr>
        <p:spPr>
          <a:xfrm>
            <a:off x="3307080" y="5654040"/>
            <a:ext cx="3840480" cy="1137920"/>
          </a:xfrm>
          <a:prstGeom prst="roundRect">
            <a:avLst>
              <a:gd name="adj" fmla="val 5000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3328416" y="5675376"/>
            <a:ext cx="3797808" cy="334264"/>
          </a:xfrm>
          <a:prstGeom prst="roundRect">
            <a:avLst>
              <a:gd name="adj" fmla="val 10638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6  serial_link_reg_top"/>
          <p:cNvSpPr txBox="1"/>
          <p:nvPr/>
        </p:nvSpPr>
        <p:spPr>
          <a:xfrm>
            <a:off x="3921557" y="5754177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6  serial_link_reg_top</a:t>
            </a:r>
          </a:p>
        </p:txBody>
      </p:sp>
      <p:sp>
        <p:nvSpPr>
          <p:cNvPr id="43" name="text-043: Regbus → 可选 reg_cdc → 配置"/>
          <p:cNvSpPr txBox="1"/>
          <p:nvPr/>
        </p:nvSpPr>
        <p:spPr>
          <a:xfrm>
            <a:off x="3764382" y="5997123"/>
            <a:ext cx="292587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→ 可选 reg_cdc → 配置</a:t>
            </a:r>
          </a:p>
        </p:txBody>
      </p:sp>
      <p:sp>
        <p:nvSpPr>
          <p:cNvPr id="44" name="text-044: TX clk_div / raw mode / FIFO 控制"/>
          <p:cNvSpPr txBox="1"/>
          <p:nvPr/>
        </p:nvSpPr>
        <p:spPr>
          <a:xfrm>
            <a:off x="3517951" y="6224707"/>
            <a:ext cx="34187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clk_div / raw mode / FIFO 控制</a:t>
            </a:r>
          </a:p>
        </p:txBody>
      </p:sp>
      <p:sp>
        <p:nvSpPr>
          <p:cNvPr id="45" name="text-045: 当前 SoC 的三路逻辑时钟都接 clk_i"/>
          <p:cNvSpPr txBox="1"/>
          <p:nvPr/>
        </p:nvSpPr>
        <p:spPr>
          <a:xfrm>
            <a:off x="3729177" y="6452291"/>
            <a:ext cx="29962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SoC 的三路逻辑时钟都接 clk_i</a:t>
            </a:r>
          </a:p>
        </p:txBody>
      </p:sp>
      <p:sp>
        <p:nvSpPr>
          <p:cNvPr id="46" name="E06"/>
          <p:cNvSpPr/>
          <p:nvPr/>
        </p:nvSpPr>
        <p:spPr>
          <a:xfrm>
            <a:off x="7147560" y="6187440"/>
            <a:ext cx="1813560" cy="1"/>
          </a:xfrm>
          <a:custGeom>
            <a:avLst/>
            <a:gdLst/>
            <a:ahLst/>
            <a:cxnLst/>
            <a:rect l="0" t="0" r="r" b="b"/>
            <a:pathLst>
              <a:path w="1813560" h="1" fill="none">
                <a:moveTo>
                  <a:pt x="0" y="0"/>
                </a:moveTo>
                <a:lnTo>
                  <a:pt x="181356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7"/>
          <p:cNvSpPr/>
          <p:nvPr/>
        </p:nvSpPr>
        <p:spPr>
          <a:xfrm>
            <a:off x="5227320" y="3911600"/>
            <a:ext cx="3093720" cy="1742440"/>
          </a:xfrm>
          <a:custGeom>
            <a:avLst/>
            <a:gdLst/>
            <a:ahLst/>
            <a:cxnLst/>
            <a:rect l="0" t="0" r="r" b="b"/>
            <a:pathLst>
              <a:path w="3093720" h="1742440" fill="none">
                <a:moveTo>
                  <a:pt x="0" y="1742440"/>
                </a:moveTo>
                <a:lnTo>
                  <a:pt x="0" y="782320"/>
                </a:lnTo>
                <a:lnTo>
                  <a:pt x="3093720" y="782320"/>
                </a:lnTo>
                <a:lnTo>
                  <a:pt x="309372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AXI 事务跨芯片传输，不是 UART，也不自动提供缓存一致性。"/>
          <p:cNvSpPr txBox="1"/>
          <p:nvPr/>
        </p:nvSpPr>
        <p:spPr>
          <a:xfrm>
            <a:off x="320040" y="7141017"/>
            <a:ext cx="509503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事务跨芯片传输，不是 UART，也不自动提供缓存一致性。</a:t>
            </a:r>
          </a:p>
        </p:txBody>
      </p:sp>
      <p:sp>
        <p:nvSpPr>
          <p:cNvPr id="49" name="E08"/>
          <p:cNvSpPr/>
          <p:nvPr/>
        </p:nvSpPr>
        <p:spPr>
          <a:xfrm>
            <a:off x="6756400" y="3840480"/>
            <a:ext cx="5120640" cy="1813560"/>
          </a:xfrm>
          <a:custGeom>
            <a:avLst/>
            <a:gdLst/>
            <a:ahLst/>
            <a:cxnLst/>
            <a:rect l="0" t="0" r="r" b="b"/>
            <a:pathLst>
              <a:path w="5120640" h="1813560" fill="none">
                <a:moveTo>
                  <a:pt x="0" y="1813560"/>
                </a:moveTo>
                <a:lnTo>
                  <a:pt x="0" y="533400"/>
                </a:lnTo>
                <a:lnTo>
                  <a:pt x="5120640" y="533400"/>
                </a:lnTo>
                <a:lnTo>
                  <a:pt x="512064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50"/>
          <p:cNvSpPr/>
          <p:nvPr/>
        </p:nvSpPr>
        <p:spPr>
          <a:xfrm>
            <a:off x="293370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1"/>
          <p:cNvSpPr txBox="1"/>
          <p:nvPr/>
        </p:nvSpPr>
        <p:spPr>
          <a:xfrm>
            <a:off x="287716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2" name="rect-052"/>
          <p:cNvSpPr/>
          <p:nvPr/>
        </p:nvSpPr>
        <p:spPr>
          <a:xfrm>
            <a:off x="645414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2"/>
          <p:cNvSpPr txBox="1"/>
          <p:nvPr/>
        </p:nvSpPr>
        <p:spPr>
          <a:xfrm>
            <a:off x="639760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4" name="rect-054"/>
          <p:cNvSpPr/>
          <p:nvPr/>
        </p:nvSpPr>
        <p:spPr>
          <a:xfrm>
            <a:off x="972566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3"/>
          <p:cNvSpPr txBox="1"/>
          <p:nvPr/>
        </p:nvSpPr>
        <p:spPr>
          <a:xfrm>
            <a:off x="966912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6" name="rect-056"/>
          <p:cNvSpPr/>
          <p:nvPr/>
        </p:nvSpPr>
        <p:spPr>
          <a:xfrm>
            <a:off x="11443208" y="45765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4"/>
          <p:cNvSpPr txBox="1"/>
          <p:nvPr/>
        </p:nvSpPr>
        <p:spPr>
          <a:xfrm>
            <a:off x="11386668" y="45569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8" name="rect-058"/>
          <p:cNvSpPr/>
          <p:nvPr/>
        </p:nvSpPr>
        <p:spPr>
          <a:xfrm>
            <a:off x="10625328" y="70124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5"/>
          <p:cNvSpPr txBox="1"/>
          <p:nvPr/>
        </p:nvSpPr>
        <p:spPr>
          <a:xfrm>
            <a:off x="10568788" y="69928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0" name="rect-060"/>
          <p:cNvSpPr/>
          <p:nvPr/>
        </p:nvSpPr>
        <p:spPr>
          <a:xfrm>
            <a:off x="7876540" y="59669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6"/>
          <p:cNvSpPr txBox="1"/>
          <p:nvPr/>
        </p:nvSpPr>
        <p:spPr>
          <a:xfrm>
            <a:off x="7820000" y="59473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2" name="rect-062"/>
          <p:cNvSpPr/>
          <p:nvPr/>
        </p:nvSpPr>
        <p:spPr>
          <a:xfrm>
            <a:off x="6596380" y="4473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7"/>
          <p:cNvSpPr txBox="1"/>
          <p:nvPr/>
        </p:nvSpPr>
        <p:spPr>
          <a:xfrm>
            <a:off x="6539840" y="4453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4" name="rect-064"/>
          <p:cNvSpPr/>
          <p:nvPr/>
        </p:nvSpPr>
        <p:spPr>
          <a:xfrm>
            <a:off x="9138920" y="4153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8"/>
          <p:cNvSpPr txBox="1"/>
          <p:nvPr/>
        </p:nvSpPr>
        <p:spPr>
          <a:xfrm>
            <a:off x="9082380" y="4133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6" name="text-066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7" name="text-067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2  VGA：AXI 读取帧缓冲，再按像素节拍消耗数据"/>
          <p:cNvSpPr txBox="1"/>
          <p:nvPr/>
        </p:nvSpPr>
        <p:spPr>
          <a:xfrm>
            <a:off x="284480" y="1347297"/>
            <a:ext cx="572373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12  VGA：AXI 读取帧缓冲，再按像素节拍消耗数据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24760"/>
            <a:ext cx="2453640" cy="1315720"/>
          </a:xfrm>
          <a:prstGeom prst="roundRect">
            <a:avLst>
              <a:gd name="adj" fmla="val 4324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305816" y="2546096"/>
            <a:ext cx="2410968" cy="309372"/>
          </a:xfrm>
          <a:prstGeom prst="roundRect">
            <a:avLst>
              <a:gd name="adj" fmla="val 11494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1  axi_vga_reg_top"/>
          <p:cNvSpPr txBox="1"/>
          <p:nvPr/>
        </p:nvSpPr>
        <p:spPr>
          <a:xfrm>
            <a:off x="427431" y="2600005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axi_vga_reg_top</a:t>
            </a:r>
          </a:p>
        </p:txBody>
      </p:sp>
      <p:sp>
        <p:nvSpPr>
          <p:cNvPr id="6" name="text-006: START_ADDR / FRAME_SIZE"/>
          <p:cNvSpPr txBox="1"/>
          <p:nvPr/>
        </p:nvSpPr>
        <p:spPr>
          <a:xfrm>
            <a:off x="263500" y="2842951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START_ADDR / FRAME_SIZE</a:t>
            </a:r>
          </a:p>
        </p:txBody>
      </p:sp>
      <p:sp>
        <p:nvSpPr>
          <p:cNvPr id="7" name="text-007: BURST_LEN / ENABLE"/>
          <p:cNvSpPr txBox="1"/>
          <p:nvPr/>
        </p:nvSpPr>
        <p:spPr>
          <a:xfrm>
            <a:off x="517754" y="3070535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BURST_LEN / ENABLE</a:t>
            </a:r>
          </a:p>
        </p:txBody>
      </p:sp>
      <p:sp>
        <p:nvSpPr>
          <p:cNvPr id="8" name="text-008: 水平 / 垂直时序"/>
          <p:cNvSpPr txBox="1"/>
          <p:nvPr/>
        </p:nvSpPr>
        <p:spPr>
          <a:xfrm>
            <a:off x="811124" y="3298119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垂直时序</a:t>
            </a:r>
          </a:p>
        </p:txBody>
      </p:sp>
      <p:sp>
        <p:nvSpPr>
          <p:cNvPr id="9" name="text-009: CLK_DIV"/>
          <p:cNvSpPr txBox="1"/>
          <p:nvPr/>
        </p:nvSpPr>
        <p:spPr>
          <a:xfrm>
            <a:off x="1077112" y="3525703"/>
            <a:ext cx="8683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CLK_DIV</a:t>
            </a:r>
          </a:p>
        </p:txBody>
      </p:sp>
      <p:sp>
        <p:nvSpPr>
          <p:cNvPr id="10" name="text-010: Regbus 32"/>
          <p:cNvSpPr txBox="1"/>
          <p:nvPr/>
        </p:nvSpPr>
        <p:spPr>
          <a:xfrm>
            <a:off x="320040" y="198481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1" name="rect-011"/>
          <p:cNvSpPr/>
          <p:nvPr/>
        </p:nvSpPr>
        <p:spPr>
          <a:xfrm>
            <a:off x="3591560" y="2560320"/>
            <a:ext cx="2560320" cy="1244600"/>
          </a:xfrm>
          <a:prstGeom prst="roundRect">
            <a:avLst>
              <a:gd name="adj" fmla="val 4571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-012"/>
          <p:cNvSpPr/>
          <p:nvPr/>
        </p:nvSpPr>
        <p:spPr>
          <a:xfrm>
            <a:off x="3612896" y="2581656"/>
            <a:ext cx="2517648" cy="387604"/>
          </a:xfrm>
          <a:prstGeom prst="roundRect">
            <a:avLst>
              <a:gd name="adj" fmla="val 9174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2  axi_vga_fetcher"/>
          <p:cNvSpPr txBox="1"/>
          <p:nvPr/>
        </p:nvSpPr>
        <p:spPr>
          <a:xfrm>
            <a:off x="3787851" y="271379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axi_vga_fetcher</a:t>
            </a:r>
          </a:p>
        </p:txBody>
      </p:sp>
      <p:sp>
        <p:nvSpPr>
          <p:cNvPr id="14" name="text-014: 地址 / 长度状态机"/>
          <p:cNvSpPr txBox="1"/>
          <p:nvPr/>
        </p:nvSpPr>
        <p:spPr>
          <a:xfrm>
            <a:off x="4093312" y="2956743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 / 长度状态机</a:t>
            </a:r>
          </a:p>
        </p:txBody>
      </p:sp>
      <p:sp>
        <p:nvSpPr>
          <p:cNvPr id="15" name="text-015: 拆取 RGB 像素"/>
          <p:cNvSpPr txBox="1"/>
          <p:nvPr/>
        </p:nvSpPr>
        <p:spPr>
          <a:xfrm>
            <a:off x="4226306" y="3184327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拆取 RGB 像素</a:t>
            </a:r>
          </a:p>
        </p:txBody>
      </p:sp>
      <p:sp>
        <p:nvSpPr>
          <p:cNvPr id="16" name="text-016: 保持 beat / pixel offset"/>
          <p:cNvSpPr txBox="1"/>
          <p:nvPr/>
        </p:nvSpPr>
        <p:spPr>
          <a:xfrm>
            <a:off x="3620008" y="3411911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保持 beat / pixel offset</a:t>
            </a:r>
          </a:p>
        </p:txBody>
      </p:sp>
      <p:sp>
        <p:nvSpPr>
          <p:cNvPr id="17" name="E01"/>
          <p:cNvSpPr/>
          <p:nvPr/>
        </p:nvSpPr>
        <p:spPr>
          <a:xfrm>
            <a:off x="2738120" y="30226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8"/>
          <p:cNvSpPr/>
          <p:nvPr/>
        </p:nvSpPr>
        <p:spPr>
          <a:xfrm>
            <a:off x="7396480" y="2560320"/>
            <a:ext cx="2631440" cy="1244600"/>
          </a:xfrm>
          <a:prstGeom prst="roundRect">
            <a:avLst>
              <a:gd name="adj" fmla="val 4571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9"/>
          <p:cNvSpPr/>
          <p:nvPr/>
        </p:nvSpPr>
        <p:spPr>
          <a:xfrm>
            <a:off x="7417816" y="2581656"/>
            <a:ext cx="2588768" cy="387604"/>
          </a:xfrm>
          <a:prstGeom prst="roundRect">
            <a:avLst>
              <a:gd name="adj" fmla="val 9174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3  timing_fsm"/>
          <p:cNvSpPr txBox="1"/>
          <p:nvPr/>
        </p:nvSpPr>
        <p:spPr>
          <a:xfrm>
            <a:off x="7905699" y="2713797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timing_fsm</a:t>
            </a:r>
          </a:p>
        </p:txBody>
      </p:sp>
      <p:sp>
        <p:nvSpPr>
          <p:cNvPr id="21" name="text-021: 水平 / 垂直计数"/>
          <p:cNvSpPr txBox="1"/>
          <p:nvPr/>
        </p:nvSpPr>
        <p:spPr>
          <a:xfrm>
            <a:off x="8012024" y="2956743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垂直计数</a:t>
            </a:r>
          </a:p>
        </p:txBody>
      </p:sp>
      <p:sp>
        <p:nvSpPr>
          <p:cNvPr id="22" name="text-022: 可见区与消隐区"/>
          <p:cNvSpPr txBox="1"/>
          <p:nvPr/>
        </p:nvSpPr>
        <p:spPr>
          <a:xfrm>
            <a:off x="8086344" y="318432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可见区与消隐区</a:t>
            </a:r>
          </a:p>
        </p:txBody>
      </p:sp>
      <p:sp>
        <p:nvSpPr>
          <p:cNvPr id="23" name="text-023: 消费像素 valid / ready"/>
          <p:cNvSpPr txBox="1"/>
          <p:nvPr/>
        </p:nvSpPr>
        <p:spPr>
          <a:xfrm>
            <a:off x="7609129" y="3411911"/>
            <a:ext cx="2206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消费像素 valid / ready</a:t>
            </a:r>
          </a:p>
        </p:txBody>
      </p:sp>
      <p:sp>
        <p:nvSpPr>
          <p:cNvPr id="24" name="E02"/>
          <p:cNvSpPr/>
          <p:nvPr/>
        </p:nvSpPr>
        <p:spPr>
          <a:xfrm>
            <a:off x="6151880" y="323596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RGB"/>
          <p:cNvSpPr txBox="1"/>
          <p:nvPr/>
        </p:nvSpPr>
        <p:spPr>
          <a:xfrm>
            <a:off x="6223000" y="2917058"/>
            <a:ext cx="4825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RGB</a:t>
            </a:r>
          </a:p>
        </p:txBody>
      </p:sp>
      <p:sp>
        <p:nvSpPr>
          <p:cNvPr id="26" name="E03"/>
          <p:cNvSpPr/>
          <p:nvPr/>
        </p:nvSpPr>
        <p:spPr>
          <a:xfrm>
            <a:off x="10027920" y="3129280"/>
            <a:ext cx="2204720" cy="1"/>
          </a:xfrm>
          <a:custGeom>
            <a:avLst/>
            <a:gdLst/>
            <a:ahLst/>
            <a:cxnLst/>
            <a:rect l="0" t="0" r="r" b="b"/>
            <a:pathLst>
              <a:path w="2204720" h="1" fill="none">
                <a:moveTo>
                  <a:pt x="0" y="0"/>
                </a:moveTo>
                <a:lnTo>
                  <a:pt x="220472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RGB / HS / VS"/>
          <p:cNvSpPr txBox="1"/>
          <p:nvPr/>
        </p:nvSpPr>
        <p:spPr>
          <a:xfrm>
            <a:off x="10312400" y="2803266"/>
            <a:ext cx="154579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RGB / HS / VS</a:t>
            </a:r>
          </a:p>
        </p:txBody>
      </p:sp>
      <p:sp>
        <p:nvSpPr>
          <p:cNvPr id="28" name="rect-028"/>
          <p:cNvSpPr/>
          <p:nvPr/>
        </p:nvSpPr>
        <p:spPr>
          <a:xfrm>
            <a:off x="3591560" y="5725160"/>
            <a:ext cx="2560320" cy="1066800"/>
          </a:xfrm>
          <a:prstGeom prst="roundRect">
            <a:avLst>
              <a:gd name="adj" fmla="val 5333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9"/>
          <p:cNvSpPr/>
          <p:nvPr/>
        </p:nvSpPr>
        <p:spPr>
          <a:xfrm>
            <a:off x="3612896" y="5746496"/>
            <a:ext cx="2517648" cy="412496"/>
          </a:xfrm>
          <a:prstGeom prst="roundRect">
            <a:avLst>
              <a:gd name="adj" fmla="val 8620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4  splitter + 信用门控"/>
          <p:cNvSpPr txBox="1"/>
          <p:nvPr/>
        </p:nvSpPr>
        <p:spPr>
          <a:xfrm>
            <a:off x="3668370" y="5903529"/>
            <a:ext cx="240670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splitter + 信用门控</a:t>
            </a:r>
          </a:p>
        </p:txBody>
      </p:sp>
      <p:sp>
        <p:nvSpPr>
          <p:cNvPr id="31" name="text-031: axi_burst_splitter"/>
          <p:cNvSpPr txBox="1"/>
          <p:nvPr/>
        </p:nvSpPr>
        <p:spPr>
          <a:xfrm>
            <a:off x="3878174" y="6146475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axi_burst_splitter</a:t>
            </a:r>
          </a:p>
        </p:txBody>
      </p:sp>
      <p:sp>
        <p:nvSpPr>
          <p:cNvPr id="32" name="text-032: 顶层 credit / stream_join"/>
          <p:cNvSpPr txBox="1"/>
          <p:nvPr/>
        </p:nvSpPr>
        <p:spPr>
          <a:xfrm>
            <a:off x="3569157" y="6374059"/>
            <a:ext cx="2605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顶层 credit / stream_join</a:t>
            </a:r>
          </a:p>
        </p:txBody>
      </p:sp>
      <p:sp>
        <p:nvSpPr>
          <p:cNvPr id="33" name="E04"/>
          <p:cNvSpPr/>
          <p:nvPr/>
        </p:nvSpPr>
        <p:spPr>
          <a:xfrm>
            <a:off x="4409440" y="3804920"/>
            <a:ext cx="1" cy="1920240"/>
          </a:xfrm>
          <a:custGeom>
            <a:avLst/>
            <a:gdLst/>
            <a:ahLst/>
            <a:cxnLst/>
            <a:rect l="0" t="0" r="r" b="b"/>
            <a:pathLst>
              <a:path w="1" h="1920240" fill="none">
                <a:moveTo>
                  <a:pt x="0" y="0"/>
                </a:moveTo>
                <a:lnTo>
                  <a:pt x="0" y="192024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AR 请求"/>
          <p:cNvSpPr txBox="1"/>
          <p:nvPr/>
        </p:nvSpPr>
        <p:spPr>
          <a:xfrm>
            <a:off x="4565904" y="4503034"/>
            <a:ext cx="80970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 请求</a:t>
            </a:r>
          </a:p>
        </p:txBody>
      </p:sp>
      <p:sp>
        <p:nvSpPr>
          <p:cNvPr id="35" name="rect-035"/>
          <p:cNvSpPr/>
          <p:nvPr/>
        </p:nvSpPr>
        <p:spPr>
          <a:xfrm>
            <a:off x="7396480" y="5725160"/>
            <a:ext cx="2631440" cy="1066800"/>
          </a:xfrm>
          <a:prstGeom prst="roundRect">
            <a:avLst>
              <a:gd name="adj" fmla="val 5333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6"/>
          <p:cNvSpPr/>
          <p:nvPr/>
        </p:nvSpPr>
        <p:spPr>
          <a:xfrm>
            <a:off x="7417816" y="5746496"/>
            <a:ext cx="2588768" cy="412496"/>
          </a:xfrm>
          <a:prstGeom prst="roundRect">
            <a:avLst>
              <a:gd name="adj" fmla="val 8620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olyline-037"/>
          <p:cNvSpPr/>
          <p:nvPr/>
        </p:nvSpPr>
        <p:spPr>
          <a:xfrm>
            <a:off x="7481824" y="5725160"/>
            <a:ext cx="1" cy="1066800"/>
          </a:xfrm>
          <a:custGeom>
            <a:avLst/>
            <a:gdLst/>
            <a:ahLst/>
            <a:cxnLst/>
            <a:rect l="0" t="0" r="r" b="b"/>
            <a:pathLst>
              <a:path w="1" h="1066800" fill="none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5  R 通道 FIFO"/>
          <p:cNvSpPr txBox="1"/>
          <p:nvPr/>
        </p:nvSpPr>
        <p:spPr>
          <a:xfrm>
            <a:off x="7901432" y="5903529"/>
            <a:ext cx="16215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R 通道 FIFO</a:t>
            </a:r>
          </a:p>
        </p:txBody>
      </p:sp>
      <p:sp>
        <p:nvSpPr>
          <p:cNvPr id="39" name="text-039: BufferDepth + 1"/>
          <p:cNvSpPr txBox="1"/>
          <p:nvPr/>
        </p:nvSpPr>
        <p:spPr>
          <a:xfrm>
            <a:off x="7871206" y="6146475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BufferDepth + 1</a:t>
            </a:r>
          </a:p>
        </p:txBody>
      </p:sp>
      <p:sp>
        <p:nvSpPr>
          <p:cNvPr id="40" name="text-040: 缓冲存储器返回数据"/>
          <p:cNvSpPr txBox="1"/>
          <p:nvPr/>
        </p:nvSpPr>
        <p:spPr>
          <a:xfrm>
            <a:off x="7929880" y="6374059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缓冲存储器返回数据</a:t>
            </a:r>
          </a:p>
        </p:txBody>
      </p:sp>
      <p:sp>
        <p:nvSpPr>
          <p:cNvPr id="41" name="E05"/>
          <p:cNvSpPr/>
          <p:nvPr/>
        </p:nvSpPr>
        <p:spPr>
          <a:xfrm>
            <a:off x="6151880" y="6223000"/>
            <a:ext cx="6080760" cy="1137920"/>
          </a:xfrm>
          <a:custGeom>
            <a:avLst/>
            <a:gdLst/>
            <a:ahLst/>
            <a:cxnLst/>
            <a:rect l="0" t="0" r="r" b="b"/>
            <a:pathLst>
              <a:path w="6080760" h="1137920" fill="none">
                <a:moveTo>
                  <a:pt x="0" y="0"/>
                </a:moveTo>
                <a:lnTo>
                  <a:pt x="782320" y="0"/>
                </a:lnTo>
                <a:lnTo>
                  <a:pt x="782320" y="1137920"/>
                </a:lnTo>
                <a:lnTo>
                  <a:pt x="6080760" y="113792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AR → 内存"/>
          <p:cNvSpPr txBox="1"/>
          <p:nvPr/>
        </p:nvSpPr>
        <p:spPr>
          <a:xfrm>
            <a:off x="7965440" y="7369170"/>
            <a:ext cx="10796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 → 内存</a:t>
            </a:r>
          </a:p>
        </p:txBody>
      </p:sp>
      <p:sp>
        <p:nvSpPr>
          <p:cNvPr id="43" name="E06"/>
          <p:cNvSpPr/>
          <p:nvPr/>
        </p:nvSpPr>
        <p:spPr>
          <a:xfrm>
            <a:off x="10027920" y="6294120"/>
            <a:ext cx="2204720" cy="1"/>
          </a:xfrm>
          <a:custGeom>
            <a:avLst/>
            <a:gdLst/>
            <a:ahLst/>
            <a:cxnLst/>
            <a:rect l="0" t="0" r="r" b="b"/>
            <a:pathLst>
              <a:path w="2204720" h="1" fill="none">
                <a:moveTo>
                  <a:pt x="220472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R ← 内存"/>
          <p:cNvSpPr txBox="1"/>
          <p:nvPr/>
        </p:nvSpPr>
        <p:spPr>
          <a:xfrm>
            <a:off x="10596880" y="5932546"/>
            <a:ext cx="97327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 ← 内存</a:t>
            </a:r>
          </a:p>
        </p:txBody>
      </p:sp>
      <p:sp>
        <p:nvSpPr>
          <p:cNvPr id="45" name="E07"/>
          <p:cNvSpPr/>
          <p:nvPr/>
        </p:nvSpPr>
        <p:spPr>
          <a:xfrm>
            <a:off x="6151880" y="636524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8"/>
          <p:cNvSpPr/>
          <p:nvPr/>
        </p:nvSpPr>
        <p:spPr>
          <a:xfrm>
            <a:off x="5440680" y="3804920"/>
            <a:ext cx="1" cy="1920240"/>
          </a:xfrm>
          <a:custGeom>
            <a:avLst/>
            <a:gdLst/>
            <a:ahLst/>
            <a:cxnLst/>
            <a:rect l="0" t="0" r="r" b="b"/>
            <a:pathLst>
              <a:path w="1" h="1920240" fill="none">
                <a:moveTo>
                  <a:pt x="0" y="192024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返回 beat"/>
          <p:cNvSpPr txBox="1"/>
          <p:nvPr/>
        </p:nvSpPr>
        <p:spPr>
          <a:xfrm>
            <a:off x="5561584" y="5079675"/>
            <a:ext cx="9779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返回 beat</a:t>
            </a:r>
          </a:p>
        </p:txBody>
      </p:sp>
      <p:sp>
        <p:nvSpPr>
          <p:cNvPr id="48" name="E09"/>
          <p:cNvSpPr/>
          <p:nvPr/>
        </p:nvSpPr>
        <p:spPr>
          <a:xfrm>
            <a:off x="2738120" y="3484880"/>
            <a:ext cx="6009640" cy="853440"/>
          </a:xfrm>
          <a:custGeom>
            <a:avLst/>
            <a:gdLst/>
            <a:ahLst/>
            <a:cxnLst/>
            <a:rect l="0" t="0" r="r" b="b"/>
            <a:pathLst>
              <a:path w="6009640" h="853440" fill="none">
                <a:moveTo>
                  <a:pt x="0" y="0"/>
                </a:moveTo>
                <a:lnTo>
                  <a:pt x="355600" y="0"/>
                </a:lnTo>
                <a:lnTo>
                  <a:pt x="355600" y="853440"/>
                </a:lnTo>
                <a:lnTo>
                  <a:pt x="6009640" y="853440"/>
                </a:lnTo>
                <a:lnTo>
                  <a:pt x="6009640" y="32004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clk_cnt_q == 0 → fsm_en"/>
          <p:cNvSpPr txBox="1"/>
          <p:nvPr/>
        </p:nvSpPr>
        <p:spPr>
          <a:xfrm>
            <a:off x="7040880" y="4446138"/>
            <a:ext cx="266628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clk_cnt_q == 0 → fsm_en</a:t>
            </a:r>
          </a:p>
        </p:txBody>
      </p:sp>
      <p:sp>
        <p:nvSpPr>
          <p:cNvPr id="50" name="text-050: 同一个 clk_i 域；CLK_DIV 控制像素状态机使能。"/>
          <p:cNvSpPr txBox="1"/>
          <p:nvPr/>
        </p:nvSpPr>
        <p:spPr>
          <a:xfrm>
            <a:off x="320040" y="7113138"/>
            <a:ext cx="42120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同一个 clk_i 域；CLK_DIV 控制像素状态机使能。</a:t>
            </a:r>
          </a:p>
        </p:txBody>
      </p:sp>
      <p:sp>
        <p:nvSpPr>
          <p:cNvPr id="51" name="rect-051"/>
          <p:cNvSpPr/>
          <p:nvPr/>
        </p:nvSpPr>
        <p:spPr>
          <a:xfrm>
            <a:off x="2987040" y="2802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1"/>
          <p:cNvSpPr txBox="1"/>
          <p:nvPr/>
        </p:nvSpPr>
        <p:spPr>
          <a:xfrm>
            <a:off x="2930500" y="2782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3" name="rect-053"/>
          <p:cNvSpPr/>
          <p:nvPr/>
        </p:nvSpPr>
        <p:spPr>
          <a:xfrm>
            <a:off x="659638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2"/>
          <p:cNvSpPr txBox="1"/>
          <p:nvPr/>
        </p:nvSpPr>
        <p:spPr>
          <a:xfrm>
            <a:off x="653984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5" name="rect-055"/>
          <p:cNvSpPr/>
          <p:nvPr/>
        </p:nvSpPr>
        <p:spPr>
          <a:xfrm>
            <a:off x="10952480" y="31790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3"/>
          <p:cNvSpPr txBox="1"/>
          <p:nvPr/>
        </p:nvSpPr>
        <p:spPr>
          <a:xfrm>
            <a:off x="10895940" y="31594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7" name="rect-057"/>
          <p:cNvSpPr/>
          <p:nvPr/>
        </p:nvSpPr>
        <p:spPr>
          <a:xfrm>
            <a:off x="3996944" y="4665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4"/>
          <p:cNvSpPr txBox="1"/>
          <p:nvPr/>
        </p:nvSpPr>
        <p:spPr>
          <a:xfrm>
            <a:off x="3940404" y="4645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9" name="rect-059"/>
          <p:cNvSpPr/>
          <p:nvPr/>
        </p:nvSpPr>
        <p:spPr>
          <a:xfrm>
            <a:off x="9405620" y="7140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5"/>
          <p:cNvSpPr txBox="1"/>
          <p:nvPr/>
        </p:nvSpPr>
        <p:spPr>
          <a:xfrm>
            <a:off x="9349080" y="7120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1" name="rect-061"/>
          <p:cNvSpPr/>
          <p:nvPr/>
        </p:nvSpPr>
        <p:spPr>
          <a:xfrm>
            <a:off x="10952480" y="63439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6"/>
          <p:cNvSpPr txBox="1"/>
          <p:nvPr/>
        </p:nvSpPr>
        <p:spPr>
          <a:xfrm>
            <a:off x="10895940" y="63242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3" name="rect-063"/>
          <p:cNvSpPr/>
          <p:nvPr/>
        </p:nvSpPr>
        <p:spPr>
          <a:xfrm>
            <a:off x="6596380" y="61447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7"/>
          <p:cNvSpPr txBox="1"/>
          <p:nvPr/>
        </p:nvSpPr>
        <p:spPr>
          <a:xfrm>
            <a:off x="6539840" y="61251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5" name="rect-065"/>
          <p:cNvSpPr/>
          <p:nvPr/>
        </p:nvSpPr>
        <p:spPr>
          <a:xfrm>
            <a:off x="5504688" y="4665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8"/>
          <p:cNvSpPr txBox="1"/>
          <p:nvPr/>
        </p:nvSpPr>
        <p:spPr>
          <a:xfrm>
            <a:off x="5448148" y="4645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7" name="rect-067"/>
          <p:cNvSpPr/>
          <p:nvPr/>
        </p:nvSpPr>
        <p:spPr>
          <a:xfrm>
            <a:off x="5742940" y="41178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9"/>
          <p:cNvSpPr txBox="1"/>
          <p:nvPr/>
        </p:nvSpPr>
        <p:spPr>
          <a:xfrm>
            <a:off x="5686400" y="40982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9" name="text-069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0" name="text-070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3  USB OHCI：控制适配、描述符 DMA 与独立 PHY 时钟域"/>
          <p:cNvSpPr txBox="1"/>
          <p:nvPr/>
        </p:nvSpPr>
        <p:spPr>
          <a:xfrm>
            <a:off x="284480" y="1347297"/>
            <a:ext cx="6895795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13  USB OHCI：控制适配、描述符 DMA 与独立 PHY 时钟域</a:t>
            </a:r>
          </a:p>
        </p:txBody>
      </p:sp>
      <p:sp>
        <p:nvSpPr>
          <p:cNvPr id="3" name="rect-003"/>
          <p:cNvSpPr/>
          <p:nvPr/>
        </p:nvSpPr>
        <p:spPr>
          <a:xfrm>
            <a:off x="2738120" y="2062480"/>
            <a:ext cx="9672320" cy="5120640"/>
          </a:xfrm>
          <a:prstGeom prst="roundRect">
            <a:avLst>
              <a:gd name="adj" fmla="val 1666"/>
            </a:avLst>
          </a:prstGeom>
          <a:solidFill>
            <a:srgbClr val="F8FAFD"/>
          </a:solidFill>
          <a:ln w="12090" cap="flat">
            <a:solidFill>
              <a:srgbClr val="A6B5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spinal_usb_ohci：控制 / DMA 在 soc_clk_i；PHY"/>
          <p:cNvSpPr txBox="1"/>
          <p:nvPr/>
        </p:nvSpPr>
        <p:spPr>
          <a:xfrm>
            <a:off x="2844800" y="2099178"/>
            <a:ext cx="61995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spinal_usb_ohci：控制 / DMA 在 soc_clk_i；PHY 使用 phy_clk_i</a:t>
            </a:r>
          </a:p>
        </p:txBody>
      </p:sp>
      <p:sp>
        <p:nvSpPr>
          <p:cNvPr id="5" name="rect-005"/>
          <p:cNvSpPr/>
          <p:nvPr/>
        </p:nvSpPr>
        <p:spPr>
          <a:xfrm>
            <a:off x="248920" y="2560320"/>
            <a:ext cx="1955800" cy="995680"/>
          </a:xfrm>
          <a:prstGeom prst="roundRect">
            <a:avLst>
              <a:gd name="adj" fmla="val 5714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270256" y="2581656"/>
            <a:ext cx="1913128" cy="490728"/>
          </a:xfrm>
          <a:prstGeom prst="roundRect">
            <a:avLst>
              <a:gd name="adj" fmla="val 7246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Regbus 32"/>
          <p:cNvSpPr txBox="1"/>
          <p:nvPr/>
        </p:nvSpPr>
        <p:spPr>
          <a:xfrm>
            <a:off x="642214" y="2816921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8" name="text-008: ctrl_req / ctrl_rsp"/>
          <p:cNvSpPr txBox="1"/>
          <p:nvPr/>
        </p:nvSpPr>
        <p:spPr>
          <a:xfrm>
            <a:off x="182423" y="3059867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ctrl_req / ctrl_rsp</a:t>
            </a:r>
          </a:p>
        </p:txBody>
      </p:sp>
      <p:sp>
        <p:nvSpPr>
          <p:cNvPr id="9" name="rect-009"/>
          <p:cNvSpPr/>
          <p:nvPr/>
        </p:nvSpPr>
        <p:spPr>
          <a:xfrm>
            <a:off x="2987040" y="2560320"/>
            <a:ext cx="2346960" cy="995680"/>
          </a:xfrm>
          <a:prstGeom prst="roundRect">
            <a:avLst>
              <a:gd name="adj" fmla="val 5714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-010"/>
          <p:cNvSpPr/>
          <p:nvPr/>
        </p:nvSpPr>
        <p:spPr>
          <a:xfrm>
            <a:off x="3008376" y="2581656"/>
            <a:ext cx="2304288" cy="376936"/>
          </a:xfrm>
          <a:prstGeom prst="roundRect">
            <a:avLst>
              <a:gd name="adj" fmla="val 9433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1  reg_to_axi"/>
          <p:cNvSpPr txBox="1"/>
          <p:nvPr/>
        </p:nvSpPr>
        <p:spPr>
          <a:xfrm>
            <a:off x="3354019" y="2703129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reg_to_axi</a:t>
            </a:r>
          </a:p>
        </p:txBody>
      </p:sp>
      <p:sp>
        <p:nvSpPr>
          <p:cNvPr id="12" name="text-012: 32-bit Reg → AXI32"/>
          <p:cNvSpPr txBox="1"/>
          <p:nvPr/>
        </p:nvSpPr>
        <p:spPr>
          <a:xfrm>
            <a:off x="3139592" y="2946075"/>
            <a:ext cx="20418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Reg → AXI32</a:t>
            </a:r>
          </a:p>
        </p:txBody>
      </p:sp>
      <p:sp>
        <p:nvSpPr>
          <p:cNvPr id="13" name="text-013: 控制地址取低 12 位"/>
          <p:cNvSpPr txBox="1"/>
          <p:nvPr/>
        </p:nvSpPr>
        <p:spPr>
          <a:xfrm>
            <a:off x="3331261" y="3173659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控制地址取低 12 位</a:t>
            </a:r>
          </a:p>
        </p:txBody>
      </p:sp>
      <p:sp>
        <p:nvSpPr>
          <p:cNvPr id="14" name="E01"/>
          <p:cNvSpPr/>
          <p:nvPr/>
        </p:nvSpPr>
        <p:spPr>
          <a:xfrm>
            <a:off x="2204720" y="305816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6365240" y="2560320"/>
            <a:ext cx="2915920" cy="1351280"/>
          </a:xfrm>
          <a:prstGeom prst="roundRect">
            <a:avLst>
              <a:gd name="adj" fmla="val 4210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6"/>
          <p:cNvSpPr/>
          <p:nvPr/>
        </p:nvSpPr>
        <p:spPr>
          <a:xfrm>
            <a:off x="6386576" y="2581656"/>
            <a:ext cx="2873248" cy="327152"/>
          </a:xfrm>
          <a:prstGeom prst="roundRect">
            <a:avLst>
              <a:gd name="adj" fmla="val 10869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2  UsbOhciAxi4：前端"/>
          <p:cNvSpPr txBox="1"/>
          <p:nvPr/>
        </p:nvSpPr>
        <p:spPr>
          <a:xfrm>
            <a:off x="6705194" y="2653345"/>
            <a:ext cx="22360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UsbOhciAxi4：前端</a:t>
            </a:r>
          </a:p>
        </p:txBody>
      </p:sp>
      <p:sp>
        <p:nvSpPr>
          <p:cNvPr id="18" name="text-018: ctrlBridge → front_ohci"/>
          <p:cNvSpPr txBox="1"/>
          <p:nvPr/>
        </p:nvSpPr>
        <p:spPr>
          <a:xfrm>
            <a:off x="6548018" y="2896291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ctrlBridge → front_ohci</a:t>
            </a:r>
          </a:p>
        </p:txBody>
      </p:sp>
      <p:sp>
        <p:nvSpPr>
          <p:cNvPr id="19" name="text-019: OHCI 寄存器 / 帧调度"/>
          <p:cNvSpPr txBox="1"/>
          <p:nvPr/>
        </p:nvSpPr>
        <p:spPr>
          <a:xfrm>
            <a:off x="6868770" y="3123875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OHCI 寄存器 / 帧调度</a:t>
            </a:r>
          </a:p>
        </p:txBody>
      </p:sp>
      <p:sp>
        <p:nvSpPr>
          <p:cNvPr id="20" name="text-020: 读取 ED / TD、搬运数据"/>
          <p:cNvSpPr txBox="1"/>
          <p:nvPr/>
        </p:nvSpPr>
        <p:spPr>
          <a:xfrm>
            <a:off x="6790538" y="3351459"/>
            <a:ext cx="20653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读取 ED / TD、搬运数据</a:t>
            </a:r>
          </a:p>
        </p:txBody>
      </p:sp>
      <p:sp>
        <p:nvSpPr>
          <p:cNvPr id="21" name="text-021: 完成状态 / IRQ"/>
          <p:cNvSpPr txBox="1"/>
          <p:nvPr/>
        </p:nvSpPr>
        <p:spPr>
          <a:xfrm>
            <a:off x="7126935" y="3579043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完成状态 / IRQ</a:t>
            </a:r>
          </a:p>
        </p:txBody>
      </p:sp>
      <p:sp>
        <p:nvSpPr>
          <p:cNvPr id="22" name="E02"/>
          <p:cNvSpPr/>
          <p:nvPr/>
        </p:nvSpPr>
        <p:spPr>
          <a:xfrm>
            <a:off x="5334000" y="30581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3"/>
          <p:cNvSpPr/>
          <p:nvPr/>
        </p:nvSpPr>
        <p:spPr>
          <a:xfrm>
            <a:off x="2987040" y="5476240"/>
            <a:ext cx="2809240" cy="1066800"/>
          </a:xfrm>
          <a:prstGeom prst="roundRect">
            <a:avLst>
              <a:gd name="adj" fmla="val 5333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4"/>
          <p:cNvSpPr/>
          <p:nvPr/>
        </p:nvSpPr>
        <p:spPr>
          <a:xfrm>
            <a:off x="3008376" y="5497576"/>
            <a:ext cx="2766568" cy="298704"/>
          </a:xfrm>
          <a:prstGeom prst="roundRect">
            <a:avLst>
              <a:gd name="adj" fmla="val 11904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5  AXI DMA 适配"/>
          <p:cNvSpPr txBox="1"/>
          <p:nvPr/>
        </p:nvSpPr>
        <p:spPr>
          <a:xfrm>
            <a:off x="3525418" y="5540817"/>
            <a:ext cx="173248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AXI DMA 适配</a:t>
            </a:r>
          </a:p>
        </p:txBody>
      </p:sp>
      <p:sp>
        <p:nvSpPr>
          <p:cNvPr id="26" name="text-026: axi_dw_converter：32 → 系统"/>
          <p:cNvSpPr txBox="1"/>
          <p:nvPr/>
        </p:nvSpPr>
        <p:spPr>
          <a:xfrm>
            <a:off x="2983484" y="5783763"/>
            <a:ext cx="28163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axi_dw_converter：32 → 系统</a:t>
            </a:r>
          </a:p>
        </p:txBody>
      </p:sp>
      <p:sp>
        <p:nvSpPr>
          <p:cNvPr id="27" name="text-027: axi_modify_address"/>
          <p:cNvSpPr txBox="1"/>
          <p:nvPr/>
        </p:nvSpPr>
        <p:spPr>
          <a:xfrm>
            <a:off x="3398114" y="6011347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axi_modify_address</a:t>
            </a:r>
          </a:p>
        </p:txBody>
      </p:sp>
      <p:sp>
        <p:nvSpPr>
          <p:cNvPr id="28" name="text-028: 32-bit 地址 domain / mask"/>
          <p:cNvSpPr txBox="1"/>
          <p:nvPr/>
        </p:nvSpPr>
        <p:spPr>
          <a:xfrm>
            <a:off x="3089097" y="6238931"/>
            <a:ext cx="2605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地址 domain / mask</a:t>
            </a:r>
          </a:p>
        </p:txBody>
      </p:sp>
      <p:sp>
        <p:nvSpPr>
          <p:cNvPr id="29" name="E03"/>
          <p:cNvSpPr/>
          <p:nvPr/>
        </p:nvSpPr>
        <p:spPr>
          <a:xfrm>
            <a:off x="5796280" y="3662680"/>
            <a:ext cx="568960" cy="2311400"/>
          </a:xfrm>
          <a:custGeom>
            <a:avLst/>
            <a:gdLst/>
            <a:ahLst/>
            <a:cxnLst/>
            <a:rect l="0" t="0" r="r" b="b"/>
            <a:pathLst>
              <a:path w="568960" h="2311400" fill="none">
                <a:moveTo>
                  <a:pt x="568960" y="0"/>
                </a:moveTo>
                <a:lnTo>
                  <a:pt x="320040" y="0"/>
                </a:lnTo>
                <a:lnTo>
                  <a:pt x="320040" y="2311400"/>
                </a:lnTo>
                <a:lnTo>
                  <a:pt x="0" y="231140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E04"/>
          <p:cNvSpPr/>
          <p:nvPr/>
        </p:nvSpPr>
        <p:spPr>
          <a:xfrm>
            <a:off x="391160" y="5974080"/>
            <a:ext cx="2595880" cy="1"/>
          </a:xfrm>
          <a:custGeom>
            <a:avLst/>
            <a:gdLst/>
            <a:ahLst/>
            <a:cxnLst/>
            <a:rect l="0" t="0" r="r" b="b"/>
            <a:pathLst>
              <a:path w="2595880" h="1" fill="none">
                <a:moveTo>
                  <a:pt x="259588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AXI DMA ↔ 内存"/>
          <p:cNvSpPr txBox="1"/>
          <p:nvPr/>
        </p:nvSpPr>
        <p:spPr>
          <a:xfrm>
            <a:off x="355600" y="5527162"/>
            <a:ext cx="161122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DMA ↔ 内存</a:t>
            </a:r>
          </a:p>
        </p:txBody>
      </p:sp>
      <p:sp>
        <p:nvSpPr>
          <p:cNvPr id="32" name="rect-032"/>
          <p:cNvSpPr/>
          <p:nvPr/>
        </p:nvSpPr>
        <p:spPr>
          <a:xfrm>
            <a:off x="6720840" y="5369560"/>
            <a:ext cx="2595880" cy="1173480"/>
          </a:xfrm>
          <a:prstGeom prst="roundRect">
            <a:avLst>
              <a:gd name="adj" fmla="val 4848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3"/>
          <p:cNvSpPr/>
          <p:nvPr/>
        </p:nvSpPr>
        <p:spPr>
          <a:xfrm>
            <a:off x="6742176" y="5390896"/>
            <a:ext cx="2553208" cy="352044"/>
          </a:xfrm>
          <a:prstGeom prst="roundRect">
            <a:avLst>
              <a:gd name="adj" fmla="val 10101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3  CtrlCc"/>
          <p:cNvSpPr txBox="1"/>
          <p:nvPr/>
        </p:nvSpPr>
        <p:spPr>
          <a:xfrm>
            <a:off x="7434174" y="548747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CtrlCc</a:t>
            </a:r>
          </a:p>
        </p:txBody>
      </p:sp>
      <p:sp>
        <p:nvSpPr>
          <p:cNvPr id="35" name="text-035: 命令 / 数据 / 状态跨域"/>
          <p:cNvSpPr txBox="1"/>
          <p:nvPr/>
        </p:nvSpPr>
        <p:spPr>
          <a:xfrm>
            <a:off x="7009587" y="5730423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命令 / 数据 / 状态跨域</a:t>
            </a:r>
          </a:p>
        </p:txBody>
      </p:sp>
      <p:sp>
        <p:nvSpPr>
          <p:cNvPr id="36" name="text-036: 生成 RTL 的握手同步"/>
          <p:cNvSpPr txBox="1"/>
          <p:nvPr/>
        </p:nvSpPr>
        <p:spPr>
          <a:xfrm>
            <a:off x="7138670" y="5958007"/>
            <a:ext cx="17602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生成 RTL 的握手同步</a:t>
            </a:r>
          </a:p>
        </p:txBody>
      </p:sp>
      <p:sp>
        <p:nvSpPr>
          <p:cNvPr id="37" name="text-037: 两域分别复位"/>
          <p:cNvSpPr txBox="1"/>
          <p:nvPr/>
        </p:nvSpPr>
        <p:spPr>
          <a:xfrm>
            <a:off x="7471156" y="6185591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两域分别复位</a:t>
            </a:r>
          </a:p>
        </p:txBody>
      </p:sp>
      <p:sp>
        <p:nvSpPr>
          <p:cNvPr id="38" name="E05"/>
          <p:cNvSpPr/>
          <p:nvPr/>
        </p:nvSpPr>
        <p:spPr>
          <a:xfrm>
            <a:off x="8001000" y="3911600"/>
            <a:ext cx="1" cy="1457960"/>
          </a:xfrm>
          <a:custGeom>
            <a:avLst/>
            <a:gdLst/>
            <a:ahLst/>
            <a:cxnLst/>
            <a:rect l="0" t="0" r="r" b="b"/>
            <a:pathLst>
              <a:path w="1" h="1457960" fill="none">
                <a:moveTo>
                  <a:pt x="0" y="0"/>
                </a:moveTo>
                <a:lnTo>
                  <a:pt x="0" y="145796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9"/>
          <p:cNvSpPr/>
          <p:nvPr/>
        </p:nvSpPr>
        <p:spPr>
          <a:xfrm>
            <a:off x="10063480" y="5334000"/>
            <a:ext cx="1991360" cy="1244600"/>
          </a:xfrm>
          <a:prstGeom prst="roundRect">
            <a:avLst>
              <a:gd name="adj" fmla="val 4571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40"/>
          <p:cNvSpPr/>
          <p:nvPr/>
        </p:nvSpPr>
        <p:spPr>
          <a:xfrm>
            <a:off x="10084816" y="5355336"/>
            <a:ext cx="1948688" cy="387604"/>
          </a:xfrm>
          <a:prstGeom prst="roundRect">
            <a:avLst>
              <a:gd name="adj" fmla="val 9174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4  UsbLsFsPhy"/>
          <p:cNvSpPr txBox="1"/>
          <p:nvPr/>
        </p:nvSpPr>
        <p:spPr>
          <a:xfrm>
            <a:off x="10252659" y="5487477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UsbLsFsPhy</a:t>
            </a:r>
          </a:p>
        </p:txBody>
      </p:sp>
      <p:sp>
        <p:nvSpPr>
          <p:cNvPr id="42" name="text-042: 数字收发逻辑"/>
          <p:cNvSpPr txBox="1"/>
          <p:nvPr/>
        </p:nvSpPr>
        <p:spPr>
          <a:xfrm>
            <a:off x="10511536" y="5730423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数字收发逻辑</a:t>
            </a:r>
          </a:p>
        </p:txBody>
      </p:sp>
      <p:sp>
        <p:nvSpPr>
          <p:cNvPr id="43" name="text-043: LS / FS；4 个端口"/>
          <p:cNvSpPr txBox="1"/>
          <p:nvPr/>
        </p:nvSpPr>
        <p:spPr>
          <a:xfrm>
            <a:off x="10210343" y="595800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LS / FS；4 个端口</a:t>
            </a:r>
          </a:p>
        </p:txBody>
      </p:sp>
      <p:sp>
        <p:nvSpPr>
          <p:cNvPr id="44" name="text-044: DP / DM + OE"/>
          <p:cNvSpPr txBox="1"/>
          <p:nvPr/>
        </p:nvSpPr>
        <p:spPr>
          <a:xfrm>
            <a:off x="10370718" y="6185591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DP / DM + OE</a:t>
            </a:r>
          </a:p>
        </p:txBody>
      </p:sp>
      <p:sp>
        <p:nvSpPr>
          <p:cNvPr id="45" name="E06"/>
          <p:cNvSpPr/>
          <p:nvPr/>
        </p:nvSpPr>
        <p:spPr>
          <a:xfrm>
            <a:off x="9316720" y="597408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7"/>
          <p:cNvSpPr/>
          <p:nvPr/>
        </p:nvSpPr>
        <p:spPr>
          <a:xfrm>
            <a:off x="9281160" y="3058160"/>
            <a:ext cx="1884680" cy="1"/>
          </a:xfrm>
          <a:custGeom>
            <a:avLst/>
            <a:gdLst/>
            <a:ahLst/>
            <a:cxnLst/>
            <a:rect l="0" t="0" r="r" b="b"/>
            <a:pathLst>
              <a:path w="1884680" h="1" fill="none">
                <a:moveTo>
                  <a:pt x="0" y="0"/>
                </a:moveTo>
                <a:lnTo>
                  <a:pt x="1884680" y="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intr_o → SoC"/>
          <p:cNvSpPr txBox="1"/>
          <p:nvPr/>
        </p:nvSpPr>
        <p:spPr>
          <a:xfrm>
            <a:off x="9743440" y="2725034"/>
            <a:ext cx="149672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intr_o → SoC</a:t>
            </a:r>
          </a:p>
        </p:txBody>
      </p:sp>
      <p:sp>
        <p:nvSpPr>
          <p:cNvPr id="48" name="E08"/>
          <p:cNvSpPr/>
          <p:nvPr/>
        </p:nvSpPr>
        <p:spPr>
          <a:xfrm>
            <a:off x="11165840" y="657860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PAD / 电气 / VBUS 由平台实现"/>
          <p:cNvSpPr txBox="1"/>
          <p:nvPr/>
        </p:nvSpPr>
        <p:spPr>
          <a:xfrm>
            <a:off x="8392160" y="7525634"/>
            <a:ext cx="27971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PAD / 电气 / VBUS 由平台实现</a:t>
            </a:r>
          </a:p>
        </p:txBody>
      </p:sp>
      <p:sp>
        <p:nvSpPr>
          <p:cNvPr id="50" name="text-050: DMA 内核地址为 32-bit；系统 AXI 更宽不会自动解除这一限制。"/>
          <p:cNvSpPr txBox="1"/>
          <p:nvPr/>
        </p:nvSpPr>
        <p:spPr>
          <a:xfrm>
            <a:off x="320040" y="7219249"/>
            <a:ext cx="553029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DMA 内核地址为 32-bit；系统 AXI 更宽不会自动解除这一限制。</a:t>
            </a:r>
          </a:p>
        </p:txBody>
      </p:sp>
      <p:sp>
        <p:nvSpPr>
          <p:cNvPr id="51" name="rect-051"/>
          <p:cNvSpPr/>
          <p:nvPr/>
        </p:nvSpPr>
        <p:spPr>
          <a:xfrm>
            <a:off x="2418080" y="28376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1"/>
          <p:cNvSpPr txBox="1"/>
          <p:nvPr/>
        </p:nvSpPr>
        <p:spPr>
          <a:xfrm>
            <a:off x="2361540" y="28180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3" name="rect-053"/>
          <p:cNvSpPr/>
          <p:nvPr/>
        </p:nvSpPr>
        <p:spPr>
          <a:xfrm>
            <a:off x="5671820" y="28376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2"/>
          <p:cNvSpPr txBox="1"/>
          <p:nvPr/>
        </p:nvSpPr>
        <p:spPr>
          <a:xfrm>
            <a:off x="5615280" y="28180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5" name="rect-055"/>
          <p:cNvSpPr/>
          <p:nvPr/>
        </p:nvSpPr>
        <p:spPr>
          <a:xfrm>
            <a:off x="6180328" y="47188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3"/>
          <p:cNvSpPr txBox="1"/>
          <p:nvPr/>
        </p:nvSpPr>
        <p:spPr>
          <a:xfrm>
            <a:off x="6123788" y="46991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7" name="rect-057"/>
          <p:cNvSpPr/>
          <p:nvPr/>
        </p:nvSpPr>
        <p:spPr>
          <a:xfrm>
            <a:off x="1511300" y="60238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4"/>
          <p:cNvSpPr txBox="1"/>
          <p:nvPr/>
        </p:nvSpPr>
        <p:spPr>
          <a:xfrm>
            <a:off x="1454760" y="60042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9" name="rect-059"/>
          <p:cNvSpPr/>
          <p:nvPr/>
        </p:nvSpPr>
        <p:spPr>
          <a:xfrm>
            <a:off x="8065008" y="45410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5"/>
          <p:cNvSpPr txBox="1"/>
          <p:nvPr/>
        </p:nvSpPr>
        <p:spPr>
          <a:xfrm>
            <a:off x="8008468" y="45213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1" name="rect-061"/>
          <p:cNvSpPr/>
          <p:nvPr/>
        </p:nvSpPr>
        <p:spPr>
          <a:xfrm>
            <a:off x="951230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6"/>
          <p:cNvSpPr txBox="1"/>
          <p:nvPr/>
        </p:nvSpPr>
        <p:spPr>
          <a:xfrm>
            <a:off x="945576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3" name="rect-063"/>
          <p:cNvSpPr/>
          <p:nvPr/>
        </p:nvSpPr>
        <p:spPr>
          <a:xfrm>
            <a:off x="10045700" y="31079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7"/>
          <p:cNvSpPr txBox="1"/>
          <p:nvPr/>
        </p:nvSpPr>
        <p:spPr>
          <a:xfrm>
            <a:off x="9989160" y="30883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5" name="rect-065"/>
          <p:cNvSpPr/>
          <p:nvPr/>
        </p:nvSpPr>
        <p:spPr>
          <a:xfrm>
            <a:off x="11229848" y="69413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8"/>
          <p:cNvSpPr txBox="1"/>
          <p:nvPr/>
        </p:nvSpPr>
        <p:spPr>
          <a:xfrm>
            <a:off x="11173308" y="69216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7" name="text-067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8" name="text-068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4  iDMA：AXI 控制入口、任务前端与独立搬运后端"/>
          <p:cNvSpPr txBox="1"/>
          <p:nvPr/>
        </p:nvSpPr>
        <p:spPr>
          <a:xfrm>
            <a:off x="284480" y="1347297"/>
            <a:ext cx="5871667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14  iDMA：AXI 控制入口、任务前端与独立搬运后端</a:t>
            </a:r>
          </a:p>
        </p:txBody>
      </p:sp>
      <p:sp>
        <p:nvSpPr>
          <p:cNvPr id="3" name="rect-003"/>
          <p:cNvSpPr/>
          <p:nvPr/>
        </p:nvSpPr>
        <p:spPr>
          <a:xfrm>
            <a:off x="248920" y="2560320"/>
            <a:ext cx="1955800" cy="1173480"/>
          </a:xfrm>
          <a:prstGeom prst="roundRect">
            <a:avLst>
              <a:gd name="adj" fmla="val 4848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270256" y="2581656"/>
            <a:ext cx="1913128" cy="352044"/>
          </a:xfrm>
          <a:prstGeom prst="roundRect">
            <a:avLst>
              <a:gd name="adj" fmla="val 10101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XI slave 控制口"/>
          <p:cNvSpPr txBox="1"/>
          <p:nvPr/>
        </p:nvSpPr>
        <p:spPr>
          <a:xfrm>
            <a:off x="330708" y="2678237"/>
            <a:ext cx="17922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AXI slave 控制口</a:t>
            </a:r>
          </a:p>
        </p:txBody>
      </p:sp>
      <p:sp>
        <p:nvSpPr>
          <p:cNvPr id="6" name="text-006: AxiOut.dma"/>
          <p:cNvSpPr txBox="1"/>
          <p:nvPr/>
        </p:nvSpPr>
        <p:spPr>
          <a:xfrm>
            <a:off x="640080" y="2921183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AxiOut.dma</a:t>
            </a:r>
          </a:p>
        </p:txBody>
      </p:sp>
      <p:sp>
        <p:nvSpPr>
          <p:cNvPr id="7" name="text-007: atomics / cut"/>
          <p:cNvSpPr txBox="1"/>
          <p:nvPr/>
        </p:nvSpPr>
        <p:spPr>
          <a:xfrm>
            <a:off x="487528" y="314876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atomics / cut</a:t>
            </a:r>
          </a:p>
        </p:txBody>
      </p:sp>
      <p:sp>
        <p:nvSpPr>
          <p:cNvPr id="8" name="text-008: CPU 发起配置访问"/>
          <p:cNvSpPr txBox="1"/>
          <p:nvPr/>
        </p:nvSpPr>
        <p:spPr>
          <a:xfrm>
            <a:off x="475793" y="3376351"/>
            <a:ext cx="15020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发起配置访问</a:t>
            </a:r>
          </a:p>
        </p:txBody>
      </p:sp>
      <p:sp>
        <p:nvSpPr>
          <p:cNvPr id="9" name="rect-009"/>
          <p:cNvSpPr/>
          <p:nvPr/>
        </p:nvSpPr>
        <p:spPr>
          <a:xfrm>
            <a:off x="2987040" y="2560320"/>
            <a:ext cx="2275840" cy="1173480"/>
          </a:xfrm>
          <a:prstGeom prst="roundRect">
            <a:avLst>
              <a:gd name="adj" fmla="val 4848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-010"/>
          <p:cNvSpPr/>
          <p:nvPr/>
        </p:nvSpPr>
        <p:spPr>
          <a:xfrm>
            <a:off x="3008376" y="2581656"/>
            <a:ext cx="2233168" cy="352044"/>
          </a:xfrm>
          <a:prstGeom prst="roundRect">
            <a:avLst>
              <a:gd name="adj" fmla="val 10101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1  axi_to_reg"/>
          <p:cNvSpPr txBox="1"/>
          <p:nvPr/>
        </p:nvSpPr>
        <p:spPr>
          <a:xfrm>
            <a:off x="3318459" y="2678237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axi_to_reg</a:t>
            </a:r>
          </a:p>
        </p:txBody>
      </p:sp>
      <p:sp>
        <p:nvSpPr>
          <p:cNvPr id="12" name="text-012: i_axi_translate"/>
          <p:cNvSpPr txBox="1"/>
          <p:nvPr/>
        </p:nvSpPr>
        <p:spPr>
          <a:xfrm>
            <a:off x="3283966" y="2921183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i_axi_translate</a:t>
            </a:r>
          </a:p>
        </p:txBody>
      </p:sp>
      <p:sp>
        <p:nvSpPr>
          <p:cNvPr id="13" name="text-013: 内部 Reg 数据宽度"/>
          <p:cNvSpPr txBox="1"/>
          <p:nvPr/>
        </p:nvSpPr>
        <p:spPr>
          <a:xfrm>
            <a:off x="3323082" y="3148767"/>
            <a:ext cx="16037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内部 Reg 数据宽度</a:t>
            </a:r>
          </a:p>
        </p:txBody>
      </p:sp>
      <p:sp>
        <p:nvSpPr>
          <p:cNvPr id="14" name="text-014: 随 AxiDataWidth"/>
          <p:cNvSpPr txBox="1"/>
          <p:nvPr/>
        </p:nvSpPr>
        <p:spPr>
          <a:xfrm>
            <a:off x="3307436" y="3376351"/>
            <a:ext cx="16350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随 AxiDataWidth</a:t>
            </a:r>
          </a:p>
        </p:txBody>
      </p:sp>
      <p:sp>
        <p:nvSpPr>
          <p:cNvPr id="15" name="E01"/>
          <p:cNvSpPr/>
          <p:nvPr/>
        </p:nvSpPr>
        <p:spPr>
          <a:xfrm>
            <a:off x="2204720" y="316484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6"/>
          <p:cNvSpPr/>
          <p:nvPr/>
        </p:nvSpPr>
        <p:spPr>
          <a:xfrm>
            <a:off x="6045200" y="2489200"/>
            <a:ext cx="2880360" cy="1351280"/>
          </a:xfrm>
          <a:prstGeom prst="roundRect">
            <a:avLst>
              <a:gd name="adj" fmla="val 4210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6066536" y="2510536"/>
            <a:ext cx="2837688" cy="327152"/>
          </a:xfrm>
          <a:prstGeom prst="roundRect">
            <a:avLst>
              <a:gd name="adj" fmla="val 10869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2  idma_reg64_1d / 2d"/>
          <p:cNvSpPr txBox="1"/>
          <p:nvPr/>
        </p:nvSpPr>
        <p:spPr>
          <a:xfrm>
            <a:off x="6235090" y="2582225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idma_reg64_1d / 2d</a:t>
            </a:r>
          </a:p>
        </p:txBody>
      </p:sp>
      <p:sp>
        <p:nvSpPr>
          <p:cNvPr id="19" name="text-019: SRC / DST / LENGTH"/>
          <p:cNvSpPr txBox="1"/>
          <p:nvPr/>
        </p:nvSpPr>
        <p:spPr>
          <a:xfrm>
            <a:off x="6491834" y="2825171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SRC / DST / LENGTH</a:t>
            </a:r>
          </a:p>
        </p:txBody>
      </p:sp>
      <p:sp>
        <p:nvSpPr>
          <p:cNvPr id="20" name="text-020: STRIDE / REPS（2D）"/>
          <p:cNvSpPr txBox="1"/>
          <p:nvPr/>
        </p:nvSpPr>
        <p:spPr>
          <a:xfrm>
            <a:off x="6487922" y="3052755"/>
            <a:ext cx="199491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STRIDE / REPS（2D）</a:t>
            </a:r>
          </a:p>
        </p:txBody>
      </p:sp>
      <p:sp>
        <p:nvSpPr>
          <p:cNvPr id="21" name="text-021: NEXT_ID / DONE_ID"/>
          <p:cNvSpPr txBox="1"/>
          <p:nvPr/>
        </p:nvSpPr>
        <p:spPr>
          <a:xfrm>
            <a:off x="6542684" y="3280339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NEXT_ID / DONE_ID</a:t>
            </a:r>
          </a:p>
        </p:txBody>
      </p:sp>
      <p:sp>
        <p:nvSpPr>
          <p:cNvPr id="22" name="text-022: 访问触发任务提交"/>
          <p:cNvSpPr txBox="1"/>
          <p:nvPr/>
        </p:nvSpPr>
        <p:spPr>
          <a:xfrm>
            <a:off x="6781292" y="3507923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访问触发任务提交</a:t>
            </a:r>
          </a:p>
        </p:txBody>
      </p:sp>
      <p:sp>
        <p:nvSpPr>
          <p:cNvPr id="23" name="E02"/>
          <p:cNvSpPr/>
          <p:nvPr/>
        </p:nvSpPr>
        <p:spPr>
          <a:xfrm>
            <a:off x="5262880" y="316484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4"/>
          <p:cNvSpPr/>
          <p:nvPr/>
        </p:nvSpPr>
        <p:spPr>
          <a:xfrm>
            <a:off x="9885680" y="2489200"/>
            <a:ext cx="2595880" cy="1351280"/>
          </a:xfrm>
          <a:prstGeom prst="roundRect">
            <a:avLst>
              <a:gd name="adj" fmla="val 4210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5"/>
          <p:cNvSpPr/>
          <p:nvPr/>
        </p:nvSpPr>
        <p:spPr>
          <a:xfrm>
            <a:off x="9907016" y="2510536"/>
            <a:ext cx="2553208" cy="440944"/>
          </a:xfrm>
          <a:prstGeom prst="roundRect">
            <a:avLst>
              <a:gd name="adj" fmla="val 8064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6"/>
          <p:cNvSpPr/>
          <p:nvPr/>
        </p:nvSpPr>
        <p:spPr>
          <a:xfrm>
            <a:off x="9971024" y="2489200"/>
            <a:ext cx="1" cy="1351280"/>
          </a:xfrm>
          <a:custGeom>
            <a:avLst/>
            <a:gdLst/>
            <a:ahLst/>
            <a:cxnLst/>
            <a:rect l="0" t="0" r="r" b="b"/>
            <a:pathLst>
              <a:path w="1" h="1351280" fill="none">
                <a:moveTo>
                  <a:pt x="0" y="0"/>
                </a:moveTo>
                <a:lnTo>
                  <a:pt x="0" y="13512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3  Job FIFO + midend"/>
          <p:cNvSpPr txBox="1"/>
          <p:nvPr/>
        </p:nvSpPr>
        <p:spPr>
          <a:xfrm>
            <a:off x="9988804" y="2696017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Job FIFO + midend</a:t>
            </a:r>
          </a:p>
        </p:txBody>
      </p:sp>
      <p:sp>
        <p:nvSpPr>
          <p:cNvPr id="28" name="text-028: 入口握手 issue ID"/>
          <p:cNvSpPr txBox="1"/>
          <p:nvPr/>
        </p:nvSpPr>
        <p:spPr>
          <a:xfrm>
            <a:off x="10334803" y="2938963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入口握手 issue ID</a:t>
            </a:r>
          </a:p>
        </p:txBody>
      </p:sp>
      <p:sp>
        <p:nvSpPr>
          <p:cNvPr id="29" name="text-029: 2D：展开并汇总完成"/>
          <p:cNvSpPr txBox="1"/>
          <p:nvPr/>
        </p:nvSpPr>
        <p:spPr>
          <a:xfrm>
            <a:off x="10377830" y="3166547"/>
            <a:ext cx="161157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2D：展开并汇总完成</a:t>
            </a:r>
          </a:p>
        </p:txBody>
      </p:sp>
      <p:sp>
        <p:nvSpPr>
          <p:cNvPr id="30" name="text-030: 1D：不生成 midend"/>
          <p:cNvSpPr txBox="1"/>
          <p:nvPr/>
        </p:nvSpPr>
        <p:spPr>
          <a:xfrm>
            <a:off x="10334803" y="3394131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1D：不生成 midend</a:t>
            </a:r>
          </a:p>
        </p:txBody>
      </p:sp>
      <p:sp>
        <p:nvSpPr>
          <p:cNvPr id="31" name="E03"/>
          <p:cNvSpPr/>
          <p:nvPr/>
        </p:nvSpPr>
        <p:spPr>
          <a:xfrm>
            <a:off x="8925560" y="316484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2"/>
          <p:cNvSpPr/>
          <p:nvPr/>
        </p:nvSpPr>
        <p:spPr>
          <a:xfrm>
            <a:off x="7076440" y="5334000"/>
            <a:ext cx="4231640" cy="1493520"/>
          </a:xfrm>
          <a:prstGeom prst="roundRect">
            <a:avLst>
              <a:gd name="adj" fmla="val 3809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3"/>
          <p:cNvSpPr/>
          <p:nvPr/>
        </p:nvSpPr>
        <p:spPr>
          <a:xfrm>
            <a:off x="7097776" y="5355336"/>
            <a:ext cx="4188968" cy="398272"/>
          </a:xfrm>
          <a:prstGeom prst="roundRect">
            <a:avLst>
              <a:gd name="adj" fmla="val 8928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4  idma_backend_rw_axi"/>
          <p:cNvSpPr txBox="1"/>
          <p:nvPr/>
        </p:nvSpPr>
        <p:spPr>
          <a:xfrm>
            <a:off x="7886497" y="5498145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idma_backend_rw_axi</a:t>
            </a:r>
          </a:p>
        </p:txBody>
      </p:sp>
      <p:sp>
        <p:nvSpPr>
          <p:cNvPr id="35" name="text-035: legalizer：长度 / 地址 / burst 合法化"/>
          <p:cNvSpPr txBox="1"/>
          <p:nvPr/>
        </p:nvSpPr>
        <p:spPr>
          <a:xfrm>
            <a:off x="7420305" y="5741091"/>
            <a:ext cx="354391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legalizer：长度 / 地址 / burst 合法化</a:t>
            </a:r>
          </a:p>
        </p:txBody>
      </p:sp>
      <p:sp>
        <p:nvSpPr>
          <p:cNvPr id="36" name="text-036: transport：读数据、移位 / 缓冲、写数据"/>
          <p:cNvSpPr txBox="1"/>
          <p:nvPr/>
        </p:nvSpPr>
        <p:spPr>
          <a:xfrm>
            <a:off x="7486802" y="5968675"/>
            <a:ext cx="341091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transport：读数据、移位 / 缓冲、写数据</a:t>
            </a:r>
          </a:p>
        </p:txBody>
      </p:sp>
      <p:sp>
        <p:nvSpPr>
          <p:cNvPr id="37" name="text-037: 独立 AXI read / write 通道"/>
          <p:cNvSpPr txBox="1"/>
          <p:nvPr/>
        </p:nvSpPr>
        <p:spPr>
          <a:xfrm>
            <a:off x="7885786" y="6196259"/>
            <a:ext cx="26129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独立 AXI read / write 通道</a:t>
            </a:r>
          </a:p>
        </p:txBody>
      </p:sp>
      <p:sp>
        <p:nvSpPr>
          <p:cNvPr id="38" name="text-038: 当前 ErrorCap = NO_ERROR_HANDLING"/>
          <p:cNvSpPr txBox="1"/>
          <p:nvPr/>
        </p:nvSpPr>
        <p:spPr>
          <a:xfrm>
            <a:off x="7482891" y="6423843"/>
            <a:ext cx="34187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ErrorCap = NO_ERROR_HANDLING</a:t>
            </a:r>
          </a:p>
        </p:txBody>
      </p:sp>
      <p:sp>
        <p:nvSpPr>
          <p:cNvPr id="39" name="E04"/>
          <p:cNvSpPr/>
          <p:nvPr/>
        </p:nvSpPr>
        <p:spPr>
          <a:xfrm>
            <a:off x="11165840" y="3840480"/>
            <a:ext cx="1" cy="1493520"/>
          </a:xfrm>
          <a:custGeom>
            <a:avLst/>
            <a:gdLst/>
            <a:ahLst/>
            <a:cxnLst/>
            <a:rect l="0" t="0" r="r" b="b"/>
            <a:pathLst>
              <a:path w="1" h="1493520" fill="none">
                <a:moveTo>
                  <a:pt x="0" y="0"/>
                </a:moveTo>
                <a:lnTo>
                  <a:pt x="0" y="149352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40"/>
          <p:cNvSpPr/>
          <p:nvPr/>
        </p:nvSpPr>
        <p:spPr>
          <a:xfrm>
            <a:off x="2987040" y="5582920"/>
            <a:ext cx="2809240" cy="960120"/>
          </a:xfrm>
          <a:prstGeom prst="roundRect">
            <a:avLst>
              <a:gd name="adj" fmla="val 592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3008376" y="5604256"/>
            <a:ext cx="2766568" cy="359156"/>
          </a:xfrm>
          <a:prstGeom prst="roundRect">
            <a:avLst>
              <a:gd name="adj" fmla="val 9900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5  axi_rw_join"/>
          <p:cNvSpPr txBox="1"/>
          <p:nvPr/>
        </p:nvSpPr>
        <p:spPr>
          <a:xfrm>
            <a:off x="3529686" y="5707949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axi_rw_join</a:t>
            </a:r>
          </a:p>
        </p:txBody>
      </p:sp>
      <p:sp>
        <p:nvSpPr>
          <p:cNvPr id="43" name="text-043: 合并 AXI 读写端口"/>
          <p:cNvSpPr txBox="1"/>
          <p:nvPr/>
        </p:nvSpPr>
        <p:spPr>
          <a:xfrm>
            <a:off x="3589782" y="5950895"/>
            <a:ext cx="16037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合并 AXI 读写端口</a:t>
            </a:r>
          </a:p>
        </p:txBody>
      </p:sp>
      <p:sp>
        <p:nvSpPr>
          <p:cNvPr id="44" name="text-044: AXI master → AxiIn.dma"/>
          <p:cNvSpPr txBox="1"/>
          <p:nvPr/>
        </p:nvSpPr>
        <p:spPr>
          <a:xfrm>
            <a:off x="3167329" y="6178479"/>
            <a:ext cx="24486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master → AxiIn.dma</a:t>
            </a:r>
          </a:p>
        </p:txBody>
      </p:sp>
      <p:sp>
        <p:nvSpPr>
          <p:cNvPr id="45" name="E05"/>
          <p:cNvSpPr/>
          <p:nvPr/>
        </p:nvSpPr>
        <p:spPr>
          <a:xfrm>
            <a:off x="5796280" y="5974080"/>
            <a:ext cx="1280160" cy="1"/>
          </a:xfrm>
          <a:custGeom>
            <a:avLst/>
            <a:gdLst/>
            <a:ahLst/>
            <a:cxnLst/>
            <a:rect l="0" t="0" r="r" b="b"/>
            <a:pathLst>
              <a:path w="1280160" h="1" fill="none">
                <a:moveTo>
                  <a:pt x="128016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6"/>
          <p:cNvSpPr/>
          <p:nvPr/>
        </p:nvSpPr>
        <p:spPr>
          <a:xfrm>
            <a:off x="391160" y="6045200"/>
            <a:ext cx="2595880" cy="1"/>
          </a:xfrm>
          <a:custGeom>
            <a:avLst/>
            <a:gdLst/>
            <a:ahLst/>
            <a:cxnLst/>
            <a:rect l="0" t="0" r="r" b="b"/>
            <a:pathLst>
              <a:path w="2595880" h="1" fill="none">
                <a:moveTo>
                  <a:pt x="259588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AXI ↔ SRC / DST 内存"/>
          <p:cNvSpPr txBox="1"/>
          <p:nvPr/>
        </p:nvSpPr>
        <p:spPr>
          <a:xfrm>
            <a:off x="355600" y="5598282"/>
            <a:ext cx="22491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↔ SRC / DST 内存</a:t>
            </a:r>
          </a:p>
        </p:txBody>
      </p:sp>
      <p:sp>
        <p:nvSpPr>
          <p:cNvPr id="48" name="rect-048"/>
          <p:cNvSpPr/>
          <p:nvPr/>
        </p:nvSpPr>
        <p:spPr>
          <a:xfrm>
            <a:off x="3235960" y="4231640"/>
            <a:ext cx="2418080" cy="782320"/>
          </a:xfrm>
          <a:prstGeom prst="roundRect">
            <a:avLst>
              <a:gd name="adj" fmla="val 7272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9"/>
          <p:cNvSpPr/>
          <p:nvPr/>
        </p:nvSpPr>
        <p:spPr>
          <a:xfrm>
            <a:off x="3257296" y="4252976"/>
            <a:ext cx="2375408" cy="384048"/>
          </a:xfrm>
          <a:prstGeom prst="roundRect">
            <a:avLst>
              <a:gd name="adj" fmla="val 9259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6  transfer_id_gen"/>
          <p:cNvSpPr txBox="1"/>
          <p:nvPr/>
        </p:nvSpPr>
        <p:spPr>
          <a:xfrm>
            <a:off x="3361131" y="4381561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6  transfer_id_gen</a:t>
            </a:r>
          </a:p>
        </p:txBody>
      </p:sp>
      <p:sp>
        <p:nvSpPr>
          <p:cNvPr id="51" name="text-051: issue / retire → ID"/>
          <p:cNvSpPr txBox="1"/>
          <p:nvPr/>
        </p:nvSpPr>
        <p:spPr>
          <a:xfrm>
            <a:off x="3373222" y="4624507"/>
            <a:ext cx="214355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issue / retire → ID</a:t>
            </a:r>
          </a:p>
        </p:txBody>
      </p:sp>
      <p:sp>
        <p:nvSpPr>
          <p:cNvPr id="52" name="E07"/>
          <p:cNvSpPr/>
          <p:nvPr/>
        </p:nvSpPr>
        <p:spPr>
          <a:xfrm>
            <a:off x="5654040" y="3484880"/>
            <a:ext cx="4231640" cy="1102360"/>
          </a:xfrm>
          <a:custGeom>
            <a:avLst/>
            <a:gdLst/>
            <a:ahLst/>
            <a:cxnLst/>
            <a:rect l="0" t="0" r="r" b="b"/>
            <a:pathLst>
              <a:path w="4231640" h="1102360" fill="none">
                <a:moveTo>
                  <a:pt x="4231640" y="0"/>
                </a:moveTo>
                <a:lnTo>
                  <a:pt x="3804920" y="0"/>
                </a:lnTo>
                <a:lnTo>
                  <a:pt x="3804920" y="1102360"/>
                </a:lnTo>
                <a:lnTo>
                  <a:pt x="0" y="110236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08"/>
          <p:cNvSpPr/>
          <p:nvPr/>
        </p:nvSpPr>
        <p:spPr>
          <a:xfrm>
            <a:off x="5654040" y="3840480"/>
            <a:ext cx="4800600" cy="1173480"/>
          </a:xfrm>
          <a:custGeom>
            <a:avLst/>
            <a:gdLst/>
            <a:ahLst/>
            <a:cxnLst/>
            <a:rect l="0" t="0" r="r" b="b"/>
            <a:pathLst>
              <a:path w="4800600" h="1173480" fill="none">
                <a:moveTo>
                  <a:pt x="4800600" y="0"/>
                </a:moveTo>
                <a:lnTo>
                  <a:pt x="4800600" y="1173480"/>
                </a:lnTo>
                <a:lnTo>
                  <a:pt x="0" y="1173480"/>
                </a:lnTo>
                <a:lnTo>
                  <a:pt x="0" y="99568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E09"/>
          <p:cNvSpPr/>
          <p:nvPr/>
        </p:nvSpPr>
        <p:spPr>
          <a:xfrm>
            <a:off x="4445000" y="3840480"/>
            <a:ext cx="2453640" cy="391160"/>
          </a:xfrm>
          <a:custGeom>
            <a:avLst/>
            <a:gdLst/>
            <a:ahLst/>
            <a:cxnLst/>
            <a:rect l="0" t="0" r="r" b="b"/>
            <a:pathLst>
              <a:path w="2453640" h="391160" fill="none">
                <a:moveTo>
                  <a:pt x="0" y="391160"/>
                </a:moveTo>
                <a:lnTo>
                  <a:pt x="0" y="213360"/>
                </a:lnTo>
                <a:lnTo>
                  <a:pt x="2453640" y="213360"/>
                </a:lnTo>
                <a:lnTo>
                  <a:pt x="245364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既有控制宽度缺口未关闭；wrapper 未导出任务完成 IRQ；总线错误 IRQ"/>
          <p:cNvSpPr txBox="1"/>
          <p:nvPr/>
        </p:nvSpPr>
        <p:spPr>
          <a:xfrm>
            <a:off x="320040" y="7212137"/>
            <a:ext cx="70067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既有控制宽度缺口未关闭；wrapper 未导出任务完成 IRQ；总线错误 IRQ 是另一路。</a:t>
            </a:r>
          </a:p>
        </p:txBody>
      </p:sp>
      <p:sp>
        <p:nvSpPr>
          <p:cNvPr id="56" name="rect-056"/>
          <p:cNvSpPr/>
          <p:nvPr/>
        </p:nvSpPr>
        <p:spPr>
          <a:xfrm>
            <a:off x="241808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1"/>
          <p:cNvSpPr txBox="1"/>
          <p:nvPr/>
        </p:nvSpPr>
        <p:spPr>
          <a:xfrm>
            <a:off x="236154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8" name="rect-058"/>
          <p:cNvSpPr/>
          <p:nvPr/>
        </p:nvSpPr>
        <p:spPr>
          <a:xfrm>
            <a:off x="547624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2"/>
          <p:cNvSpPr txBox="1"/>
          <p:nvPr/>
        </p:nvSpPr>
        <p:spPr>
          <a:xfrm>
            <a:off x="541970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0" name="rect-060"/>
          <p:cNvSpPr/>
          <p:nvPr/>
        </p:nvSpPr>
        <p:spPr>
          <a:xfrm>
            <a:off x="922782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3"/>
          <p:cNvSpPr txBox="1"/>
          <p:nvPr/>
        </p:nvSpPr>
        <p:spPr>
          <a:xfrm>
            <a:off x="917128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2" name="rect-062"/>
          <p:cNvSpPr/>
          <p:nvPr/>
        </p:nvSpPr>
        <p:spPr>
          <a:xfrm>
            <a:off x="11229848" y="44876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4"/>
          <p:cNvSpPr txBox="1"/>
          <p:nvPr/>
        </p:nvSpPr>
        <p:spPr>
          <a:xfrm>
            <a:off x="11173308" y="44680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4" name="rect-064"/>
          <p:cNvSpPr/>
          <p:nvPr/>
        </p:nvSpPr>
        <p:spPr>
          <a:xfrm>
            <a:off x="625856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5"/>
          <p:cNvSpPr txBox="1"/>
          <p:nvPr/>
        </p:nvSpPr>
        <p:spPr>
          <a:xfrm>
            <a:off x="620202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6" name="rect-066"/>
          <p:cNvSpPr/>
          <p:nvPr/>
        </p:nvSpPr>
        <p:spPr>
          <a:xfrm>
            <a:off x="1511300" y="60949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6"/>
          <p:cNvSpPr txBox="1"/>
          <p:nvPr/>
        </p:nvSpPr>
        <p:spPr>
          <a:xfrm>
            <a:off x="1454760" y="60753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8" name="rect-068"/>
          <p:cNvSpPr/>
          <p:nvPr/>
        </p:nvSpPr>
        <p:spPr>
          <a:xfrm>
            <a:off x="7378700" y="43667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7"/>
          <p:cNvSpPr txBox="1"/>
          <p:nvPr/>
        </p:nvSpPr>
        <p:spPr>
          <a:xfrm>
            <a:off x="7322160" y="43471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0" name="rect-070"/>
          <p:cNvSpPr/>
          <p:nvPr/>
        </p:nvSpPr>
        <p:spPr>
          <a:xfrm>
            <a:off x="7876540" y="4793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8"/>
          <p:cNvSpPr txBox="1"/>
          <p:nvPr/>
        </p:nvSpPr>
        <p:spPr>
          <a:xfrm>
            <a:off x="7820000" y="4773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2" name="rect-072"/>
          <p:cNvSpPr/>
          <p:nvPr/>
        </p:nvSpPr>
        <p:spPr>
          <a:xfrm>
            <a:off x="5494020" y="3833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9"/>
          <p:cNvSpPr txBox="1"/>
          <p:nvPr/>
        </p:nvSpPr>
        <p:spPr>
          <a:xfrm>
            <a:off x="5437480" y="3813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4" name="text-074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5" name="text-075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5  CVA6 Trap：异步中断与同步异常在提交路径汇合"/>
          <p:cNvSpPr txBox="1"/>
          <p:nvPr/>
        </p:nvSpPr>
        <p:spPr>
          <a:xfrm>
            <a:off x="284480" y="1347297"/>
            <a:ext cx="6019597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15  CVA6 Trap：异步中断与同步异常在提交路径汇合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418080"/>
            <a:ext cx="2346960" cy="1280160"/>
          </a:xfrm>
          <a:prstGeom prst="roundRect">
            <a:avLst>
              <a:gd name="adj" fmla="val 4444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305816" y="2439416"/>
            <a:ext cx="2304288" cy="405384"/>
          </a:xfrm>
          <a:prstGeom prst="roundRect">
            <a:avLst>
              <a:gd name="adj" fmla="val 8771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1  平台中断输入"/>
          <p:cNvSpPr txBox="1"/>
          <p:nvPr/>
        </p:nvSpPr>
        <p:spPr>
          <a:xfrm>
            <a:off x="694131" y="2589337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平台中断输入</a:t>
            </a:r>
          </a:p>
        </p:txBody>
      </p:sp>
      <p:sp>
        <p:nvSpPr>
          <p:cNvPr id="6" name="text-006: PLIC：irq_i（M / S）"/>
          <p:cNvSpPr txBox="1"/>
          <p:nvPr/>
        </p:nvSpPr>
        <p:spPr>
          <a:xfrm>
            <a:off x="433121" y="2832283"/>
            <a:ext cx="20496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PLIC：irq_i（M / S）</a:t>
            </a:r>
          </a:p>
        </p:txBody>
      </p:sp>
      <p:sp>
        <p:nvSpPr>
          <p:cNvPr id="7" name="text-007: CLINT：time_irq_i / ipi_i"/>
          <p:cNvSpPr txBox="1"/>
          <p:nvPr/>
        </p:nvSpPr>
        <p:spPr>
          <a:xfrm>
            <a:off x="131928" y="3059867"/>
            <a:ext cx="265206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CLINT：time_irq_i / ipi_i</a:t>
            </a:r>
          </a:p>
        </p:txBody>
      </p:sp>
      <p:sp>
        <p:nvSpPr>
          <p:cNvPr id="8" name="text-008: 可选 CLIC 握手"/>
          <p:cNvSpPr txBox="1"/>
          <p:nvPr/>
        </p:nvSpPr>
        <p:spPr>
          <a:xfrm>
            <a:off x="761695" y="3287451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 CLIC 握手</a:t>
            </a:r>
          </a:p>
        </p:txBody>
      </p:sp>
      <p:sp>
        <p:nvSpPr>
          <p:cNvPr id="9" name="rect-009"/>
          <p:cNvSpPr/>
          <p:nvPr/>
        </p:nvSpPr>
        <p:spPr>
          <a:xfrm>
            <a:off x="3413760" y="2346960"/>
            <a:ext cx="2809240" cy="1422400"/>
          </a:xfrm>
          <a:prstGeom prst="roundRect">
            <a:avLst>
              <a:gd name="adj" fmla="val 4000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-010"/>
          <p:cNvSpPr/>
          <p:nvPr/>
        </p:nvSpPr>
        <p:spPr>
          <a:xfrm>
            <a:off x="3435096" y="2368296"/>
            <a:ext cx="2766568" cy="362712"/>
          </a:xfrm>
          <a:prstGeom prst="roundRect">
            <a:avLst>
              <a:gd name="adj" fmla="val 9803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2  csr_regfile"/>
          <p:cNvSpPr txBox="1"/>
          <p:nvPr/>
        </p:nvSpPr>
        <p:spPr>
          <a:xfrm>
            <a:off x="3956406" y="2475545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csr_regfile</a:t>
            </a:r>
          </a:p>
        </p:txBody>
      </p:sp>
      <p:sp>
        <p:nvSpPr>
          <p:cNvPr id="12" name="text-012: pending / enable / 委托"/>
          <p:cNvSpPr txBox="1"/>
          <p:nvPr/>
        </p:nvSpPr>
        <p:spPr>
          <a:xfrm>
            <a:off x="3617519" y="2718491"/>
            <a:ext cx="24017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 / 委托</a:t>
            </a:r>
          </a:p>
        </p:txBody>
      </p:sp>
      <p:sp>
        <p:nvSpPr>
          <p:cNvPr id="13" name="text-013: mip / mie / mstatus …"/>
          <p:cNvSpPr txBox="1"/>
          <p:nvPr/>
        </p:nvSpPr>
        <p:spPr>
          <a:xfrm>
            <a:off x="3644900" y="2946075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mip / mie / mstatus …</a:t>
            </a:r>
          </a:p>
        </p:txBody>
      </p:sp>
      <p:sp>
        <p:nvSpPr>
          <p:cNvPr id="14" name="text-014: trap 状态：epc / cause / tval"/>
          <p:cNvSpPr txBox="1"/>
          <p:nvPr/>
        </p:nvSpPr>
        <p:spPr>
          <a:xfrm>
            <a:off x="3335884" y="3173659"/>
            <a:ext cx="29649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 状态：epc / cause / tval</a:t>
            </a:r>
          </a:p>
        </p:txBody>
      </p:sp>
      <p:sp>
        <p:nvSpPr>
          <p:cNvPr id="15" name="text-015: trap_vector_base / eret"/>
          <p:cNvSpPr txBox="1"/>
          <p:nvPr/>
        </p:nvSpPr>
        <p:spPr>
          <a:xfrm>
            <a:off x="3570580" y="3401243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trap_vector_base / eret</a:t>
            </a:r>
          </a:p>
        </p:txBody>
      </p:sp>
      <p:sp>
        <p:nvSpPr>
          <p:cNvPr id="16" name="E01"/>
          <p:cNvSpPr/>
          <p:nvPr/>
        </p:nvSpPr>
        <p:spPr>
          <a:xfrm>
            <a:off x="2631440" y="298704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7325360" y="2346960"/>
            <a:ext cx="2489200" cy="1422400"/>
          </a:xfrm>
          <a:prstGeom prst="roundRect">
            <a:avLst>
              <a:gd name="adj" fmla="val 4000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8"/>
          <p:cNvSpPr/>
          <p:nvPr/>
        </p:nvSpPr>
        <p:spPr>
          <a:xfrm>
            <a:off x="7346696" y="2368296"/>
            <a:ext cx="2446528" cy="362712"/>
          </a:xfrm>
          <a:prstGeom prst="roundRect">
            <a:avLst>
              <a:gd name="adj" fmla="val 9803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3  decoder / id_stage"/>
          <p:cNvSpPr txBox="1"/>
          <p:nvPr/>
        </p:nvSpPr>
        <p:spPr>
          <a:xfrm>
            <a:off x="7319670" y="2475545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decoder / id_stage</a:t>
            </a:r>
          </a:p>
        </p:txBody>
      </p:sp>
      <p:sp>
        <p:nvSpPr>
          <p:cNvPr id="20" name="text-020: 结合特权级与 IRQ 控制"/>
          <p:cNvSpPr txBox="1"/>
          <p:nvPr/>
        </p:nvSpPr>
        <p:spPr>
          <a:xfrm>
            <a:off x="7611618" y="2718491"/>
            <a:ext cx="19166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结合特权级与 IRQ 控制</a:t>
            </a:r>
          </a:p>
        </p:txBody>
      </p:sp>
      <p:sp>
        <p:nvSpPr>
          <p:cNvPr id="21" name="text-021: 选出可接受的中断"/>
          <p:cNvSpPr txBox="1"/>
          <p:nvPr/>
        </p:nvSpPr>
        <p:spPr>
          <a:xfrm>
            <a:off x="7865872" y="2946075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选出可接受的中断</a:t>
            </a:r>
          </a:p>
        </p:txBody>
      </p:sp>
      <p:sp>
        <p:nvSpPr>
          <p:cNvPr id="22" name="text-022: 或生成译码异常"/>
          <p:cNvSpPr txBox="1"/>
          <p:nvPr/>
        </p:nvSpPr>
        <p:spPr>
          <a:xfrm>
            <a:off x="7944104" y="3173659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或生成译码异常</a:t>
            </a:r>
          </a:p>
        </p:txBody>
      </p:sp>
      <p:sp>
        <p:nvSpPr>
          <p:cNvPr id="23" name="text-023: 写入指令的 ex 信息"/>
          <p:cNvSpPr txBox="1"/>
          <p:nvPr/>
        </p:nvSpPr>
        <p:spPr>
          <a:xfrm>
            <a:off x="7740701" y="3401243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写入指令的 ex 信息</a:t>
            </a:r>
          </a:p>
        </p:txBody>
      </p:sp>
      <p:sp>
        <p:nvSpPr>
          <p:cNvPr id="24" name="E02"/>
          <p:cNvSpPr/>
          <p:nvPr/>
        </p:nvSpPr>
        <p:spPr>
          <a:xfrm>
            <a:off x="6223000" y="2987040"/>
            <a:ext cx="1102360" cy="1"/>
          </a:xfrm>
          <a:custGeom>
            <a:avLst/>
            <a:gdLst/>
            <a:ahLst/>
            <a:cxnLst/>
            <a:rect l="0" t="0" r="r" b="b"/>
            <a:pathLst>
              <a:path w="1102360" h="1" fill="none">
                <a:moveTo>
                  <a:pt x="0" y="0"/>
                </a:moveTo>
                <a:lnTo>
                  <a:pt x="1102360" y="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5"/>
          <p:cNvSpPr/>
          <p:nvPr/>
        </p:nvSpPr>
        <p:spPr>
          <a:xfrm>
            <a:off x="10525760" y="2489200"/>
            <a:ext cx="1991360" cy="1137920"/>
          </a:xfrm>
          <a:prstGeom prst="roundRect">
            <a:avLst>
              <a:gd name="adj" fmla="val 5000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6"/>
          <p:cNvSpPr/>
          <p:nvPr/>
        </p:nvSpPr>
        <p:spPr>
          <a:xfrm>
            <a:off x="10547096" y="2510536"/>
            <a:ext cx="1948688" cy="334264"/>
          </a:xfrm>
          <a:prstGeom prst="roundRect">
            <a:avLst>
              <a:gd name="adj" fmla="val 10638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line-027"/>
          <p:cNvSpPr/>
          <p:nvPr/>
        </p:nvSpPr>
        <p:spPr>
          <a:xfrm>
            <a:off x="10611104" y="2489200"/>
            <a:ext cx="1" cy="1137920"/>
          </a:xfrm>
          <a:custGeom>
            <a:avLst/>
            <a:gdLst/>
            <a:ahLst/>
            <a:cxnLst/>
            <a:rect l="0" t="0" r="r" b="b"/>
            <a:pathLst>
              <a:path w="1" h="1137920" fill="none">
                <a:moveTo>
                  <a:pt x="0" y="0"/>
                </a:moveTo>
                <a:lnTo>
                  <a:pt x="0" y="113792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4  issue_stage"/>
          <p:cNvSpPr txBox="1"/>
          <p:nvPr/>
        </p:nvSpPr>
        <p:spPr>
          <a:xfrm>
            <a:off x="10659466" y="2589337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issue_stage</a:t>
            </a:r>
          </a:p>
        </p:txBody>
      </p:sp>
      <p:sp>
        <p:nvSpPr>
          <p:cNvPr id="29" name="text-029: / scoreboard"/>
          <p:cNvSpPr txBox="1"/>
          <p:nvPr/>
        </p:nvSpPr>
        <p:spPr>
          <a:xfrm>
            <a:off x="10832998" y="2832283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/ scoreboard</a:t>
            </a:r>
          </a:p>
        </p:txBody>
      </p:sp>
      <p:sp>
        <p:nvSpPr>
          <p:cNvPr id="30" name="text-030: 指令与结果关联"/>
          <p:cNvSpPr txBox="1"/>
          <p:nvPr/>
        </p:nvSpPr>
        <p:spPr>
          <a:xfrm>
            <a:off x="10895584" y="305986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指令与结果关联</a:t>
            </a:r>
          </a:p>
        </p:txBody>
      </p:sp>
      <p:sp>
        <p:nvSpPr>
          <p:cNvPr id="31" name="text-031: ex 随指令保存"/>
          <p:cNvSpPr txBox="1"/>
          <p:nvPr/>
        </p:nvSpPr>
        <p:spPr>
          <a:xfrm>
            <a:off x="10899496" y="3287451"/>
            <a:ext cx="124388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 随指令保存</a:t>
            </a:r>
          </a:p>
        </p:txBody>
      </p:sp>
      <p:sp>
        <p:nvSpPr>
          <p:cNvPr id="32" name="E03"/>
          <p:cNvSpPr/>
          <p:nvPr/>
        </p:nvSpPr>
        <p:spPr>
          <a:xfrm>
            <a:off x="9814560" y="29870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3"/>
          <p:cNvSpPr/>
          <p:nvPr/>
        </p:nvSpPr>
        <p:spPr>
          <a:xfrm>
            <a:off x="10454640" y="5262880"/>
            <a:ext cx="2098040" cy="1280160"/>
          </a:xfrm>
          <a:prstGeom prst="roundRect">
            <a:avLst>
              <a:gd name="adj" fmla="val 4444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4"/>
          <p:cNvSpPr/>
          <p:nvPr/>
        </p:nvSpPr>
        <p:spPr>
          <a:xfrm>
            <a:off x="10475976" y="5284216"/>
            <a:ext cx="2055368" cy="405384"/>
          </a:xfrm>
          <a:prstGeom prst="roundRect">
            <a:avLst>
              <a:gd name="adj" fmla="val 8771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5  commit_stage"/>
          <p:cNvSpPr txBox="1"/>
          <p:nvPr/>
        </p:nvSpPr>
        <p:spPr>
          <a:xfrm>
            <a:off x="10586212" y="543413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commit_stage</a:t>
            </a:r>
          </a:p>
        </p:txBody>
      </p:sp>
      <p:sp>
        <p:nvSpPr>
          <p:cNvPr id="36" name="text-036: 按提交顺序选异常"/>
          <p:cNvSpPr txBox="1"/>
          <p:nvPr/>
        </p:nvSpPr>
        <p:spPr>
          <a:xfrm>
            <a:off x="10799572" y="5677083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按提交顺序选异常</a:t>
            </a:r>
          </a:p>
        </p:txBody>
      </p:sp>
      <p:sp>
        <p:nvSpPr>
          <p:cNvPr id="37" name="text-037: 阻止错误指令提交"/>
          <p:cNvSpPr txBox="1"/>
          <p:nvPr/>
        </p:nvSpPr>
        <p:spPr>
          <a:xfrm>
            <a:off x="10799572" y="5904667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阻止错误指令提交</a:t>
            </a:r>
          </a:p>
        </p:txBody>
      </p:sp>
      <p:sp>
        <p:nvSpPr>
          <p:cNvPr id="38" name="text-038: ex_commit → CSR"/>
          <p:cNvSpPr txBox="1"/>
          <p:nvPr/>
        </p:nvSpPr>
        <p:spPr>
          <a:xfrm>
            <a:off x="10635285" y="6132251"/>
            <a:ext cx="17367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ex_commit → CSR</a:t>
            </a:r>
          </a:p>
        </p:txBody>
      </p:sp>
      <p:sp>
        <p:nvSpPr>
          <p:cNvPr id="39" name="E04"/>
          <p:cNvSpPr/>
          <p:nvPr/>
        </p:nvSpPr>
        <p:spPr>
          <a:xfrm>
            <a:off x="11521440" y="3627120"/>
            <a:ext cx="1" cy="1635760"/>
          </a:xfrm>
          <a:custGeom>
            <a:avLst/>
            <a:gdLst/>
            <a:ahLst/>
            <a:cxnLst/>
            <a:rect l="0" t="0" r="r" b="b"/>
            <a:pathLst>
              <a:path w="1" h="1635760" fill="none">
                <a:moveTo>
                  <a:pt x="0" y="0"/>
                </a:moveTo>
                <a:lnTo>
                  <a:pt x="0" y="163576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40"/>
          <p:cNvSpPr/>
          <p:nvPr/>
        </p:nvSpPr>
        <p:spPr>
          <a:xfrm>
            <a:off x="6969760" y="5369560"/>
            <a:ext cx="2346960" cy="1102360"/>
          </a:xfrm>
          <a:prstGeom prst="roundRect">
            <a:avLst>
              <a:gd name="adj" fmla="val 5161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6991096" y="5390896"/>
            <a:ext cx="2304288" cy="430276"/>
          </a:xfrm>
          <a:prstGeom prst="roundRect">
            <a:avLst>
              <a:gd name="adj" fmla="val 8264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执行 / 访存异常"/>
          <p:cNvSpPr txBox="1"/>
          <p:nvPr/>
        </p:nvSpPr>
        <p:spPr>
          <a:xfrm>
            <a:off x="7379411" y="5565709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执行 / 访存异常</a:t>
            </a:r>
          </a:p>
        </p:txBody>
      </p:sp>
      <p:sp>
        <p:nvSpPr>
          <p:cNvPr id="43" name="text-043: 非法操作 / 访问故障等"/>
          <p:cNvSpPr txBox="1"/>
          <p:nvPr/>
        </p:nvSpPr>
        <p:spPr>
          <a:xfrm>
            <a:off x="7208368" y="5808655"/>
            <a:ext cx="18697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非法操作 / 访问故障等</a:t>
            </a:r>
          </a:p>
        </p:txBody>
      </p:sp>
      <p:sp>
        <p:nvSpPr>
          <p:cNvPr id="44" name="text-044: 结果携带 exception_t"/>
          <p:cNvSpPr txBox="1"/>
          <p:nvPr/>
        </p:nvSpPr>
        <p:spPr>
          <a:xfrm>
            <a:off x="7141870" y="6036239"/>
            <a:ext cx="200273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结果携带 exception_t</a:t>
            </a:r>
          </a:p>
        </p:txBody>
      </p:sp>
      <p:sp>
        <p:nvSpPr>
          <p:cNvPr id="45" name="E05"/>
          <p:cNvSpPr/>
          <p:nvPr/>
        </p:nvSpPr>
        <p:spPr>
          <a:xfrm>
            <a:off x="8143240" y="3627120"/>
            <a:ext cx="2880360" cy="1742440"/>
          </a:xfrm>
          <a:custGeom>
            <a:avLst/>
            <a:gdLst/>
            <a:ahLst/>
            <a:cxnLst/>
            <a:rect l="0" t="0" r="r" b="b"/>
            <a:pathLst>
              <a:path w="2880360" h="1742440" fill="none">
                <a:moveTo>
                  <a:pt x="0" y="1742440"/>
                </a:moveTo>
                <a:lnTo>
                  <a:pt x="0" y="746760"/>
                </a:lnTo>
                <a:lnTo>
                  <a:pt x="2880360" y="746760"/>
                </a:lnTo>
                <a:lnTo>
                  <a:pt x="288036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6"/>
          <p:cNvSpPr/>
          <p:nvPr/>
        </p:nvSpPr>
        <p:spPr>
          <a:xfrm>
            <a:off x="5511800" y="3769360"/>
            <a:ext cx="5654040" cy="3200400"/>
          </a:xfrm>
          <a:custGeom>
            <a:avLst/>
            <a:gdLst/>
            <a:ahLst/>
            <a:cxnLst/>
            <a:rect l="0" t="0" r="r" b="b"/>
            <a:pathLst>
              <a:path w="5654040" h="3200400" fill="none">
                <a:moveTo>
                  <a:pt x="5654040" y="2773680"/>
                </a:moveTo>
                <a:lnTo>
                  <a:pt x="5654040" y="3200400"/>
                </a:lnTo>
                <a:lnTo>
                  <a:pt x="1102360" y="3200400"/>
                </a:lnTo>
                <a:lnTo>
                  <a:pt x="1102360" y="320040"/>
                </a:lnTo>
                <a:lnTo>
                  <a:pt x="0" y="32004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x_commit / PC"/>
          <p:cNvSpPr txBox="1"/>
          <p:nvPr/>
        </p:nvSpPr>
        <p:spPr>
          <a:xfrm>
            <a:off x="7752080" y="7020682"/>
            <a:ext cx="165211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ex_commit / PC</a:t>
            </a:r>
          </a:p>
        </p:txBody>
      </p:sp>
      <p:sp>
        <p:nvSpPr>
          <p:cNvPr id="48" name="rect-048"/>
          <p:cNvSpPr/>
          <p:nvPr/>
        </p:nvSpPr>
        <p:spPr>
          <a:xfrm>
            <a:off x="3200400" y="5440680"/>
            <a:ext cx="2631440" cy="1137920"/>
          </a:xfrm>
          <a:prstGeom prst="roundRect">
            <a:avLst>
              <a:gd name="adj" fmla="val 5000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9"/>
          <p:cNvSpPr/>
          <p:nvPr/>
        </p:nvSpPr>
        <p:spPr>
          <a:xfrm>
            <a:off x="3221736" y="5462016"/>
            <a:ext cx="2588768" cy="334264"/>
          </a:xfrm>
          <a:prstGeom prst="roundRect">
            <a:avLst>
              <a:gd name="adj" fmla="val 10638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6  controller + frontend"/>
          <p:cNvSpPr txBox="1"/>
          <p:nvPr/>
        </p:nvSpPr>
        <p:spPr>
          <a:xfrm>
            <a:off x="3099410" y="5540817"/>
            <a:ext cx="28334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6  controller + frontend</a:t>
            </a:r>
          </a:p>
        </p:txBody>
      </p:sp>
      <p:sp>
        <p:nvSpPr>
          <p:cNvPr id="51" name="text-051: flush 错误路径流水线"/>
          <p:cNvSpPr txBox="1"/>
          <p:nvPr/>
        </p:nvSpPr>
        <p:spPr>
          <a:xfrm>
            <a:off x="3585159" y="578376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flush 错误路径流水线</a:t>
            </a:r>
          </a:p>
        </p:txBody>
      </p:sp>
      <p:sp>
        <p:nvSpPr>
          <p:cNvPr id="52" name="text-052: PC 转向 trap 入口"/>
          <p:cNvSpPr txBox="1"/>
          <p:nvPr/>
        </p:nvSpPr>
        <p:spPr>
          <a:xfrm>
            <a:off x="3667303" y="601134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PC 转向 trap 入口</a:t>
            </a:r>
          </a:p>
        </p:txBody>
      </p:sp>
      <p:sp>
        <p:nvSpPr>
          <p:cNvPr id="53" name="text-053: xRET 恢复返回 PC"/>
          <p:cNvSpPr txBox="1"/>
          <p:nvPr/>
        </p:nvSpPr>
        <p:spPr>
          <a:xfrm>
            <a:off x="3718154" y="6238931"/>
            <a:ext cx="15959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xRET 恢复返回 PC</a:t>
            </a:r>
          </a:p>
        </p:txBody>
      </p:sp>
      <p:sp>
        <p:nvSpPr>
          <p:cNvPr id="54" name="E07"/>
          <p:cNvSpPr/>
          <p:nvPr/>
        </p:nvSpPr>
        <p:spPr>
          <a:xfrm>
            <a:off x="4196080" y="376936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0"/>
                </a:moveTo>
                <a:lnTo>
                  <a:pt x="0" y="167132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E08"/>
          <p:cNvSpPr/>
          <p:nvPr/>
        </p:nvSpPr>
        <p:spPr>
          <a:xfrm>
            <a:off x="426720" y="5974080"/>
            <a:ext cx="2773680" cy="1"/>
          </a:xfrm>
          <a:custGeom>
            <a:avLst/>
            <a:gdLst/>
            <a:ahLst/>
            <a:cxnLst/>
            <a:rect l="0" t="0" r="r" b="b"/>
            <a:pathLst>
              <a:path w="2773680" h="1" fill="none">
                <a:moveTo>
                  <a:pt x="277368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CPU 开始执行处理程序"/>
          <p:cNvSpPr txBox="1"/>
          <p:nvPr/>
        </p:nvSpPr>
        <p:spPr>
          <a:xfrm>
            <a:off x="355600" y="5520050"/>
            <a:ext cx="18974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开始执行处理程序</a:t>
            </a:r>
          </a:p>
        </p:txBody>
      </p:sp>
      <p:sp>
        <p:nvSpPr>
          <p:cNvPr id="57" name="text-057: 图中软件处理程序不在硬件中：保存现场、处理设备 / 控制器、恢复现场，再执行返回"/>
          <p:cNvSpPr txBox="1"/>
          <p:nvPr/>
        </p:nvSpPr>
        <p:spPr>
          <a:xfrm>
            <a:off x="320040" y="7212137"/>
            <a:ext cx="733105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图中软件处理程序不在硬件中：保存现场、处理设备 / 控制器、恢复现场，再执行返回指令。</a:t>
            </a:r>
          </a:p>
        </p:txBody>
      </p:sp>
      <p:sp>
        <p:nvSpPr>
          <p:cNvPr id="58" name="E09"/>
          <p:cNvSpPr/>
          <p:nvPr/>
        </p:nvSpPr>
        <p:spPr>
          <a:xfrm>
            <a:off x="1529080" y="1955800"/>
            <a:ext cx="7005320" cy="462280"/>
          </a:xfrm>
          <a:custGeom>
            <a:avLst/>
            <a:gdLst/>
            <a:ahLst/>
            <a:cxnLst/>
            <a:rect l="0" t="0" r="r" b="b"/>
            <a:pathLst>
              <a:path w="7005320" h="462280" fill="none">
                <a:moveTo>
                  <a:pt x="0" y="462280"/>
                </a:moveTo>
                <a:lnTo>
                  <a:pt x="0" y="0"/>
                </a:lnTo>
                <a:lnTo>
                  <a:pt x="7005320" y="0"/>
                </a:lnTo>
                <a:lnTo>
                  <a:pt x="7005320" y="39116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E10"/>
          <p:cNvSpPr/>
          <p:nvPr/>
        </p:nvSpPr>
        <p:spPr>
          <a:xfrm>
            <a:off x="5831840" y="6009640"/>
            <a:ext cx="4622800" cy="746760"/>
          </a:xfrm>
          <a:custGeom>
            <a:avLst/>
            <a:gdLst/>
            <a:ahLst/>
            <a:cxnLst/>
            <a:rect l="0" t="0" r="r" b="b"/>
            <a:pathLst>
              <a:path w="4622800" h="746760" fill="none">
                <a:moveTo>
                  <a:pt x="4622800" y="0"/>
                </a:moveTo>
                <a:lnTo>
                  <a:pt x="4053840" y="0"/>
                </a:lnTo>
                <a:lnTo>
                  <a:pt x="4053840" y="746760"/>
                </a:lnTo>
                <a:lnTo>
                  <a:pt x="213360" y="746760"/>
                </a:lnTo>
                <a:lnTo>
                  <a:pt x="213360" y="284480"/>
                </a:lnTo>
                <a:lnTo>
                  <a:pt x="0" y="28448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60"/>
          <p:cNvSpPr/>
          <p:nvPr/>
        </p:nvSpPr>
        <p:spPr>
          <a:xfrm>
            <a:off x="28448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1"/>
          <p:cNvSpPr txBox="1"/>
          <p:nvPr/>
        </p:nvSpPr>
        <p:spPr>
          <a:xfrm>
            <a:off x="27882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62" name="rect-062"/>
          <p:cNvSpPr/>
          <p:nvPr/>
        </p:nvSpPr>
        <p:spPr>
          <a:xfrm>
            <a:off x="659638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2"/>
          <p:cNvSpPr txBox="1"/>
          <p:nvPr/>
        </p:nvSpPr>
        <p:spPr>
          <a:xfrm>
            <a:off x="653984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4" name="rect-064"/>
          <p:cNvSpPr/>
          <p:nvPr/>
        </p:nvSpPr>
        <p:spPr>
          <a:xfrm>
            <a:off x="999236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3"/>
          <p:cNvSpPr txBox="1"/>
          <p:nvPr/>
        </p:nvSpPr>
        <p:spPr>
          <a:xfrm>
            <a:off x="993582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6" name="rect-066"/>
          <p:cNvSpPr/>
          <p:nvPr/>
        </p:nvSpPr>
        <p:spPr>
          <a:xfrm>
            <a:off x="11585448" y="43454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4"/>
          <p:cNvSpPr txBox="1"/>
          <p:nvPr/>
        </p:nvSpPr>
        <p:spPr>
          <a:xfrm>
            <a:off x="11528908" y="43258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8" name="rect-068"/>
          <p:cNvSpPr/>
          <p:nvPr/>
        </p:nvSpPr>
        <p:spPr>
          <a:xfrm>
            <a:off x="9405620" y="4153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5"/>
          <p:cNvSpPr txBox="1"/>
          <p:nvPr/>
        </p:nvSpPr>
        <p:spPr>
          <a:xfrm>
            <a:off x="9349080" y="4133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70" name="rect-070"/>
          <p:cNvSpPr/>
          <p:nvPr/>
        </p:nvSpPr>
        <p:spPr>
          <a:xfrm>
            <a:off x="8712200" y="67492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6"/>
          <p:cNvSpPr txBox="1"/>
          <p:nvPr/>
        </p:nvSpPr>
        <p:spPr>
          <a:xfrm>
            <a:off x="8655660" y="67296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72" name="rect-072"/>
          <p:cNvSpPr/>
          <p:nvPr/>
        </p:nvSpPr>
        <p:spPr>
          <a:xfrm>
            <a:off x="4260088" y="45054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7"/>
          <p:cNvSpPr txBox="1"/>
          <p:nvPr/>
        </p:nvSpPr>
        <p:spPr>
          <a:xfrm>
            <a:off x="4203548" y="44858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4" name="rect-074"/>
          <p:cNvSpPr/>
          <p:nvPr/>
        </p:nvSpPr>
        <p:spPr>
          <a:xfrm>
            <a:off x="163576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E08"/>
          <p:cNvSpPr txBox="1"/>
          <p:nvPr/>
        </p:nvSpPr>
        <p:spPr>
          <a:xfrm>
            <a:off x="157922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6" name="rect-076"/>
          <p:cNvSpPr/>
          <p:nvPr/>
        </p:nvSpPr>
        <p:spPr>
          <a:xfrm>
            <a:off x="4853940" y="20055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E09"/>
          <p:cNvSpPr txBox="1"/>
          <p:nvPr/>
        </p:nvSpPr>
        <p:spPr>
          <a:xfrm>
            <a:off x="4797400" y="19859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8" name="rect-078"/>
          <p:cNvSpPr/>
          <p:nvPr/>
        </p:nvSpPr>
        <p:spPr>
          <a:xfrm>
            <a:off x="7787640" y="6535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10"/>
          <p:cNvSpPr txBox="1"/>
          <p:nvPr/>
        </p:nvSpPr>
        <p:spPr>
          <a:xfrm>
            <a:off x="7731100" y="6516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80" name="text-080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81" name="text-081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6A  LLC：描述符命中 / 缺失路径与共享数据 SRAM"/>
          <p:cNvSpPr txBox="1"/>
          <p:nvPr/>
        </p:nvSpPr>
        <p:spPr>
          <a:xfrm>
            <a:off x="284480" y="1347297"/>
            <a:ext cx="600821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16A  LLC：描述符命中 / 缺失路径与共享数据 SRAM</a:t>
            </a:r>
          </a:p>
        </p:txBody>
      </p:sp>
      <p:sp>
        <p:nvSpPr>
          <p:cNvPr id="3" name="rect-003"/>
          <p:cNvSpPr/>
          <p:nvPr/>
        </p:nvSpPr>
        <p:spPr>
          <a:xfrm>
            <a:off x="248920" y="2560320"/>
            <a:ext cx="2418080" cy="1280160"/>
          </a:xfrm>
          <a:prstGeom prst="roundRect">
            <a:avLst>
              <a:gd name="adj" fmla="val 4444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270256" y="2581656"/>
            <a:ext cx="2375408" cy="405384"/>
          </a:xfrm>
          <a:prstGeom prst="roundRect">
            <a:avLst>
              <a:gd name="adj" fmla="val 8771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1  isolate / demux"/>
          <p:cNvSpPr txBox="1"/>
          <p:nvPr/>
        </p:nvSpPr>
        <p:spPr>
          <a:xfrm>
            <a:off x="374091" y="273157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isolate / demux</a:t>
            </a:r>
          </a:p>
        </p:txBody>
      </p:sp>
      <p:sp>
        <p:nvSpPr>
          <p:cNvPr id="6" name="text-006: 入口隔离与 bypass"/>
          <p:cNvSpPr txBox="1"/>
          <p:nvPr/>
        </p:nvSpPr>
        <p:spPr>
          <a:xfrm>
            <a:off x="632612" y="2974523"/>
            <a:ext cx="165069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入口隔离与 bypass</a:t>
            </a:r>
          </a:p>
        </p:txBody>
      </p:sp>
      <p:sp>
        <p:nvSpPr>
          <p:cNvPr id="7" name="text-007: chan_splitter / 仲裁"/>
          <p:cNvSpPr txBox="1"/>
          <p:nvPr/>
        </p:nvSpPr>
        <p:spPr>
          <a:xfrm>
            <a:off x="409651" y="3202107"/>
            <a:ext cx="20966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chan_splitter / 仲裁</a:t>
            </a:r>
          </a:p>
        </p:txBody>
      </p:sp>
      <p:sp>
        <p:nvSpPr>
          <p:cNvPr id="8" name="text-008: AW / AR → 描述符"/>
          <p:cNvSpPr txBox="1"/>
          <p:nvPr/>
        </p:nvSpPr>
        <p:spPr>
          <a:xfrm>
            <a:off x="609143" y="3429691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AW / AR → 描述符</a:t>
            </a:r>
          </a:p>
        </p:txBody>
      </p:sp>
      <p:sp>
        <p:nvSpPr>
          <p:cNvPr id="9" name="rect-009"/>
          <p:cNvSpPr/>
          <p:nvPr/>
        </p:nvSpPr>
        <p:spPr>
          <a:xfrm>
            <a:off x="3627120" y="2560320"/>
            <a:ext cx="2418080" cy="1280160"/>
          </a:xfrm>
          <a:prstGeom prst="roundRect">
            <a:avLst>
              <a:gd name="adj" fmla="val 4444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-010"/>
          <p:cNvSpPr/>
          <p:nvPr/>
        </p:nvSpPr>
        <p:spPr>
          <a:xfrm>
            <a:off x="3648456" y="2581656"/>
            <a:ext cx="2375408" cy="405384"/>
          </a:xfrm>
          <a:prstGeom prst="roundRect">
            <a:avLst>
              <a:gd name="adj" fmla="val 8771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2  axi_llc_hit_miss"/>
          <p:cNvSpPr txBox="1"/>
          <p:nvPr/>
        </p:nvSpPr>
        <p:spPr>
          <a:xfrm>
            <a:off x="3696818" y="2731577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axi_llc_hit_miss</a:t>
            </a:r>
          </a:p>
        </p:txBody>
      </p:sp>
      <p:sp>
        <p:nvSpPr>
          <p:cNvPr id="12" name="text-012: tag_store / valid / dirty"/>
          <p:cNvSpPr txBox="1"/>
          <p:nvPr/>
        </p:nvSpPr>
        <p:spPr>
          <a:xfrm>
            <a:off x="3486658" y="2974523"/>
            <a:ext cx="26990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tag_store / valid / dirty</a:t>
            </a:r>
          </a:p>
        </p:txBody>
      </p:sp>
      <p:sp>
        <p:nvSpPr>
          <p:cNvPr id="13" name="text-013: 锁定与同 ID 顺序约束"/>
          <p:cNvSpPr txBox="1"/>
          <p:nvPr/>
        </p:nvSpPr>
        <p:spPr>
          <a:xfrm>
            <a:off x="3928669" y="3202107"/>
            <a:ext cx="18149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锁定与同 ID 顺序约束</a:t>
            </a:r>
          </a:p>
        </p:txBody>
      </p:sp>
      <p:sp>
        <p:nvSpPr>
          <p:cNvPr id="14" name="text-014: cache 或 SPM 地址判定"/>
          <p:cNvSpPr txBox="1"/>
          <p:nvPr/>
        </p:nvSpPr>
        <p:spPr>
          <a:xfrm>
            <a:off x="3807409" y="3429691"/>
            <a:ext cx="20575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或 SPM 地址判定</a:t>
            </a:r>
          </a:p>
        </p:txBody>
      </p:sp>
      <p:sp>
        <p:nvSpPr>
          <p:cNvPr id="15" name="E01"/>
          <p:cNvSpPr/>
          <p:nvPr/>
        </p:nvSpPr>
        <p:spPr>
          <a:xfrm>
            <a:off x="2667000" y="312928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6"/>
          <p:cNvSpPr/>
          <p:nvPr/>
        </p:nvSpPr>
        <p:spPr>
          <a:xfrm>
            <a:off x="7183120" y="2560320"/>
            <a:ext cx="2382520" cy="1280160"/>
          </a:xfrm>
          <a:prstGeom prst="roundRect">
            <a:avLst>
              <a:gd name="adj" fmla="val 4444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7204456" y="2581656"/>
            <a:ext cx="2339848" cy="405384"/>
          </a:xfrm>
          <a:prstGeom prst="roundRect">
            <a:avLst>
              <a:gd name="adj" fmla="val 8771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3  evict → refill"/>
          <p:cNvSpPr txBox="1"/>
          <p:nvPr/>
        </p:nvSpPr>
        <p:spPr>
          <a:xfrm>
            <a:off x="7316114" y="2731577"/>
            <a:ext cx="21165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evict → refill</a:t>
            </a:r>
          </a:p>
        </p:txBody>
      </p:sp>
      <p:sp>
        <p:nvSpPr>
          <p:cNvPr id="19" name="text-019: 必要时写回脏行"/>
          <p:cNvSpPr txBox="1"/>
          <p:nvPr/>
        </p:nvSpPr>
        <p:spPr>
          <a:xfrm>
            <a:off x="7748524" y="2974523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20" name="text-020: 从外存补入 cache line"/>
          <p:cNvSpPr txBox="1"/>
          <p:nvPr/>
        </p:nvSpPr>
        <p:spPr>
          <a:xfrm>
            <a:off x="7345629" y="3202107"/>
            <a:ext cx="20575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从外存补入 cache line</a:t>
            </a:r>
          </a:p>
        </p:txBody>
      </p:sp>
      <p:sp>
        <p:nvSpPr>
          <p:cNvPr id="21" name="text-021: 完成后传递描述符"/>
          <p:cNvSpPr txBox="1"/>
          <p:nvPr/>
        </p:nvSpPr>
        <p:spPr>
          <a:xfrm>
            <a:off x="7670292" y="3429691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完成后传递描述符</a:t>
            </a:r>
          </a:p>
        </p:txBody>
      </p:sp>
      <p:sp>
        <p:nvSpPr>
          <p:cNvPr id="22" name="E02"/>
          <p:cNvSpPr/>
          <p:nvPr/>
        </p:nvSpPr>
        <p:spPr>
          <a:xfrm>
            <a:off x="6045200" y="34137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miss"/>
          <p:cNvSpPr txBox="1"/>
          <p:nvPr/>
        </p:nvSpPr>
        <p:spPr>
          <a:xfrm>
            <a:off x="6223000" y="3123306"/>
            <a:ext cx="58887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miss</a:t>
            </a:r>
          </a:p>
        </p:txBody>
      </p:sp>
      <p:sp>
        <p:nvSpPr>
          <p:cNvPr id="24" name="rect-024"/>
          <p:cNvSpPr/>
          <p:nvPr/>
        </p:nvSpPr>
        <p:spPr>
          <a:xfrm>
            <a:off x="10347960" y="2560320"/>
            <a:ext cx="2133600" cy="1280160"/>
          </a:xfrm>
          <a:prstGeom prst="roundRect">
            <a:avLst>
              <a:gd name="adj" fmla="val 4444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5"/>
          <p:cNvSpPr/>
          <p:nvPr/>
        </p:nvSpPr>
        <p:spPr>
          <a:xfrm>
            <a:off x="10369296" y="2581656"/>
            <a:ext cx="2090928" cy="519176"/>
          </a:xfrm>
          <a:prstGeom prst="roundRect">
            <a:avLst>
              <a:gd name="adj" fmla="val 6849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4  merge_unit"/>
          <p:cNvSpPr txBox="1"/>
          <p:nvPr/>
        </p:nvSpPr>
        <p:spPr>
          <a:xfrm>
            <a:off x="10608259" y="2845369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4  merge_unit</a:t>
            </a:r>
          </a:p>
        </p:txBody>
      </p:sp>
      <p:sp>
        <p:nvSpPr>
          <p:cNvPr id="27" name="text-027: 汇合命中 / 补入路径"/>
          <p:cNvSpPr txBox="1"/>
          <p:nvPr/>
        </p:nvSpPr>
        <p:spPr>
          <a:xfrm>
            <a:off x="10558120" y="3088315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汇合命中 / 补入路径</a:t>
            </a:r>
          </a:p>
        </p:txBody>
      </p:sp>
      <p:sp>
        <p:nvSpPr>
          <p:cNvPr id="28" name="text-028: 分发 read / write"/>
          <p:cNvSpPr txBox="1"/>
          <p:nvPr/>
        </p:nvSpPr>
        <p:spPr>
          <a:xfrm>
            <a:off x="10519004" y="3315899"/>
            <a:ext cx="179151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分发 read / write</a:t>
            </a:r>
          </a:p>
        </p:txBody>
      </p:sp>
      <p:sp>
        <p:nvSpPr>
          <p:cNvPr id="29" name="E03"/>
          <p:cNvSpPr/>
          <p:nvPr/>
        </p:nvSpPr>
        <p:spPr>
          <a:xfrm>
            <a:off x="9565640" y="3271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E04"/>
          <p:cNvSpPr/>
          <p:nvPr/>
        </p:nvSpPr>
        <p:spPr>
          <a:xfrm>
            <a:off x="4836160" y="1991360"/>
            <a:ext cx="6578600" cy="568960"/>
          </a:xfrm>
          <a:custGeom>
            <a:avLst/>
            <a:gdLst/>
            <a:ahLst/>
            <a:cxnLst/>
            <a:rect l="0" t="0" r="r" b="b"/>
            <a:pathLst>
              <a:path w="6578600" h="568960" fill="none">
                <a:moveTo>
                  <a:pt x="0" y="568960"/>
                </a:moveTo>
                <a:lnTo>
                  <a:pt x="0" y="0"/>
                </a:lnTo>
                <a:lnTo>
                  <a:pt x="6578600" y="0"/>
                </a:lnTo>
                <a:lnTo>
                  <a:pt x="6578600" y="56896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hit / SPM 快路径（仍受顺序约束）"/>
          <p:cNvSpPr txBox="1"/>
          <p:nvPr/>
        </p:nvSpPr>
        <p:spPr>
          <a:xfrm>
            <a:off x="6329680" y="1722242"/>
            <a:ext cx="302615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hit / SPM 快路径（仍受顺序约束）</a:t>
            </a:r>
          </a:p>
        </p:txBody>
      </p:sp>
      <p:sp>
        <p:nvSpPr>
          <p:cNvPr id="32" name="rect-032"/>
          <p:cNvSpPr/>
          <p:nvPr/>
        </p:nvSpPr>
        <p:spPr>
          <a:xfrm>
            <a:off x="9921240" y="5262880"/>
            <a:ext cx="2524760" cy="1031240"/>
          </a:xfrm>
          <a:prstGeom prst="roundRect">
            <a:avLst>
              <a:gd name="adj" fmla="val 5517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3"/>
          <p:cNvSpPr/>
          <p:nvPr/>
        </p:nvSpPr>
        <p:spPr>
          <a:xfrm>
            <a:off x="9942576" y="5284216"/>
            <a:ext cx="2482088" cy="394716"/>
          </a:xfrm>
          <a:prstGeom prst="roundRect">
            <a:avLst>
              <a:gd name="adj" fmla="val 9009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5  read_unit / write_unit"/>
          <p:cNvSpPr txBox="1"/>
          <p:nvPr/>
        </p:nvSpPr>
        <p:spPr>
          <a:xfrm>
            <a:off x="9711436" y="5423469"/>
            <a:ext cx="29443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5  read_unit / write_unit</a:t>
            </a:r>
          </a:p>
        </p:txBody>
      </p:sp>
      <p:sp>
        <p:nvSpPr>
          <p:cNvPr id="35" name="text-035: 连接 AXI R / W / B"/>
          <p:cNvSpPr txBox="1"/>
          <p:nvPr/>
        </p:nvSpPr>
        <p:spPr>
          <a:xfrm>
            <a:off x="10237013" y="5666415"/>
            <a:ext cx="189321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连接 AXI R / W / B</a:t>
            </a:r>
          </a:p>
        </p:txBody>
      </p:sp>
      <p:sp>
        <p:nvSpPr>
          <p:cNvPr id="36" name="text-036: 访问选定的数据 way"/>
          <p:cNvSpPr txBox="1"/>
          <p:nvPr/>
        </p:nvSpPr>
        <p:spPr>
          <a:xfrm>
            <a:off x="10354361" y="5893999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访问选定的数据 way</a:t>
            </a:r>
          </a:p>
        </p:txBody>
      </p:sp>
      <p:sp>
        <p:nvSpPr>
          <p:cNvPr id="37" name="E05"/>
          <p:cNvSpPr/>
          <p:nvPr/>
        </p:nvSpPr>
        <p:spPr>
          <a:xfrm>
            <a:off x="11450320" y="3840480"/>
            <a:ext cx="1" cy="1422400"/>
          </a:xfrm>
          <a:custGeom>
            <a:avLst/>
            <a:gdLst/>
            <a:ahLst/>
            <a:cxnLst/>
            <a:rect l="0" t="0" r="r" b="b"/>
            <a:pathLst>
              <a:path w="1" h="1422400" fill="none">
                <a:moveTo>
                  <a:pt x="0" y="0"/>
                </a:moveTo>
                <a:lnTo>
                  <a:pt x="0" y="142240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8"/>
          <p:cNvSpPr/>
          <p:nvPr/>
        </p:nvSpPr>
        <p:spPr>
          <a:xfrm>
            <a:off x="5334000" y="5298440"/>
            <a:ext cx="3342640" cy="1280160"/>
          </a:xfrm>
          <a:prstGeom prst="roundRect">
            <a:avLst>
              <a:gd name="adj" fmla="val 4444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9"/>
          <p:cNvSpPr/>
          <p:nvPr/>
        </p:nvSpPr>
        <p:spPr>
          <a:xfrm>
            <a:off x="5355336" y="5319776"/>
            <a:ext cx="3299968" cy="405384"/>
          </a:xfrm>
          <a:prstGeom prst="roundRect">
            <a:avLst>
              <a:gd name="adj" fmla="val 8771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olyline-040"/>
          <p:cNvSpPr/>
          <p:nvPr/>
        </p:nvSpPr>
        <p:spPr>
          <a:xfrm>
            <a:off x="5419344" y="5298440"/>
            <a:ext cx="1" cy="1280160"/>
          </a:xfrm>
          <a:custGeom>
            <a:avLst/>
            <a:gdLst/>
            <a:ahLst/>
            <a:cxnLst/>
            <a:rect l="0" t="0" r="r" b="b"/>
            <a:pathLst>
              <a:path w="1" h="1280160" fill="none">
                <a:moveTo>
                  <a:pt x="0" y="0"/>
                </a:moveTo>
                <a:lnTo>
                  <a:pt x="0" y="12801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6  axi_llc_ways"/>
          <p:cNvSpPr txBox="1"/>
          <p:nvPr/>
        </p:nvSpPr>
        <p:spPr>
          <a:xfrm>
            <a:off x="6087872" y="546969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6  axi_llc_ways</a:t>
            </a:r>
          </a:p>
        </p:txBody>
      </p:sp>
      <p:sp>
        <p:nvSpPr>
          <p:cNvPr id="42" name="text-042: read / write / evict / refill 仲裁"/>
          <p:cNvSpPr txBox="1"/>
          <p:nvPr/>
        </p:nvSpPr>
        <p:spPr>
          <a:xfrm>
            <a:off x="5245100" y="5712643"/>
            <a:ext cx="35204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 / write / evict / refill 仲裁</a:t>
            </a:r>
          </a:p>
        </p:txBody>
      </p:sp>
      <p:sp>
        <p:nvSpPr>
          <p:cNvPr id="43" name="text-043: 每个 way 的 SRAM"/>
          <p:cNvSpPr txBox="1"/>
          <p:nvPr/>
        </p:nvSpPr>
        <p:spPr>
          <a:xfrm>
            <a:off x="6183884" y="5940227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 way 的 SRAM</a:t>
            </a:r>
          </a:p>
        </p:txBody>
      </p:sp>
      <p:sp>
        <p:nvSpPr>
          <p:cNvPr id="44" name="text-044: 按地址、way、byte strobe 访问"/>
          <p:cNvSpPr txBox="1"/>
          <p:nvPr/>
        </p:nvSpPr>
        <p:spPr>
          <a:xfrm>
            <a:off x="5616702" y="6167811"/>
            <a:ext cx="27772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按地址、way、byte strobe 访问</a:t>
            </a:r>
          </a:p>
        </p:txBody>
      </p:sp>
      <p:sp>
        <p:nvSpPr>
          <p:cNvPr id="45" name="E06"/>
          <p:cNvSpPr/>
          <p:nvPr/>
        </p:nvSpPr>
        <p:spPr>
          <a:xfrm>
            <a:off x="8676640" y="579628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7"/>
          <p:cNvSpPr/>
          <p:nvPr/>
        </p:nvSpPr>
        <p:spPr>
          <a:xfrm>
            <a:off x="8356600" y="3840480"/>
            <a:ext cx="1" cy="1457960"/>
          </a:xfrm>
          <a:custGeom>
            <a:avLst/>
            <a:gdLst/>
            <a:ahLst/>
            <a:cxnLst/>
            <a:rect l="0" t="0" r="r" b="b"/>
            <a:pathLst>
              <a:path w="1" h="1457960" fill="none">
                <a:moveTo>
                  <a:pt x="0" y="0"/>
                </a:moveTo>
                <a:lnTo>
                  <a:pt x="0" y="145796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7"/>
          <p:cNvSpPr/>
          <p:nvPr/>
        </p:nvSpPr>
        <p:spPr>
          <a:xfrm>
            <a:off x="284480" y="5618480"/>
            <a:ext cx="2987040" cy="924560"/>
          </a:xfrm>
          <a:prstGeom prst="roundRect">
            <a:avLst>
              <a:gd name="adj" fmla="val 6153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8"/>
          <p:cNvSpPr/>
          <p:nvPr/>
        </p:nvSpPr>
        <p:spPr>
          <a:xfrm>
            <a:off x="305816" y="5639816"/>
            <a:ext cx="2944368" cy="341376"/>
          </a:xfrm>
          <a:prstGeom prst="roundRect">
            <a:avLst>
              <a:gd name="adj" fmla="val 10416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7  AXI 外存出口"/>
          <p:cNvSpPr txBox="1"/>
          <p:nvPr/>
        </p:nvSpPr>
        <p:spPr>
          <a:xfrm>
            <a:off x="962965" y="5725729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7  AXI 外存出口</a:t>
            </a:r>
          </a:p>
        </p:txBody>
      </p:sp>
      <p:sp>
        <p:nvSpPr>
          <p:cNvPr id="50" name="text-050: bypass 与 refill / evict"/>
          <p:cNvSpPr txBox="1"/>
          <p:nvPr/>
        </p:nvSpPr>
        <p:spPr>
          <a:xfrm>
            <a:off x="502818" y="5968675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bypass 与 refill / evict</a:t>
            </a:r>
          </a:p>
        </p:txBody>
      </p:sp>
      <p:sp>
        <p:nvSpPr>
          <p:cNvPr id="51" name="text-051: 经 axi_bypass_mux 汇合"/>
          <p:cNvSpPr txBox="1"/>
          <p:nvPr/>
        </p:nvSpPr>
        <p:spPr>
          <a:xfrm>
            <a:off x="651459" y="6196259"/>
            <a:ext cx="22530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经 axi_bypass_mux 汇合</a:t>
            </a:r>
          </a:p>
        </p:txBody>
      </p:sp>
      <p:sp>
        <p:nvSpPr>
          <p:cNvPr id="52" name="E08"/>
          <p:cNvSpPr/>
          <p:nvPr/>
        </p:nvSpPr>
        <p:spPr>
          <a:xfrm>
            <a:off x="832104" y="3840480"/>
            <a:ext cx="1" cy="1778000"/>
          </a:xfrm>
          <a:custGeom>
            <a:avLst/>
            <a:gdLst/>
            <a:ahLst/>
            <a:cxnLst/>
            <a:rect l="0" t="0" r="r" b="b"/>
            <a:pathLst>
              <a:path w="1" h="1778000" fill="none">
                <a:moveTo>
                  <a:pt x="0" y="0"/>
                </a:moveTo>
                <a:lnTo>
                  <a:pt x="0" y="177800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bypass"/>
          <p:cNvSpPr txBox="1"/>
          <p:nvPr/>
        </p:nvSpPr>
        <p:spPr>
          <a:xfrm>
            <a:off x="960120" y="4588378"/>
            <a:ext cx="8015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bypass</a:t>
            </a:r>
          </a:p>
        </p:txBody>
      </p:sp>
      <p:sp>
        <p:nvSpPr>
          <p:cNvPr id="54" name="E09"/>
          <p:cNvSpPr/>
          <p:nvPr/>
        </p:nvSpPr>
        <p:spPr>
          <a:xfrm>
            <a:off x="2489200" y="3698240"/>
            <a:ext cx="4693920" cy="1920240"/>
          </a:xfrm>
          <a:custGeom>
            <a:avLst/>
            <a:gdLst/>
            <a:ahLst/>
            <a:cxnLst/>
            <a:rect l="0" t="0" r="r" b="b"/>
            <a:pathLst>
              <a:path w="4693920" h="1920240" fill="none">
                <a:moveTo>
                  <a:pt x="4693920" y="0"/>
                </a:moveTo>
                <a:lnTo>
                  <a:pt x="4160520" y="0"/>
                </a:lnTo>
                <a:lnTo>
                  <a:pt x="4160520" y="853440"/>
                </a:lnTo>
                <a:lnTo>
                  <a:pt x="0" y="853440"/>
                </a:lnTo>
                <a:lnTo>
                  <a:pt x="0" y="192024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外存读 / 写"/>
          <p:cNvSpPr txBox="1"/>
          <p:nvPr/>
        </p:nvSpPr>
        <p:spPr>
          <a:xfrm>
            <a:off x="3413760" y="4239890"/>
            <a:ext cx="113685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外存读 / 写</a:t>
            </a:r>
          </a:p>
        </p:txBody>
      </p:sp>
      <p:sp>
        <p:nvSpPr>
          <p:cNvPr id="56" name="text-056: 实线表示描述符或数据路径，标签区分；图中省略返回 ID 队列与逐通道握手。"/>
          <p:cNvSpPr txBox="1"/>
          <p:nvPr/>
        </p:nvSpPr>
        <p:spPr>
          <a:xfrm>
            <a:off x="320040" y="7212137"/>
            <a:ext cx="624718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实线表示描述符或数据路径，标签区分；图中省略返回 ID 队列与逐通道握手。</a:t>
            </a:r>
          </a:p>
        </p:txBody>
      </p:sp>
      <p:sp>
        <p:nvSpPr>
          <p:cNvPr id="57" name="E10"/>
          <p:cNvSpPr/>
          <p:nvPr/>
        </p:nvSpPr>
        <p:spPr>
          <a:xfrm>
            <a:off x="1493520" y="3840480"/>
            <a:ext cx="8427720" cy="1706880"/>
          </a:xfrm>
          <a:custGeom>
            <a:avLst/>
            <a:gdLst/>
            <a:ahLst/>
            <a:cxnLst/>
            <a:rect l="0" t="0" r="r" b="b"/>
            <a:pathLst>
              <a:path w="8427720" h="1706880" fill="none">
                <a:moveTo>
                  <a:pt x="0" y="0"/>
                </a:moveTo>
                <a:lnTo>
                  <a:pt x="0" y="1209040"/>
                </a:lnTo>
                <a:lnTo>
                  <a:pt x="8178800" y="1209040"/>
                </a:lnTo>
                <a:lnTo>
                  <a:pt x="8178800" y="1706880"/>
                </a:lnTo>
                <a:lnTo>
                  <a:pt x="8427720" y="170688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58"/>
          <p:cNvSpPr/>
          <p:nvPr/>
        </p:nvSpPr>
        <p:spPr>
          <a:xfrm>
            <a:off x="2969260" y="2908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1"/>
          <p:cNvSpPr txBox="1"/>
          <p:nvPr/>
        </p:nvSpPr>
        <p:spPr>
          <a:xfrm>
            <a:off x="2912720" y="2889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60" name="rect-060"/>
          <p:cNvSpPr/>
          <p:nvPr/>
        </p:nvSpPr>
        <p:spPr>
          <a:xfrm>
            <a:off x="6436360" y="34635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2"/>
          <p:cNvSpPr txBox="1"/>
          <p:nvPr/>
        </p:nvSpPr>
        <p:spPr>
          <a:xfrm>
            <a:off x="6379820" y="34439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2" name="rect-062"/>
          <p:cNvSpPr/>
          <p:nvPr/>
        </p:nvSpPr>
        <p:spPr>
          <a:xfrm>
            <a:off x="9779000" y="30510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3"/>
          <p:cNvSpPr txBox="1"/>
          <p:nvPr/>
        </p:nvSpPr>
        <p:spPr>
          <a:xfrm>
            <a:off x="9722460" y="30314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4" name="rect-064"/>
          <p:cNvSpPr/>
          <p:nvPr/>
        </p:nvSpPr>
        <p:spPr>
          <a:xfrm>
            <a:off x="7947660" y="20411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4"/>
          <p:cNvSpPr txBox="1"/>
          <p:nvPr/>
        </p:nvSpPr>
        <p:spPr>
          <a:xfrm>
            <a:off x="7891120" y="20215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6" name="rect-066"/>
          <p:cNvSpPr/>
          <p:nvPr/>
        </p:nvSpPr>
        <p:spPr>
          <a:xfrm>
            <a:off x="11514328" y="44521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5"/>
          <p:cNvSpPr txBox="1"/>
          <p:nvPr/>
        </p:nvSpPr>
        <p:spPr>
          <a:xfrm>
            <a:off x="11457788" y="44324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8" name="rect-068"/>
          <p:cNvSpPr/>
          <p:nvPr/>
        </p:nvSpPr>
        <p:spPr>
          <a:xfrm>
            <a:off x="9121140" y="5575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6"/>
          <p:cNvSpPr txBox="1"/>
          <p:nvPr/>
        </p:nvSpPr>
        <p:spPr>
          <a:xfrm>
            <a:off x="9064600" y="5556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70" name="rect-070"/>
          <p:cNvSpPr/>
          <p:nvPr/>
        </p:nvSpPr>
        <p:spPr>
          <a:xfrm>
            <a:off x="8420608" y="44698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7"/>
          <p:cNvSpPr txBox="1"/>
          <p:nvPr/>
        </p:nvSpPr>
        <p:spPr>
          <a:xfrm>
            <a:off x="8364068" y="44502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2" name="rect-072"/>
          <p:cNvSpPr/>
          <p:nvPr/>
        </p:nvSpPr>
        <p:spPr>
          <a:xfrm>
            <a:off x="419608" y="46299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8"/>
          <p:cNvSpPr txBox="1"/>
          <p:nvPr/>
        </p:nvSpPr>
        <p:spPr>
          <a:xfrm>
            <a:off x="363068" y="46102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4" name="rect-074"/>
          <p:cNvSpPr/>
          <p:nvPr/>
        </p:nvSpPr>
        <p:spPr>
          <a:xfrm>
            <a:off x="4391660" y="43312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E09"/>
          <p:cNvSpPr txBox="1"/>
          <p:nvPr/>
        </p:nvSpPr>
        <p:spPr>
          <a:xfrm>
            <a:off x="4335120" y="43115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6" name="rect-076"/>
          <p:cNvSpPr/>
          <p:nvPr/>
        </p:nvSpPr>
        <p:spPr>
          <a:xfrm>
            <a:off x="5405120" y="48290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E10"/>
          <p:cNvSpPr txBox="1"/>
          <p:nvPr/>
        </p:nvSpPr>
        <p:spPr>
          <a:xfrm>
            <a:off x="5348580" y="48094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8" name="text-078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9" name="text-079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6B  LLC / SPM：相同 SRAM 的 way 分配与配置提交"/>
          <p:cNvSpPr txBox="1"/>
          <p:nvPr/>
        </p:nvSpPr>
        <p:spPr>
          <a:xfrm>
            <a:off x="284480" y="1347297"/>
            <a:ext cx="642924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16B  LLC / SPM：相同 SRAM 的 way 分配与配置提交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489200"/>
            <a:ext cx="2773680" cy="1351280"/>
          </a:xfrm>
          <a:prstGeom prst="roundRect">
            <a:avLst>
              <a:gd name="adj" fmla="val 4210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-004"/>
          <p:cNvSpPr/>
          <p:nvPr/>
        </p:nvSpPr>
        <p:spPr>
          <a:xfrm>
            <a:off x="305816" y="2510536"/>
            <a:ext cx="2731008" cy="327152"/>
          </a:xfrm>
          <a:prstGeom prst="roundRect">
            <a:avLst>
              <a:gd name="adj" fmla="val 10869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1  axi_llc_reg_top"/>
          <p:cNvSpPr txBox="1"/>
          <p:nvPr/>
        </p:nvSpPr>
        <p:spPr>
          <a:xfrm>
            <a:off x="587451" y="2582225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1  axi_llc_reg_top</a:t>
            </a:r>
          </a:p>
        </p:txBody>
      </p:sp>
      <p:sp>
        <p:nvSpPr>
          <p:cNvPr id="6" name="text-006: CFG_SPM / CFG_FLUSH"/>
          <p:cNvSpPr txBox="1"/>
          <p:nvPr/>
        </p:nvSpPr>
        <p:spPr>
          <a:xfrm>
            <a:off x="626923" y="2825171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CFG_SPM / CFG_FLUSH</a:t>
            </a:r>
          </a:p>
        </p:txBody>
      </p:sp>
      <p:sp>
        <p:nvSpPr>
          <p:cNvPr id="7" name="text-007: COMMIT_CFG / FLUSHED"/>
          <p:cNvSpPr txBox="1"/>
          <p:nvPr/>
        </p:nvSpPr>
        <p:spPr>
          <a:xfrm>
            <a:off x="576072" y="305275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COMMIT_CFG / FLUSHED</a:t>
            </a:r>
          </a:p>
        </p:txBody>
      </p:sp>
      <p:sp>
        <p:nvSpPr>
          <p:cNvPr id="8" name="text-008: BIST / 容量 / 版本"/>
          <p:cNvSpPr txBox="1"/>
          <p:nvPr/>
        </p:nvSpPr>
        <p:spPr>
          <a:xfrm>
            <a:off x="771652" y="3280339"/>
            <a:ext cx="17993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BIST / 容量 / 版本</a:t>
            </a:r>
          </a:p>
        </p:txBody>
      </p:sp>
      <p:sp>
        <p:nvSpPr>
          <p:cNvPr id="9" name="text-009: 当前控制接口：Regbus"/>
          <p:cNvSpPr txBox="1"/>
          <p:nvPr/>
        </p:nvSpPr>
        <p:spPr>
          <a:xfrm>
            <a:off x="740359" y="350792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当前控制接口：Regbus</a:t>
            </a:r>
          </a:p>
        </p:txBody>
      </p:sp>
      <p:sp>
        <p:nvSpPr>
          <p:cNvPr id="10" name="rect-010"/>
          <p:cNvSpPr/>
          <p:nvPr/>
        </p:nvSpPr>
        <p:spPr>
          <a:xfrm>
            <a:off x="4196080" y="2489200"/>
            <a:ext cx="3058160" cy="1351280"/>
          </a:xfrm>
          <a:prstGeom prst="roundRect">
            <a:avLst>
              <a:gd name="adj" fmla="val 4210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-011"/>
          <p:cNvSpPr/>
          <p:nvPr/>
        </p:nvSpPr>
        <p:spPr>
          <a:xfrm>
            <a:off x="4217416" y="2510536"/>
            <a:ext cx="3015488" cy="327152"/>
          </a:xfrm>
          <a:prstGeom prst="roundRect">
            <a:avLst>
              <a:gd name="adj" fmla="val 10869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2  axi_llc_config"/>
          <p:cNvSpPr txBox="1"/>
          <p:nvPr/>
        </p:nvSpPr>
        <p:spPr>
          <a:xfrm>
            <a:off x="4696765" y="2582225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2  axi_llc_config</a:t>
            </a:r>
          </a:p>
        </p:txBody>
      </p:sp>
      <p:sp>
        <p:nvSpPr>
          <p:cNvPr id="13" name="text-013: 提交新配置 / 停止接收新事务"/>
          <p:cNvSpPr txBox="1"/>
          <p:nvPr/>
        </p:nvSpPr>
        <p:spPr>
          <a:xfrm>
            <a:off x="4555592" y="2825171"/>
            <a:ext cx="233913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提交新配置 / 停止接收新事务</a:t>
            </a:r>
          </a:p>
        </p:txBody>
      </p:sp>
      <p:sp>
        <p:nvSpPr>
          <p:cNvPr id="14" name="text-014: 等待在途工作 / 发 flush 描述符"/>
          <p:cNvSpPr txBox="1"/>
          <p:nvPr/>
        </p:nvSpPr>
        <p:spPr>
          <a:xfrm>
            <a:off x="4356100" y="3052755"/>
            <a:ext cx="27381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等待在途工作 / 发 flush 描述符</a:t>
            </a:r>
          </a:p>
        </p:txBody>
      </p:sp>
      <p:sp>
        <p:nvSpPr>
          <p:cNvPr id="15" name="text-015: 必要时写回脏行"/>
          <p:cNvSpPr txBox="1"/>
          <p:nvPr/>
        </p:nvSpPr>
        <p:spPr>
          <a:xfrm>
            <a:off x="5099304" y="3280339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16" name="text-016: 更新 spm_lock / flushed"/>
          <p:cNvSpPr txBox="1"/>
          <p:nvPr/>
        </p:nvSpPr>
        <p:spPr>
          <a:xfrm>
            <a:off x="4524299" y="3507923"/>
            <a:ext cx="24017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更新 spm_lock / flushed</a:t>
            </a:r>
          </a:p>
        </p:txBody>
      </p:sp>
      <p:sp>
        <p:nvSpPr>
          <p:cNvPr id="17" name="E01"/>
          <p:cNvSpPr/>
          <p:nvPr/>
        </p:nvSpPr>
        <p:spPr>
          <a:xfrm>
            <a:off x="3058160" y="309372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8"/>
          <p:cNvSpPr/>
          <p:nvPr/>
        </p:nvSpPr>
        <p:spPr>
          <a:xfrm>
            <a:off x="8321040" y="2489200"/>
            <a:ext cx="4018280" cy="1351280"/>
          </a:xfrm>
          <a:prstGeom prst="roundRect">
            <a:avLst>
              <a:gd name="adj" fmla="val 4210"/>
            </a:avLst>
          </a:prstGeom>
          <a:solidFill>
            <a:srgbClr val="FFF8EB"/>
          </a:solidFill>
          <a:ln w="12802" cap="flat">
            <a:solidFill>
              <a:srgbClr val="96601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9"/>
          <p:cNvSpPr/>
          <p:nvPr/>
        </p:nvSpPr>
        <p:spPr>
          <a:xfrm>
            <a:off x="8342376" y="2510536"/>
            <a:ext cx="3975608" cy="327152"/>
          </a:xfrm>
          <a:prstGeom prst="roundRect">
            <a:avLst>
              <a:gd name="adj" fmla="val 10869"/>
            </a:avLst>
          </a:prstGeom>
          <a:solidFill>
            <a:srgbClr val="966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3  地址与 way 选择"/>
          <p:cNvSpPr txBox="1"/>
          <p:nvPr/>
        </p:nvSpPr>
        <p:spPr>
          <a:xfrm>
            <a:off x="9374327" y="2582225"/>
            <a:ext cx="19117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3  地址与 way 选择</a:t>
            </a:r>
          </a:p>
        </p:txBody>
      </p:sp>
      <p:sp>
        <p:nvSpPr>
          <p:cNvPr id="21" name="text-021: cache 地址：tag lookup → cache way"/>
          <p:cNvSpPr txBox="1"/>
          <p:nvPr/>
        </p:nvSpPr>
        <p:spPr>
          <a:xfrm>
            <a:off x="8566048" y="2825171"/>
            <a:ext cx="35282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地址：tag lookup → cache way</a:t>
            </a:r>
          </a:p>
        </p:txBody>
      </p:sp>
      <p:sp>
        <p:nvSpPr>
          <p:cNvPr id="22" name="text-022: SPM 地址：直接选择被锁定的 way"/>
          <p:cNvSpPr txBox="1"/>
          <p:nvPr/>
        </p:nvSpPr>
        <p:spPr>
          <a:xfrm>
            <a:off x="8984590" y="3052755"/>
            <a:ext cx="26911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地址：直接选择被锁定的 way</a:t>
            </a:r>
          </a:p>
        </p:txBody>
      </p:sp>
      <p:sp>
        <p:nvSpPr>
          <p:cNvPr id="23" name="text-023: 未配置为 SPM 的对应 way 不可当 RAM 用"/>
          <p:cNvSpPr txBox="1"/>
          <p:nvPr/>
        </p:nvSpPr>
        <p:spPr>
          <a:xfrm>
            <a:off x="8628634" y="3280339"/>
            <a:ext cx="34030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未配置为 SPM 的对应 way 不可当 RAM 用</a:t>
            </a:r>
          </a:p>
        </p:txBody>
      </p:sp>
      <p:sp>
        <p:nvSpPr>
          <p:cNvPr id="24" name="text-024: SPM 访问不进行外存 refill"/>
          <p:cNvSpPr txBox="1"/>
          <p:nvPr/>
        </p:nvSpPr>
        <p:spPr>
          <a:xfrm>
            <a:off x="9144965" y="3507923"/>
            <a:ext cx="23704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访问不进行外存 refill</a:t>
            </a:r>
          </a:p>
        </p:txBody>
      </p:sp>
      <p:sp>
        <p:nvSpPr>
          <p:cNvPr id="25" name="E02"/>
          <p:cNvSpPr/>
          <p:nvPr/>
        </p:nvSpPr>
        <p:spPr>
          <a:xfrm>
            <a:off x="7254240" y="309372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6"/>
          <p:cNvSpPr/>
          <p:nvPr/>
        </p:nvSpPr>
        <p:spPr>
          <a:xfrm>
            <a:off x="4338320" y="4907280"/>
            <a:ext cx="8001000" cy="1991360"/>
          </a:xfrm>
          <a:prstGeom prst="roundRect">
            <a:avLst>
              <a:gd name="adj" fmla="val 4285"/>
            </a:avLst>
          </a:prstGeom>
          <a:solidFill>
            <a:srgbClr val="F8FAFD"/>
          </a:solidFill>
          <a:ln w="12090" cap="flat">
            <a:solidFill>
              <a:srgbClr val="A6B5C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4  同一组数据 SRAM：下图仅为分区示例，不代表当前运行配置"/>
          <p:cNvSpPr txBox="1"/>
          <p:nvPr/>
        </p:nvSpPr>
        <p:spPr>
          <a:xfrm>
            <a:off x="4445000" y="4943978"/>
            <a:ext cx="493999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4  同一组数据 SRAM：下图仅为分区示例，不代表当前运行配置</a:t>
            </a:r>
          </a:p>
        </p:txBody>
      </p:sp>
      <p:sp>
        <p:nvSpPr>
          <p:cNvPr id="28" name="rect-028"/>
          <p:cNvSpPr/>
          <p:nvPr/>
        </p:nvSpPr>
        <p:spPr>
          <a:xfrm>
            <a:off x="4587240" y="5405120"/>
            <a:ext cx="1706880" cy="1102360"/>
          </a:xfrm>
          <a:prstGeom prst="roundRect">
            <a:avLst>
              <a:gd name="adj" fmla="val 5161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9"/>
          <p:cNvSpPr/>
          <p:nvPr/>
        </p:nvSpPr>
        <p:spPr>
          <a:xfrm>
            <a:off x="4608576" y="5426456"/>
            <a:ext cx="1664208" cy="430276"/>
          </a:xfrm>
          <a:prstGeom prst="roundRect">
            <a:avLst>
              <a:gd name="adj" fmla="val 8264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line-030"/>
          <p:cNvSpPr/>
          <p:nvPr/>
        </p:nvSpPr>
        <p:spPr>
          <a:xfrm>
            <a:off x="467258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way 0"/>
          <p:cNvSpPr txBox="1"/>
          <p:nvPr/>
        </p:nvSpPr>
        <p:spPr>
          <a:xfrm>
            <a:off x="507796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32" name="text-032: SPM"/>
          <p:cNvSpPr txBox="1"/>
          <p:nvPr/>
        </p:nvSpPr>
        <p:spPr>
          <a:xfrm>
            <a:off x="5209896" y="58442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33" name="text-033: 相同 data SRAM"/>
          <p:cNvSpPr txBox="1"/>
          <p:nvPr/>
        </p:nvSpPr>
        <p:spPr>
          <a:xfrm>
            <a:off x="469747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34" name="rect-034"/>
          <p:cNvSpPr/>
          <p:nvPr/>
        </p:nvSpPr>
        <p:spPr>
          <a:xfrm>
            <a:off x="6471920" y="5405120"/>
            <a:ext cx="1706880" cy="1102360"/>
          </a:xfrm>
          <a:prstGeom prst="roundRect">
            <a:avLst>
              <a:gd name="adj" fmla="val 5161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5"/>
          <p:cNvSpPr/>
          <p:nvPr/>
        </p:nvSpPr>
        <p:spPr>
          <a:xfrm>
            <a:off x="6493256" y="5426456"/>
            <a:ext cx="1664208" cy="430276"/>
          </a:xfrm>
          <a:prstGeom prst="roundRect">
            <a:avLst>
              <a:gd name="adj" fmla="val 8264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olyline-036"/>
          <p:cNvSpPr/>
          <p:nvPr/>
        </p:nvSpPr>
        <p:spPr>
          <a:xfrm>
            <a:off x="655726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way 1"/>
          <p:cNvSpPr txBox="1"/>
          <p:nvPr/>
        </p:nvSpPr>
        <p:spPr>
          <a:xfrm>
            <a:off x="696264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38" name="text-038: SPM"/>
          <p:cNvSpPr txBox="1"/>
          <p:nvPr/>
        </p:nvSpPr>
        <p:spPr>
          <a:xfrm>
            <a:off x="7094576" y="58442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39" name="text-039: 相同 data SRAM"/>
          <p:cNvSpPr txBox="1"/>
          <p:nvPr/>
        </p:nvSpPr>
        <p:spPr>
          <a:xfrm>
            <a:off x="658215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40" name="rect-040"/>
          <p:cNvSpPr/>
          <p:nvPr/>
        </p:nvSpPr>
        <p:spPr>
          <a:xfrm>
            <a:off x="8356600" y="5405120"/>
            <a:ext cx="1706880" cy="1102360"/>
          </a:xfrm>
          <a:prstGeom prst="roundRect">
            <a:avLst>
              <a:gd name="adj" fmla="val 5161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8377936" y="5426456"/>
            <a:ext cx="1664208" cy="430276"/>
          </a:xfrm>
          <a:prstGeom prst="roundRect">
            <a:avLst>
              <a:gd name="adj" fmla="val 8264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line-042"/>
          <p:cNvSpPr/>
          <p:nvPr/>
        </p:nvSpPr>
        <p:spPr>
          <a:xfrm>
            <a:off x="844194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way 2"/>
          <p:cNvSpPr txBox="1"/>
          <p:nvPr/>
        </p:nvSpPr>
        <p:spPr>
          <a:xfrm>
            <a:off x="884732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44" name="text-044: Cache"/>
          <p:cNvSpPr txBox="1"/>
          <p:nvPr/>
        </p:nvSpPr>
        <p:spPr>
          <a:xfrm>
            <a:off x="8877554" y="5844215"/>
            <a:ext cx="664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45" name="text-045: 相同 data SRAM"/>
          <p:cNvSpPr txBox="1"/>
          <p:nvPr/>
        </p:nvSpPr>
        <p:spPr>
          <a:xfrm>
            <a:off x="846683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46" name="rect-046"/>
          <p:cNvSpPr/>
          <p:nvPr/>
        </p:nvSpPr>
        <p:spPr>
          <a:xfrm>
            <a:off x="10241280" y="5405120"/>
            <a:ext cx="1706880" cy="1102360"/>
          </a:xfrm>
          <a:prstGeom prst="roundRect">
            <a:avLst>
              <a:gd name="adj" fmla="val 5161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7"/>
          <p:cNvSpPr/>
          <p:nvPr/>
        </p:nvSpPr>
        <p:spPr>
          <a:xfrm>
            <a:off x="10262616" y="5426456"/>
            <a:ext cx="1664208" cy="430276"/>
          </a:xfrm>
          <a:prstGeom prst="roundRect">
            <a:avLst>
              <a:gd name="adj" fmla="val 8264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line-048"/>
          <p:cNvSpPr/>
          <p:nvPr/>
        </p:nvSpPr>
        <p:spPr>
          <a:xfrm>
            <a:off x="1032662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way 3"/>
          <p:cNvSpPr txBox="1"/>
          <p:nvPr/>
        </p:nvSpPr>
        <p:spPr>
          <a:xfrm>
            <a:off x="1073200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50" name="text-050: Cache"/>
          <p:cNvSpPr txBox="1"/>
          <p:nvPr/>
        </p:nvSpPr>
        <p:spPr>
          <a:xfrm>
            <a:off x="10762234" y="5844215"/>
            <a:ext cx="664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51" name="text-051: 相同 data SRAM"/>
          <p:cNvSpPr txBox="1"/>
          <p:nvPr/>
        </p:nvSpPr>
        <p:spPr>
          <a:xfrm>
            <a:off x="1035151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52" name="E03"/>
          <p:cNvSpPr/>
          <p:nvPr/>
        </p:nvSpPr>
        <p:spPr>
          <a:xfrm>
            <a:off x="10099040" y="3840480"/>
            <a:ext cx="1" cy="1066800"/>
          </a:xfrm>
          <a:custGeom>
            <a:avLst/>
            <a:gdLst/>
            <a:ahLst/>
            <a:cxnLst/>
            <a:rect l="0" t="0" r="r" b="b"/>
            <a:pathLst>
              <a:path w="1" h="1066800" fill="none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SoC 的 SPM 地址别名"/>
          <p:cNvSpPr txBox="1"/>
          <p:nvPr/>
        </p:nvSpPr>
        <p:spPr>
          <a:xfrm>
            <a:off x="497840" y="5185217"/>
            <a:ext cx="20226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的 SPM 地址别名</a:t>
            </a:r>
          </a:p>
        </p:txBody>
      </p:sp>
      <p:sp>
        <p:nvSpPr>
          <p:cNvPr id="54" name="text-054: AmSpm / AmSpmBaseUncached"/>
          <p:cNvSpPr txBox="1"/>
          <p:nvPr/>
        </p:nvSpPr>
        <p:spPr>
          <a:xfrm>
            <a:off x="497840" y="5556179"/>
            <a:ext cx="26990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AmSpm / AmSpmBaseUncached</a:t>
            </a:r>
          </a:p>
        </p:txBody>
      </p:sp>
      <p:sp>
        <p:nvSpPr>
          <p:cNvPr id="55" name="text-055: 外层地址重映射到同一存储"/>
          <p:cNvSpPr txBox="1"/>
          <p:nvPr/>
        </p:nvSpPr>
        <p:spPr>
          <a:xfrm>
            <a:off x="497840" y="5904098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外层地址重映射到同一存储</a:t>
            </a:r>
          </a:p>
        </p:txBody>
      </p:sp>
      <p:sp>
        <p:nvSpPr>
          <p:cNvPr id="56" name="text-056: CPU 缓存属性需另外匹配"/>
          <p:cNvSpPr txBox="1"/>
          <p:nvPr/>
        </p:nvSpPr>
        <p:spPr>
          <a:xfrm>
            <a:off x="497840" y="6259698"/>
            <a:ext cx="206105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缓存属性需另外匹配</a:t>
            </a:r>
          </a:p>
        </p:txBody>
      </p:sp>
      <p:sp>
        <p:nvSpPr>
          <p:cNvPr id="57" name="text-057: LLC/SPM 不是独立 Global Buffer；DDR 旁路 master"/>
          <p:cNvSpPr txBox="1"/>
          <p:nvPr/>
        </p:nvSpPr>
        <p:spPr>
          <a:xfrm>
            <a:off x="320040" y="7212137"/>
            <a:ext cx="857707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LLC/SPM 不是独立 Global Buffer；DDR 旁路 master 也不会自动窥探 CPU / LLC 中的脏数据。</a:t>
            </a:r>
          </a:p>
        </p:txBody>
      </p:sp>
      <p:sp>
        <p:nvSpPr>
          <p:cNvPr id="58" name="rect-058"/>
          <p:cNvSpPr/>
          <p:nvPr/>
        </p:nvSpPr>
        <p:spPr>
          <a:xfrm>
            <a:off x="344932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1"/>
          <p:cNvSpPr txBox="1"/>
          <p:nvPr/>
        </p:nvSpPr>
        <p:spPr>
          <a:xfrm>
            <a:off x="339278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60" name="rect-060"/>
          <p:cNvSpPr/>
          <p:nvPr/>
        </p:nvSpPr>
        <p:spPr>
          <a:xfrm>
            <a:off x="760984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2"/>
          <p:cNvSpPr txBox="1"/>
          <p:nvPr/>
        </p:nvSpPr>
        <p:spPr>
          <a:xfrm>
            <a:off x="755330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2" name="rect-062"/>
          <p:cNvSpPr/>
          <p:nvPr/>
        </p:nvSpPr>
        <p:spPr>
          <a:xfrm>
            <a:off x="10163048" y="42743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3"/>
          <p:cNvSpPr txBox="1"/>
          <p:nvPr/>
        </p:nvSpPr>
        <p:spPr>
          <a:xfrm>
            <a:off x="10106508" y="42546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4" name="text-064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5" name="text-065: 虚线连线表示控制/事件；虚线模块表示规划。交叉无圆点不连接。C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外部 IP 的 AXI 数据口与 Reg 控制口"/>
          <p:cNvSpPr txBox="1"/>
          <p:nvPr/>
        </p:nvSpPr>
        <p:spPr>
          <a:xfrm>
            <a:off x="284480" y="102697"/>
            <a:ext cx="457443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外部 IP 的 AXI 数据口与 Reg 控制口</a:t>
            </a:r>
          </a:p>
        </p:txBody>
      </p:sp>
      <p:sp>
        <p:nvSpPr>
          <p:cNvPr id="3" name="text-003: 已有扩展逻辑默认端口数为 0。规划模块尚未接入；AXI 双箭头概括请求和响应，m"/>
          <p:cNvSpPr txBox="1"/>
          <p:nvPr/>
        </p:nvSpPr>
        <p:spPr>
          <a:xfrm>
            <a:off x="284480" y="499547"/>
            <a:ext cx="77371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已有扩展逻辑默认端口数为 0。规划模块尚未接入；AXI 双箭头概括请求和响应，master 由边说明指定。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12801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448056" y="13014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新增数据 master"/>
          <p:cNvSpPr txBox="1"/>
          <p:nvPr/>
        </p:nvSpPr>
        <p:spPr>
          <a:xfrm>
            <a:off x="1354125" y="1643441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新增数据 master</a:t>
            </a:r>
          </a:p>
        </p:txBody>
      </p:sp>
      <p:sp>
        <p:nvSpPr>
          <p:cNvPr id="7" name="text-007: NPU / DMA（规划）"/>
          <p:cNvSpPr txBox="1"/>
          <p:nvPr/>
        </p:nvSpPr>
        <p:spPr>
          <a:xfrm>
            <a:off x="1320343" y="188638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DMA（规划）</a:t>
            </a:r>
          </a:p>
        </p:txBody>
      </p:sp>
      <p:sp>
        <p:nvSpPr>
          <p:cNvPr id="8" name="rect-008"/>
          <p:cNvSpPr/>
          <p:nvPr/>
        </p:nvSpPr>
        <p:spPr>
          <a:xfrm>
            <a:off x="4622800" y="12801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-009"/>
          <p:cNvSpPr/>
          <p:nvPr/>
        </p:nvSpPr>
        <p:spPr>
          <a:xfrm>
            <a:off x="4644136" y="13014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DW / ID / CDC"/>
          <p:cNvSpPr txBox="1"/>
          <p:nvPr/>
        </p:nvSpPr>
        <p:spPr>
          <a:xfrm>
            <a:off x="5558739" y="164344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DW / ID / CDC</a:t>
            </a:r>
          </a:p>
        </p:txBody>
      </p:sp>
      <p:sp>
        <p:nvSpPr>
          <p:cNvPr id="11" name="text-011: 按接口差异选配"/>
          <p:cNvSpPr txBox="1"/>
          <p:nvPr/>
        </p:nvSpPr>
        <p:spPr>
          <a:xfrm>
            <a:off x="5739384" y="188638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按接口差异选配</a:t>
            </a:r>
          </a:p>
        </p:txBody>
      </p:sp>
      <p:sp>
        <p:nvSpPr>
          <p:cNvPr id="12" name="rect-012"/>
          <p:cNvSpPr/>
          <p:nvPr/>
        </p:nvSpPr>
        <p:spPr>
          <a:xfrm>
            <a:off x="8818880" y="12801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8840216" y="13014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AXI RT / 直连"/>
          <p:cNvSpPr txBox="1"/>
          <p:nvPr/>
        </p:nvSpPr>
        <p:spPr>
          <a:xfrm>
            <a:off x="9806026" y="1643441"/>
            <a:ext cx="151058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AXI RT / 直连</a:t>
            </a:r>
          </a:p>
        </p:txBody>
      </p:sp>
      <p:sp>
        <p:nvSpPr>
          <p:cNvPr id="15" name="text-015: 已有；默认 RT 关闭"/>
          <p:cNvSpPr txBox="1"/>
          <p:nvPr/>
        </p:nvSpPr>
        <p:spPr>
          <a:xfrm>
            <a:off x="9732061" y="1886387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已有；默认 RT 关闭</a:t>
            </a:r>
          </a:p>
        </p:txBody>
      </p:sp>
      <p:sp>
        <p:nvSpPr>
          <p:cNvPr id="16" name="rect-016"/>
          <p:cNvSpPr/>
          <p:nvPr/>
        </p:nvSpPr>
        <p:spPr>
          <a:xfrm>
            <a:off x="426720" y="334264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448056" y="336397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i_axi_xbar"/>
          <p:cNvSpPr txBox="1"/>
          <p:nvPr/>
        </p:nvSpPr>
        <p:spPr>
          <a:xfrm>
            <a:off x="1529080" y="3705921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i_axi_xbar</a:t>
            </a:r>
          </a:p>
        </p:txBody>
      </p:sp>
      <p:sp>
        <p:nvSpPr>
          <p:cNvPr id="19" name="text-019: 规则选择目标"/>
          <p:cNvSpPr txBox="1"/>
          <p:nvPr/>
        </p:nvSpPr>
        <p:spPr>
          <a:xfrm>
            <a:off x="1621536" y="394886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规则选择目标</a:t>
            </a:r>
          </a:p>
        </p:txBody>
      </p:sp>
      <p:sp>
        <p:nvSpPr>
          <p:cNvPr id="20" name="rect-020"/>
          <p:cNvSpPr/>
          <p:nvPr/>
        </p:nvSpPr>
        <p:spPr>
          <a:xfrm>
            <a:off x="4622800" y="334264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1F5FA"/>
          </a:solidFill>
          <a:ln w="12802" cap="flat">
            <a:solidFill>
              <a:srgbClr val="526A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1"/>
          <p:cNvSpPr/>
          <p:nvPr/>
        </p:nvSpPr>
        <p:spPr>
          <a:xfrm>
            <a:off x="4644136" y="336397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526A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AXI 外部 slave 口"/>
          <p:cNvSpPr txBox="1"/>
          <p:nvPr/>
        </p:nvSpPr>
        <p:spPr>
          <a:xfrm>
            <a:off x="5413654" y="3705921"/>
            <a:ext cx="190317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AXI 外部 slave 口</a:t>
            </a:r>
          </a:p>
        </p:txBody>
      </p:sp>
      <p:sp>
        <p:nvSpPr>
          <p:cNvPr id="23" name="text-023: 默认数量 0"/>
          <p:cNvSpPr txBox="1"/>
          <p:nvPr/>
        </p:nvSpPr>
        <p:spPr>
          <a:xfrm>
            <a:off x="5872378" y="3948867"/>
            <a:ext cx="9857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默认数量 0</a:t>
            </a:r>
          </a:p>
        </p:txBody>
      </p:sp>
      <p:sp>
        <p:nvSpPr>
          <p:cNvPr id="24" name="rect-024"/>
          <p:cNvSpPr/>
          <p:nvPr/>
        </p:nvSpPr>
        <p:spPr>
          <a:xfrm>
            <a:off x="8818880" y="334264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6F1FB"/>
          </a:solidFill>
          <a:ln w="12802" cap="flat">
            <a:solidFill>
              <a:srgbClr val="7552A1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5"/>
          <p:cNvSpPr/>
          <p:nvPr/>
        </p:nvSpPr>
        <p:spPr>
          <a:xfrm>
            <a:off x="8840216" y="336397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6"/>
          <p:cNvSpPr/>
          <p:nvPr/>
        </p:nvSpPr>
        <p:spPr>
          <a:xfrm>
            <a:off x="8904224" y="334264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新增 AXI slave"/>
          <p:cNvSpPr txBox="1"/>
          <p:nvPr/>
        </p:nvSpPr>
        <p:spPr>
          <a:xfrm>
            <a:off x="9750552" y="3705921"/>
            <a:ext cx="16215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新增 AXI slave</a:t>
            </a:r>
          </a:p>
        </p:txBody>
      </p:sp>
      <p:sp>
        <p:nvSpPr>
          <p:cNvPr id="28" name="text-028: 存储 / IP 窗口"/>
          <p:cNvSpPr txBox="1"/>
          <p:nvPr/>
        </p:nvSpPr>
        <p:spPr>
          <a:xfrm>
            <a:off x="9865055" y="3948867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存储 / IP 窗口</a:t>
            </a:r>
          </a:p>
        </p:txBody>
      </p:sp>
      <p:sp>
        <p:nvSpPr>
          <p:cNvPr id="29" name="rect-029"/>
          <p:cNvSpPr/>
          <p:nvPr/>
        </p:nvSpPr>
        <p:spPr>
          <a:xfrm>
            <a:off x="426720" y="540512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0"/>
          <p:cNvSpPr/>
          <p:nvPr/>
        </p:nvSpPr>
        <p:spPr>
          <a:xfrm>
            <a:off x="448056" y="542645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axi_to_reg_v2"/>
          <p:cNvSpPr txBox="1"/>
          <p:nvPr/>
        </p:nvSpPr>
        <p:spPr>
          <a:xfrm>
            <a:off x="1362659" y="576840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axi_to_reg_v2</a:t>
            </a:r>
          </a:p>
        </p:txBody>
      </p:sp>
      <p:sp>
        <p:nvSpPr>
          <p:cNvPr id="32" name="text-032: 64 → 32（默认）"/>
          <p:cNvSpPr txBox="1"/>
          <p:nvPr/>
        </p:nvSpPr>
        <p:spPr>
          <a:xfrm>
            <a:off x="1394663" y="6011347"/>
            <a:ext cx="15489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64 → 32（默认）</a:t>
            </a:r>
          </a:p>
        </p:txBody>
      </p:sp>
      <p:sp>
        <p:nvSpPr>
          <p:cNvPr id="33" name="rect-033"/>
          <p:cNvSpPr/>
          <p:nvPr/>
        </p:nvSpPr>
        <p:spPr>
          <a:xfrm>
            <a:off x="4622800" y="540512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4"/>
          <p:cNvSpPr/>
          <p:nvPr/>
        </p:nvSpPr>
        <p:spPr>
          <a:xfrm>
            <a:off x="4644136" y="542645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Reg decode / demux"/>
          <p:cNvSpPr txBox="1"/>
          <p:nvPr/>
        </p:nvSpPr>
        <p:spPr>
          <a:xfrm>
            <a:off x="5281371" y="5768401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Reg decode / demux</a:t>
            </a:r>
          </a:p>
        </p:txBody>
      </p:sp>
      <p:sp>
        <p:nvSpPr>
          <p:cNvPr id="36" name="text-036: 第二级地址选择"/>
          <p:cNvSpPr txBox="1"/>
          <p:nvPr/>
        </p:nvSpPr>
        <p:spPr>
          <a:xfrm>
            <a:off x="5739384" y="601134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第二级地址选择</a:t>
            </a:r>
          </a:p>
        </p:txBody>
      </p:sp>
      <p:sp>
        <p:nvSpPr>
          <p:cNvPr id="37" name="rect-037"/>
          <p:cNvSpPr/>
          <p:nvPr/>
        </p:nvSpPr>
        <p:spPr>
          <a:xfrm>
            <a:off x="8818880" y="540512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1F5FA"/>
          </a:solidFill>
          <a:ln w="12802" cap="flat">
            <a:solidFill>
              <a:srgbClr val="526A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8"/>
          <p:cNvSpPr/>
          <p:nvPr/>
        </p:nvSpPr>
        <p:spPr>
          <a:xfrm>
            <a:off x="8840216" y="542645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526A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eg 外部 slave 口"/>
          <p:cNvSpPr txBox="1"/>
          <p:nvPr/>
        </p:nvSpPr>
        <p:spPr>
          <a:xfrm>
            <a:off x="9609734" y="5768401"/>
            <a:ext cx="190317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Reg 外部 slave 口</a:t>
            </a:r>
          </a:p>
        </p:txBody>
      </p:sp>
      <p:sp>
        <p:nvSpPr>
          <p:cNvPr id="40" name="text-040: 默认数量 0"/>
          <p:cNvSpPr txBox="1"/>
          <p:nvPr/>
        </p:nvSpPr>
        <p:spPr>
          <a:xfrm>
            <a:off x="10068458" y="6011347"/>
            <a:ext cx="9857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默认数量 0</a:t>
            </a:r>
          </a:p>
        </p:txBody>
      </p:sp>
      <p:sp>
        <p:nvSpPr>
          <p:cNvPr id="41" name="rect-041"/>
          <p:cNvSpPr/>
          <p:nvPr/>
        </p:nvSpPr>
        <p:spPr>
          <a:xfrm>
            <a:off x="426720" y="746760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2"/>
          <p:cNvSpPr/>
          <p:nvPr/>
        </p:nvSpPr>
        <p:spPr>
          <a:xfrm>
            <a:off x="448056" y="748893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新增配置寄存器"/>
          <p:cNvSpPr txBox="1"/>
          <p:nvPr/>
        </p:nvSpPr>
        <p:spPr>
          <a:xfrm>
            <a:off x="1486408" y="7830881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新增配置寄存器</a:t>
            </a:r>
          </a:p>
        </p:txBody>
      </p:sp>
      <p:sp>
        <p:nvSpPr>
          <p:cNvPr id="44" name="text-044: IP 控制 / 状态"/>
          <p:cNvSpPr txBox="1"/>
          <p:nvPr/>
        </p:nvSpPr>
        <p:spPr>
          <a:xfrm>
            <a:off x="1472895" y="8073827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控制 / 状态</a:t>
            </a:r>
          </a:p>
        </p:txBody>
      </p:sp>
      <p:sp>
        <p:nvSpPr>
          <p:cNvPr id="45" name="E01"/>
          <p:cNvSpPr/>
          <p:nvPr/>
        </p:nvSpPr>
        <p:spPr>
          <a:xfrm>
            <a:off x="391160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2"/>
          <p:cNvSpPr/>
          <p:nvPr/>
        </p:nvSpPr>
        <p:spPr>
          <a:xfrm>
            <a:off x="810768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3"/>
          <p:cNvSpPr/>
          <p:nvPr/>
        </p:nvSpPr>
        <p:spPr>
          <a:xfrm>
            <a:off x="3911600" y="1778000"/>
            <a:ext cx="4907280" cy="1849120"/>
          </a:xfrm>
          <a:custGeom>
            <a:avLst/>
            <a:gdLst/>
            <a:ahLst/>
            <a:cxnLst/>
            <a:rect l="0" t="0" r="r" b="b"/>
            <a:pathLst>
              <a:path w="4907280" h="1849120" fill="none">
                <a:moveTo>
                  <a:pt x="4907280" y="0"/>
                </a:moveTo>
                <a:lnTo>
                  <a:pt x="4765040" y="0"/>
                </a:lnTo>
                <a:lnTo>
                  <a:pt x="4765040" y="1422400"/>
                </a:lnTo>
                <a:lnTo>
                  <a:pt x="142240" y="1422400"/>
                </a:lnTo>
                <a:lnTo>
                  <a:pt x="142240" y="1849120"/>
                </a:lnTo>
                <a:lnTo>
                  <a:pt x="0" y="184912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4"/>
          <p:cNvSpPr/>
          <p:nvPr/>
        </p:nvSpPr>
        <p:spPr>
          <a:xfrm>
            <a:off x="3911600" y="362712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568960" y="21336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E05"/>
          <p:cNvSpPr/>
          <p:nvPr/>
        </p:nvSpPr>
        <p:spPr>
          <a:xfrm>
            <a:off x="8107680" y="362712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06"/>
          <p:cNvSpPr/>
          <p:nvPr/>
        </p:nvSpPr>
        <p:spPr>
          <a:xfrm>
            <a:off x="1066800" y="45516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142240"/>
                </a:lnTo>
                <a:lnTo>
                  <a:pt x="0" y="711200"/>
                </a:lnTo>
                <a:lnTo>
                  <a:pt x="0" y="85344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E07"/>
          <p:cNvSpPr/>
          <p:nvPr/>
        </p:nvSpPr>
        <p:spPr>
          <a:xfrm>
            <a:off x="3911600" y="56896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08"/>
          <p:cNvSpPr/>
          <p:nvPr/>
        </p:nvSpPr>
        <p:spPr>
          <a:xfrm>
            <a:off x="8107680" y="56896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09"/>
          <p:cNvSpPr/>
          <p:nvPr/>
        </p:nvSpPr>
        <p:spPr>
          <a:xfrm>
            <a:off x="3911600" y="5902960"/>
            <a:ext cx="4907280" cy="1849120"/>
          </a:xfrm>
          <a:custGeom>
            <a:avLst/>
            <a:gdLst/>
            <a:ahLst/>
            <a:cxnLst/>
            <a:rect l="0" t="0" r="r" b="b"/>
            <a:pathLst>
              <a:path w="4907280" h="1849120" fill="none">
                <a:moveTo>
                  <a:pt x="4907280" y="0"/>
                </a:moveTo>
                <a:lnTo>
                  <a:pt x="4765040" y="0"/>
                </a:lnTo>
                <a:lnTo>
                  <a:pt x="4765040" y="1849120"/>
                </a:lnTo>
                <a:lnTo>
                  <a:pt x="142240" y="1849120"/>
                </a:lnTo>
                <a:lnTo>
                  <a:pt x="0" y="184912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54"/>
          <p:cNvSpPr/>
          <p:nvPr/>
        </p:nvSpPr>
        <p:spPr>
          <a:xfrm>
            <a:off x="408940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1"/>
          <p:cNvSpPr txBox="1"/>
          <p:nvPr/>
        </p:nvSpPr>
        <p:spPr>
          <a:xfrm>
            <a:off x="403286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6" name="rect-056"/>
          <p:cNvSpPr/>
          <p:nvPr/>
        </p:nvSpPr>
        <p:spPr>
          <a:xfrm>
            <a:off x="828548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2"/>
          <p:cNvSpPr txBox="1"/>
          <p:nvPr/>
        </p:nvSpPr>
        <p:spPr>
          <a:xfrm>
            <a:off x="822894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8" name="rect-058"/>
          <p:cNvSpPr/>
          <p:nvPr/>
        </p:nvSpPr>
        <p:spPr>
          <a:xfrm>
            <a:off x="618744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3"/>
          <p:cNvSpPr txBox="1"/>
          <p:nvPr/>
        </p:nvSpPr>
        <p:spPr>
          <a:xfrm>
            <a:off x="613090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0" name="rect-060"/>
          <p:cNvSpPr/>
          <p:nvPr/>
        </p:nvSpPr>
        <p:spPr>
          <a:xfrm>
            <a:off x="4089400" y="3620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4"/>
          <p:cNvSpPr txBox="1"/>
          <p:nvPr/>
        </p:nvSpPr>
        <p:spPr>
          <a:xfrm>
            <a:off x="4032860" y="3600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2" name="rect-062"/>
          <p:cNvSpPr/>
          <p:nvPr/>
        </p:nvSpPr>
        <p:spPr>
          <a:xfrm>
            <a:off x="8285480" y="3406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5"/>
          <p:cNvSpPr txBox="1"/>
          <p:nvPr/>
        </p:nvSpPr>
        <p:spPr>
          <a:xfrm>
            <a:off x="8228940" y="3387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4" name="rect-064"/>
          <p:cNvSpPr/>
          <p:nvPr/>
        </p:nvSpPr>
        <p:spPr>
          <a:xfrm>
            <a:off x="1130808" y="48788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6"/>
          <p:cNvSpPr txBox="1"/>
          <p:nvPr/>
        </p:nvSpPr>
        <p:spPr>
          <a:xfrm>
            <a:off x="1074268" y="48592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6" name="rect-066"/>
          <p:cNvSpPr/>
          <p:nvPr/>
        </p:nvSpPr>
        <p:spPr>
          <a:xfrm>
            <a:off x="4089400" y="5469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7"/>
          <p:cNvSpPr txBox="1"/>
          <p:nvPr/>
        </p:nvSpPr>
        <p:spPr>
          <a:xfrm>
            <a:off x="4032860" y="5449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8" name="rect-068"/>
          <p:cNvSpPr/>
          <p:nvPr/>
        </p:nvSpPr>
        <p:spPr>
          <a:xfrm>
            <a:off x="8285480" y="5469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8"/>
          <p:cNvSpPr txBox="1"/>
          <p:nvPr/>
        </p:nvSpPr>
        <p:spPr>
          <a:xfrm>
            <a:off x="8228940" y="5449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0" name="rect-070"/>
          <p:cNvSpPr/>
          <p:nvPr/>
        </p:nvSpPr>
        <p:spPr>
          <a:xfrm>
            <a:off x="6187440" y="7531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9"/>
          <p:cNvSpPr txBox="1"/>
          <p:nvPr/>
        </p:nvSpPr>
        <p:spPr>
          <a:xfrm>
            <a:off x="6130900" y="7511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2" name="text-072: E 编号对应图下连接表；总线双箭头合并请求/响应；单箭头含义以表为准。"/>
          <p:cNvSpPr txBox="1"/>
          <p:nvPr/>
        </p:nvSpPr>
        <p:spPr>
          <a:xfrm>
            <a:off x="284480" y="94322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3" name="text-073: 虚线连线表示控制/事件；虚线模块表示规划。交叉无圆点不连接。C：连续走线。"/>
          <p:cNvSpPr txBox="1"/>
          <p:nvPr/>
        </p:nvSpPr>
        <p:spPr>
          <a:xfrm>
            <a:off x="284480" y="96313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异域 IP 的配置、时钟复位与 IRQ 边界"/>
          <p:cNvSpPr txBox="1"/>
          <p:nvPr/>
        </p:nvSpPr>
        <p:spPr>
          <a:xfrm>
            <a:off x="284480" y="1133937"/>
            <a:ext cx="451754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异域 IP 的配置、时钟复位与 IRQ 边界</a:t>
            </a:r>
          </a:p>
        </p:txBody>
      </p:sp>
      <p:sp>
        <p:nvSpPr>
          <p:cNvPr id="3" name="text-003: 候选接法：寄存器银行位于 IP 域。reg_cdc 源码已有，图中接入实例未实现"/>
          <p:cNvSpPr txBox="1"/>
          <p:nvPr/>
        </p:nvSpPr>
        <p:spPr>
          <a:xfrm>
            <a:off x="284480" y="1530787"/>
            <a:ext cx="830041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候选接法：寄存器银行位于 IP 域。reg_cdc 源码已有，图中接入实例未实现；本图不规定 PLL 频率或域划分。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231140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1F5FA"/>
          </a:solidFill>
          <a:ln w="12802" cap="flat">
            <a:solidFill>
              <a:srgbClr val="526A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448056" y="233273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526A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lk_i / rst_ni"/>
          <p:cNvSpPr txBox="1"/>
          <p:nvPr/>
        </p:nvSpPr>
        <p:spPr>
          <a:xfrm>
            <a:off x="1307186" y="2674681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clk_i / rst_ni</a:t>
            </a:r>
          </a:p>
        </p:txBody>
      </p:sp>
      <p:sp>
        <p:nvSpPr>
          <p:cNvPr id="7" name="text-007: SoC 外部输入"/>
          <p:cNvSpPr txBox="1"/>
          <p:nvPr/>
        </p:nvSpPr>
        <p:spPr>
          <a:xfrm>
            <a:off x="1574597" y="2917627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外部输入</a:t>
            </a:r>
          </a:p>
        </p:txBody>
      </p:sp>
      <p:sp>
        <p:nvSpPr>
          <p:cNvPr id="8" name="rect-008"/>
          <p:cNvSpPr/>
          <p:nvPr/>
        </p:nvSpPr>
        <p:spPr>
          <a:xfrm>
            <a:off x="4622800" y="231140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-009"/>
          <p:cNvSpPr/>
          <p:nvPr/>
        </p:nvSpPr>
        <p:spPr>
          <a:xfrm>
            <a:off x="4644136" y="233273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AXI → Reg / demux"/>
          <p:cNvSpPr txBox="1"/>
          <p:nvPr/>
        </p:nvSpPr>
        <p:spPr>
          <a:xfrm>
            <a:off x="5306974" y="2674681"/>
            <a:ext cx="21165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AXI → Reg / demux</a:t>
            </a:r>
          </a:p>
        </p:txBody>
      </p:sp>
      <p:sp>
        <p:nvSpPr>
          <p:cNvPr id="11" name="text-011: 现有配置通路"/>
          <p:cNvSpPr txBox="1"/>
          <p:nvPr/>
        </p:nvSpPr>
        <p:spPr>
          <a:xfrm>
            <a:off x="5817616" y="291762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现有配置通路</a:t>
            </a:r>
          </a:p>
        </p:txBody>
      </p:sp>
      <p:sp>
        <p:nvSpPr>
          <p:cNvPr id="12" name="rect-012"/>
          <p:cNvSpPr/>
          <p:nvPr/>
        </p:nvSpPr>
        <p:spPr>
          <a:xfrm>
            <a:off x="8818880" y="231140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8840216" y="233273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reg_cdc（拟增实例）"/>
          <p:cNvSpPr txBox="1"/>
          <p:nvPr/>
        </p:nvSpPr>
        <p:spPr>
          <a:xfrm>
            <a:off x="9575597" y="2674681"/>
            <a:ext cx="19714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reg_cdc（拟增实例）</a:t>
            </a:r>
          </a:p>
        </p:txBody>
      </p:sp>
      <p:sp>
        <p:nvSpPr>
          <p:cNvPr id="15" name="text-015: 请求与响应成组跨域"/>
          <p:cNvSpPr txBox="1"/>
          <p:nvPr/>
        </p:nvSpPr>
        <p:spPr>
          <a:xfrm>
            <a:off x="9779000" y="2917627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请求与响应成组跨域</a:t>
            </a:r>
          </a:p>
        </p:txBody>
      </p:sp>
      <p:sp>
        <p:nvSpPr>
          <p:cNvPr id="16" name="rect-016"/>
          <p:cNvSpPr/>
          <p:nvPr/>
        </p:nvSpPr>
        <p:spPr>
          <a:xfrm>
            <a:off x="426720" y="437388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448056" y="439521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IP 配置寄存器"/>
          <p:cNvSpPr txBox="1"/>
          <p:nvPr/>
        </p:nvSpPr>
        <p:spPr>
          <a:xfrm>
            <a:off x="1490675" y="4737161"/>
            <a:ext cx="13569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IP 配置寄存器</a:t>
            </a:r>
          </a:p>
        </p:txBody>
      </p:sp>
      <p:sp>
        <p:nvSpPr>
          <p:cNvPr id="19" name="text-019: 命令 / 状态（规划）"/>
          <p:cNvSpPr txBox="1"/>
          <p:nvPr/>
        </p:nvSpPr>
        <p:spPr>
          <a:xfrm>
            <a:off x="1312520" y="498010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命令 / 状态（规划）</a:t>
            </a:r>
          </a:p>
        </p:txBody>
      </p:sp>
      <p:sp>
        <p:nvSpPr>
          <p:cNvPr id="20" name="rect-020"/>
          <p:cNvSpPr/>
          <p:nvPr/>
        </p:nvSpPr>
        <p:spPr>
          <a:xfrm>
            <a:off x="4622800" y="437388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1"/>
          <p:cNvSpPr/>
          <p:nvPr/>
        </p:nvSpPr>
        <p:spPr>
          <a:xfrm>
            <a:off x="4644136" y="439521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IP 工作逻辑"/>
          <p:cNvSpPr txBox="1"/>
          <p:nvPr/>
        </p:nvSpPr>
        <p:spPr>
          <a:xfrm>
            <a:off x="5772099" y="4737161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23" name="text-023: 计算 / 搬运（规划）"/>
          <p:cNvSpPr txBox="1"/>
          <p:nvPr/>
        </p:nvSpPr>
        <p:spPr>
          <a:xfrm>
            <a:off x="5508600" y="498010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计算 / 搬运（规划）</a:t>
            </a:r>
          </a:p>
        </p:txBody>
      </p:sp>
      <p:sp>
        <p:nvSpPr>
          <p:cNvPr id="24" name="rect-024"/>
          <p:cNvSpPr/>
          <p:nvPr/>
        </p:nvSpPr>
        <p:spPr>
          <a:xfrm>
            <a:off x="8818880" y="437388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1F5FA"/>
          </a:solidFill>
          <a:ln w="12802" cap="flat">
            <a:solidFill>
              <a:srgbClr val="526A87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5"/>
          <p:cNvSpPr/>
          <p:nvPr/>
        </p:nvSpPr>
        <p:spPr>
          <a:xfrm>
            <a:off x="8840216" y="439521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526A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IP 时钟 / 复位"/>
          <p:cNvSpPr txBox="1"/>
          <p:nvPr/>
        </p:nvSpPr>
        <p:spPr>
          <a:xfrm>
            <a:off x="9801758" y="4737161"/>
            <a:ext cx="15191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IP 时钟 / 复位</a:t>
            </a:r>
          </a:p>
        </p:txBody>
      </p:sp>
      <p:sp>
        <p:nvSpPr>
          <p:cNvPr id="27" name="text-027: 平台域划分待定"/>
          <p:cNvSpPr txBox="1"/>
          <p:nvPr/>
        </p:nvSpPr>
        <p:spPr>
          <a:xfrm>
            <a:off x="9935464" y="498010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平台域划分待定</a:t>
            </a:r>
          </a:p>
        </p:txBody>
      </p:sp>
      <p:sp>
        <p:nvSpPr>
          <p:cNvPr id="28" name="rect-028"/>
          <p:cNvSpPr/>
          <p:nvPr/>
        </p:nvSpPr>
        <p:spPr>
          <a:xfrm>
            <a:off x="426720" y="64363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9"/>
          <p:cNvSpPr/>
          <p:nvPr/>
        </p:nvSpPr>
        <p:spPr>
          <a:xfrm>
            <a:off x="448056" y="64576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i_ext_intr_sync"/>
          <p:cNvSpPr txBox="1"/>
          <p:nvPr/>
        </p:nvSpPr>
        <p:spPr>
          <a:xfrm>
            <a:off x="1251712" y="6799641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i_ext_intr_sync</a:t>
            </a:r>
          </a:p>
        </p:txBody>
      </p:sp>
      <p:sp>
        <p:nvSpPr>
          <p:cNvPr id="31" name="text-031: 外部 IRQ 同步"/>
          <p:cNvSpPr txBox="1"/>
          <p:nvPr/>
        </p:nvSpPr>
        <p:spPr>
          <a:xfrm>
            <a:off x="1523746" y="7042587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IRQ 同步</a:t>
            </a:r>
          </a:p>
        </p:txBody>
      </p:sp>
      <p:sp>
        <p:nvSpPr>
          <p:cNvPr id="32" name="rect-032"/>
          <p:cNvSpPr/>
          <p:nvPr/>
        </p:nvSpPr>
        <p:spPr>
          <a:xfrm>
            <a:off x="4622800" y="64363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3"/>
          <p:cNvSpPr/>
          <p:nvPr/>
        </p:nvSpPr>
        <p:spPr>
          <a:xfrm>
            <a:off x="4644136" y="64576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Router / PLIC / CLIC"/>
          <p:cNvSpPr txBox="1"/>
          <p:nvPr/>
        </p:nvSpPr>
        <p:spPr>
          <a:xfrm>
            <a:off x="5170424" y="6799641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Router / PLIC / CLIC</a:t>
            </a:r>
          </a:p>
        </p:txBody>
      </p:sp>
      <p:sp>
        <p:nvSpPr>
          <p:cNvPr id="35" name="text-035: 按 Cfg 选择目标"/>
          <p:cNvSpPr txBox="1"/>
          <p:nvPr/>
        </p:nvSpPr>
        <p:spPr>
          <a:xfrm>
            <a:off x="5641594" y="7042587"/>
            <a:ext cx="14472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 Cfg 选择目标</a:t>
            </a:r>
          </a:p>
        </p:txBody>
      </p:sp>
      <p:sp>
        <p:nvSpPr>
          <p:cNvPr id="36" name="rect-036"/>
          <p:cNvSpPr/>
          <p:nvPr/>
        </p:nvSpPr>
        <p:spPr>
          <a:xfrm>
            <a:off x="8818880" y="64363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7"/>
          <p:cNvSpPr/>
          <p:nvPr/>
        </p:nvSpPr>
        <p:spPr>
          <a:xfrm>
            <a:off x="8840216" y="64576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IP IRQ 状态保持"/>
          <p:cNvSpPr txBox="1"/>
          <p:nvPr/>
        </p:nvSpPr>
        <p:spPr>
          <a:xfrm>
            <a:off x="9746285" y="6799641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IP IRQ 状态保持</a:t>
            </a:r>
          </a:p>
        </p:txBody>
      </p:sp>
      <p:sp>
        <p:nvSpPr>
          <p:cNvPr id="39" name="text-039: 原因记录 / 软件清除"/>
          <p:cNvSpPr txBox="1"/>
          <p:nvPr/>
        </p:nvSpPr>
        <p:spPr>
          <a:xfrm>
            <a:off x="9704680" y="704258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原因记录 / 软件清除</a:t>
            </a:r>
          </a:p>
        </p:txBody>
      </p:sp>
      <p:sp>
        <p:nvSpPr>
          <p:cNvPr id="40" name="E01"/>
          <p:cNvSpPr/>
          <p:nvPr/>
        </p:nvSpPr>
        <p:spPr>
          <a:xfrm>
            <a:off x="391160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2"/>
          <p:cNvSpPr/>
          <p:nvPr/>
        </p:nvSpPr>
        <p:spPr>
          <a:xfrm>
            <a:off x="810768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3"/>
          <p:cNvSpPr/>
          <p:nvPr/>
        </p:nvSpPr>
        <p:spPr>
          <a:xfrm>
            <a:off x="3911600" y="2809240"/>
            <a:ext cx="4907280" cy="853440"/>
          </a:xfrm>
          <a:custGeom>
            <a:avLst/>
            <a:gdLst/>
            <a:ahLst/>
            <a:cxnLst/>
            <a:rect l="0" t="0" r="r" b="b"/>
            <a:pathLst>
              <a:path w="4907280" h="853440" fill="none">
                <a:moveTo>
                  <a:pt x="0" y="0"/>
                </a:moveTo>
                <a:lnTo>
                  <a:pt x="142240" y="0"/>
                </a:lnTo>
                <a:lnTo>
                  <a:pt x="142240" y="853440"/>
                </a:lnTo>
                <a:lnTo>
                  <a:pt x="4693920" y="853440"/>
                </a:lnTo>
                <a:lnTo>
                  <a:pt x="4693920" y="0"/>
                </a:lnTo>
                <a:lnTo>
                  <a:pt x="4765040" y="0"/>
                </a:lnTo>
                <a:lnTo>
                  <a:pt x="490728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04"/>
          <p:cNvSpPr/>
          <p:nvPr/>
        </p:nvSpPr>
        <p:spPr>
          <a:xfrm>
            <a:off x="3911600" y="3022600"/>
            <a:ext cx="4907280" cy="1635760"/>
          </a:xfrm>
          <a:custGeom>
            <a:avLst/>
            <a:gdLst/>
            <a:ahLst/>
            <a:cxnLst/>
            <a:rect l="0" t="0" r="r" b="b"/>
            <a:pathLst>
              <a:path w="4907280" h="1635760" fill="none">
                <a:moveTo>
                  <a:pt x="4907280" y="0"/>
                </a:moveTo>
                <a:lnTo>
                  <a:pt x="4765040" y="0"/>
                </a:lnTo>
                <a:lnTo>
                  <a:pt x="4765040" y="1209040"/>
                </a:lnTo>
                <a:lnTo>
                  <a:pt x="142240" y="1209040"/>
                </a:lnTo>
                <a:lnTo>
                  <a:pt x="142240" y="1635760"/>
                </a:lnTo>
                <a:lnTo>
                  <a:pt x="0" y="163576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05"/>
          <p:cNvSpPr/>
          <p:nvPr/>
        </p:nvSpPr>
        <p:spPr>
          <a:xfrm>
            <a:off x="9458960" y="352044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853440"/>
                </a:moveTo>
                <a:lnTo>
                  <a:pt x="0" y="711200"/>
                </a:lnTo>
                <a:lnTo>
                  <a:pt x="0" y="14224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6"/>
          <p:cNvSpPr/>
          <p:nvPr/>
        </p:nvSpPr>
        <p:spPr>
          <a:xfrm>
            <a:off x="3911600" y="4160520"/>
            <a:ext cx="4907280" cy="711200"/>
          </a:xfrm>
          <a:custGeom>
            <a:avLst/>
            <a:gdLst/>
            <a:ahLst/>
            <a:cxnLst/>
            <a:rect l="0" t="0" r="r" b="b"/>
            <a:pathLst>
              <a:path w="4907280" h="711200" fill="none">
                <a:moveTo>
                  <a:pt x="4907280" y="497840"/>
                </a:moveTo>
                <a:lnTo>
                  <a:pt x="4765040" y="497840"/>
                </a:lnTo>
                <a:lnTo>
                  <a:pt x="4409440" y="497840"/>
                </a:lnTo>
                <a:lnTo>
                  <a:pt x="4409440" y="0"/>
                </a:lnTo>
                <a:lnTo>
                  <a:pt x="213360" y="0"/>
                </a:lnTo>
                <a:lnTo>
                  <a:pt x="213360" y="711200"/>
                </a:lnTo>
                <a:lnTo>
                  <a:pt x="142240" y="711200"/>
                </a:lnTo>
                <a:lnTo>
                  <a:pt x="0" y="71120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7"/>
          <p:cNvSpPr/>
          <p:nvPr/>
        </p:nvSpPr>
        <p:spPr>
          <a:xfrm>
            <a:off x="8107680" y="465836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711200" y="213360"/>
                </a:moveTo>
                <a:lnTo>
                  <a:pt x="568960" y="213360"/>
                </a:lnTo>
                <a:lnTo>
                  <a:pt x="568960" y="71120"/>
                </a:lnTo>
                <a:lnTo>
                  <a:pt x="142240" y="71120"/>
                </a:lnTo>
                <a:lnTo>
                  <a:pt x="142240" y="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8"/>
          <p:cNvSpPr/>
          <p:nvPr/>
        </p:nvSpPr>
        <p:spPr>
          <a:xfrm>
            <a:off x="3911600" y="4658360"/>
            <a:ext cx="711200" cy="426720"/>
          </a:xfrm>
          <a:custGeom>
            <a:avLst/>
            <a:gdLst/>
            <a:ahLst/>
            <a:cxnLst/>
            <a:rect l="0" t="0" r="r" b="b"/>
            <a:pathLst>
              <a:path w="711200" h="426720" fill="none">
                <a:moveTo>
                  <a:pt x="0" y="426720"/>
                </a:moveTo>
                <a:lnTo>
                  <a:pt x="142240" y="426720"/>
                </a:lnTo>
                <a:lnTo>
                  <a:pt x="568960" y="4267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9"/>
          <p:cNvSpPr/>
          <p:nvPr/>
        </p:nvSpPr>
        <p:spPr>
          <a:xfrm>
            <a:off x="8107680" y="4871720"/>
            <a:ext cx="711200" cy="1849120"/>
          </a:xfrm>
          <a:custGeom>
            <a:avLst/>
            <a:gdLst/>
            <a:ahLst/>
            <a:cxnLst/>
            <a:rect l="0" t="0" r="r" b="b"/>
            <a:pathLst>
              <a:path w="711200" h="1849120" fill="none">
                <a:moveTo>
                  <a:pt x="0" y="0"/>
                </a:moveTo>
                <a:lnTo>
                  <a:pt x="142240" y="0"/>
                </a:lnTo>
                <a:lnTo>
                  <a:pt x="142240" y="1849120"/>
                </a:lnTo>
                <a:lnTo>
                  <a:pt x="568960" y="1849120"/>
                </a:lnTo>
                <a:lnTo>
                  <a:pt x="711200" y="184912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E10"/>
          <p:cNvSpPr/>
          <p:nvPr/>
        </p:nvSpPr>
        <p:spPr>
          <a:xfrm>
            <a:off x="3911600" y="6294120"/>
            <a:ext cx="4907280" cy="640080"/>
          </a:xfrm>
          <a:custGeom>
            <a:avLst/>
            <a:gdLst/>
            <a:ahLst/>
            <a:cxnLst/>
            <a:rect l="0" t="0" r="r" b="b"/>
            <a:pathLst>
              <a:path w="4907280" h="640080" fill="none">
                <a:moveTo>
                  <a:pt x="4907280" y="640080"/>
                </a:moveTo>
                <a:lnTo>
                  <a:pt x="4765040" y="640080"/>
                </a:lnTo>
                <a:lnTo>
                  <a:pt x="4409440" y="640080"/>
                </a:lnTo>
                <a:lnTo>
                  <a:pt x="4409440" y="0"/>
                </a:lnTo>
                <a:lnTo>
                  <a:pt x="142240" y="0"/>
                </a:lnTo>
                <a:lnTo>
                  <a:pt x="142240" y="426720"/>
                </a:lnTo>
                <a:lnTo>
                  <a:pt x="0" y="42672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11"/>
          <p:cNvSpPr/>
          <p:nvPr/>
        </p:nvSpPr>
        <p:spPr>
          <a:xfrm>
            <a:off x="3911600" y="672084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568960" y="21336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765096"/>
            </a:solidFill>
            <a:custDash>
              <a:ds d="285714" sp="178571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1"/>
          <p:cNvSpPr/>
          <p:nvPr/>
        </p:nvSpPr>
        <p:spPr>
          <a:xfrm>
            <a:off x="408940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1"/>
          <p:cNvSpPr txBox="1"/>
          <p:nvPr/>
        </p:nvSpPr>
        <p:spPr>
          <a:xfrm>
            <a:off x="403286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3" name="rect-053"/>
          <p:cNvSpPr/>
          <p:nvPr/>
        </p:nvSpPr>
        <p:spPr>
          <a:xfrm>
            <a:off x="828548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2"/>
          <p:cNvSpPr txBox="1"/>
          <p:nvPr/>
        </p:nvSpPr>
        <p:spPr>
          <a:xfrm>
            <a:off x="822894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5" name="rect-055"/>
          <p:cNvSpPr/>
          <p:nvPr/>
        </p:nvSpPr>
        <p:spPr>
          <a:xfrm>
            <a:off x="6151880" y="37124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3"/>
          <p:cNvSpPr txBox="1"/>
          <p:nvPr/>
        </p:nvSpPr>
        <p:spPr>
          <a:xfrm>
            <a:off x="6095340" y="36928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7" name="rect-057"/>
          <p:cNvSpPr/>
          <p:nvPr/>
        </p:nvSpPr>
        <p:spPr>
          <a:xfrm>
            <a:off x="6187440" y="4011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4"/>
          <p:cNvSpPr txBox="1"/>
          <p:nvPr/>
        </p:nvSpPr>
        <p:spPr>
          <a:xfrm>
            <a:off x="6130900" y="3991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9" name="rect-059"/>
          <p:cNvSpPr/>
          <p:nvPr/>
        </p:nvSpPr>
        <p:spPr>
          <a:xfrm>
            <a:off x="9522968" y="38475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5"/>
          <p:cNvSpPr txBox="1"/>
          <p:nvPr/>
        </p:nvSpPr>
        <p:spPr>
          <a:xfrm>
            <a:off x="9466428" y="38279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1" name="rect-061"/>
          <p:cNvSpPr/>
          <p:nvPr/>
        </p:nvSpPr>
        <p:spPr>
          <a:xfrm>
            <a:off x="4188968" y="44165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6"/>
          <p:cNvSpPr txBox="1"/>
          <p:nvPr/>
        </p:nvSpPr>
        <p:spPr>
          <a:xfrm>
            <a:off x="4132428" y="43969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3" name="rect-063"/>
          <p:cNvSpPr/>
          <p:nvPr/>
        </p:nvSpPr>
        <p:spPr>
          <a:xfrm>
            <a:off x="828548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7"/>
          <p:cNvSpPr txBox="1"/>
          <p:nvPr/>
        </p:nvSpPr>
        <p:spPr>
          <a:xfrm>
            <a:off x="822894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5" name="rect-065"/>
          <p:cNvSpPr/>
          <p:nvPr/>
        </p:nvSpPr>
        <p:spPr>
          <a:xfrm>
            <a:off x="4089400" y="4864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8"/>
          <p:cNvSpPr txBox="1"/>
          <p:nvPr/>
        </p:nvSpPr>
        <p:spPr>
          <a:xfrm>
            <a:off x="4032860" y="4844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7" name="rect-067"/>
          <p:cNvSpPr/>
          <p:nvPr/>
        </p:nvSpPr>
        <p:spPr>
          <a:xfrm>
            <a:off x="8313928" y="56967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9"/>
          <p:cNvSpPr txBox="1"/>
          <p:nvPr/>
        </p:nvSpPr>
        <p:spPr>
          <a:xfrm>
            <a:off x="8257388" y="56770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9" name="rect-069"/>
          <p:cNvSpPr/>
          <p:nvPr/>
        </p:nvSpPr>
        <p:spPr>
          <a:xfrm>
            <a:off x="600964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10"/>
          <p:cNvSpPr txBox="1"/>
          <p:nvPr/>
        </p:nvSpPr>
        <p:spPr>
          <a:xfrm>
            <a:off x="595310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1" name="rect-071"/>
          <p:cNvSpPr/>
          <p:nvPr/>
        </p:nvSpPr>
        <p:spPr>
          <a:xfrm>
            <a:off x="4089400" y="6713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11"/>
          <p:cNvSpPr txBox="1"/>
          <p:nvPr/>
        </p:nvSpPr>
        <p:spPr>
          <a:xfrm>
            <a:off x="4032860" y="6694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73" name="text-073: E 编号对应图下连接表；总线双箭头合并请求/响应；单箭头含义以表为准。"/>
          <p:cNvSpPr txBox="1"/>
          <p:nvPr/>
        </p:nvSpPr>
        <p:spPr>
          <a:xfrm>
            <a:off x="284480" y="840097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4" name="text-074: 虚线连线表示控制/事件；虚线模块表示规划。交叉无圆点不连接。C：连续走线。"/>
          <p:cNvSpPr txBox="1"/>
          <p:nvPr/>
        </p:nvSpPr>
        <p:spPr>
          <a:xfrm>
            <a:off x="284480" y="860011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规划图像链与 DDR / GB 搬运职责"/>
          <p:cNvSpPr txBox="1"/>
          <p:nvPr/>
        </p:nvSpPr>
        <p:spPr>
          <a:xfrm>
            <a:off x="284480" y="102697"/>
            <a:ext cx="398272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规划图像链与 DDR / GB 搬运职责</a:t>
            </a:r>
          </a:p>
        </p:txBody>
      </p:sp>
      <p:sp>
        <p:nvSpPr>
          <p:cNvPr id="3" name="text-003: 除 LLC 出口外均为规划或待确认边界；像素流向与 AXI 事务方向分别标注。端"/>
          <p:cNvSpPr txBox="1"/>
          <p:nvPr/>
        </p:nvSpPr>
        <p:spPr>
          <a:xfrm>
            <a:off x="284480" y="499547"/>
            <a:ext cx="84099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除 LLC 出口外均为规划或待确认边界；像素流向与 AXI 事务方向分别标注。端口数、宽度、地址和 IRQ 未冻结。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12801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448056" y="13014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LVDS 接收前端"/>
          <p:cNvSpPr txBox="1"/>
          <p:nvPr/>
        </p:nvSpPr>
        <p:spPr>
          <a:xfrm>
            <a:off x="1465072" y="1643441"/>
            <a:ext cx="1408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LVDS 接收前端</a:t>
            </a:r>
          </a:p>
        </p:txBody>
      </p:sp>
      <p:sp>
        <p:nvSpPr>
          <p:cNvPr id="7" name="text-007: 解串 / 字行帧对齐"/>
          <p:cNvSpPr txBox="1"/>
          <p:nvPr/>
        </p:nvSpPr>
        <p:spPr>
          <a:xfrm>
            <a:off x="1390752" y="1886387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解串 / 字行帧对齐</a:t>
            </a:r>
          </a:p>
        </p:txBody>
      </p:sp>
      <p:sp>
        <p:nvSpPr>
          <p:cNvPr id="8" name="rect-008"/>
          <p:cNvSpPr/>
          <p:nvPr/>
        </p:nvSpPr>
        <p:spPr>
          <a:xfrm>
            <a:off x="4622800" y="12801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-009"/>
          <p:cNvSpPr/>
          <p:nvPr/>
        </p:nvSpPr>
        <p:spPr>
          <a:xfrm>
            <a:off x="4644136" y="13014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打包 / CDC FIFO"/>
          <p:cNvSpPr txBox="1"/>
          <p:nvPr/>
        </p:nvSpPr>
        <p:spPr>
          <a:xfrm>
            <a:off x="5498998" y="1643441"/>
            <a:ext cx="173248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打包 / CDC FIFO</a:t>
            </a:r>
          </a:p>
        </p:txBody>
      </p:sp>
      <p:sp>
        <p:nvSpPr>
          <p:cNvPr id="11" name="text-011: 像素与同步标志配对"/>
          <p:cNvSpPr txBox="1"/>
          <p:nvPr/>
        </p:nvSpPr>
        <p:spPr>
          <a:xfrm>
            <a:off x="5582920" y="1886387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像素与同步标志配对</a:t>
            </a:r>
          </a:p>
        </p:txBody>
      </p:sp>
      <p:sp>
        <p:nvSpPr>
          <p:cNvPr id="12" name="rect-012"/>
          <p:cNvSpPr/>
          <p:nvPr/>
        </p:nvSpPr>
        <p:spPr>
          <a:xfrm>
            <a:off x="8818880" y="12801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8840216" y="13014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ISP / RAW 选择组"/>
          <p:cNvSpPr txBox="1"/>
          <p:nvPr/>
        </p:nvSpPr>
        <p:spPr>
          <a:xfrm>
            <a:off x="9665208" y="1643441"/>
            <a:ext cx="17922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ISP / RAW 选择组</a:t>
            </a:r>
          </a:p>
        </p:txBody>
      </p:sp>
      <p:sp>
        <p:nvSpPr>
          <p:cNvPr id="15" name="text-015: 帧边界选择一路输出"/>
          <p:cNvSpPr txBox="1"/>
          <p:nvPr/>
        </p:nvSpPr>
        <p:spPr>
          <a:xfrm>
            <a:off x="9779000" y="1886387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帧边界选择一路输出</a:t>
            </a:r>
          </a:p>
        </p:txBody>
      </p:sp>
      <p:sp>
        <p:nvSpPr>
          <p:cNvPr id="16" name="rect-016"/>
          <p:cNvSpPr/>
          <p:nvPr/>
        </p:nvSpPr>
        <p:spPr>
          <a:xfrm>
            <a:off x="426720" y="334264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448056" y="336397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帧写入 DMA"/>
          <p:cNvSpPr txBox="1"/>
          <p:nvPr/>
        </p:nvSpPr>
        <p:spPr>
          <a:xfrm>
            <a:off x="1605890" y="3705921"/>
            <a:ext cx="11265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帧写入 DMA</a:t>
            </a:r>
          </a:p>
        </p:txBody>
      </p:sp>
      <p:sp>
        <p:nvSpPr>
          <p:cNvPr id="19" name="text-019: 地址 / W打包 / B计数"/>
          <p:cNvSpPr txBox="1"/>
          <p:nvPr/>
        </p:nvSpPr>
        <p:spPr>
          <a:xfrm>
            <a:off x="1214730" y="3948867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 / W打包 / B计数</a:t>
            </a:r>
          </a:p>
        </p:txBody>
      </p:sp>
      <p:sp>
        <p:nvSpPr>
          <p:cNvPr id="20" name="rect-020"/>
          <p:cNvSpPr/>
          <p:nvPr/>
        </p:nvSpPr>
        <p:spPr>
          <a:xfrm>
            <a:off x="4622800" y="334264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1F5FA"/>
          </a:solidFill>
          <a:ln w="12802" cap="flat">
            <a:solidFill>
              <a:srgbClr val="526A87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1"/>
          <p:cNvSpPr/>
          <p:nvPr/>
        </p:nvSpPr>
        <p:spPr>
          <a:xfrm>
            <a:off x="4644136" y="336397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526A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DDR Controller / PHY"/>
          <p:cNvSpPr txBox="1"/>
          <p:nvPr/>
        </p:nvSpPr>
        <p:spPr>
          <a:xfrm>
            <a:off x="5170424" y="3705921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DDR Controller / PHY</a:t>
            </a:r>
          </a:p>
        </p:txBody>
      </p:sp>
      <p:sp>
        <p:nvSpPr>
          <p:cNvPr id="23" name="text-023: 端口 / 训练 / 仲裁待定"/>
          <p:cNvSpPr txBox="1"/>
          <p:nvPr/>
        </p:nvSpPr>
        <p:spPr>
          <a:xfrm>
            <a:off x="5356047" y="3948867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端口 / 训练 / 仲裁待定</a:t>
            </a:r>
          </a:p>
        </p:txBody>
      </p:sp>
      <p:sp>
        <p:nvSpPr>
          <p:cNvPr id="24" name="rect-024"/>
          <p:cNvSpPr/>
          <p:nvPr/>
        </p:nvSpPr>
        <p:spPr>
          <a:xfrm>
            <a:off x="8818880" y="334264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1F5FA"/>
          </a:solidFill>
          <a:ln w="12802" cap="flat">
            <a:solidFill>
              <a:srgbClr val="526A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5"/>
          <p:cNvSpPr/>
          <p:nvPr/>
        </p:nvSpPr>
        <p:spPr>
          <a:xfrm>
            <a:off x="8840216" y="336397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526A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现有 LLC 外存出口"/>
          <p:cNvSpPr txBox="1"/>
          <p:nvPr/>
        </p:nvSpPr>
        <p:spPr>
          <a:xfrm>
            <a:off x="9686544" y="3705921"/>
            <a:ext cx="174955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现有 LLC 外存出口</a:t>
            </a:r>
          </a:p>
        </p:txBody>
      </p:sp>
      <p:sp>
        <p:nvSpPr>
          <p:cNvPr id="27" name="text-027: axi_llc_mst_*"/>
          <p:cNvSpPr txBox="1"/>
          <p:nvPr/>
        </p:nvSpPr>
        <p:spPr>
          <a:xfrm>
            <a:off x="9822028" y="394886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axi_llc_mst_*</a:t>
            </a:r>
          </a:p>
        </p:txBody>
      </p:sp>
      <p:sp>
        <p:nvSpPr>
          <p:cNvPr id="28" name="rect-028"/>
          <p:cNvSpPr/>
          <p:nvPr/>
        </p:nvSpPr>
        <p:spPr>
          <a:xfrm>
            <a:off x="426720" y="540512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9"/>
          <p:cNvSpPr/>
          <p:nvPr/>
        </p:nvSpPr>
        <p:spPr>
          <a:xfrm>
            <a:off x="448056" y="542645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NPU / GB 搬运器"/>
          <p:cNvSpPr txBox="1"/>
          <p:nvPr/>
        </p:nvSpPr>
        <p:spPr>
          <a:xfrm>
            <a:off x="1328522" y="5768401"/>
            <a:ext cx="16812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NPU / GB 搬运器</a:t>
            </a:r>
          </a:p>
        </p:txBody>
      </p:sp>
      <p:sp>
        <p:nvSpPr>
          <p:cNvPr id="31" name="text-031: DDR ↔ GB 显式搬运"/>
          <p:cNvSpPr txBox="1"/>
          <p:nvPr/>
        </p:nvSpPr>
        <p:spPr>
          <a:xfrm>
            <a:off x="1292962" y="601134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↔ GB 显式搬运</a:t>
            </a:r>
          </a:p>
        </p:txBody>
      </p:sp>
      <p:sp>
        <p:nvSpPr>
          <p:cNvPr id="32" name="rect-032"/>
          <p:cNvSpPr/>
          <p:nvPr/>
        </p:nvSpPr>
        <p:spPr>
          <a:xfrm>
            <a:off x="4622800" y="540512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3"/>
          <p:cNvSpPr/>
          <p:nvPr/>
        </p:nvSpPr>
        <p:spPr>
          <a:xfrm>
            <a:off x="4644136" y="542645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GB 访问适配"/>
          <p:cNvSpPr txBox="1"/>
          <p:nvPr/>
        </p:nvSpPr>
        <p:spPr>
          <a:xfrm>
            <a:off x="5772099" y="5768401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GB 访问适配</a:t>
            </a:r>
          </a:p>
        </p:txBody>
      </p:sp>
      <p:sp>
        <p:nvSpPr>
          <p:cNvPr id="35" name="text-035: 局部仲裁 / bank 路由"/>
          <p:cNvSpPr txBox="1"/>
          <p:nvPr/>
        </p:nvSpPr>
        <p:spPr>
          <a:xfrm>
            <a:off x="5410810" y="6011347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局部仲裁 / bank 路由</a:t>
            </a:r>
          </a:p>
        </p:txBody>
      </p:sp>
      <p:sp>
        <p:nvSpPr>
          <p:cNvPr id="36" name="rect-036"/>
          <p:cNvSpPr/>
          <p:nvPr/>
        </p:nvSpPr>
        <p:spPr>
          <a:xfrm>
            <a:off x="8818880" y="540512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6F1FB"/>
          </a:solidFill>
          <a:ln w="12802" cap="flat">
            <a:solidFill>
              <a:srgbClr val="7552A1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7"/>
          <p:cNvSpPr/>
          <p:nvPr/>
        </p:nvSpPr>
        <p:spPr>
          <a:xfrm>
            <a:off x="8840216" y="542645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line-038"/>
          <p:cNvSpPr/>
          <p:nvPr/>
        </p:nvSpPr>
        <p:spPr>
          <a:xfrm>
            <a:off x="8904224" y="540512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Global Buffer"/>
          <p:cNvSpPr txBox="1"/>
          <p:nvPr/>
        </p:nvSpPr>
        <p:spPr>
          <a:xfrm>
            <a:off x="9754819" y="576840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Global Buffer</a:t>
            </a:r>
          </a:p>
        </p:txBody>
      </p:sp>
      <p:sp>
        <p:nvSpPr>
          <p:cNvPr id="40" name="text-040: 独立 SRAM；容量待定"/>
          <p:cNvSpPr txBox="1"/>
          <p:nvPr/>
        </p:nvSpPr>
        <p:spPr>
          <a:xfrm>
            <a:off x="9681210" y="6011347"/>
            <a:ext cx="17602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独立 SRAM；容量待定</a:t>
            </a:r>
          </a:p>
        </p:txBody>
      </p:sp>
      <p:sp>
        <p:nvSpPr>
          <p:cNvPr id="41" name="rect-041"/>
          <p:cNvSpPr/>
          <p:nvPr/>
        </p:nvSpPr>
        <p:spPr>
          <a:xfrm>
            <a:off x="426720" y="746760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  <a:custDash>
              <a:ds d="444444" sp="27777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2"/>
          <p:cNvSpPr/>
          <p:nvPr/>
        </p:nvSpPr>
        <p:spPr>
          <a:xfrm>
            <a:off x="448056" y="748893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NPU 计算引擎"/>
          <p:cNvSpPr txBox="1"/>
          <p:nvPr/>
        </p:nvSpPr>
        <p:spPr>
          <a:xfrm>
            <a:off x="1520546" y="7830881"/>
            <a:ext cx="12972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NPU 计算引擎</a:t>
            </a:r>
          </a:p>
        </p:txBody>
      </p:sp>
      <p:sp>
        <p:nvSpPr>
          <p:cNvPr id="44" name="text-044: 消费 / 产生局部数据"/>
          <p:cNvSpPr txBox="1"/>
          <p:nvPr/>
        </p:nvSpPr>
        <p:spPr>
          <a:xfrm>
            <a:off x="1312520" y="807382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消费 / 产生局部数据</a:t>
            </a:r>
          </a:p>
        </p:txBody>
      </p:sp>
      <p:sp>
        <p:nvSpPr>
          <p:cNvPr id="45" name="E01"/>
          <p:cNvSpPr/>
          <p:nvPr/>
        </p:nvSpPr>
        <p:spPr>
          <a:xfrm>
            <a:off x="391160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2"/>
          <p:cNvSpPr/>
          <p:nvPr/>
        </p:nvSpPr>
        <p:spPr>
          <a:xfrm>
            <a:off x="810768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3"/>
          <p:cNvSpPr/>
          <p:nvPr/>
        </p:nvSpPr>
        <p:spPr>
          <a:xfrm>
            <a:off x="3911600" y="1778000"/>
            <a:ext cx="4907280" cy="1849120"/>
          </a:xfrm>
          <a:custGeom>
            <a:avLst/>
            <a:gdLst/>
            <a:ahLst/>
            <a:cxnLst/>
            <a:rect l="0" t="0" r="r" b="b"/>
            <a:pathLst>
              <a:path w="4907280" h="1849120" fill="none">
                <a:moveTo>
                  <a:pt x="4907280" y="0"/>
                </a:moveTo>
                <a:lnTo>
                  <a:pt x="4765040" y="0"/>
                </a:lnTo>
                <a:lnTo>
                  <a:pt x="4338320" y="0"/>
                </a:lnTo>
                <a:lnTo>
                  <a:pt x="4338320" y="1422400"/>
                </a:lnTo>
                <a:lnTo>
                  <a:pt x="142240" y="1422400"/>
                </a:lnTo>
                <a:lnTo>
                  <a:pt x="142240" y="1849120"/>
                </a:lnTo>
                <a:lnTo>
                  <a:pt x="0" y="1849120"/>
                </a:lnTo>
              </a:path>
            </a:pathLst>
          </a:custGeom>
          <a:noFill/>
          <a:ln w="19914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4"/>
          <p:cNvSpPr/>
          <p:nvPr/>
        </p:nvSpPr>
        <p:spPr>
          <a:xfrm>
            <a:off x="3911600" y="362712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497840" y="213360"/>
                </a:lnTo>
                <a:lnTo>
                  <a:pt x="4978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E05"/>
          <p:cNvSpPr/>
          <p:nvPr/>
        </p:nvSpPr>
        <p:spPr>
          <a:xfrm>
            <a:off x="8107680" y="362712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711200" y="0"/>
                </a:moveTo>
                <a:lnTo>
                  <a:pt x="568960" y="0"/>
                </a:lnTo>
                <a:lnTo>
                  <a:pt x="142240" y="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06"/>
          <p:cNvSpPr/>
          <p:nvPr/>
        </p:nvSpPr>
        <p:spPr>
          <a:xfrm>
            <a:off x="3911600" y="3840480"/>
            <a:ext cx="711200" cy="1849120"/>
          </a:xfrm>
          <a:custGeom>
            <a:avLst/>
            <a:gdLst/>
            <a:ahLst/>
            <a:cxnLst/>
            <a:rect l="0" t="0" r="r" b="b"/>
            <a:pathLst>
              <a:path w="711200" h="1849120" fill="none">
                <a:moveTo>
                  <a:pt x="0" y="1849120"/>
                </a:moveTo>
                <a:lnTo>
                  <a:pt x="142240" y="1849120"/>
                </a:lnTo>
                <a:lnTo>
                  <a:pt x="142240" y="71120"/>
                </a:lnTo>
                <a:lnTo>
                  <a:pt x="568960" y="711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E07"/>
          <p:cNvSpPr/>
          <p:nvPr/>
        </p:nvSpPr>
        <p:spPr>
          <a:xfrm>
            <a:off x="3911600" y="568960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497840" y="213360"/>
                </a:lnTo>
                <a:lnTo>
                  <a:pt x="4978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08"/>
          <p:cNvSpPr/>
          <p:nvPr/>
        </p:nvSpPr>
        <p:spPr>
          <a:xfrm>
            <a:off x="3911600" y="5902960"/>
            <a:ext cx="711200" cy="1849120"/>
          </a:xfrm>
          <a:custGeom>
            <a:avLst/>
            <a:gdLst/>
            <a:ahLst/>
            <a:cxnLst/>
            <a:rect l="0" t="0" r="r" b="b"/>
            <a:pathLst>
              <a:path w="711200" h="1849120" fill="none">
                <a:moveTo>
                  <a:pt x="0" y="1849120"/>
                </a:moveTo>
                <a:lnTo>
                  <a:pt x="142240" y="1849120"/>
                </a:lnTo>
                <a:lnTo>
                  <a:pt x="568960" y="18491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09"/>
          <p:cNvSpPr/>
          <p:nvPr/>
        </p:nvSpPr>
        <p:spPr>
          <a:xfrm>
            <a:off x="8107680" y="1991360"/>
            <a:ext cx="711200" cy="3698240"/>
          </a:xfrm>
          <a:custGeom>
            <a:avLst/>
            <a:gdLst/>
            <a:ahLst/>
            <a:cxnLst/>
            <a:rect l="0" t="0" r="r" b="b"/>
            <a:pathLst>
              <a:path w="711200" h="3698240" fill="none">
                <a:moveTo>
                  <a:pt x="711200" y="0"/>
                </a:moveTo>
                <a:lnTo>
                  <a:pt x="568960" y="0"/>
                </a:lnTo>
                <a:lnTo>
                  <a:pt x="213360" y="0"/>
                </a:lnTo>
                <a:lnTo>
                  <a:pt x="213360" y="3698240"/>
                </a:lnTo>
                <a:lnTo>
                  <a:pt x="142240" y="3698240"/>
                </a:lnTo>
                <a:lnTo>
                  <a:pt x="0" y="369824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E10"/>
          <p:cNvSpPr/>
          <p:nvPr/>
        </p:nvSpPr>
        <p:spPr>
          <a:xfrm>
            <a:off x="8107680" y="568960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568960" y="21336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5"/>
          <p:cNvSpPr/>
          <p:nvPr/>
        </p:nvSpPr>
        <p:spPr>
          <a:xfrm>
            <a:off x="408940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1"/>
          <p:cNvSpPr txBox="1"/>
          <p:nvPr/>
        </p:nvSpPr>
        <p:spPr>
          <a:xfrm>
            <a:off x="403286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7" name="rect-057"/>
          <p:cNvSpPr/>
          <p:nvPr/>
        </p:nvSpPr>
        <p:spPr>
          <a:xfrm>
            <a:off x="828548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2"/>
          <p:cNvSpPr txBox="1"/>
          <p:nvPr/>
        </p:nvSpPr>
        <p:spPr>
          <a:xfrm>
            <a:off x="822894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9" name="rect-059"/>
          <p:cNvSpPr/>
          <p:nvPr/>
        </p:nvSpPr>
        <p:spPr>
          <a:xfrm>
            <a:off x="597408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3"/>
          <p:cNvSpPr txBox="1"/>
          <p:nvPr/>
        </p:nvSpPr>
        <p:spPr>
          <a:xfrm>
            <a:off x="591754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1" name="rect-061"/>
          <p:cNvSpPr/>
          <p:nvPr/>
        </p:nvSpPr>
        <p:spPr>
          <a:xfrm>
            <a:off x="4053840" y="3620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4"/>
          <p:cNvSpPr txBox="1"/>
          <p:nvPr/>
        </p:nvSpPr>
        <p:spPr>
          <a:xfrm>
            <a:off x="3997300" y="3600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3" name="rect-063"/>
          <p:cNvSpPr/>
          <p:nvPr/>
        </p:nvSpPr>
        <p:spPr>
          <a:xfrm>
            <a:off x="8285480" y="3406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5"/>
          <p:cNvSpPr txBox="1"/>
          <p:nvPr/>
        </p:nvSpPr>
        <p:spPr>
          <a:xfrm>
            <a:off x="8228940" y="3387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5" name="rect-065"/>
          <p:cNvSpPr/>
          <p:nvPr/>
        </p:nvSpPr>
        <p:spPr>
          <a:xfrm>
            <a:off x="4117848" y="47010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6"/>
          <p:cNvSpPr txBox="1"/>
          <p:nvPr/>
        </p:nvSpPr>
        <p:spPr>
          <a:xfrm>
            <a:off x="4061308" y="46814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7" name="rect-067"/>
          <p:cNvSpPr/>
          <p:nvPr/>
        </p:nvSpPr>
        <p:spPr>
          <a:xfrm>
            <a:off x="4053840" y="5682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7"/>
          <p:cNvSpPr txBox="1"/>
          <p:nvPr/>
        </p:nvSpPr>
        <p:spPr>
          <a:xfrm>
            <a:off x="3997300" y="5662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9" name="rect-069"/>
          <p:cNvSpPr/>
          <p:nvPr/>
        </p:nvSpPr>
        <p:spPr>
          <a:xfrm>
            <a:off x="4544568" y="67279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8"/>
          <p:cNvSpPr txBox="1"/>
          <p:nvPr/>
        </p:nvSpPr>
        <p:spPr>
          <a:xfrm>
            <a:off x="4488028" y="67083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1" name="rect-071"/>
          <p:cNvSpPr/>
          <p:nvPr/>
        </p:nvSpPr>
        <p:spPr>
          <a:xfrm>
            <a:off x="8385048" y="37409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9"/>
          <p:cNvSpPr txBox="1"/>
          <p:nvPr/>
        </p:nvSpPr>
        <p:spPr>
          <a:xfrm>
            <a:off x="8328508" y="37212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3" name="rect-073"/>
          <p:cNvSpPr/>
          <p:nvPr/>
        </p:nvSpPr>
        <p:spPr>
          <a:xfrm>
            <a:off x="8285480" y="5682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10"/>
          <p:cNvSpPr txBox="1"/>
          <p:nvPr/>
        </p:nvSpPr>
        <p:spPr>
          <a:xfrm>
            <a:off x="8228940" y="5662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5" name="text-075: E 编号对应图下连接表；总线双箭头合并请求/响应；单箭头含义以表为准。"/>
          <p:cNvSpPr txBox="1"/>
          <p:nvPr/>
        </p:nvSpPr>
        <p:spPr>
          <a:xfrm>
            <a:off x="284480" y="94322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6" name="text-076: 虚线连线表示控制/事件；虚线模块表示规划。交叉无圆点不连接。C：连续走线。"/>
          <p:cNvSpPr txBox="1"/>
          <p:nvPr/>
        </p:nvSpPr>
        <p:spPr>
          <a:xfrm>
            <a:off x="284480" y="96313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Ara 访存和 CPU 失效请求的实际边界"/>
          <p:cNvSpPr txBox="1"/>
          <p:nvPr/>
        </p:nvSpPr>
        <p:spPr>
          <a:xfrm>
            <a:off x="284480" y="1133937"/>
            <a:ext cx="428995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14E79"/>
                </a:solidFill>
                <a:latin typeface="WenQuanYi Zen Hei"/>
                <a:ea typeface="WenQuanYi Zen Hei"/>
                <a:cs typeface="WenQuanYi Zen Hei"/>
              </a:rPr>
              <a:t>Ara 访存和 CPU 失效请求的实际边界</a:t>
            </a:r>
          </a:p>
        </p:txBody>
      </p:sp>
      <p:sp>
        <p:nvSpPr>
          <p:cNvPr id="3" name="text-003: 表示 Cfg.Ara=1 分支；默认配置未启用 Ara。失效反馈经 acc_re"/>
          <p:cNvSpPr txBox="1"/>
          <p:nvPr/>
        </p:nvSpPr>
        <p:spPr>
          <a:xfrm>
            <a:off x="284480" y="1530787"/>
            <a:ext cx="1013104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表示 Cfg.Ara=1 分支；默认配置未启用 Ara。失效反馈经 acc_resp_pack 与 CVA6 dispatcher；不覆盖新 NPU/ISP 旁路写。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231140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448056" y="233273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VA6 acc_dispatcher"/>
          <p:cNvSpPr txBox="1"/>
          <p:nvPr/>
        </p:nvSpPr>
        <p:spPr>
          <a:xfrm>
            <a:off x="1029818" y="2674681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CVA6 acc_dispatcher</a:t>
            </a:r>
          </a:p>
        </p:txBody>
      </p:sp>
      <p:sp>
        <p:nvSpPr>
          <p:cNvPr id="7" name="text-007: 指令 / MMU / 状态"/>
          <p:cNvSpPr txBox="1"/>
          <p:nvPr/>
        </p:nvSpPr>
        <p:spPr>
          <a:xfrm>
            <a:off x="1320343" y="291762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指令 / MMU / 状态</a:t>
            </a:r>
          </a:p>
        </p:txBody>
      </p:sp>
      <p:sp>
        <p:nvSpPr>
          <p:cNvPr id="8" name="rect-008"/>
          <p:cNvSpPr/>
          <p:nvPr/>
        </p:nvSpPr>
        <p:spPr>
          <a:xfrm>
            <a:off x="4622800" y="231140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-009"/>
          <p:cNvSpPr/>
          <p:nvPr/>
        </p:nvSpPr>
        <p:spPr>
          <a:xfrm>
            <a:off x="4644136" y="233273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i_ara"/>
          <p:cNvSpPr txBox="1"/>
          <p:nvPr/>
        </p:nvSpPr>
        <p:spPr>
          <a:xfrm>
            <a:off x="6002528" y="2674681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i_ara</a:t>
            </a:r>
          </a:p>
        </p:txBody>
      </p:sp>
      <p:sp>
        <p:nvSpPr>
          <p:cNvPr id="11" name="text-011: RVV 执行与访存"/>
          <p:cNvSpPr txBox="1"/>
          <p:nvPr/>
        </p:nvSpPr>
        <p:spPr>
          <a:xfrm>
            <a:off x="5692445" y="2917627"/>
            <a:ext cx="13455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RVV 执行与访存</a:t>
            </a:r>
          </a:p>
        </p:txBody>
      </p:sp>
      <p:sp>
        <p:nvSpPr>
          <p:cNvPr id="12" name="rect-012"/>
          <p:cNvSpPr/>
          <p:nvPr/>
        </p:nvSpPr>
        <p:spPr>
          <a:xfrm>
            <a:off x="8818880" y="231140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8F3"/>
          </a:solidFill>
          <a:ln w="12802" cap="flat">
            <a:solidFill>
              <a:srgbClr val="317E6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8840216" y="233273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17E6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axi_inval_filter"/>
          <p:cNvSpPr txBox="1"/>
          <p:nvPr/>
        </p:nvSpPr>
        <p:spPr>
          <a:xfrm>
            <a:off x="9588398" y="2674681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axi_inval_filter</a:t>
            </a:r>
          </a:p>
        </p:txBody>
      </p:sp>
      <p:sp>
        <p:nvSpPr>
          <p:cNvPr id="15" name="text-015: AW FIFO / 行失效"/>
          <p:cNvSpPr txBox="1"/>
          <p:nvPr/>
        </p:nvSpPr>
        <p:spPr>
          <a:xfrm>
            <a:off x="9739884" y="2917627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AW FIFO / 行失效</a:t>
            </a:r>
          </a:p>
        </p:txBody>
      </p:sp>
      <p:sp>
        <p:nvSpPr>
          <p:cNvPr id="16" name="rect-016"/>
          <p:cNvSpPr/>
          <p:nvPr/>
        </p:nvSpPr>
        <p:spPr>
          <a:xfrm>
            <a:off x="426720" y="437388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448056" y="439521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8"/>
          <p:cNvSpPr/>
          <p:nvPr/>
        </p:nvSpPr>
        <p:spPr>
          <a:xfrm>
            <a:off x="512064" y="437388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CVA6 L1D 路径"/>
          <p:cNvSpPr txBox="1"/>
          <p:nvPr/>
        </p:nvSpPr>
        <p:spPr>
          <a:xfrm>
            <a:off x="1413866" y="4737161"/>
            <a:ext cx="151058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CVA6 L1D 路径</a:t>
            </a:r>
          </a:p>
        </p:txBody>
      </p:sp>
      <p:sp>
        <p:nvSpPr>
          <p:cNvPr id="20" name="text-020: 当前向量 profile：WT"/>
          <p:cNvSpPr txBox="1"/>
          <p:nvPr/>
        </p:nvSpPr>
        <p:spPr>
          <a:xfrm>
            <a:off x="1191260" y="4980107"/>
            <a:ext cx="19558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当前向量 profile：WT</a:t>
            </a:r>
          </a:p>
        </p:txBody>
      </p:sp>
      <p:sp>
        <p:nvSpPr>
          <p:cNvPr id="21" name="rect-021"/>
          <p:cNvSpPr/>
          <p:nvPr/>
        </p:nvSpPr>
        <p:spPr>
          <a:xfrm>
            <a:off x="4622800" y="437388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2"/>
          <p:cNvSpPr/>
          <p:nvPr/>
        </p:nvSpPr>
        <p:spPr>
          <a:xfrm>
            <a:off x="4644136" y="439521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axi_dw_converter"/>
          <p:cNvSpPr txBox="1"/>
          <p:nvPr/>
        </p:nvSpPr>
        <p:spPr>
          <a:xfrm>
            <a:off x="5392318" y="4737161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axi_dw_converter</a:t>
            </a:r>
          </a:p>
        </p:txBody>
      </p:sp>
      <p:sp>
        <p:nvSpPr>
          <p:cNvPr id="24" name="text-024: Ara 宽度 → 系统宽度"/>
          <p:cNvSpPr txBox="1"/>
          <p:nvPr/>
        </p:nvSpPr>
        <p:spPr>
          <a:xfrm>
            <a:off x="5434279" y="4980107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Ara 宽度 → 系统宽度</a:t>
            </a:r>
          </a:p>
        </p:txBody>
      </p:sp>
      <p:sp>
        <p:nvSpPr>
          <p:cNvPr id="25" name="rect-025"/>
          <p:cNvSpPr/>
          <p:nvPr/>
        </p:nvSpPr>
        <p:spPr>
          <a:xfrm>
            <a:off x="8818880" y="437388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EFF6FD"/>
          </a:solidFill>
          <a:ln w="12802" cap="flat">
            <a:solidFill>
              <a:srgbClr val="346D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6"/>
          <p:cNvSpPr/>
          <p:nvPr/>
        </p:nvSpPr>
        <p:spPr>
          <a:xfrm>
            <a:off x="8840216" y="439521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346D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CPU AXI / ID 适配"/>
          <p:cNvSpPr txBox="1"/>
          <p:nvPr/>
        </p:nvSpPr>
        <p:spPr>
          <a:xfrm>
            <a:off x="9584131" y="4737161"/>
            <a:ext cx="195437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CPU AXI / ID 适配</a:t>
            </a:r>
          </a:p>
        </p:txBody>
      </p:sp>
      <p:sp>
        <p:nvSpPr>
          <p:cNvPr id="28" name="text-028: i_axi_id_serialize"/>
          <p:cNvSpPr txBox="1"/>
          <p:nvPr/>
        </p:nvSpPr>
        <p:spPr>
          <a:xfrm>
            <a:off x="9567774" y="4980107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i_axi_id_serialize</a:t>
            </a:r>
          </a:p>
        </p:txBody>
      </p:sp>
      <p:sp>
        <p:nvSpPr>
          <p:cNvPr id="29" name="rect-029"/>
          <p:cNvSpPr/>
          <p:nvPr/>
        </p:nvSpPr>
        <p:spPr>
          <a:xfrm>
            <a:off x="426720" y="64363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1F5FA"/>
          </a:solidFill>
          <a:ln w="12802" cap="flat">
            <a:solidFill>
              <a:srgbClr val="526A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0"/>
          <p:cNvSpPr/>
          <p:nvPr/>
        </p:nvSpPr>
        <p:spPr>
          <a:xfrm>
            <a:off x="448056" y="64576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526A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主 AXI Xbar"/>
          <p:cNvSpPr txBox="1"/>
          <p:nvPr/>
        </p:nvSpPr>
        <p:spPr>
          <a:xfrm>
            <a:off x="1499210" y="6799641"/>
            <a:ext cx="133990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主 AXI Xbar</a:t>
            </a:r>
          </a:p>
        </p:txBody>
      </p:sp>
      <p:sp>
        <p:nvSpPr>
          <p:cNvPr id="32" name="text-032: 普通数据访问"/>
          <p:cNvSpPr txBox="1"/>
          <p:nvPr/>
        </p:nvSpPr>
        <p:spPr>
          <a:xfrm>
            <a:off x="1621536" y="704258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普通数据访问</a:t>
            </a:r>
          </a:p>
        </p:txBody>
      </p:sp>
      <p:sp>
        <p:nvSpPr>
          <p:cNvPr id="33" name="rect-033"/>
          <p:cNvSpPr/>
          <p:nvPr/>
        </p:nvSpPr>
        <p:spPr>
          <a:xfrm>
            <a:off x="4622800" y="64363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6F1FB"/>
          </a:solidFill>
          <a:ln w="12802" cap="flat">
            <a:solidFill>
              <a:srgbClr val="7552A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4"/>
          <p:cNvSpPr/>
          <p:nvPr/>
        </p:nvSpPr>
        <p:spPr>
          <a:xfrm>
            <a:off x="4644136" y="64576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7552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line-035"/>
          <p:cNvSpPr/>
          <p:nvPr/>
        </p:nvSpPr>
        <p:spPr>
          <a:xfrm>
            <a:off x="4708144" y="643636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原子适配 → LLC"/>
          <p:cNvSpPr txBox="1"/>
          <p:nvPr/>
        </p:nvSpPr>
        <p:spPr>
          <a:xfrm>
            <a:off x="5575808" y="6799641"/>
            <a:ext cx="1578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原子适配 → LLC</a:t>
            </a:r>
          </a:p>
        </p:txBody>
      </p:sp>
      <p:sp>
        <p:nvSpPr>
          <p:cNvPr id="37" name="text-037: 当前普通主存路径"/>
          <p:cNvSpPr txBox="1"/>
          <p:nvPr/>
        </p:nvSpPr>
        <p:spPr>
          <a:xfrm>
            <a:off x="5661152" y="7042587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当前普通主存路径</a:t>
            </a:r>
          </a:p>
        </p:txBody>
      </p:sp>
      <p:sp>
        <p:nvSpPr>
          <p:cNvPr id="38" name="rect-038"/>
          <p:cNvSpPr/>
          <p:nvPr/>
        </p:nvSpPr>
        <p:spPr>
          <a:xfrm>
            <a:off x="8818880" y="6436360"/>
            <a:ext cx="3484880" cy="1209040"/>
          </a:xfrm>
          <a:prstGeom prst="roundRect">
            <a:avLst>
              <a:gd name="adj" fmla="val 4705"/>
            </a:avLst>
          </a:prstGeom>
          <a:solidFill>
            <a:srgbClr val="F1F5FA"/>
          </a:solidFill>
          <a:ln w="12802" cap="flat">
            <a:solidFill>
              <a:srgbClr val="526A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9"/>
          <p:cNvSpPr/>
          <p:nvPr/>
        </p:nvSpPr>
        <p:spPr>
          <a:xfrm>
            <a:off x="8840216" y="6457696"/>
            <a:ext cx="3442208" cy="597408"/>
          </a:xfrm>
          <a:prstGeom prst="roundRect">
            <a:avLst>
              <a:gd name="adj" fmla="val 5952"/>
            </a:avLst>
          </a:prstGeom>
          <a:solidFill>
            <a:srgbClr val="526A8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LLC 外存 AXI"/>
          <p:cNvSpPr txBox="1"/>
          <p:nvPr/>
        </p:nvSpPr>
        <p:spPr>
          <a:xfrm>
            <a:off x="9861499" y="6799641"/>
            <a:ext cx="13996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FFFFFF"/>
                </a:solidFill>
                <a:latin typeface="WenQuanYi Zen Hei"/>
                <a:ea typeface="WenQuanYi Zen Hei"/>
                <a:cs typeface="WenQuanYi Zen Hei"/>
              </a:rPr>
              <a:t>LLC 外存 AXI</a:t>
            </a:r>
          </a:p>
        </p:txBody>
      </p:sp>
      <p:sp>
        <p:nvSpPr>
          <p:cNvPr id="41" name="text-041: axi_llc_mst_*"/>
          <p:cNvSpPr txBox="1"/>
          <p:nvPr/>
        </p:nvSpPr>
        <p:spPr>
          <a:xfrm>
            <a:off x="9822028" y="704258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axi_llc_mst_*</a:t>
            </a:r>
          </a:p>
        </p:txBody>
      </p:sp>
      <p:sp>
        <p:nvSpPr>
          <p:cNvPr id="42" name="E01"/>
          <p:cNvSpPr/>
          <p:nvPr/>
        </p:nvSpPr>
        <p:spPr>
          <a:xfrm>
            <a:off x="391160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02"/>
          <p:cNvSpPr/>
          <p:nvPr/>
        </p:nvSpPr>
        <p:spPr>
          <a:xfrm>
            <a:off x="810768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03"/>
          <p:cNvSpPr/>
          <p:nvPr/>
        </p:nvSpPr>
        <p:spPr>
          <a:xfrm>
            <a:off x="3911600" y="2809240"/>
            <a:ext cx="4907280" cy="853440"/>
          </a:xfrm>
          <a:custGeom>
            <a:avLst/>
            <a:gdLst/>
            <a:ahLst/>
            <a:cxnLst/>
            <a:rect l="0" t="0" r="r" b="b"/>
            <a:pathLst>
              <a:path w="4907280" h="853440" fill="none">
                <a:moveTo>
                  <a:pt x="4907280" y="0"/>
                </a:moveTo>
                <a:lnTo>
                  <a:pt x="4765040" y="0"/>
                </a:lnTo>
                <a:lnTo>
                  <a:pt x="4338320" y="0"/>
                </a:lnTo>
                <a:lnTo>
                  <a:pt x="4338320" y="853440"/>
                </a:lnTo>
                <a:lnTo>
                  <a:pt x="142240" y="853440"/>
                </a:lnTo>
                <a:lnTo>
                  <a:pt x="142240" y="0"/>
                </a:lnTo>
                <a:lnTo>
                  <a:pt x="0" y="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4"/>
          <p:cNvSpPr/>
          <p:nvPr/>
        </p:nvSpPr>
        <p:spPr>
          <a:xfrm>
            <a:off x="1066800" y="352044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142240"/>
                </a:lnTo>
                <a:lnTo>
                  <a:pt x="0" y="711200"/>
                </a:lnTo>
                <a:lnTo>
                  <a:pt x="0" y="853440"/>
                </a:lnTo>
              </a:path>
            </a:pathLst>
          </a:custGeom>
          <a:noFill/>
          <a:ln w="19914" cap="flat">
            <a:solidFill>
              <a:srgbClr val="9C5B25"/>
            </a:solidFill>
            <a:custDash>
              <a:ds d="285714" sp="178571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5"/>
          <p:cNvSpPr/>
          <p:nvPr/>
        </p:nvSpPr>
        <p:spPr>
          <a:xfrm>
            <a:off x="8107680" y="3022600"/>
            <a:ext cx="711200" cy="1635760"/>
          </a:xfrm>
          <a:custGeom>
            <a:avLst/>
            <a:gdLst/>
            <a:ahLst/>
            <a:cxnLst/>
            <a:rect l="0" t="0" r="r" b="b"/>
            <a:pathLst>
              <a:path w="711200" h="1635760" fill="none">
                <a:moveTo>
                  <a:pt x="711200" y="0"/>
                </a:moveTo>
                <a:lnTo>
                  <a:pt x="568960" y="0"/>
                </a:lnTo>
                <a:lnTo>
                  <a:pt x="568960" y="1564640"/>
                </a:lnTo>
                <a:lnTo>
                  <a:pt x="142240" y="1564640"/>
                </a:lnTo>
                <a:lnTo>
                  <a:pt x="142240" y="1635760"/>
                </a:lnTo>
                <a:lnTo>
                  <a:pt x="0" y="163576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6"/>
          <p:cNvSpPr/>
          <p:nvPr/>
        </p:nvSpPr>
        <p:spPr>
          <a:xfrm>
            <a:off x="3911600" y="4658360"/>
            <a:ext cx="711200" cy="2062480"/>
          </a:xfrm>
          <a:custGeom>
            <a:avLst/>
            <a:gdLst/>
            <a:ahLst/>
            <a:cxnLst/>
            <a:rect l="0" t="0" r="r" b="b"/>
            <a:pathLst>
              <a:path w="711200" h="2062480" fill="none">
                <a:moveTo>
                  <a:pt x="711200" y="0"/>
                </a:moveTo>
                <a:lnTo>
                  <a:pt x="568960" y="0"/>
                </a:lnTo>
                <a:lnTo>
                  <a:pt x="568960" y="1991360"/>
                </a:lnTo>
                <a:lnTo>
                  <a:pt x="142240" y="1991360"/>
                </a:lnTo>
                <a:lnTo>
                  <a:pt x="142240" y="2062480"/>
                </a:lnTo>
                <a:lnTo>
                  <a:pt x="0" y="206248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7"/>
          <p:cNvSpPr/>
          <p:nvPr/>
        </p:nvSpPr>
        <p:spPr>
          <a:xfrm>
            <a:off x="3911600" y="4231640"/>
            <a:ext cx="4907280" cy="426720"/>
          </a:xfrm>
          <a:custGeom>
            <a:avLst/>
            <a:gdLst/>
            <a:ahLst/>
            <a:cxnLst/>
            <a:rect l="0" t="0" r="r" b="b"/>
            <a:pathLst>
              <a:path w="4907280" h="426720" fill="none">
                <a:moveTo>
                  <a:pt x="0" y="426720"/>
                </a:moveTo>
                <a:lnTo>
                  <a:pt x="142240" y="426720"/>
                </a:lnTo>
                <a:lnTo>
                  <a:pt x="142240" y="0"/>
                </a:lnTo>
                <a:lnTo>
                  <a:pt x="4693920" y="0"/>
                </a:lnTo>
                <a:lnTo>
                  <a:pt x="4693920" y="426720"/>
                </a:lnTo>
                <a:lnTo>
                  <a:pt x="4765040" y="426720"/>
                </a:lnTo>
                <a:lnTo>
                  <a:pt x="4907280" y="42672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E08"/>
          <p:cNvSpPr/>
          <p:nvPr/>
        </p:nvSpPr>
        <p:spPr>
          <a:xfrm>
            <a:off x="3911600" y="4871720"/>
            <a:ext cx="4907280" cy="2062480"/>
          </a:xfrm>
          <a:custGeom>
            <a:avLst/>
            <a:gdLst/>
            <a:ahLst/>
            <a:cxnLst/>
            <a:rect l="0" t="0" r="r" b="b"/>
            <a:pathLst>
              <a:path w="4907280" h="2062480" fill="none">
                <a:moveTo>
                  <a:pt x="4907280" y="0"/>
                </a:moveTo>
                <a:lnTo>
                  <a:pt x="4765040" y="0"/>
                </a:lnTo>
                <a:lnTo>
                  <a:pt x="4765040" y="1422400"/>
                </a:lnTo>
                <a:lnTo>
                  <a:pt x="213360" y="1422400"/>
                </a:lnTo>
                <a:lnTo>
                  <a:pt x="213360" y="2062480"/>
                </a:lnTo>
                <a:lnTo>
                  <a:pt x="142240" y="2062480"/>
                </a:lnTo>
                <a:lnTo>
                  <a:pt x="0" y="206248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09"/>
          <p:cNvSpPr/>
          <p:nvPr/>
        </p:nvSpPr>
        <p:spPr>
          <a:xfrm>
            <a:off x="3911600" y="6720840"/>
            <a:ext cx="711200" cy="426720"/>
          </a:xfrm>
          <a:custGeom>
            <a:avLst/>
            <a:gdLst/>
            <a:ahLst/>
            <a:cxnLst/>
            <a:rect l="0" t="0" r="r" b="b"/>
            <a:pathLst>
              <a:path w="711200" h="426720" fill="none">
                <a:moveTo>
                  <a:pt x="0" y="426720"/>
                </a:moveTo>
                <a:lnTo>
                  <a:pt x="142240" y="426720"/>
                </a:lnTo>
                <a:lnTo>
                  <a:pt x="568960" y="4267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E10"/>
          <p:cNvSpPr/>
          <p:nvPr/>
        </p:nvSpPr>
        <p:spPr>
          <a:xfrm>
            <a:off x="8107680" y="67208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9914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2"/>
          <p:cNvSpPr/>
          <p:nvPr/>
        </p:nvSpPr>
        <p:spPr>
          <a:xfrm>
            <a:off x="408940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1"/>
          <p:cNvSpPr txBox="1"/>
          <p:nvPr/>
        </p:nvSpPr>
        <p:spPr>
          <a:xfrm>
            <a:off x="403286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4" name="rect-054"/>
          <p:cNvSpPr/>
          <p:nvPr/>
        </p:nvSpPr>
        <p:spPr>
          <a:xfrm>
            <a:off x="828548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2"/>
          <p:cNvSpPr txBox="1"/>
          <p:nvPr/>
        </p:nvSpPr>
        <p:spPr>
          <a:xfrm>
            <a:off x="822894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6" name="rect-056"/>
          <p:cNvSpPr/>
          <p:nvPr/>
        </p:nvSpPr>
        <p:spPr>
          <a:xfrm>
            <a:off x="5974080" y="37124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3"/>
          <p:cNvSpPr txBox="1"/>
          <p:nvPr/>
        </p:nvSpPr>
        <p:spPr>
          <a:xfrm>
            <a:off x="5917540" y="36928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8" name="rect-058"/>
          <p:cNvSpPr/>
          <p:nvPr/>
        </p:nvSpPr>
        <p:spPr>
          <a:xfrm>
            <a:off x="1130808" y="38475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4"/>
          <p:cNvSpPr txBox="1"/>
          <p:nvPr/>
        </p:nvSpPr>
        <p:spPr>
          <a:xfrm>
            <a:off x="1074268" y="38279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0" name="rect-060"/>
          <p:cNvSpPr/>
          <p:nvPr/>
        </p:nvSpPr>
        <p:spPr>
          <a:xfrm>
            <a:off x="8740648" y="37053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5"/>
          <p:cNvSpPr txBox="1"/>
          <p:nvPr/>
        </p:nvSpPr>
        <p:spPr>
          <a:xfrm>
            <a:off x="8684108" y="36857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2" name="rect-062"/>
          <p:cNvSpPr/>
          <p:nvPr/>
        </p:nvSpPr>
        <p:spPr>
          <a:xfrm>
            <a:off x="4068064" y="5554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6"/>
          <p:cNvSpPr txBox="1"/>
          <p:nvPr/>
        </p:nvSpPr>
        <p:spPr>
          <a:xfrm>
            <a:off x="4011524" y="5534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4" name="rect-064"/>
          <p:cNvSpPr/>
          <p:nvPr/>
        </p:nvSpPr>
        <p:spPr>
          <a:xfrm>
            <a:off x="6151880" y="4011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7"/>
          <p:cNvSpPr txBox="1"/>
          <p:nvPr/>
        </p:nvSpPr>
        <p:spPr>
          <a:xfrm>
            <a:off x="6095340" y="3991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6" name="rect-066"/>
          <p:cNvSpPr/>
          <p:nvPr/>
        </p:nvSpPr>
        <p:spPr>
          <a:xfrm>
            <a:off x="622300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8"/>
          <p:cNvSpPr txBox="1"/>
          <p:nvPr/>
        </p:nvSpPr>
        <p:spPr>
          <a:xfrm>
            <a:off x="616646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8" name="rect-068"/>
          <p:cNvSpPr/>
          <p:nvPr/>
        </p:nvSpPr>
        <p:spPr>
          <a:xfrm>
            <a:off x="4089400" y="6927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9"/>
          <p:cNvSpPr txBox="1"/>
          <p:nvPr/>
        </p:nvSpPr>
        <p:spPr>
          <a:xfrm>
            <a:off x="4032860" y="6907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0" name="rect-070"/>
          <p:cNvSpPr/>
          <p:nvPr/>
        </p:nvSpPr>
        <p:spPr>
          <a:xfrm>
            <a:off x="8285480" y="6500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10"/>
          <p:cNvSpPr txBox="1"/>
          <p:nvPr/>
        </p:nvSpPr>
        <p:spPr>
          <a:xfrm>
            <a:off x="8228940" y="6480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2" name="text-072: E 编号对应图下连接表；总线双箭头合并请求/响应；单箭头含义以表为准。"/>
          <p:cNvSpPr txBox="1"/>
          <p:nvPr/>
        </p:nvSpPr>
        <p:spPr>
          <a:xfrm>
            <a:off x="284480" y="840097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3" name="text-073: 虚线连线表示控制/事件；虚线模块表示规划。交叉无圆点不连接。C：连续走线。"/>
          <p:cNvSpPr txBox="1"/>
          <p:nvPr/>
        </p:nvSpPr>
        <p:spPr>
          <a:xfrm>
            <a:off x="284480" y="860011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虚线连线表示控制/事件；虚线模块表示规划。交叉无圆点不连接。C：连续走线。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