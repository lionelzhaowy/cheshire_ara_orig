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软件触发的 DDR–GB 缓存维护"/>
          <p:cNvSpPr txBox="1"/>
          <p:nvPr/>
        </p:nvSpPr>
        <p:spPr>
          <a:xfrm>
            <a:off x="200025" y="60488"/>
            <a:ext cx="26625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v1：软件触发的 DDR–GB 缓存维护</a:t>
            </a:r>
          </a:p>
        </p:txBody>
      </p:sp>
      <p:sp>
        <p:nvSpPr>
          <p:cNvPr id="3" name="text-003: 输入：FENCE + LLC 全量 flush；输出：软件配置范围，硬件失效 L"/>
          <p:cNvSpPr txBox="1"/>
          <p:nvPr/>
        </p:nvSpPr>
        <p:spPr>
          <a:xfrm>
            <a:off x="200025" y="280355"/>
            <a:ext cx="33823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输入：FENCE + LLC 全量 flush；输出：软件配置范围，硬件失效 L1D / LLC。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47" name="text-047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48" name="text-048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49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1" name="text-051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2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4" name="text-054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5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1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3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6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78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1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3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6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88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1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蓝：AXI 请求 / 返回（F2 仅写，F3 仅读）    绿：GB / 像素流"/>
          <p:cNvSpPr txBox="1"/>
          <p:nvPr/>
        </p:nvSpPr>
        <p:spPr>
          <a:xfrm>
            <a:off x="320040" y="6599865"/>
            <a:ext cx="53125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/ 像素流    紫：MMIO 命令 / 状态、缓存维护 / 完成</a:t>
            </a:r>
          </a:p>
        </p:txBody>
      </p:sp>
      <p:sp>
        <p:nvSpPr>
          <p:cNvPr id="93" name="text-093: 软件等待缓存维护与数据可见，再启动搬运或消费结果；虚线框为待扩展维护逻辑，数据连"/>
          <p:cNvSpPr txBox="1"/>
          <p:nvPr/>
        </p:nvSpPr>
        <p:spPr>
          <a:xfrm>
            <a:off x="320040" y="6844215"/>
            <a:ext cx="500522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软件等待缓存维护与数据可见，再启动搬运或消费结果；虚线框为待扩展维护逻辑，数据连接沿用 v1。</a:t>
            </a:r>
          </a:p>
        </p:txBody>
      </p:sp>
      <p:sp>
        <p:nvSpPr>
          <p:cNvPr id="94" name="mmio"/>
          <p:cNvSpPr/>
          <p:nvPr/>
        </p:nvSpPr>
        <p:spPr>
          <a:xfrm>
            <a:off x="3200400" y="2600325"/>
            <a:ext cx="2480310" cy="220028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既有寄存器总线 / MMIO"/>
          <p:cNvSpPr txBox="1"/>
          <p:nvPr/>
        </p:nvSpPr>
        <p:spPr>
          <a:xfrm>
            <a:off x="3809926" y="2633689"/>
            <a:ext cx="1261258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既有寄存器总线 / MMIO</a:t>
            </a:r>
          </a:p>
        </p:txBody>
      </p:sp>
      <p:sp>
        <p:nvSpPr>
          <p:cNvPr id="96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缓存维护控制（待扩展）"/>
          <p:cNvSpPr txBox="1"/>
          <p:nvPr/>
        </p:nvSpPr>
        <p:spPr>
          <a:xfrm>
            <a:off x="4352544" y="2997735"/>
            <a:ext cx="1296162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缓存维护控制（待扩展）</a:t>
            </a:r>
          </a:p>
        </p:txBody>
      </p:sp>
      <p:sp>
        <p:nvSpPr>
          <p:cNvPr id="98" name="text-098: 范围寄存器 / 行地址发生"/>
          <p:cNvSpPr txBox="1"/>
          <p:nvPr/>
        </p:nvSpPr>
        <p:spPr>
          <a:xfrm>
            <a:off x="4418834" y="3150714"/>
            <a:ext cx="116358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范围寄存器 / 行地址发生</a:t>
            </a:r>
          </a:p>
        </p:txBody>
      </p:sp>
      <p:sp>
        <p:nvSpPr>
          <p:cNvPr id="99" name="text-099: 排空与失效状态机 / 完成与错误"/>
          <p:cNvSpPr txBox="1"/>
          <p:nvPr/>
        </p:nvSpPr>
        <p:spPr>
          <a:xfrm>
            <a:off x="4274816" y="3290731"/>
            <a:ext cx="1451619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排空与失效状态机 / 完成与错误</a:t>
            </a:r>
          </a:p>
        </p:txBody>
      </p:sp>
      <p:sp>
        <p:nvSpPr>
          <p:cNvPr id="100" name="xbar-mmio"/>
          <p:cNvSpPr/>
          <p:nvPr/>
        </p:nvSpPr>
        <p:spPr>
          <a:xfrm>
            <a:off x="3800475" y="2360295"/>
            <a:ext cx="1" cy="240030"/>
          </a:xfrm>
          <a:custGeom>
            <a:avLst/>
            <a:gdLst/>
            <a:ahLst/>
            <a:cxnLst/>
            <a:rect l="0" t="0" r="r" b="b"/>
            <a:pathLst>
              <a:path w="1" h="240030" fill="none">
                <a:moveTo>
                  <a:pt x="0" y="0"/>
                </a:moveTo>
                <a:lnTo>
                  <a:pt x="0" y="24003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mio-maint"/>
          <p:cNvSpPr/>
          <p:nvPr/>
        </p:nvSpPr>
        <p:spPr>
          <a:xfrm>
            <a:off x="5000625" y="2820352"/>
            <a:ext cx="1" cy="140018"/>
          </a:xfrm>
          <a:custGeom>
            <a:avLst/>
            <a:gdLst/>
            <a:ahLst/>
            <a:cxnLst/>
            <a:rect l="0" t="0" r="r" b="b"/>
            <a:pathLst>
              <a:path w="1" h="140018" fill="none">
                <a:moveTo>
                  <a:pt x="0" y="0"/>
                </a:moveTo>
                <a:lnTo>
                  <a:pt x="0" y="14001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1194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976651" y="136998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8" name="text-008: L1D 阵列仍为 x = 1"/>
          <p:cNvSpPr txBox="1"/>
          <p:nvPr/>
        </p:nvSpPr>
        <p:spPr>
          <a:xfrm>
            <a:off x="772576" y="1573957"/>
            <a:ext cx="12285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阵列仍为 x = 1</a:t>
            </a:r>
          </a:p>
        </p:txBody>
      </p:sp>
      <p:sp>
        <p:nvSpPr>
          <p:cNvPr id="9" name="text-009: CPU 读可前递到 2"/>
          <p:cNvSpPr txBox="1"/>
          <p:nvPr/>
        </p:nvSpPr>
        <p:spPr>
          <a:xfrm>
            <a:off x="809643" y="1760647"/>
            <a:ext cx="115439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读可前递到 2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448660" y="1573957"/>
            <a:ext cx="8369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6033683" y="136998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86496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49810" y="1760647"/>
            <a:ext cx="13952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6239" y="136998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620494" y="1573957"/>
            <a:ext cx="4145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4018" y="136998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953598" y="1573957"/>
            <a:ext cx="7089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721882" y="1760647"/>
            <a:ext cx="117239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49690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27323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976651" y="331689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905592" y="352086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803205" y="370755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58857" y="3316895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802204" y="3520867"/>
            <a:ext cx="10905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6239" y="331689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621744" y="3520867"/>
            <a:ext cx="4120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4018" y="331689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954848" y="352086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61637" y="3707557"/>
            <a:ext cx="10928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485329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37984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976651" y="526380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90559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720007" y="5654467"/>
            <a:ext cx="133366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60274" y="5654467"/>
            <a:ext cx="10137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6033683" y="526380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86621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6239" y="526380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377339" y="5467777"/>
            <a:ext cx="9008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4018" y="526380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954848" y="546777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39726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31660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16422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05541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760220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57685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FENCE 排空写缓冲 → LLC 全量 flush 并等待"/>
          <p:cNvSpPr txBox="1"/>
          <p:nvPr/>
        </p:nvSpPr>
        <p:spPr>
          <a:xfrm>
            <a:off x="4357376" y="2264283"/>
            <a:ext cx="40868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FENCE 排空写缓冲 → LLC 全量 flush 并等待</a:t>
            </a:r>
          </a:p>
        </p:txBody>
      </p:sp>
      <p:sp>
        <p:nvSpPr>
          <p:cNvPr id="10" name="text-010: 同时保存输出区旧写；确认设备端口可见后启动搬运"/>
          <p:cNvSpPr txBox="1"/>
          <p:nvPr/>
        </p:nvSpPr>
        <p:spPr>
          <a:xfrm>
            <a:off x="4000500" y="2568321"/>
            <a:ext cx="48006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同时保存输出区旧写；确认设备端口可见后启动搬运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912364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960120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09829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64508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61973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结果可见；软件提交输出范围，启动缓存失效"/>
          <p:cNvSpPr txBox="1"/>
          <p:nvPr/>
        </p:nvSpPr>
        <p:spPr>
          <a:xfrm>
            <a:off x="4100512" y="4568571"/>
            <a:ext cx="46005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确认结果可见；软件提交输出范围，启动缓存失效</a:t>
            </a:r>
          </a:p>
        </p:txBody>
      </p:sp>
      <p:sp>
        <p:nvSpPr>
          <p:cNvPr id="19" name="text-019: 处理旧回填，完成 LLC／L1D 失效后交还 CPU"/>
          <p:cNvSpPr txBox="1"/>
          <p:nvPr/>
        </p:nvSpPr>
        <p:spPr>
          <a:xfrm>
            <a:off x="4290968" y="4872609"/>
            <a:ext cx="42196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处理旧回填，完成 LLC／L1D 失效后交还 CPU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216652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14117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