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915920" y="14579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346960" y="24003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 fill="none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4836160" y="24358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5120640" y="28448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 fill="none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3022600" y="28448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 fill="none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6969760" y="19202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 fill="none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969760" y="24536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 fill="none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9672320" y="19202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 fill="none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0"/>
          <p:cNvSpPr/>
          <p:nvPr/>
        </p:nvSpPr>
        <p:spPr>
          <a:xfrm>
            <a:off x="9672320" y="42494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 fill="none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2"/>
          <p:cNvSpPr/>
          <p:nvPr/>
        </p:nvSpPr>
        <p:spPr>
          <a:xfrm>
            <a:off x="11396980" y="24892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 fill="none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24: PLL、分频与门控：时钟生成和事务跨域分别设计"/>
          <p:cNvSpPr txBox="1"/>
          <p:nvPr/>
        </p:nvSpPr>
        <p:spPr>
          <a:xfrm>
            <a:off x="483616" y="271109"/>
            <a:ext cx="587593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16" name="text-025: 候选原理图：未指定最终 ASIC 频率、倍频值、电压或域划分。"/>
          <p:cNvSpPr txBox="1"/>
          <p:nvPr/>
        </p:nvSpPr>
        <p:spPr>
          <a:xfrm>
            <a:off x="483616" y="676778"/>
            <a:ext cx="48909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17" name="text-026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27: 依据：时钟生成通用原理；当前平台边界见 depth-clocks-current"/>
          <p:cNvSpPr txBox="1"/>
          <p:nvPr/>
        </p:nvSpPr>
        <p:spPr>
          <a:xfrm>
            <a:off x="341376" y="7726477"/>
            <a:ext cx="478637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19" name="rect-028"/>
          <p:cNvSpPr/>
          <p:nvPr/>
        </p:nvSpPr>
        <p:spPr>
          <a:xfrm>
            <a:off x="355600" y="19913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9"/>
          <p:cNvSpPr/>
          <p:nvPr/>
        </p:nvSpPr>
        <p:spPr>
          <a:xfrm>
            <a:off x="35560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0: 参考时钟"/>
          <p:cNvSpPr txBox="1"/>
          <p:nvPr/>
        </p:nvSpPr>
        <p:spPr>
          <a:xfrm>
            <a:off x="476504" y="20192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22" name="text-031: f_ref"/>
          <p:cNvSpPr txBox="1"/>
          <p:nvPr/>
        </p:nvSpPr>
        <p:spPr>
          <a:xfrm>
            <a:off x="476504" y="2290633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23" name="text-032: PLL 反馈环（简化原理）"/>
          <p:cNvSpPr txBox="1"/>
          <p:nvPr/>
        </p:nvSpPr>
        <p:spPr>
          <a:xfrm>
            <a:off x="3043936" y="1514856"/>
            <a:ext cx="2240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24" name="rect-033"/>
          <p:cNvSpPr/>
          <p:nvPr/>
        </p:nvSpPr>
        <p:spPr>
          <a:xfrm>
            <a:off x="31648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4"/>
          <p:cNvSpPr/>
          <p:nvPr/>
        </p:nvSpPr>
        <p:spPr>
          <a:xfrm>
            <a:off x="31648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5: 参考 ÷N"/>
          <p:cNvSpPr txBox="1"/>
          <p:nvPr/>
        </p:nvSpPr>
        <p:spPr>
          <a:xfrm>
            <a:off x="3285744" y="2054799"/>
            <a:ext cx="9153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27" name="text-036: 送相位比较"/>
          <p:cNvSpPr txBox="1"/>
          <p:nvPr/>
        </p:nvSpPr>
        <p:spPr>
          <a:xfrm>
            <a:off x="3285744" y="23261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28" name="rect-037"/>
          <p:cNvSpPr/>
          <p:nvPr/>
        </p:nvSpPr>
        <p:spPr>
          <a:xfrm>
            <a:off x="52984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8"/>
          <p:cNvSpPr/>
          <p:nvPr/>
        </p:nvSpPr>
        <p:spPr>
          <a:xfrm>
            <a:off x="52984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9: 相位 / 振荡源"/>
          <p:cNvSpPr txBox="1"/>
          <p:nvPr/>
        </p:nvSpPr>
        <p:spPr>
          <a:xfrm>
            <a:off x="5419344" y="205479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31" name="text-040: 闭环调节"/>
          <p:cNvSpPr txBox="1"/>
          <p:nvPr/>
        </p:nvSpPr>
        <p:spPr>
          <a:xfrm>
            <a:off x="5419344" y="232619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32" name="rect-041"/>
          <p:cNvSpPr/>
          <p:nvPr/>
        </p:nvSpPr>
        <p:spPr>
          <a:xfrm>
            <a:off x="3876040" y="34848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2"/>
          <p:cNvSpPr/>
          <p:nvPr/>
        </p:nvSpPr>
        <p:spPr>
          <a:xfrm>
            <a:off x="3876040" y="34848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3: 反馈 ÷M"/>
          <p:cNvSpPr txBox="1"/>
          <p:nvPr/>
        </p:nvSpPr>
        <p:spPr>
          <a:xfrm>
            <a:off x="3996944" y="3512759"/>
            <a:ext cx="9153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35" name="text-044: 锁定状态由平台监测"/>
          <p:cNvSpPr txBox="1"/>
          <p:nvPr/>
        </p:nvSpPr>
        <p:spPr>
          <a:xfrm>
            <a:off x="3996944" y="378415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36" name="rect-045"/>
          <p:cNvSpPr/>
          <p:nvPr/>
        </p:nvSpPr>
        <p:spPr>
          <a:xfrm>
            <a:off x="7965440" y="15646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6"/>
          <p:cNvSpPr/>
          <p:nvPr/>
        </p:nvSpPr>
        <p:spPr>
          <a:xfrm>
            <a:off x="7965440" y="15646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7: 输出 ÷C0"/>
          <p:cNvSpPr txBox="1"/>
          <p:nvPr/>
        </p:nvSpPr>
        <p:spPr>
          <a:xfrm>
            <a:off x="8086344" y="159251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39" name="text-048: 系统时钟"/>
          <p:cNvSpPr txBox="1"/>
          <p:nvPr/>
        </p:nvSpPr>
        <p:spPr>
          <a:xfrm>
            <a:off x="8086344" y="186391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40" name="rect-049"/>
          <p:cNvSpPr/>
          <p:nvPr/>
        </p:nvSpPr>
        <p:spPr>
          <a:xfrm>
            <a:off x="10383520" y="15646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50"/>
          <p:cNvSpPr/>
          <p:nvPr/>
        </p:nvSpPr>
        <p:spPr>
          <a:xfrm>
            <a:off x="10383520" y="15646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51: 系统域"/>
          <p:cNvSpPr txBox="1"/>
          <p:nvPr/>
        </p:nvSpPr>
        <p:spPr>
          <a:xfrm>
            <a:off x="10504424" y="159251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43" name="text-052: 复位同步释放"/>
          <p:cNvSpPr txBox="1"/>
          <p:nvPr/>
        </p:nvSpPr>
        <p:spPr>
          <a:xfrm>
            <a:off x="10504424" y="1863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44" name="text-053: CPU / 互连"/>
          <p:cNvSpPr txBox="1"/>
          <p:nvPr/>
        </p:nvSpPr>
        <p:spPr>
          <a:xfrm>
            <a:off x="10504424" y="2077273"/>
            <a:ext cx="11777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45" name="rect-054"/>
          <p:cNvSpPr/>
          <p:nvPr/>
        </p:nvSpPr>
        <p:spPr>
          <a:xfrm>
            <a:off x="7965440" y="38049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5"/>
          <p:cNvSpPr/>
          <p:nvPr/>
        </p:nvSpPr>
        <p:spPr>
          <a:xfrm>
            <a:off x="7965440" y="38049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6: 输出 ÷C1"/>
          <p:cNvSpPr txBox="1"/>
          <p:nvPr/>
        </p:nvSpPr>
        <p:spPr>
          <a:xfrm>
            <a:off x="8086344" y="383279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48" name="text-057: 门控：停止脉冲"/>
          <p:cNvSpPr txBox="1"/>
          <p:nvPr/>
        </p:nvSpPr>
        <p:spPr>
          <a:xfrm>
            <a:off x="8086344" y="41041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49" name="text-058: 安全开关时钟"/>
          <p:cNvSpPr txBox="1"/>
          <p:nvPr/>
        </p:nvSpPr>
        <p:spPr>
          <a:xfrm>
            <a:off x="8086344" y="43175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50" name="rect-059"/>
          <p:cNvSpPr/>
          <p:nvPr/>
        </p:nvSpPr>
        <p:spPr>
          <a:xfrm>
            <a:off x="10383520" y="38049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60"/>
          <p:cNvSpPr/>
          <p:nvPr/>
        </p:nvSpPr>
        <p:spPr>
          <a:xfrm>
            <a:off x="10383520" y="38049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61: 外设候选域"/>
          <p:cNvSpPr txBox="1"/>
          <p:nvPr/>
        </p:nvSpPr>
        <p:spPr>
          <a:xfrm>
            <a:off x="10504424" y="38327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53" name="text-062: 本域复位同步"/>
          <p:cNvSpPr txBox="1"/>
          <p:nvPr/>
        </p:nvSpPr>
        <p:spPr>
          <a:xfrm>
            <a:off x="10504424" y="410419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54" name="text-063: 事务通过 CDC"/>
          <p:cNvSpPr txBox="1"/>
          <p:nvPr/>
        </p:nvSpPr>
        <p:spPr>
          <a:xfrm>
            <a:off x="10504424" y="4317553"/>
            <a:ext cx="1297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55" name="text-064: CDC 桥"/>
          <p:cNvSpPr txBox="1"/>
          <p:nvPr/>
        </p:nvSpPr>
        <p:spPr>
          <a:xfrm>
            <a:off x="10810240" y="3023738"/>
            <a:ext cx="7524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56" name="rect-065"/>
          <p:cNvSpPr/>
          <p:nvPr/>
        </p:nvSpPr>
        <p:spPr>
          <a:xfrm>
            <a:off x="355600" y="56184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6"/>
          <p:cNvSpPr/>
          <p:nvPr/>
        </p:nvSpPr>
        <p:spPr>
          <a:xfrm>
            <a:off x="355600" y="56184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7: 常开控制的事务顺序"/>
          <p:cNvSpPr txBox="1"/>
          <p:nvPr/>
        </p:nvSpPr>
        <p:spPr>
          <a:xfrm>
            <a:off x="476504" y="5646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59" name="text-068: 停发 → 排空 → 切换 / lock → 域内复位 / 就绪 → 放行"/>
          <p:cNvSpPr txBox="1"/>
          <p:nvPr/>
        </p:nvSpPr>
        <p:spPr>
          <a:xfrm>
            <a:off x="476504" y="5933115"/>
            <a:ext cx="48034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60" name="text-069: lock、复位释放与设备可工作是三个不同条件"/>
          <p:cNvSpPr txBox="1"/>
          <p:nvPr/>
        </p:nvSpPr>
        <p:spPr>
          <a:xfrm>
            <a:off x="476504" y="6146475"/>
            <a:ext cx="33796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61" name="rect-070"/>
          <p:cNvSpPr/>
          <p:nvPr/>
        </p:nvSpPr>
        <p:spPr>
          <a:xfrm>
            <a:off x="6614160" y="56184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71"/>
          <p:cNvSpPr/>
          <p:nvPr/>
        </p:nvSpPr>
        <p:spPr>
          <a:xfrm>
            <a:off x="6614160" y="56184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72: 分频 / 门控 / clock-enable"/>
          <p:cNvSpPr txBox="1"/>
          <p:nvPr/>
        </p:nvSpPr>
        <p:spPr>
          <a:xfrm>
            <a:off x="6735064" y="5646359"/>
            <a:ext cx="30880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64" name="text-073: 分频改变周期；门控停止时钟脉冲"/>
          <p:cNvSpPr txBox="1"/>
          <p:nvPr/>
        </p:nvSpPr>
        <p:spPr>
          <a:xfrm>
            <a:off x="6735064" y="593311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65" name="text-074: clock-enable 决定寄存器是否更新，不是新的时钟域"/>
          <p:cNvSpPr txBox="1"/>
          <p:nvPr/>
        </p:nvSpPr>
        <p:spPr>
          <a:xfrm>
            <a:off x="6735064" y="6146475"/>
            <a:ext cx="4138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