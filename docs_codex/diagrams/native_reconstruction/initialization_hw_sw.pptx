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启动初始化的软硬件对应关系"/>
          <p:cNvSpPr txBox="1"/>
          <p:nvPr/>
        </p:nvSpPr>
        <p:spPr>
          <a:xfrm>
            <a:off x="320040" y="149139"/>
            <a:ext cx="4704588" cy="5376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启动初始化的软硬件对应关系</a:t>
            </a:r>
          </a:p>
        </p:txBody>
      </p:sp>
      <p:sp>
        <p:nvSpPr>
          <p:cNvPr id="3" name="text-003: 当前源码：Bootrom=1、PlatformRom=0、内部 LLC 启用；载"/>
          <p:cNvSpPr txBox="1"/>
          <p:nvPr/>
        </p:nvSpPr>
        <p:spPr>
          <a:xfrm>
            <a:off x="320040" y="650001"/>
            <a:ext cx="70378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当前源码：Bootrom=1、PlatformRom=0、内部 LLC 启用；载荷沿用根 SDK 启动入口</a:t>
            </a:r>
          </a:p>
        </p:txBody>
      </p:sp>
      <p:sp>
        <p:nvSpPr>
          <p:cNvPr id="4" name="rect-004"/>
          <p:cNvSpPr/>
          <p:nvPr/>
        </p:nvSpPr>
        <p:spPr>
          <a:xfrm>
            <a:off x="320040" y="1120140"/>
            <a:ext cx="5200650" cy="5200650"/>
          </a:xfrm>
          <a:prstGeom prst="roundRect">
            <a:avLst>
              <a:gd name="adj" fmla="val 2153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7520940" y="1120140"/>
            <a:ext cx="4960620" cy="520065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硬件：存储、总线与自主状态机"/>
          <p:cNvSpPr txBox="1"/>
          <p:nvPr/>
        </p:nvSpPr>
        <p:spPr>
          <a:xfrm>
            <a:off x="560070" y="1221593"/>
            <a:ext cx="34804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硬件：存储、总线与自主状态机</a:t>
            </a:r>
          </a:p>
        </p:txBody>
      </p:sp>
      <p:sp>
        <p:nvSpPr>
          <p:cNvPr id="7" name="text-007: 软件：由同一个 CVA6 执行"/>
          <p:cNvSpPr txBox="1"/>
          <p:nvPr/>
        </p:nvSpPr>
        <p:spPr>
          <a:xfrm>
            <a:off x="7760970" y="1221593"/>
            <a:ext cx="3085036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软件：由同一个 CVA6 执行</a:t>
            </a:r>
          </a:p>
        </p:txBody>
      </p:sp>
      <p:sp>
        <p:nvSpPr>
          <p:cNvPr id="8" name="rect-008"/>
          <p:cNvSpPr/>
          <p:nvPr/>
        </p:nvSpPr>
        <p:spPr>
          <a:xfrm>
            <a:off x="560070" y="1640205"/>
            <a:ext cx="4640580" cy="384048"/>
          </a:xfrm>
          <a:prstGeom prst="roundRect">
            <a:avLst>
              <a:gd name="adj" fmla="val 16666"/>
            </a:avLst>
          </a:prstGeom>
          <a:solidFill>
            <a:srgbClr val="E6EDF4"/>
          </a:solidFill>
          <a:ln w="16002" cap="flat">
            <a:solidFill>
              <a:srgbClr val="9BAE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有效 clk_i / rst_ni：由外围平台提供"/>
          <p:cNvSpPr txBox="1"/>
          <p:nvPr/>
        </p:nvSpPr>
        <p:spPr>
          <a:xfrm>
            <a:off x="1393280" y="1706133"/>
            <a:ext cx="297415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有效 clk_i / rst_ni：由外围平台提供</a:t>
            </a:r>
          </a:p>
        </p:txBody>
      </p:sp>
      <p:sp>
        <p:nvSpPr>
          <p:cNvPr id="10" name="path-010"/>
          <p:cNvSpPr/>
          <p:nvPr/>
        </p:nvSpPr>
        <p:spPr>
          <a:xfrm>
            <a:off x="1440180" y="2024253"/>
            <a:ext cx="1" cy="296037"/>
          </a:xfrm>
          <a:custGeom>
            <a:avLst/>
            <a:gdLst/>
            <a:ahLst/>
            <a:cxnLst/>
            <a:rect l="0" t="0" r="r" b="b"/>
            <a:pathLst>
              <a:path w="1" h="296037" fill="none">
                <a:moveTo>
                  <a:pt x="0" y="0"/>
                </a:moveTo>
                <a:lnTo>
                  <a:pt x="0" y="296037"/>
                </a:lnTo>
              </a:path>
            </a:pathLst>
          </a:custGeom>
          <a:noFill/>
          <a:ln w="24003" cap="flat">
            <a:solidFill>
              <a:srgbClr val="52647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th-012"/>
          <p:cNvSpPr/>
          <p:nvPr/>
        </p:nvSpPr>
        <p:spPr>
          <a:xfrm>
            <a:off x="4120515" y="2024253"/>
            <a:ext cx="1" cy="296037"/>
          </a:xfrm>
          <a:custGeom>
            <a:avLst/>
            <a:gdLst/>
            <a:ahLst/>
            <a:cxnLst/>
            <a:rect l="0" t="0" r="r" b="b"/>
            <a:pathLst>
              <a:path w="1" h="296037" fill="none">
                <a:moveTo>
                  <a:pt x="0" y="0"/>
                </a:moveTo>
                <a:lnTo>
                  <a:pt x="0" y="296037"/>
                </a:lnTo>
              </a:path>
            </a:pathLst>
          </a:custGeom>
          <a:noFill/>
          <a:ln w="24003" cap="flat">
            <a:solidFill>
              <a:srgbClr val="52647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-014"/>
          <p:cNvSpPr/>
          <p:nvPr/>
        </p:nvSpPr>
        <p:spPr>
          <a:xfrm>
            <a:off x="560070" y="2320290"/>
            <a:ext cx="1880235" cy="656082"/>
          </a:xfrm>
          <a:prstGeom prst="roundRect">
            <a:avLst>
              <a:gd name="adj" fmla="val 12195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5: CVA6"/>
          <p:cNvSpPr txBox="1"/>
          <p:nvPr/>
        </p:nvSpPr>
        <p:spPr>
          <a:xfrm>
            <a:off x="1096512" y="2367016"/>
            <a:ext cx="799350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4" name="text-016: 取指并执行机器指令"/>
          <p:cNvSpPr txBox="1"/>
          <p:nvPr/>
        </p:nvSpPr>
        <p:spPr>
          <a:xfrm>
            <a:off x="656082" y="2658892"/>
            <a:ext cx="168021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取指并执行机器指令</a:t>
            </a:r>
          </a:p>
        </p:txBody>
      </p:sp>
      <p:sp>
        <p:nvSpPr>
          <p:cNvPr id="15" name="rect-017"/>
          <p:cNvSpPr/>
          <p:nvPr/>
        </p:nvSpPr>
        <p:spPr>
          <a:xfrm>
            <a:off x="3040380" y="2320290"/>
            <a:ext cx="2160270" cy="656082"/>
          </a:xfrm>
          <a:prstGeom prst="roundRect">
            <a:avLst>
              <a:gd name="adj" fmla="val 12195"/>
            </a:avLst>
          </a:prstGeom>
          <a:solidFill>
            <a:srgbClr val="FFF3D9"/>
          </a:solidFill>
          <a:ln w="16002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8: LLC tag BIST"/>
          <p:cNvSpPr txBox="1"/>
          <p:nvPr/>
        </p:nvSpPr>
        <p:spPr>
          <a:xfrm>
            <a:off x="3396687" y="2384298"/>
            <a:ext cx="144765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tag BIST</a:t>
            </a:r>
          </a:p>
        </p:txBody>
      </p:sp>
      <p:sp>
        <p:nvSpPr>
          <p:cNvPr id="17" name="text-019: 复位后自动发起读写测试"/>
          <p:cNvSpPr txBox="1"/>
          <p:nvPr/>
        </p:nvSpPr>
        <p:spPr>
          <a:xfrm>
            <a:off x="3112389" y="2658892"/>
            <a:ext cx="20162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复位后自动发起读写测试</a:t>
            </a:r>
          </a:p>
        </p:txBody>
      </p:sp>
      <p:cxnSp>
        <p:nvCxnSpPr>
          <p:cNvPr id="18" name="line-020"/>
          <p:cNvCxnSpPr/>
          <p:nvPr/>
        </p:nvCxnSpPr>
        <p:spPr>
          <a:xfrm>
            <a:off x="1496187" y="2976372"/>
            <a:ext cx="0" cy="344043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cxnSp>
        <p:nvCxnSpPr>
          <p:cNvPr id="19" name="line-022"/>
          <p:cNvCxnSpPr/>
          <p:nvPr/>
        </p:nvCxnSpPr>
        <p:spPr>
          <a:xfrm>
            <a:off x="4120515" y="2976372"/>
            <a:ext cx="0" cy="344043"/>
          </a:xfrm>
          <a:prstGeom prst="line">
            <a:avLst/>
          </a:prstGeom>
          <a:ln w="24003" cap="flat">
            <a:solidFill>
              <a:srgbClr val="B68A2F"/>
            </a:solidFill>
            <a:tailEnd type="triangle" w="med" len="med"/>
          </a:ln>
          <a:effectLst/>
        </p:spPr>
      </p:cxnSp>
      <p:sp>
        <p:nvSpPr>
          <p:cNvPr id="20" name="rect-024"/>
          <p:cNvSpPr/>
          <p:nvPr/>
        </p:nvSpPr>
        <p:spPr>
          <a:xfrm>
            <a:off x="560070" y="3320415"/>
            <a:ext cx="1880235" cy="1000125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5: Boot ROM ① / ②"/>
          <p:cNvSpPr txBox="1"/>
          <p:nvPr/>
        </p:nvSpPr>
        <p:spPr>
          <a:xfrm>
            <a:off x="720090" y="3394344"/>
            <a:ext cx="169157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 ROM ① / ②</a:t>
            </a:r>
          </a:p>
        </p:txBody>
      </p:sp>
      <p:sp>
        <p:nvSpPr>
          <p:cNvPr id="22" name="text-026: 地址：0x02000000"/>
          <p:cNvSpPr txBox="1"/>
          <p:nvPr/>
        </p:nvSpPr>
        <p:spPr>
          <a:xfrm>
            <a:off x="720090" y="3643655"/>
            <a:ext cx="156572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地址：0x02000000</a:t>
            </a:r>
          </a:p>
        </p:txBody>
      </p:sp>
      <p:sp>
        <p:nvSpPr>
          <p:cNvPr id="23" name="text-027: cheshire_bootrom.sv"/>
          <p:cNvSpPr txBox="1"/>
          <p:nvPr/>
        </p:nvSpPr>
        <p:spPr>
          <a:xfrm>
            <a:off x="720090" y="3875684"/>
            <a:ext cx="173855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cheshire_bootrom.sv</a:t>
            </a:r>
          </a:p>
        </p:txBody>
      </p:sp>
      <p:sp>
        <p:nvSpPr>
          <p:cNvPr id="24" name="text-028: S / C 预先编译为 ROM 内容"/>
          <p:cNvSpPr txBox="1"/>
          <p:nvPr/>
        </p:nvSpPr>
        <p:spPr>
          <a:xfrm>
            <a:off x="720090" y="4076990"/>
            <a:ext cx="195678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S / C 预先编译为 ROM 内容</a:t>
            </a:r>
          </a:p>
        </p:txBody>
      </p:sp>
      <p:sp>
        <p:nvSpPr>
          <p:cNvPr id="25" name="rect-029"/>
          <p:cNvSpPr/>
          <p:nvPr/>
        </p:nvSpPr>
        <p:spPr>
          <a:xfrm>
            <a:off x="3040380" y="3320415"/>
            <a:ext cx="2160270" cy="1000125"/>
          </a:xfrm>
          <a:prstGeom prst="roundRect">
            <a:avLst>
              <a:gd name="adj" fmla="val 8000"/>
            </a:avLst>
          </a:prstGeom>
          <a:solidFill>
            <a:srgbClr val="FFF3D9"/>
          </a:solidFill>
          <a:ln w="16002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0: LLC 配置寄存器"/>
          <p:cNvSpPr txBox="1"/>
          <p:nvPr/>
        </p:nvSpPr>
        <p:spPr>
          <a:xfrm>
            <a:off x="3200400" y="3368421"/>
            <a:ext cx="160762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配置寄存器</a:t>
            </a:r>
          </a:p>
        </p:txBody>
      </p:sp>
      <p:sp>
        <p:nvSpPr>
          <p:cNvPr id="27" name="text-031: DONE：自测完成"/>
          <p:cNvSpPr txBox="1"/>
          <p:nvPr/>
        </p:nvSpPr>
        <p:spPr>
          <a:xfrm>
            <a:off x="3200400" y="3643015"/>
            <a:ext cx="150202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DONE：自测完成</a:t>
            </a:r>
          </a:p>
        </p:txBody>
      </p:sp>
      <p:sp>
        <p:nvSpPr>
          <p:cNvPr id="28" name="text-032: BIST_OUT：错误位"/>
          <p:cNvSpPr txBox="1"/>
          <p:nvPr/>
        </p:nvSpPr>
        <p:spPr>
          <a:xfrm>
            <a:off x="3200400" y="3875044"/>
            <a:ext cx="162220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BIST_OUT：错误位</a:t>
            </a:r>
          </a:p>
        </p:txBody>
      </p:sp>
      <p:sp>
        <p:nvSpPr>
          <p:cNvPr id="29" name="text-033: CFG_SPM / COMMIT"/>
          <p:cNvSpPr txBox="1"/>
          <p:nvPr/>
        </p:nvSpPr>
        <p:spPr>
          <a:xfrm>
            <a:off x="3200400" y="4076349"/>
            <a:ext cx="1652169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CFG_SPM / COMMIT</a:t>
            </a:r>
          </a:p>
        </p:txBody>
      </p:sp>
      <p:cxnSp>
        <p:nvCxnSpPr>
          <p:cNvPr id="30" name="line-034"/>
          <p:cNvCxnSpPr/>
          <p:nvPr/>
        </p:nvCxnSpPr>
        <p:spPr>
          <a:xfrm>
            <a:off x="1496187" y="4320540"/>
            <a:ext cx="0" cy="56007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31" name="text-036: ROM 中的设备驱动"/>
          <p:cNvSpPr txBox="1"/>
          <p:nvPr/>
        </p:nvSpPr>
        <p:spPr>
          <a:xfrm>
            <a:off x="756620" y="4428393"/>
            <a:ext cx="1479135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ROM 中的设备驱动</a:t>
            </a:r>
          </a:p>
        </p:txBody>
      </p:sp>
      <p:cxnSp>
        <p:nvCxnSpPr>
          <p:cNvPr id="32" name="line-037"/>
          <p:cNvCxnSpPr/>
          <p:nvPr/>
        </p:nvCxnSpPr>
        <p:spPr>
          <a:xfrm>
            <a:off x="4120515" y="4320540"/>
            <a:ext cx="0" cy="560070"/>
          </a:xfrm>
          <a:prstGeom prst="line">
            <a:avLst/>
          </a:prstGeom>
          <a:ln w="24003" cap="flat">
            <a:solidFill>
              <a:srgbClr val="B68A2F"/>
            </a:solidFill>
            <a:tailEnd type="triangle" w="med" len="med"/>
          </a:ln>
          <a:effectLst/>
        </p:spPr>
      </p:cxnSp>
      <p:sp>
        <p:nvSpPr>
          <p:cNvPr id="33" name="text-039: CPU 提交 SPM 配置"/>
          <p:cNvSpPr txBox="1"/>
          <p:nvPr/>
        </p:nvSpPr>
        <p:spPr>
          <a:xfrm>
            <a:off x="3354263" y="4428393"/>
            <a:ext cx="153250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CPU 提交 SPM 配置</a:t>
            </a:r>
          </a:p>
        </p:txBody>
      </p:sp>
      <p:sp>
        <p:nvSpPr>
          <p:cNvPr id="34" name="rect-040"/>
          <p:cNvSpPr/>
          <p:nvPr/>
        </p:nvSpPr>
        <p:spPr>
          <a:xfrm>
            <a:off x="560070" y="4880610"/>
            <a:ext cx="1880235" cy="1000125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41: 装载设备与通路"/>
          <p:cNvSpPr txBox="1"/>
          <p:nvPr/>
        </p:nvSpPr>
        <p:spPr>
          <a:xfrm>
            <a:off x="720090" y="4945258"/>
            <a:ext cx="1536192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装载设备与通路</a:t>
            </a:r>
          </a:p>
        </p:txBody>
      </p:sp>
      <p:sp>
        <p:nvSpPr>
          <p:cNvPr id="36" name="text-042: SPI NOR / SD / EEPROM"/>
          <p:cNvSpPr txBox="1"/>
          <p:nvPr/>
        </p:nvSpPr>
        <p:spPr>
          <a:xfrm>
            <a:off x="720090" y="5228493"/>
            <a:ext cx="1912702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SPI NOR / SD / EEPROM</a:t>
            </a:r>
          </a:p>
        </p:txBody>
      </p:sp>
      <p:sp>
        <p:nvSpPr>
          <p:cNvPr id="37" name="text-043: 或 UART / JTAG / Link"/>
          <p:cNvSpPr txBox="1"/>
          <p:nvPr/>
        </p:nvSpPr>
        <p:spPr>
          <a:xfrm>
            <a:off x="720090" y="5459882"/>
            <a:ext cx="179583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或 UART / JTAG / Link</a:t>
            </a:r>
          </a:p>
        </p:txBody>
      </p:sp>
      <p:sp>
        <p:nvSpPr>
          <p:cNvPr id="38" name="text-044: 不同装载路径分别验收"/>
          <p:cNvSpPr txBox="1"/>
          <p:nvPr/>
        </p:nvSpPr>
        <p:spPr>
          <a:xfrm>
            <a:off x="720090" y="5653187"/>
            <a:ext cx="158419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不同装载路径分别验收</a:t>
            </a:r>
          </a:p>
        </p:txBody>
      </p:sp>
      <p:sp>
        <p:nvSpPr>
          <p:cNvPr id="39" name="rect-045"/>
          <p:cNvSpPr/>
          <p:nvPr/>
        </p:nvSpPr>
        <p:spPr>
          <a:xfrm>
            <a:off x="3040380" y="4880610"/>
            <a:ext cx="2160270" cy="1000125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6: LLC 数据 / SPM"/>
          <p:cNvSpPr txBox="1"/>
          <p:nvPr/>
        </p:nvSpPr>
        <p:spPr>
          <a:xfrm>
            <a:off x="3200400" y="4945258"/>
            <a:ext cx="1611589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数据 / SPM</a:t>
            </a:r>
          </a:p>
        </p:txBody>
      </p:sp>
      <p:sp>
        <p:nvSpPr>
          <p:cNvPr id="41" name="text-047: 保存载荷代码、数据和栈"/>
          <p:cNvSpPr txBox="1"/>
          <p:nvPr/>
        </p:nvSpPr>
        <p:spPr>
          <a:xfrm>
            <a:off x="3200400" y="5211211"/>
            <a:ext cx="20162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保存载荷代码、数据和栈</a:t>
            </a:r>
          </a:p>
        </p:txBody>
      </p:sp>
      <p:sp>
        <p:nvSpPr>
          <p:cNvPr id="42" name="text-048: tag BIST 不测试数据阵列"/>
          <p:cNvSpPr txBox="1"/>
          <p:nvPr/>
        </p:nvSpPr>
        <p:spPr>
          <a:xfrm>
            <a:off x="3200400" y="5451241"/>
            <a:ext cx="20546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tag BIST 不测试数据阵列</a:t>
            </a:r>
          </a:p>
        </p:txBody>
      </p:sp>
      <p:sp>
        <p:nvSpPr>
          <p:cNvPr id="43" name="text-049: 应用 .bss 由 CRT0 清零"/>
          <p:cNvSpPr txBox="1"/>
          <p:nvPr/>
        </p:nvSpPr>
        <p:spPr>
          <a:xfrm>
            <a:off x="3200400" y="5653187"/>
            <a:ext cx="164794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应用 .bss 由 CRT0 清零</a:t>
            </a:r>
          </a:p>
        </p:txBody>
      </p:sp>
      <p:cxnSp>
        <p:nvCxnSpPr>
          <p:cNvPr id="44" name="line-050"/>
          <p:cNvCxnSpPr/>
          <p:nvPr/>
        </p:nvCxnSpPr>
        <p:spPr>
          <a:xfrm>
            <a:off x="2440305" y="5440680"/>
            <a:ext cx="600075" cy="0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45" name="text-052: 搬运"/>
          <p:cNvSpPr txBox="1"/>
          <p:nvPr/>
        </p:nvSpPr>
        <p:spPr>
          <a:xfrm>
            <a:off x="2532316" y="5021748"/>
            <a:ext cx="408051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6" name="text-053: 字节"/>
          <p:cNvSpPr txBox="1"/>
          <p:nvPr/>
        </p:nvSpPr>
        <p:spPr>
          <a:xfrm>
            <a:off x="2532316" y="5173767"/>
            <a:ext cx="408051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字节</a:t>
            </a:r>
          </a:p>
        </p:txBody>
      </p:sp>
      <p:sp>
        <p:nvSpPr>
          <p:cNvPr id="47" name="rect-054"/>
          <p:cNvSpPr/>
          <p:nvPr/>
        </p:nvSpPr>
        <p:spPr>
          <a:xfrm>
            <a:off x="7840980" y="1720215"/>
            <a:ext cx="4320540" cy="1120140"/>
          </a:xfrm>
          <a:prstGeom prst="roundRect">
            <a:avLst>
              <a:gd name="adj" fmla="val 7142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55: ① Boot ROM 汇编"/>
          <p:cNvSpPr txBox="1"/>
          <p:nvPr/>
        </p:nvSpPr>
        <p:spPr>
          <a:xfrm>
            <a:off x="8001000" y="1766941"/>
            <a:ext cx="2125578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① Boot ROM 汇编</a:t>
            </a:r>
          </a:p>
        </p:txBody>
      </p:sp>
      <p:sp>
        <p:nvSpPr>
          <p:cNvPr id="49" name="text-056: cheshire_bootrom.S"/>
          <p:cNvSpPr txBox="1"/>
          <p:nvPr/>
        </p:nvSpPr>
        <p:spPr>
          <a:xfrm>
            <a:off x="8001000" y="2050176"/>
            <a:ext cx="18400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</a:t>
            </a:r>
          </a:p>
        </p:txBody>
      </p:sp>
      <p:sp>
        <p:nvSpPr>
          <p:cNvPr id="50" name="text-057: 整数环境、sp / gp；等待 LLC DONE"/>
          <p:cNvSpPr txBox="1"/>
          <p:nvPr/>
        </p:nvSpPr>
        <p:spPr>
          <a:xfrm>
            <a:off x="8001000" y="2290206"/>
            <a:ext cx="309638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整数环境、sp / gp；等待 LLC DONE</a:t>
            </a:r>
          </a:p>
        </p:txBody>
      </p:sp>
      <p:sp>
        <p:nvSpPr>
          <p:cNvPr id="51" name="text-058: 全 way 配置 SPM；建立早期栈"/>
          <p:cNvSpPr txBox="1"/>
          <p:nvPr/>
        </p:nvSpPr>
        <p:spPr>
          <a:xfrm>
            <a:off x="8001000" y="2522235"/>
            <a:ext cx="262717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全 way 配置 SPM；建立早期栈</a:t>
            </a:r>
          </a:p>
        </p:txBody>
      </p:sp>
      <p:cxnSp>
        <p:nvCxnSpPr>
          <p:cNvPr id="52" name="line-059"/>
          <p:cNvCxnSpPr/>
          <p:nvPr/>
        </p:nvCxnSpPr>
        <p:spPr>
          <a:xfrm>
            <a:off x="10001250" y="2840355"/>
            <a:ext cx="0" cy="440055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53" name="text-061: call ROM main"/>
          <p:cNvSpPr txBox="1"/>
          <p:nvPr/>
        </p:nvSpPr>
        <p:spPr>
          <a:xfrm>
            <a:off x="10161270" y="2923565"/>
            <a:ext cx="127767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call ROM main</a:t>
            </a:r>
          </a:p>
        </p:txBody>
      </p:sp>
      <p:sp>
        <p:nvSpPr>
          <p:cNvPr id="54" name="rect-062"/>
          <p:cNvSpPr/>
          <p:nvPr/>
        </p:nvSpPr>
        <p:spPr>
          <a:xfrm>
            <a:off x="7840980" y="3280410"/>
            <a:ext cx="4320540" cy="1120140"/>
          </a:xfrm>
          <a:prstGeom prst="roundRect">
            <a:avLst>
              <a:gd name="adj" fmla="val 7142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63: ② Boot ROM 的 C 代码"/>
          <p:cNvSpPr txBox="1"/>
          <p:nvPr/>
        </p:nvSpPr>
        <p:spPr>
          <a:xfrm>
            <a:off x="8001000" y="3327136"/>
            <a:ext cx="2615752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② Boot ROM 的 C 代码</a:t>
            </a:r>
          </a:p>
        </p:txBody>
      </p:sp>
      <p:sp>
        <p:nvSpPr>
          <p:cNvPr id="56" name="text-064: cheshire_bootrom.c"/>
          <p:cNvSpPr txBox="1"/>
          <p:nvPr/>
        </p:nvSpPr>
        <p:spPr>
          <a:xfrm>
            <a:off x="8001000" y="3610371"/>
            <a:ext cx="182675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cheshire_bootrom.c</a:t>
            </a:r>
          </a:p>
        </p:txBody>
      </p:sp>
      <p:sp>
        <p:nvSpPr>
          <p:cNvPr id="57" name="text-065: 测频、选择 boot_mode、调用装载驱动"/>
          <p:cNvSpPr txBox="1"/>
          <p:nvPr/>
        </p:nvSpPr>
        <p:spPr>
          <a:xfrm>
            <a:off x="8001000" y="3850401"/>
            <a:ext cx="33103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测频、选择 boot_mode、调用装载驱动</a:t>
            </a:r>
          </a:p>
        </p:txBody>
      </p:sp>
      <p:sp>
        <p:nvSpPr>
          <p:cNvPr id="58" name="text-066: 把载荷装入内存，再交接执行入口"/>
          <p:cNvSpPr txBox="1"/>
          <p:nvPr/>
        </p:nvSpPr>
        <p:spPr>
          <a:xfrm>
            <a:off x="8001000" y="4082430"/>
            <a:ext cx="28163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把载荷装入内存，再交接执行入口</a:t>
            </a:r>
          </a:p>
        </p:txBody>
      </p:sp>
      <p:cxnSp>
        <p:nvCxnSpPr>
          <p:cNvPr id="59" name="line-067"/>
          <p:cNvCxnSpPr/>
          <p:nvPr/>
        </p:nvCxnSpPr>
        <p:spPr>
          <a:xfrm>
            <a:off x="10001250" y="4400550"/>
            <a:ext cx="0" cy="480060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60" name="text-069: 调用载荷入口"/>
          <p:cNvSpPr txBox="1"/>
          <p:nvPr/>
        </p:nvSpPr>
        <p:spPr>
          <a:xfrm>
            <a:off x="10161270" y="4491761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调用载荷入口</a:t>
            </a:r>
          </a:p>
        </p:txBody>
      </p:sp>
      <p:sp>
        <p:nvSpPr>
          <p:cNvPr id="61" name="rect-070"/>
          <p:cNvSpPr/>
          <p:nvPr/>
        </p:nvSpPr>
        <p:spPr>
          <a:xfrm>
            <a:off x="7840980" y="4880610"/>
            <a:ext cx="4320540" cy="1200150"/>
          </a:xfrm>
          <a:prstGeom prst="roundRect">
            <a:avLst>
              <a:gd name="adj" fmla="val 6666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71: ③ 应用 / ZSL 的启动代码"/>
          <p:cNvSpPr txBox="1"/>
          <p:nvPr/>
        </p:nvSpPr>
        <p:spPr>
          <a:xfrm>
            <a:off x="8001000" y="4927336"/>
            <a:ext cx="2692336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③ 应用 / ZSL 的启动代码</a:t>
            </a:r>
          </a:p>
        </p:txBody>
      </p:sp>
      <p:sp>
        <p:nvSpPr>
          <p:cNvPr id="63" name="text-072: sw/lib/crt0.S → 该载荷自己的 main"/>
          <p:cNvSpPr txBox="1"/>
          <p:nvPr/>
        </p:nvSpPr>
        <p:spPr>
          <a:xfrm>
            <a:off x="8001000" y="5210571"/>
            <a:ext cx="30327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sw/lib/crt0.S → 该载荷自己的 main</a:t>
            </a:r>
          </a:p>
        </p:txBody>
      </p:sp>
      <p:sp>
        <p:nvSpPr>
          <p:cNvPr id="64" name="text-073: sp / gp、mtvec、.bss、FP 初始化"/>
          <p:cNvSpPr txBox="1"/>
          <p:nvPr/>
        </p:nvSpPr>
        <p:spPr>
          <a:xfrm>
            <a:off x="8001000" y="5450601"/>
            <a:ext cx="29114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 / gp、mtvec、.bss、FP 初始化</a:t>
            </a:r>
          </a:p>
        </p:txBody>
      </p:sp>
      <p:sp>
        <p:nvSpPr>
          <p:cNvPr id="65" name="text-074: main 返回：发布 scratch2，然后 ret"/>
          <p:cNvSpPr txBox="1"/>
          <p:nvPr/>
        </p:nvSpPr>
        <p:spPr>
          <a:xfrm>
            <a:off x="8001000" y="5690631"/>
            <a:ext cx="30853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main 返回：发布 scratch2，然后 ret</a:t>
            </a:r>
          </a:p>
        </p:txBody>
      </p:sp>
      <p:sp>
        <p:nvSpPr>
          <p:cNvPr id="66" name="path-075"/>
          <p:cNvSpPr/>
          <p:nvPr/>
        </p:nvSpPr>
        <p:spPr>
          <a:xfrm>
            <a:off x="5200650" y="2360295"/>
            <a:ext cx="2640330" cy="1336167"/>
          </a:xfrm>
          <a:custGeom>
            <a:avLst/>
            <a:gdLst/>
            <a:ahLst/>
            <a:cxnLst/>
            <a:rect l="0" t="0" r="r" b="b"/>
            <a:pathLst>
              <a:path w="2640330" h="1336167" fill="none">
                <a:moveTo>
                  <a:pt x="2640330" y="0"/>
                </a:moveTo>
                <a:lnTo>
                  <a:pt x="1800225" y="0"/>
                </a:lnTo>
                <a:lnTo>
                  <a:pt x="1800225" y="1336167"/>
                </a:lnTo>
                <a:lnTo>
                  <a:pt x="0" y="1336167"/>
                </a:lnTo>
              </a:path>
            </a:pathLst>
          </a:custGeom>
          <a:noFill/>
          <a:ln w="24003" cap="flat">
            <a:solidFill>
              <a:srgbClr val="B68A2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77: ① 轮询 DONE"/>
          <p:cNvSpPr txBox="1"/>
          <p:nvPr/>
        </p:nvSpPr>
        <p:spPr>
          <a:xfrm>
            <a:off x="5704713" y="3051581"/>
            <a:ext cx="12051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① 轮询 DONE</a:t>
            </a:r>
          </a:p>
        </p:txBody>
      </p:sp>
      <p:sp>
        <p:nvSpPr>
          <p:cNvPr id="68" name="text-078: 写 SPM 配置与提交"/>
          <p:cNvSpPr txBox="1"/>
          <p:nvPr/>
        </p:nvSpPr>
        <p:spPr>
          <a:xfrm>
            <a:off x="5704713" y="3275609"/>
            <a:ext cx="156145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写 SPM 配置与提交</a:t>
            </a:r>
          </a:p>
        </p:txBody>
      </p:sp>
      <p:cxnSp>
        <p:nvCxnSpPr>
          <p:cNvPr id="69" name="line-079"/>
          <p:cNvCxnSpPr/>
          <p:nvPr/>
        </p:nvCxnSpPr>
        <p:spPr>
          <a:xfrm>
            <a:off x="5200650" y="5520690"/>
            <a:ext cx="2640330" cy="0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70" name="text-081: 镜像入口 _start"/>
          <p:cNvSpPr txBox="1"/>
          <p:nvPr/>
        </p:nvSpPr>
        <p:spPr>
          <a:xfrm>
            <a:off x="5632704" y="4995824"/>
            <a:ext cx="126705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镜像入口 _start</a:t>
            </a:r>
          </a:p>
        </p:txBody>
      </p:sp>
      <p:sp>
        <p:nvSpPr>
          <p:cNvPr id="71" name="text-082: 对应 CRT0 机器指令"/>
          <p:cNvSpPr txBox="1"/>
          <p:nvPr/>
        </p:nvSpPr>
        <p:spPr>
          <a:xfrm>
            <a:off x="5632704" y="5219852"/>
            <a:ext cx="160748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对应 CRT0 机器指令</a:t>
            </a:r>
          </a:p>
        </p:txBody>
      </p:sp>
      <p:sp>
        <p:nvSpPr>
          <p:cNvPr id="72" name="text-083: 边界：DONE ≠ 自测无错误；数据 SRAM 制造测试另行设计。Platfor"/>
          <p:cNvSpPr txBox="1"/>
          <p:nvPr/>
        </p:nvSpPr>
        <p:spPr>
          <a:xfrm>
            <a:off x="320040" y="6436004"/>
            <a:ext cx="807763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边界：DONE ≠ 自测无错误；数据 SRAM 制造测试另行设计。Platform ROM 非零返回路径待 S01-B01 修复。</a:t>
            </a:r>
          </a:p>
        </p:txBody>
      </p:sp>
      <p:sp>
        <p:nvSpPr>
          <p:cNvPr id="73" name="text-084: 依据：hw/cheshire_soc.sv；hw/bootrom/；sw/lib"/>
          <p:cNvSpPr txBox="1"/>
          <p:nvPr/>
        </p:nvSpPr>
        <p:spPr>
          <a:xfrm>
            <a:off x="320040" y="6717320"/>
            <a:ext cx="717588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依据：hw/cheshire_soc.sv；hw/bootrom/；sw/lib/crt0.S；axi_llc_hit_miss / tag_store / tag_pattern_gen</a:t>
            </a:r>
          </a:p>
        </p:txBody>
      </p:sp>
      <p:sp>
        <p:nvSpPr>
          <p:cNvPr id="74" name="text-085: 输入 HEAD 278434024 · 2026-10-08 · 源码对应图，未"/>
          <p:cNvSpPr txBox="1"/>
          <p:nvPr/>
        </p:nvSpPr>
        <p:spPr>
          <a:xfrm>
            <a:off x="320040" y="6933987"/>
            <a:ext cx="5019502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输入 HEAD 278434024 · 2026-10-08 · 源码对应图，未新增目标仿真 / 板测证据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