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4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5" name="rect-005"/>
          <p:cNvSpPr/>
          <p:nvPr/>
        </p:nvSpPr>
        <p:spPr>
          <a:xfrm>
            <a:off x="284480" y="1244600"/>
            <a:ext cx="1223264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line-006"/>
          <p:cNvSpPr/>
          <p:nvPr/>
        </p:nvSpPr>
        <p:spPr>
          <a:xfrm>
            <a:off x="3235960" y="2186940"/>
            <a:ext cx="1813560" cy="1"/>
          </a:xfrm>
          <a:custGeom>
            <a:avLst/>
            <a:gdLst/>
            <a:ahLst/>
            <a:cxnLst/>
            <a:rect l="0" t="0" r="r" b="b"/>
            <a:pathLst>
              <a:path w="1813560" h="1" fill="none">
                <a:moveTo>
                  <a:pt x="0" y="0"/>
                </a:moveTo>
                <a:lnTo>
                  <a:pt x="1813560" y="0"/>
                </a:lnTo>
              </a:path>
            </a:pathLst>
          </a:custGeom>
          <a:noFill/>
          <a:ln w="21336" cap="flat">
            <a:solidFill>
              <a:srgbClr val="7555A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8"/>
          <p:cNvSpPr/>
          <p:nvPr/>
        </p:nvSpPr>
        <p:spPr>
          <a:xfrm>
            <a:off x="1884680" y="2631440"/>
            <a:ext cx="4516120" cy="568960"/>
          </a:xfrm>
          <a:custGeom>
            <a:avLst/>
            <a:gdLst/>
            <a:ahLst/>
            <a:cxnLst/>
            <a:rect l="0" t="0" r="r" b="b"/>
            <a:pathLst>
              <a:path w="4516120" h="568960" fill="none">
                <a:moveTo>
                  <a:pt x="0" y="0"/>
                </a:moveTo>
                <a:lnTo>
                  <a:pt x="0" y="248920"/>
                </a:lnTo>
                <a:lnTo>
                  <a:pt x="4516120" y="248920"/>
                </a:lnTo>
                <a:lnTo>
                  <a:pt x="4516120" y="5689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10"/>
          <p:cNvSpPr/>
          <p:nvPr/>
        </p:nvSpPr>
        <p:spPr>
          <a:xfrm>
            <a:off x="6400800" y="2631440"/>
            <a:ext cx="35560" cy="568960"/>
          </a:xfrm>
          <a:custGeom>
            <a:avLst/>
            <a:gdLst/>
            <a:ahLst/>
            <a:cxnLst/>
            <a:rect l="0" t="0" r="r" b="b"/>
            <a:pathLst>
              <a:path w="35560" h="568960" fill="none">
                <a:moveTo>
                  <a:pt x="35560" y="0"/>
                </a:moveTo>
                <a:lnTo>
                  <a:pt x="3556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12"/>
          <p:cNvSpPr/>
          <p:nvPr/>
        </p:nvSpPr>
        <p:spPr>
          <a:xfrm>
            <a:off x="6400800" y="2631440"/>
            <a:ext cx="4498340" cy="568960"/>
          </a:xfrm>
          <a:custGeom>
            <a:avLst/>
            <a:gdLst/>
            <a:ahLst/>
            <a:cxnLst/>
            <a:rect l="0" t="0" r="r" b="b"/>
            <a:pathLst>
              <a:path w="4498340" h="568960" fill="none">
                <a:moveTo>
                  <a:pt x="4498340" y="0"/>
                </a:moveTo>
                <a:lnTo>
                  <a:pt x="449834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14"/>
          <p:cNvSpPr/>
          <p:nvPr/>
        </p:nvSpPr>
        <p:spPr>
          <a:xfrm>
            <a:off x="2098040" y="38973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 fill="none">
                <a:moveTo>
                  <a:pt x="4302760" y="0"/>
                </a:moveTo>
                <a:lnTo>
                  <a:pt x="430276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6"/>
          <p:cNvSpPr/>
          <p:nvPr/>
        </p:nvSpPr>
        <p:spPr>
          <a:xfrm>
            <a:off x="6400800" y="3897376"/>
            <a:ext cx="1" cy="725424"/>
          </a:xfrm>
          <a:custGeom>
            <a:avLst/>
            <a:gdLst/>
            <a:ahLst/>
            <a:cxnLst/>
            <a:rect l="0" t="0" r="r" b="b"/>
            <a:pathLst>
              <a:path w="1" h="725424" fill="none">
                <a:moveTo>
                  <a:pt x="0" y="0"/>
                </a:moveTo>
                <a:lnTo>
                  <a:pt x="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8"/>
          <p:cNvSpPr/>
          <p:nvPr/>
        </p:nvSpPr>
        <p:spPr>
          <a:xfrm>
            <a:off x="6400800" y="38973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 fill="none">
                <a:moveTo>
                  <a:pt x="0" y="0"/>
                </a:moveTo>
                <a:lnTo>
                  <a:pt x="0" y="369824"/>
                </a:lnTo>
                <a:lnTo>
                  <a:pt x="4302760" y="369824"/>
                </a:lnTo>
                <a:lnTo>
                  <a:pt x="4302760" y="725424"/>
                </a:lnTo>
              </a:path>
            </a:pathLst>
          </a:custGeom>
          <a:noFill/>
          <a:ln w="21336" cap="flat">
            <a:solidFill>
              <a:srgbClr val="216BB1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20: Cheshire / CVA6 / Ara：计算、控制与存储边界"/>
          <p:cNvSpPr txBox="1"/>
          <p:nvPr/>
        </p:nvSpPr>
        <p:spPr>
          <a:xfrm>
            <a:off x="483616" y="271109"/>
            <a:ext cx="656722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Cheshire / CVA6 / Ara：计算、控制与存储边界</a:t>
            </a:r>
          </a:p>
        </p:txBody>
      </p:sp>
      <p:sp>
        <p:nvSpPr>
          <p:cNvPr id="14" name="text-021: 可选 IP 是否存在由 Cfg 决定；数据箭头表示请求，响应沿相应事务返回。"/>
          <p:cNvSpPr txBox="1"/>
          <p:nvPr/>
        </p:nvSpPr>
        <p:spPr>
          <a:xfrm>
            <a:off x="483616" y="676778"/>
            <a:ext cx="58642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IP 是否存在由 Cfg 决定；数据箭头表示请求，响应沿相应事务返回。</a:t>
            </a:r>
          </a:p>
        </p:txBody>
      </p:sp>
      <p:sp>
        <p:nvSpPr>
          <p:cNvPr id="15" name="text-022: 当前源码结构 / 教学示意；非运行证据"/>
          <p:cNvSpPr txBox="1"/>
          <p:nvPr/>
        </p:nvSpPr>
        <p:spPr>
          <a:xfrm>
            <a:off x="341376" y="7498324"/>
            <a:ext cx="2830220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23: 源码：cheshire_soc.sv::gen_ara / i_axi_xbar"/>
          <p:cNvSpPr txBox="1"/>
          <p:nvPr/>
        </p:nvSpPr>
        <p:spPr>
          <a:xfrm>
            <a:off x="341376" y="7726477"/>
            <a:ext cx="773785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源码：cheshire_soc.sv::gen_ara / i_axi_xbar / i_reg_demux / gen_llc；cheshire_pkg.sv</a:t>
            </a:r>
          </a:p>
        </p:txBody>
      </p:sp>
      <p:sp>
        <p:nvSpPr>
          <p:cNvPr id="17" name="text-024: Cheshire 数字 SoC 边界"/>
          <p:cNvSpPr txBox="1"/>
          <p:nvPr/>
        </p:nvSpPr>
        <p:spPr>
          <a:xfrm>
            <a:off x="412496" y="1301496"/>
            <a:ext cx="250698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Cheshire 数字 SoC 边界</a:t>
            </a:r>
          </a:p>
        </p:txBody>
      </p:sp>
      <p:sp>
        <p:nvSpPr>
          <p:cNvPr id="18" name="rect-025"/>
          <p:cNvSpPr/>
          <p:nvPr/>
        </p:nvSpPr>
        <p:spPr>
          <a:xfrm>
            <a:off x="533400" y="1742440"/>
            <a:ext cx="270256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26"/>
          <p:cNvSpPr/>
          <p:nvPr/>
        </p:nvSpPr>
        <p:spPr>
          <a:xfrm>
            <a:off x="53340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7: CVA6"/>
          <p:cNvSpPr txBox="1"/>
          <p:nvPr/>
        </p:nvSpPr>
        <p:spPr>
          <a:xfrm>
            <a:off x="654304" y="1770319"/>
            <a:ext cx="66568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</a:t>
            </a:r>
          </a:p>
        </p:txBody>
      </p:sp>
      <p:sp>
        <p:nvSpPr>
          <p:cNvPr id="21" name="text-028: 取指 / 标量 / FPU / MMU"/>
          <p:cNvSpPr txBox="1"/>
          <p:nvPr/>
        </p:nvSpPr>
        <p:spPr>
          <a:xfrm>
            <a:off x="654304" y="2041713"/>
            <a:ext cx="25176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取指 / 标量 / FPU / MMU</a:t>
            </a:r>
          </a:p>
        </p:txBody>
      </p:sp>
      <p:sp>
        <p:nvSpPr>
          <p:cNvPr id="22" name="text-029: L1 cache 与写缓冲"/>
          <p:cNvSpPr txBox="1"/>
          <p:nvPr/>
        </p:nvSpPr>
        <p:spPr>
          <a:xfrm>
            <a:off x="654304" y="2255073"/>
            <a:ext cx="18519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与写缓冲</a:t>
            </a:r>
          </a:p>
        </p:txBody>
      </p:sp>
      <p:sp>
        <p:nvSpPr>
          <p:cNvPr id="23" name="rect-030"/>
          <p:cNvSpPr/>
          <p:nvPr/>
        </p:nvSpPr>
        <p:spPr>
          <a:xfrm>
            <a:off x="5049520" y="1742440"/>
            <a:ext cx="277368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31"/>
          <p:cNvSpPr/>
          <p:nvPr/>
        </p:nvSpPr>
        <p:spPr>
          <a:xfrm>
            <a:off x="504952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32: Ara · 可选"/>
          <p:cNvSpPr txBox="1"/>
          <p:nvPr/>
        </p:nvSpPr>
        <p:spPr>
          <a:xfrm>
            <a:off x="5170424" y="1770319"/>
            <a:ext cx="12758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可选</a:t>
            </a:r>
          </a:p>
        </p:txBody>
      </p:sp>
      <p:sp>
        <p:nvSpPr>
          <p:cNvPr id="26" name="text-033: dispatcher / VRF / lanes"/>
          <p:cNvSpPr txBox="1"/>
          <p:nvPr/>
        </p:nvSpPr>
        <p:spPr>
          <a:xfrm>
            <a:off x="5170424" y="2041713"/>
            <a:ext cx="28334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dispatcher / VRF / lanes</a:t>
            </a:r>
          </a:p>
        </p:txBody>
      </p:sp>
      <p:sp>
        <p:nvSpPr>
          <p:cNvPr id="27" name="text-034: VLSU：独立 AXI 访存"/>
          <p:cNvSpPr txBox="1"/>
          <p:nvPr/>
        </p:nvSpPr>
        <p:spPr>
          <a:xfrm>
            <a:off x="5170424" y="2255073"/>
            <a:ext cx="20226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VLSU：独立 AXI 访存</a:t>
            </a:r>
          </a:p>
        </p:txBody>
      </p:sp>
      <p:sp>
        <p:nvSpPr>
          <p:cNvPr id="28" name="rect-035"/>
          <p:cNvSpPr/>
          <p:nvPr/>
        </p:nvSpPr>
        <p:spPr>
          <a:xfrm>
            <a:off x="9530080" y="1742440"/>
            <a:ext cx="273812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36"/>
          <p:cNvSpPr/>
          <p:nvPr/>
        </p:nvSpPr>
        <p:spPr>
          <a:xfrm>
            <a:off x="953008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7: 其他发起端"/>
          <p:cNvSpPr txBox="1"/>
          <p:nvPr/>
        </p:nvSpPr>
        <p:spPr>
          <a:xfrm>
            <a:off x="9650984" y="177031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其他发起端</a:t>
            </a:r>
          </a:p>
        </p:txBody>
      </p:sp>
      <p:sp>
        <p:nvSpPr>
          <p:cNvPr id="31" name="text-038: Debug SBA / iDMA / Link"/>
          <p:cNvSpPr txBox="1"/>
          <p:nvPr/>
        </p:nvSpPr>
        <p:spPr>
          <a:xfrm>
            <a:off x="9650984" y="2041713"/>
            <a:ext cx="27224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SBA / iDMA / Link</a:t>
            </a:r>
          </a:p>
        </p:txBody>
      </p:sp>
      <p:sp>
        <p:nvSpPr>
          <p:cNvPr id="32" name="text-039: VGA / USB 数据请求"/>
          <p:cNvSpPr txBox="1"/>
          <p:nvPr/>
        </p:nvSpPr>
        <p:spPr>
          <a:xfrm>
            <a:off x="9650984" y="2255073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VGA / USB 数据请求</a:t>
            </a:r>
          </a:p>
        </p:txBody>
      </p:sp>
      <p:sp>
        <p:nvSpPr>
          <p:cNvPr id="33" name="text-040: 指令 / 操作数"/>
          <p:cNvSpPr txBox="1"/>
          <p:nvPr/>
        </p:nvSpPr>
        <p:spPr>
          <a:xfrm>
            <a:off x="3342640" y="1850827"/>
            <a:ext cx="124388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指令 / 操作数</a:t>
            </a:r>
          </a:p>
        </p:txBody>
      </p:sp>
      <p:sp>
        <p:nvSpPr>
          <p:cNvPr id="34" name="text-041: MMU / 完成 / 失效协作"/>
          <p:cNvSpPr txBox="1"/>
          <p:nvPr/>
        </p:nvSpPr>
        <p:spPr>
          <a:xfrm>
            <a:off x="3413760" y="2314245"/>
            <a:ext cx="182778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/ 完成 / 失效协作</a:t>
            </a:r>
          </a:p>
        </p:txBody>
      </p:sp>
      <p:sp>
        <p:nvSpPr>
          <p:cNvPr id="35" name="rect-042"/>
          <p:cNvSpPr/>
          <p:nvPr/>
        </p:nvSpPr>
        <p:spPr>
          <a:xfrm>
            <a:off x="1920240" y="3200400"/>
            <a:ext cx="8961120" cy="696976"/>
          </a:xfrm>
          <a:prstGeom prst="roundRect">
            <a:avLst>
              <a:gd name="adj" fmla="val 71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43"/>
          <p:cNvSpPr/>
          <p:nvPr/>
        </p:nvSpPr>
        <p:spPr>
          <a:xfrm>
            <a:off x="1920240" y="3200400"/>
            <a:ext cx="35560" cy="69697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44: AXI Crossbar"/>
          <p:cNvSpPr txBox="1"/>
          <p:nvPr/>
        </p:nvSpPr>
        <p:spPr>
          <a:xfrm>
            <a:off x="2041144" y="3228279"/>
            <a:ext cx="16272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 Crossbar</a:t>
            </a:r>
          </a:p>
        </p:txBody>
      </p:sp>
      <p:sp>
        <p:nvSpPr>
          <p:cNvPr id="38" name="text-045: 每输入译码 / 分流；每目标仲裁；W 路由与 ID 响应跟踪"/>
          <p:cNvSpPr txBox="1"/>
          <p:nvPr/>
        </p:nvSpPr>
        <p:spPr>
          <a:xfrm>
            <a:off x="2041144" y="3499673"/>
            <a:ext cx="475366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每输入译码 / 分流；每目标仲裁；W 路由与 ID 响应跟踪</a:t>
            </a:r>
          </a:p>
        </p:txBody>
      </p:sp>
      <p:sp>
        <p:nvSpPr>
          <p:cNvPr id="39" name="rect-046"/>
          <p:cNvSpPr/>
          <p:nvPr/>
        </p:nvSpPr>
        <p:spPr>
          <a:xfrm>
            <a:off x="53340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47"/>
          <p:cNvSpPr/>
          <p:nvPr/>
        </p:nvSpPr>
        <p:spPr>
          <a:xfrm>
            <a:off x="533400" y="462280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8: AXI → Reg 桥"/>
          <p:cNvSpPr txBox="1"/>
          <p:nvPr/>
        </p:nvSpPr>
        <p:spPr>
          <a:xfrm>
            <a:off x="654304" y="4650679"/>
            <a:ext cx="163647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AXI → Reg 桥</a:t>
            </a:r>
          </a:p>
        </p:txBody>
      </p:sp>
      <p:sp>
        <p:nvSpPr>
          <p:cNvPr id="42" name="text-049: 二级地址译码 → 启动 ROM"/>
          <p:cNvSpPr txBox="1"/>
          <p:nvPr/>
        </p:nvSpPr>
        <p:spPr>
          <a:xfrm>
            <a:off x="654304" y="4922073"/>
            <a:ext cx="237256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二级地址译码 → 启动 ROM</a:t>
            </a:r>
          </a:p>
        </p:txBody>
      </p:sp>
      <p:sp>
        <p:nvSpPr>
          <p:cNvPr id="43" name="text-050: CLINT / PLIC / MMIO 控制"/>
          <p:cNvSpPr txBox="1"/>
          <p:nvPr/>
        </p:nvSpPr>
        <p:spPr>
          <a:xfrm>
            <a:off x="654304" y="513543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/ PLIC / MMIO 控制</a:t>
            </a:r>
          </a:p>
        </p:txBody>
      </p:sp>
      <p:sp>
        <p:nvSpPr>
          <p:cNvPr id="44" name="rect-051"/>
          <p:cNvSpPr/>
          <p:nvPr/>
        </p:nvSpPr>
        <p:spPr>
          <a:xfrm>
            <a:off x="483616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52"/>
          <p:cNvSpPr/>
          <p:nvPr/>
        </p:nvSpPr>
        <p:spPr>
          <a:xfrm>
            <a:off x="4836160" y="46228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53: 原子处理 → LLC / SPM"/>
          <p:cNvSpPr txBox="1"/>
          <p:nvPr/>
        </p:nvSpPr>
        <p:spPr>
          <a:xfrm>
            <a:off x="4957064" y="4650679"/>
            <a:ext cx="24315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原子处理 → LLC / SPM</a:t>
            </a:r>
          </a:p>
        </p:txBody>
      </p:sp>
      <p:sp>
        <p:nvSpPr>
          <p:cNvPr id="47" name="text-054: SPM / cache 共用片上阵列"/>
          <p:cNvSpPr txBox="1"/>
          <p:nvPr/>
        </p:nvSpPr>
        <p:spPr>
          <a:xfrm>
            <a:off x="4957064" y="4922073"/>
            <a:ext cx="25261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/ cache 共用片上阵列</a:t>
            </a:r>
          </a:p>
        </p:txBody>
      </p:sp>
      <p:sp>
        <p:nvSpPr>
          <p:cNvPr id="48" name="text-055: LLC 下游 AXI → 平台外存"/>
          <p:cNvSpPr txBox="1"/>
          <p:nvPr/>
        </p:nvSpPr>
        <p:spPr>
          <a:xfrm>
            <a:off x="4957064" y="5135433"/>
            <a:ext cx="24749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平台外存</a:t>
            </a:r>
          </a:p>
        </p:txBody>
      </p:sp>
      <p:sp>
        <p:nvSpPr>
          <p:cNvPr id="49" name="rect-056"/>
          <p:cNvSpPr/>
          <p:nvPr/>
        </p:nvSpPr>
        <p:spPr>
          <a:xfrm>
            <a:off x="913892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57"/>
          <p:cNvSpPr/>
          <p:nvPr/>
        </p:nvSpPr>
        <p:spPr>
          <a:xfrm>
            <a:off x="9138920" y="46228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8: Debug / iDMA / Link 目标"/>
          <p:cNvSpPr txBox="1"/>
          <p:nvPr/>
        </p:nvSpPr>
        <p:spPr>
          <a:xfrm>
            <a:off x="9259824" y="4650679"/>
            <a:ext cx="29585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/ iDMA / Link 目标</a:t>
            </a:r>
          </a:p>
        </p:txBody>
      </p:sp>
      <p:sp>
        <p:nvSpPr>
          <p:cNvPr id="52" name="text-059: 配置或对端访问窗口"/>
          <p:cNvSpPr txBox="1"/>
          <p:nvPr/>
        </p:nvSpPr>
        <p:spPr>
          <a:xfrm>
            <a:off x="9259824" y="492207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配置或对端访问窗口</a:t>
            </a:r>
          </a:p>
        </p:txBody>
      </p:sp>
      <p:sp>
        <p:nvSpPr>
          <p:cNvPr id="53" name="text-060: 与各自的发起端口分开"/>
          <p:cNvSpPr txBox="1"/>
          <p:nvPr/>
        </p:nvSpPr>
        <p:spPr>
          <a:xfrm>
            <a:off x="9259824" y="5135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与各自的发起端口分开</a:t>
            </a:r>
          </a:p>
        </p:txBody>
      </p:sp>
      <p:sp>
        <p:nvSpPr>
          <p:cNvPr id="54" name="rect-061"/>
          <p:cNvSpPr/>
          <p:nvPr/>
        </p:nvSpPr>
        <p:spPr>
          <a:xfrm>
            <a:off x="533400" y="6258560"/>
            <a:ext cx="540512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62"/>
          <p:cNvSpPr/>
          <p:nvPr/>
        </p:nvSpPr>
        <p:spPr>
          <a:xfrm>
            <a:off x="533400" y="625856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63: 寄存器、引脚与事件"/>
          <p:cNvSpPr txBox="1"/>
          <p:nvPr/>
        </p:nvSpPr>
        <p:spPr>
          <a:xfrm>
            <a:off x="654304" y="628643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寄存器、引脚与事件</a:t>
            </a:r>
          </a:p>
        </p:txBody>
      </p:sp>
      <p:sp>
        <p:nvSpPr>
          <p:cNvPr id="57" name="text-064: CPU 写 MMIO → 外设状态机 → UART / SPI / I2C / "/>
          <p:cNvSpPr txBox="1"/>
          <p:nvPr/>
        </p:nvSpPr>
        <p:spPr>
          <a:xfrm>
            <a:off x="654304" y="6573195"/>
            <a:ext cx="54840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写 MMIO → 外设状态机 → UART / SPI / I2C / GPIO 引脚</a:t>
            </a:r>
          </a:p>
        </p:txBody>
      </p:sp>
      <p:sp>
        <p:nvSpPr>
          <p:cNvPr id="58" name="text-065: 外设 IRQ 经同步 / PLIC 等入口返回 CPU"/>
          <p:cNvSpPr txBox="1"/>
          <p:nvPr/>
        </p:nvSpPr>
        <p:spPr>
          <a:xfrm>
            <a:off x="654304" y="6786555"/>
            <a:ext cx="34500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 IRQ 经同步 / PLIC 等入口返回 CPU</a:t>
            </a:r>
          </a:p>
        </p:txBody>
      </p:sp>
      <p:sp>
        <p:nvSpPr>
          <p:cNvPr id="59" name="rect-066"/>
          <p:cNvSpPr/>
          <p:nvPr/>
        </p:nvSpPr>
        <p:spPr>
          <a:xfrm>
            <a:off x="6649720" y="6258560"/>
            <a:ext cx="5618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67"/>
          <p:cNvSpPr/>
          <p:nvPr/>
        </p:nvSpPr>
        <p:spPr>
          <a:xfrm>
            <a:off x="6649720" y="625856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8: 平台外存边界"/>
          <p:cNvSpPr txBox="1"/>
          <p:nvPr/>
        </p:nvSpPr>
        <p:spPr>
          <a:xfrm>
            <a:off x="6770624" y="62864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平台外存边界</a:t>
            </a:r>
          </a:p>
        </p:txBody>
      </p:sp>
      <p:sp>
        <p:nvSpPr>
          <p:cNvPr id="62" name="text-069: 仿真：RAM 模型；FPGA：MIG / DDR；ASIC：待采购 CTRL +"/>
          <p:cNvSpPr txBox="1"/>
          <p:nvPr/>
        </p:nvSpPr>
        <p:spPr>
          <a:xfrm>
            <a:off x="6770624" y="6573195"/>
            <a:ext cx="52884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仿真：RAM 模型；FPGA：MIG / DDR；ASIC：待采购 CTRL + PHY</a:t>
            </a:r>
          </a:p>
        </p:txBody>
      </p:sp>
      <p:sp>
        <p:nvSpPr>
          <p:cNvPr id="63" name="text-070: CVA6–Ara 控制接口、AXI 数据口、MMIO 与 IRQ 是不同路径"/>
          <p:cNvSpPr txBox="1"/>
          <p:nvPr/>
        </p:nvSpPr>
        <p:spPr>
          <a:xfrm>
            <a:off x="6770624" y="6786555"/>
            <a:ext cx="48973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CVA6–Ara 控制接口、AXI 数据口、MMIO 与 IRQ 是不同路径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